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1028" r:id="rId3"/>
    <p:sldId id="1032" r:id="rId4"/>
    <p:sldId id="1033" r:id="rId5"/>
    <p:sldId id="1035" r:id="rId6"/>
    <p:sldId id="1036" r:id="rId7"/>
    <p:sldId id="1037" r:id="rId9"/>
    <p:sldId id="1038" r:id="rId10"/>
    <p:sldId id="1039" r:id="rId11"/>
    <p:sldId id="1040" r:id="rId12"/>
    <p:sldId id="1041" r:id="rId13"/>
    <p:sldId id="1042" r:id="rId14"/>
    <p:sldId id="1043" r:id="rId15"/>
    <p:sldId id="1044" r:id="rId16"/>
    <p:sldId id="1045" r:id="rId17"/>
    <p:sldId id="1046" r:id="rId18"/>
    <p:sldId id="1048" r:id="rId19"/>
    <p:sldId id="1050" r:id="rId20"/>
    <p:sldId id="1061" r:id="rId21"/>
    <p:sldId id="1062" r:id="rId22"/>
    <p:sldId id="1063" r:id="rId23"/>
    <p:sldId id="1064" r:id="rId24"/>
    <p:sldId id="1065" r:id="rId25"/>
    <p:sldId id="1067" r:id="rId26"/>
    <p:sldId id="1025" r:id="rId27"/>
    <p:sldId id="1026" r:id="rId28"/>
    <p:sldId id="1013" r:id="rId29"/>
    <p:sldId id="1014" r:id="rId30"/>
    <p:sldId id="1027" r:id="rId31"/>
    <p:sldId id="1016" r:id="rId32"/>
    <p:sldId id="1068" r:id="rId33"/>
    <p:sldId id="1069" r:id="rId34"/>
    <p:sldId id="1070" r:id="rId35"/>
    <p:sldId id="1071" r:id="rId36"/>
    <p:sldId id="932" r:id="rId37"/>
    <p:sldId id="934" r:id="rId38"/>
    <p:sldId id="935" r:id="rId39"/>
    <p:sldId id="936" r:id="rId40"/>
    <p:sldId id="1005" r:id="rId41"/>
    <p:sldId id="1000" r:id="rId42"/>
    <p:sldId id="939" r:id="rId43"/>
    <p:sldId id="1001" r:id="rId44"/>
    <p:sldId id="1002" r:id="rId45"/>
    <p:sldId id="940" r:id="rId46"/>
    <p:sldId id="942" r:id="rId47"/>
    <p:sldId id="943" r:id="rId48"/>
    <p:sldId id="944" r:id="rId49"/>
    <p:sldId id="945" r:id="rId50"/>
    <p:sldId id="946" r:id="rId51"/>
    <p:sldId id="947" r:id="rId52"/>
    <p:sldId id="948" r:id="rId53"/>
    <p:sldId id="949" r:id="rId54"/>
    <p:sldId id="954" r:id="rId55"/>
    <p:sldId id="956" r:id="rId56"/>
    <p:sldId id="1017" r:id="rId57"/>
    <p:sldId id="957" r:id="rId58"/>
    <p:sldId id="980" r:id="rId59"/>
    <p:sldId id="984" r:id="rId60"/>
    <p:sldId id="987" r:id="rId61"/>
    <p:sldId id="988" r:id="rId62"/>
    <p:sldId id="990" r:id="rId63"/>
    <p:sldId id="960" r:id="rId64"/>
    <p:sldId id="991" r:id="rId65"/>
    <p:sldId id="1018" r:id="rId66"/>
    <p:sldId id="1023" r:id="rId67"/>
    <p:sldId id="1024" r:id="rId68"/>
    <p:sldId id="837" r:id="rId69"/>
    <p:sldId id="838" r:id="rId70"/>
    <p:sldId id="839" r:id="rId71"/>
    <p:sldId id="840" r:id="rId72"/>
    <p:sldId id="841" r:id="rId73"/>
    <p:sldId id="842" r:id="rId74"/>
    <p:sldId id="843" r:id="rId75"/>
    <p:sldId id="845" r:id="rId76"/>
    <p:sldId id="846" r:id="rId77"/>
    <p:sldId id="847" r:id="rId78"/>
    <p:sldId id="849" r:id="rId79"/>
    <p:sldId id="850" r:id="rId80"/>
    <p:sldId id="852" r:id="rId81"/>
    <p:sldId id="853" r:id="rId82"/>
    <p:sldId id="856" r:id="rId83"/>
    <p:sldId id="902" r:id="rId84"/>
    <p:sldId id="903" r:id="rId85"/>
    <p:sldId id="906" r:id="rId86"/>
  </p:sldIdLst>
  <p:sldSz cx="9118600" cy="6845300"/>
  <p:notesSz cx="6858000" cy="9144000"/>
  <p:custDataLst>
    <p:tags r:id="rId90"/>
  </p:custDataLst>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9pPr>
  </p:defaultTextStyle>
  <p:extLst>
    <p:ext uri="{EFAFB233-063F-42B5-8137-9DF3F51BA10A}">
      <p15:sldGuideLst xmlns:p15="http://schemas.microsoft.com/office/powerpoint/2012/main">
        <p15:guide id="1" orient="horz" pos="2156" userDrawn="1">
          <p15:clr>
            <a:srgbClr val="A4A3A4"/>
          </p15:clr>
        </p15:guide>
        <p15:guide id="2" pos="2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FF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264"/>
    <p:restoredTop sz="87151"/>
  </p:normalViewPr>
  <p:slideViewPr>
    <p:cSldViewPr showGuides="1">
      <p:cViewPr varScale="1">
        <p:scale>
          <a:sx n="104" d="100"/>
          <a:sy n="104" d="100"/>
        </p:scale>
        <p:origin x="1904" y="68"/>
      </p:cViewPr>
      <p:guideLst>
        <p:guide orient="horz" pos="2156"/>
        <p:guide pos="287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0" Type="http://schemas.openxmlformats.org/officeDocument/2006/relationships/tags" Target="tags/tag1.xml"/><Relationship Id="rId9" Type="http://schemas.openxmlformats.org/officeDocument/2006/relationships/slide" Target="slides/slide6.xml"/><Relationship Id="rId89" Type="http://schemas.openxmlformats.org/officeDocument/2006/relationships/tableStyles" Target="tableStyles.xml"/><Relationship Id="rId88" Type="http://schemas.openxmlformats.org/officeDocument/2006/relationships/viewProps" Target="viewProps.xml"/><Relationship Id="rId87" Type="http://schemas.openxmlformats.org/officeDocument/2006/relationships/presProps" Target="presProps.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notesMaster" Target="notesMasters/notesMaster1.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5190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kumimoji="0"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190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kumimoji="0" sz="1200" b="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4" name="Rectangle 4"/>
          <p:cNvSpPr>
            <a:spLocks noRot="1" noTextEdit="1"/>
          </p:cNvSpPr>
          <p:nvPr>
            <p:ph type="sldImg" idx="2"/>
          </p:nvPr>
        </p:nvSpPr>
        <p:spPr>
          <a:xfrm>
            <a:off x="1144588" y="685800"/>
            <a:ext cx="4568825" cy="3429000"/>
          </a:xfrm>
          <a:prstGeom prst="rect">
            <a:avLst/>
          </a:prstGeom>
          <a:noFill/>
          <a:ln w="9525" cap="flat" cmpd="sng">
            <a:solidFill>
              <a:srgbClr val="000000"/>
            </a:solidFill>
            <a:prstDash val="solid"/>
            <a:miter/>
            <a:headEnd type="none" w="med" len="med"/>
            <a:tailEnd type="none" w="med" len="med"/>
          </a:ln>
        </p:spPr>
      </p:sp>
      <p:sp>
        <p:nvSpPr>
          <p:cNvPr id="25190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191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buFontTx/>
              <a:buNone/>
              <a:defRPr kumimoji="0"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191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buFontTx/>
              <a:buNone/>
              <a:defRPr kumimoji="0" sz="1200" b="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B8E9540-1800-40A6-A50E-A276620753AD}"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None/>
            </a:pPr>
            <a:fld id="{9A0DB2DC-4C9A-4742-B13C-FB6460FD3503}" type="slidenum">
              <a:rPr lang="zh-CN" altLang="en-US" sz="1200" b="0" dirty="0">
                <a:latin typeface="Arial" panose="020B0604020202020204" pitchFamily="34" charset="0"/>
                <a:ea typeface="宋体" panose="02010600030101010101" pitchFamily="2" charset="-122"/>
              </a:rPr>
            </a:fld>
            <a:endParaRPr lang="zh-CN" altLang="en-US" sz="1200" b="0" dirty="0">
              <a:latin typeface="Arial" panose="020B0604020202020204" pitchFamily="34" charset="0"/>
              <a:ea typeface="宋体" panose="02010600030101010101" pitchFamily="2" charset="-122"/>
            </a:endParaRPr>
          </a:p>
        </p:txBody>
      </p:sp>
      <p:sp>
        <p:nvSpPr>
          <p:cNvPr id="14339" name="Rectangle 2"/>
          <p:cNvSpPr>
            <a:spLocks noRot="1" noTextEdit="1"/>
          </p:cNvSpPr>
          <p:nvPr>
            <p:ph type="sldImg"/>
          </p:nvPr>
        </p:nvSpPr>
        <p:spPr>
          <a:ln/>
        </p:spPr>
      </p:sp>
      <p:sp>
        <p:nvSpPr>
          <p:cNvPr id="14340" name="Rectangle 3"/>
          <p:cNvSpPr>
            <a:spLocks noGrp="1"/>
          </p:cNvSpPr>
          <p:nvPr>
            <p:ph type="body" idx="1"/>
          </p:nvPr>
        </p:nvSpPr>
        <p:spPr>
          <a:xfrm>
            <a:off x="914400" y="4343400"/>
            <a:ext cx="5029200" cy="4114800"/>
          </a:xfrm>
          <a:ln/>
        </p:spPr>
        <p:txBody>
          <a:bodyPr wrap="square" lIns="91440" tIns="45720" rIns="91440" bIns="45720" anchor="t" anchorCtr="0"/>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None/>
            </a:pPr>
            <a:fld id="{9A0DB2DC-4C9A-4742-B13C-FB6460FD3503}" type="slidenum">
              <a:rPr lang="zh-CN" altLang="en-US" sz="1200" b="0" dirty="0">
                <a:latin typeface="Arial" panose="020B0604020202020204" pitchFamily="34" charset="0"/>
                <a:ea typeface="宋体" panose="02010600030101010101" pitchFamily="2" charset="-122"/>
              </a:rPr>
            </a:fld>
            <a:endParaRPr lang="zh-CN" altLang="en-US" sz="1200" b="0" dirty="0">
              <a:latin typeface="Arial" panose="020B0604020202020204" pitchFamily="34" charset="0"/>
              <a:ea typeface="宋体" panose="02010600030101010101" pitchFamily="2" charset="-122"/>
            </a:endParaRPr>
          </a:p>
        </p:txBody>
      </p:sp>
      <p:sp>
        <p:nvSpPr>
          <p:cNvPr id="16387" name="Rectangle 2"/>
          <p:cNvSpPr>
            <a:spLocks noRot="1" noTextEdit="1"/>
          </p:cNvSpPr>
          <p:nvPr>
            <p:ph type="sldImg"/>
          </p:nvPr>
        </p:nvSpPr>
        <p:spPr>
          <a:ln/>
        </p:spPr>
      </p:sp>
      <p:sp>
        <p:nvSpPr>
          <p:cNvPr id="16388" name="Rectangle 3"/>
          <p:cNvSpPr>
            <a:spLocks noGrp="1"/>
          </p:cNvSpPr>
          <p:nvPr>
            <p:ph type="body" idx="1"/>
          </p:nvPr>
        </p:nvSpPr>
        <p:spPr>
          <a:xfrm>
            <a:off x="914400" y="4343400"/>
            <a:ext cx="5029200" cy="4114800"/>
          </a:xfrm>
          <a:ln/>
        </p:spPr>
        <p:txBody>
          <a:bodyPr wrap="square" lIns="91440" tIns="45720" rIns="91440" bIns="45720" anchor="t" anchorCtr="0"/>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None/>
            </a:pPr>
            <a:fld id="{9A0DB2DC-4C9A-4742-B13C-FB6460FD3503}" type="slidenum">
              <a:rPr lang="zh-CN" altLang="en-US" sz="1200" b="0" dirty="0">
                <a:latin typeface="Arial" panose="020B0604020202020204" pitchFamily="34" charset="0"/>
                <a:ea typeface="宋体" panose="02010600030101010101" pitchFamily="2" charset="-122"/>
              </a:rPr>
            </a:fld>
            <a:endParaRPr lang="zh-CN" altLang="en-US" sz="1200" b="0" dirty="0">
              <a:latin typeface="Arial" panose="020B0604020202020204" pitchFamily="34" charset="0"/>
              <a:ea typeface="宋体" panose="02010600030101010101" pitchFamily="2" charset="-122"/>
            </a:endParaRPr>
          </a:p>
        </p:txBody>
      </p:sp>
      <p:sp>
        <p:nvSpPr>
          <p:cNvPr id="18435" name="Rectangle 2"/>
          <p:cNvSpPr>
            <a:spLocks noRot="1" noTextEdit="1"/>
          </p:cNvSpPr>
          <p:nvPr>
            <p:ph type="sldImg"/>
          </p:nvPr>
        </p:nvSpPr>
        <p:spPr>
          <a:ln/>
        </p:spPr>
      </p:sp>
      <p:sp>
        <p:nvSpPr>
          <p:cNvPr id="18436" name="Rectangle 3"/>
          <p:cNvSpPr>
            <a:spLocks noGrp="1"/>
          </p:cNvSpPr>
          <p:nvPr>
            <p:ph type="body" idx="1"/>
          </p:nvPr>
        </p:nvSpPr>
        <p:spPr>
          <a:xfrm>
            <a:off x="914400" y="4343400"/>
            <a:ext cx="5029200" cy="4114800"/>
          </a:xfrm>
          <a:ln/>
        </p:spPr>
        <p:txBody>
          <a:bodyPr wrap="square" lIns="91440" tIns="45720" rIns="91440" bIns="45720" anchor="t" anchorCtr="0"/>
          <a:p>
            <a:pPr lvl="0"/>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None/>
            </a:pPr>
            <a:fld id="{9A0DB2DC-4C9A-4742-B13C-FB6460FD3503}" type="slidenum">
              <a:rPr lang="zh-CN" altLang="en-US" sz="1200" b="0" dirty="0">
                <a:latin typeface="Arial" panose="020B0604020202020204" pitchFamily="34" charset="0"/>
                <a:ea typeface="宋体" panose="02010600030101010101" pitchFamily="2" charset="-122"/>
              </a:rPr>
            </a:fld>
            <a:endParaRPr lang="zh-CN" altLang="en-US" sz="1200" b="0" dirty="0">
              <a:latin typeface="Arial" panose="020B0604020202020204" pitchFamily="34" charset="0"/>
              <a:ea typeface="宋体" panose="02010600030101010101" pitchFamily="2" charset="-122"/>
            </a:endParaRPr>
          </a:p>
        </p:txBody>
      </p:sp>
      <p:sp>
        <p:nvSpPr>
          <p:cNvPr id="20483" name="Rectangle 2"/>
          <p:cNvSpPr>
            <a:spLocks noRot="1" noTextEdit="1"/>
          </p:cNvSpPr>
          <p:nvPr>
            <p:ph type="sldImg"/>
          </p:nvPr>
        </p:nvSpPr>
        <p:spPr>
          <a:ln/>
        </p:spPr>
      </p:sp>
      <p:sp>
        <p:nvSpPr>
          <p:cNvPr id="20484" name="Rectangle 3"/>
          <p:cNvSpPr>
            <a:spLocks noGrp="1"/>
          </p:cNvSpPr>
          <p:nvPr>
            <p:ph type="body" idx="1"/>
          </p:nvPr>
        </p:nvSpPr>
        <p:spPr>
          <a:xfrm>
            <a:off x="914400" y="4343400"/>
            <a:ext cx="5029200" cy="4114800"/>
          </a:xfrm>
          <a:ln/>
        </p:spPr>
        <p:txBody>
          <a:bodyPr wrap="square" lIns="91440" tIns="45720" rIns="91440" bIns="45720" anchor="t" anchorCtr="0"/>
          <a:p>
            <a:pPr lvl="0"/>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None/>
            </a:pPr>
            <a:fld id="{9A0DB2DC-4C9A-4742-B13C-FB6460FD3503}" type="slidenum">
              <a:rPr lang="zh-CN" altLang="en-US" sz="1200" b="0" dirty="0">
                <a:latin typeface="Arial" panose="020B0604020202020204" pitchFamily="34" charset="0"/>
                <a:ea typeface="宋体" panose="02010600030101010101" pitchFamily="2" charset="-122"/>
              </a:rPr>
            </a:fld>
            <a:endParaRPr lang="zh-CN" altLang="en-US" sz="1200" b="0" dirty="0">
              <a:latin typeface="Arial" panose="020B0604020202020204" pitchFamily="34" charset="0"/>
              <a:ea typeface="宋体" panose="02010600030101010101" pitchFamily="2" charset="-122"/>
            </a:endParaRPr>
          </a:p>
        </p:txBody>
      </p:sp>
      <p:sp>
        <p:nvSpPr>
          <p:cNvPr id="22531" name="Rectangle 2"/>
          <p:cNvSpPr>
            <a:spLocks noRot="1" noTextEdit="1"/>
          </p:cNvSpPr>
          <p:nvPr>
            <p:ph type="sldImg"/>
          </p:nvPr>
        </p:nvSpPr>
        <p:spPr>
          <a:ln/>
        </p:spPr>
      </p:sp>
      <p:sp>
        <p:nvSpPr>
          <p:cNvPr id="22532" name="Rectangle 3"/>
          <p:cNvSpPr>
            <a:spLocks noGrp="1"/>
          </p:cNvSpPr>
          <p:nvPr>
            <p:ph type="body" idx="1"/>
          </p:nvPr>
        </p:nvSpPr>
        <p:spPr>
          <a:xfrm>
            <a:off x="914400" y="4343400"/>
            <a:ext cx="5029200" cy="4114800"/>
          </a:xfrm>
          <a:ln/>
        </p:spPr>
        <p:txBody>
          <a:bodyPr wrap="square" lIns="91440" tIns="45720" rIns="91440" bIns="45720" anchor="t" anchorCtr="0"/>
          <a:p>
            <a:pPr lvl="0"/>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None/>
            </a:pPr>
            <a:fld id="{9A0DB2DC-4C9A-4742-B13C-FB6460FD3503}" type="slidenum">
              <a:rPr lang="zh-CN" altLang="en-US" sz="1200" b="0" dirty="0">
                <a:latin typeface="Arial" panose="020B0604020202020204" pitchFamily="34" charset="0"/>
                <a:ea typeface="宋体" panose="02010600030101010101" pitchFamily="2" charset="-122"/>
              </a:rPr>
            </a:fld>
            <a:endParaRPr lang="zh-CN" altLang="en-US" sz="1200" b="0" dirty="0">
              <a:latin typeface="Arial" panose="020B0604020202020204" pitchFamily="34" charset="0"/>
              <a:ea typeface="宋体" panose="02010600030101010101" pitchFamily="2" charset="-122"/>
            </a:endParaRPr>
          </a:p>
        </p:txBody>
      </p:sp>
      <p:sp>
        <p:nvSpPr>
          <p:cNvPr id="24579" name="Rectangle 2"/>
          <p:cNvSpPr>
            <a:spLocks noRot="1" noTextEdit="1"/>
          </p:cNvSpPr>
          <p:nvPr>
            <p:ph type="sldImg"/>
          </p:nvPr>
        </p:nvSpPr>
        <p:spPr>
          <a:ln/>
        </p:spPr>
      </p:sp>
      <p:sp>
        <p:nvSpPr>
          <p:cNvPr id="24580" name="Rectangle 3"/>
          <p:cNvSpPr>
            <a:spLocks noGrp="1"/>
          </p:cNvSpPr>
          <p:nvPr>
            <p:ph type="body" idx="1"/>
          </p:nvPr>
        </p:nvSpPr>
        <p:spPr>
          <a:xfrm>
            <a:off x="914400" y="4343400"/>
            <a:ext cx="5029200" cy="4114800"/>
          </a:xfrm>
          <a:ln/>
        </p:spPr>
        <p:txBody>
          <a:bodyPr wrap="square" lIns="91440" tIns="45720" rIns="91440" bIns="45720" anchor="t" anchorCtr="0"/>
          <a:p>
            <a:pPr lvl="0"/>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None/>
            </a:pPr>
            <a:fld id="{9A0DB2DC-4C9A-4742-B13C-FB6460FD3503}" type="slidenum">
              <a:rPr lang="zh-CN" altLang="en-US" sz="1200" b="0" dirty="0">
                <a:latin typeface="Arial" panose="020B0604020202020204" pitchFamily="34" charset="0"/>
                <a:ea typeface="宋体" panose="02010600030101010101" pitchFamily="2" charset="-122"/>
              </a:rPr>
            </a:fld>
            <a:endParaRPr lang="zh-CN" altLang="en-US" sz="1200" b="0" dirty="0">
              <a:latin typeface="Arial" panose="020B0604020202020204" pitchFamily="34" charset="0"/>
              <a:ea typeface="宋体" panose="02010600030101010101" pitchFamily="2" charset="-122"/>
            </a:endParaRPr>
          </a:p>
        </p:txBody>
      </p:sp>
      <p:sp>
        <p:nvSpPr>
          <p:cNvPr id="26627" name="Rectangle 2"/>
          <p:cNvSpPr>
            <a:spLocks noRot="1" noTextEdit="1"/>
          </p:cNvSpPr>
          <p:nvPr>
            <p:ph type="sldImg"/>
          </p:nvPr>
        </p:nvSpPr>
        <p:spPr>
          <a:ln/>
        </p:spPr>
      </p:sp>
      <p:sp>
        <p:nvSpPr>
          <p:cNvPr id="26628" name="Rectangle 3"/>
          <p:cNvSpPr>
            <a:spLocks noGrp="1"/>
          </p:cNvSpPr>
          <p:nvPr>
            <p:ph type="body" idx="1"/>
          </p:nvPr>
        </p:nvSpPr>
        <p:spPr>
          <a:xfrm>
            <a:off x="914400" y="4343400"/>
            <a:ext cx="5029200" cy="4114800"/>
          </a:xfrm>
          <a:ln/>
        </p:spPr>
        <p:txBody>
          <a:bodyPr wrap="square" lIns="91440" tIns="45720" rIns="91440" bIns="45720" anchor="t" anchorCtr="0"/>
          <a:p>
            <a:pPr lvl="0"/>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7347" name="Rectangle 2"/>
          <p:cNvSpPr>
            <a:spLocks noGrp="1" noRot="1" noChangeAspect="1" noTextEdit="1"/>
          </p:cNvSpPr>
          <p:nvPr>
            <p:ph type="sldImg"/>
          </p:nvPr>
        </p:nvSpPr>
        <p:spPr>
          <a:ln/>
        </p:spPr>
      </p:sp>
      <p:sp>
        <p:nvSpPr>
          <p:cNvPr id="57348" name="Rectangle 3"/>
          <p:cNvSpPr>
            <a:spLocks noGrp="1"/>
          </p:cNvSpPr>
          <p:nvPr>
            <p:ph type="body" idx="1"/>
          </p:nvPr>
        </p:nvSpPr>
        <p:spPr>
          <a:ln/>
        </p:spPr>
        <p:txBody>
          <a:bodyPr wrap="square" lIns="91440" tIns="45720" rIns="91440" bIns="45720" anchor="t" anchorCtr="0"/>
          <a:p>
            <a:pPr lvl="0"/>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幻灯片图像占位符 1"/>
          <p:cNvSpPr>
            <a:spLocks noGrp="1" noRot="1" noChangeAspect="1" noTextEdit="1"/>
          </p:cNvSpPr>
          <p:nvPr>
            <p:ph type="sldImg"/>
          </p:nvPr>
        </p:nvSpPr>
        <p:spPr>
          <a:ln/>
        </p:spPr>
      </p:sp>
      <p:sp>
        <p:nvSpPr>
          <p:cNvPr id="59395" name="备注占位符 2"/>
          <p:cNvSpPr>
            <a:spLocks noGrp="1"/>
          </p:cNvSpPr>
          <p:nvPr>
            <p:ph type="body" idx="1"/>
          </p:nvPr>
        </p:nvSpPr>
        <p:spPr>
          <a:ln/>
        </p:spPr>
        <p:txBody>
          <a:bodyPr wrap="square" lIns="91440" tIns="45720" rIns="91440" bIns="45720" anchor="t" anchorCtr="0"/>
          <a:p>
            <a:pPr lvl="0"/>
            <a:r>
              <a:rPr lang="zh-CN" altLang="en-US" dirty="0">
                <a:latin typeface="楷体_GB2312" pitchFamily="49" charset="-122"/>
                <a:ea typeface="楷体_GB2312" pitchFamily="49" charset="-122"/>
              </a:rPr>
              <a:t>系统设计的第一步就是确定软件的架构，它决定了各子系统如何组织以及如何协调工作。架构设计的好坏影响到软件的好坏，系统越大越是这样。</a:t>
            </a:r>
            <a:endParaRPr lang="en-US" altLang="zh-CN" dirty="0">
              <a:latin typeface="楷体_GB2312" pitchFamily="49" charset="-122"/>
              <a:ea typeface="楷体_GB2312" pitchFamily="49" charset="-122"/>
            </a:endParaRPr>
          </a:p>
          <a:p>
            <a:pPr lvl="0"/>
            <a:r>
              <a:rPr lang="zh-CN" altLang="en-US" dirty="0">
                <a:latin typeface="楷体_GB2312" pitchFamily="49" charset="-122"/>
                <a:ea typeface="楷体_GB2312" pitchFamily="49" charset="-122"/>
              </a:rPr>
              <a:t>将系统分层是简化系统的好方法，而且已经得到了很好的证实，如</a:t>
            </a:r>
            <a:r>
              <a:rPr lang="en-US" altLang="zh-CN" dirty="0">
                <a:latin typeface="楷体_GB2312" pitchFamily="49" charset="-122"/>
                <a:ea typeface="楷体_GB2312" pitchFamily="49" charset="-122"/>
              </a:rPr>
              <a:t>OSI</a:t>
            </a:r>
            <a:r>
              <a:rPr lang="zh-CN" altLang="en-US" dirty="0">
                <a:latin typeface="楷体_GB2312" pitchFamily="49" charset="-122"/>
                <a:ea typeface="楷体_GB2312" pitchFamily="49" charset="-122"/>
              </a:rPr>
              <a:t>七层模型网络协议，数据库管理系统的外模式、模式、内模式等。</a:t>
            </a:r>
            <a:endParaRPr lang="en-US" altLang="zh-CN" dirty="0">
              <a:latin typeface="楷体_GB2312" pitchFamily="49" charset="-122"/>
              <a:ea typeface="楷体_GB2312" pitchFamily="49" charset="-122"/>
            </a:endParaRPr>
          </a:p>
          <a:p>
            <a:pPr lvl="0"/>
            <a:r>
              <a:rPr lang="zh-CN" altLang="en-US" dirty="0"/>
              <a:t>与传统的两层结构相比，它最大的特征是将业务层独立了出来，从而提高了业务层的可复用性。在两层结构中，用户界面和业务处理流程放在一起，因此无法直接复用业务处理的相关功能，也无法将业务处理功能进行灵活的部署。在三层结构中，表示层只处理用户界面相关的功能，业务层专心处理业务流程，可以对业务层进行灵活的部署，开发时也便于业务处理的开发和用户界面的开发同时进行。</a:t>
            </a:r>
            <a:endParaRPr lang="zh-CN" altLang="en-US" dirty="0"/>
          </a:p>
          <a:p>
            <a:pPr lvl="0"/>
            <a:r>
              <a:rPr lang="zh-CN" altLang="en-US" dirty="0"/>
              <a:t>当然也可以分为更多的层，关键是尽量提高层内各功能的内聚，降低各层之间的耦合。</a:t>
            </a:r>
            <a:endParaRPr lang="zh-CN" altLang="en-US" dirty="0"/>
          </a:p>
          <a:p>
            <a:pPr lvl="0"/>
            <a:endParaRPr lang="zh-CN" altLang="en-US" dirty="0"/>
          </a:p>
        </p:txBody>
      </p:sp>
      <p:sp>
        <p:nvSpPr>
          <p:cNvPr id="593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fld>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1443" name="Rectangle 2"/>
          <p:cNvSpPr>
            <a:spLocks noGrp="1" noRot="1" noChangeAspect="1" noTextEdit="1"/>
          </p:cNvSpPr>
          <p:nvPr>
            <p:ph type="sldImg"/>
          </p:nvPr>
        </p:nvSpPr>
        <p:spPr>
          <a:ln/>
        </p:spPr>
      </p:sp>
      <p:sp>
        <p:nvSpPr>
          <p:cNvPr id="61444" name="Rectangle 3"/>
          <p:cNvSpPr>
            <a:spLocks noGrp="1"/>
          </p:cNvSpPr>
          <p:nvPr>
            <p:ph type="body" idx="1"/>
          </p:nvPr>
        </p:nvSpPr>
        <p:spPr>
          <a:ln/>
        </p:spPr>
        <p:txBody>
          <a:bodyPr wrap="square" lIns="91440" tIns="45720" rIns="91440" bIns="45720" anchor="t" anchorCtr="0"/>
          <a:p>
            <a:pPr lvl="0"/>
            <a:endParaRPr lang="en-US"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3491" name="Rectangle 2"/>
          <p:cNvSpPr>
            <a:spLocks noGrp="1" noRot="1" noChangeAspect="1" noTextEdit="1"/>
          </p:cNvSpPr>
          <p:nvPr>
            <p:ph type="sldImg"/>
          </p:nvPr>
        </p:nvSpPr>
        <p:spPr>
          <a:ln/>
        </p:spPr>
      </p:sp>
      <p:sp>
        <p:nvSpPr>
          <p:cNvPr id="63492" name="Rectangle 3"/>
          <p:cNvSpPr>
            <a:spLocks noGrp="1"/>
          </p:cNvSpPr>
          <p:nvPr>
            <p:ph type="body" idx="1"/>
          </p:nvPr>
        </p:nvSpPr>
        <p:spPr>
          <a:ln/>
        </p:spPr>
        <p:txBody>
          <a:bodyPr wrap="square" lIns="91440" tIns="45720" rIns="91440" bIns="45720" anchor="t" anchorCtr="0"/>
          <a:p>
            <a:pPr lvl="0"/>
            <a:r>
              <a:rPr lang="zh-CN" altLang="en-US" dirty="0"/>
              <a:t>例如，在仓储系统中，我们可以在三层模式的基础之上，对其中的业务逻辑层进行一定的分解，划分出业务控制层和业务实体层，这样，就形成了表现层、业务控制层、业务实体层和数据层等四层的体系结构。</a:t>
            </a: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幻灯片图像占位符 1"/>
          <p:cNvSpPr>
            <a:spLocks noGrp="1" noRot="1" noChangeAspect="1" noTextEdit="1"/>
          </p:cNvSpPr>
          <p:nvPr>
            <p:ph type="sldImg"/>
          </p:nvPr>
        </p:nvSpPr>
        <p:spPr>
          <a:ln/>
        </p:spPr>
      </p:sp>
      <p:sp>
        <p:nvSpPr>
          <p:cNvPr id="65539" name="备注占位符 2"/>
          <p:cNvSpPr>
            <a:spLocks noGrp="1"/>
          </p:cNvSpPr>
          <p:nvPr>
            <p:ph type="body" idx="1"/>
          </p:nvPr>
        </p:nvSpPr>
        <p:spPr>
          <a:ln/>
        </p:spPr>
        <p:txBody>
          <a:bodyPr wrap="square" lIns="91440" tIns="45720" rIns="91440" bIns="45720" anchor="t" anchorCtr="0"/>
          <a:p>
            <a:pPr lvl="0"/>
            <a:r>
              <a:rPr lang="zh-CN" altLang="en-US" dirty="0"/>
              <a:t>但在</a:t>
            </a:r>
            <a:r>
              <a:rPr lang="en-US" altLang="zh-CN" dirty="0"/>
              <a:t>Java</a:t>
            </a:r>
            <a:r>
              <a:rPr lang="zh-CN" altLang="en-US" dirty="0"/>
              <a:t>中，包还指代了物理的组织手段</a:t>
            </a:r>
            <a:endParaRPr lang="zh-CN" altLang="en-US" dirty="0"/>
          </a:p>
          <a:p>
            <a:pPr lvl="0"/>
            <a:endParaRPr lang="zh-CN" altLang="en-US" dirty="0"/>
          </a:p>
        </p:txBody>
      </p:sp>
      <p:sp>
        <p:nvSpPr>
          <p:cNvPr id="6554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fld>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idx="1"/>
          </p:nvPr>
        </p:nvSpPr>
        <p:spPr>
          <a:ln/>
        </p:spPr>
        <p:txBody>
          <a:bodyPr wrap="square" lIns="91440" tIns="45720" rIns="91440" bIns="45720" anchor="t" anchorCtr="0"/>
          <a:p>
            <a:pPr lvl="0"/>
            <a:r>
              <a:rPr lang="zh-CN" altLang="en-US" dirty="0"/>
              <a:t>开放：模块的行为必须是开发的，支持可扩展，而不是僵化的</a:t>
            </a:r>
            <a:endParaRPr lang="zh-CN" altLang="en-US" dirty="0"/>
          </a:p>
          <a:p>
            <a:pPr lvl="0"/>
            <a:r>
              <a:rPr lang="zh-CN" altLang="en-US" dirty="0"/>
              <a:t>封闭：对模块进行扩展时，不应该影响系统中已有模块的其他部分功能的实现代码。</a:t>
            </a:r>
            <a:endParaRPr lang="zh-CN" altLang="en-US" dirty="0"/>
          </a:p>
          <a:p>
            <a:pPr lvl="0"/>
            <a:endParaRPr lang="zh-CN" altLang="en-US" dirty="0"/>
          </a:p>
        </p:txBody>
      </p:sp>
      <p:sp>
        <p:nvSpPr>
          <p:cNvPr id="9318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标题 8"/>
          <p:cNvSpPr>
            <a:spLocks noGrp="1"/>
          </p:cNvSpPr>
          <p:nvPr>
            <p:ph type="ctrTitle"/>
          </p:nvPr>
        </p:nvSpPr>
        <p:spPr>
          <a:xfrm>
            <a:off x="531918" y="1369060"/>
            <a:ext cx="7829838" cy="1825413"/>
          </a:xfrm>
          <a:ln>
            <a:noFill/>
          </a:ln>
        </p:spPr>
        <p:txBody>
          <a:bodyPr tIns="0" rIns="18244">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smtClean="0"/>
              <a:t>单击此处编辑母版标题样式</a:t>
            </a:r>
            <a:endParaRPr lang="en-US"/>
          </a:p>
        </p:txBody>
      </p:sp>
      <p:sp>
        <p:nvSpPr>
          <p:cNvPr id="17" name="副标题 16"/>
          <p:cNvSpPr>
            <a:spLocks noGrp="1"/>
          </p:cNvSpPr>
          <p:nvPr>
            <p:ph type="subTitle" idx="1"/>
          </p:nvPr>
        </p:nvSpPr>
        <p:spPr>
          <a:xfrm>
            <a:off x="531919" y="3222557"/>
            <a:ext cx="7832877" cy="1749354"/>
          </a:xfrm>
        </p:spPr>
        <p:txBody>
          <a:bodyPr lIns="0" rIns="18244"/>
          <a:lstStyle>
            <a:lvl1pPr marL="0" marR="45720" indent="0" algn="r">
              <a:buNone/>
              <a:defRPr>
                <a:solidFill>
                  <a:schemeClr val="tx1"/>
                </a:solidFill>
              </a:defRPr>
            </a:lvl1pPr>
            <a:lvl2pPr marL="455930" indent="0" algn="ctr">
              <a:buNone/>
            </a:lvl2pPr>
            <a:lvl3pPr marL="912495" indent="0" algn="ctr">
              <a:buNone/>
            </a:lvl3pPr>
            <a:lvl4pPr marL="1368425" indent="0" algn="ctr">
              <a:buNone/>
            </a:lvl4pPr>
            <a:lvl5pPr marL="1824355" indent="0" algn="ctr">
              <a:buNone/>
            </a:lvl5pPr>
            <a:lvl6pPr marL="2280285" indent="0" algn="ctr">
              <a:buNone/>
            </a:lvl6pPr>
            <a:lvl7pPr marL="2736850" indent="0" algn="ctr">
              <a:buNone/>
            </a:lvl7pPr>
            <a:lvl8pPr marL="3192780" indent="0" algn="ctr">
              <a:buNone/>
            </a:lvl8pPr>
            <a:lvl9pPr marL="3648710" indent="0" algn="ctr">
              <a:buNone/>
            </a:lvl9pPr>
          </a:lstStyle>
          <a:p>
            <a:r>
              <a:rPr lang="zh-CN" altLang="en-US" smtClean="0"/>
              <a:t>单击此处编辑母版副标题样式</a:t>
            </a:r>
            <a:endParaRPr lang="en-US"/>
          </a:p>
        </p:txBody>
      </p:sp>
      <p:sp>
        <p:nvSpPr>
          <p:cNvPr id="14" name="日期占位符 29"/>
          <p:cNvSpPr>
            <a:spLocks noGrp="1"/>
          </p:cNvSpPr>
          <p:nvPr>
            <p:ph type="dt" sz="half" idx="2"/>
          </p:nvPr>
        </p:nvSpPr>
        <p:spPr>
          <a:xfrm>
            <a:off x="455613" y="6345238"/>
            <a:ext cx="2127250"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5" name="页脚占位符 18"/>
          <p:cNvSpPr>
            <a:spLocks noGrp="1"/>
          </p:cNvSpPr>
          <p:nvPr>
            <p:ph type="ftr" sz="quarter" idx="3"/>
          </p:nvPr>
        </p:nvSpPr>
        <p:spPr>
          <a:xfrm>
            <a:off x="2659063" y="6345238"/>
            <a:ext cx="3343275"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6" name="灯片编号占位符 26"/>
          <p:cNvSpPr>
            <a:spLocks noGrp="1"/>
          </p:cNvSpPr>
          <p:nvPr>
            <p:ph type="sldNum" sz="quarter" idx="4"/>
          </p:nvPr>
        </p:nvSpPr>
        <p:spPr>
          <a:xfrm>
            <a:off x="7902575" y="6345238"/>
            <a:ext cx="760413" cy="363538"/>
          </a:xfrm>
          <a:prstGeom prst="rect">
            <a:avLst/>
          </a:prstGeom>
        </p:spPr>
        <p:txBody>
          <a:bodyPr vert="horz" wrap="square" lIns="0" tIns="0" rIns="0" bIns="0" numCol="1" anchor="b" anchorCtr="0" compatLnSpc="1"/>
          <a:lstStyle>
            <a:lvl1pPr>
              <a:defRPr>
                <a:solidFill>
                  <a:srgbClr val="D1EAEE"/>
                </a:solidFill>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48DBBC54-BA99-4AA3-AE0E-3A87735D654D}" type="slidenum">
              <a:rPr kumimoji="0" lang="en-US" altLang="zh-CN" sz="1200" b="1" i="0" u="none" strike="noStrike" kern="1200" cap="none" spc="0" normalizeH="0" baseline="0" noProof="0">
                <a:ln>
                  <a:noFill/>
                </a:ln>
                <a:solidFill>
                  <a:srgbClr val="D1EAEE"/>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D1EAEE"/>
              </a:solidFill>
              <a:effectLst/>
              <a:uLnTx/>
              <a:uFillTx/>
              <a:latin typeface="黑体" panose="02010609060101010101" pitchFamily="49" charset="-122"/>
              <a:ea typeface="黑体" panose="02010609060101010101" pitchFamily="49" charset="-122"/>
              <a:cs typeface="+mn-cs"/>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D9FB4EE0-F706-4EBC-BCDF-E476D80EAF81}"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8879" y="1314298"/>
            <a:ext cx="7750810" cy="1359933"/>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528879" y="2699655"/>
            <a:ext cx="7750810" cy="1506916"/>
          </a:xfrm>
        </p:spPr>
        <p:txBody>
          <a:bodyPr lIns="45610" rIns="4561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smtClean="0"/>
              <a:t>单击此处编辑母版文本样式</a:t>
            </a:r>
            <a:endParaRPr lang="zh-CN" altLang="en-US" smtClean="0"/>
          </a:p>
        </p:txBody>
      </p:sp>
      <p:sp>
        <p:nvSpPr>
          <p:cNvPr id="14" name="日期占位符 3"/>
          <p:cNvSpPr>
            <a:spLocks noGrp="1"/>
          </p:cNvSpPr>
          <p:nvPr>
            <p:ph type="dt" sz="half" idx="2"/>
          </p:nvPr>
        </p:nvSpPr>
        <p:spPr>
          <a:xfrm>
            <a:off x="455613" y="6345238"/>
            <a:ext cx="2127250"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5" name="页脚占位符 4"/>
          <p:cNvSpPr>
            <a:spLocks noGrp="1"/>
          </p:cNvSpPr>
          <p:nvPr>
            <p:ph type="ftr" sz="quarter" idx="3"/>
          </p:nvPr>
        </p:nvSpPr>
        <p:spPr>
          <a:xfrm>
            <a:off x="2659063" y="6345238"/>
            <a:ext cx="3343275"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6" name="灯片编号占位符 5"/>
          <p:cNvSpPr>
            <a:spLocks noGrp="1"/>
          </p:cNvSpPr>
          <p:nvPr>
            <p:ph type="sldNum" sz="quarter" idx="4"/>
          </p:nvPr>
        </p:nvSpPr>
        <p:spPr>
          <a:xfrm>
            <a:off x="7902575" y="6345238"/>
            <a:ext cx="760413" cy="363538"/>
          </a:xfrm>
          <a:prstGeom prst="rect">
            <a:avLst/>
          </a:prstGeom>
        </p:spPr>
        <p:txBody>
          <a:bodyPr vert="horz" wrap="square" lIns="0" tIns="0" rIns="0" bIns="0" numCol="1" anchor="b" anchorCtr="0" compatLnSpc="1"/>
          <a:lstStyle>
            <a:lvl1pPr>
              <a:defRPr>
                <a:solidFill>
                  <a:srgbClr val="D1EAEE"/>
                </a:solidFill>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B0A04D88-6E41-4E54-8942-F1E88AA602A8}" type="slidenum">
              <a:rPr kumimoji="0" lang="en-US" altLang="zh-CN" sz="1200" b="1" i="0" u="none" strike="noStrike" kern="1200" cap="none" spc="0" normalizeH="0" baseline="0" noProof="0">
                <a:ln>
                  <a:noFill/>
                </a:ln>
                <a:solidFill>
                  <a:srgbClr val="D1EAEE"/>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D1EAEE"/>
              </a:solidFill>
              <a:effectLst/>
              <a:uLnTx/>
              <a:uFillTx/>
              <a:latin typeface="黑体" panose="02010609060101010101" pitchFamily="49" charset="-122"/>
              <a:ea typeface="黑体" panose="02010609060101010101" pitchFamily="49" charset="-122"/>
              <a:cs typeface="+mn-cs"/>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5930" y="702784"/>
            <a:ext cx="8206740" cy="1140883"/>
          </a:xfrm>
        </p:spPr>
        <p:txBody>
          <a:bodyPr/>
          <a:lstStyle/>
          <a:p>
            <a:r>
              <a:rPr lang="zh-CN" altLang="en-US" smtClean="0"/>
              <a:t>单击此处编辑母版标题样式</a:t>
            </a:r>
            <a:endParaRPr lang="en-US"/>
          </a:p>
        </p:txBody>
      </p:sp>
      <p:sp>
        <p:nvSpPr>
          <p:cNvPr id="3" name="内容占位符 2"/>
          <p:cNvSpPr>
            <a:spLocks noGrp="1"/>
          </p:cNvSpPr>
          <p:nvPr>
            <p:ph sz="half" idx="1"/>
          </p:nvPr>
        </p:nvSpPr>
        <p:spPr>
          <a:xfrm>
            <a:off x="455930" y="1916529"/>
            <a:ext cx="4027382" cy="4426627"/>
          </a:xfrm>
        </p:spPr>
        <p:txBody>
          <a:bodyPr/>
          <a:lstStyle>
            <a:lvl1pPr>
              <a:defRPr sz="2600"/>
            </a:lvl1pPr>
            <a:lvl2pPr>
              <a:defRPr sz="2400"/>
            </a:lvl2pPr>
            <a:lvl3pPr>
              <a:defRPr sz="2000"/>
            </a:lvl3pPr>
            <a:lvl4pPr>
              <a:defRPr sz="18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内容占位符 3"/>
          <p:cNvSpPr>
            <a:spLocks noGrp="1"/>
          </p:cNvSpPr>
          <p:nvPr>
            <p:ph sz="half" idx="2"/>
          </p:nvPr>
        </p:nvSpPr>
        <p:spPr>
          <a:xfrm>
            <a:off x="4635288" y="1916529"/>
            <a:ext cx="4027382" cy="4426627"/>
          </a:xfrm>
        </p:spPr>
        <p:txBody>
          <a:bodyPr/>
          <a:lstStyle>
            <a:lvl1pPr>
              <a:defRPr sz="2600"/>
            </a:lvl1pPr>
            <a:lvl2pPr>
              <a:defRPr sz="2400"/>
            </a:lvl2pPr>
            <a:lvl3pPr>
              <a:defRPr sz="2000"/>
            </a:lvl3pPr>
            <a:lvl4pPr>
              <a:defRPr sz="18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D9FB4EE0-F706-4EBC-BCDF-E476D80EAF81}"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5930" y="702784"/>
            <a:ext cx="8206740" cy="1140883"/>
          </a:xfrm>
        </p:spPr>
        <p:txBody>
          <a:bodyPr/>
          <a:lstStyle>
            <a:lvl1pPr>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455930" y="1851812"/>
            <a:ext cx="4028965" cy="658131"/>
          </a:xfrm>
        </p:spPr>
        <p:txBody>
          <a:bodyPr lIns="45610" tIns="0" rIns="4561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4" name="文本占位符 3"/>
          <p:cNvSpPr>
            <a:spLocks noGrp="1"/>
          </p:cNvSpPr>
          <p:nvPr>
            <p:ph type="body" sz="half" idx="3"/>
          </p:nvPr>
        </p:nvSpPr>
        <p:spPr>
          <a:xfrm>
            <a:off x="4632123" y="1856314"/>
            <a:ext cx="4030548" cy="653630"/>
          </a:xfrm>
        </p:spPr>
        <p:txBody>
          <a:bodyPr lIns="45610" tIns="0" rIns="4561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5" name="内容占位符 4"/>
          <p:cNvSpPr>
            <a:spLocks noGrp="1"/>
          </p:cNvSpPr>
          <p:nvPr>
            <p:ph sz="quarter" idx="2"/>
          </p:nvPr>
        </p:nvSpPr>
        <p:spPr>
          <a:xfrm>
            <a:off x="455930" y="2509943"/>
            <a:ext cx="4028965" cy="3838598"/>
          </a:xfrm>
        </p:spPr>
        <p:txBody>
          <a:bodyPr tIns="0"/>
          <a:lstStyle>
            <a:lvl1pPr>
              <a:defRPr sz="2200"/>
            </a:lvl1pPr>
            <a:lvl2pPr>
              <a:defRPr sz="2000"/>
            </a:lvl2pPr>
            <a:lvl3pPr>
              <a:defRPr sz="1800"/>
            </a:lvl3pPr>
            <a:lvl4pPr>
              <a:defRPr sz="1600"/>
            </a:lvl4pPr>
            <a:lvl5pPr>
              <a:defRPr sz="16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6" name="内容占位符 5"/>
          <p:cNvSpPr>
            <a:spLocks noGrp="1"/>
          </p:cNvSpPr>
          <p:nvPr>
            <p:ph sz="quarter" idx="4"/>
          </p:nvPr>
        </p:nvSpPr>
        <p:spPr>
          <a:xfrm>
            <a:off x="4632123" y="2509943"/>
            <a:ext cx="4030548" cy="3838598"/>
          </a:xfrm>
        </p:spPr>
        <p:txBody>
          <a:bodyPr tIns="0"/>
          <a:lstStyle>
            <a:lvl1pPr>
              <a:defRPr sz="2200"/>
            </a:lvl1pPr>
            <a:lvl2pPr>
              <a:defRPr sz="2000"/>
            </a:lvl2pPr>
            <a:lvl3pPr>
              <a:defRPr sz="1800"/>
            </a:lvl3pPr>
            <a:lvl4pPr>
              <a:defRPr sz="1600"/>
            </a:lvl4pPr>
            <a:lvl5pPr>
              <a:defRPr sz="16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8" name="页脚占位符 7"/>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D9FB4EE0-F706-4EBC-BCDF-E476D80EAF81}"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5930" y="702784"/>
            <a:ext cx="8282728" cy="1140883"/>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smtClean="0"/>
              <a:t>单击此处编辑母版标题样式</a:t>
            </a:r>
            <a:endParaRPr 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4" name="页脚占位符 3"/>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D9FB4EE0-F706-4EBC-BCDF-E476D80EAF81}"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D9FB4EE0-F706-4EBC-BCDF-E476D80EAF81}"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3895" y="513400"/>
            <a:ext cx="2735580" cy="1159898"/>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smtClean="0"/>
              <a:t>单击此处编辑母版标题样式</a:t>
            </a:r>
            <a:endParaRPr lang="en-US"/>
          </a:p>
        </p:txBody>
      </p:sp>
      <p:sp>
        <p:nvSpPr>
          <p:cNvPr id="3" name="文本占位符 2"/>
          <p:cNvSpPr>
            <a:spLocks noGrp="1"/>
          </p:cNvSpPr>
          <p:nvPr>
            <p:ph type="body" idx="2"/>
          </p:nvPr>
        </p:nvSpPr>
        <p:spPr>
          <a:xfrm>
            <a:off x="683895" y="1673296"/>
            <a:ext cx="2735580" cy="4563533"/>
          </a:xfrm>
        </p:spPr>
        <p:txBody>
          <a:bodyPr lIns="18244" rIns="18244"/>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smtClean="0"/>
              <a:t>单击此处编辑母版文本样式</a:t>
            </a:r>
            <a:endParaRPr lang="zh-CN" altLang="en-US" smtClean="0"/>
          </a:p>
        </p:txBody>
      </p:sp>
      <p:sp>
        <p:nvSpPr>
          <p:cNvPr id="4" name="内容占位符 3"/>
          <p:cNvSpPr>
            <a:spLocks noGrp="1"/>
          </p:cNvSpPr>
          <p:nvPr>
            <p:ph sz="half" idx="1"/>
          </p:nvPr>
        </p:nvSpPr>
        <p:spPr>
          <a:xfrm>
            <a:off x="3565119" y="1673296"/>
            <a:ext cx="5097551" cy="4563533"/>
          </a:xfrm>
        </p:spPr>
        <p:txBody>
          <a:bodyPr tIns="0"/>
          <a:lstStyle>
            <a:lvl1pPr>
              <a:defRPr sz="2800"/>
            </a:lvl1pPr>
            <a:lvl2pPr>
              <a:defRPr sz="2600"/>
            </a:lvl2pPr>
            <a:lvl3pPr>
              <a:defRPr sz="2400"/>
            </a:lvl3pPr>
            <a:lvl4pPr>
              <a:defRPr sz="20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D9FB4EE0-F706-4EBC-BCDF-E476D80EAF81}"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4" name="单圆角矩形 13"/>
          <p:cNvSpPr/>
          <p:nvPr/>
        </p:nvSpPr>
        <p:spPr>
          <a:xfrm rot="420000" flipV="1">
            <a:off x="3157538" y="1106488"/>
            <a:ext cx="5241925" cy="4106863"/>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lIns="91221" tIns="45610" rIns="91221" bIns="45610"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5" name="直角三角形 14"/>
          <p:cNvSpPr/>
          <p:nvPr/>
        </p:nvSpPr>
        <p:spPr>
          <a:xfrm rot="420000" flipV="1">
            <a:off x="7981950" y="5349875"/>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lIns="91221" tIns="45610" rIns="91221" bIns="45610"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6" name="任意多边形 15"/>
          <p:cNvSpPr/>
          <p:nvPr/>
        </p:nvSpPr>
        <p:spPr bwMode="auto">
          <a:xfrm flipV="1">
            <a:off x="-9525" y="5805488"/>
            <a:ext cx="9137650" cy="1039813"/>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lIns="91221" tIns="45610" rIns="91221" bIns="45610"/>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17" name="任意多边形 16"/>
          <p:cNvSpPr/>
          <p:nvPr/>
        </p:nvSpPr>
        <p:spPr bwMode="auto">
          <a:xfrm flipV="1">
            <a:off x="4368800" y="6208713"/>
            <a:ext cx="4749800" cy="636588"/>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lIns="91221" tIns="45610" rIns="91221" bIns="45610"/>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2" name="标题 1"/>
          <p:cNvSpPr>
            <a:spLocks noGrp="1"/>
          </p:cNvSpPr>
          <p:nvPr>
            <p:ph type="title"/>
          </p:nvPr>
        </p:nvSpPr>
        <p:spPr>
          <a:xfrm>
            <a:off x="607907" y="1174817"/>
            <a:ext cx="2206701" cy="1579690"/>
          </a:xfrm>
        </p:spPr>
        <p:txBody>
          <a:bodyPr lIns="45610" rIns="45610" bIns="45610"/>
          <a:lstStyle>
            <a:lvl1pPr algn="l">
              <a:buNone/>
              <a:defRPr sz="2000" b="1">
                <a:solidFill>
                  <a:schemeClr val="tx2"/>
                </a:solidFill>
              </a:defRPr>
            </a:lvl1pPr>
          </a:lstStyle>
          <a:p>
            <a:r>
              <a:rPr lang="zh-CN" altLang="en-US" smtClean="0"/>
              <a:t>单击此处编辑母版标题样式</a:t>
            </a:r>
            <a:endParaRPr lang="en-US"/>
          </a:p>
        </p:txBody>
      </p:sp>
      <p:sp>
        <p:nvSpPr>
          <p:cNvPr id="4" name="文本占位符 3"/>
          <p:cNvSpPr>
            <a:spLocks noGrp="1"/>
          </p:cNvSpPr>
          <p:nvPr>
            <p:ph type="body" sz="half" idx="2"/>
          </p:nvPr>
        </p:nvSpPr>
        <p:spPr>
          <a:xfrm>
            <a:off x="607907" y="2823547"/>
            <a:ext cx="2203662" cy="2175284"/>
          </a:xfrm>
        </p:spPr>
        <p:txBody>
          <a:bodyPr lIns="63854" rIns="4561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smtClean="0"/>
              <a:t>单击此处编辑母版文本样式</a:t>
            </a:r>
            <a:endParaRPr lang="zh-CN" altLang="en-US" smtClean="0"/>
          </a:p>
        </p:txBody>
      </p:sp>
      <p:sp>
        <p:nvSpPr>
          <p:cNvPr id="3" name="图片占位符 2"/>
          <p:cNvSpPr>
            <a:spLocks noGrp="1"/>
          </p:cNvSpPr>
          <p:nvPr>
            <p:ph type="pic" idx="1"/>
          </p:nvPr>
        </p:nvSpPr>
        <p:spPr>
          <a:xfrm rot="420000">
            <a:off x="3476110" y="1197296"/>
            <a:ext cx="4604893" cy="3924639"/>
          </a:xfrm>
          <a:prstGeom prst="rect">
            <a:avLst/>
          </a:prstGeom>
          <a:solidFill>
            <a:schemeClr val="bg2"/>
          </a:solidFill>
          <a:ln w="3000" cap="rnd">
            <a:solidFill>
              <a:srgbClr val="C0C0C0"/>
            </a:solidFill>
            <a:round/>
          </a:ln>
          <a:effectLst/>
        </p:spPr>
        <p:txBody>
          <a:bodyPr vert="horz" wrap="square" lIns="91221" tIns="45610" rIns="91221" bIns="4561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defRPr/>
            </a:pPr>
            <a:r>
              <a:rPr kumimoji="0" lang="zh-CN" altLang="en-US" sz="32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19" name="日期占位符 4"/>
          <p:cNvSpPr>
            <a:spLocks noGrp="1"/>
          </p:cNvSpPr>
          <p:nvPr>
            <p:ph type="dt" sz="half" idx="12"/>
          </p:nvPr>
        </p:nvSpPr>
        <p:spPr>
          <a:xfrm>
            <a:off x="455613" y="6345238"/>
            <a:ext cx="2127250"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20" name="页脚占位符 5"/>
          <p:cNvSpPr>
            <a:spLocks noGrp="1"/>
          </p:cNvSpPr>
          <p:nvPr>
            <p:ph type="ftr" sz="quarter" idx="3"/>
          </p:nvPr>
        </p:nvSpPr>
        <p:spPr>
          <a:xfrm>
            <a:off x="2659063" y="6345238"/>
            <a:ext cx="3343275"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21" name="灯片编号占位符 6"/>
          <p:cNvSpPr>
            <a:spLocks noGrp="1"/>
          </p:cNvSpPr>
          <p:nvPr>
            <p:ph type="sldNum" sz="quarter" idx="4"/>
          </p:nvPr>
        </p:nvSpPr>
        <p:spPr>
          <a:xfrm>
            <a:off x="8054975" y="6345238"/>
            <a:ext cx="608013" cy="363538"/>
          </a:xfrm>
          <a:prstGeom prst="rect">
            <a:avLst/>
          </a:prstGeom>
        </p:spPr>
        <p:txBody>
          <a:bodyPr vert="horz" wrap="square" lIns="0" tIns="0" rIns="0" bIns="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5545A85B-6819-4BA2-966C-3174413A6BB6}"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D9FB4EE0-F706-4EBC-BCDF-E476D80EAF81}"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985" y="912708"/>
            <a:ext cx="2051685" cy="5202112"/>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455930" y="912708"/>
            <a:ext cx="6003078" cy="52021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D9FB4EE0-F706-4EBC-BCDF-E476D80EAF81}"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97621" y="228177"/>
            <a:ext cx="8517026" cy="114088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94190" y="1554454"/>
            <a:ext cx="4123950" cy="449064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70117" y="1554454"/>
            <a:ext cx="4125533" cy="449064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D9FB4EE0-F706-4EBC-BCDF-E476D80EAF81}"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7" name="任意多边形 6"/>
          <p:cNvSpPr/>
          <p:nvPr/>
        </p:nvSpPr>
        <p:spPr bwMode="auto">
          <a:xfrm>
            <a:off x="-9525" y="-6350"/>
            <a:ext cx="9137650" cy="1038225"/>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lIns="91221" tIns="45610" rIns="91221" bIns="45610"/>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8" name="任意多边形 7"/>
          <p:cNvSpPr/>
          <p:nvPr/>
        </p:nvSpPr>
        <p:spPr bwMode="auto">
          <a:xfrm>
            <a:off x="4368800" y="-6350"/>
            <a:ext cx="4749800" cy="636588"/>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lIns="91221" tIns="45610" rIns="91221" bIns="45610"/>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1028" name="标题占位符 8"/>
          <p:cNvSpPr>
            <a:spLocks noGrp="1"/>
          </p:cNvSpPr>
          <p:nvPr>
            <p:ph type="title"/>
          </p:nvPr>
        </p:nvSpPr>
        <p:spPr>
          <a:xfrm>
            <a:off x="455613" y="703263"/>
            <a:ext cx="8207375" cy="1139825"/>
          </a:xfrm>
          <a:prstGeom prst="rect">
            <a:avLst/>
          </a:prstGeom>
          <a:noFill/>
          <a:ln w="9525">
            <a:noFill/>
          </a:ln>
        </p:spPr>
        <p:txBody>
          <a:bodyPr lIns="0" tIns="45610" rIns="0" bIns="0" anchor="b" anchorCtr="0"/>
          <a:p>
            <a:pPr lvl="0"/>
            <a:r>
              <a:rPr lang="zh-CN" altLang="en-US" dirty="0"/>
              <a:t>单击此处编辑母版标题样式</a:t>
            </a:r>
            <a:endParaRPr lang="en-US" altLang="zh-CN" dirty="0"/>
          </a:p>
        </p:txBody>
      </p:sp>
      <p:sp>
        <p:nvSpPr>
          <p:cNvPr id="1029" name="文本占位符 29"/>
          <p:cNvSpPr>
            <a:spLocks noGrp="1"/>
          </p:cNvSpPr>
          <p:nvPr>
            <p:ph type="body" idx="1"/>
          </p:nvPr>
        </p:nvSpPr>
        <p:spPr>
          <a:xfrm>
            <a:off x="455613" y="1931988"/>
            <a:ext cx="8207375" cy="4381500"/>
          </a:xfrm>
          <a:prstGeom prst="rect">
            <a:avLst/>
          </a:prstGeom>
          <a:noFill/>
          <a:ln w="9525">
            <a:noFill/>
          </a:ln>
        </p:spPr>
        <p:txBody>
          <a:bodyPr lIns="91221" tIns="45610" rIns="91221" bIns="4561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sp>
        <p:nvSpPr>
          <p:cNvPr id="10" name="日期占位符 9"/>
          <p:cNvSpPr>
            <a:spLocks noGrp="1"/>
          </p:cNvSpPr>
          <p:nvPr>
            <p:ph type="dt" sz="half" idx="2"/>
          </p:nvPr>
        </p:nvSpPr>
        <p:spPr>
          <a:xfrm>
            <a:off x="455613" y="6345238"/>
            <a:ext cx="2127250" cy="363538"/>
          </a:xfrm>
          <a:prstGeom prst="rect">
            <a:avLst/>
          </a:prstGeom>
        </p:spPr>
        <p:txBody>
          <a:bodyPr vert="horz" lIns="0" tIns="0" rIns="0" bIns="0" anchor="b"/>
          <a:lstStyle>
            <a:lvl1pPr algn="l" eaLnBrk="1" latinLnBrk="0" hangingPunct="1">
              <a:buFont typeface="Wingdings" panose="05000000000000000000" pitchFamily="2" charset="2"/>
              <a:buNone/>
              <a:defRPr kumimoji="0" sz="1200">
                <a:solidFill>
                  <a:schemeClr val="tx2">
                    <a:shade val="90000"/>
                  </a:schemeClr>
                </a:solidFill>
                <a:latin typeface="黑体" panose="02010609060101010101" pitchFamily="49" charset="-122"/>
                <a:ea typeface="黑体" panose="02010609060101010101" pitchFamily="49" charset="-122"/>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22" name="页脚占位符 21"/>
          <p:cNvSpPr>
            <a:spLocks noGrp="1"/>
          </p:cNvSpPr>
          <p:nvPr>
            <p:ph type="ftr" sz="quarter" idx="3"/>
          </p:nvPr>
        </p:nvSpPr>
        <p:spPr>
          <a:xfrm>
            <a:off x="2659063" y="6345238"/>
            <a:ext cx="3343275" cy="363538"/>
          </a:xfrm>
          <a:prstGeom prst="rect">
            <a:avLst/>
          </a:prstGeom>
        </p:spPr>
        <p:txBody>
          <a:bodyPr vert="horz" lIns="0" tIns="0" rIns="0" bIns="0" anchor="b"/>
          <a:lstStyle>
            <a:lvl1pPr algn="l" eaLnBrk="1" latinLnBrk="0" hangingPunct="1">
              <a:buFont typeface="Wingdings" panose="05000000000000000000" pitchFamily="2" charset="2"/>
              <a:buNone/>
              <a:defRPr kumimoji="0" sz="1200">
                <a:solidFill>
                  <a:schemeClr val="tx2">
                    <a:shade val="90000"/>
                  </a:schemeClr>
                </a:solidFill>
                <a:latin typeface="黑体" panose="02010609060101010101" pitchFamily="49" charset="-122"/>
                <a:ea typeface="黑体" panose="02010609060101010101" pitchFamily="49" charset="-122"/>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8" name="灯片编号占位符 17"/>
          <p:cNvSpPr>
            <a:spLocks noGrp="1"/>
          </p:cNvSpPr>
          <p:nvPr>
            <p:ph type="sldNum" sz="quarter" idx="4"/>
          </p:nvPr>
        </p:nvSpPr>
        <p:spPr>
          <a:xfrm>
            <a:off x="7902575" y="6345238"/>
            <a:ext cx="760413" cy="363538"/>
          </a:xfrm>
          <a:prstGeom prst="rect">
            <a:avLst/>
          </a:prstGeom>
        </p:spPr>
        <p:txBody>
          <a:bodyPr vert="horz" wrap="square" lIns="0" tIns="0" rIns="0" bIns="0" numCol="1" anchor="b" anchorCtr="0" compatLnSpc="1"/>
          <a:lstStyle>
            <a:lvl1pPr algn="r" eaLnBrk="1" hangingPunct="1">
              <a:buFont typeface="Wingdings" panose="05000000000000000000" pitchFamily="2" charset="2"/>
              <a:buNone/>
              <a:defRPr kumimoji="0" sz="1200">
                <a:solidFill>
                  <a:srgbClr val="045C75"/>
                </a:solidFill>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D9FB4EE0-F706-4EBC-BCDF-E476D80EAF81}"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grpSp>
        <p:nvGrpSpPr>
          <p:cNvPr id="1033" name="组合 1"/>
          <p:cNvGrpSpPr/>
          <p:nvPr/>
        </p:nvGrpSpPr>
        <p:grpSpPr>
          <a:xfrm>
            <a:off x="-19050" y="201613"/>
            <a:ext cx="9155113" cy="647700"/>
            <a:chOff x="-19045" y="216550"/>
            <a:chExt cx="9180548" cy="649224"/>
          </a:xfrm>
        </p:grpSpPr>
        <p:sp>
          <p:nvSpPr>
            <p:cNvPr id="12" name="任意多边形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13" name="任意多边形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2pPr>
      <a:lvl3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3pPr>
      <a:lvl4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4pPr>
      <a:lvl5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5pPr>
      <a:lvl6pPr marL="4572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6pPr>
      <a:lvl7pPr marL="9144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7pPr>
      <a:lvl8pPr marL="13716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8pPr>
      <a:lvl9pPr marL="18288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9pPr>
    </p:titleStyle>
    <p:body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vl6pPr marL="1732915" indent="-209550"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15795" indent="-182245"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89480" indent="-182245"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3165" indent="-182245"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5930" algn="l" rtl="0" eaLnBrk="1" latinLnBrk="0" hangingPunct="1">
        <a:defRPr kumimoji="0" kern="1200">
          <a:solidFill>
            <a:schemeClr val="tx1"/>
          </a:solidFill>
          <a:latin typeface="+mn-lt"/>
          <a:ea typeface="+mn-ea"/>
          <a:cs typeface="+mn-cs"/>
        </a:defRPr>
      </a:lvl2pPr>
      <a:lvl3pPr marL="912495" algn="l" rtl="0" eaLnBrk="1" latinLnBrk="0" hangingPunct="1">
        <a:defRPr kumimoji="0" kern="1200">
          <a:solidFill>
            <a:schemeClr val="tx1"/>
          </a:solidFill>
          <a:latin typeface="+mn-lt"/>
          <a:ea typeface="+mn-ea"/>
          <a:cs typeface="+mn-cs"/>
        </a:defRPr>
      </a:lvl3pPr>
      <a:lvl4pPr marL="1368425" algn="l" rtl="0" eaLnBrk="1" latinLnBrk="0" hangingPunct="1">
        <a:defRPr kumimoji="0" kern="1200">
          <a:solidFill>
            <a:schemeClr val="tx1"/>
          </a:solidFill>
          <a:latin typeface="+mn-lt"/>
          <a:ea typeface="+mn-ea"/>
          <a:cs typeface="+mn-cs"/>
        </a:defRPr>
      </a:lvl4pPr>
      <a:lvl5pPr marL="1824355" algn="l" rtl="0" eaLnBrk="1" latinLnBrk="0" hangingPunct="1">
        <a:defRPr kumimoji="0" kern="1200">
          <a:solidFill>
            <a:schemeClr val="tx1"/>
          </a:solidFill>
          <a:latin typeface="+mn-lt"/>
          <a:ea typeface="+mn-ea"/>
          <a:cs typeface="+mn-cs"/>
        </a:defRPr>
      </a:lvl5pPr>
      <a:lvl6pPr marL="2280285" algn="l" rtl="0" eaLnBrk="1" latinLnBrk="0" hangingPunct="1">
        <a:defRPr kumimoji="0" kern="1200">
          <a:solidFill>
            <a:schemeClr val="tx1"/>
          </a:solidFill>
          <a:latin typeface="+mn-lt"/>
          <a:ea typeface="+mn-ea"/>
          <a:cs typeface="+mn-cs"/>
        </a:defRPr>
      </a:lvl6pPr>
      <a:lvl7pPr marL="2736850" algn="l" rtl="0" eaLnBrk="1" latinLnBrk="0" hangingPunct="1">
        <a:defRPr kumimoji="0" kern="1200">
          <a:solidFill>
            <a:schemeClr val="tx1"/>
          </a:solidFill>
          <a:latin typeface="+mn-lt"/>
          <a:ea typeface="+mn-ea"/>
          <a:cs typeface="+mn-cs"/>
        </a:defRPr>
      </a:lvl7pPr>
      <a:lvl8pPr marL="3192780" algn="l" rtl="0" eaLnBrk="1" latinLnBrk="0" hangingPunct="1">
        <a:defRPr kumimoji="0" kern="1200">
          <a:solidFill>
            <a:schemeClr val="tx1"/>
          </a:solidFill>
          <a:latin typeface="+mn-lt"/>
          <a:ea typeface="+mn-ea"/>
          <a:cs typeface="+mn-cs"/>
        </a:defRPr>
      </a:lvl8pPr>
      <a:lvl9pPr marL="364871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5.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2.bin"/></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emf"/><Relationship Id="rId1" Type="http://schemas.openxmlformats.org/officeDocument/2006/relationships/image" Target="../media/image6.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emf"/></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emf"/></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emf"/></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15.emf"/><Relationship Id="rId1" Type="http://schemas.openxmlformats.org/officeDocument/2006/relationships/oleObject" Target="../embeddings/oleObject3.bin"/></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oleObject" Target="../embeddings/oleObject4.bin"/></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wmf"/></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wmf"/><Relationship Id="rId1" Type="http://schemas.openxmlformats.org/officeDocument/2006/relationships/image" Target="../media/image18.wmf"/></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1.wmf"/><Relationship Id="rId1" Type="http://schemas.openxmlformats.org/officeDocument/2006/relationships/image" Target="../media/image20.wmf"/></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3.wmf"/><Relationship Id="rId1" Type="http://schemas.openxmlformats.org/officeDocument/2006/relationships/image" Target="../media/image22.wmf"/></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5.wmf"/><Relationship Id="rId1" Type="http://schemas.openxmlformats.org/officeDocument/2006/relationships/image" Target="../media/image24.wmf"/></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7.wmf"/><Relationship Id="rId1" Type="http://schemas.openxmlformats.org/officeDocument/2006/relationships/image" Target="../media/image26.wmf"/></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image" Target="../media/image3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image" Target="../media/image33.emf"/></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6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emf"/></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w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wmf"/></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wmf"/></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3.wmf"/></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4.wmf"/></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6.wmf"/></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7.w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9.emf"/><Relationship Id="rId1" Type="http://schemas.openxmlformats.org/officeDocument/2006/relationships/image" Target="../media/image48.e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1.emf"/><Relationship Id="rId1" Type="http://schemas.openxmlformats.org/officeDocument/2006/relationships/image" Target="../media/image50.e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noRot="1" noChangeArrowheads="1"/>
          </p:cNvSpPr>
          <p:nvPr>
            <p:ph type="ctrTitle"/>
          </p:nvPr>
        </p:nvSpPr>
        <p:spPr bwMode="auto">
          <a:xfrm>
            <a:off x="531918" y="1064825"/>
            <a:ext cx="7750810" cy="1459380"/>
          </a:xfrm>
          <a:ln>
            <a:miter lim="800000"/>
          </a:ln>
          <a:effectLst/>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18244" bIns="0" numCol="1" anchor="b" anchorCtr="0" compatLnSpc="1">
            <a:normAutofit/>
            <a:scene3d>
              <a:camera prst="orthographicFront"/>
              <a:lightRig rig="freezing" dir="t">
                <a:rot lat="0" lon="0" rev="5640000"/>
              </a:lightRig>
            </a:scene3d>
            <a:sp3d prstMaterial="flat">
              <a:bevelT w="38100" h="38100"/>
              <a:contourClr>
                <a:schemeClr val="tx2"/>
              </a:contourClr>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5400" b="1" i="0" u="none" strike="noStrike" kern="1200" cap="none" spc="0" normalizeH="0" baseline="0" noProof="0" dirty="0" smtClean="0">
                <a:ln>
                  <a:noFill/>
                </a:ln>
                <a:solidFill>
                  <a:schemeClr val="accent3">
                    <a:tint val="90000"/>
                    <a:satMod val="120000"/>
                  </a:schemeClr>
                </a:solidFill>
                <a:effectLst>
                  <a:outerShdw blurRad="38100" dist="25400" dir="5400000" algn="tl" rotWithShape="0">
                    <a:srgbClr val="000000">
                      <a:alpha val="43000"/>
                    </a:srgbClr>
                  </a:outerShdw>
                </a:effectLst>
                <a:uLnTx/>
                <a:uFillTx/>
                <a:latin typeface="微软雅黑" panose="020B0503020204020204" pitchFamily="34" charset="-122"/>
                <a:ea typeface="微软雅黑" panose="020B0503020204020204" pitchFamily="34" charset="-122"/>
                <a:cs typeface="+mj-cs"/>
              </a:rPr>
              <a:t>软 件 工 程 导 论</a:t>
            </a:r>
            <a:endParaRPr kumimoji="0" lang="zh-CN" altLang="en-US" sz="5400" b="1" i="0" u="none" strike="noStrike" kern="1200" cap="none" spc="0" normalizeH="0" baseline="0" noProof="0" dirty="0" smtClean="0">
              <a:ln>
                <a:noFill/>
              </a:ln>
              <a:solidFill>
                <a:schemeClr val="accent3">
                  <a:tint val="90000"/>
                  <a:satMod val="120000"/>
                </a:schemeClr>
              </a:solidFill>
              <a:effectLst>
                <a:outerShdw blurRad="38100" dist="25400" dir="5400000" algn="tl" rotWithShape="0">
                  <a:srgbClr val="000000">
                    <a:alpha val="43000"/>
                  </a:srgbClr>
                </a:outerShdw>
              </a:effectLst>
              <a:uLnTx/>
              <a:uFillTx/>
              <a:latin typeface="微软雅黑" panose="020B0503020204020204" pitchFamily="34" charset="-122"/>
              <a:ea typeface="微软雅黑" panose="020B0503020204020204" pitchFamily="34" charset="-122"/>
              <a:cs typeface="+mj-cs"/>
            </a:endParaRPr>
          </a:p>
        </p:txBody>
      </p:sp>
      <p:sp>
        <p:nvSpPr>
          <p:cNvPr id="6147" name="Rectangle 3"/>
          <p:cNvSpPr>
            <a:spLocks noGrp="1" noRot="1"/>
          </p:cNvSpPr>
          <p:nvPr>
            <p:ph type="subTitle" idx="1"/>
          </p:nvPr>
        </p:nvSpPr>
        <p:spPr>
          <a:xfrm>
            <a:off x="1389063" y="3228975"/>
            <a:ext cx="6381750" cy="2551113"/>
          </a:xfrm>
          <a:ln/>
        </p:spPr>
        <p:txBody>
          <a:bodyPr vert="horz" wrap="square" lIns="0" tIns="45610" rIns="18244" bIns="45610" anchor="t" anchorCtr="0"/>
          <a:p>
            <a:pPr marR="0" algn="ctr" eaLnBrk="1" hangingPunct="1">
              <a:lnSpc>
                <a:spcPct val="90000"/>
              </a:lnSpc>
              <a:buClr>
                <a:srgbClr val="0BD0D9"/>
              </a:buClr>
              <a:buSzPct val="95000"/>
            </a:pPr>
            <a:r>
              <a:rPr lang="zh-CN" altLang="en-US" sz="2800" b="1" kern="1200" dirty="0">
                <a:latin typeface="楷体_GB2312" pitchFamily="49" charset="-122"/>
                <a:ea typeface="楷体_GB2312" pitchFamily="49" charset="-122"/>
                <a:cs typeface="+mn-cs"/>
              </a:rPr>
              <a:t>刘春</a:t>
            </a:r>
            <a:endParaRPr lang="en-US" altLang="zh-CN" sz="2800" b="1" kern="1200" dirty="0">
              <a:latin typeface="楷体_GB2312" pitchFamily="49" charset="-122"/>
              <a:ea typeface="楷体_GB2312" pitchFamily="49" charset="-122"/>
              <a:cs typeface="+mn-cs"/>
            </a:endParaRPr>
          </a:p>
          <a:p>
            <a:pPr marR="0" algn="ctr" eaLnBrk="1" hangingPunct="1">
              <a:lnSpc>
                <a:spcPct val="90000"/>
              </a:lnSpc>
              <a:buClr>
                <a:srgbClr val="0BD0D9"/>
              </a:buClr>
              <a:buSzPct val="95000"/>
            </a:pPr>
            <a:endParaRPr lang="zh-CN" altLang="en-US" sz="2800" b="1" kern="1200" dirty="0">
              <a:latin typeface="楷体_GB2312" pitchFamily="49" charset="-122"/>
              <a:ea typeface="楷体_GB2312" pitchFamily="49" charset="-122"/>
              <a:cs typeface="+mn-cs"/>
            </a:endParaRPr>
          </a:p>
          <a:p>
            <a:pPr marR="0" algn="ctr" eaLnBrk="1" hangingPunct="1">
              <a:lnSpc>
                <a:spcPct val="90000"/>
              </a:lnSpc>
              <a:buClr>
                <a:srgbClr val="0BD0D9"/>
              </a:buClr>
              <a:buSzPct val="95000"/>
            </a:pPr>
            <a:r>
              <a:rPr lang="zh-CN" altLang="en-US" sz="2800" b="1" kern="1200" dirty="0">
                <a:latin typeface="楷体_GB2312" pitchFamily="49" charset="-122"/>
                <a:ea typeface="楷体_GB2312" pitchFamily="49" charset="-122"/>
                <a:cs typeface="+mn-cs"/>
              </a:rPr>
              <a:t>计算机与信息工程学院 数据科学系</a:t>
            </a:r>
            <a:endParaRPr lang="zh-CN" altLang="en-US" sz="2800" b="1" kern="1200" dirty="0">
              <a:latin typeface="楷体_GB2312" pitchFamily="49" charset="-122"/>
              <a:ea typeface="楷体_GB2312" pitchFamily="49" charset="-122"/>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0242" name="对象 1"/>
          <p:cNvGraphicFramePr>
            <a:graphicFrameLocks noChangeAspect="1"/>
          </p:cNvGraphicFramePr>
          <p:nvPr/>
        </p:nvGraphicFramePr>
        <p:xfrm>
          <a:off x="682625" y="1268413"/>
          <a:ext cx="7826375" cy="5462587"/>
        </p:xfrm>
        <a:graphic>
          <a:graphicData uri="http://schemas.openxmlformats.org/presentationml/2006/ole">
            <mc:AlternateContent xmlns:mc="http://schemas.openxmlformats.org/markup-compatibility/2006">
              <mc:Choice xmlns:v="urn:schemas-microsoft-com:vml" Requires="v">
                <p:oleObj spid="_x0000_s3077" name="" r:id="rId1" imgW="9652000" imgH="6261100" progId="Visio.Drawing.11">
                  <p:embed/>
                </p:oleObj>
              </mc:Choice>
              <mc:Fallback>
                <p:oleObj name="" r:id="rId1" imgW="9652000" imgH="6261100" progId="Visio.Drawing.11">
                  <p:embed/>
                  <p:pic>
                    <p:nvPicPr>
                      <p:cNvPr id="0" name="图片 3076"/>
                      <p:cNvPicPr/>
                      <p:nvPr/>
                    </p:nvPicPr>
                    <p:blipFill>
                      <a:blip r:embed="rId2"/>
                      <a:stretch>
                        <a:fillRect/>
                      </a:stretch>
                    </p:blipFill>
                    <p:spPr>
                      <a:xfrm>
                        <a:off x="682625" y="1268413"/>
                        <a:ext cx="7826375" cy="5462587"/>
                      </a:xfrm>
                      <a:prstGeom prst="rect">
                        <a:avLst/>
                      </a:prstGeom>
                      <a:noFill/>
                      <a:ln w="38100">
                        <a:noFill/>
                        <a:miter/>
                      </a:ln>
                    </p:spPr>
                  </p:pic>
                </p:oleObj>
              </mc:Fallback>
            </mc:AlternateContent>
          </a:graphicData>
        </a:graphic>
      </p:graphicFrame>
      <p:sp>
        <p:nvSpPr>
          <p:cNvPr id="10243" name="标题 1"/>
          <p:cNvSpPr>
            <a:spLocks noGrp="1"/>
          </p:cNvSpPr>
          <p:nvPr>
            <p:ph type="title"/>
          </p:nvPr>
        </p:nvSpPr>
        <p:spPr>
          <a:xfrm>
            <a:off x="393700" y="119063"/>
            <a:ext cx="8207375"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课程进度安排</a:t>
            </a:r>
            <a:endParaRPr lang="zh-CN" altLang="en-US" b="1" dirty="0">
              <a:latin typeface="微软雅黑" panose="020B0503020204020204" pitchFamily="34" charset="-122"/>
              <a:ea typeface="微软雅黑" panose="020B0503020204020204" pitchFamily="34" charset="-122"/>
            </a:endParaRPr>
          </a:p>
        </p:txBody>
      </p:sp>
      <p:sp>
        <p:nvSpPr>
          <p:cNvPr id="43012" name="Rectangle 2"/>
          <p:cNvSpPr>
            <a:spLocks noChangeArrowheads="1"/>
          </p:cNvSpPr>
          <p:nvPr/>
        </p:nvSpPr>
        <p:spPr bwMode="auto">
          <a:xfrm>
            <a:off x="0" y="-165100"/>
            <a:ext cx="184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600" b="1">
                <a:solidFill>
                  <a:schemeClr val="tx1"/>
                </a:solidFill>
                <a:latin typeface="Comic Sans MS" panose="030F0702030302020204" pitchFamily="66" charset="0"/>
                <a:ea typeface="宋体" panose="02010600030101010101" pitchFamily="2" charset="-122"/>
              </a:defRPr>
            </a:lvl1pPr>
            <a:lvl2pPr marL="742950" indent="-285750">
              <a:defRPr sz="1600" b="1">
                <a:solidFill>
                  <a:schemeClr val="tx1"/>
                </a:solidFill>
                <a:latin typeface="Comic Sans MS" panose="030F0702030302020204" pitchFamily="66" charset="0"/>
                <a:ea typeface="宋体" panose="02010600030101010101" pitchFamily="2" charset="-122"/>
              </a:defRPr>
            </a:lvl2pPr>
            <a:lvl3pPr marL="1143000" indent="-228600">
              <a:defRPr sz="1600" b="1">
                <a:solidFill>
                  <a:schemeClr val="tx1"/>
                </a:solidFill>
                <a:latin typeface="Comic Sans MS" panose="030F0702030302020204" pitchFamily="66" charset="0"/>
                <a:ea typeface="宋体" panose="02010600030101010101" pitchFamily="2" charset="-122"/>
              </a:defRPr>
            </a:lvl3pPr>
            <a:lvl4pPr marL="1600200" indent="-228600">
              <a:defRPr sz="1600" b="1">
                <a:solidFill>
                  <a:schemeClr val="tx1"/>
                </a:solidFill>
                <a:latin typeface="Comic Sans MS" panose="030F0702030302020204" pitchFamily="66" charset="0"/>
                <a:ea typeface="宋体" panose="02010600030101010101" pitchFamily="2" charset="-122"/>
              </a:defRPr>
            </a:lvl4pPr>
            <a:lvl5pPr marL="2057400" indent="-228600">
              <a:defRPr sz="16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5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cxnSp>
        <p:nvCxnSpPr>
          <p:cNvPr id="3" name="直接箭头连接符 2"/>
          <p:cNvCxnSpPr/>
          <p:nvPr/>
        </p:nvCxnSpPr>
        <p:spPr>
          <a:xfrm>
            <a:off x="4672013" y="1778000"/>
            <a:ext cx="2811463" cy="4483100"/>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015" name="文本框 3"/>
          <p:cNvSpPr txBox="1">
            <a:spLocks noChangeArrowheads="1"/>
          </p:cNvSpPr>
          <p:nvPr/>
        </p:nvSpPr>
        <p:spPr bwMode="auto">
          <a:xfrm>
            <a:off x="5965825" y="4000500"/>
            <a:ext cx="1443038"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Comic Sans MS" panose="030F0702030302020204" pitchFamily="66" charset="0"/>
                <a:ea typeface="宋体" panose="02010600030101010101" pitchFamily="2" charset="-122"/>
              </a:defRPr>
            </a:lvl1pPr>
            <a:lvl2pPr marL="742950" indent="-285750">
              <a:defRPr sz="1600" b="1">
                <a:solidFill>
                  <a:schemeClr val="tx1"/>
                </a:solidFill>
                <a:latin typeface="Comic Sans MS" panose="030F0702030302020204" pitchFamily="66" charset="0"/>
                <a:ea typeface="宋体" panose="02010600030101010101" pitchFamily="2" charset="-122"/>
              </a:defRPr>
            </a:lvl2pPr>
            <a:lvl3pPr marL="1143000" indent="-228600">
              <a:defRPr sz="1600" b="1">
                <a:solidFill>
                  <a:schemeClr val="tx1"/>
                </a:solidFill>
                <a:latin typeface="Comic Sans MS" panose="030F0702030302020204" pitchFamily="66" charset="0"/>
                <a:ea typeface="宋体" panose="02010600030101010101" pitchFamily="2" charset="-122"/>
              </a:defRPr>
            </a:lvl3pPr>
            <a:lvl4pPr marL="1600200" indent="-228600">
              <a:defRPr sz="1600" b="1">
                <a:solidFill>
                  <a:schemeClr val="tx1"/>
                </a:solidFill>
                <a:latin typeface="Comic Sans MS" panose="030F0702030302020204" pitchFamily="66" charset="0"/>
                <a:ea typeface="宋体" panose="02010600030101010101" pitchFamily="2" charset="-122"/>
              </a:defRPr>
            </a:lvl4pPr>
            <a:lvl5pPr marL="2057400" indent="-228600">
              <a:defRPr sz="16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395" b="1" i="0" u="none"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cs"/>
              </a:rPr>
              <a:t>面向对象的方法</a:t>
            </a:r>
            <a:endParaRPr kumimoji="1" lang="zh-CN" altLang="en-US" sz="2395" b="1" i="0" u="none"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11" name="矩形标注 10"/>
          <p:cNvSpPr/>
          <p:nvPr/>
        </p:nvSpPr>
        <p:spPr>
          <a:xfrm>
            <a:off x="5965825" y="2325688"/>
            <a:ext cx="1624013" cy="485775"/>
          </a:xfrm>
          <a:prstGeom prst="wedgeRectCallout">
            <a:avLst>
              <a:gd name="adj1" fmla="val -104674"/>
              <a:gd name="adj2" fmla="val 98699"/>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190" b="1" i="0" u="none" strike="noStrike" kern="1200" cap="none" spc="0" normalizeH="0" baseline="0" noProof="0" dirty="0">
                <a:ln>
                  <a:noFill/>
                </a:ln>
                <a:solidFill>
                  <a:srgbClr val="FFFF00"/>
                </a:solidFill>
                <a:effectLst/>
                <a:uLnTx/>
                <a:uFillTx/>
                <a:latin typeface="+mn-lt"/>
                <a:ea typeface="+mn-ea"/>
                <a:cs typeface="+mn-cs"/>
              </a:rPr>
              <a:t>第四课</a:t>
            </a:r>
            <a:endParaRPr kumimoji="1" lang="zh-CN" altLang="en-US" sz="3190" b="1" i="0" u="none" strike="noStrike" kern="1200" cap="none" spc="0" normalizeH="0" baseline="0" noProof="0" dirty="0">
              <a:ln>
                <a:noFill/>
              </a:ln>
              <a:solidFill>
                <a:srgbClr val="FFFF00"/>
              </a:solidFill>
              <a:effectLst/>
              <a:uLnTx/>
              <a:uFillTx/>
              <a:latin typeface="+mn-lt"/>
              <a:ea typeface="+mn-ea"/>
              <a:cs typeface="+mn-cs"/>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1"/>
          <p:cNvSpPr>
            <a:spLocks noGrp="1"/>
          </p:cNvSpPr>
          <p:nvPr>
            <p:ph type="title"/>
          </p:nvPr>
        </p:nvSpPr>
        <p:spPr>
          <a:xfrm>
            <a:off x="382588" y="758825"/>
            <a:ext cx="8132763" cy="1138238"/>
          </a:xfrm>
        </p:spPr>
        <p:txBody>
          <a:bodyPr vert="horz" wrap="square" lIns="0" tIns="45610" rIns="0" bIns="0" numCol="1" anchor="b" anchorCtr="0" compatLnSpc="1"/>
          <a:lstStyle/>
          <a:p>
            <a:pPr marL="605790" marR="0" lvl="0" indent="-605790" algn="l" defTabSz="914400" rtl="0" eaLnBrk="1" fontAlgn="base" latinLnBrk="0" hangingPunct="1">
              <a:lnSpc>
                <a:spcPct val="100000"/>
              </a:lnSpc>
              <a:spcBef>
                <a:spcPts val="1200"/>
              </a:spcBef>
              <a:spcAft>
                <a:spcPct val="0"/>
              </a:spcAft>
              <a:buClrTx/>
              <a:buSzTx/>
              <a:buFontTx/>
              <a:buNone/>
              <a:defRPr/>
            </a:pPr>
            <a:r>
              <a:rPr kumimoji="1" lang="zh-CN" altLang="en-US" sz="5000" b="1" i="0" u="none" strike="noStrike" kern="1200" cap="none" spc="0" normalizeH="0" baseline="0" noProof="0" dirty="0" smtClean="0">
                <a:ln>
                  <a:noFill/>
                </a:ln>
                <a:solidFill>
                  <a:schemeClr val="tx2"/>
                </a:solidFill>
                <a:effectLst/>
                <a:uLnTx/>
                <a:uFillTx/>
                <a:latin typeface="微软雅黑" panose="020B0503020204020204" pitchFamily="34" charset="-122"/>
                <a:ea typeface="微软雅黑" panose="020B0503020204020204" pitchFamily="34" charset="-122"/>
                <a:cs typeface="+mj-cs"/>
              </a:rPr>
              <a:t>面向对象方法的需求分析：</a:t>
            </a:r>
            <a:r>
              <a:rPr kumimoji="1" lang="zh-CN" altLang="en-US" sz="5000" b="1" i="0" u="none"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j-cs"/>
              </a:rPr>
              <a:t>用例建模</a:t>
            </a:r>
            <a:endParaRPr kumimoji="1" lang="zh-CN" altLang="en-US" sz="4395"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endParaRPr>
          </a:p>
        </p:txBody>
      </p:sp>
      <p:sp>
        <p:nvSpPr>
          <p:cNvPr id="9" name="TextBox 8"/>
          <p:cNvSpPr txBox="1"/>
          <p:nvPr/>
        </p:nvSpPr>
        <p:spPr>
          <a:xfrm>
            <a:off x="530225" y="2054225"/>
            <a:ext cx="8583613" cy="4121150"/>
          </a:xfrm>
          <a:prstGeom prst="rect">
            <a:avLst/>
          </a:prstGeom>
          <a:noFill/>
        </p:spPr>
        <p:txBody>
          <a:bodyPr lIns="91346" tIns="45673" rIns="91346" bIns="45673">
            <a:spAutoFit/>
          </a:bodyPr>
          <a:lstStyle/>
          <a:p>
            <a:pPr marL="273050" marR="0" indent="-273050" defTabSz="914400" eaLnBrk="1" hangingPunct="1">
              <a:lnSpc>
                <a:spcPct val="15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用例建模就是建立系统的用例模型</a:t>
            </a:r>
            <a:endParaRPr kumimoji="1" lang="en-US" altLang="zh-CN" sz="2600" kern="1200" cap="none" spc="0" normalizeH="0" baseline="0" noProof="0" dirty="0">
              <a:latin typeface="+mn-lt"/>
              <a:ea typeface="+mn-ea"/>
              <a:cs typeface="+mn-cs"/>
            </a:endParaRPr>
          </a:p>
          <a:p>
            <a:pPr marL="273050" marR="0" indent="-273050" defTabSz="914400" eaLnBrk="1" hangingPunct="1">
              <a:spcBef>
                <a:spcPts val="18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用例建模是一种描述</a:t>
            </a:r>
            <a:r>
              <a:rPr kumimoji="1" lang="zh-CN" altLang="en-US" sz="2600" kern="1200" cap="none" spc="0" normalizeH="0" baseline="0" noProof="0" dirty="0">
                <a:solidFill>
                  <a:srgbClr val="FF0000"/>
                </a:solidFill>
                <a:latin typeface="+mn-lt"/>
                <a:ea typeface="+mn-ea"/>
                <a:cs typeface="+mn-cs"/>
              </a:rPr>
              <a:t>应该做什么</a:t>
            </a:r>
            <a:r>
              <a:rPr kumimoji="1" lang="zh-CN" altLang="en-US" sz="2600" kern="1200" cap="none" spc="0" normalizeH="0" baseline="0" noProof="0" dirty="0">
                <a:latin typeface="+mn-lt"/>
                <a:ea typeface="+mn-ea"/>
                <a:cs typeface="+mn-cs"/>
              </a:rPr>
              <a:t>的建模技术</a:t>
            </a: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mn-lt"/>
                <a:ea typeface="+mn-ea"/>
                <a:cs typeface="+mn-cs"/>
              </a:rPr>
              <a:t>在软件开发的初期，解决如下几个问题：</a:t>
            </a:r>
            <a:endParaRPr kumimoji="1" lang="en-US" altLang="zh-CN" sz="2600" kern="1200" cap="none" spc="0" normalizeH="0" baseline="0" noProof="0" dirty="0">
              <a:latin typeface="+mn-lt"/>
              <a:ea typeface="+mn-ea"/>
              <a:cs typeface="+mn-cs"/>
            </a:endParaRPr>
          </a:p>
          <a:p>
            <a:pPr marL="457200" marR="0" indent="-457200" defTabSz="914400" eaLnBrk="1" hangingPunct="1">
              <a:lnSpc>
                <a:spcPct val="80000"/>
              </a:lnSpc>
              <a:spcBef>
                <a:spcPct val="20000"/>
              </a:spcBef>
              <a:buClr>
                <a:srgbClr val="0BD0D9"/>
              </a:buClr>
              <a:buSzPct val="95000"/>
              <a:buFont typeface="Wingdings" panose="05000000000000000000" pitchFamily="2" charset="2"/>
              <a:buChar char="ü"/>
              <a:tabLst>
                <a:tab pos="456565" algn="l"/>
              </a:tabLst>
              <a:defRPr/>
            </a:pPr>
            <a:r>
              <a:rPr kumimoji="1" lang="zh-CN" altLang="en-US" sz="2600" b="0" kern="1200" cap="none" spc="0" normalizeH="0" baseline="0" noProof="0" dirty="0">
                <a:latin typeface="+mn-lt"/>
                <a:ea typeface="+mn-ea"/>
                <a:cs typeface="+mn-cs"/>
              </a:rPr>
              <a:t>（</a:t>
            </a:r>
            <a:r>
              <a:rPr kumimoji="1" lang="en-US" altLang="zh-CN" sz="2600" b="0" kern="1200" cap="none" spc="0" normalizeH="0" baseline="0" noProof="0" dirty="0">
                <a:latin typeface="+mn-lt"/>
                <a:ea typeface="+mn-ea"/>
                <a:cs typeface="+mn-cs"/>
              </a:rPr>
              <a:t>1</a:t>
            </a:r>
            <a:r>
              <a:rPr kumimoji="1" lang="zh-CN" altLang="en-US" sz="2600" b="0" kern="1200" cap="none" spc="0" normalizeH="0" baseline="0" noProof="0" dirty="0">
                <a:latin typeface="+mn-lt"/>
                <a:ea typeface="+mn-ea"/>
                <a:cs typeface="+mn-cs"/>
              </a:rPr>
              <a:t>）软件的用户以及涉及系统运行的各个对象是谁？</a:t>
            </a:r>
            <a:endParaRPr kumimoji="1" lang="en-US" altLang="zh-CN" sz="2600" b="0" kern="1200" cap="none" spc="0" normalizeH="0" baseline="0" noProof="0" dirty="0">
              <a:latin typeface="+mn-lt"/>
              <a:ea typeface="+mn-ea"/>
              <a:cs typeface="+mn-cs"/>
            </a:endParaRPr>
          </a:p>
          <a:p>
            <a:pPr marL="457200" marR="0" indent="-457200" defTabSz="914400" eaLnBrk="1" hangingPunct="1">
              <a:lnSpc>
                <a:spcPct val="80000"/>
              </a:lnSpc>
              <a:spcBef>
                <a:spcPct val="20000"/>
              </a:spcBef>
              <a:buClr>
                <a:srgbClr val="0BD0D9"/>
              </a:buClr>
              <a:buSzPct val="95000"/>
              <a:buFont typeface="Wingdings" panose="05000000000000000000" pitchFamily="2" charset="2"/>
              <a:buChar char="ü"/>
              <a:tabLst>
                <a:tab pos="456565" algn="l"/>
              </a:tabLst>
              <a:defRPr/>
            </a:pPr>
            <a:r>
              <a:rPr kumimoji="1" lang="zh-CN" altLang="en-US" sz="2600" b="0" kern="1200" cap="none" spc="0" normalizeH="0" baseline="0" noProof="0" dirty="0">
                <a:latin typeface="+mn-lt"/>
                <a:ea typeface="+mn-ea"/>
                <a:cs typeface="+mn-cs"/>
              </a:rPr>
              <a:t>（</a:t>
            </a:r>
            <a:r>
              <a:rPr kumimoji="1" lang="en-US" altLang="zh-CN" sz="2600" b="0" kern="1200" cap="none" spc="0" normalizeH="0" baseline="0" noProof="0" dirty="0">
                <a:latin typeface="+mn-lt"/>
                <a:ea typeface="+mn-ea"/>
                <a:cs typeface="+mn-cs"/>
              </a:rPr>
              <a:t>2</a:t>
            </a:r>
            <a:r>
              <a:rPr kumimoji="1" lang="zh-CN" altLang="en-US" sz="2600" b="0" kern="1200" cap="none" spc="0" normalizeH="0" baseline="0" noProof="0" dirty="0">
                <a:latin typeface="+mn-lt"/>
                <a:ea typeface="+mn-ea"/>
                <a:cs typeface="+mn-cs"/>
              </a:rPr>
              <a:t>）软件的用户希望软件系统有什么功能？</a:t>
            </a:r>
            <a:endParaRPr kumimoji="1" lang="en-US" altLang="zh-CN" sz="2600" b="0" kern="1200" cap="none" spc="0" normalizeH="0" baseline="0" noProof="0" dirty="0">
              <a:latin typeface="+mn-lt"/>
              <a:ea typeface="+mn-ea"/>
              <a:cs typeface="+mn-cs"/>
            </a:endParaRPr>
          </a:p>
          <a:p>
            <a:pPr marL="457200" marR="0" indent="-457200" defTabSz="914400" eaLnBrk="1" hangingPunct="1">
              <a:lnSpc>
                <a:spcPct val="80000"/>
              </a:lnSpc>
              <a:spcBef>
                <a:spcPct val="20000"/>
              </a:spcBef>
              <a:buClr>
                <a:srgbClr val="0BD0D9"/>
              </a:buClr>
              <a:buSzPct val="95000"/>
              <a:buFont typeface="Wingdings" panose="05000000000000000000" pitchFamily="2" charset="2"/>
              <a:buChar char="ü"/>
              <a:tabLst>
                <a:tab pos="456565" algn="l"/>
              </a:tabLst>
              <a:defRPr/>
            </a:pPr>
            <a:r>
              <a:rPr kumimoji="1" lang="zh-CN" altLang="en-US" sz="2600" b="0" kern="1200" cap="none" spc="0" normalizeH="0" baseline="0" noProof="0" dirty="0">
                <a:latin typeface="+mn-lt"/>
                <a:ea typeface="+mn-ea"/>
                <a:cs typeface="+mn-cs"/>
              </a:rPr>
              <a:t>（</a:t>
            </a:r>
            <a:r>
              <a:rPr kumimoji="1" lang="en-US" altLang="zh-CN" sz="2600" b="0" kern="1200" cap="none" spc="0" normalizeH="0" baseline="0" noProof="0" dirty="0">
                <a:latin typeface="+mn-lt"/>
                <a:ea typeface="+mn-ea"/>
                <a:cs typeface="+mn-cs"/>
              </a:rPr>
              <a:t>3</a:t>
            </a:r>
            <a:r>
              <a:rPr kumimoji="1" lang="zh-CN" altLang="en-US" sz="2600" b="0" kern="1200" cap="none" spc="0" normalizeH="0" baseline="0" noProof="0" dirty="0">
                <a:latin typeface="+mn-lt"/>
                <a:ea typeface="+mn-ea"/>
                <a:cs typeface="+mn-cs"/>
              </a:rPr>
              <a:t>）用户希望如何使用这些功能？</a:t>
            </a:r>
            <a:endParaRPr kumimoji="1" lang="en-US" altLang="zh-CN" sz="2600" b="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Tx/>
              <a:buNone/>
              <a:tabLst>
                <a:tab pos="456565" algn="l"/>
              </a:tabLst>
              <a:defRPr/>
            </a:pP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Tx/>
              <a:buNone/>
              <a:tabLst>
                <a:tab pos="456565" algn="l"/>
              </a:tabLst>
              <a:defRPr/>
            </a:pPr>
            <a:r>
              <a:rPr kumimoji="1" lang="en-US" altLang="zh-CN" sz="2600" kern="1200" cap="none" spc="0" normalizeH="0" baseline="0" noProof="0" dirty="0">
                <a:latin typeface="+mn-lt"/>
                <a:ea typeface="+mn-ea"/>
                <a:cs typeface="+mn-cs"/>
              </a:rPr>
              <a:t>      </a:t>
            </a: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Tx/>
              <a:buNone/>
              <a:tabLst>
                <a:tab pos="456565" algn="l"/>
              </a:tabLst>
              <a:defRPr/>
            </a:pPr>
            <a:r>
              <a:rPr kumimoji="1" lang="en-US" altLang="zh-CN" sz="2600" kern="1200" cap="none" spc="0" normalizeH="0" baseline="0" noProof="0" dirty="0">
                <a:latin typeface="+mn-lt"/>
                <a:ea typeface="+mn-ea"/>
                <a:cs typeface="+mn-cs"/>
              </a:rPr>
              <a:t>        </a:t>
            </a:r>
            <a:endParaRPr kumimoji="1" lang="zh-CN" altLang="en-US" sz="2600" kern="1200" cap="none" spc="0" normalizeH="0" baseline="0" noProof="0" dirty="0">
              <a:latin typeface="+mn-lt"/>
              <a:ea typeface="+mn-ea"/>
              <a:cs typeface="+mn-cs"/>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1"/>
          <p:cNvSpPr>
            <a:spLocks noGrp="1"/>
          </p:cNvSpPr>
          <p:nvPr>
            <p:ph type="title"/>
          </p:nvPr>
        </p:nvSpPr>
        <p:spPr>
          <a:xfrm>
            <a:off x="458788" y="473075"/>
            <a:ext cx="8201025" cy="1138238"/>
          </a:xfrm>
        </p:spPr>
        <p:txBody>
          <a:bodyPr vert="horz" wrap="square" lIns="0" tIns="45610" rIns="0" bIns="0" numCol="1" anchor="b" anchorCtr="0" compatLnSpc="1"/>
          <a:lstStyle/>
          <a:p>
            <a:pPr marL="605790" marR="0" lvl="0" indent="-605790" algn="l" defTabSz="914400" rtl="0" eaLnBrk="1" fontAlgn="base" latinLnBrk="0" hangingPunct="1">
              <a:lnSpc>
                <a:spcPct val="100000"/>
              </a:lnSpc>
              <a:spcBef>
                <a:spcPts val="1200"/>
              </a:spcBef>
              <a:spcAft>
                <a:spcPct val="0"/>
              </a:spcAft>
              <a:buClrTx/>
              <a:buSzTx/>
              <a:buFontTx/>
              <a:buNone/>
              <a:defRPr/>
            </a:pPr>
            <a:r>
              <a:rPr kumimoji="1" lang="zh-CN" altLang="en-US" sz="5000" b="1" i="0" u="none" strike="noStrike" kern="1200" cap="none" spc="0" normalizeH="0" baseline="0" noProof="0" smtClean="0">
                <a:ln>
                  <a:noFill/>
                </a:ln>
                <a:solidFill>
                  <a:schemeClr val="tx2"/>
                </a:solidFill>
                <a:effectLst/>
                <a:uLnTx/>
                <a:uFillTx/>
                <a:latin typeface="微软雅黑" panose="020B0503020204020204" pitchFamily="34" charset="-122"/>
                <a:ea typeface="微软雅黑" panose="020B0503020204020204" pitchFamily="34" charset="-122"/>
                <a:cs typeface="+mj-cs"/>
              </a:rPr>
              <a:t>用例建模过程</a:t>
            </a:r>
            <a:endParaRPr kumimoji="1" lang="zh-CN" altLang="en-US" sz="4395" b="1" i="0" u="none" strike="noStrike" kern="1200" cap="none" spc="0" normalizeH="0" baseline="0" noProof="0">
              <a:ln>
                <a:noFill/>
              </a:ln>
              <a:solidFill>
                <a:schemeClr val="tx2"/>
              </a:solidFill>
              <a:effectLst/>
              <a:uLnTx/>
              <a:uFillTx/>
              <a:latin typeface="微软雅黑" panose="020B0503020204020204" pitchFamily="34" charset="-122"/>
              <a:ea typeface="微软雅黑" panose="020B0503020204020204" pitchFamily="34" charset="-122"/>
              <a:cs typeface="+mj-cs"/>
            </a:endParaRPr>
          </a:p>
        </p:txBody>
      </p:sp>
      <p:sp>
        <p:nvSpPr>
          <p:cNvPr id="9219" name="矩形 4"/>
          <p:cNvSpPr>
            <a:spLocks noChangeArrowheads="1"/>
          </p:cNvSpPr>
          <p:nvPr/>
        </p:nvSpPr>
        <p:spPr bwMode="auto">
          <a:xfrm>
            <a:off x="747713" y="1984375"/>
            <a:ext cx="7480300" cy="304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46" tIns="45673" rIns="91346" bIns="45673">
            <a:spAutoFit/>
          </a:bodyPr>
          <a:lstStyle>
            <a:lvl1pPr marL="342900" indent="-342900">
              <a:defRPr kumimoji="1" sz="2400" b="1">
                <a:solidFill>
                  <a:schemeClr val="tx1"/>
                </a:solidFill>
                <a:latin typeface="黑体" panose="02010609060101010101" pitchFamily="49" charset="-122"/>
                <a:ea typeface="黑体" panose="02010609060101010101" pitchFamily="49" charset="-122"/>
              </a:defRPr>
            </a:lvl1pPr>
            <a:lvl2pPr marL="857250">
              <a:defRPr kumimoji="1" sz="2400" b="1">
                <a:solidFill>
                  <a:schemeClr val="tx1"/>
                </a:solidFill>
                <a:latin typeface="黑体" panose="02010609060101010101" pitchFamily="49" charset="-122"/>
                <a:ea typeface="黑体" panose="02010609060101010101" pitchFamily="49" charset="-122"/>
              </a:defRPr>
            </a:lvl2pPr>
            <a:lvl3pPr marL="1143000" indent="-228600">
              <a:defRPr kumimoji="1" sz="2400" b="1">
                <a:solidFill>
                  <a:schemeClr val="tx1"/>
                </a:solidFill>
                <a:latin typeface="黑体" panose="02010609060101010101" pitchFamily="49" charset="-122"/>
                <a:ea typeface="黑体" panose="02010609060101010101" pitchFamily="49" charset="-122"/>
              </a:defRPr>
            </a:lvl3pPr>
            <a:lvl4pPr marL="1600200" indent="-228600">
              <a:defRPr kumimoji="1" sz="2400" b="1">
                <a:solidFill>
                  <a:schemeClr val="tx1"/>
                </a:solidFill>
                <a:latin typeface="黑体" panose="02010609060101010101" pitchFamily="49" charset="-122"/>
                <a:ea typeface="黑体" panose="02010609060101010101" pitchFamily="49" charset="-122"/>
              </a:defRPr>
            </a:lvl4pPr>
            <a:lvl5pPr marL="2057400" indent="-22860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kumimoji="1" sz="2400" b="1">
                <a:solidFill>
                  <a:schemeClr val="tx1"/>
                </a:solidFill>
                <a:latin typeface="黑体" panose="02010609060101010101" pitchFamily="49" charset="-122"/>
                <a:ea typeface="黑体" panose="02010609060101010101" pitchFamily="49" charset="-122"/>
              </a:defRPr>
            </a:lvl9pPr>
          </a:lstStyle>
          <a:p>
            <a:pPr marL="857250" marR="0" lvl="1" indent="0" algn="just" defTabSz="914400" rtl="0" eaLnBrk="1" fontAlgn="base" latinLnBrk="0" hangingPunct="1">
              <a:lnSpc>
                <a:spcPct val="100000"/>
              </a:lnSpc>
              <a:spcBef>
                <a:spcPct val="0"/>
              </a:spcBef>
              <a:spcAft>
                <a:spcPct val="0"/>
              </a:spcAft>
              <a:buClrTx/>
              <a:buSzTx/>
              <a:buFontTx/>
              <a:buNone/>
              <a:defRPr/>
            </a:pPr>
            <a:r>
              <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1</a:t>
            </a:r>
            <a:r>
              <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．定义系统</a:t>
            </a:r>
            <a:endPar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endParaRPr>
          </a:p>
          <a:p>
            <a:pPr marL="857250" marR="0" lvl="1" indent="0" algn="just" defTabSz="914400" rtl="0" eaLnBrk="1" fontAlgn="base" latinLnBrk="0" hangingPunct="1">
              <a:lnSpc>
                <a:spcPct val="100000"/>
              </a:lnSpc>
              <a:spcBef>
                <a:spcPct val="0"/>
              </a:spcBef>
              <a:spcAft>
                <a:spcPct val="0"/>
              </a:spcAft>
              <a:buClrTx/>
              <a:buSzTx/>
              <a:buFontTx/>
              <a:buNone/>
              <a:defRPr/>
            </a:pPr>
            <a:r>
              <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2</a:t>
            </a:r>
            <a:r>
              <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．确定参与者</a:t>
            </a:r>
            <a:endPar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endParaRPr>
          </a:p>
          <a:p>
            <a:pPr marL="857250" marR="0" lvl="1" indent="0" algn="just" defTabSz="914400" rtl="0" eaLnBrk="1" fontAlgn="base" latinLnBrk="0" hangingPunct="1">
              <a:lnSpc>
                <a:spcPct val="100000"/>
              </a:lnSpc>
              <a:spcBef>
                <a:spcPct val="0"/>
              </a:spcBef>
              <a:spcAft>
                <a:spcPct val="0"/>
              </a:spcAft>
              <a:buClrTx/>
              <a:buSzTx/>
              <a:buFontTx/>
              <a:buNone/>
              <a:defRPr/>
            </a:pPr>
            <a:r>
              <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3</a:t>
            </a:r>
            <a:r>
              <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．确定用例</a:t>
            </a:r>
            <a:endPar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endParaRPr>
          </a:p>
          <a:p>
            <a:pPr marL="857250" marR="0" lvl="1" indent="0" algn="just" defTabSz="914400" rtl="0" eaLnBrk="1" fontAlgn="base" latinLnBrk="0" hangingPunct="1">
              <a:lnSpc>
                <a:spcPct val="100000"/>
              </a:lnSpc>
              <a:spcBef>
                <a:spcPct val="0"/>
              </a:spcBef>
              <a:spcAft>
                <a:spcPct val="0"/>
              </a:spcAft>
              <a:buClrTx/>
              <a:buSzTx/>
              <a:buFontTx/>
              <a:buNone/>
              <a:defRPr/>
            </a:pPr>
            <a:r>
              <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4</a:t>
            </a:r>
            <a:r>
              <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．描述用例</a:t>
            </a:r>
            <a:endPar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endParaRPr>
          </a:p>
          <a:p>
            <a:pPr marL="857250" marR="0" lvl="1" indent="0" algn="just" defTabSz="914400" rtl="0" eaLnBrk="1" fontAlgn="base" latinLnBrk="0" hangingPunct="1">
              <a:lnSpc>
                <a:spcPct val="100000"/>
              </a:lnSpc>
              <a:spcBef>
                <a:spcPct val="0"/>
              </a:spcBef>
              <a:spcAft>
                <a:spcPct val="0"/>
              </a:spcAft>
              <a:buClrTx/>
              <a:buSzTx/>
              <a:buFontTx/>
              <a:buNone/>
              <a:defRPr/>
            </a:pPr>
            <a:r>
              <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5</a:t>
            </a:r>
            <a:r>
              <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．定义用例之间的关系</a:t>
            </a:r>
            <a:endPar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endParaRPr>
          </a:p>
          <a:p>
            <a:pPr marL="857250" marR="0" lvl="1" indent="0" algn="just" defTabSz="914400" rtl="0" eaLnBrk="1" fontAlgn="base" latinLnBrk="0" hangingPunct="1">
              <a:lnSpc>
                <a:spcPct val="100000"/>
              </a:lnSpc>
              <a:spcBef>
                <a:spcPct val="0"/>
              </a:spcBef>
              <a:spcAft>
                <a:spcPct val="0"/>
              </a:spcAft>
              <a:buClrTx/>
              <a:buSzTx/>
              <a:buFontTx/>
              <a:buNone/>
              <a:defRPr/>
            </a:pPr>
            <a:r>
              <a:rPr kumimoji="1" lang="en-US" altLang="zh-CN"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6</a:t>
            </a:r>
            <a:r>
              <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rPr>
              <a:t>．确认模型</a:t>
            </a:r>
            <a:endParaRPr kumimoji="1" lang="zh-CN" altLang="en-US" sz="3195" b="1" i="0" u="none" strike="noStrike" kern="1200" cap="none" spc="0" normalizeH="0" baseline="0" noProof="0">
              <a:ln>
                <a:noFill/>
              </a:ln>
              <a:solidFill>
                <a:schemeClr val="tx1"/>
              </a:solidFill>
              <a:effectLst/>
              <a:uLnTx/>
              <a:uFillTx/>
              <a:latin typeface="楷体_GB2312" pitchFamily="49" charset="-122"/>
              <a:ea typeface="黑体" panose="02010609060101010101" pitchFamily="49" charset="-122"/>
              <a:cs typeface="+mn-cs"/>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a:xfrm>
            <a:off x="95250" y="327025"/>
            <a:ext cx="9288463" cy="1139825"/>
          </a:xfrm>
          <a:ln/>
        </p:spPr>
        <p:txBody>
          <a:bodyPr vert="horz" wrap="square" lIns="0" tIns="45610" rIns="0" bIns="0" anchor="b" anchorCtr="0"/>
          <a:p>
            <a:pPr marL="606425" indent="-606425" eaLnBrk="1" hangingPunct="1">
              <a:spcBef>
                <a:spcPts val="1200"/>
              </a:spcBef>
            </a:pPr>
            <a:r>
              <a:rPr lang="zh-CN" altLang="en-US" b="1" dirty="0">
                <a:latin typeface="微软雅黑" panose="020B0503020204020204" pitchFamily="34" charset="-122"/>
                <a:ea typeface="微软雅黑" panose="020B0503020204020204" pitchFamily="34" charset="-122"/>
              </a:rPr>
              <a:t>用例建模</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银行储蓄账户管理系统</a:t>
            </a:r>
            <a:endParaRPr lang="zh-CN" altLang="en-US" b="1" dirty="0">
              <a:latin typeface="微软雅黑" panose="020B0503020204020204" pitchFamily="34" charset="-122"/>
              <a:ea typeface="微软雅黑" panose="020B0503020204020204" pitchFamily="34" charset="-122"/>
            </a:endParaRPr>
          </a:p>
        </p:txBody>
      </p:sp>
      <p:sp>
        <p:nvSpPr>
          <p:cNvPr id="13315" name="Rectangle 3"/>
          <p:cNvSpPr>
            <a:spLocks noGrp="1"/>
          </p:cNvSpPr>
          <p:nvPr>
            <p:ph idx="1"/>
          </p:nvPr>
        </p:nvSpPr>
        <p:spPr>
          <a:ln/>
        </p:spPr>
        <p:txBody>
          <a:bodyPr vert="horz" wrap="square" lIns="91221" tIns="45610" rIns="91221" bIns="45610" anchor="t" anchorCtr="0"/>
          <a:p>
            <a:pPr marL="0" indent="849630">
              <a:lnSpc>
                <a:spcPct val="90000"/>
              </a:lnSpc>
              <a:buNone/>
            </a:pPr>
            <a:r>
              <a:rPr lang="zh-CN" altLang="en-US" dirty="0">
                <a:latin typeface="楷体_GB2312" pitchFamily="49" charset="-122"/>
              </a:rPr>
              <a:t>一个客户可以在多个银行中开设账户，一个客户也可在同一银行中开设多个不同的账户。客户可以通过银行职员进行开户、存款、取款、转账、注销账户等活动。其中转账指客户将自己的某个账户上的钱款转入同一银行的不同账户（称为银行内转账）或转入不同银行的账户（称为银行间转账）。系统管理员负责系统的账户管理及业务报表的生成。</a:t>
            </a:r>
            <a:endParaRPr lang="zh-CN" altLang="en-US" dirty="0">
              <a:latin typeface="楷体_GB2312"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a:xfrm>
            <a:off x="455613" y="398463"/>
            <a:ext cx="8207375"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确定参与者</a:t>
            </a:r>
            <a:endParaRPr lang="en-US" altLang="zh-CN" b="1" dirty="0">
              <a:latin typeface="微软雅黑" panose="020B0503020204020204" pitchFamily="34" charset="-122"/>
              <a:ea typeface="微软雅黑" panose="020B0503020204020204" pitchFamily="34" charset="-122"/>
            </a:endParaRPr>
          </a:p>
        </p:txBody>
      </p:sp>
      <p:sp>
        <p:nvSpPr>
          <p:cNvPr id="15363" name="矩形 6"/>
          <p:cNvSpPr/>
          <p:nvPr/>
        </p:nvSpPr>
        <p:spPr>
          <a:xfrm>
            <a:off x="382588" y="1838325"/>
            <a:ext cx="8424862" cy="2862263"/>
          </a:xfrm>
          <a:prstGeom prst="rect">
            <a:avLst/>
          </a:prstGeom>
          <a:noFill/>
          <a:ln w="9525">
            <a:noFill/>
          </a:ln>
        </p:spPr>
        <p:txBody>
          <a:bodyPr lIns="91430" tIns="45715" rIns="91430" bIns="45715">
            <a:spAutoFit/>
          </a:bodyPr>
          <a:p>
            <a:pPr eaLnBrk="1" hangingPunct="1">
              <a:lnSpc>
                <a:spcPct val="150000"/>
              </a:lnSpc>
              <a:buFont typeface="Wingdings" panose="05000000000000000000" pitchFamily="2" charset="2"/>
            </a:pPr>
            <a:r>
              <a:rPr lang="zh-CN" altLang="en-US" dirty="0">
                <a:solidFill>
                  <a:srgbClr val="FF0000"/>
                </a:solidFill>
                <a:latin typeface="黑体" panose="02010609060101010101" pitchFamily="49" charset="-122"/>
              </a:rPr>
              <a:t>客户</a:t>
            </a:r>
            <a:r>
              <a:rPr lang="zh-CN" altLang="en-US" dirty="0">
                <a:latin typeface="黑体" panose="02010609060101010101" pitchFamily="49" charset="-122"/>
              </a:rPr>
              <a:t>：到银行办理储蓄业务的人，负责输入密码</a:t>
            </a:r>
            <a:endParaRPr lang="zh-CN" altLang="en-US" dirty="0">
              <a:latin typeface="楷体_GB2312" pitchFamily="49" charset="-122"/>
            </a:endParaRPr>
          </a:p>
          <a:p>
            <a:pPr eaLnBrk="1" hangingPunct="1">
              <a:lnSpc>
                <a:spcPct val="150000"/>
              </a:lnSpc>
              <a:buFont typeface="Wingdings" panose="05000000000000000000" pitchFamily="2" charset="2"/>
            </a:pPr>
            <a:r>
              <a:rPr lang="zh-CN" altLang="en-US" dirty="0">
                <a:solidFill>
                  <a:srgbClr val="FF0000"/>
                </a:solidFill>
                <a:latin typeface="黑体" panose="02010609060101010101" pitchFamily="49" charset="-122"/>
              </a:rPr>
              <a:t>银行职员</a:t>
            </a:r>
            <a:r>
              <a:rPr lang="zh-CN" altLang="en-US" dirty="0">
                <a:latin typeface="黑体" panose="02010609060101010101" pitchFamily="49" charset="-122"/>
              </a:rPr>
              <a:t>：银行工作人员，代表客户进行储蓄业务的操作</a:t>
            </a:r>
            <a:endParaRPr lang="zh-CN" altLang="en-US" dirty="0">
              <a:latin typeface="黑体" panose="02010609060101010101" pitchFamily="49" charset="-122"/>
            </a:endParaRPr>
          </a:p>
          <a:p>
            <a:pPr eaLnBrk="1" hangingPunct="1">
              <a:lnSpc>
                <a:spcPct val="150000"/>
              </a:lnSpc>
              <a:buFont typeface="Wingdings" panose="05000000000000000000" pitchFamily="2" charset="2"/>
            </a:pPr>
            <a:r>
              <a:rPr lang="zh-CN" altLang="en-US" dirty="0">
                <a:solidFill>
                  <a:srgbClr val="FF0000"/>
                </a:solidFill>
                <a:latin typeface="宋体" panose="02010600030101010101" pitchFamily="2" charset="-122"/>
              </a:rPr>
              <a:t>系统管理员</a:t>
            </a:r>
            <a:r>
              <a:rPr lang="zh-CN" altLang="en-US" dirty="0">
                <a:latin typeface="宋体" panose="02010600030101010101" pitchFamily="2" charset="-122"/>
              </a:rPr>
              <a:t>：银行计算机的管理人员，负责账户的管理和业务报表的生成</a:t>
            </a:r>
            <a:endParaRPr lang="zh-CN" altLang="en-US" dirty="0">
              <a:latin typeface="宋体" panose="02010600030101010101" pitchFamily="2" charset="-122"/>
            </a:endParaRPr>
          </a:p>
          <a:p>
            <a:pPr eaLnBrk="1" hangingPunct="1">
              <a:lnSpc>
                <a:spcPct val="150000"/>
              </a:lnSpc>
              <a:buFont typeface="Wingdings" panose="05000000000000000000" pitchFamily="2" charset="2"/>
            </a:pPr>
            <a:r>
              <a:rPr lang="zh-CN" altLang="en-US" dirty="0">
                <a:solidFill>
                  <a:srgbClr val="FF0000"/>
                </a:solidFill>
                <a:latin typeface="宋体" panose="02010600030101010101" pitchFamily="2" charset="-122"/>
              </a:rPr>
              <a:t>其他银行帐务管理系统</a:t>
            </a:r>
            <a:r>
              <a:rPr lang="zh-CN" altLang="en-US" dirty="0">
                <a:latin typeface="宋体" panose="02010600030101010101" pitchFamily="2" charset="-122"/>
              </a:rPr>
              <a:t>：与本行账户进行转帐</a:t>
            </a:r>
            <a:endParaRPr lang="zh-CN" altLang="en-US" dirty="0">
              <a:latin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a:xfrm>
            <a:off x="455613" y="398463"/>
            <a:ext cx="8207375"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确定用例</a:t>
            </a:r>
            <a:endParaRPr lang="en-US" altLang="zh-CN" b="1" dirty="0">
              <a:latin typeface="微软雅黑" panose="020B0503020204020204" pitchFamily="34" charset="-122"/>
              <a:ea typeface="微软雅黑" panose="020B0503020204020204" pitchFamily="34" charset="-122"/>
            </a:endParaRPr>
          </a:p>
        </p:txBody>
      </p:sp>
      <p:sp>
        <p:nvSpPr>
          <p:cNvPr id="7" name="矩形 6"/>
          <p:cNvSpPr/>
          <p:nvPr/>
        </p:nvSpPr>
        <p:spPr>
          <a:xfrm>
            <a:off x="166688" y="1838325"/>
            <a:ext cx="8640763" cy="4154488"/>
          </a:xfrm>
          <a:prstGeom prst="rect">
            <a:avLst/>
          </a:prstGeom>
        </p:spPr>
        <p:txBody>
          <a:bodyPr lIns="91430" tIns="45715" rIns="91430" bIns="45715">
            <a:spAutoFit/>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从系统的需求陈述可知：</a:t>
            </a:r>
            <a:endPar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457200" marR="0" lvl="1" indent="457200" algn="l" defTabSz="914400" rtl="0" eaLnBrk="1" fontAlgn="base" latinLnBrk="0" hangingPunct="1">
              <a:lnSpc>
                <a:spcPct val="150000"/>
              </a:lnSpc>
              <a:spcBef>
                <a:spcPct val="0"/>
              </a:spcBef>
              <a:spcAft>
                <a:spcPct val="0"/>
              </a:spcAft>
              <a:buClrTx/>
              <a:buSzTx/>
              <a:buFont typeface="+mj-lt"/>
              <a:buAutoNum type="arabicPeriod"/>
              <a:defRPr/>
            </a:pPr>
            <a:r>
              <a:rPr kumimoji="1"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银行职员</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需要系统提供</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开户</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存款</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取款</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转账</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注销账户</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等功能，这些功能都包含了</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校验密码</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的功能，而校验密码功能又需要客户的参与。</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457200" marR="0" lvl="1" indent="457200" algn="l" defTabSz="914400" rtl="0" eaLnBrk="1" fontAlgn="base" latinLnBrk="0" hangingPunct="1">
              <a:lnSpc>
                <a:spcPct val="150000"/>
              </a:lnSpc>
              <a:spcBef>
                <a:spcPct val="0"/>
              </a:spcBef>
              <a:spcAft>
                <a:spcPct val="0"/>
              </a:spcAft>
              <a:buClrTx/>
              <a:buSzTx/>
              <a:buFont typeface="+mj-lt"/>
              <a:buAutoNum type="arabicPeriod"/>
              <a:defRPr/>
            </a:pPr>
            <a:r>
              <a:rPr kumimoji="1"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系统管理员</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需要系统提供</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账户管理</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和</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报表生成</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功能。</a:t>
            </a:r>
            <a:endPar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457200" marR="0" lvl="1" indent="457200" algn="l" defTabSz="914400" rtl="0" eaLnBrk="1" fontAlgn="base" latinLnBrk="0" hangingPunct="1">
              <a:lnSpc>
                <a:spcPct val="150000"/>
              </a:lnSpc>
              <a:spcBef>
                <a:spcPct val="0"/>
              </a:spcBef>
              <a:spcAft>
                <a:spcPct val="0"/>
              </a:spcAft>
              <a:buClrTx/>
              <a:buSzTx/>
              <a:buFont typeface="+mj-lt"/>
              <a:buAutoNum type="arabicPeriod"/>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转账功能可分为</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银行内转账</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和</a:t>
            </a:r>
            <a:r>
              <a:rPr kumimoji="1" lang="zh-CN" altLang="en-US" sz="2400" b="1" i="0" u="sng" strike="noStrike" kern="1200" cap="none" spc="0" normalizeH="0" baseline="0" noProof="0" dirty="0">
                <a:ln>
                  <a:noFill/>
                </a:ln>
                <a:solidFill>
                  <a:schemeClr val="tx2"/>
                </a:solidFill>
                <a:effectLst/>
                <a:uLnTx/>
                <a:uFillTx/>
                <a:latin typeface="黑体" panose="02010609060101010101" pitchFamily="49" charset="-122"/>
                <a:ea typeface="黑体" panose="02010609060101010101" pitchFamily="49" charset="-122"/>
                <a:cs typeface="+mn-cs"/>
              </a:rPr>
              <a:t>银行间转账</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，因此银行内转账用例和银行间转账用例都可以继承基本转账用例。</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458" name="Picture 3"/>
          <p:cNvPicPr>
            <a:picLocks noChangeAspect="1"/>
          </p:cNvPicPr>
          <p:nvPr/>
        </p:nvPicPr>
        <p:blipFill>
          <a:blip r:embed="rId1"/>
          <a:stretch>
            <a:fillRect/>
          </a:stretch>
        </p:blipFill>
        <p:spPr>
          <a:xfrm>
            <a:off x="1174750" y="284163"/>
            <a:ext cx="6334125" cy="622300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a:xfrm>
            <a:off x="455613" y="109538"/>
            <a:ext cx="8207375"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开户用例描述</a:t>
            </a:r>
            <a:endParaRPr lang="zh-CN" altLang="en-US" b="1" dirty="0">
              <a:latin typeface="微软雅黑" panose="020B0503020204020204" pitchFamily="34" charset="-122"/>
              <a:ea typeface="微软雅黑" panose="020B0503020204020204" pitchFamily="34" charset="-122"/>
            </a:endParaRPr>
          </a:p>
        </p:txBody>
      </p:sp>
      <p:sp>
        <p:nvSpPr>
          <p:cNvPr id="21507" name="Rectangle 3"/>
          <p:cNvSpPr>
            <a:spLocks noGrp="1"/>
          </p:cNvSpPr>
          <p:nvPr>
            <p:ph idx="1"/>
          </p:nvPr>
        </p:nvSpPr>
        <p:spPr>
          <a:xfrm>
            <a:off x="311150" y="1128713"/>
            <a:ext cx="8662988" cy="4381500"/>
          </a:xfrm>
          <a:ln/>
        </p:spPr>
        <p:txBody>
          <a:bodyPr vert="horz" wrap="square" lIns="91221" tIns="45610" rIns="91221" bIns="45610" anchor="t" anchorCtr="0"/>
          <a:p>
            <a:pPr marL="0" indent="0">
              <a:lnSpc>
                <a:spcPct val="90000"/>
              </a:lnSpc>
              <a:buNone/>
            </a:pPr>
            <a:r>
              <a:rPr lang="zh-CN" altLang="en-US" sz="2400" b="1" dirty="0">
                <a:solidFill>
                  <a:srgbClr val="FF0000"/>
                </a:solidFill>
                <a:latin typeface="楷体_GB2312" pitchFamily="49" charset="-122"/>
              </a:rPr>
              <a:t>用例名称</a:t>
            </a:r>
            <a:r>
              <a:rPr lang="zh-CN" altLang="en-US" sz="2400" b="1" dirty="0">
                <a:latin typeface="楷体_GB2312" pitchFamily="49" charset="-122"/>
              </a:rPr>
              <a:t>：开户</a:t>
            </a:r>
            <a:endParaRPr lang="en-US" altLang="zh-CN" sz="2400" b="1" dirty="0">
              <a:latin typeface="楷体_GB2312" pitchFamily="49" charset="-122"/>
            </a:endParaRPr>
          </a:p>
          <a:p>
            <a:pPr marL="0" indent="0">
              <a:lnSpc>
                <a:spcPct val="90000"/>
              </a:lnSpc>
              <a:buNone/>
            </a:pPr>
            <a:r>
              <a:rPr lang="zh-CN" altLang="en-US" sz="2400" b="1" dirty="0">
                <a:solidFill>
                  <a:srgbClr val="FF0000"/>
                </a:solidFill>
                <a:latin typeface="楷体_GB2312" pitchFamily="49" charset="-122"/>
              </a:rPr>
              <a:t>用例编号</a:t>
            </a:r>
            <a:r>
              <a:rPr lang="zh-CN" altLang="en-US" sz="2400" b="1" dirty="0">
                <a:latin typeface="楷体_GB2312" pitchFamily="49" charset="-122"/>
              </a:rPr>
              <a:t>：</a:t>
            </a:r>
            <a:r>
              <a:rPr lang="en-US" altLang="zh-CN" sz="2400" b="1" dirty="0">
                <a:latin typeface="楷体_GB2312" pitchFamily="49" charset="-122"/>
              </a:rPr>
              <a:t>UC-1</a:t>
            </a:r>
            <a:endParaRPr lang="zh-CN" altLang="en-US" sz="2400" b="1" dirty="0">
              <a:latin typeface="楷体_GB2312" pitchFamily="49" charset="-122"/>
            </a:endParaRPr>
          </a:p>
          <a:p>
            <a:pPr marL="0" indent="0">
              <a:lnSpc>
                <a:spcPct val="90000"/>
              </a:lnSpc>
              <a:spcBef>
                <a:spcPct val="0"/>
              </a:spcBef>
              <a:buNone/>
            </a:pPr>
            <a:r>
              <a:rPr lang="zh-CN" altLang="en-US" sz="2400" b="1" dirty="0">
                <a:solidFill>
                  <a:srgbClr val="FF0000"/>
                </a:solidFill>
                <a:latin typeface="楷体_GB2312" pitchFamily="49" charset="-122"/>
              </a:rPr>
              <a:t>参与者</a:t>
            </a:r>
            <a:r>
              <a:rPr lang="zh-CN" altLang="en-US" sz="2400" b="1" dirty="0">
                <a:latin typeface="楷体_GB2312" pitchFamily="49" charset="-122"/>
              </a:rPr>
              <a:t>：银行职员，客户</a:t>
            </a:r>
            <a:endParaRPr lang="zh-CN" altLang="en-US" sz="2400" b="1" dirty="0">
              <a:latin typeface="楷体_GB2312" pitchFamily="49" charset="-122"/>
            </a:endParaRPr>
          </a:p>
          <a:p>
            <a:pPr marL="0" indent="0">
              <a:lnSpc>
                <a:spcPct val="90000"/>
              </a:lnSpc>
              <a:spcBef>
                <a:spcPct val="0"/>
              </a:spcBef>
              <a:buNone/>
            </a:pPr>
            <a:r>
              <a:rPr lang="zh-CN" altLang="en-US" sz="2400" b="1" dirty="0">
                <a:solidFill>
                  <a:srgbClr val="FF0000"/>
                </a:solidFill>
                <a:latin typeface="楷体_GB2312" pitchFamily="49" charset="-122"/>
              </a:rPr>
              <a:t>前置条件</a:t>
            </a:r>
            <a:r>
              <a:rPr lang="zh-CN" altLang="en-US" sz="2400" b="1" dirty="0">
                <a:latin typeface="楷体_GB2312" pitchFamily="49" charset="-122"/>
              </a:rPr>
              <a:t>：一个合法的银行职员已登录到该系统</a:t>
            </a:r>
            <a:endParaRPr lang="zh-CN" altLang="en-US" sz="2400" b="1" dirty="0">
              <a:latin typeface="楷体_GB2312" pitchFamily="49" charset="-122"/>
            </a:endParaRPr>
          </a:p>
          <a:p>
            <a:pPr marL="0" indent="0">
              <a:lnSpc>
                <a:spcPct val="90000"/>
              </a:lnSpc>
              <a:spcBef>
                <a:spcPct val="0"/>
              </a:spcBef>
              <a:buNone/>
            </a:pPr>
            <a:r>
              <a:rPr lang="zh-CN" altLang="en-US" sz="2400" b="1" dirty="0">
                <a:solidFill>
                  <a:srgbClr val="FF0000"/>
                </a:solidFill>
                <a:latin typeface="楷体_GB2312" pitchFamily="49" charset="-122"/>
              </a:rPr>
              <a:t>事件流</a:t>
            </a:r>
            <a:r>
              <a:rPr lang="zh-CN" altLang="en-US" sz="2400" b="1" dirty="0">
                <a:latin typeface="楷体_GB2312" pitchFamily="49" charset="-122"/>
              </a:rPr>
              <a:t>：</a:t>
            </a:r>
            <a:endParaRPr lang="zh-CN" altLang="en-US" sz="24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1.</a:t>
            </a:r>
            <a:r>
              <a:rPr lang="zh-CN" altLang="en-US" sz="2000" b="1" dirty="0">
                <a:latin typeface="楷体_GB2312" pitchFamily="49" charset="-122"/>
              </a:rPr>
              <a:t>银行职员在系统主页，点击开户按钮</a:t>
            </a:r>
            <a:r>
              <a:rPr lang="zh-CN" altLang="en-US" sz="2200" b="1" dirty="0">
                <a:latin typeface="楷体_GB2312" pitchFamily="49" charset="-122"/>
              </a:rPr>
              <a:t>；</a:t>
            </a:r>
            <a:endParaRPr lang="en-US" altLang="zh-CN"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2.</a:t>
            </a:r>
            <a:r>
              <a:rPr lang="zh-CN" altLang="en-US" sz="2200" b="1" dirty="0">
                <a:latin typeface="楷体_GB2312" pitchFamily="49" charset="-122"/>
              </a:rPr>
              <a:t>系统弹出开户页面，并显示提示输入客户信息的消息；</a:t>
            </a:r>
            <a:endParaRPr lang="zh-CN" altLang="en-US"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3.</a:t>
            </a:r>
            <a:r>
              <a:rPr lang="zh-CN" altLang="en-US" sz="2000" b="1" dirty="0">
                <a:latin typeface="楷体_GB2312" pitchFamily="49" charset="-122"/>
              </a:rPr>
              <a:t>银行职员</a:t>
            </a:r>
            <a:r>
              <a:rPr lang="zh-CN" altLang="en-US" sz="2200" b="1" dirty="0">
                <a:latin typeface="楷体_GB2312" pitchFamily="49" charset="-122"/>
              </a:rPr>
              <a:t>输入客户信息（姓名、地址、身份证号等）；</a:t>
            </a:r>
            <a:endParaRPr lang="zh-CN" altLang="en-US"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4.</a:t>
            </a:r>
            <a:r>
              <a:rPr lang="zh-CN" altLang="en-US" sz="2200" b="1" dirty="0">
                <a:latin typeface="楷体_GB2312" pitchFamily="49" charset="-122"/>
              </a:rPr>
              <a:t>系统在开户页面显示给客户分配的账号；</a:t>
            </a:r>
            <a:endParaRPr lang="zh-CN" altLang="en-US"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5.</a:t>
            </a:r>
            <a:r>
              <a:rPr lang="zh-CN" altLang="en-US" sz="2200" b="1" dirty="0">
                <a:latin typeface="楷体_GB2312" pitchFamily="49" charset="-122"/>
              </a:rPr>
              <a:t>系统提示客户输入密码；</a:t>
            </a:r>
            <a:endParaRPr lang="en-US" altLang="zh-CN"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6.</a:t>
            </a:r>
            <a:r>
              <a:rPr lang="zh-CN" altLang="en-US" sz="2200" b="1" dirty="0">
                <a:latin typeface="楷体_GB2312" pitchFamily="49" charset="-122"/>
              </a:rPr>
              <a:t>客户输入密码；</a:t>
            </a:r>
            <a:endParaRPr lang="zh-CN" altLang="en-US"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7.</a:t>
            </a:r>
            <a:r>
              <a:rPr lang="zh-CN" altLang="en-US" sz="2200" b="1" dirty="0">
                <a:latin typeface="楷体_GB2312" pitchFamily="49" charset="-122"/>
              </a:rPr>
              <a:t>系统提示客户再次输入密码；</a:t>
            </a:r>
            <a:endParaRPr lang="en-US" altLang="zh-CN"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8.</a:t>
            </a:r>
            <a:r>
              <a:rPr lang="zh-CN" altLang="en-US" sz="2200" b="1" dirty="0">
                <a:latin typeface="楷体_GB2312" pitchFamily="49" charset="-122"/>
              </a:rPr>
              <a:t>客户再次输入密码；</a:t>
            </a:r>
            <a:endParaRPr lang="zh-CN" altLang="en-US"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9.</a:t>
            </a:r>
            <a:r>
              <a:rPr lang="zh-CN" altLang="en-US" sz="2200" b="1" dirty="0">
                <a:latin typeface="楷体_GB2312" pitchFamily="49" charset="-122"/>
              </a:rPr>
              <a:t>系统检测客户输入的两次密码是否一致，如果不一致则回到第</a:t>
            </a:r>
            <a:r>
              <a:rPr lang="en-US" altLang="zh-CN" sz="2200" b="1" dirty="0">
                <a:latin typeface="楷体_GB2312" pitchFamily="49" charset="-122"/>
              </a:rPr>
              <a:t>4</a:t>
            </a:r>
            <a:r>
              <a:rPr lang="zh-CN" altLang="en-US" sz="2200" b="1" dirty="0">
                <a:latin typeface="楷体_GB2312" pitchFamily="49" charset="-122"/>
              </a:rPr>
              <a:t>步，否则继续；</a:t>
            </a:r>
            <a:endParaRPr lang="zh-CN" altLang="en-US"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10.</a:t>
            </a:r>
            <a:r>
              <a:rPr lang="zh-CN" altLang="en-US" sz="2200" b="1" dirty="0">
                <a:latin typeface="楷体_GB2312" pitchFamily="49" charset="-122"/>
              </a:rPr>
              <a:t>系统在账户库中添加新账户；</a:t>
            </a:r>
            <a:endParaRPr lang="en-US" altLang="zh-CN" sz="2200" b="1" dirty="0">
              <a:latin typeface="楷体_GB2312" pitchFamily="49" charset="-122"/>
            </a:endParaRPr>
          </a:p>
          <a:p>
            <a:pPr marL="363855" lvl="1" indent="0">
              <a:lnSpc>
                <a:spcPct val="90000"/>
              </a:lnSpc>
              <a:spcBef>
                <a:spcPct val="0"/>
              </a:spcBef>
              <a:buNone/>
            </a:pPr>
            <a:r>
              <a:rPr lang="en-US" altLang="zh-CN" sz="2200" b="1" dirty="0">
                <a:latin typeface="楷体_GB2312" pitchFamily="49" charset="-122"/>
              </a:rPr>
              <a:t>11.</a:t>
            </a:r>
            <a:r>
              <a:rPr lang="zh-CN" altLang="en-US" sz="2200" b="1" dirty="0">
                <a:latin typeface="楷体_GB2312" pitchFamily="49" charset="-122"/>
              </a:rPr>
              <a:t> 用例结束。</a:t>
            </a:r>
            <a:endParaRPr lang="zh-CN" altLang="en-US" sz="2200" b="1" dirty="0">
              <a:latin typeface="楷体_GB2312" pitchFamily="49" charset="-122"/>
            </a:endParaRPr>
          </a:p>
          <a:p>
            <a:pPr marL="0" indent="0">
              <a:lnSpc>
                <a:spcPct val="90000"/>
              </a:lnSpc>
              <a:spcBef>
                <a:spcPct val="0"/>
              </a:spcBef>
              <a:buNone/>
            </a:pPr>
            <a:r>
              <a:rPr lang="zh-CN" altLang="en-US" sz="2400" b="1" dirty="0">
                <a:solidFill>
                  <a:srgbClr val="FF0000"/>
                </a:solidFill>
                <a:latin typeface="楷体_GB2312" pitchFamily="49" charset="-122"/>
              </a:rPr>
              <a:t>后置条件</a:t>
            </a:r>
            <a:r>
              <a:rPr lang="zh-CN" altLang="en-US" sz="2400" b="1" dirty="0">
                <a:latin typeface="楷体_GB2312" pitchFamily="49" charset="-122"/>
              </a:rPr>
              <a:t>：在账户库中增加了一个新账户，得到一张新存折 </a:t>
            </a:r>
            <a:endParaRPr lang="zh-CN" altLang="en-US" sz="2400" b="1" dirty="0">
              <a:latin typeface="楷体_GB2312"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p:nvPr>
        </p:nvSpPr>
        <p:spPr>
          <a:xfrm>
            <a:off x="455613" y="398463"/>
            <a:ext cx="8207375"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取款用况描述</a:t>
            </a:r>
            <a:endParaRPr lang="zh-CN" altLang="en-US" b="1" dirty="0">
              <a:latin typeface="微软雅黑" panose="020B0503020204020204" pitchFamily="34" charset="-122"/>
              <a:ea typeface="微软雅黑" panose="020B0503020204020204" pitchFamily="34" charset="-122"/>
            </a:endParaRPr>
          </a:p>
        </p:txBody>
      </p:sp>
      <p:sp>
        <p:nvSpPr>
          <p:cNvPr id="23555" name="Rectangle 3"/>
          <p:cNvSpPr>
            <a:spLocks noGrp="1"/>
          </p:cNvSpPr>
          <p:nvPr>
            <p:ph idx="1"/>
          </p:nvPr>
        </p:nvSpPr>
        <p:spPr>
          <a:xfrm>
            <a:off x="455613" y="1550988"/>
            <a:ext cx="8662987" cy="4381500"/>
          </a:xfrm>
          <a:ln/>
        </p:spPr>
        <p:txBody>
          <a:bodyPr vert="horz" wrap="square" lIns="91221" tIns="45610" rIns="91221" bIns="45610" anchor="t" anchorCtr="0"/>
          <a:p>
            <a:pPr marL="895350" indent="-895350">
              <a:buNone/>
            </a:pPr>
            <a:r>
              <a:rPr lang="zh-CN" altLang="en-US" sz="2400" b="1" dirty="0">
                <a:solidFill>
                  <a:srgbClr val="FF0000"/>
                </a:solidFill>
              </a:rPr>
              <a:t>用况名称</a:t>
            </a:r>
            <a:r>
              <a:rPr lang="zh-CN" altLang="en-US" sz="2400" b="1" dirty="0"/>
              <a:t>：取款</a:t>
            </a:r>
            <a:endParaRPr lang="en-US" altLang="zh-CN" sz="2400" b="1" dirty="0"/>
          </a:p>
          <a:p>
            <a:pPr marL="895350" indent="-895350">
              <a:buNone/>
            </a:pPr>
            <a:r>
              <a:rPr lang="zh-CN" altLang="en-US" sz="2400" b="1" dirty="0">
                <a:solidFill>
                  <a:srgbClr val="FF0000"/>
                </a:solidFill>
              </a:rPr>
              <a:t>用例编号</a:t>
            </a:r>
            <a:r>
              <a:rPr lang="zh-CN" altLang="en-US" sz="2400" b="1" dirty="0"/>
              <a:t>：</a:t>
            </a:r>
            <a:r>
              <a:rPr lang="en-US" altLang="zh-CN" sz="2400" b="1" dirty="0"/>
              <a:t>UC-2</a:t>
            </a:r>
            <a:endParaRPr lang="zh-CN" altLang="en-US" sz="2400" b="1" dirty="0"/>
          </a:p>
          <a:p>
            <a:pPr marL="895350" indent="-895350">
              <a:spcBef>
                <a:spcPct val="0"/>
              </a:spcBef>
              <a:buNone/>
            </a:pPr>
            <a:r>
              <a:rPr lang="zh-CN" altLang="en-US" sz="2400" b="1" dirty="0">
                <a:solidFill>
                  <a:srgbClr val="FF0000"/>
                </a:solidFill>
              </a:rPr>
              <a:t>参与者</a:t>
            </a:r>
            <a:r>
              <a:rPr lang="zh-CN" altLang="en-US" sz="2400" b="1" dirty="0"/>
              <a:t>：银行职员</a:t>
            </a:r>
            <a:endParaRPr lang="en-US" altLang="zh-CN" sz="2400" b="1" dirty="0"/>
          </a:p>
          <a:p>
            <a:pPr marL="895350" indent="-895350">
              <a:spcBef>
                <a:spcPct val="0"/>
              </a:spcBef>
              <a:buNone/>
            </a:pPr>
            <a:r>
              <a:rPr lang="zh-CN" altLang="en-US" sz="2400" b="1" dirty="0">
                <a:solidFill>
                  <a:srgbClr val="FF0000"/>
                </a:solidFill>
              </a:rPr>
              <a:t>前置条件</a:t>
            </a:r>
            <a:r>
              <a:rPr lang="zh-CN" altLang="en-US" sz="2400" b="1" dirty="0"/>
              <a:t>：一个合法的银行职员已登录到该系统</a:t>
            </a:r>
            <a:endParaRPr lang="zh-CN" altLang="en-US" sz="2400" b="1" dirty="0"/>
          </a:p>
          <a:p>
            <a:pPr marL="895350" indent="-895350">
              <a:spcBef>
                <a:spcPct val="0"/>
              </a:spcBef>
              <a:buNone/>
            </a:pPr>
            <a:r>
              <a:rPr lang="zh-CN" altLang="en-US" sz="2400" b="1" dirty="0">
                <a:solidFill>
                  <a:srgbClr val="FF0000"/>
                </a:solidFill>
              </a:rPr>
              <a:t>事件流</a:t>
            </a:r>
            <a:r>
              <a:rPr lang="zh-CN" altLang="en-US" sz="2400" b="1" dirty="0"/>
              <a:t>：</a:t>
            </a:r>
            <a:endParaRPr lang="zh-CN" altLang="en-US" sz="2400" b="1" dirty="0"/>
          </a:p>
          <a:p>
            <a:pPr marL="895350" indent="-895350">
              <a:spcBef>
                <a:spcPct val="0"/>
              </a:spcBef>
              <a:buNone/>
            </a:pPr>
            <a:r>
              <a:rPr lang="zh-CN" altLang="en-US" sz="2400" b="1" dirty="0"/>
              <a:t>   </a:t>
            </a:r>
            <a:r>
              <a:rPr lang="zh-CN" altLang="en-US" sz="2400" b="1" dirty="0">
                <a:solidFill>
                  <a:srgbClr val="FF0000"/>
                </a:solidFill>
              </a:rPr>
              <a:t>基本路径</a:t>
            </a:r>
            <a:r>
              <a:rPr lang="zh-CN" altLang="en-US" sz="2400" b="1" dirty="0"/>
              <a:t>：</a:t>
            </a:r>
            <a:endParaRPr lang="zh-CN" altLang="en-US" sz="2400" b="1" dirty="0"/>
          </a:p>
          <a:p>
            <a:pPr marL="1260475" lvl="1" indent="-895350">
              <a:spcBef>
                <a:spcPct val="0"/>
              </a:spcBef>
              <a:buNone/>
            </a:pPr>
            <a:r>
              <a:rPr lang="en-US" altLang="zh-CN" sz="2200" b="1" dirty="0"/>
              <a:t>1.</a:t>
            </a:r>
            <a:r>
              <a:rPr lang="zh-CN" altLang="en-US" sz="2200" b="1" dirty="0"/>
              <a:t>银行职员在系统主页选择取款功能；</a:t>
            </a:r>
            <a:endParaRPr lang="zh-CN" altLang="en-US" sz="2200" b="1" dirty="0"/>
          </a:p>
          <a:p>
            <a:pPr marL="1260475" lvl="1" indent="-895350">
              <a:spcBef>
                <a:spcPct val="0"/>
              </a:spcBef>
              <a:buNone/>
            </a:pPr>
            <a:r>
              <a:rPr lang="en-US" altLang="zh-CN" sz="2200" b="1" dirty="0"/>
              <a:t>2.</a:t>
            </a:r>
            <a:r>
              <a:rPr lang="zh-CN" altLang="en-US" sz="2200" b="1" dirty="0"/>
              <a:t>银行职员输入客户信息（姓名、账号等）；</a:t>
            </a:r>
            <a:endParaRPr lang="en-US" altLang="zh-CN" sz="2200" b="1" dirty="0"/>
          </a:p>
          <a:p>
            <a:pPr marL="1260475" lvl="1" indent="-895350">
              <a:spcBef>
                <a:spcPct val="0"/>
              </a:spcBef>
              <a:buNone/>
            </a:pPr>
            <a:r>
              <a:rPr lang="en-US" altLang="zh-CN" sz="2200" b="1" dirty="0"/>
              <a:t>3.</a:t>
            </a:r>
            <a:r>
              <a:rPr lang="zh-CN" altLang="en-US" sz="2200" b="1" dirty="0"/>
              <a:t>系统调取客户的账户信息；</a:t>
            </a:r>
            <a:endParaRPr lang="en-US" altLang="zh-CN" sz="2200" b="1" dirty="0"/>
          </a:p>
          <a:p>
            <a:pPr marL="1260475" lvl="1" indent="-895350">
              <a:spcBef>
                <a:spcPct val="0"/>
              </a:spcBef>
              <a:buNone/>
            </a:pPr>
            <a:r>
              <a:rPr lang="en-US" altLang="zh-CN" sz="2200" b="1" dirty="0"/>
              <a:t>4.</a:t>
            </a:r>
            <a:r>
              <a:rPr lang="zh-CN" altLang="en-US" sz="2200" b="1" dirty="0"/>
              <a:t>系统提示客户输入密码；</a:t>
            </a:r>
            <a:endParaRPr lang="en-US" altLang="zh-CN" sz="2200" b="1" dirty="0"/>
          </a:p>
          <a:p>
            <a:pPr marL="1260475" lvl="1" indent="-895350">
              <a:spcBef>
                <a:spcPct val="0"/>
              </a:spcBef>
              <a:buNone/>
            </a:pPr>
            <a:r>
              <a:rPr lang="en-US" altLang="zh-CN" sz="2200" b="1" dirty="0"/>
              <a:t>5. </a:t>
            </a:r>
            <a:r>
              <a:rPr lang="zh-CN" altLang="en-US" sz="2200" b="1" dirty="0"/>
              <a:t>系统校验客户密码；</a:t>
            </a:r>
            <a:endParaRPr lang="en-US" altLang="zh-CN" sz="2200" b="1" dirty="0"/>
          </a:p>
          <a:p>
            <a:pPr marL="1260475" lvl="1" indent="-895350">
              <a:spcBef>
                <a:spcPct val="0"/>
              </a:spcBef>
              <a:buNone/>
            </a:pPr>
            <a:r>
              <a:rPr lang="en-US" altLang="zh-CN" sz="2200" b="1" dirty="0"/>
              <a:t>6.</a:t>
            </a:r>
            <a:r>
              <a:rPr lang="zh-CN" altLang="en-US" sz="2200" b="1" dirty="0"/>
              <a:t>系统提示银行职员输入取款金额；</a:t>
            </a:r>
            <a:endParaRPr lang="en-US" altLang="zh-CN" sz="2200" b="1" dirty="0"/>
          </a:p>
          <a:p>
            <a:pPr marL="1260475" lvl="1" indent="-895350">
              <a:spcBef>
                <a:spcPct val="0"/>
              </a:spcBef>
              <a:buNone/>
            </a:pPr>
            <a:r>
              <a:rPr lang="en-US" altLang="zh-CN" sz="2200" b="1" dirty="0"/>
              <a:t>7.</a:t>
            </a:r>
            <a:r>
              <a:rPr lang="zh-CN" altLang="en-US" sz="2200" b="1" dirty="0"/>
              <a:t>银行职员输入金额；</a:t>
            </a:r>
            <a:endParaRPr lang="en-US" altLang="zh-CN" sz="2200" b="1" dirty="0"/>
          </a:p>
          <a:p>
            <a:pPr marL="1260475" lvl="1" indent="-895350">
              <a:spcBef>
                <a:spcPct val="0"/>
              </a:spcBef>
              <a:buNone/>
            </a:pPr>
            <a:r>
              <a:rPr lang="en-US" altLang="zh-CN" sz="2200" b="1" dirty="0"/>
              <a:t>8.</a:t>
            </a:r>
            <a:r>
              <a:rPr lang="zh-CN" altLang="en-US" sz="2200" b="1" dirty="0"/>
              <a:t>系统打印取款单，由银行职员交给客户签字</a:t>
            </a:r>
            <a:endParaRPr lang="zh-CN" altLang="en-US" sz="22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1715" name="Rectangle 3"/>
          <p:cNvSpPr>
            <a:spLocks noGrp="1" noChangeArrowheads="1"/>
          </p:cNvSpPr>
          <p:nvPr>
            <p:ph idx="1"/>
          </p:nvPr>
        </p:nvSpPr>
        <p:spPr>
          <a:xfrm>
            <a:off x="527050" y="974725"/>
            <a:ext cx="8591550" cy="4381500"/>
          </a:xfrm>
        </p:spPr>
        <p:txBody>
          <a:bodyPr vert="horz" wrap="square" lIns="91221" tIns="45610" rIns="91221" bIns="45610" numCol="1" anchor="t" anchorCtr="0" compatLnSpc="1"/>
          <a:lstStyle/>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9.</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系统建立取款事件记录，并更新账户信息</a:t>
            </a:r>
            <a:endPar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10. </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系统打印存折，用例结束</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362585" marR="0" lvl="0" indent="-362585" algn="l" defTabSz="914400" rtl="0" eaLnBrk="0" fontAlgn="base" latinLnBrk="0" hangingPunct="0">
              <a:lnSpc>
                <a:spcPct val="100000"/>
              </a:lnSpc>
              <a:spcBef>
                <a:spcPct val="0"/>
              </a:spcBef>
              <a:spcAft>
                <a:spcPct val="0"/>
              </a:spcAft>
              <a:buClr>
                <a:srgbClr val="0BD0D9"/>
              </a:buClr>
              <a:buSzPct val="95000"/>
              <a:buFont typeface="Wingdings 2" panose="05020102010507070707" pitchFamily="18" charset="2"/>
              <a:buNone/>
              <a:defRPr/>
            </a:pPr>
            <a:r>
              <a:rPr kumimoji="0" lang="zh-CN" altLang="en-US" sz="2400" b="1" i="0" u="none" strike="noStrike" kern="1200" cap="none" spc="0" normalizeH="0" baseline="0" noProof="0" dirty="0">
                <a:ln>
                  <a:noFill/>
                </a:ln>
                <a:solidFill>
                  <a:srgbClr val="FF0000"/>
                </a:solidFill>
                <a:effectLst/>
                <a:uLnTx/>
                <a:uFillTx/>
                <a:latin typeface="楷体_GB2312" pitchFamily="49" charset="-122"/>
                <a:ea typeface="宋体" panose="02010600030101010101" pitchFamily="2" charset="-122"/>
                <a:cs typeface="+mn-cs"/>
              </a:rPr>
              <a:t>可选路径</a:t>
            </a:r>
            <a:r>
              <a:rPr kumimoji="0" lang="zh-CN" altLang="en-US" sz="24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a:t>
            </a:r>
            <a:endParaRPr kumimoji="0" lang="zh-CN" altLang="en-US" sz="24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3a:</a:t>
            </a:r>
            <a:r>
              <a:rPr kumimoji="0" lang="zh-CN" altLang="en-US"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客户信息与账户信息不一致</a:t>
            </a:r>
            <a:endParaRPr kumimoji="0" lang="en-US" altLang="zh-CN"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3a1. </a:t>
            </a:r>
            <a:r>
              <a:rPr kumimoji="0" lang="zh-CN" altLang="en-US"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系统显示错误信息，并提示可以重新输入或结束用例</a:t>
            </a:r>
            <a:r>
              <a:rPr kumimoji="0" lang="en-US" altLang="zh-CN"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3b: </a:t>
            </a:r>
            <a:r>
              <a:rPr kumimoji="0" lang="zh-CN" altLang="en-US"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该账户被冻结（如因挂失而冻结）</a:t>
            </a:r>
            <a:endParaRPr kumimoji="0" lang="en-US" altLang="zh-CN"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3b1.</a:t>
            </a:r>
            <a:r>
              <a:rPr kumimoji="0" lang="zh-CN" altLang="en-US"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系统显示冻结信息并结束用例</a:t>
            </a:r>
            <a:endParaRPr kumimoji="0" lang="en-US" altLang="zh-CN"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5a:</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客户两次输入的密码不一致</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5a1.</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系统提示客户重新输入密码，或结束当前用例</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7a:</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账户的余款小于取款金额</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7a1.</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系统显示账户的余款小于取款金额信息，要求重新输入金额</a:t>
            </a:r>
            <a:endParaRPr kumimoji="0" lang="zh-CN" altLang="en-US" sz="2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8a:</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客户取消本次取款</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8a1:</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客户拒绝签字</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8a2.</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系统结束当前用例</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362585" marR="0" lvl="1" indent="-362585" algn="l" defTabSz="914400" rtl="0" eaLnBrk="0" fontAlgn="base" latinLnBrk="0" hangingPunct="0">
              <a:lnSpc>
                <a:spcPct val="100000"/>
              </a:lnSpc>
              <a:spcBef>
                <a:spcPct val="0"/>
              </a:spcBef>
              <a:spcAft>
                <a:spcPct val="0"/>
              </a:spcAft>
              <a:buClr>
                <a:srgbClr val="0BD0D9"/>
              </a:buClr>
              <a:buSzPct val="95000"/>
              <a:buFont typeface="Wingdings 2" panose="05020102010507070707" pitchFamily="18" charset="2"/>
              <a:buNone/>
              <a:defRPr/>
            </a:pPr>
            <a:r>
              <a:rPr kumimoji="0" lang="zh-CN" altLang="en-US" sz="2400" b="1" i="0" u="none" strike="noStrike" kern="1200" cap="none" spc="0" normalizeH="0" baseline="0" noProof="0" dirty="0" smtClean="0">
                <a:ln>
                  <a:noFill/>
                </a:ln>
                <a:solidFill>
                  <a:srgbClr val="FF0000"/>
                </a:solidFill>
                <a:effectLst/>
                <a:uLnTx/>
                <a:uFillTx/>
                <a:latin typeface="楷体_GB2312" pitchFamily="49" charset="-122"/>
                <a:ea typeface="宋体" panose="02010600030101010101" pitchFamily="2" charset="-122"/>
                <a:cs typeface="+mn-cs"/>
              </a:rPr>
              <a:t>后置条件</a:t>
            </a:r>
            <a:endParaRPr kumimoji="0" lang="zh-CN" altLang="en-US" sz="2400" b="1" i="0" u="none" strike="noStrike" kern="1200" cap="none" spc="0" normalizeH="0" baseline="0" noProof="0" dirty="0" smtClean="0">
              <a:ln>
                <a:noFill/>
              </a:ln>
              <a:solidFill>
                <a:srgbClr val="FF0000"/>
              </a:solidFill>
              <a:effectLst/>
              <a:uLnTx/>
              <a:uFillTx/>
              <a:latin typeface="楷体_GB2312" pitchFamily="49" charset="-122"/>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如果取款成功，客户账户中的余额被减少，否则余额不变。</a:t>
            </a:r>
            <a:endParaRPr kumimoji="0" lang="en-US" altLang="zh-CN"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727710" marR="0" lvl="1" indent="-362585" algn="l" defTabSz="914400" rtl="0" eaLnBrk="0" fontAlgn="base" latinLnBrk="0" hangingPunct="0">
              <a:lnSpc>
                <a:spcPct val="100000"/>
              </a:lnSpc>
              <a:spcBef>
                <a:spcPct val="0"/>
              </a:spcBef>
              <a:spcAft>
                <a:spcPct val="0"/>
              </a:spcAft>
              <a:buClr>
                <a:schemeClr val="accent1"/>
              </a:buClr>
              <a:buSzPct val="85000"/>
              <a:buFont typeface="Wingdings 2" panose="05020102010507070707" pitchFamily="18" charset="2"/>
              <a:buNone/>
              <a:defRPr/>
            </a:pPr>
            <a:endParaRPr kumimoji="0" lang="zh-CN" altLang="en-US" sz="2200" b="1"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96260" name="Text Box 4"/>
          <p:cNvSpPr txBox="1">
            <a:spLocks noChangeArrowheads="1"/>
          </p:cNvSpPr>
          <p:nvPr/>
        </p:nvSpPr>
        <p:spPr bwMode="auto">
          <a:xfrm>
            <a:off x="527050" y="542925"/>
            <a:ext cx="7993063" cy="512445"/>
          </a:xfrm>
          <a:prstGeom prst="rect">
            <a:avLst/>
          </a:prstGeom>
          <a:noFill/>
          <a:ln w="9525">
            <a:noFill/>
            <a:miter lim="800000"/>
          </a:ln>
          <a:effectLst/>
        </p:spPr>
        <p:txBody>
          <a:bodyPr lIns="0" tIns="0" rIns="0" bIns="0">
            <a:spAutoFit/>
          </a:bodyPr>
          <a:lstStyle/>
          <a:p>
            <a:pPr marR="0" defTabSz="914400" eaLnBrk="1" hangingPunct="1">
              <a:lnSpc>
                <a:spcPts val="4000"/>
              </a:lnSpc>
              <a:buClrTx/>
              <a:buSzTx/>
              <a:buFontTx/>
              <a:buNone/>
              <a:defRPr/>
            </a:pPr>
            <a:r>
              <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第六次课：</a:t>
            </a:r>
            <a:r>
              <a:rPr kumimoji="1" lang="zh-CN" altLang="en-US" sz="5000" kern="1200" cap="none" spc="0" normalizeH="0" baseline="0" noProof="0" dirty="0">
                <a:solidFill>
                  <a:srgbClr val="FF0000"/>
                </a:solidFill>
                <a:latin typeface="微软雅黑" panose="020B0503020204020204" pitchFamily="34" charset="-122"/>
                <a:ea typeface="微软雅黑" panose="020B0503020204020204" pitchFamily="34" charset="-122"/>
                <a:cs typeface="+mj-cs"/>
              </a:rPr>
              <a:t>面向对象的基础</a:t>
            </a:r>
            <a:endParaRPr kumimoji="1" lang="zh-CN" altLang="en-US" sz="5000" kern="1200" cap="none" spc="0" normalizeH="0" baseline="0" noProof="0" dirty="0">
              <a:solidFill>
                <a:srgbClr val="FF0000"/>
              </a:solidFill>
              <a:latin typeface="微软雅黑" panose="020B0503020204020204" pitchFamily="34" charset="-122"/>
              <a:ea typeface="微软雅黑" panose="020B0503020204020204" pitchFamily="34" charset="-122"/>
              <a:cs typeface="+mj-cs"/>
            </a:endParaRPr>
          </a:p>
        </p:txBody>
      </p:sp>
      <p:sp>
        <p:nvSpPr>
          <p:cNvPr id="96262" name="Text Box 6"/>
          <p:cNvSpPr txBox="1">
            <a:spLocks noChangeArrowheads="1"/>
          </p:cNvSpPr>
          <p:nvPr/>
        </p:nvSpPr>
        <p:spPr bwMode="auto">
          <a:xfrm>
            <a:off x="798513" y="1477963"/>
            <a:ext cx="6591300" cy="3065463"/>
          </a:xfrm>
          <a:prstGeom prst="rect">
            <a:avLst/>
          </a:prstGeom>
          <a:noFill/>
          <a:ln w="9525">
            <a:noFill/>
            <a:miter lim="800000"/>
          </a:ln>
          <a:effectLst/>
        </p:spPr>
        <p:txBody>
          <a:bodyPr lIns="0" tIns="0" rIns="0" bIns="0">
            <a:spAutoFit/>
          </a:bodyPr>
          <a:lstStyle/>
          <a:p>
            <a:pPr marL="273050" marR="0" indent="-273050" defTabSz="914400" eaLnBrk="1" hangingPunct="1">
              <a:spcBef>
                <a:spcPct val="20000"/>
              </a:spcBef>
              <a:buClr>
                <a:srgbClr val="0BD0D9"/>
              </a:buClr>
              <a:buSzPct val="95000"/>
              <a:buFont typeface="Wingdings" panose="05000000000000000000" pitchFamily="2" charset="2"/>
              <a:buChar char="p"/>
              <a:tabLst>
                <a:tab pos="457200" algn="l"/>
              </a:tabLst>
              <a:defRPr/>
            </a:pPr>
            <a:r>
              <a:rPr kumimoji="1" lang="zh-CN" altLang="en-US" sz="3200" kern="1200" cap="none" spc="0" normalizeH="0" baseline="0" noProof="0" dirty="0">
                <a:latin typeface="+mn-lt"/>
                <a:ea typeface="+mn-ea"/>
                <a:cs typeface="+mn-cs"/>
              </a:rPr>
              <a:t>面向对象基础</a:t>
            </a:r>
            <a:endParaRPr kumimoji="1" lang="zh-CN" altLang="en-US" sz="3200" kern="1200" cap="none" spc="0" normalizeH="0" baseline="0" noProof="0" dirty="0">
              <a:latin typeface="+mn-lt"/>
              <a:ea typeface="+mn-ea"/>
              <a:cs typeface="+mn-cs"/>
            </a:endParaRPr>
          </a:p>
          <a:p>
            <a:pPr marL="457200" marR="0" lvl="1" indent="0" algn="l" defTabSz="914400" rtl="0" eaLnBrk="1" fontAlgn="base" latinLnBrk="0" hangingPunct="1">
              <a:lnSpc>
                <a:spcPct val="100000"/>
              </a:lnSpc>
              <a:spcBef>
                <a:spcPct val="15000"/>
              </a:spcBef>
              <a:spcAft>
                <a:spcPct val="0"/>
              </a:spcAft>
              <a:buClrTx/>
              <a:buSzTx/>
              <a:buFont typeface="Wingdings" panose="05000000000000000000" pitchFamily="2" charset="2"/>
              <a:buChar char="ü"/>
              <a:tabLst>
                <a:tab pos="457200" algn="l"/>
                <a:tab pos="7493000" algn="l"/>
              </a:tabLst>
              <a:defRPr/>
            </a:pPr>
            <a:r>
              <a:rPr kumimoji="0" lang="zh-CN" altLang="en-US" sz="28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rPr>
              <a:t>面向对象基本概念</a:t>
            </a:r>
            <a:endParaRPr kumimoji="0" lang="zh-CN" altLang="en-US" sz="28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endParaRPr>
          </a:p>
          <a:p>
            <a:pPr marL="273050" marR="0" indent="-273050" defTabSz="914400" eaLnBrk="1" hangingPunct="1">
              <a:spcBef>
                <a:spcPct val="20000"/>
              </a:spcBef>
              <a:buClr>
                <a:srgbClr val="0BD0D9"/>
              </a:buClr>
              <a:buSzPct val="95000"/>
              <a:buFont typeface="Wingdings" panose="05000000000000000000" pitchFamily="2" charset="2"/>
              <a:buChar char="p"/>
              <a:tabLst>
                <a:tab pos="457200" algn="l"/>
              </a:tabLst>
              <a:defRPr/>
            </a:pPr>
            <a:r>
              <a:rPr kumimoji="1" lang="zh-CN" altLang="en-US" sz="3200" kern="1200" cap="none" spc="0" normalizeH="0" baseline="0" noProof="0" dirty="0">
                <a:latin typeface="+mn-lt"/>
                <a:ea typeface="+mn-ea"/>
                <a:cs typeface="+mn-cs"/>
              </a:rPr>
              <a:t>统一建模语言</a:t>
            </a:r>
            <a:r>
              <a:rPr kumimoji="1" lang="en-US" altLang="zh-CN" sz="3200" kern="1200" cap="none" spc="0" normalizeH="0" baseline="0" noProof="0" dirty="0">
                <a:latin typeface="+mn-lt"/>
                <a:ea typeface="+mn-ea"/>
                <a:cs typeface="+mn-cs"/>
              </a:rPr>
              <a:t>UML</a:t>
            </a:r>
            <a:endParaRPr kumimoji="1" lang="en-US" altLang="zh-CN" sz="3200" kern="1200" cap="none" spc="0" normalizeH="0" baseline="0" noProof="0" dirty="0">
              <a:latin typeface="+mn-lt"/>
              <a:ea typeface="+mn-ea"/>
              <a:cs typeface="+mn-cs"/>
            </a:endParaRPr>
          </a:p>
          <a:p>
            <a:pPr marL="457200" marR="0" lvl="1" indent="0" algn="l" defTabSz="914400" rtl="0" eaLnBrk="1" fontAlgn="base" latinLnBrk="0" hangingPunct="1">
              <a:lnSpc>
                <a:spcPct val="100000"/>
              </a:lnSpc>
              <a:spcBef>
                <a:spcPct val="15000"/>
              </a:spcBef>
              <a:spcAft>
                <a:spcPct val="0"/>
              </a:spcAft>
              <a:buClrTx/>
              <a:buSzTx/>
              <a:buFont typeface="Wingdings" panose="05000000000000000000" pitchFamily="2" charset="2"/>
              <a:buChar char="ü"/>
              <a:tabLst>
                <a:tab pos="457200" algn="l"/>
                <a:tab pos="7493000" algn="l"/>
              </a:tabLst>
              <a:defRPr/>
            </a:pPr>
            <a:r>
              <a:rPr kumimoji="0" lang="en-US" altLang="zh-CN" sz="28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rPr>
              <a:t>UML</a:t>
            </a:r>
            <a:r>
              <a:rPr kumimoji="0" lang="zh-CN" altLang="en-US" sz="28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rPr>
              <a:t>语言概述</a:t>
            </a:r>
            <a:endParaRPr kumimoji="0" lang="zh-CN" altLang="en-US" sz="28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endParaRPr>
          </a:p>
          <a:p>
            <a:pPr marL="457200" marR="0" lvl="1" indent="0" algn="l" defTabSz="914400" rtl="0" eaLnBrk="1" fontAlgn="base" latinLnBrk="0" hangingPunct="1">
              <a:lnSpc>
                <a:spcPct val="100000"/>
              </a:lnSpc>
              <a:spcBef>
                <a:spcPct val="15000"/>
              </a:spcBef>
              <a:spcAft>
                <a:spcPct val="0"/>
              </a:spcAft>
              <a:buClrTx/>
              <a:buSzTx/>
              <a:buFont typeface="Wingdings" panose="05000000000000000000" pitchFamily="2" charset="2"/>
              <a:buChar char="ü"/>
              <a:tabLst>
                <a:tab pos="457200" algn="l"/>
                <a:tab pos="7493000" algn="l"/>
              </a:tabLst>
              <a:defRPr/>
            </a:pPr>
            <a:r>
              <a:rPr kumimoji="0" lang="en-US" altLang="zh-CN" sz="28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rPr>
              <a:t>UML</a:t>
            </a:r>
            <a:r>
              <a:rPr kumimoji="0" lang="zh-CN" altLang="en-US" sz="28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rPr>
              <a:t>语言的基本元素</a:t>
            </a:r>
            <a:endParaRPr kumimoji="0" lang="zh-CN" altLang="en-US" sz="28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endParaRPr>
          </a:p>
          <a:p>
            <a:pPr marL="457200" marR="0" lvl="1" indent="0" algn="l" defTabSz="914400" rtl="0" eaLnBrk="1" fontAlgn="base" latinLnBrk="0" hangingPunct="1">
              <a:lnSpc>
                <a:spcPct val="100000"/>
              </a:lnSpc>
              <a:spcBef>
                <a:spcPct val="15000"/>
              </a:spcBef>
              <a:spcAft>
                <a:spcPct val="0"/>
              </a:spcAft>
              <a:buClrTx/>
              <a:buSzTx/>
              <a:buFont typeface="Wingdings" panose="05000000000000000000" pitchFamily="2" charset="2"/>
              <a:buChar char="ü"/>
              <a:tabLst>
                <a:tab pos="457200" algn="l"/>
                <a:tab pos="7493000" algn="l"/>
              </a:tabLst>
              <a:defRPr/>
            </a:pPr>
            <a:r>
              <a:rPr kumimoji="0" lang="zh-CN" altLang="en-US" sz="2800" b="1" i="0" u="none" strike="noStrike" kern="1200" cap="none" spc="0" normalizeH="0" baseline="0" noProof="0" dirty="0">
                <a:ln>
                  <a:noFill/>
                </a:ln>
                <a:solidFill>
                  <a:schemeClr val="tx1"/>
                </a:solidFill>
                <a:effectLst/>
                <a:uLnTx/>
                <a:uFillTx/>
                <a:latin typeface="幼圆" panose="02010509060101010101" pitchFamily="49" charset="-122"/>
                <a:ea typeface="幼圆" panose="02010509060101010101" pitchFamily="49" charset="-122"/>
                <a:cs typeface="+mn-cs"/>
              </a:rPr>
              <a:t>常用的</a:t>
            </a:r>
            <a:r>
              <a:rPr kumimoji="0" lang="en-US" altLang="zh-CN" sz="2800" b="1" i="0" u="none" strike="noStrike" kern="1200" cap="none" spc="0" normalizeH="0" baseline="0" noProof="0" dirty="0">
                <a:ln>
                  <a:noFill/>
                </a:ln>
                <a:solidFill>
                  <a:schemeClr val="tx1"/>
                </a:solidFill>
                <a:effectLst/>
                <a:uLnTx/>
                <a:uFillTx/>
                <a:latin typeface="幼圆" panose="02010509060101010101" pitchFamily="49" charset="-122"/>
                <a:ea typeface="幼圆" panose="02010509060101010101" pitchFamily="49" charset="-122"/>
                <a:cs typeface="+mn-cs"/>
              </a:rPr>
              <a:t>UML</a:t>
            </a:r>
            <a:r>
              <a:rPr kumimoji="0" lang="zh-CN" altLang="en-US" sz="2800" b="1" i="0" u="none" strike="noStrike" kern="1200" cap="none" spc="0" normalizeH="0" baseline="0" noProof="0" dirty="0">
                <a:ln>
                  <a:noFill/>
                </a:ln>
                <a:solidFill>
                  <a:schemeClr val="tx1"/>
                </a:solidFill>
                <a:effectLst/>
                <a:uLnTx/>
                <a:uFillTx/>
                <a:latin typeface="幼圆" panose="02010509060101010101" pitchFamily="49" charset="-122"/>
                <a:ea typeface="幼圆" panose="02010509060101010101" pitchFamily="49" charset="-122"/>
                <a:cs typeface="+mn-cs"/>
              </a:rPr>
              <a:t>图</a:t>
            </a:r>
            <a:r>
              <a:rPr kumimoji="0"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  </a:t>
            </a:r>
            <a:r>
              <a:rPr kumimoji="0" lang="zh-CN" altLang="en-US" sz="28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rPr>
              <a:t>   </a:t>
            </a:r>
            <a:endParaRPr kumimoji="0" lang="zh-CN" altLang="en-US" sz="2800" b="1" i="0" u="none" strike="noStrike" kern="1200" cap="none" spc="0" normalizeH="0" baseline="0" noProof="0" dirty="0">
              <a:ln>
                <a:noFill/>
              </a:ln>
              <a:solidFill>
                <a:srgbClr val="000000"/>
              </a:solidFill>
              <a:effectLst/>
              <a:uLnTx/>
              <a:uFillTx/>
              <a:latin typeface="幼圆" panose="02010509060101010101" pitchFamily="49" charset="-122"/>
              <a:ea typeface="幼圆" panose="020105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96262"/>
                                        </p:tgtEl>
                                        <p:attrNameLst>
                                          <p:attrName>style.visibility</p:attrName>
                                        </p:attrNameLst>
                                      </p:cBhvr>
                                      <p:to>
                                        <p:strVal val="visible"/>
                                      </p:to>
                                    </p:set>
                                    <p:animEffect transition="in" filter="blinds(horizontal)">
                                      <p:cBhvr>
                                        <p:cTn id="7" dur="500"/>
                                        <p:tgtEl>
                                          <p:spTgt spid="96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a:xfrm>
            <a:off x="455613" y="542925"/>
            <a:ext cx="8207375"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面向对象方法</a:t>
            </a:r>
            <a:endParaRPr lang="zh-CN" altLang="en-US" b="1" dirty="0">
              <a:latin typeface="微软雅黑" panose="020B0503020204020204" pitchFamily="34" charset="-122"/>
              <a:ea typeface="微软雅黑" panose="020B0503020204020204" pitchFamily="34" charset="-122"/>
            </a:endParaRPr>
          </a:p>
        </p:txBody>
      </p:sp>
      <p:sp>
        <p:nvSpPr>
          <p:cNvPr id="28675"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13316" name="矩形 5"/>
          <p:cNvSpPr/>
          <p:nvPr/>
        </p:nvSpPr>
        <p:spPr>
          <a:xfrm>
            <a:off x="958850" y="4214813"/>
            <a:ext cx="7439025" cy="646112"/>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3600" b="1" dirty="0">
                <a:latin typeface="微软雅黑" panose="020B0503020204020204" pitchFamily="34" charset="-122"/>
                <a:ea typeface="微软雅黑" panose="020B0503020204020204" pitchFamily="34" charset="-122"/>
              </a:rPr>
              <a:t>面向对象</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对象 </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类</a:t>
            </a:r>
            <a:r>
              <a:rPr lang="en-US" altLang="zh-CN" sz="3600" b="1" dirty="0">
                <a:latin typeface="微软雅黑" panose="020B0503020204020204" pitchFamily="34" charset="-122"/>
                <a:ea typeface="微软雅黑" panose="020B0503020204020204" pitchFamily="34" charset="-122"/>
              </a:rPr>
              <a:t>+ </a:t>
            </a:r>
            <a:r>
              <a:rPr lang="zh-CN" altLang="en-US" sz="3600" b="1" dirty="0">
                <a:latin typeface="微软雅黑" panose="020B0503020204020204" pitchFamily="34" charset="-122"/>
                <a:ea typeface="微软雅黑" panose="020B0503020204020204" pitchFamily="34" charset="-122"/>
              </a:rPr>
              <a:t>继承</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消息</a:t>
            </a:r>
            <a:endParaRPr lang="zh-CN" altLang="en-US" sz="3600" b="1" dirty="0">
              <a:latin typeface="微软雅黑" panose="020B0503020204020204" pitchFamily="34" charset="-122"/>
              <a:ea typeface="微软雅黑" panose="020B0503020204020204" pitchFamily="34" charset="-122"/>
            </a:endParaRPr>
          </a:p>
        </p:txBody>
      </p:sp>
      <p:sp>
        <p:nvSpPr>
          <p:cNvPr id="2" name="矩形 1"/>
          <p:cNvSpPr/>
          <p:nvPr/>
        </p:nvSpPr>
        <p:spPr>
          <a:xfrm>
            <a:off x="887413" y="2211388"/>
            <a:ext cx="6911975" cy="1077912"/>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1" indent="0" defTabSz="914400" eaLnBrk="1" hangingPunct="1">
              <a:spcBef>
                <a:spcPct val="0"/>
              </a:spcBef>
              <a:buClr>
                <a:srgbClr val="0BD0D9"/>
              </a:buClr>
              <a:buSzPct val="95000"/>
              <a:buFont typeface="Wingdings" panose="05000000000000000000" pitchFamily="2" charset="2"/>
              <a:buNone/>
              <a:tabLst>
                <a:tab pos="457200" algn="l"/>
              </a:tabLst>
            </a:pPr>
            <a:r>
              <a:rPr lang="zh-CN" altLang="en-US" sz="3200" b="1" dirty="0">
                <a:solidFill>
                  <a:srgbClr val="FF0000"/>
                </a:solidFill>
                <a:latin typeface="黑体" panose="02010609060101010101" pitchFamily="49" charset="-122"/>
                <a:ea typeface="黑体" panose="02010609060101010101" pitchFamily="49" charset="-122"/>
              </a:rPr>
              <a:t>“面向对象方法”不仅仅是使用面向对象编程语言（ </a:t>
            </a:r>
            <a:r>
              <a:rPr lang="en-US" altLang="zh-CN" sz="3200" b="1" dirty="0">
                <a:solidFill>
                  <a:srgbClr val="FF0000"/>
                </a:solidFill>
                <a:latin typeface="黑体" panose="02010609060101010101" pitchFamily="49" charset="-122"/>
                <a:ea typeface="黑体" panose="02010609060101010101" pitchFamily="49" charset="-122"/>
              </a:rPr>
              <a:t>C++, Java </a:t>
            </a:r>
            <a:r>
              <a:rPr lang="zh-CN" altLang="en-US" sz="3200" b="1" dirty="0">
                <a:solidFill>
                  <a:srgbClr val="FF0000"/>
                </a:solidFill>
                <a:latin typeface="黑体" panose="02010609060101010101" pitchFamily="49" charset="-122"/>
                <a:ea typeface="黑体" panose="02010609060101010101" pitchFamily="49" charset="-122"/>
              </a:rPr>
              <a:t>）</a:t>
            </a:r>
            <a:endParaRPr lang="zh-CN" altLang="en-US" sz="32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316"/>
                                        </p:tgtEl>
                                        <p:attrNameLst>
                                          <p:attrName>style.visibility</p:attrName>
                                        </p:attrNameLst>
                                      </p:cBhvr>
                                      <p:to>
                                        <p:strVal val="visible"/>
                                      </p:to>
                                    </p:set>
                                    <p:anim calcmode="lin" valueType="num">
                                      <p:cBhvr additive="base">
                                        <p:cTn id="13" dur="500" fill="hold"/>
                                        <p:tgtEl>
                                          <p:spTgt spid="13316"/>
                                        </p:tgtEl>
                                        <p:attrNameLst>
                                          <p:attrName>ppt_x</p:attrName>
                                        </p:attrNameLst>
                                      </p:cBhvr>
                                      <p:tavLst>
                                        <p:tav tm="0">
                                          <p:val>
                                            <p:strVal val="#ppt_x"/>
                                          </p:val>
                                        </p:tav>
                                        <p:tav tm="100000">
                                          <p:val>
                                            <p:strVal val="#ppt_x"/>
                                          </p:val>
                                        </p:tav>
                                      </p:tavLst>
                                    </p:anim>
                                    <p:anim calcmode="lin" valueType="num">
                                      <p:cBhvr additive="base">
                                        <p:cTn id="14" dur="500" fill="hold"/>
                                        <p:tgtEl>
                                          <p:spTgt spid="133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4"/>
          <p:cNvSpPr>
            <a:spLocks noGrp="1"/>
          </p:cNvSpPr>
          <p:nvPr>
            <p:ph type="title"/>
          </p:nvPr>
        </p:nvSpPr>
        <p:spPr>
          <a:xfrm>
            <a:off x="455613" y="398463"/>
            <a:ext cx="8205787" cy="1141412"/>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面向对象方法的发展历史</a:t>
            </a:r>
            <a:endParaRPr lang="zh-CN" altLang="en-US" b="1" dirty="0">
              <a:latin typeface="微软雅黑" panose="020B0503020204020204" pitchFamily="34" charset="-122"/>
              <a:ea typeface="微软雅黑" panose="020B0503020204020204" pitchFamily="34" charset="-122"/>
            </a:endParaRPr>
          </a:p>
        </p:txBody>
      </p:sp>
      <p:sp>
        <p:nvSpPr>
          <p:cNvPr id="29699" name="Rectangle 3"/>
          <p:cNvSpPr>
            <a:spLocks noGrp="1"/>
          </p:cNvSpPr>
          <p:nvPr>
            <p:ph idx="1"/>
          </p:nvPr>
        </p:nvSpPr>
        <p:spPr>
          <a:xfrm>
            <a:off x="455613" y="1838325"/>
            <a:ext cx="8662987" cy="5248275"/>
          </a:xfrm>
          <a:ln/>
        </p:spPr>
        <p:txBody>
          <a:bodyPr vert="horz" wrap="square" lIns="91221" tIns="45610" rIns="91221" bIns="45610" anchor="t" anchorCtr="0"/>
          <a:p>
            <a:pPr defTabSz="914400" eaLnBrk="1" hangingPunct="1">
              <a:buFont typeface="Wingdings" panose="05000000000000000000" pitchFamily="2" charset="2"/>
              <a:buChar char="p"/>
              <a:tabLst>
                <a:tab pos="457200" algn="l"/>
              </a:tabLst>
            </a:pPr>
            <a:r>
              <a:rPr lang="zh-CN" altLang="en-US" sz="2800" b="1" dirty="0"/>
              <a:t>初始阶段</a:t>
            </a:r>
            <a:endParaRPr lang="zh-CN" altLang="en-US" sz="2800" b="1" dirty="0"/>
          </a:p>
          <a:p>
            <a:pPr lvl="1" defTabSz="914400" eaLnBrk="1" hangingPunct="1">
              <a:buFont typeface="Wingdings" panose="05000000000000000000" pitchFamily="2" charset="2"/>
              <a:buChar char="ü"/>
              <a:tabLst>
                <a:tab pos="457200" algn="l"/>
              </a:tabLst>
            </a:pPr>
            <a:r>
              <a:rPr lang="en-US" altLang="zh-CN" dirty="0">
                <a:solidFill>
                  <a:srgbClr val="000000"/>
                </a:solidFill>
              </a:rPr>
              <a:t>1960</a:t>
            </a:r>
            <a:r>
              <a:rPr lang="zh-CN" altLang="en-US" dirty="0">
                <a:solidFill>
                  <a:srgbClr val="000000"/>
                </a:solidFill>
                <a:latin typeface="华文细黑" panose="02010600040101010101" pitchFamily="2" charset="-122"/>
              </a:rPr>
              <a:t>年代</a:t>
            </a:r>
            <a:r>
              <a:rPr lang="en-US" altLang="zh-CN" dirty="0">
                <a:solidFill>
                  <a:srgbClr val="000000"/>
                </a:solidFill>
              </a:rPr>
              <a:t> : </a:t>
            </a:r>
            <a:r>
              <a:rPr lang="en-US" altLang="zh-CN" i="1" dirty="0">
                <a:solidFill>
                  <a:srgbClr val="000000"/>
                </a:solidFill>
              </a:rPr>
              <a:t>Simula </a:t>
            </a:r>
            <a:r>
              <a:rPr lang="zh-CN" altLang="en-US" dirty="0">
                <a:solidFill>
                  <a:srgbClr val="000000"/>
                </a:solidFill>
              </a:rPr>
              <a:t>编程语言</a:t>
            </a:r>
            <a:endParaRPr lang="zh-CN" altLang="en-US" dirty="0">
              <a:solidFill>
                <a:srgbClr val="000000"/>
              </a:solidFill>
            </a:endParaRPr>
          </a:p>
          <a:p>
            <a:pPr lvl="1" defTabSz="914400" eaLnBrk="1" hangingPunct="1">
              <a:buFont typeface="Wingdings" panose="05000000000000000000" pitchFamily="2" charset="2"/>
              <a:buChar char="ü"/>
              <a:tabLst>
                <a:tab pos="457200" algn="l"/>
              </a:tabLst>
            </a:pPr>
            <a:r>
              <a:rPr lang="en-US" altLang="zh-CN" dirty="0">
                <a:solidFill>
                  <a:srgbClr val="000000"/>
                </a:solidFill>
              </a:rPr>
              <a:t>1970</a:t>
            </a:r>
            <a:r>
              <a:rPr lang="zh-CN" altLang="en-US" dirty="0">
                <a:solidFill>
                  <a:srgbClr val="000000"/>
                </a:solidFill>
              </a:rPr>
              <a:t>年代</a:t>
            </a:r>
            <a:r>
              <a:rPr lang="en-US" altLang="zh-CN" dirty="0">
                <a:solidFill>
                  <a:srgbClr val="000000"/>
                </a:solidFill>
              </a:rPr>
              <a:t>: </a:t>
            </a:r>
            <a:r>
              <a:rPr lang="en-US" altLang="zh-CN" i="1" dirty="0">
                <a:solidFill>
                  <a:srgbClr val="000000"/>
                </a:solidFill>
              </a:rPr>
              <a:t>Smalltalk </a:t>
            </a:r>
            <a:r>
              <a:rPr lang="zh-CN" altLang="en-US" dirty="0">
                <a:solidFill>
                  <a:srgbClr val="000000"/>
                </a:solidFill>
              </a:rPr>
              <a:t>编程语言</a:t>
            </a:r>
            <a:endParaRPr lang="zh-CN" altLang="en-US" dirty="0">
              <a:solidFill>
                <a:srgbClr val="000000"/>
              </a:solidFill>
            </a:endParaRPr>
          </a:p>
          <a:p>
            <a:pPr defTabSz="914400" eaLnBrk="1" hangingPunct="1">
              <a:buFont typeface="Wingdings" panose="05000000000000000000" pitchFamily="2" charset="2"/>
              <a:buChar char="p"/>
              <a:tabLst>
                <a:tab pos="457200" algn="l"/>
              </a:tabLst>
            </a:pPr>
            <a:r>
              <a:rPr lang="zh-CN" altLang="en-US" sz="2800" b="1" dirty="0"/>
              <a:t>发展阶段</a:t>
            </a:r>
            <a:endParaRPr lang="zh-CN" altLang="en-US" sz="2800" b="1" dirty="0"/>
          </a:p>
          <a:p>
            <a:pPr lvl="1" defTabSz="914400" eaLnBrk="1" hangingPunct="1">
              <a:buFont typeface="Wingdings" panose="05000000000000000000" pitchFamily="2" charset="2"/>
              <a:buChar char="ü"/>
              <a:tabLst>
                <a:tab pos="457200" algn="l"/>
              </a:tabLst>
            </a:pPr>
            <a:r>
              <a:rPr lang="en-US" altLang="zh-CN" dirty="0">
                <a:solidFill>
                  <a:srgbClr val="000000"/>
                </a:solidFill>
              </a:rPr>
              <a:t>1980</a:t>
            </a:r>
            <a:r>
              <a:rPr lang="zh-CN" altLang="en-US" dirty="0">
                <a:solidFill>
                  <a:srgbClr val="000000"/>
                </a:solidFill>
              </a:rPr>
              <a:t>年代：</a:t>
            </a:r>
            <a:r>
              <a:rPr lang="en-US" altLang="zh-CN" dirty="0">
                <a:solidFill>
                  <a:srgbClr val="000000"/>
                </a:solidFill>
              </a:rPr>
              <a:t> </a:t>
            </a:r>
            <a:r>
              <a:rPr lang="zh-CN" altLang="en-US" dirty="0">
                <a:solidFill>
                  <a:srgbClr val="000000"/>
                </a:solidFill>
              </a:rPr>
              <a:t>许多 </a:t>
            </a:r>
            <a:r>
              <a:rPr lang="en-US" altLang="zh-CN" dirty="0">
                <a:solidFill>
                  <a:srgbClr val="000000"/>
                </a:solidFill>
              </a:rPr>
              <a:t>OO </a:t>
            </a:r>
            <a:r>
              <a:rPr lang="zh-CN" altLang="en-US" dirty="0">
                <a:solidFill>
                  <a:srgbClr val="000000"/>
                </a:solidFill>
              </a:rPr>
              <a:t>编程语言（如 </a:t>
            </a:r>
            <a:r>
              <a:rPr lang="en-US" altLang="zh-CN" dirty="0">
                <a:solidFill>
                  <a:srgbClr val="000000"/>
                </a:solidFill>
              </a:rPr>
              <a:t>C++, Objective-C </a:t>
            </a:r>
            <a:r>
              <a:rPr lang="zh-CN" altLang="en-US" dirty="0">
                <a:solidFill>
                  <a:srgbClr val="000000"/>
                </a:solidFill>
              </a:rPr>
              <a:t>等）</a:t>
            </a:r>
            <a:endParaRPr lang="zh-CN" altLang="en-US" dirty="0">
              <a:solidFill>
                <a:srgbClr val="000000"/>
              </a:solidFill>
            </a:endParaRPr>
          </a:p>
          <a:p>
            <a:pPr defTabSz="914400" eaLnBrk="1" hangingPunct="1">
              <a:buFont typeface="Wingdings" panose="05000000000000000000" pitchFamily="2" charset="2"/>
              <a:buChar char="p"/>
              <a:tabLst>
                <a:tab pos="457200" algn="l"/>
              </a:tabLst>
            </a:pPr>
            <a:r>
              <a:rPr lang="zh-CN" altLang="en-US" sz="2800" b="1" dirty="0"/>
              <a:t>成熟阶段</a:t>
            </a:r>
            <a:endParaRPr lang="zh-CN" altLang="en-US" sz="2800" b="1" dirty="0"/>
          </a:p>
          <a:p>
            <a:pPr lvl="1" defTabSz="914400" eaLnBrk="1" hangingPunct="1">
              <a:buFont typeface="Wingdings" panose="05000000000000000000" pitchFamily="2" charset="2"/>
              <a:buChar char="ü"/>
              <a:tabLst>
                <a:tab pos="457200" algn="l"/>
              </a:tabLst>
            </a:pPr>
            <a:r>
              <a:rPr lang="en-US" altLang="zh-CN" dirty="0">
                <a:solidFill>
                  <a:srgbClr val="000000"/>
                </a:solidFill>
              </a:rPr>
              <a:t>1990</a:t>
            </a:r>
            <a:r>
              <a:rPr lang="zh-CN" altLang="en-US" dirty="0">
                <a:solidFill>
                  <a:srgbClr val="000000"/>
                </a:solidFill>
                <a:latin typeface="华文细黑" panose="02010600040101010101" pitchFamily="2" charset="-122"/>
              </a:rPr>
              <a:t>年代</a:t>
            </a:r>
            <a:r>
              <a:rPr lang="en-US" altLang="zh-CN" dirty="0">
                <a:solidFill>
                  <a:srgbClr val="000000"/>
                </a:solidFill>
              </a:rPr>
              <a:t>: </a:t>
            </a:r>
            <a:r>
              <a:rPr lang="zh-CN" altLang="en-US" dirty="0">
                <a:solidFill>
                  <a:srgbClr val="000000"/>
                </a:solidFill>
              </a:rPr>
              <a:t>面向对象分析和设计方法（</a:t>
            </a:r>
            <a:r>
              <a:rPr lang="en-US" altLang="zh-CN" i="1" dirty="0">
                <a:solidFill>
                  <a:srgbClr val="000000"/>
                </a:solidFill>
              </a:rPr>
              <a:t>Booch, OMT, OOSE </a:t>
            </a:r>
            <a:r>
              <a:rPr lang="zh-CN" altLang="en-US" dirty="0">
                <a:solidFill>
                  <a:srgbClr val="000000"/>
                </a:solidFill>
              </a:rPr>
              <a:t>等），以及</a:t>
            </a:r>
            <a:r>
              <a:rPr lang="en-US" altLang="zh-CN" dirty="0">
                <a:solidFill>
                  <a:srgbClr val="000000"/>
                </a:solidFill>
              </a:rPr>
              <a:t>java</a:t>
            </a:r>
            <a:r>
              <a:rPr lang="zh-CN" altLang="en-US" dirty="0">
                <a:solidFill>
                  <a:srgbClr val="000000"/>
                </a:solidFill>
              </a:rPr>
              <a:t>语言</a:t>
            </a:r>
            <a:endParaRPr lang="zh-CN" altLang="en-US" dirty="0">
              <a:solidFill>
                <a:srgbClr val="000000"/>
              </a:solidFill>
            </a:endParaRPr>
          </a:p>
          <a:p>
            <a:pPr lvl="1" defTabSz="914400" eaLnBrk="1" hangingPunct="1">
              <a:buFont typeface="Wingdings" panose="05000000000000000000" pitchFamily="2" charset="2"/>
              <a:buChar char="ü"/>
              <a:tabLst>
                <a:tab pos="457200" algn="l"/>
              </a:tabLst>
            </a:pPr>
            <a:r>
              <a:rPr lang="en-US" altLang="zh-CN" dirty="0">
                <a:solidFill>
                  <a:srgbClr val="000000"/>
                </a:solidFill>
              </a:rPr>
              <a:t>1997: UML</a:t>
            </a:r>
            <a:endParaRPr lang="zh-CN" altLang="en-US" dirty="0">
              <a:solidFill>
                <a:srgbClr val="000000"/>
              </a:solidFill>
            </a:endParaRPr>
          </a:p>
          <a:p>
            <a:pPr lvl="1" defTabSz="914400" eaLnBrk="1" hangingPunct="1">
              <a:buFont typeface="Wingdings" panose="05000000000000000000" pitchFamily="2" charset="2"/>
              <a:buChar char="ü"/>
              <a:tabLst>
                <a:tab pos="457200" algn="l"/>
              </a:tabLst>
            </a:pPr>
            <a:r>
              <a:rPr lang="zh-CN" altLang="en-US" dirty="0">
                <a:solidFill>
                  <a:srgbClr val="000000"/>
                </a:solidFill>
              </a:rPr>
              <a:t>逐渐替代了传统的结构化方法</a:t>
            </a:r>
            <a:endParaRPr lang="zh-CN" altLang="en-US" dirty="0">
              <a:solidFill>
                <a:srgbClr val="000000"/>
              </a:solidFill>
            </a:endParaRPr>
          </a:p>
          <a:p>
            <a:pPr lvl="1" defTabSz="914400" eaLnBrk="1" hangingPunct="1">
              <a:buFont typeface="Wingdings 2" panose="05020102010507070707" pitchFamily="18" charset="2"/>
              <a:buChar char=""/>
              <a:tabLst>
                <a:tab pos="457200" algn="l"/>
              </a:tabLst>
            </a:pPr>
            <a:endParaRPr lang="en-US" altLang="zh-CN" dirty="0">
              <a:solidFill>
                <a:srgbClr val="000000"/>
              </a:solidFill>
            </a:endParaRPr>
          </a:p>
        </p:txBody>
      </p:sp>
      <p:sp>
        <p:nvSpPr>
          <p:cNvPr id="29700"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灯片编号占位符 4"/>
          <p:cNvSpPr txBox="1">
            <a:spLocks noGrp="1"/>
          </p:cNvSpPr>
          <p:nvPr>
            <p:ph type="sldNum" sz="quarter" idx="12"/>
          </p:nvPr>
        </p:nvSpPr>
        <p:spPr>
          <a:xfrm>
            <a:off x="2659063" y="6345238"/>
            <a:ext cx="3343275" cy="363537"/>
          </a:xfrm>
          <a:noFill/>
          <a:ln>
            <a:noFill/>
          </a:ln>
        </p:spPr>
        <p:txBody>
          <a:bodyPr lIns="0" tIns="0" rIns="0" bIns="0" anchor="b" anchorCtr="0"/>
          <a:p>
            <a:pPr marL="0" indent="0"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30723" name="Rectangle 2"/>
          <p:cNvSpPr>
            <a:spLocks noGrp="1"/>
          </p:cNvSpPr>
          <p:nvPr>
            <p:ph type="title"/>
          </p:nvPr>
        </p:nvSpPr>
        <p:spPr>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什么是</a:t>
            </a:r>
            <a:r>
              <a:rPr lang="en-US" altLang="zh-CN" b="1" dirty="0">
                <a:latin typeface="微软雅黑" panose="020B0503020204020204" pitchFamily="34" charset="-122"/>
                <a:ea typeface="微软雅黑" panose="020B0503020204020204" pitchFamily="34" charset="-122"/>
              </a:rPr>
              <a:t>UML</a:t>
            </a:r>
            <a:endParaRPr lang="en-US" altLang="zh-CN" b="1" dirty="0">
              <a:latin typeface="微软雅黑" panose="020B0503020204020204" pitchFamily="34" charset="-122"/>
              <a:ea typeface="微软雅黑" panose="020B0503020204020204" pitchFamily="34" charset="-122"/>
            </a:endParaRPr>
          </a:p>
        </p:txBody>
      </p:sp>
      <p:sp>
        <p:nvSpPr>
          <p:cNvPr id="30724" name="Rectangle 3"/>
          <p:cNvSpPr>
            <a:spLocks noGrp="1"/>
          </p:cNvSpPr>
          <p:nvPr>
            <p:ph idx="1"/>
          </p:nvPr>
        </p:nvSpPr>
        <p:spPr>
          <a:xfrm>
            <a:off x="455613" y="2054225"/>
            <a:ext cx="8662987" cy="4105275"/>
          </a:xfrm>
          <a:ln/>
        </p:spPr>
        <p:txBody>
          <a:bodyPr vert="horz" wrap="square" lIns="91221" tIns="45610" rIns="91221" bIns="45610" anchor="t" anchorCtr="0"/>
          <a:p>
            <a:pPr defTabSz="914400" eaLnBrk="1" hangingPunct="1">
              <a:lnSpc>
                <a:spcPct val="90000"/>
              </a:lnSpc>
              <a:buFont typeface="Wingdings" panose="05000000000000000000" pitchFamily="2" charset="2"/>
              <a:buChar char="p"/>
              <a:tabLst>
                <a:tab pos="457200" algn="l"/>
              </a:tabLst>
            </a:pPr>
            <a:r>
              <a:rPr lang="en-US" altLang="zh-CN" sz="3300" b="1" dirty="0"/>
              <a:t>UML</a:t>
            </a:r>
            <a:r>
              <a:rPr lang="zh-CN" altLang="en-US" sz="3300" b="1" dirty="0"/>
              <a:t>（ </a:t>
            </a:r>
            <a:r>
              <a:rPr lang="en-US" altLang="zh-CN" sz="3300" b="1" dirty="0"/>
              <a:t>Unified Modeling Language </a:t>
            </a:r>
            <a:r>
              <a:rPr lang="zh-CN" altLang="en-US" sz="3300" b="1" dirty="0"/>
              <a:t>）</a:t>
            </a:r>
            <a:endParaRPr lang="zh-CN" altLang="en-US" sz="3300" b="1" dirty="0"/>
          </a:p>
          <a:p>
            <a:pPr lvl="1" defTabSz="914400">
              <a:lnSpc>
                <a:spcPct val="90000"/>
              </a:lnSpc>
              <a:buFont typeface="Wingdings" panose="05000000000000000000" pitchFamily="2" charset="2"/>
              <a:buChar char="ü"/>
              <a:tabLst>
                <a:tab pos="457200" algn="l"/>
              </a:tabLst>
            </a:pPr>
            <a:r>
              <a:rPr lang="zh-CN" altLang="en-US" dirty="0">
                <a:solidFill>
                  <a:srgbClr val="000000"/>
                </a:solidFill>
              </a:rPr>
              <a:t>是一种面向对象的软件系统的通用可视化建模语言</a:t>
            </a:r>
            <a:endParaRPr lang="zh-CN" altLang="en-US" dirty="0">
              <a:solidFill>
                <a:srgbClr val="000000"/>
              </a:solidFill>
            </a:endParaRPr>
          </a:p>
          <a:p>
            <a:pPr lvl="1" defTabSz="914400">
              <a:lnSpc>
                <a:spcPct val="90000"/>
              </a:lnSpc>
              <a:buFont typeface="Wingdings" panose="05000000000000000000" pitchFamily="2" charset="2"/>
              <a:buChar char="ü"/>
              <a:tabLst>
                <a:tab pos="457200" algn="l"/>
              </a:tabLst>
            </a:pPr>
            <a:r>
              <a:rPr lang="zh-CN" altLang="en-US" dirty="0">
                <a:solidFill>
                  <a:srgbClr val="000000"/>
                </a:solidFill>
              </a:rPr>
              <a:t>不是一种可视化的</a:t>
            </a:r>
            <a:r>
              <a:rPr lang="zh-CN" altLang="en-US" u="sng" dirty="0">
                <a:solidFill>
                  <a:srgbClr val="000000"/>
                </a:solidFill>
              </a:rPr>
              <a:t>程序设计语</a:t>
            </a:r>
            <a:r>
              <a:rPr lang="zh-CN" altLang="en-US" dirty="0">
                <a:solidFill>
                  <a:srgbClr val="000000"/>
                </a:solidFill>
              </a:rPr>
              <a:t>言，而是</a:t>
            </a:r>
            <a:r>
              <a:rPr lang="zh-CN" altLang="en-US" dirty="0">
                <a:solidFill>
                  <a:srgbClr val="FF3300"/>
                </a:solidFill>
              </a:rPr>
              <a:t>一种</a:t>
            </a:r>
            <a:r>
              <a:rPr lang="zh-CN" altLang="en-US" b="1" u="sng" dirty="0">
                <a:solidFill>
                  <a:srgbClr val="FF0000"/>
                </a:solidFill>
              </a:rPr>
              <a:t>可视化</a:t>
            </a:r>
            <a:r>
              <a:rPr lang="zh-CN" altLang="en-US" u="sng" dirty="0">
                <a:solidFill>
                  <a:srgbClr val="FF3300"/>
                </a:solidFill>
              </a:rPr>
              <a:t>的建模语言</a:t>
            </a:r>
            <a:endParaRPr lang="zh-CN" altLang="en-US" u="sng" dirty="0">
              <a:solidFill>
                <a:srgbClr val="FF3300"/>
              </a:solidFill>
            </a:endParaRPr>
          </a:p>
          <a:p>
            <a:pPr lvl="1" defTabSz="914400">
              <a:lnSpc>
                <a:spcPct val="90000"/>
              </a:lnSpc>
              <a:buFont typeface="Wingdings" panose="05000000000000000000" pitchFamily="2" charset="2"/>
              <a:buChar char="ü"/>
              <a:tabLst>
                <a:tab pos="457200" algn="l"/>
              </a:tabLst>
            </a:pPr>
            <a:r>
              <a:rPr lang="zh-CN" altLang="en-US" dirty="0">
                <a:solidFill>
                  <a:srgbClr val="000000"/>
                </a:solidFill>
              </a:rPr>
              <a:t>不是过程，也不是方法，但允许任何一种过程和方法使用</a:t>
            </a:r>
            <a:endParaRPr lang="zh-CN" altLang="en-US" dirty="0">
              <a:solidFill>
                <a:srgbClr val="000000"/>
              </a:solidFill>
            </a:endParaRPr>
          </a:p>
        </p:txBody>
      </p:sp>
      <p:sp>
        <p:nvSpPr>
          <p:cNvPr id="30725" name="矩形 4"/>
          <p:cNvSpPr/>
          <p:nvPr/>
        </p:nvSpPr>
        <p:spPr>
          <a:xfrm>
            <a:off x="814388" y="5006975"/>
            <a:ext cx="7705725" cy="830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2400" b="1" dirty="0">
                <a:solidFill>
                  <a:srgbClr val="FF0000"/>
                </a:solidFill>
                <a:latin typeface="黑体" panose="02010609060101010101" pitchFamily="49" charset="-122"/>
                <a:ea typeface="黑体" panose="02010609060101010101" pitchFamily="49" charset="-122"/>
              </a:rPr>
              <a:t>可视化</a:t>
            </a:r>
            <a:r>
              <a:rPr lang="zh-CN" altLang="en-US" sz="2400" b="1" dirty="0">
                <a:solidFill>
                  <a:srgbClr val="000000"/>
                </a:solidFill>
                <a:latin typeface="黑体" panose="02010609060101010101" pitchFamily="49" charset="-122"/>
                <a:ea typeface="黑体" panose="02010609060101010101" pitchFamily="49" charset="-122"/>
              </a:rPr>
              <a:t>：</a:t>
            </a:r>
            <a:r>
              <a:rPr lang="en-US" altLang="zh-CN" sz="2400" b="1" dirty="0">
                <a:solidFill>
                  <a:srgbClr val="000000"/>
                </a:solidFill>
                <a:latin typeface="黑体" panose="02010609060101010101" pitchFamily="49" charset="-122"/>
                <a:ea typeface="黑体" panose="02010609060101010101" pitchFamily="49" charset="-122"/>
              </a:rPr>
              <a:t>UML </a:t>
            </a:r>
            <a:r>
              <a:rPr lang="zh-CN" altLang="en-US" sz="2400" b="1" dirty="0">
                <a:solidFill>
                  <a:srgbClr val="000000"/>
                </a:solidFill>
                <a:latin typeface="黑体" panose="02010609060101010101" pitchFamily="49" charset="-122"/>
                <a:ea typeface="黑体" panose="02010609060101010101" pitchFamily="49" charset="-122"/>
              </a:rPr>
              <a:t>提供一组具有明确语义的</a:t>
            </a:r>
            <a:r>
              <a:rPr lang="zh-CN" altLang="en-US" sz="2400" b="1" dirty="0">
                <a:solidFill>
                  <a:srgbClr val="FF0000"/>
                </a:solidFill>
                <a:latin typeface="黑体" panose="02010609060101010101" pitchFamily="49" charset="-122"/>
                <a:ea typeface="黑体" panose="02010609060101010101" pitchFamily="49" charset="-122"/>
              </a:rPr>
              <a:t>图形符号</a:t>
            </a:r>
            <a:r>
              <a:rPr lang="zh-CN" altLang="en-US" sz="2400" b="1" dirty="0">
                <a:solidFill>
                  <a:srgbClr val="000000"/>
                </a:solidFill>
                <a:latin typeface="黑体" panose="02010609060101010101" pitchFamily="49" charset="-122"/>
                <a:ea typeface="黑体" panose="02010609060101010101" pitchFamily="49" charset="-122"/>
              </a:rPr>
              <a:t>，来建立清晰的模型以便于交流</a:t>
            </a:r>
            <a:endParaRPr lang="zh-CN" altLang="en-US" sz="2400" b="1" dirty="0">
              <a:latin typeface="黑体" panose="02010609060101010101" pitchFamily="49" charset="-122"/>
              <a:ea typeface="黑体" panose="02010609060101010101"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灯片编号占位符 4"/>
          <p:cNvSpPr txBox="1">
            <a:spLocks noGrp="1"/>
          </p:cNvSpPr>
          <p:nvPr>
            <p:ph type="sldNum" sz="quarter" idx="12"/>
          </p:nvPr>
        </p:nvSpPr>
        <p:spPr>
          <a:xfrm>
            <a:off x="2659063" y="6345238"/>
            <a:ext cx="3343275" cy="363537"/>
          </a:xfrm>
          <a:noFill/>
          <a:ln>
            <a:noFill/>
          </a:ln>
        </p:spPr>
        <p:txBody>
          <a:bodyPr lIns="0" tIns="0" rIns="0" bIns="0" anchor="b" anchorCtr="0"/>
          <a:p>
            <a:pPr marL="0" indent="0"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31747" name="Rectangle 2"/>
          <p:cNvSpPr>
            <a:spLocks noGrp="1"/>
          </p:cNvSpPr>
          <p:nvPr>
            <p:ph type="title"/>
          </p:nvPr>
        </p:nvSpPr>
        <p:spPr>
          <a:xfrm>
            <a:off x="455613" y="0"/>
            <a:ext cx="8207375" cy="1139825"/>
          </a:xfrm>
          <a:ln/>
        </p:spPr>
        <p:txBody>
          <a:bodyPr vert="horz" wrap="square" lIns="0" tIns="45610" rIns="0" bIns="0" anchor="b" anchorCtr="0"/>
          <a:p>
            <a:pPr>
              <a:lnSpc>
                <a:spcPts val="4000"/>
              </a:lnSpc>
            </a:pPr>
            <a:r>
              <a:rPr lang="en-US" altLang="zh-CN" b="1" dirty="0">
                <a:latin typeface="微软雅黑" panose="020B0503020204020204" pitchFamily="34" charset="-122"/>
                <a:ea typeface="微软雅黑" panose="020B0503020204020204" pitchFamily="34" charset="-122"/>
              </a:rPr>
              <a:t>UML</a:t>
            </a:r>
            <a:r>
              <a:rPr lang="zh-CN" altLang="en-US" b="1" dirty="0">
                <a:latin typeface="微软雅黑" panose="020B0503020204020204" pitchFamily="34" charset="-122"/>
                <a:ea typeface="微软雅黑" panose="020B0503020204020204" pitchFamily="34" charset="-122"/>
              </a:rPr>
              <a:t>五种视图</a:t>
            </a:r>
            <a:endParaRPr lang="zh-CN" altLang="zh-CN" b="1" dirty="0">
              <a:latin typeface="微软雅黑" panose="020B0503020204020204" pitchFamily="34" charset="-122"/>
              <a:ea typeface="微软雅黑" panose="020B0503020204020204" pitchFamily="34" charset="-122"/>
            </a:endParaRPr>
          </a:p>
        </p:txBody>
      </p:sp>
      <p:grpSp>
        <p:nvGrpSpPr>
          <p:cNvPr id="31748" name="Group 4"/>
          <p:cNvGrpSpPr/>
          <p:nvPr/>
        </p:nvGrpSpPr>
        <p:grpSpPr>
          <a:xfrm>
            <a:off x="3097213" y="2730500"/>
            <a:ext cx="3644900" cy="1806575"/>
            <a:chOff x="1720" y="1718"/>
            <a:chExt cx="2296" cy="1047"/>
          </a:xfrm>
        </p:grpSpPr>
        <p:sp>
          <p:nvSpPr>
            <p:cNvPr id="31757" name="Rectangle 5"/>
            <p:cNvSpPr/>
            <p:nvPr/>
          </p:nvSpPr>
          <p:spPr>
            <a:xfrm>
              <a:off x="1720" y="1718"/>
              <a:ext cx="784" cy="333"/>
            </a:xfrm>
            <a:prstGeom prst="rect">
              <a:avLst/>
            </a:prstGeom>
            <a:solidFill>
              <a:srgbClr val="FFFF00"/>
            </a:solidFill>
            <a:ln w="9525" cap="flat" cmpd="sng">
              <a:solidFill>
                <a:srgbClr val="BA8900"/>
              </a:solidFill>
              <a:prstDash val="solid"/>
              <a:miter/>
              <a:headEnd type="none" w="med" len="med"/>
              <a:tailEnd type="none" w="med" len="med"/>
            </a:ln>
            <a:effectLst>
              <a:outerShdw dist="53882" dir="2699999" algn="ctr" rotWithShape="0">
                <a:schemeClr val="bg2"/>
              </a:outerShdw>
            </a:effectLst>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2000" b="1" dirty="0">
                  <a:latin typeface="Times New Roman" panose="02020603050405020304" pitchFamily="18" charset="0"/>
                </a:rPr>
                <a:t>设计视图</a:t>
              </a:r>
              <a:endParaRPr lang="zh-CN" altLang="en-US" sz="2000" b="1" dirty="0">
                <a:latin typeface="Times New Roman" panose="02020603050405020304" pitchFamily="18" charset="0"/>
              </a:endParaRPr>
            </a:p>
          </p:txBody>
        </p:sp>
        <p:sp>
          <p:nvSpPr>
            <p:cNvPr id="31758" name="Rectangle 6"/>
            <p:cNvSpPr/>
            <p:nvPr/>
          </p:nvSpPr>
          <p:spPr>
            <a:xfrm>
              <a:off x="3232" y="1718"/>
              <a:ext cx="784" cy="333"/>
            </a:xfrm>
            <a:prstGeom prst="rect">
              <a:avLst/>
            </a:prstGeom>
            <a:solidFill>
              <a:srgbClr val="FFFF00"/>
            </a:solidFill>
            <a:ln w="9525" cap="flat" cmpd="sng">
              <a:solidFill>
                <a:srgbClr val="BA8900"/>
              </a:solidFill>
              <a:prstDash val="solid"/>
              <a:miter/>
              <a:headEnd type="none" w="med" len="med"/>
              <a:tailEnd type="none" w="med" len="med"/>
            </a:ln>
            <a:effectLst>
              <a:outerShdw dist="53882" dir="2699999" algn="ctr" rotWithShape="0">
                <a:schemeClr val="bg2"/>
              </a:outerShdw>
            </a:effectLst>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2000" b="1" dirty="0">
                  <a:latin typeface="Times New Roman" panose="02020603050405020304" pitchFamily="18" charset="0"/>
                </a:rPr>
                <a:t>实现视图</a:t>
              </a:r>
              <a:endParaRPr lang="zh-CN" altLang="en-US" sz="2000" b="1" dirty="0">
                <a:latin typeface="Times New Roman" panose="02020603050405020304" pitchFamily="18" charset="0"/>
              </a:endParaRPr>
            </a:p>
          </p:txBody>
        </p:sp>
        <p:sp>
          <p:nvSpPr>
            <p:cNvPr id="31759" name="Rectangle 7"/>
            <p:cNvSpPr/>
            <p:nvPr/>
          </p:nvSpPr>
          <p:spPr>
            <a:xfrm>
              <a:off x="3232" y="2432"/>
              <a:ext cx="784" cy="333"/>
            </a:xfrm>
            <a:prstGeom prst="rect">
              <a:avLst/>
            </a:prstGeom>
            <a:solidFill>
              <a:srgbClr val="FFFF00"/>
            </a:solidFill>
            <a:ln w="9525" cap="flat" cmpd="sng">
              <a:solidFill>
                <a:srgbClr val="BA8900"/>
              </a:solidFill>
              <a:prstDash val="solid"/>
              <a:miter/>
              <a:headEnd type="none" w="med" len="med"/>
              <a:tailEnd type="none" w="med" len="med"/>
            </a:ln>
            <a:effectLst>
              <a:outerShdw dist="53882" dir="2699999" algn="ctr" rotWithShape="0">
                <a:schemeClr val="bg2"/>
              </a:outerShdw>
            </a:effectLst>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2000" b="1" dirty="0">
                  <a:latin typeface="Times New Roman" panose="02020603050405020304" pitchFamily="18" charset="0"/>
                </a:rPr>
                <a:t>配置视图</a:t>
              </a:r>
              <a:endParaRPr lang="zh-CN" altLang="en-US" sz="2000" b="1" dirty="0">
                <a:latin typeface="Times New Roman" panose="02020603050405020304" pitchFamily="18" charset="0"/>
              </a:endParaRPr>
            </a:p>
          </p:txBody>
        </p:sp>
        <p:sp>
          <p:nvSpPr>
            <p:cNvPr id="31760" name="Rectangle 8"/>
            <p:cNvSpPr/>
            <p:nvPr/>
          </p:nvSpPr>
          <p:spPr>
            <a:xfrm>
              <a:off x="1720" y="2432"/>
              <a:ext cx="784" cy="333"/>
            </a:xfrm>
            <a:prstGeom prst="rect">
              <a:avLst/>
            </a:prstGeom>
            <a:solidFill>
              <a:srgbClr val="FFFF00"/>
            </a:solidFill>
            <a:ln w="9525" cap="flat" cmpd="sng">
              <a:solidFill>
                <a:srgbClr val="BA8900"/>
              </a:solidFill>
              <a:prstDash val="solid"/>
              <a:miter/>
              <a:headEnd type="none" w="med" len="med"/>
              <a:tailEnd type="none" w="med" len="med"/>
            </a:ln>
            <a:effectLst>
              <a:outerShdw dist="53882" dir="2699999" algn="ctr" rotWithShape="0">
                <a:schemeClr val="bg2"/>
              </a:outerShdw>
            </a:effectLst>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2000" b="1" dirty="0">
                  <a:latin typeface="Times New Roman" panose="02020603050405020304" pitchFamily="18" charset="0"/>
                </a:rPr>
                <a:t>进程视图</a:t>
              </a:r>
              <a:endParaRPr lang="zh-CN" altLang="en-US" sz="2000" b="1" dirty="0">
                <a:latin typeface="Times New Roman" panose="02020603050405020304" pitchFamily="18" charset="0"/>
              </a:endParaRPr>
            </a:p>
          </p:txBody>
        </p:sp>
        <p:sp>
          <p:nvSpPr>
            <p:cNvPr id="31761" name="Oval 9"/>
            <p:cNvSpPr/>
            <p:nvPr/>
          </p:nvSpPr>
          <p:spPr>
            <a:xfrm>
              <a:off x="2309" y="1868"/>
              <a:ext cx="1112" cy="622"/>
            </a:xfrm>
            <a:prstGeom prst="ellipse">
              <a:avLst/>
            </a:prstGeom>
            <a:solidFill>
              <a:srgbClr val="FFFF99"/>
            </a:solidFill>
            <a:ln w="9525" cap="flat" cmpd="sng">
              <a:solidFill>
                <a:srgbClr val="BA8900"/>
              </a:solidFill>
              <a:prstDash val="solid"/>
              <a:headEnd type="none" w="med" len="med"/>
              <a:tailEnd type="none" w="med" len="med"/>
            </a:ln>
            <a:effectLst>
              <a:outerShdw dist="53882" dir="2699999" algn="ctr" rotWithShape="0">
                <a:schemeClr val="bg2"/>
              </a:outerShdw>
            </a:effectLst>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2000" b="1" dirty="0">
                  <a:latin typeface="Times New Roman" panose="02020603050405020304" pitchFamily="18" charset="0"/>
                </a:rPr>
                <a:t>Use case</a:t>
              </a:r>
              <a:endParaRPr lang="en-US" altLang="zh-CN" sz="2000" b="1" dirty="0">
                <a:latin typeface="Times New Roman" panose="02020603050405020304" pitchFamily="18" charset="0"/>
              </a:endParaRPr>
            </a:p>
            <a:p>
              <a:pPr marL="0" lvl="0" indent="0" algn="ctr" eaLnBrk="1" hangingPunct="1">
                <a:spcBef>
                  <a:spcPct val="0"/>
                </a:spcBef>
                <a:buClrTx/>
                <a:buSzTx/>
                <a:buFontTx/>
                <a:buNone/>
              </a:pPr>
              <a:r>
                <a:rPr lang="zh-CN" altLang="en-US" sz="2000" b="1" dirty="0">
                  <a:latin typeface="Times New Roman" panose="02020603050405020304" pitchFamily="18" charset="0"/>
                </a:rPr>
                <a:t>视图</a:t>
              </a:r>
              <a:endParaRPr lang="zh-CN" altLang="en-US" sz="2000" b="1" dirty="0">
                <a:latin typeface="Times New Roman" panose="02020603050405020304" pitchFamily="18" charset="0"/>
              </a:endParaRPr>
            </a:p>
          </p:txBody>
        </p:sp>
      </p:grpSp>
      <p:sp>
        <p:nvSpPr>
          <p:cNvPr id="36869" name="AutoShape 10"/>
          <p:cNvSpPr/>
          <p:nvPr/>
        </p:nvSpPr>
        <p:spPr>
          <a:xfrm>
            <a:off x="3859213" y="1404938"/>
            <a:ext cx="2749550" cy="782637"/>
          </a:xfrm>
          <a:prstGeom prst="wedgeRectCallout">
            <a:avLst>
              <a:gd name="adj1" fmla="val -13241"/>
              <a:gd name="adj2" fmla="val 157620"/>
            </a:avLst>
          </a:prstGeom>
          <a:solidFill>
            <a:srgbClr val="CCECFF"/>
          </a:solidFill>
          <a:ln w="9525" cap="flat" cmpd="sng">
            <a:solidFill>
              <a:schemeClr val="bg2"/>
            </a:solidFill>
            <a:prstDash val="solid"/>
            <a:miter/>
            <a:headEnd type="none" w="med" len="med"/>
            <a:tailEnd type="none" w="med" len="med"/>
          </a:ln>
          <a:effectLst>
            <a:outerShdw dist="35921" dir="2699999" algn="ctr" rotWithShape="0">
              <a:schemeClr val="bg2"/>
            </a:outerShdw>
          </a:effectLst>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zh-CN" altLang="en-US" sz="2400" b="1" dirty="0">
                <a:latin typeface="Times New Roman" panose="02020603050405020304" pitchFamily="18" charset="0"/>
                <a:ea typeface="楷体_GB2312" pitchFamily="49" charset="-122"/>
              </a:rPr>
              <a:t>描述系统的外部特性、系统功能等</a:t>
            </a:r>
            <a:endParaRPr lang="zh-CN" altLang="en-US" sz="2400" b="1" dirty="0">
              <a:latin typeface="Times New Roman" panose="02020603050405020304" pitchFamily="18" charset="0"/>
              <a:ea typeface="楷体_GB2312" pitchFamily="49" charset="-122"/>
            </a:endParaRPr>
          </a:p>
        </p:txBody>
      </p:sp>
      <p:sp>
        <p:nvSpPr>
          <p:cNvPr id="207883" name="AutoShape 11"/>
          <p:cNvSpPr/>
          <p:nvPr/>
        </p:nvSpPr>
        <p:spPr>
          <a:xfrm>
            <a:off x="6913563" y="2125663"/>
            <a:ext cx="2109787" cy="827087"/>
          </a:xfrm>
          <a:prstGeom prst="wedgeRectCallout">
            <a:avLst>
              <a:gd name="adj1" fmla="val -56727"/>
              <a:gd name="adj2" fmla="val 66454"/>
            </a:avLst>
          </a:prstGeom>
          <a:solidFill>
            <a:srgbClr val="CCECFF"/>
          </a:solidFill>
          <a:ln w="9525" cap="flat" cmpd="sng">
            <a:solidFill>
              <a:schemeClr val="bg2"/>
            </a:solidFill>
            <a:prstDash val="solid"/>
            <a:miter/>
            <a:headEnd type="none" w="med" len="med"/>
            <a:tailEnd type="none" w="med" len="med"/>
          </a:ln>
          <a:effectLst>
            <a:outerShdw dist="35921" dir="2699999" algn="ctr" rotWithShape="0">
              <a:schemeClr val="bg2"/>
            </a:outerShdw>
          </a:effectLst>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lnSpc>
                <a:spcPct val="110000"/>
              </a:lnSpc>
              <a:spcBef>
                <a:spcPct val="40000"/>
              </a:spcBef>
              <a:buClrTx/>
              <a:buSzTx/>
              <a:buFontTx/>
              <a:buNone/>
            </a:pPr>
            <a:r>
              <a:rPr lang="zh-CN" altLang="en-US" sz="2400" b="1" dirty="0">
                <a:latin typeface="Times New Roman" panose="02020603050405020304" pitchFamily="18" charset="0"/>
                <a:ea typeface="楷体_GB2312" pitchFamily="49" charset="-122"/>
              </a:rPr>
              <a:t>描述系统的实现特征</a:t>
            </a:r>
            <a:endParaRPr lang="zh-CN" altLang="en-US" sz="2400" b="1" dirty="0">
              <a:latin typeface="Times New Roman" panose="02020603050405020304" pitchFamily="18" charset="0"/>
            </a:endParaRPr>
          </a:p>
        </p:txBody>
      </p:sp>
      <p:sp>
        <p:nvSpPr>
          <p:cNvPr id="207884" name="AutoShape 12"/>
          <p:cNvSpPr/>
          <p:nvPr/>
        </p:nvSpPr>
        <p:spPr>
          <a:xfrm>
            <a:off x="142875" y="2052638"/>
            <a:ext cx="2346325" cy="1657350"/>
          </a:xfrm>
          <a:prstGeom prst="wedgeRectCallout">
            <a:avLst>
              <a:gd name="adj1" fmla="val 76338"/>
              <a:gd name="adj2" fmla="val 16074"/>
            </a:avLst>
          </a:prstGeom>
          <a:solidFill>
            <a:srgbClr val="CCECFF"/>
          </a:solidFill>
          <a:ln w="9525" cap="flat" cmpd="sng">
            <a:solidFill>
              <a:schemeClr val="bg2"/>
            </a:solidFill>
            <a:prstDash val="solid"/>
            <a:miter/>
            <a:headEnd type="none" w="med" len="med"/>
            <a:tailEnd type="none" w="med" len="med"/>
          </a:ln>
          <a:effectLst>
            <a:outerShdw dist="35921" dir="2699999" algn="ctr" rotWithShape="0">
              <a:schemeClr val="bg2"/>
            </a:outerShdw>
          </a:effectLst>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zh-CN" altLang="en-US" sz="2400" b="1" dirty="0">
                <a:latin typeface="楷体_GB2312" pitchFamily="49" charset="-122"/>
                <a:ea typeface="楷体_GB2312" pitchFamily="49" charset="-122"/>
              </a:rPr>
              <a:t>描述系统设计特征，包括结构模型视图和行为模型视图</a:t>
            </a:r>
            <a:endParaRPr lang="zh-CN" altLang="en-US" sz="2400" b="1" dirty="0">
              <a:latin typeface="楷体_GB2312" pitchFamily="49" charset="-122"/>
              <a:ea typeface="楷体_GB2312" pitchFamily="49" charset="-122"/>
            </a:endParaRPr>
          </a:p>
        </p:txBody>
      </p:sp>
      <p:sp>
        <p:nvSpPr>
          <p:cNvPr id="207885" name="AutoShape 13"/>
          <p:cNvSpPr/>
          <p:nvPr/>
        </p:nvSpPr>
        <p:spPr>
          <a:xfrm>
            <a:off x="714375" y="5324475"/>
            <a:ext cx="2332038" cy="977900"/>
          </a:xfrm>
          <a:prstGeom prst="wedgeRectCallout">
            <a:avLst>
              <a:gd name="adj1" fmla="val 59074"/>
              <a:gd name="adj2" fmla="val -136759"/>
            </a:avLst>
          </a:prstGeom>
          <a:solidFill>
            <a:srgbClr val="CCECFF"/>
          </a:solidFill>
          <a:ln w="9525" cap="flat" cmpd="sng">
            <a:solidFill>
              <a:schemeClr val="bg2"/>
            </a:solidFill>
            <a:prstDash val="solid"/>
            <a:miter/>
            <a:headEnd type="none" w="med" len="med"/>
            <a:tailEnd type="none" w="med" len="med"/>
          </a:ln>
          <a:effectLst>
            <a:outerShdw dist="35921" dir="2699999" algn="ctr" rotWithShape="0">
              <a:schemeClr val="bg2"/>
            </a:outerShdw>
          </a:effectLst>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lnSpc>
                <a:spcPct val="110000"/>
              </a:lnSpc>
              <a:spcBef>
                <a:spcPct val="40000"/>
              </a:spcBef>
              <a:buClrTx/>
              <a:buSzTx/>
              <a:buFontTx/>
              <a:buNone/>
            </a:pPr>
            <a:r>
              <a:rPr lang="zh-CN" altLang="en-US" sz="2400" b="1" dirty="0">
                <a:solidFill>
                  <a:schemeClr val="tx2"/>
                </a:solidFill>
                <a:latin typeface="Times New Roman" panose="02020603050405020304" pitchFamily="18" charset="0"/>
                <a:ea typeface="楷体_GB2312" pitchFamily="49" charset="-122"/>
              </a:rPr>
              <a:t>描述系统内部的控制机制</a:t>
            </a:r>
            <a:endParaRPr lang="zh-CN" altLang="en-US" sz="2400" b="1" dirty="0">
              <a:solidFill>
                <a:schemeClr val="tx2"/>
              </a:solidFill>
              <a:latin typeface="Times New Roman" panose="02020603050405020304" pitchFamily="18" charset="0"/>
              <a:ea typeface="楷体_GB2312" pitchFamily="49" charset="-122"/>
            </a:endParaRPr>
          </a:p>
        </p:txBody>
      </p:sp>
      <p:sp>
        <p:nvSpPr>
          <p:cNvPr id="207886" name="AutoShape 14"/>
          <p:cNvSpPr/>
          <p:nvPr/>
        </p:nvSpPr>
        <p:spPr>
          <a:xfrm flipH="1">
            <a:off x="5757863" y="5006975"/>
            <a:ext cx="2616200" cy="790575"/>
          </a:xfrm>
          <a:prstGeom prst="wedgeRectCallout">
            <a:avLst>
              <a:gd name="adj1" fmla="val 35134"/>
              <a:gd name="adj2" fmla="val -110486"/>
            </a:avLst>
          </a:prstGeom>
          <a:solidFill>
            <a:srgbClr val="CCECFF"/>
          </a:solidFill>
          <a:ln w="9525" cap="flat" cmpd="sng">
            <a:solidFill>
              <a:schemeClr val="bg2"/>
            </a:solidFill>
            <a:prstDash val="solid"/>
            <a:miter/>
            <a:headEnd type="none" w="med" len="med"/>
            <a:tailEnd type="none" w="med" len="med"/>
          </a:ln>
          <a:effectLst>
            <a:outerShdw dist="35921" dir="2699999" algn="ctr" rotWithShape="0">
              <a:schemeClr val="bg2"/>
            </a:outerShdw>
          </a:effectLst>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lnSpc>
                <a:spcPct val="110000"/>
              </a:lnSpc>
              <a:spcBef>
                <a:spcPct val="40000"/>
              </a:spcBef>
              <a:buClrTx/>
              <a:buSzTx/>
              <a:buFontTx/>
              <a:buNone/>
            </a:pPr>
            <a:r>
              <a:rPr lang="zh-CN" altLang="en-US" sz="2400" b="1" dirty="0">
                <a:solidFill>
                  <a:schemeClr val="tx2"/>
                </a:solidFill>
                <a:latin typeface="Times New Roman" panose="02020603050405020304" pitchFamily="18" charset="0"/>
                <a:ea typeface="楷体_GB2312" pitchFamily="49" charset="-122"/>
              </a:rPr>
              <a:t>描述系统的物理配置特征</a:t>
            </a:r>
            <a:endParaRPr lang="zh-CN" altLang="en-US" sz="2800" b="1" dirty="0">
              <a:solidFill>
                <a:schemeClr val="tx2"/>
              </a:solidFill>
              <a:latin typeface="Times New Roman" panose="02020603050405020304" pitchFamily="18" charset="0"/>
              <a:ea typeface="楷体_GB2312" pitchFamily="49" charset="-122"/>
            </a:endParaRPr>
          </a:p>
        </p:txBody>
      </p:sp>
      <p:sp>
        <p:nvSpPr>
          <p:cNvPr id="31754" name="Oval 16">
            <a:hlinkClick r:id="" action="ppaction://hlinkshowjump?jump=previousslide"/>
          </p:cNvPr>
          <p:cNvSpPr/>
          <p:nvPr/>
        </p:nvSpPr>
        <p:spPr>
          <a:xfrm>
            <a:off x="6572250" y="6581775"/>
            <a:ext cx="762000" cy="381000"/>
          </a:xfrm>
          <a:prstGeom prst="ellipse">
            <a:avLst/>
          </a:prstGeom>
          <a:noFill/>
          <a:ln w="28575">
            <a:noFill/>
          </a:ln>
          <a:effectLst>
            <a:outerShdw dist="35921" dir="2699999" algn="ctr" rotWithShape="0">
              <a:schemeClr val="bg2"/>
            </a:outerShdw>
          </a:effectLst>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31755" name="Oval 17">
            <a:hlinkClick r:id="" action="ppaction://hlinkshowjump?jump=nextslide"/>
          </p:cNvPr>
          <p:cNvSpPr/>
          <p:nvPr/>
        </p:nvSpPr>
        <p:spPr>
          <a:xfrm>
            <a:off x="7461250" y="6581775"/>
            <a:ext cx="762000" cy="381000"/>
          </a:xfrm>
          <a:prstGeom prst="ellipse">
            <a:avLst/>
          </a:prstGeom>
          <a:noFill/>
          <a:ln w="28575">
            <a:noFill/>
          </a:ln>
          <a:effectLst>
            <a:outerShdw dist="35921" dir="2699999" algn="ctr" rotWithShape="0">
              <a:schemeClr val="bg2"/>
            </a:outerShdw>
          </a:effectLst>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31756" name="Oval 18">
            <a:hlinkClick r:id="" action="ppaction://noaction"/>
          </p:cNvPr>
          <p:cNvSpPr/>
          <p:nvPr/>
        </p:nvSpPr>
        <p:spPr>
          <a:xfrm>
            <a:off x="8353425" y="6581775"/>
            <a:ext cx="762000" cy="381000"/>
          </a:xfrm>
          <a:prstGeom prst="ellipse">
            <a:avLst/>
          </a:prstGeom>
          <a:noFill/>
          <a:ln w="28575">
            <a:noFill/>
          </a:ln>
          <a:effectLst>
            <a:outerShdw dist="35921" dir="2699999" algn="ctr" rotWithShape="0">
              <a:schemeClr val="bg2"/>
            </a:outerShdw>
          </a:effectLst>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869"/>
                                        </p:tgtEl>
                                        <p:attrNameLst>
                                          <p:attrName>style.visibility</p:attrName>
                                        </p:attrNameLst>
                                      </p:cBhvr>
                                      <p:to>
                                        <p:strVal val="visible"/>
                                      </p:to>
                                    </p:set>
                                    <p:anim calcmode="lin" valueType="num">
                                      <p:cBhvr additive="base">
                                        <p:cTn id="7" dur="500" fill="hold"/>
                                        <p:tgtEl>
                                          <p:spTgt spid="36869"/>
                                        </p:tgtEl>
                                        <p:attrNameLst>
                                          <p:attrName>ppt_x</p:attrName>
                                        </p:attrNameLst>
                                      </p:cBhvr>
                                      <p:tavLst>
                                        <p:tav tm="0">
                                          <p:val>
                                            <p:strVal val="#ppt_x"/>
                                          </p:val>
                                        </p:tav>
                                        <p:tav tm="100000">
                                          <p:val>
                                            <p:strVal val="#ppt_x"/>
                                          </p:val>
                                        </p:tav>
                                      </p:tavLst>
                                    </p:anim>
                                    <p:anim calcmode="lin" valueType="num">
                                      <p:cBhvr additive="base">
                                        <p:cTn id="8" dur="500" fill="hold"/>
                                        <p:tgtEl>
                                          <p:spTgt spid="3686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7884"/>
                                        </p:tgtEl>
                                        <p:attrNameLst>
                                          <p:attrName>style.visibility</p:attrName>
                                        </p:attrNameLst>
                                      </p:cBhvr>
                                      <p:to>
                                        <p:strVal val="visible"/>
                                      </p:to>
                                    </p:set>
                                    <p:anim calcmode="lin" valueType="num">
                                      <p:cBhvr additive="base">
                                        <p:cTn id="13" dur="500" fill="hold"/>
                                        <p:tgtEl>
                                          <p:spTgt spid="207884"/>
                                        </p:tgtEl>
                                        <p:attrNameLst>
                                          <p:attrName>ppt_x</p:attrName>
                                        </p:attrNameLst>
                                      </p:cBhvr>
                                      <p:tavLst>
                                        <p:tav tm="0">
                                          <p:val>
                                            <p:strVal val="#ppt_x"/>
                                          </p:val>
                                        </p:tav>
                                        <p:tav tm="100000">
                                          <p:val>
                                            <p:strVal val="#ppt_x"/>
                                          </p:val>
                                        </p:tav>
                                      </p:tavLst>
                                    </p:anim>
                                    <p:anim calcmode="lin" valueType="num">
                                      <p:cBhvr additive="base">
                                        <p:cTn id="14" dur="500" fill="hold"/>
                                        <p:tgtEl>
                                          <p:spTgt spid="20788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7883"/>
                                        </p:tgtEl>
                                        <p:attrNameLst>
                                          <p:attrName>style.visibility</p:attrName>
                                        </p:attrNameLst>
                                      </p:cBhvr>
                                      <p:to>
                                        <p:strVal val="visible"/>
                                      </p:to>
                                    </p:set>
                                    <p:anim calcmode="lin" valueType="num">
                                      <p:cBhvr additive="base">
                                        <p:cTn id="19" dur="500" fill="hold"/>
                                        <p:tgtEl>
                                          <p:spTgt spid="207883"/>
                                        </p:tgtEl>
                                        <p:attrNameLst>
                                          <p:attrName>ppt_x</p:attrName>
                                        </p:attrNameLst>
                                      </p:cBhvr>
                                      <p:tavLst>
                                        <p:tav tm="0">
                                          <p:val>
                                            <p:strVal val="#ppt_x"/>
                                          </p:val>
                                        </p:tav>
                                        <p:tav tm="100000">
                                          <p:val>
                                            <p:strVal val="#ppt_x"/>
                                          </p:val>
                                        </p:tav>
                                      </p:tavLst>
                                    </p:anim>
                                    <p:anim calcmode="lin" valueType="num">
                                      <p:cBhvr additive="base">
                                        <p:cTn id="20" dur="500" fill="hold"/>
                                        <p:tgtEl>
                                          <p:spTgt spid="20788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07886"/>
                                        </p:tgtEl>
                                        <p:attrNameLst>
                                          <p:attrName>style.visibility</p:attrName>
                                        </p:attrNameLst>
                                      </p:cBhvr>
                                      <p:to>
                                        <p:strVal val="visible"/>
                                      </p:to>
                                    </p:set>
                                    <p:anim calcmode="lin" valueType="num">
                                      <p:cBhvr additive="base">
                                        <p:cTn id="25" dur="500" fill="hold"/>
                                        <p:tgtEl>
                                          <p:spTgt spid="207886"/>
                                        </p:tgtEl>
                                        <p:attrNameLst>
                                          <p:attrName>ppt_x</p:attrName>
                                        </p:attrNameLst>
                                      </p:cBhvr>
                                      <p:tavLst>
                                        <p:tav tm="0">
                                          <p:val>
                                            <p:strVal val="#ppt_x"/>
                                          </p:val>
                                        </p:tav>
                                        <p:tav tm="100000">
                                          <p:val>
                                            <p:strVal val="#ppt_x"/>
                                          </p:val>
                                        </p:tav>
                                      </p:tavLst>
                                    </p:anim>
                                    <p:anim calcmode="lin" valueType="num">
                                      <p:cBhvr additive="base">
                                        <p:cTn id="26" dur="500" fill="hold"/>
                                        <p:tgtEl>
                                          <p:spTgt spid="20788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07885"/>
                                        </p:tgtEl>
                                        <p:attrNameLst>
                                          <p:attrName>style.visibility</p:attrName>
                                        </p:attrNameLst>
                                      </p:cBhvr>
                                      <p:to>
                                        <p:strVal val="visible"/>
                                      </p:to>
                                    </p:set>
                                    <p:anim calcmode="lin" valueType="num">
                                      <p:cBhvr additive="base">
                                        <p:cTn id="31" dur="500" fill="hold"/>
                                        <p:tgtEl>
                                          <p:spTgt spid="207885"/>
                                        </p:tgtEl>
                                        <p:attrNameLst>
                                          <p:attrName>ppt_x</p:attrName>
                                        </p:attrNameLst>
                                      </p:cBhvr>
                                      <p:tavLst>
                                        <p:tav tm="0">
                                          <p:val>
                                            <p:strVal val="#ppt_x"/>
                                          </p:val>
                                        </p:tav>
                                        <p:tav tm="100000">
                                          <p:val>
                                            <p:strVal val="#ppt_x"/>
                                          </p:val>
                                        </p:tav>
                                      </p:tavLst>
                                    </p:anim>
                                    <p:anim calcmode="lin" valueType="num">
                                      <p:cBhvr additive="base">
                                        <p:cTn id="32" dur="500" fill="hold"/>
                                        <p:tgtEl>
                                          <p:spTgt spid="2078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9" grpId="0" animBg="1"/>
      <p:bldP spid="207883" grpId="0" animBg="1"/>
      <p:bldP spid="207884" grpId="0" animBg="1"/>
      <p:bldP spid="207885" grpId="0" animBg="1"/>
      <p:bldP spid="20788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a:xfrm>
            <a:off x="455613" y="398463"/>
            <a:ext cx="8207375" cy="1139825"/>
          </a:xfrm>
          <a:ln/>
        </p:spPr>
        <p:txBody>
          <a:bodyPr vert="horz" wrap="square" lIns="0" tIns="45610" rIns="0" bIns="0" anchor="b" anchorCtr="0"/>
          <a:p>
            <a:pPr>
              <a:lnSpc>
                <a:spcPts val="4000"/>
              </a:lnSpc>
            </a:pPr>
            <a:r>
              <a:rPr lang="en-US" altLang="zh-CN" b="1" dirty="0">
                <a:latin typeface="微软雅黑" panose="020B0503020204020204" pitchFamily="34" charset="-122"/>
                <a:ea typeface="微软雅黑" panose="020B0503020204020204" pitchFamily="34" charset="-122"/>
              </a:rPr>
              <a:t>UML</a:t>
            </a:r>
            <a:r>
              <a:rPr lang="zh-CN" altLang="en-US" b="1" dirty="0">
                <a:latin typeface="微软雅黑" panose="020B0503020204020204" pitchFamily="34" charset="-122"/>
                <a:ea typeface="微软雅黑" panose="020B0503020204020204" pitchFamily="34" charset="-122"/>
              </a:rPr>
              <a:t>图</a:t>
            </a:r>
            <a:endParaRPr lang="zh-CN" altLang="en-US" b="1" dirty="0">
              <a:latin typeface="微软雅黑" panose="020B0503020204020204" pitchFamily="34" charset="-122"/>
              <a:ea typeface="微软雅黑" panose="020B0503020204020204" pitchFamily="34" charset="-122"/>
            </a:endParaRPr>
          </a:p>
        </p:txBody>
      </p:sp>
      <p:sp>
        <p:nvSpPr>
          <p:cNvPr id="32771" name="Line 4"/>
          <p:cNvSpPr/>
          <p:nvPr/>
        </p:nvSpPr>
        <p:spPr>
          <a:xfrm flipH="1">
            <a:off x="4394200" y="2181225"/>
            <a:ext cx="0" cy="1312863"/>
          </a:xfrm>
          <a:prstGeom prst="line">
            <a:avLst/>
          </a:prstGeom>
          <a:ln w="9525" cap="flat" cmpd="sng">
            <a:solidFill>
              <a:schemeClr val="tx1"/>
            </a:solidFill>
            <a:prstDash val="solid"/>
            <a:headEnd type="none" w="sm" len="sm"/>
            <a:tailEnd type="none" w="sm" len="sm"/>
          </a:ln>
        </p:spPr>
      </p:sp>
      <p:sp>
        <p:nvSpPr>
          <p:cNvPr id="32772" name="Line 5"/>
          <p:cNvSpPr/>
          <p:nvPr/>
        </p:nvSpPr>
        <p:spPr>
          <a:xfrm flipV="1">
            <a:off x="4697413" y="3433763"/>
            <a:ext cx="1611312" cy="392112"/>
          </a:xfrm>
          <a:prstGeom prst="line">
            <a:avLst/>
          </a:prstGeom>
          <a:ln w="9525" cap="flat" cmpd="sng">
            <a:solidFill>
              <a:schemeClr val="tx1"/>
            </a:solidFill>
            <a:prstDash val="solid"/>
            <a:headEnd type="none" w="sm" len="sm"/>
            <a:tailEnd type="none" w="sm" len="sm"/>
          </a:ln>
        </p:spPr>
      </p:sp>
      <p:sp>
        <p:nvSpPr>
          <p:cNvPr id="32773" name="Line 6"/>
          <p:cNvSpPr/>
          <p:nvPr/>
        </p:nvSpPr>
        <p:spPr>
          <a:xfrm>
            <a:off x="4841875" y="4024313"/>
            <a:ext cx="1301750" cy="1458912"/>
          </a:xfrm>
          <a:prstGeom prst="line">
            <a:avLst/>
          </a:prstGeom>
          <a:ln w="9525" cap="flat" cmpd="sng">
            <a:solidFill>
              <a:schemeClr val="tx1"/>
            </a:solidFill>
            <a:prstDash val="solid"/>
            <a:headEnd type="none" w="sm" len="sm"/>
            <a:tailEnd type="none" w="sm" len="sm"/>
          </a:ln>
        </p:spPr>
      </p:sp>
      <p:sp>
        <p:nvSpPr>
          <p:cNvPr id="32774" name="Line 7"/>
          <p:cNvSpPr/>
          <p:nvPr/>
        </p:nvSpPr>
        <p:spPr>
          <a:xfrm>
            <a:off x="2533650" y="2568575"/>
            <a:ext cx="1673225" cy="1257300"/>
          </a:xfrm>
          <a:prstGeom prst="line">
            <a:avLst/>
          </a:prstGeom>
          <a:ln w="9525" cap="flat" cmpd="sng">
            <a:solidFill>
              <a:schemeClr val="tx1"/>
            </a:solidFill>
            <a:prstDash val="solid"/>
            <a:headEnd type="none" w="sm" len="sm"/>
            <a:tailEnd type="none" w="sm" len="sm"/>
          </a:ln>
        </p:spPr>
      </p:sp>
      <p:sp>
        <p:nvSpPr>
          <p:cNvPr id="32775" name="Line 8"/>
          <p:cNvSpPr/>
          <p:nvPr/>
        </p:nvSpPr>
        <p:spPr>
          <a:xfrm flipV="1">
            <a:off x="2528888" y="4403725"/>
            <a:ext cx="1258887" cy="458788"/>
          </a:xfrm>
          <a:prstGeom prst="line">
            <a:avLst/>
          </a:prstGeom>
          <a:ln w="9525" cap="flat" cmpd="sng">
            <a:solidFill>
              <a:schemeClr val="tx1"/>
            </a:solidFill>
            <a:prstDash val="solid"/>
            <a:headEnd type="none" w="sm" len="sm"/>
            <a:tailEnd type="none" w="sm" len="sm"/>
          </a:ln>
        </p:spPr>
      </p:sp>
      <p:sp>
        <p:nvSpPr>
          <p:cNvPr id="32776" name="Line 9"/>
          <p:cNvSpPr/>
          <p:nvPr/>
        </p:nvSpPr>
        <p:spPr>
          <a:xfrm>
            <a:off x="2027238" y="4024313"/>
            <a:ext cx="2035175" cy="0"/>
          </a:xfrm>
          <a:prstGeom prst="line">
            <a:avLst/>
          </a:prstGeom>
          <a:ln w="9525" cap="flat" cmpd="sng">
            <a:solidFill>
              <a:schemeClr val="tx1"/>
            </a:solidFill>
            <a:prstDash val="solid"/>
            <a:headEnd type="none" w="sm" len="sm"/>
            <a:tailEnd type="none" w="sm" len="sm"/>
          </a:ln>
        </p:spPr>
      </p:sp>
      <p:sp>
        <p:nvSpPr>
          <p:cNvPr id="32777" name="Line 10"/>
          <p:cNvSpPr/>
          <p:nvPr/>
        </p:nvSpPr>
        <p:spPr>
          <a:xfrm flipH="1">
            <a:off x="4548188" y="2060575"/>
            <a:ext cx="1714500" cy="1587500"/>
          </a:xfrm>
          <a:prstGeom prst="line">
            <a:avLst/>
          </a:prstGeom>
          <a:ln w="9525" cap="flat" cmpd="sng">
            <a:solidFill>
              <a:schemeClr val="tx1"/>
            </a:solidFill>
            <a:prstDash val="solid"/>
            <a:headEnd type="none" w="sm" len="sm"/>
            <a:tailEnd type="none" w="sm" len="sm"/>
          </a:ln>
        </p:spPr>
      </p:sp>
      <p:sp>
        <p:nvSpPr>
          <p:cNvPr id="32778" name="Line 11"/>
          <p:cNvSpPr/>
          <p:nvPr/>
        </p:nvSpPr>
        <p:spPr>
          <a:xfrm flipH="1" flipV="1">
            <a:off x="4394200" y="4633913"/>
            <a:ext cx="0" cy="849312"/>
          </a:xfrm>
          <a:prstGeom prst="line">
            <a:avLst/>
          </a:prstGeom>
          <a:ln w="9525" cap="flat" cmpd="sng">
            <a:solidFill>
              <a:schemeClr val="tx1"/>
            </a:solidFill>
            <a:prstDash val="solid"/>
            <a:headEnd type="none" w="sm" len="sm"/>
            <a:tailEnd type="none" w="sm" len="sm"/>
          </a:ln>
        </p:spPr>
      </p:sp>
      <p:sp>
        <p:nvSpPr>
          <p:cNvPr id="53" name="Rectangle 15"/>
          <p:cNvSpPr>
            <a:spLocks noChangeArrowheads="1"/>
          </p:cNvSpPr>
          <p:nvPr/>
        </p:nvSpPr>
        <p:spPr bwMode="auto">
          <a:xfrm>
            <a:off x="3719513" y="1566863"/>
            <a:ext cx="1301750" cy="776288"/>
          </a:xfrm>
          <a:prstGeom prst="rect">
            <a:avLst/>
          </a:prstGeom>
          <a:solidFill>
            <a:schemeClr val="accent1"/>
          </a:solidFill>
          <a:ln w="9525">
            <a:solidFill>
              <a:schemeClr val="bg1"/>
            </a:solidFill>
            <a:miter lim="800000"/>
            <a:headEnd type="none" w="sm" len="sm"/>
            <a:tailEnd type="none" w="sm" len="sm"/>
          </a:ln>
          <a:effectLst/>
        </p:spPr>
        <p:txBody>
          <a:bodyPr wrap="none" lIns="76531" tIns="38266" rIns="76531" bIns="38266"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用例图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50" name="Rectangle 19"/>
          <p:cNvSpPr>
            <a:spLocks noChangeArrowheads="1"/>
          </p:cNvSpPr>
          <p:nvPr/>
        </p:nvSpPr>
        <p:spPr bwMode="auto">
          <a:xfrm>
            <a:off x="1177925" y="3233738"/>
            <a:ext cx="1350963" cy="830263"/>
          </a:xfrm>
          <a:prstGeom prst="rect">
            <a:avLst/>
          </a:prstGeom>
          <a:solidFill>
            <a:srgbClr val="008000"/>
          </a:solidFill>
          <a:ln w="9525">
            <a:solidFill>
              <a:srgbClr val="FFFF00"/>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协作图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47" name="Rectangle 23"/>
          <p:cNvSpPr>
            <a:spLocks noChangeArrowheads="1"/>
          </p:cNvSpPr>
          <p:nvPr/>
        </p:nvSpPr>
        <p:spPr bwMode="auto">
          <a:xfrm>
            <a:off x="5657850" y="5451475"/>
            <a:ext cx="1301750" cy="855663"/>
          </a:xfrm>
          <a:prstGeom prst="rect">
            <a:avLst/>
          </a:prstGeom>
          <a:solidFill>
            <a:srgbClr val="990099"/>
          </a:solidFill>
          <a:ln w="9525">
            <a:solidFill>
              <a:schemeClr val="bg1"/>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构件图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44" name="Rectangle 27"/>
          <p:cNvSpPr>
            <a:spLocks noChangeArrowheads="1"/>
          </p:cNvSpPr>
          <p:nvPr/>
        </p:nvSpPr>
        <p:spPr bwMode="auto">
          <a:xfrm>
            <a:off x="3719513" y="5483225"/>
            <a:ext cx="1349375" cy="819150"/>
          </a:xfrm>
          <a:prstGeom prst="rect">
            <a:avLst/>
          </a:prstGeom>
          <a:solidFill>
            <a:srgbClr val="990099"/>
          </a:solidFill>
          <a:ln w="9525">
            <a:solidFill>
              <a:schemeClr val="bg1"/>
            </a:solidFill>
            <a:miter lim="800000"/>
            <a:headEnd type="none" w="sm" len="sm"/>
            <a:tailEnd type="none" w="sm" len="sm"/>
          </a:ln>
          <a:effectLst/>
        </p:spPr>
        <p:txBody>
          <a:bodyPr wrap="none" lIns="76531" tIns="38266" rIns="76531" bIns="38266"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dirty="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部署图</a:t>
            </a:r>
            <a:endParaRPr kumimoji="1" lang="zh-CN" altLang="en-US" sz="2600" b="1" i="0" u="none" strike="noStrike" kern="1200" cap="none" spc="0" normalizeH="0" baseline="0" noProof="0" dirty="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41" name="Rectangle 31"/>
          <p:cNvSpPr>
            <a:spLocks noChangeArrowheads="1"/>
          </p:cNvSpPr>
          <p:nvPr/>
        </p:nvSpPr>
        <p:spPr bwMode="auto">
          <a:xfrm>
            <a:off x="6307138" y="3127375"/>
            <a:ext cx="1252538" cy="844550"/>
          </a:xfrm>
          <a:prstGeom prst="rect">
            <a:avLst/>
          </a:prstGeom>
          <a:solidFill>
            <a:srgbClr val="990099"/>
          </a:solidFill>
          <a:ln w="9525">
            <a:solidFill>
              <a:schemeClr val="bg1"/>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uLnTx/>
                <a:uFillTx/>
                <a:latin typeface="Comic Sans MS" panose="030F0702030302020204" pitchFamily="66" charset="0"/>
                <a:ea typeface="仿宋_GB2312" pitchFamily="49" charset="-122"/>
                <a:cs typeface="+mn-cs"/>
              </a:rPr>
              <a:t>对象图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8" name="Rectangle 35"/>
          <p:cNvSpPr>
            <a:spLocks noChangeArrowheads="1"/>
          </p:cNvSpPr>
          <p:nvPr/>
        </p:nvSpPr>
        <p:spPr bwMode="auto">
          <a:xfrm>
            <a:off x="1196975" y="4403725"/>
            <a:ext cx="1385888" cy="820738"/>
          </a:xfrm>
          <a:prstGeom prst="rect">
            <a:avLst/>
          </a:prstGeom>
          <a:solidFill>
            <a:srgbClr val="008000"/>
          </a:solidFill>
          <a:ln w="9525">
            <a:solidFill>
              <a:srgbClr val="FFFF00"/>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状态图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5" name="Rectangle 39"/>
          <p:cNvSpPr>
            <a:spLocks noChangeArrowheads="1"/>
          </p:cNvSpPr>
          <p:nvPr/>
        </p:nvSpPr>
        <p:spPr bwMode="auto">
          <a:xfrm>
            <a:off x="1220788" y="2060575"/>
            <a:ext cx="1312863" cy="842963"/>
          </a:xfrm>
          <a:prstGeom prst="rect">
            <a:avLst/>
          </a:prstGeom>
          <a:solidFill>
            <a:srgbClr val="008000"/>
          </a:solidFill>
          <a:ln w="9525">
            <a:solidFill>
              <a:srgbClr val="FFFF00"/>
            </a:solidFill>
            <a:miter lim="800000"/>
            <a:headEnd type="none" w="sm" len="sm"/>
            <a:tailEnd type="none" w="sm" len="sm"/>
          </a:ln>
          <a:effectLst/>
        </p:spPr>
        <p:txBody>
          <a:bodyPr wrap="none" lIns="76531" tIns="38266" rIns="76531" bIns="38266"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dirty="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序列图</a:t>
            </a:r>
            <a:endParaRPr kumimoji="1" lang="zh-CN" altLang="en-US" sz="2600" b="1" i="0" u="none" strike="noStrike" kern="1200" cap="none" spc="0" normalizeH="0" baseline="0" noProof="0" dirty="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2" name="Rectangle 43"/>
          <p:cNvSpPr>
            <a:spLocks noChangeArrowheads="1"/>
          </p:cNvSpPr>
          <p:nvPr/>
        </p:nvSpPr>
        <p:spPr bwMode="auto">
          <a:xfrm>
            <a:off x="6281738" y="1677988"/>
            <a:ext cx="1303338" cy="765175"/>
          </a:xfrm>
          <a:prstGeom prst="rect">
            <a:avLst/>
          </a:prstGeom>
          <a:solidFill>
            <a:srgbClr val="990099"/>
          </a:solidFill>
          <a:ln w="9525">
            <a:solidFill>
              <a:schemeClr val="bg1"/>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类图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2787" name="Line 44"/>
          <p:cNvSpPr/>
          <p:nvPr/>
        </p:nvSpPr>
        <p:spPr>
          <a:xfrm flipH="1">
            <a:off x="2552700" y="4560888"/>
            <a:ext cx="1358900" cy="1166812"/>
          </a:xfrm>
          <a:prstGeom prst="line">
            <a:avLst/>
          </a:prstGeom>
          <a:ln w="12700" cap="flat" cmpd="sng">
            <a:solidFill>
              <a:schemeClr val="tx1"/>
            </a:solidFill>
            <a:prstDash val="solid"/>
            <a:headEnd type="none" w="sm" len="sm"/>
            <a:tailEnd type="none" w="lg" len="lg"/>
          </a:ln>
        </p:spPr>
      </p:sp>
      <p:sp>
        <p:nvSpPr>
          <p:cNvPr id="29" name="Rectangle 48"/>
          <p:cNvSpPr>
            <a:spLocks noChangeArrowheads="1"/>
          </p:cNvSpPr>
          <p:nvPr/>
        </p:nvSpPr>
        <p:spPr bwMode="auto">
          <a:xfrm>
            <a:off x="1227138" y="5456238"/>
            <a:ext cx="1325563" cy="846138"/>
          </a:xfrm>
          <a:prstGeom prst="rect">
            <a:avLst/>
          </a:prstGeom>
          <a:solidFill>
            <a:srgbClr val="008000"/>
          </a:solidFill>
          <a:ln w="9525">
            <a:solidFill>
              <a:srgbClr val="FFFF00"/>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活动图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2789" name="AutoShape 49"/>
          <p:cNvSpPr/>
          <p:nvPr/>
        </p:nvSpPr>
        <p:spPr>
          <a:xfrm>
            <a:off x="3787775" y="3433763"/>
            <a:ext cx="1281113" cy="1195387"/>
          </a:xfrm>
          <a:prstGeom prst="can">
            <a:avLst>
              <a:gd name="adj" fmla="val 39255"/>
            </a:avLst>
          </a:prstGeom>
          <a:solidFill>
            <a:srgbClr val="FF6600"/>
          </a:solidFill>
          <a:ln w="9525" cap="flat" cmpd="sng">
            <a:solidFill>
              <a:srgbClr val="FFFF00"/>
            </a:solidFill>
            <a:prstDash val="solid"/>
            <a:headEnd type="none" w="med" len="med"/>
            <a:tailEnd type="none" w="med" len="med"/>
          </a:ln>
        </p:spPr>
        <p:txBody>
          <a:bodyPr wrap="none" lIns="107950" tIns="53975" rIns="107950" bIns="53975"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32790" name="Rectangle 50"/>
          <p:cNvSpPr/>
          <p:nvPr/>
        </p:nvSpPr>
        <p:spPr>
          <a:xfrm>
            <a:off x="4013200" y="3971925"/>
            <a:ext cx="879475" cy="465138"/>
          </a:xfrm>
          <a:prstGeom prst="rect">
            <a:avLst/>
          </a:prstGeom>
          <a:noFill/>
          <a:ln w="9525">
            <a:noFill/>
          </a:ln>
        </p:spPr>
        <p:txBody>
          <a:bodyPr wrap="none" lIns="107950" tIns="53975" rIns="107950" bIns="5397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lnSpc>
                <a:spcPct val="90000"/>
              </a:lnSpc>
              <a:spcBef>
                <a:spcPct val="0"/>
              </a:spcBef>
              <a:buClr>
                <a:srgbClr val="F6BF69"/>
              </a:buClr>
              <a:buSzTx/>
              <a:buFont typeface="Monotype Sorts" pitchFamily="2" charset="2"/>
              <a:buNone/>
            </a:pPr>
            <a:r>
              <a:rPr lang="zh-CN" altLang="en-US" b="1" dirty="0">
                <a:solidFill>
                  <a:srgbClr val="CCFFCC"/>
                </a:solidFill>
                <a:latin typeface="Comic Sans MS" panose="030F0702030302020204" pitchFamily="66" charset="0"/>
                <a:ea typeface="仿宋_GB2312" pitchFamily="49" charset="-122"/>
              </a:rPr>
              <a:t>模型</a:t>
            </a:r>
            <a:endParaRPr lang="zh-CN" altLang="en-US" b="1" dirty="0">
              <a:solidFill>
                <a:srgbClr val="CCFFCC"/>
              </a:solidFill>
              <a:latin typeface="Comic Sans MS" panose="030F0702030302020204" pitchFamily="66" charset="0"/>
              <a:ea typeface="仿宋_GB2312" pitchFamily="49" charset="-122"/>
            </a:endParaRPr>
          </a:p>
        </p:txBody>
      </p:sp>
      <p:sp>
        <p:nvSpPr>
          <p:cNvPr id="3" name="矩形 2"/>
          <p:cNvSpPr/>
          <p:nvPr/>
        </p:nvSpPr>
        <p:spPr>
          <a:xfrm>
            <a:off x="527050" y="1792288"/>
            <a:ext cx="2517775" cy="465455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5" name="TextBox 4"/>
          <p:cNvSpPr txBox="1"/>
          <p:nvPr/>
        </p:nvSpPr>
        <p:spPr>
          <a:xfrm>
            <a:off x="527050" y="2154238"/>
            <a:ext cx="506413" cy="2062162"/>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动态行为</a:t>
            </a:r>
            <a:endParaRPr lang="zh-CN" altLang="en-US" sz="3200" b="1" dirty="0">
              <a:latin typeface="黑体" panose="02010609060101010101" pitchFamily="49" charset="-122"/>
              <a:ea typeface="黑体" panose="02010609060101010101" pitchFamily="49" charset="-122"/>
            </a:endParaRPr>
          </a:p>
        </p:txBody>
      </p:sp>
      <p:sp>
        <p:nvSpPr>
          <p:cNvPr id="56" name="矩形 55"/>
          <p:cNvSpPr/>
          <p:nvPr/>
        </p:nvSpPr>
        <p:spPr>
          <a:xfrm>
            <a:off x="3159125" y="974725"/>
            <a:ext cx="2517775" cy="1468438"/>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57" name="TextBox 56"/>
          <p:cNvSpPr txBox="1"/>
          <p:nvPr/>
        </p:nvSpPr>
        <p:spPr>
          <a:xfrm>
            <a:off x="3190875" y="981075"/>
            <a:ext cx="1744663" cy="5857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功能</a:t>
            </a:r>
            <a:endParaRPr lang="zh-CN" altLang="en-US" sz="3200" b="1" dirty="0">
              <a:latin typeface="黑体" panose="02010609060101010101" pitchFamily="49" charset="-122"/>
              <a:ea typeface="黑体" panose="02010609060101010101" pitchFamily="49" charset="-122"/>
            </a:endParaRPr>
          </a:p>
        </p:txBody>
      </p:sp>
      <p:sp>
        <p:nvSpPr>
          <p:cNvPr id="58" name="矩形 57"/>
          <p:cNvSpPr/>
          <p:nvPr/>
        </p:nvSpPr>
        <p:spPr>
          <a:xfrm>
            <a:off x="6072188" y="1381125"/>
            <a:ext cx="2517775" cy="290512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59" name="TextBox 58"/>
          <p:cNvSpPr txBox="1"/>
          <p:nvPr/>
        </p:nvSpPr>
        <p:spPr>
          <a:xfrm>
            <a:off x="7861300" y="1801813"/>
            <a:ext cx="730250" cy="2062162"/>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静态结构</a:t>
            </a:r>
            <a:endParaRPr lang="zh-CN" altLang="en-US" sz="3200" b="1" dirty="0">
              <a:latin typeface="黑体" panose="02010609060101010101" pitchFamily="49" charset="-122"/>
              <a:ea typeface="黑体" panose="02010609060101010101" pitchFamily="49" charset="-122"/>
            </a:endParaRPr>
          </a:p>
        </p:txBody>
      </p:sp>
      <p:sp>
        <p:nvSpPr>
          <p:cNvPr id="60" name="矩形 59"/>
          <p:cNvSpPr/>
          <p:nvPr/>
        </p:nvSpPr>
        <p:spPr>
          <a:xfrm>
            <a:off x="3438525" y="4994275"/>
            <a:ext cx="4937125" cy="145256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61" name="TextBox 60"/>
          <p:cNvSpPr txBox="1"/>
          <p:nvPr/>
        </p:nvSpPr>
        <p:spPr>
          <a:xfrm>
            <a:off x="7194550" y="5203825"/>
            <a:ext cx="1181100" cy="107791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物理架构</a:t>
            </a:r>
            <a:endParaRPr lang="zh-CN" altLang="en-US" sz="3200"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6"/>
                                        </p:tgtEl>
                                        <p:attrNameLst>
                                          <p:attrName>style.visibility</p:attrName>
                                        </p:attrNameLst>
                                      </p:cBhvr>
                                      <p:to>
                                        <p:strVal val="visible"/>
                                      </p:to>
                                    </p:set>
                                    <p:anim calcmode="lin" valueType="num">
                                      <p:cBhvr additive="base">
                                        <p:cTn id="18" dur="500" fill="hold"/>
                                        <p:tgtEl>
                                          <p:spTgt spid="56"/>
                                        </p:tgtEl>
                                        <p:attrNameLst>
                                          <p:attrName>ppt_x</p:attrName>
                                        </p:attrNameLst>
                                      </p:cBhvr>
                                      <p:tavLst>
                                        <p:tav tm="0">
                                          <p:val>
                                            <p:strVal val="#ppt_x"/>
                                          </p:val>
                                        </p:tav>
                                        <p:tav tm="100000">
                                          <p:val>
                                            <p:strVal val="#ppt_x"/>
                                          </p:val>
                                        </p:tav>
                                      </p:tavLst>
                                    </p:anim>
                                    <p:anim calcmode="lin" valueType="num">
                                      <p:cBhvr additive="base">
                                        <p:cTn id="19" dur="500" fill="hold"/>
                                        <p:tgtEl>
                                          <p:spTgt spid="56"/>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grpId="0" nodeType="afterEffect">
                                  <p:stCondLst>
                                    <p:cond delay="0"/>
                                  </p:stCondLst>
                                  <p:childTnLst>
                                    <p:set>
                                      <p:cBhvr>
                                        <p:cTn id="22" dur="1" fill="hold">
                                          <p:stCondLst>
                                            <p:cond delay="0"/>
                                          </p:stCondLst>
                                        </p:cTn>
                                        <p:tgtEl>
                                          <p:spTgt spid="57"/>
                                        </p:tgtEl>
                                        <p:attrNameLst>
                                          <p:attrName>style.visibility</p:attrName>
                                        </p:attrNameLst>
                                      </p:cBhvr>
                                      <p:to>
                                        <p:strVal val="visible"/>
                                      </p:to>
                                    </p:set>
                                    <p:anim calcmode="lin" valueType="num">
                                      <p:cBhvr additive="base">
                                        <p:cTn id="23" dur="500" fill="hold"/>
                                        <p:tgtEl>
                                          <p:spTgt spid="57"/>
                                        </p:tgtEl>
                                        <p:attrNameLst>
                                          <p:attrName>ppt_x</p:attrName>
                                        </p:attrNameLst>
                                      </p:cBhvr>
                                      <p:tavLst>
                                        <p:tav tm="0">
                                          <p:val>
                                            <p:strVal val="#ppt_x"/>
                                          </p:val>
                                        </p:tav>
                                        <p:tav tm="100000">
                                          <p:val>
                                            <p:strVal val="#ppt_x"/>
                                          </p:val>
                                        </p:tav>
                                      </p:tavLst>
                                    </p:anim>
                                    <p:anim calcmode="lin" valueType="num">
                                      <p:cBhvr additive="base">
                                        <p:cTn id="24"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8"/>
                                        </p:tgtEl>
                                        <p:attrNameLst>
                                          <p:attrName>style.visibility</p:attrName>
                                        </p:attrNameLst>
                                      </p:cBhvr>
                                      <p:to>
                                        <p:strVal val="visible"/>
                                      </p:to>
                                    </p:set>
                                    <p:anim calcmode="lin" valueType="num">
                                      <p:cBhvr additive="base">
                                        <p:cTn id="29" dur="500" fill="hold"/>
                                        <p:tgtEl>
                                          <p:spTgt spid="58"/>
                                        </p:tgtEl>
                                        <p:attrNameLst>
                                          <p:attrName>ppt_x</p:attrName>
                                        </p:attrNameLst>
                                      </p:cBhvr>
                                      <p:tavLst>
                                        <p:tav tm="0">
                                          <p:val>
                                            <p:strVal val="#ppt_x"/>
                                          </p:val>
                                        </p:tav>
                                        <p:tav tm="100000">
                                          <p:val>
                                            <p:strVal val="#ppt_x"/>
                                          </p:val>
                                        </p:tav>
                                      </p:tavLst>
                                    </p:anim>
                                    <p:anim calcmode="lin" valueType="num">
                                      <p:cBhvr additive="base">
                                        <p:cTn id="30" dur="500" fill="hold"/>
                                        <p:tgtEl>
                                          <p:spTgt spid="5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9"/>
                                        </p:tgtEl>
                                        <p:attrNameLst>
                                          <p:attrName>style.visibility</p:attrName>
                                        </p:attrNameLst>
                                      </p:cBhvr>
                                      <p:to>
                                        <p:strVal val="visible"/>
                                      </p:to>
                                    </p:set>
                                    <p:anim calcmode="lin" valueType="num">
                                      <p:cBhvr additive="base">
                                        <p:cTn id="33" dur="500" fill="hold"/>
                                        <p:tgtEl>
                                          <p:spTgt spid="59"/>
                                        </p:tgtEl>
                                        <p:attrNameLst>
                                          <p:attrName>ppt_x</p:attrName>
                                        </p:attrNameLst>
                                      </p:cBhvr>
                                      <p:tavLst>
                                        <p:tav tm="0">
                                          <p:val>
                                            <p:strVal val="#ppt_x"/>
                                          </p:val>
                                        </p:tav>
                                        <p:tav tm="100000">
                                          <p:val>
                                            <p:strVal val="#ppt_x"/>
                                          </p:val>
                                        </p:tav>
                                      </p:tavLst>
                                    </p:anim>
                                    <p:anim calcmode="lin" valueType="num">
                                      <p:cBhvr additive="base">
                                        <p:cTn id="34"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60"/>
                                        </p:tgtEl>
                                        <p:attrNameLst>
                                          <p:attrName>style.visibility</p:attrName>
                                        </p:attrNameLst>
                                      </p:cBhvr>
                                      <p:to>
                                        <p:strVal val="visible"/>
                                      </p:to>
                                    </p:set>
                                    <p:anim calcmode="lin" valueType="num">
                                      <p:cBhvr additive="base">
                                        <p:cTn id="39" dur="500" fill="hold"/>
                                        <p:tgtEl>
                                          <p:spTgt spid="60"/>
                                        </p:tgtEl>
                                        <p:attrNameLst>
                                          <p:attrName>ppt_x</p:attrName>
                                        </p:attrNameLst>
                                      </p:cBhvr>
                                      <p:tavLst>
                                        <p:tav tm="0">
                                          <p:val>
                                            <p:strVal val="#ppt_x"/>
                                          </p:val>
                                        </p:tav>
                                        <p:tav tm="100000">
                                          <p:val>
                                            <p:strVal val="#ppt_x"/>
                                          </p:val>
                                        </p:tav>
                                      </p:tavLst>
                                    </p:anim>
                                    <p:anim calcmode="lin" valueType="num">
                                      <p:cBhvr additive="base">
                                        <p:cTn id="40" dur="500" fill="hold"/>
                                        <p:tgtEl>
                                          <p:spTgt spid="6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61"/>
                                        </p:tgtEl>
                                        <p:attrNameLst>
                                          <p:attrName>style.visibility</p:attrName>
                                        </p:attrNameLst>
                                      </p:cBhvr>
                                      <p:to>
                                        <p:strVal val="visible"/>
                                      </p:to>
                                    </p:set>
                                    <p:anim calcmode="lin" valueType="num">
                                      <p:cBhvr additive="base">
                                        <p:cTn id="43" dur="500" fill="hold"/>
                                        <p:tgtEl>
                                          <p:spTgt spid="61"/>
                                        </p:tgtEl>
                                        <p:attrNameLst>
                                          <p:attrName>ppt_x</p:attrName>
                                        </p:attrNameLst>
                                      </p:cBhvr>
                                      <p:tavLst>
                                        <p:tav tm="0">
                                          <p:val>
                                            <p:strVal val="#ppt_x"/>
                                          </p:val>
                                        </p:tav>
                                        <p:tav tm="100000">
                                          <p:val>
                                            <p:strVal val="#ppt_x"/>
                                          </p:val>
                                        </p:tav>
                                      </p:tavLst>
                                    </p:anim>
                                    <p:anim calcmode="lin" valueType="num">
                                      <p:cBhvr additive="base">
                                        <p:cTn id="44"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56" grpId="0" animBg="1"/>
      <p:bldP spid="57" grpId="0"/>
      <p:bldP spid="58" grpId="0" animBg="1"/>
      <p:bldP spid="59" grpId="0"/>
      <p:bldP spid="60" grpId="0" animBg="1"/>
      <p:bldP spid="6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p:nvPr>
        </p:nvSpPr>
        <p:spPr>
          <a:xfrm>
            <a:off x="455613" y="398463"/>
            <a:ext cx="8207375" cy="1139825"/>
          </a:xfrm>
          <a:ln/>
        </p:spPr>
        <p:txBody>
          <a:bodyPr vert="horz" wrap="square" lIns="0" tIns="45610" rIns="0" bIns="0" anchor="b" anchorCtr="0"/>
          <a:p>
            <a:pPr>
              <a:lnSpc>
                <a:spcPts val="4000"/>
              </a:lnSpc>
            </a:pPr>
            <a:r>
              <a:rPr lang="en-US" altLang="zh-CN" b="1" dirty="0">
                <a:latin typeface="微软雅黑" panose="020B0503020204020204" pitchFamily="34" charset="-122"/>
                <a:ea typeface="微软雅黑" panose="020B0503020204020204" pitchFamily="34" charset="-122"/>
              </a:rPr>
              <a:t>UML</a:t>
            </a:r>
            <a:r>
              <a:rPr lang="zh-CN" altLang="en-US" b="1" dirty="0">
                <a:latin typeface="微软雅黑" panose="020B0503020204020204" pitchFamily="34" charset="-122"/>
                <a:ea typeface="微软雅黑" panose="020B0503020204020204" pitchFamily="34" charset="-122"/>
              </a:rPr>
              <a:t>图</a:t>
            </a:r>
            <a:endParaRPr lang="zh-CN" altLang="en-US" b="1" dirty="0">
              <a:latin typeface="微软雅黑" panose="020B0503020204020204" pitchFamily="34" charset="-122"/>
              <a:ea typeface="微软雅黑" panose="020B0503020204020204" pitchFamily="34" charset="-122"/>
            </a:endParaRPr>
          </a:p>
        </p:txBody>
      </p:sp>
      <p:sp>
        <p:nvSpPr>
          <p:cNvPr id="33795" name="Line 4"/>
          <p:cNvSpPr/>
          <p:nvPr/>
        </p:nvSpPr>
        <p:spPr>
          <a:xfrm flipH="1">
            <a:off x="4394200" y="2181225"/>
            <a:ext cx="0" cy="1312863"/>
          </a:xfrm>
          <a:prstGeom prst="line">
            <a:avLst/>
          </a:prstGeom>
          <a:ln w="9525" cap="flat" cmpd="sng">
            <a:solidFill>
              <a:schemeClr val="tx1"/>
            </a:solidFill>
            <a:prstDash val="solid"/>
            <a:headEnd type="none" w="sm" len="sm"/>
            <a:tailEnd type="none" w="sm" len="sm"/>
          </a:ln>
        </p:spPr>
      </p:sp>
      <p:sp>
        <p:nvSpPr>
          <p:cNvPr id="33796" name="Line 5"/>
          <p:cNvSpPr/>
          <p:nvPr/>
        </p:nvSpPr>
        <p:spPr>
          <a:xfrm flipV="1">
            <a:off x="4697413" y="3433763"/>
            <a:ext cx="1611312" cy="392112"/>
          </a:xfrm>
          <a:prstGeom prst="line">
            <a:avLst/>
          </a:prstGeom>
          <a:ln w="9525" cap="flat" cmpd="sng">
            <a:solidFill>
              <a:schemeClr val="tx1"/>
            </a:solidFill>
            <a:prstDash val="solid"/>
            <a:headEnd type="none" w="sm" len="sm"/>
            <a:tailEnd type="none" w="sm" len="sm"/>
          </a:ln>
        </p:spPr>
      </p:sp>
      <p:sp>
        <p:nvSpPr>
          <p:cNvPr id="33797" name="Line 6"/>
          <p:cNvSpPr/>
          <p:nvPr/>
        </p:nvSpPr>
        <p:spPr>
          <a:xfrm>
            <a:off x="4841875" y="4024313"/>
            <a:ext cx="1301750" cy="1458912"/>
          </a:xfrm>
          <a:prstGeom prst="line">
            <a:avLst/>
          </a:prstGeom>
          <a:ln w="9525" cap="flat" cmpd="sng">
            <a:solidFill>
              <a:schemeClr val="tx1"/>
            </a:solidFill>
            <a:prstDash val="solid"/>
            <a:headEnd type="none" w="sm" len="sm"/>
            <a:tailEnd type="none" w="sm" len="sm"/>
          </a:ln>
        </p:spPr>
      </p:sp>
      <p:sp>
        <p:nvSpPr>
          <p:cNvPr id="33798" name="Line 7"/>
          <p:cNvSpPr/>
          <p:nvPr/>
        </p:nvSpPr>
        <p:spPr>
          <a:xfrm>
            <a:off x="2533650" y="2568575"/>
            <a:ext cx="1673225" cy="1257300"/>
          </a:xfrm>
          <a:prstGeom prst="line">
            <a:avLst/>
          </a:prstGeom>
          <a:ln w="9525" cap="flat" cmpd="sng">
            <a:solidFill>
              <a:schemeClr val="tx1"/>
            </a:solidFill>
            <a:prstDash val="solid"/>
            <a:headEnd type="none" w="sm" len="sm"/>
            <a:tailEnd type="none" w="sm" len="sm"/>
          </a:ln>
        </p:spPr>
      </p:sp>
      <p:sp>
        <p:nvSpPr>
          <p:cNvPr id="33799" name="Line 8"/>
          <p:cNvSpPr/>
          <p:nvPr/>
        </p:nvSpPr>
        <p:spPr>
          <a:xfrm flipV="1">
            <a:off x="2528888" y="4403725"/>
            <a:ext cx="1258887" cy="458788"/>
          </a:xfrm>
          <a:prstGeom prst="line">
            <a:avLst/>
          </a:prstGeom>
          <a:ln w="9525" cap="flat" cmpd="sng">
            <a:solidFill>
              <a:schemeClr val="tx1"/>
            </a:solidFill>
            <a:prstDash val="solid"/>
            <a:headEnd type="none" w="sm" len="sm"/>
            <a:tailEnd type="none" w="sm" len="sm"/>
          </a:ln>
        </p:spPr>
      </p:sp>
      <p:sp>
        <p:nvSpPr>
          <p:cNvPr id="33800" name="Line 9"/>
          <p:cNvSpPr/>
          <p:nvPr/>
        </p:nvSpPr>
        <p:spPr>
          <a:xfrm>
            <a:off x="2027238" y="4024313"/>
            <a:ext cx="2035175" cy="0"/>
          </a:xfrm>
          <a:prstGeom prst="line">
            <a:avLst/>
          </a:prstGeom>
          <a:ln w="9525" cap="flat" cmpd="sng">
            <a:solidFill>
              <a:schemeClr val="tx1"/>
            </a:solidFill>
            <a:prstDash val="solid"/>
            <a:headEnd type="none" w="sm" len="sm"/>
            <a:tailEnd type="none" w="sm" len="sm"/>
          </a:ln>
        </p:spPr>
      </p:sp>
      <p:sp>
        <p:nvSpPr>
          <p:cNvPr id="33801" name="Line 10"/>
          <p:cNvSpPr/>
          <p:nvPr/>
        </p:nvSpPr>
        <p:spPr>
          <a:xfrm flipH="1">
            <a:off x="4548188" y="2060575"/>
            <a:ext cx="1714500" cy="1587500"/>
          </a:xfrm>
          <a:prstGeom prst="line">
            <a:avLst/>
          </a:prstGeom>
          <a:ln w="9525" cap="flat" cmpd="sng">
            <a:solidFill>
              <a:schemeClr val="tx1"/>
            </a:solidFill>
            <a:prstDash val="solid"/>
            <a:headEnd type="none" w="sm" len="sm"/>
            <a:tailEnd type="none" w="sm" len="sm"/>
          </a:ln>
        </p:spPr>
      </p:sp>
      <p:sp>
        <p:nvSpPr>
          <p:cNvPr id="33802" name="Line 11"/>
          <p:cNvSpPr/>
          <p:nvPr/>
        </p:nvSpPr>
        <p:spPr>
          <a:xfrm flipH="1" flipV="1">
            <a:off x="4394200" y="4633913"/>
            <a:ext cx="0" cy="849312"/>
          </a:xfrm>
          <a:prstGeom prst="line">
            <a:avLst/>
          </a:prstGeom>
          <a:ln w="9525" cap="flat" cmpd="sng">
            <a:solidFill>
              <a:schemeClr val="tx1"/>
            </a:solidFill>
            <a:prstDash val="solid"/>
            <a:headEnd type="none" w="sm" len="sm"/>
            <a:tailEnd type="none" w="sm" len="sm"/>
          </a:ln>
        </p:spPr>
      </p:sp>
      <p:sp>
        <p:nvSpPr>
          <p:cNvPr id="53" name="Rectangle 15"/>
          <p:cNvSpPr>
            <a:spLocks noChangeArrowheads="1"/>
          </p:cNvSpPr>
          <p:nvPr/>
        </p:nvSpPr>
        <p:spPr bwMode="auto">
          <a:xfrm>
            <a:off x="3719513" y="1566863"/>
            <a:ext cx="1301750" cy="776288"/>
          </a:xfrm>
          <a:prstGeom prst="rect">
            <a:avLst/>
          </a:prstGeom>
          <a:solidFill>
            <a:schemeClr val="accent1"/>
          </a:solidFill>
          <a:ln w="9525">
            <a:solidFill>
              <a:schemeClr val="bg1"/>
            </a:solidFill>
            <a:miter lim="800000"/>
            <a:headEnd type="none" w="sm" len="sm"/>
            <a:tailEnd type="none" w="sm" len="sm"/>
          </a:ln>
          <a:effectLst/>
        </p:spPr>
        <p:txBody>
          <a:bodyPr wrap="none" lIns="76531" tIns="38266" rIns="76531" bIns="38266"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用例图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50" name="Rectangle 19"/>
          <p:cNvSpPr>
            <a:spLocks noChangeArrowheads="1"/>
          </p:cNvSpPr>
          <p:nvPr/>
        </p:nvSpPr>
        <p:spPr bwMode="auto">
          <a:xfrm>
            <a:off x="1177925" y="3233738"/>
            <a:ext cx="1350963" cy="830263"/>
          </a:xfrm>
          <a:prstGeom prst="rect">
            <a:avLst/>
          </a:prstGeom>
          <a:solidFill>
            <a:srgbClr val="008000"/>
          </a:solidFill>
          <a:ln w="9525">
            <a:solidFill>
              <a:srgbClr val="FFFF00"/>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协作图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47" name="Rectangle 23"/>
          <p:cNvSpPr>
            <a:spLocks noChangeArrowheads="1"/>
          </p:cNvSpPr>
          <p:nvPr/>
        </p:nvSpPr>
        <p:spPr bwMode="auto">
          <a:xfrm>
            <a:off x="5657850" y="5451475"/>
            <a:ext cx="1301750" cy="855663"/>
          </a:xfrm>
          <a:prstGeom prst="rect">
            <a:avLst/>
          </a:prstGeom>
          <a:solidFill>
            <a:srgbClr val="990099"/>
          </a:solidFill>
          <a:ln w="9525">
            <a:solidFill>
              <a:schemeClr val="bg1"/>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构件图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44" name="Rectangle 27"/>
          <p:cNvSpPr>
            <a:spLocks noChangeArrowheads="1"/>
          </p:cNvSpPr>
          <p:nvPr/>
        </p:nvSpPr>
        <p:spPr bwMode="auto">
          <a:xfrm>
            <a:off x="3719513" y="5483225"/>
            <a:ext cx="1349375" cy="819150"/>
          </a:xfrm>
          <a:prstGeom prst="rect">
            <a:avLst/>
          </a:prstGeom>
          <a:solidFill>
            <a:srgbClr val="990099"/>
          </a:solidFill>
          <a:ln w="9525">
            <a:solidFill>
              <a:schemeClr val="bg1"/>
            </a:solidFill>
            <a:miter lim="800000"/>
            <a:headEnd type="none" w="sm" len="sm"/>
            <a:tailEnd type="none" w="sm" len="sm"/>
          </a:ln>
          <a:effectLst/>
        </p:spPr>
        <p:txBody>
          <a:bodyPr wrap="none" lIns="76531" tIns="38266" rIns="76531" bIns="38266"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dirty="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部署图</a:t>
            </a:r>
            <a:endParaRPr kumimoji="1" lang="zh-CN" altLang="en-US" sz="2600" b="1" i="0" u="none" strike="noStrike" kern="1200" cap="none" spc="0" normalizeH="0" baseline="0" noProof="0" dirty="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41" name="Rectangle 31"/>
          <p:cNvSpPr>
            <a:spLocks noChangeArrowheads="1"/>
          </p:cNvSpPr>
          <p:nvPr/>
        </p:nvSpPr>
        <p:spPr bwMode="auto">
          <a:xfrm>
            <a:off x="6307138" y="3127375"/>
            <a:ext cx="1252538" cy="844550"/>
          </a:xfrm>
          <a:prstGeom prst="rect">
            <a:avLst/>
          </a:prstGeom>
          <a:solidFill>
            <a:srgbClr val="990099"/>
          </a:solidFill>
          <a:ln w="9525">
            <a:solidFill>
              <a:schemeClr val="bg1"/>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uLnTx/>
                <a:uFillTx/>
                <a:latin typeface="Comic Sans MS" panose="030F0702030302020204" pitchFamily="66" charset="0"/>
                <a:ea typeface="仿宋_GB2312" pitchFamily="49" charset="-122"/>
                <a:cs typeface="+mn-cs"/>
              </a:rPr>
              <a:t>对象图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8" name="Rectangle 35"/>
          <p:cNvSpPr>
            <a:spLocks noChangeArrowheads="1"/>
          </p:cNvSpPr>
          <p:nvPr/>
        </p:nvSpPr>
        <p:spPr bwMode="auto">
          <a:xfrm>
            <a:off x="1196975" y="4403725"/>
            <a:ext cx="1385888" cy="820738"/>
          </a:xfrm>
          <a:prstGeom prst="rect">
            <a:avLst/>
          </a:prstGeom>
          <a:solidFill>
            <a:srgbClr val="008000"/>
          </a:solidFill>
          <a:ln w="9525">
            <a:solidFill>
              <a:srgbClr val="FFFF00"/>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状态图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5" name="Rectangle 39"/>
          <p:cNvSpPr>
            <a:spLocks noChangeArrowheads="1"/>
          </p:cNvSpPr>
          <p:nvPr/>
        </p:nvSpPr>
        <p:spPr bwMode="auto">
          <a:xfrm>
            <a:off x="1220788" y="2060575"/>
            <a:ext cx="1312863" cy="842963"/>
          </a:xfrm>
          <a:prstGeom prst="rect">
            <a:avLst/>
          </a:prstGeom>
          <a:solidFill>
            <a:srgbClr val="008000"/>
          </a:solidFill>
          <a:ln w="9525">
            <a:solidFill>
              <a:srgbClr val="FFFF00"/>
            </a:solidFill>
            <a:miter lim="800000"/>
            <a:headEnd type="none" w="sm" len="sm"/>
            <a:tailEnd type="none" w="sm" len="sm"/>
          </a:ln>
          <a:effectLst/>
        </p:spPr>
        <p:txBody>
          <a:bodyPr wrap="none" lIns="76531" tIns="38266" rIns="76531" bIns="38266"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dirty="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序列图</a:t>
            </a:r>
            <a:endParaRPr kumimoji="1" lang="zh-CN" altLang="en-US" sz="2600" b="1" i="0" u="none" strike="noStrike" kern="1200" cap="none" spc="0" normalizeH="0" baseline="0" noProof="0" dirty="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2" name="Rectangle 43"/>
          <p:cNvSpPr>
            <a:spLocks noChangeArrowheads="1"/>
          </p:cNvSpPr>
          <p:nvPr/>
        </p:nvSpPr>
        <p:spPr bwMode="auto">
          <a:xfrm>
            <a:off x="6281738" y="1677988"/>
            <a:ext cx="1303338" cy="765175"/>
          </a:xfrm>
          <a:prstGeom prst="rect">
            <a:avLst/>
          </a:prstGeom>
          <a:solidFill>
            <a:srgbClr val="990099"/>
          </a:solidFill>
          <a:ln w="9525">
            <a:solidFill>
              <a:schemeClr val="bg1"/>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类图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3811" name="Line 44"/>
          <p:cNvSpPr/>
          <p:nvPr/>
        </p:nvSpPr>
        <p:spPr>
          <a:xfrm flipH="1">
            <a:off x="2552700" y="4560888"/>
            <a:ext cx="1358900" cy="1166812"/>
          </a:xfrm>
          <a:prstGeom prst="line">
            <a:avLst/>
          </a:prstGeom>
          <a:ln w="12700" cap="flat" cmpd="sng">
            <a:solidFill>
              <a:schemeClr val="tx1"/>
            </a:solidFill>
            <a:prstDash val="solid"/>
            <a:headEnd type="none" w="sm" len="sm"/>
            <a:tailEnd type="none" w="lg" len="lg"/>
          </a:ln>
        </p:spPr>
      </p:sp>
      <p:sp>
        <p:nvSpPr>
          <p:cNvPr id="29" name="Rectangle 48"/>
          <p:cNvSpPr>
            <a:spLocks noChangeArrowheads="1"/>
          </p:cNvSpPr>
          <p:nvPr/>
        </p:nvSpPr>
        <p:spPr bwMode="auto">
          <a:xfrm>
            <a:off x="1227138" y="5456238"/>
            <a:ext cx="1325563" cy="846138"/>
          </a:xfrm>
          <a:prstGeom prst="rect">
            <a:avLst/>
          </a:prstGeom>
          <a:solidFill>
            <a:srgbClr val="008000"/>
          </a:solidFill>
          <a:ln w="9525">
            <a:solidFill>
              <a:srgbClr val="FFFF00"/>
            </a:solidFill>
            <a:miter lim="800000"/>
            <a:headEnd type="none" w="sm" len="sm"/>
            <a:tailEnd type="none" w="sm" len="sm"/>
          </a:ln>
          <a:effectLst/>
        </p:spPr>
        <p:txBody>
          <a:bodyPr wrap="none" lIns="86173" tIns="43087" rIns="86173" bIns="43087" anchor="ctr"/>
          <a:lstStyle/>
          <a:p>
            <a:pPr marL="384175" marR="0" lvl="0" indent="-384175" algn="ctr" defTabSz="903605" rtl="0" eaLnBrk="1" fontAlgn="base" latinLnBrk="0" hangingPunct="1">
              <a:lnSpc>
                <a:spcPct val="90000"/>
              </a:lnSpc>
              <a:spcBef>
                <a:spcPct val="0"/>
              </a:spcBef>
              <a:spcAft>
                <a:spcPct val="0"/>
              </a:spcAft>
              <a:buClr>
                <a:srgbClr val="F6BF69"/>
              </a:buClr>
              <a:buSzTx/>
              <a:buFont typeface="Monotype Sorts" pitchFamily="2" charset="2"/>
              <a:buNone/>
              <a:defRPr/>
            </a:pPr>
            <a:r>
              <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rPr>
              <a:t>活动图</a:t>
            </a:r>
            <a:endParaRPr kumimoji="1" lang="zh-CN" altLang="en-US" sz="2600" b="1" i="0" u="none" strike="noStrike" kern="1200" cap="none" spc="0" normalizeH="0" baseline="0" noProof="0">
              <a:ln>
                <a:noFill/>
              </a:ln>
              <a:solidFill>
                <a:srgbClr val="CCFF66"/>
              </a:solidFill>
              <a:effectLst>
                <a:outerShdw blurRad="38100" dist="38100" dir="2700000" algn="tl">
                  <a:srgbClr val="000000"/>
                </a:outerShdw>
              </a:effectLst>
              <a:uLnTx/>
              <a:uFillTx/>
              <a:latin typeface="Comic Sans MS" panose="030F0702030302020204" pitchFamily="66" charset="0"/>
              <a:ea typeface="仿宋_GB2312" pitchFamily="49" charset="-122"/>
              <a:cs typeface="+mn-cs"/>
            </a:endParaRPr>
          </a:p>
        </p:txBody>
      </p:sp>
      <p:sp>
        <p:nvSpPr>
          <p:cNvPr id="33813" name="AutoShape 49"/>
          <p:cNvSpPr/>
          <p:nvPr/>
        </p:nvSpPr>
        <p:spPr>
          <a:xfrm>
            <a:off x="3787775" y="3433763"/>
            <a:ext cx="1281113" cy="1195387"/>
          </a:xfrm>
          <a:prstGeom prst="can">
            <a:avLst>
              <a:gd name="adj" fmla="val 39255"/>
            </a:avLst>
          </a:prstGeom>
          <a:solidFill>
            <a:srgbClr val="FF6600"/>
          </a:solidFill>
          <a:ln w="9525" cap="flat" cmpd="sng">
            <a:solidFill>
              <a:srgbClr val="FFFF00"/>
            </a:solidFill>
            <a:prstDash val="solid"/>
            <a:headEnd type="none" w="med" len="med"/>
            <a:tailEnd type="none" w="med" len="med"/>
          </a:ln>
        </p:spPr>
        <p:txBody>
          <a:bodyPr wrap="none" lIns="107950" tIns="53975" rIns="107950" bIns="53975"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33814" name="Rectangle 50"/>
          <p:cNvSpPr/>
          <p:nvPr/>
        </p:nvSpPr>
        <p:spPr>
          <a:xfrm>
            <a:off x="4013200" y="3971925"/>
            <a:ext cx="879475" cy="465138"/>
          </a:xfrm>
          <a:prstGeom prst="rect">
            <a:avLst/>
          </a:prstGeom>
          <a:noFill/>
          <a:ln w="9525">
            <a:noFill/>
          </a:ln>
        </p:spPr>
        <p:txBody>
          <a:bodyPr wrap="none" lIns="107950" tIns="53975" rIns="107950" bIns="5397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lnSpc>
                <a:spcPct val="90000"/>
              </a:lnSpc>
              <a:spcBef>
                <a:spcPct val="0"/>
              </a:spcBef>
              <a:buClr>
                <a:srgbClr val="F6BF69"/>
              </a:buClr>
              <a:buSzTx/>
              <a:buFont typeface="Monotype Sorts" pitchFamily="2" charset="2"/>
              <a:buNone/>
            </a:pPr>
            <a:r>
              <a:rPr lang="zh-CN" altLang="en-US" b="1" dirty="0">
                <a:solidFill>
                  <a:srgbClr val="CCFFCC"/>
                </a:solidFill>
                <a:latin typeface="Comic Sans MS" panose="030F0702030302020204" pitchFamily="66" charset="0"/>
                <a:ea typeface="仿宋_GB2312" pitchFamily="49" charset="-122"/>
              </a:rPr>
              <a:t>模型</a:t>
            </a:r>
            <a:endParaRPr lang="zh-CN" altLang="en-US" b="1" dirty="0">
              <a:solidFill>
                <a:srgbClr val="CCFFCC"/>
              </a:solidFill>
              <a:latin typeface="Comic Sans MS" panose="030F0702030302020204" pitchFamily="66" charset="0"/>
              <a:ea typeface="仿宋_GB2312" pitchFamily="49" charset="-122"/>
            </a:endParaRPr>
          </a:p>
        </p:txBody>
      </p:sp>
      <p:sp>
        <p:nvSpPr>
          <p:cNvPr id="3" name="矩形 2"/>
          <p:cNvSpPr/>
          <p:nvPr/>
        </p:nvSpPr>
        <p:spPr>
          <a:xfrm>
            <a:off x="527050" y="1792288"/>
            <a:ext cx="2517775" cy="465455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5" name="TextBox 4"/>
          <p:cNvSpPr txBox="1"/>
          <p:nvPr/>
        </p:nvSpPr>
        <p:spPr>
          <a:xfrm>
            <a:off x="527050" y="2154238"/>
            <a:ext cx="506413" cy="2062162"/>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动态行为</a:t>
            </a:r>
            <a:endParaRPr lang="zh-CN" altLang="en-US" sz="3200" b="1" dirty="0">
              <a:latin typeface="黑体" panose="02010609060101010101" pitchFamily="49" charset="-122"/>
              <a:ea typeface="黑体" panose="02010609060101010101" pitchFamily="49" charset="-122"/>
            </a:endParaRPr>
          </a:p>
        </p:txBody>
      </p:sp>
      <p:sp>
        <p:nvSpPr>
          <p:cNvPr id="56" name="矩形 55"/>
          <p:cNvSpPr/>
          <p:nvPr/>
        </p:nvSpPr>
        <p:spPr>
          <a:xfrm>
            <a:off x="3159125" y="974725"/>
            <a:ext cx="2517775" cy="1468438"/>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57" name="TextBox 56"/>
          <p:cNvSpPr txBox="1"/>
          <p:nvPr/>
        </p:nvSpPr>
        <p:spPr>
          <a:xfrm>
            <a:off x="3190875" y="981075"/>
            <a:ext cx="1744663" cy="585788"/>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功能</a:t>
            </a:r>
            <a:endParaRPr lang="zh-CN" altLang="en-US" sz="3200" b="1" dirty="0">
              <a:latin typeface="黑体" panose="02010609060101010101" pitchFamily="49" charset="-122"/>
              <a:ea typeface="黑体" panose="02010609060101010101" pitchFamily="49" charset="-122"/>
            </a:endParaRPr>
          </a:p>
        </p:txBody>
      </p:sp>
      <p:sp>
        <p:nvSpPr>
          <p:cNvPr id="58" name="矩形 57"/>
          <p:cNvSpPr/>
          <p:nvPr/>
        </p:nvSpPr>
        <p:spPr>
          <a:xfrm>
            <a:off x="6072188" y="1381125"/>
            <a:ext cx="2517775" cy="290512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59" name="TextBox 58"/>
          <p:cNvSpPr txBox="1"/>
          <p:nvPr/>
        </p:nvSpPr>
        <p:spPr>
          <a:xfrm>
            <a:off x="7861300" y="1801813"/>
            <a:ext cx="730250" cy="2062162"/>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静态结构</a:t>
            </a:r>
            <a:endParaRPr lang="zh-CN" altLang="en-US" sz="3200" b="1" dirty="0">
              <a:latin typeface="黑体" panose="02010609060101010101" pitchFamily="49" charset="-122"/>
              <a:ea typeface="黑体" panose="02010609060101010101" pitchFamily="49" charset="-122"/>
            </a:endParaRPr>
          </a:p>
        </p:txBody>
      </p:sp>
      <p:sp>
        <p:nvSpPr>
          <p:cNvPr id="60" name="矩形 59"/>
          <p:cNvSpPr/>
          <p:nvPr/>
        </p:nvSpPr>
        <p:spPr>
          <a:xfrm>
            <a:off x="3438525" y="4994275"/>
            <a:ext cx="4937125" cy="1452563"/>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61" name="TextBox 60"/>
          <p:cNvSpPr txBox="1"/>
          <p:nvPr/>
        </p:nvSpPr>
        <p:spPr>
          <a:xfrm>
            <a:off x="7194550" y="5203825"/>
            <a:ext cx="1181100" cy="107791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物理架构</a:t>
            </a:r>
            <a:endParaRPr lang="zh-CN" altLang="en-US" sz="3200" b="1" dirty="0">
              <a:latin typeface="黑体" panose="02010609060101010101" pitchFamily="49" charset="-122"/>
              <a:ea typeface="黑体" panose="02010609060101010101" pitchFamily="49" charset="-122"/>
            </a:endParaRPr>
          </a:p>
        </p:txBody>
      </p:sp>
      <p:sp>
        <p:nvSpPr>
          <p:cNvPr id="2" name="矩形 1"/>
          <p:cNvSpPr/>
          <p:nvPr/>
        </p:nvSpPr>
        <p:spPr>
          <a:xfrm>
            <a:off x="382588" y="1485900"/>
            <a:ext cx="8569325" cy="1504950"/>
          </a:xfrm>
          <a:prstGeom prst="rect">
            <a:avLst/>
          </a:prstGeom>
          <a:noFill/>
          <a:ln w="1016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6"/>
                                        </p:tgtEl>
                                        <p:attrNameLst>
                                          <p:attrName>style.visibility</p:attrName>
                                        </p:attrNameLst>
                                      </p:cBhvr>
                                      <p:to>
                                        <p:strVal val="visible"/>
                                      </p:to>
                                    </p:set>
                                    <p:anim calcmode="lin" valueType="num">
                                      <p:cBhvr additive="base">
                                        <p:cTn id="18" dur="500" fill="hold"/>
                                        <p:tgtEl>
                                          <p:spTgt spid="56"/>
                                        </p:tgtEl>
                                        <p:attrNameLst>
                                          <p:attrName>ppt_x</p:attrName>
                                        </p:attrNameLst>
                                      </p:cBhvr>
                                      <p:tavLst>
                                        <p:tav tm="0">
                                          <p:val>
                                            <p:strVal val="#ppt_x"/>
                                          </p:val>
                                        </p:tav>
                                        <p:tav tm="100000">
                                          <p:val>
                                            <p:strVal val="#ppt_x"/>
                                          </p:val>
                                        </p:tav>
                                      </p:tavLst>
                                    </p:anim>
                                    <p:anim calcmode="lin" valueType="num">
                                      <p:cBhvr additive="base">
                                        <p:cTn id="19" dur="500" fill="hold"/>
                                        <p:tgtEl>
                                          <p:spTgt spid="56"/>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grpId="0" nodeType="afterEffect">
                                  <p:stCondLst>
                                    <p:cond delay="0"/>
                                  </p:stCondLst>
                                  <p:childTnLst>
                                    <p:set>
                                      <p:cBhvr>
                                        <p:cTn id="22" dur="1" fill="hold">
                                          <p:stCondLst>
                                            <p:cond delay="0"/>
                                          </p:stCondLst>
                                        </p:cTn>
                                        <p:tgtEl>
                                          <p:spTgt spid="57"/>
                                        </p:tgtEl>
                                        <p:attrNameLst>
                                          <p:attrName>style.visibility</p:attrName>
                                        </p:attrNameLst>
                                      </p:cBhvr>
                                      <p:to>
                                        <p:strVal val="visible"/>
                                      </p:to>
                                    </p:set>
                                    <p:anim calcmode="lin" valueType="num">
                                      <p:cBhvr additive="base">
                                        <p:cTn id="23" dur="500" fill="hold"/>
                                        <p:tgtEl>
                                          <p:spTgt spid="57"/>
                                        </p:tgtEl>
                                        <p:attrNameLst>
                                          <p:attrName>ppt_x</p:attrName>
                                        </p:attrNameLst>
                                      </p:cBhvr>
                                      <p:tavLst>
                                        <p:tav tm="0">
                                          <p:val>
                                            <p:strVal val="#ppt_x"/>
                                          </p:val>
                                        </p:tav>
                                        <p:tav tm="100000">
                                          <p:val>
                                            <p:strVal val="#ppt_x"/>
                                          </p:val>
                                        </p:tav>
                                      </p:tavLst>
                                    </p:anim>
                                    <p:anim calcmode="lin" valueType="num">
                                      <p:cBhvr additive="base">
                                        <p:cTn id="24"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8"/>
                                        </p:tgtEl>
                                        <p:attrNameLst>
                                          <p:attrName>style.visibility</p:attrName>
                                        </p:attrNameLst>
                                      </p:cBhvr>
                                      <p:to>
                                        <p:strVal val="visible"/>
                                      </p:to>
                                    </p:set>
                                    <p:anim calcmode="lin" valueType="num">
                                      <p:cBhvr additive="base">
                                        <p:cTn id="29" dur="500" fill="hold"/>
                                        <p:tgtEl>
                                          <p:spTgt spid="58"/>
                                        </p:tgtEl>
                                        <p:attrNameLst>
                                          <p:attrName>ppt_x</p:attrName>
                                        </p:attrNameLst>
                                      </p:cBhvr>
                                      <p:tavLst>
                                        <p:tav tm="0">
                                          <p:val>
                                            <p:strVal val="#ppt_x"/>
                                          </p:val>
                                        </p:tav>
                                        <p:tav tm="100000">
                                          <p:val>
                                            <p:strVal val="#ppt_x"/>
                                          </p:val>
                                        </p:tav>
                                      </p:tavLst>
                                    </p:anim>
                                    <p:anim calcmode="lin" valueType="num">
                                      <p:cBhvr additive="base">
                                        <p:cTn id="30" dur="500" fill="hold"/>
                                        <p:tgtEl>
                                          <p:spTgt spid="5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9"/>
                                        </p:tgtEl>
                                        <p:attrNameLst>
                                          <p:attrName>style.visibility</p:attrName>
                                        </p:attrNameLst>
                                      </p:cBhvr>
                                      <p:to>
                                        <p:strVal val="visible"/>
                                      </p:to>
                                    </p:set>
                                    <p:anim calcmode="lin" valueType="num">
                                      <p:cBhvr additive="base">
                                        <p:cTn id="33" dur="500" fill="hold"/>
                                        <p:tgtEl>
                                          <p:spTgt spid="59"/>
                                        </p:tgtEl>
                                        <p:attrNameLst>
                                          <p:attrName>ppt_x</p:attrName>
                                        </p:attrNameLst>
                                      </p:cBhvr>
                                      <p:tavLst>
                                        <p:tav tm="0">
                                          <p:val>
                                            <p:strVal val="#ppt_x"/>
                                          </p:val>
                                        </p:tav>
                                        <p:tav tm="100000">
                                          <p:val>
                                            <p:strVal val="#ppt_x"/>
                                          </p:val>
                                        </p:tav>
                                      </p:tavLst>
                                    </p:anim>
                                    <p:anim calcmode="lin" valueType="num">
                                      <p:cBhvr additive="base">
                                        <p:cTn id="34"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60"/>
                                        </p:tgtEl>
                                        <p:attrNameLst>
                                          <p:attrName>style.visibility</p:attrName>
                                        </p:attrNameLst>
                                      </p:cBhvr>
                                      <p:to>
                                        <p:strVal val="visible"/>
                                      </p:to>
                                    </p:set>
                                    <p:anim calcmode="lin" valueType="num">
                                      <p:cBhvr additive="base">
                                        <p:cTn id="39" dur="500" fill="hold"/>
                                        <p:tgtEl>
                                          <p:spTgt spid="60"/>
                                        </p:tgtEl>
                                        <p:attrNameLst>
                                          <p:attrName>ppt_x</p:attrName>
                                        </p:attrNameLst>
                                      </p:cBhvr>
                                      <p:tavLst>
                                        <p:tav tm="0">
                                          <p:val>
                                            <p:strVal val="#ppt_x"/>
                                          </p:val>
                                        </p:tav>
                                        <p:tav tm="100000">
                                          <p:val>
                                            <p:strVal val="#ppt_x"/>
                                          </p:val>
                                        </p:tav>
                                      </p:tavLst>
                                    </p:anim>
                                    <p:anim calcmode="lin" valueType="num">
                                      <p:cBhvr additive="base">
                                        <p:cTn id="40" dur="500" fill="hold"/>
                                        <p:tgtEl>
                                          <p:spTgt spid="6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61"/>
                                        </p:tgtEl>
                                        <p:attrNameLst>
                                          <p:attrName>style.visibility</p:attrName>
                                        </p:attrNameLst>
                                      </p:cBhvr>
                                      <p:to>
                                        <p:strVal val="visible"/>
                                      </p:to>
                                    </p:set>
                                    <p:anim calcmode="lin" valueType="num">
                                      <p:cBhvr additive="base">
                                        <p:cTn id="43" dur="500" fill="hold"/>
                                        <p:tgtEl>
                                          <p:spTgt spid="61"/>
                                        </p:tgtEl>
                                        <p:attrNameLst>
                                          <p:attrName>ppt_x</p:attrName>
                                        </p:attrNameLst>
                                      </p:cBhvr>
                                      <p:tavLst>
                                        <p:tav tm="0">
                                          <p:val>
                                            <p:strVal val="#ppt_x"/>
                                          </p:val>
                                        </p:tav>
                                        <p:tav tm="100000">
                                          <p:val>
                                            <p:strVal val="#ppt_x"/>
                                          </p:val>
                                        </p:tav>
                                      </p:tavLst>
                                    </p:anim>
                                    <p:anim calcmode="lin" valueType="num">
                                      <p:cBhvr additive="base">
                                        <p:cTn id="44"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gtEl>
                                        <p:attrNameLst>
                                          <p:attrName>style.visibility</p:attrName>
                                        </p:attrNameLst>
                                      </p:cBhvr>
                                      <p:to>
                                        <p:strVal val="visible"/>
                                      </p:to>
                                    </p:set>
                                    <p:anim calcmode="lin" valueType="num">
                                      <p:cBhvr additive="base">
                                        <p:cTn id="49" dur="500" fill="hold"/>
                                        <p:tgtEl>
                                          <p:spTgt spid="2"/>
                                        </p:tgtEl>
                                        <p:attrNameLst>
                                          <p:attrName>ppt_x</p:attrName>
                                        </p:attrNameLst>
                                      </p:cBhvr>
                                      <p:tavLst>
                                        <p:tav tm="0">
                                          <p:val>
                                            <p:strVal val="#ppt_x"/>
                                          </p:val>
                                        </p:tav>
                                        <p:tav tm="100000">
                                          <p:val>
                                            <p:strVal val="#ppt_x"/>
                                          </p:val>
                                        </p:tav>
                                      </p:tavLst>
                                    </p:anim>
                                    <p:anim calcmode="lin" valueType="num">
                                      <p:cBhvr additive="base">
                                        <p:cTn id="5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56" grpId="0" animBg="1"/>
      <p:bldP spid="57" grpId="0"/>
      <p:bldP spid="58" grpId="0" animBg="1"/>
      <p:bldP spid="59" grpId="0"/>
      <p:bldP spid="60" grpId="0" animBg="1"/>
      <p:bldP spid="61" grpId="0"/>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灯片编号占位符 5"/>
          <p:cNvSpPr txBox="1">
            <a:spLocks noGrp="1"/>
          </p:cNvSpPr>
          <p:nvPr>
            <p:ph type="sldNum" sz="quarter" idx="12"/>
          </p:nvPr>
        </p:nvSpPr>
        <p:spPr>
          <a:xfrm>
            <a:off x="2659063" y="6345238"/>
            <a:ext cx="3343275" cy="363537"/>
          </a:xfrm>
          <a:noFill/>
          <a:ln>
            <a:noFill/>
          </a:ln>
        </p:spPr>
        <p:txBody>
          <a:bodyPr lIns="0" tIns="0" rIns="0" bIns="0" anchor="b" anchorCtr="0"/>
          <a:p>
            <a:pPr marL="0" indent="0"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34819" name="Text Box 4"/>
          <p:cNvSpPr/>
          <p:nvPr>
            <p:ph type="title"/>
          </p:nvPr>
        </p:nvSpPr>
        <p:spPr>
          <a:xfrm>
            <a:off x="311150" y="398463"/>
            <a:ext cx="9361488" cy="790575"/>
          </a:xfrm>
          <a:ln/>
        </p:spPr>
        <p:txBody>
          <a:bodyPr vert="horz" wrap="square" lIns="0" tIns="45610" rIns="0" bIns="0" anchor="b" anchorCtr="0"/>
          <a:p>
            <a:pPr>
              <a:lnSpc>
                <a:spcPts val="4000"/>
              </a:lnSpc>
            </a:pPr>
            <a:r>
              <a:rPr lang="en-US" altLang="zh-CN" b="1" dirty="0">
                <a:latin typeface="微软雅黑" panose="020B0503020204020204" pitchFamily="34" charset="-122"/>
                <a:ea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rPr>
              <a:t>用例图</a:t>
            </a:r>
            <a:endParaRPr lang="zh-CN" altLang="en-US" b="1" dirty="0">
              <a:latin typeface="微软雅黑" panose="020B0503020204020204" pitchFamily="34" charset="-122"/>
              <a:ea typeface="微软雅黑" panose="020B0503020204020204" pitchFamily="34" charset="-122"/>
            </a:endParaRPr>
          </a:p>
        </p:txBody>
      </p:sp>
      <p:sp>
        <p:nvSpPr>
          <p:cNvPr id="34820" name="Rectangle 3"/>
          <p:cNvSpPr>
            <a:spLocks noGrp="1"/>
          </p:cNvSpPr>
          <p:nvPr>
            <p:ph type="body" sz="half" idx="1"/>
          </p:nvPr>
        </p:nvSpPr>
        <p:spPr>
          <a:xfrm>
            <a:off x="455613" y="1357313"/>
            <a:ext cx="8280400" cy="3001962"/>
          </a:xfrm>
          <a:ln/>
        </p:spPr>
        <p:txBody>
          <a:bodyPr vert="horz" wrap="square" lIns="91221" tIns="45610" rIns="91221" bIns="45610" anchor="t" anchorCtr="0"/>
          <a:p>
            <a:pPr>
              <a:buClr>
                <a:srgbClr val="0BD0D9"/>
              </a:buClr>
              <a:buSzPct val="95000"/>
              <a:buFont typeface="Wingdings" panose="05000000000000000000" pitchFamily="2" charset="2"/>
              <a:buChar char="p"/>
            </a:pPr>
            <a:r>
              <a:rPr lang="zh-CN" altLang="en-US" sz="2400" b="1" dirty="0"/>
              <a:t>说明和定义软件系统的功能需求</a:t>
            </a:r>
            <a:endParaRPr lang="en-US" altLang="zh-CN" sz="2400" b="1" dirty="0"/>
          </a:p>
          <a:p>
            <a:pPr>
              <a:buClr>
                <a:srgbClr val="0BD0D9"/>
              </a:buClr>
              <a:buSzPct val="95000"/>
              <a:buFont typeface="Wingdings" panose="05000000000000000000" pitchFamily="2" charset="2"/>
              <a:buChar char="p"/>
            </a:pPr>
            <a:r>
              <a:rPr lang="zh-CN" altLang="en-US" sz="2400" b="1" dirty="0"/>
              <a:t>从系统外部观看系统功能，并不描述系统内部对功能的具体实现</a:t>
            </a:r>
            <a:endParaRPr lang="zh-CN" altLang="en-US" sz="2400" b="1" dirty="0"/>
          </a:p>
          <a:p>
            <a:pPr marL="273050" lvl="1" indent="-273050">
              <a:buClr>
                <a:srgbClr val="0BD0D9"/>
              </a:buClr>
              <a:buSzPct val="95000"/>
              <a:buFont typeface="Wingdings" panose="05000000000000000000" pitchFamily="2" charset="2"/>
              <a:buChar char="p"/>
            </a:pPr>
            <a:r>
              <a:rPr lang="zh-CN" altLang="en-US" b="1" dirty="0"/>
              <a:t>展现一组用例、参与者及其它们之间的关系</a:t>
            </a:r>
            <a:endParaRPr lang="zh-CN" altLang="en-US" b="1" dirty="0"/>
          </a:p>
          <a:p>
            <a:pPr>
              <a:buClr>
                <a:srgbClr val="0BD0D9"/>
              </a:buClr>
              <a:buSzPct val="95000"/>
              <a:buFont typeface="Wingdings" panose="05000000000000000000" pitchFamily="2" charset="2"/>
              <a:buChar char="p"/>
            </a:pPr>
            <a:r>
              <a:rPr lang="zh-CN" altLang="en-US" sz="2400" b="1" dirty="0"/>
              <a:t>表示符号</a:t>
            </a:r>
            <a:endParaRPr lang="zh-CN" altLang="en-US" sz="2400" b="1" dirty="0"/>
          </a:p>
        </p:txBody>
      </p:sp>
      <p:pic>
        <p:nvPicPr>
          <p:cNvPr id="34821" name="Picture 4"/>
          <p:cNvPicPr>
            <a:picLocks noChangeAspect="1"/>
          </p:cNvPicPr>
          <p:nvPr/>
        </p:nvPicPr>
        <p:blipFill>
          <a:blip r:embed="rId1"/>
          <a:stretch>
            <a:fillRect/>
          </a:stretch>
        </p:blipFill>
        <p:spPr>
          <a:xfrm>
            <a:off x="1606550" y="3422650"/>
            <a:ext cx="5059363" cy="2879725"/>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灯片编号占位符 4"/>
          <p:cNvSpPr txBox="1">
            <a:spLocks noGrp="1"/>
          </p:cNvSpPr>
          <p:nvPr>
            <p:ph type="sldNum" sz="quarter" idx="12"/>
          </p:nvPr>
        </p:nvSpPr>
        <p:spPr>
          <a:xfrm>
            <a:off x="2659063" y="6345238"/>
            <a:ext cx="3343275" cy="363537"/>
          </a:xfrm>
          <a:noFill/>
          <a:ln>
            <a:noFill/>
          </a:ln>
        </p:spPr>
        <p:txBody>
          <a:bodyPr lIns="0" tIns="0" rIns="0" bIns="0" anchor="b" anchorCtr="0"/>
          <a:p>
            <a:pPr marL="0" indent="0"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35843" name="Rectangle 3"/>
          <p:cNvSpPr>
            <a:spLocks noGrp="1"/>
          </p:cNvSpPr>
          <p:nvPr>
            <p:ph idx="1"/>
          </p:nvPr>
        </p:nvSpPr>
        <p:spPr>
          <a:xfrm>
            <a:off x="238125" y="1622425"/>
            <a:ext cx="8642350" cy="5040313"/>
          </a:xfrm>
          <a:ln/>
        </p:spPr>
        <p:txBody>
          <a:bodyPr vert="horz" wrap="square" lIns="91221" tIns="45610" rIns="91221" bIns="45610" anchor="t" anchorCtr="0"/>
          <a:p>
            <a:pPr marL="273050" lvl="1" indent="-273050">
              <a:lnSpc>
                <a:spcPct val="90000"/>
              </a:lnSpc>
              <a:buClr>
                <a:srgbClr val="0BD0D9"/>
              </a:buClr>
              <a:buSzPct val="95000"/>
              <a:buFont typeface="Wingdings" panose="05000000000000000000" pitchFamily="2" charset="2"/>
              <a:buChar char="p"/>
            </a:pPr>
            <a:r>
              <a:rPr lang="zh-CN" altLang="en-US" b="1" dirty="0"/>
              <a:t>描述系统的静态结构</a:t>
            </a:r>
            <a:endParaRPr lang="en-US" altLang="zh-CN" b="1" dirty="0"/>
          </a:p>
          <a:p>
            <a:pPr marL="273050" lvl="1" indent="-273050">
              <a:lnSpc>
                <a:spcPct val="90000"/>
              </a:lnSpc>
              <a:buClr>
                <a:srgbClr val="0BD0D9"/>
              </a:buClr>
              <a:buSzPct val="95000"/>
              <a:buFont typeface="Wingdings" panose="05000000000000000000" pitchFamily="2" charset="2"/>
              <a:buChar char="p"/>
            </a:pPr>
            <a:r>
              <a:rPr lang="zh-CN" altLang="en-US" b="1" dirty="0"/>
              <a:t>展示系统中的类、类的属性和操作、以及类与类之间的关系</a:t>
            </a:r>
            <a:endParaRPr lang="zh-CN" altLang="en-US" b="1" dirty="0"/>
          </a:p>
        </p:txBody>
      </p:sp>
      <p:sp>
        <p:nvSpPr>
          <p:cNvPr id="35844" name="Rectangle 5"/>
          <p:cNvSpPr>
            <a:spLocks noGrp="1"/>
          </p:cNvSpPr>
          <p:nvPr>
            <p:ph type="title"/>
          </p:nvPr>
        </p:nvSpPr>
        <p:spPr>
          <a:xfrm>
            <a:off x="455613" y="327025"/>
            <a:ext cx="8207375" cy="1139825"/>
          </a:xfrm>
          <a:ln/>
        </p:spPr>
        <p:txBody>
          <a:bodyPr vert="horz" wrap="square" lIns="0" tIns="45610" rIns="0" bIns="0" anchor="b" anchorCtr="0"/>
          <a:p>
            <a:r>
              <a:rPr lang="en-US" altLang="zh-CN" b="1" dirty="0">
                <a:latin typeface="微软雅黑" panose="020B0503020204020204" pitchFamily="34" charset="-122"/>
                <a:ea typeface="微软雅黑" panose="020B0503020204020204" pitchFamily="34" charset="-122"/>
              </a:rPr>
              <a:t>2 </a:t>
            </a:r>
            <a:r>
              <a:rPr lang="zh-CN" altLang="en-US" b="1" dirty="0">
                <a:latin typeface="微软雅黑" panose="020B0503020204020204" pitchFamily="34" charset="-122"/>
                <a:ea typeface="微软雅黑" panose="020B0503020204020204" pitchFamily="34" charset="-122"/>
              </a:rPr>
              <a:t>类图</a:t>
            </a:r>
            <a:endParaRPr lang="zh-CN" altLang="en-US" b="1" dirty="0">
              <a:latin typeface="微软雅黑" panose="020B0503020204020204" pitchFamily="34" charset="-122"/>
              <a:ea typeface="微软雅黑" panose="020B0503020204020204" pitchFamily="34" charset="-122"/>
            </a:endParaRPr>
          </a:p>
        </p:txBody>
      </p:sp>
      <p:grpSp>
        <p:nvGrpSpPr>
          <p:cNvPr id="35845" name="Group 90"/>
          <p:cNvGrpSpPr/>
          <p:nvPr/>
        </p:nvGrpSpPr>
        <p:grpSpPr>
          <a:xfrm>
            <a:off x="825500" y="2697163"/>
            <a:ext cx="7694613" cy="3678237"/>
            <a:chOff x="79" y="839"/>
            <a:chExt cx="5542" cy="3070"/>
          </a:xfrm>
        </p:grpSpPr>
        <p:grpSp>
          <p:nvGrpSpPr>
            <p:cNvPr id="35846" name="Group 89"/>
            <p:cNvGrpSpPr/>
            <p:nvPr/>
          </p:nvGrpSpPr>
          <p:grpSpPr>
            <a:xfrm>
              <a:off x="79" y="2203"/>
              <a:ext cx="1173" cy="540"/>
              <a:chOff x="79" y="2203"/>
              <a:chExt cx="1173" cy="540"/>
            </a:xfrm>
          </p:grpSpPr>
          <p:sp>
            <p:nvSpPr>
              <p:cNvPr id="35918" name="Rectangle 5"/>
              <p:cNvSpPr/>
              <p:nvPr/>
            </p:nvSpPr>
            <p:spPr>
              <a:xfrm>
                <a:off x="129" y="2238"/>
                <a:ext cx="830"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RegistrationUser</a:t>
                </a:r>
                <a:endParaRPr lang="en-US" altLang="zh-CN" sz="1200" b="1" dirty="0">
                  <a:latin typeface="Times New Roman" panose="02020603050405020304" pitchFamily="18" charset="0"/>
                  <a:ea typeface="黑体" panose="02010609060101010101" pitchFamily="49" charset="-122"/>
                </a:endParaRPr>
              </a:p>
            </p:txBody>
          </p:sp>
          <p:sp>
            <p:nvSpPr>
              <p:cNvPr id="35919" name="Line 6"/>
              <p:cNvSpPr/>
              <p:nvPr/>
            </p:nvSpPr>
            <p:spPr>
              <a:xfrm>
                <a:off x="80" y="2461"/>
                <a:ext cx="1172" cy="1"/>
              </a:xfrm>
              <a:prstGeom prst="line">
                <a:avLst/>
              </a:prstGeom>
              <a:ln w="12700" cap="flat" cmpd="sng">
                <a:solidFill>
                  <a:schemeClr val="tx1"/>
                </a:solidFill>
                <a:prstDash val="solid"/>
                <a:headEnd type="none" w="med" len="med"/>
                <a:tailEnd type="none" w="med" len="med"/>
              </a:ln>
            </p:spPr>
          </p:sp>
          <p:sp>
            <p:nvSpPr>
              <p:cNvPr id="35920" name="Rectangle 7"/>
              <p:cNvSpPr/>
              <p:nvPr/>
            </p:nvSpPr>
            <p:spPr>
              <a:xfrm>
                <a:off x="79" y="2203"/>
                <a:ext cx="1167" cy="540"/>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35921" name="Line 8"/>
              <p:cNvSpPr/>
              <p:nvPr/>
            </p:nvSpPr>
            <p:spPr>
              <a:xfrm>
                <a:off x="80" y="2557"/>
                <a:ext cx="1163" cy="1"/>
              </a:xfrm>
              <a:prstGeom prst="line">
                <a:avLst/>
              </a:prstGeom>
              <a:ln w="12700" cap="flat" cmpd="sng">
                <a:solidFill>
                  <a:schemeClr val="tx1"/>
                </a:solidFill>
                <a:prstDash val="solid"/>
                <a:headEnd type="none" w="med" len="med"/>
                <a:tailEnd type="none" w="med" len="med"/>
              </a:ln>
            </p:spPr>
          </p:sp>
        </p:grpSp>
        <p:sp>
          <p:nvSpPr>
            <p:cNvPr id="35847" name="Rectangle 9"/>
            <p:cNvSpPr/>
            <p:nvPr/>
          </p:nvSpPr>
          <p:spPr>
            <a:xfrm>
              <a:off x="1444" y="1876"/>
              <a:ext cx="1046"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RegistrationManager</a:t>
              </a:r>
              <a:endParaRPr lang="en-US" altLang="zh-CN" sz="1200" b="1" dirty="0">
                <a:latin typeface="Times New Roman" panose="02020603050405020304" pitchFamily="18" charset="0"/>
                <a:ea typeface="黑体" panose="02010609060101010101" pitchFamily="49" charset="-122"/>
              </a:endParaRPr>
            </a:p>
          </p:txBody>
        </p:sp>
        <p:sp>
          <p:nvSpPr>
            <p:cNvPr id="35848" name="Rectangle 10"/>
            <p:cNvSpPr/>
            <p:nvPr/>
          </p:nvSpPr>
          <p:spPr>
            <a:xfrm>
              <a:off x="1378" y="1847"/>
              <a:ext cx="2130" cy="629"/>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35849" name="Line 11"/>
            <p:cNvSpPr/>
            <p:nvPr/>
          </p:nvSpPr>
          <p:spPr>
            <a:xfrm>
              <a:off x="1382" y="2104"/>
              <a:ext cx="2123" cy="1"/>
            </a:xfrm>
            <a:prstGeom prst="line">
              <a:avLst/>
            </a:prstGeom>
            <a:ln w="12700" cap="flat" cmpd="sng">
              <a:solidFill>
                <a:schemeClr val="tx1"/>
              </a:solidFill>
              <a:prstDash val="solid"/>
              <a:headEnd type="none" w="med" len="med"/>
              <a:tailEnd type="none" w="med" len="med"/>
            </a:ln>
          </p:spPr>
        </p:sp>
        <p:sp>
          <p:nvSpPr>
            <p:cNvPr id="35850" name="Line 12"/>
            <p:cNvSpPr/>
            <p:nvPr/>
          </p:nvSpPr>
          <p:spPr>
            <a:xfrm flipV="1">
              <a:off x="1378" y="2241"/>
              <a:ext cx="2126" cy="0"/>
            </a:xfrm>
            <a:prstGeom prst="line">
              <a:avLst/>
            </a:prstGeom>
            <a:ln w="12700" cap="flat" cmpd="sng">
              <a:solidFill>
                <a:schemeClr val="tx1"/>
              </a:solidFill>
              <a:prstDash val="solid"/>
              <a:headEnd type="none" w="med" len="med"/>
              <a:tailEnd type="none" w="med" len="med"/>
            </a:ln>
          </p:spPr>
        </p:sp>
        <p:sp>
          <p:nvSpPr>
            <p:cNvPr id="35851" name="Rectangle 13"/>
            <p:cNvSpPr/>
            <p:nvPr/>
          </p:nvSpPr>
          <p:spPr>
            <a:xfrm>
              <a:off x="1422" y="2267"/>
              <a:ext cx="1624"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addStudent(Course, StudentInfo)</a:t>
              </a:r>
              <a:endParaRPr lang="en-US" altLang="zh-CN" sz="1200" b="1" dirty="0">
                <a:latin typeface="Times New Roman" panose="02020603050405020304" pitchFamily="18" charset="0"/>
                <a:ea typeface="黑体" panose="02010609060101010101" pitchFamily="49" charset="-122"/>
              </a:endParaRPr>
            </a:p>
          </p:txBody>
        </p:sp>
        <p:grpSp>
          <p:nvGrpSpPr>
            <p:cNvPr id="35852" name="Group 86"/>
            <p:cNvGrpSpPr/>
            <p:nvPr/>
          </p:nvGrpSpPr>
          <p:grpSpPr>
            <a:xfrm>
              <a:off x="3989" y="1632"/>
              <a:ext cx="1632" cy="910"/>
              <a:chOff x="3989" y="1632"/>
              <a:chExt cx="1632" cy="910"/>
            </a:xfrm>
          </p:grpSpPr>
          <p:sp>
            <p:nvSpPr>
              <p:cNvPr id="35910" name="Rectangle 15"/>
              <p:cNvSpPr/>
              <p:nvPr/>
            </p:nvSpPr>
            <p:spPr>
              <a:xfrm>
                <a:off x="4138" y="1651"/>
                <a:ext cx="348"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Course</a:t>
                </a:r>
                <a:endParaRPr lang="en-US" altLang="zh-CN" sz="1200" b="1" dirty="0">
                  <a:latin typeface="Times New Roman" panose="02020603050405020304" pitchFamily="18" charset="0"/>
                  <a:ea typeface="黑体" panose="02010609060101010101" pitchFamily="49" charset="-122"/>
                </a:endParaRPr>
              </a:p>
            </p:txBody>
          </p:sp>
          <p:sp>
            <p:nvSpPr>
              <p:cNvPr id="35911" name="Rectangle 16"/>
              <p:cNvSpPr/>
              <p:nvPr/>
            </p:nvSpPr>
            <p:spPr>
              <a:xfrm>
                <a:off x="3989" y="1632"/>
                <a:ext cx="1628" cy="910"/>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35912" name="Line 17"/>
              <p:cNvSpPr/>
              <p:nvPr/>
            </p:nvSpPr>
            <p:spPr>
              <a:xfrm>
                <a:off x="3996" y="1857"/>
                <a:ext cx="1620" cy="1"/>
              </a:xfrm>
              <a:prstGeom prst="line">
                <a:avLst/>
              </a:prstGeom>
              <a:ln w="12700" cap="flat" cmpd="sng">
                <a:solidFill>
                  <a:schemeClr val="tx1"/>
                </a:solidFill>
                <a:prstDash val="solid"/>
                <a:headEnd type="none" w="med" len="med"/>
                <a:tailEnd type="none" w="med" len="med"/>
              </a:ln>
            </p:spPr>
          </p:sp>
          <p:sp>
            <p:nvSpPr>
              <p:cNvPr id="35913" name="Line 18"/>
              <p:cNvSpPr/>
              <p:nvPr/>
            </p:nvSpPr>
            <p:spPr>
              <a:xfrm>
                <a:off x="3992" y="2194"/>
                <a:ext cx="1629" cy="1"/>
              </a:xfrm>
              <a:prstGeom prst="line">
                <a:avLst/>
              </a:prstGeom>
              <a:ln w="12700" cap="flat" cmpd="sng">
                <a:solidFill>
                  <a:schemeClr val="tx1"/>
                </a:solidFill>
                <a:prstDash val="solid"/>
                <a:headEnd type="none" w="med" len="med"/>
                <a:tailEnd type="none" w="med" len="med"/>
              </a:ln>
            </p:spPr>
          </p:sp>
          <p:sp>
            <p:nvSpPr>
              <p:cNvPr id="35914" name="Rectangle 19"/>
              <p:cNvSpPr/>
              <p:nvPr/>
            </p:nvSpPr>
            <p:spPr>
              <a:xfrm>
                <a:off x="4045" y="1853"/>
                <a:ext cx="266"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name</a:t>
                </a:r>
                <a:endParaRPr lang="en-US" altLang="zh-CN" sz="1200" b="1" dirty="0">
                  <a:latin typeface="Times New Roman" panose="02020603050405020304" pitchFamily="18" charset="0"/>
                  <a:ea typeface="黑体" panose="02010609060101010101" pitchFamily="49" charset="-122"/>
                </a:endParaRPr>
              </a:p>
            </p:txBody>
          </p:sp>
          <p:sp>
            <p:nvSpPr>
              <p:cNvPr id="35915" name="Rectangle 20"/>
              <p:cNvSpPr/>
              <p:nvPr/>
            </p:nvSpPr>
            <p:spPr>
              <a:xfrm>
                <a:off x="4045" y="1981"/>
                <a:ext cx="745"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numberCredits</a:t>
                </a:r>
                <a:endParaRPr lang="en-US" altLang="zh-CN" sz="1200" b="1" dirty="0">
                  <a:latin typeface="Times New Roman" panose="02020603050405020304" pitchFamily="18" charset="0"/>
                  <a:ea typeface="黑体" panose="02010609060101010101" pitchFamily="49" charset="-122"/>
                </a:endParaRPr>
              </a:p>
            </p:txBody>
          </p:sp>
          <p:sp>
            <p:nvSpPr>
              <p:cNvPr id="35916" name="Rectangle 21"/>
              <p:cNvSpPr/>
              <p:nvPr/>
            </p:nvSpPr>
            <p:spPr>
              <a:xfrm>
                <a:off x="4045" y="2197"/>
                <a:ext cx="310"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open()</a:t>
                </a:r>
                <a:endParaRPr lang="en-US" altLang="zh-CN" sz="1200" b="1" dirty="0">
                  <a:latin typeface="Times New Roman" panose="02020603050405020304" pitchFamily="18" charset="0"/>
                  <a:ea typeface="黑体" panose="02010609060101010101" pitchFamily="49" charset="-122"/>
                </a:endParaRPr>
              </a:p>
            </p:txBody>
          </p:sp>
          <p:sp>
            <p:nvSpPr>
              <p:cNvPr id="35917" name="Rectangle 22"/>
              <p:cNvSpPr/>
              <p:nvPr/>
            </p:nvSpPr>
            <p:spPr>
              <a:xfrm>
                <a:off x="4037" y="2341"/>
                <a:ext cx="1219"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addStudent(StudentInfo)</a:t>
                </a:r>
                <a:endParaRPr lang="en-US" altLang="zh-CN" sz="1200" b="1" dirty="0">
                  <a:latin typeface="Times New Roman" panose="02020603050405020304" pitchFamily="18" charset="0"/>
                  <a:ea typeface="黑体" panose="02010609060101010101" pitchFamily="49" charset="-122"/>
                </a:endParaRPr>
              </a:p>
            </p:txBody>
          </p:sp>
        </p:grpSp>
        <p:grpSp>
          <p:nvGrpSpPr>
            <p:cNvPr id="35853" name="Group 85"/>
            <p:cNvGrpSpPr/>
            <p:nvPr/>
          </p:nvGrpSpPr>
          <p:grpSpPr>
            <a:xfrm>
              <a:off x="2150" y="2710"/>
              <a:ext cx="730" cy="652"/>
              <a:chOff x="2150" y="2710"/>
              <a:chExt cx="730" cy="652"/>
            </a:xfrm>
          </p:grpSpPr>
          <p:grpSp>
            <p:nvGrpSpPr>
              <p:cNvPr id="35903" name="Group 84"/>
              <p:cNvGrpSpPr/>
              <p:nvPr/>
            </p:nvGrpSpPr>
            <p:grpSpPr>
              <a:xfrm>
                <a:off x="2150" y="2710"/>
                <a:ext cx="730" cy="652"/>
                <a:chOff x="2150" y="2710"/>
                <a:chExt cx="730" cy="652"/>
              </a:xfrm>
            </p:grpSpPr>
            <p:sp>
              <p:nvSpPr>
                <p:cNvPr id="35906" name="Rectangle 25"/>
                <p:cNvSpPr/>
                <p:nvPr/>
              </p:nvSpPr>
              <p:spPr>
                <a:xfrm>
                  <a:off x="2150" y="2710"/>
                  <a:ext cx="730" cy="652"/>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35907" name="Rectangle 26"/>
                <p:cNvSpPr/>
                <p:nvPr/>
              </p:nvSpPr>
              <p:spPr>
                <a:xfrm>
                  <a:off x="2203" y="2722"/>
                  <a:ext cx="379"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Student</a:t>
                  </a:r>
                  <a:endParaRPr lang="en-US" altLang="zh-CN" sz="1200" b="1" dirty="0">
                    <a:latin typeface="Times New Roman" panose="02020603050405020304" pitchFamily="18" charset="0"/>
                    <a:ea typeface="黑体" panose="02010609060101010101" pitchFamily="49" charset="-122"/>
                  </a:endParaRPr>
                </a:p>
              </p:txBody>
            </p:sp>
            <p:sp>
              <p:nvSpPr>
                <p:cNvPr id="35908" name="Line 27"/>
                <p:cNvSpPr/>
                <p:nvPr/>
              </p:nvSpPr>
              <p:spPr>
                <a:xfrm>
                  <a:off x="2151" y="2923"/>
                  <a:ext cx="727" cy="2"/>
                </a:xfrm>
                <a:prstGeom prst="line">
                  <a:avLst/>
                </a:prstGeom>
                <a:ln w="12700" cap="flat" cmpd="sng">
                  <a:solidFill>
                    <a:schemeClr val="tx1"/>
                  </a:solidFill>
                  <a:prstDash val="solid"/>
                  <a:headEnd type="none" w="med" len="med"/>
                  <a:tailEnd type="none" w="med" len="med"/>
                </a:ln>
              </p:spPr>
            </p:sp>
            <p:sp>
              <p:nvSpPr>
                <p:cNvPr id="35909" name="Line 28"/>
                <p:cNvSpPr/>
                <p:nvPr/>
              </p:nvSpPr>
              <p:spPr>
                <a:xfrm>
                  <a:off x="2151" y="3243"/>
                  <a:ext cx="727" cy="1"/>
                </a:xfrm>
                <a:prstGeom prst="line">
                  <a:avLst/>
                </a:prstGeom>
                <a:ln w="12700" cap="flat" cmpd="sng">
                  <a:solidFill>
                    <a:schemeClr val="tx1"/>
                  </a:solidFill>
                  <a:prstDash val="solid"/>
                  <a:headEnd type="none" w="med" len="med"/>
                  <a:tailEnd type="none" w="med" len="med"/>
                </a:ln>
              </p:spPr>
            </p:sp>
          </p:grpSp>
          <p:sp>
            <p:nvSpPr>
              <p:cNvPr id="35904" name="Rectangle 29"/>
              <p:cNvSpPr/>
              <p:nvPr/>
            </p:nvSpPr>
            <p:spPr>
              <a:xfrm>
                <a:off x="2203" y="2907"/>
                <a:ext cx="266"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name</a:t>
                </a:r>
                <a:endParaRPr lang="en-US" altLang="zh-CN" sz="1200" b="1" dirty="0">
                  <a:latin typeface="Times New Roman" panose="02020603050405020304" pitchFamily="18" charset="0"/>
                  <a:ea typeface="黑体" panose="02010609060101010101" pitchFamily="49" charset="-122"/>
                </a:endParaRPr>
              </a:p>
            </p:txBody>
          </p:sp>
          <p:sp>
            <p:nvSpPr>
              <p:cNvPr id="35905" name="Rectangle 30"/>
              <p:cNvSpPr/>
              <p:nvPr/>
            </p:nvSpPr>
            <p:spPr>
              <a:xfrm>
                <a:off x="2203" y="3035"/>
                <a:ext cx="298"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major</a:t>
                </a:r>
                <a:endParaRPr lang="en-US" altLang="zh-CN" sz="1200" b="1" dirty="0">
                  <a:latin typeface="Times New Roman" panose="02020603050405020304" pitchFamily="18" charset="0"/>
                  <a:ea typeface="黑体" panose="02010609060101010101" pitchFamily="49" charset="-122"/>
                </a:endParaRPr>
              </a:p>
            </p:txBody>
          </p:sp>
        </p:grpSp>
        <p:grpSp>
          <p:nvGrpSpPr>
            <p:cNvPr id="35854" name="Group 81"/>
            <p:cNvGrpSpPr/>
            <p:nvPr/>
          </p:nvGrpSpPr>
          <p:grpSpPr>
            <a:xfrm>
              <a:off x="3755" y="3083"/>
              <a:ext cx="1671" cy="826"/>
              <a:chOff x="3755" y="3083"/>
              <a:chExt cx="1671" cy="826"/>
            </a:xfrm>
          </p:grpSpPr>
          <p:grpSp>
            <p:nvGrpSpPr>
              <p:cNvPr id="35895" name="Group 80"/>
              <p:cNvGrpSpPr/>
              <p:nvPr/>
            </p:nvGrpSpPr>
            <p:grpSpPr>
              <a:xfrm>
                <a:off x="3755" y="3083"/>
                <a:ext cx="1671" cy="826"/>
                <a:chOff x="3755" y="3083"/>
                <a:chExt cx="1671" cy="826"/>
              </a:xfrm>
            </p:grpSpPr>
            <p:sp>
              <p:nvSpPr>
                <p:cNvPr id="35899" name="Rectangle 33"/>
                <p:cNvSpPr/>
                <p:nvPr/>
              </p:nvSpPr>
              <p:spPr>
                <a:xfrm>
                  <a:off x="3755" y="3083"/>
                  <a:ext cx="1666" cy="826"/>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35900" name="Rectangle 34"/>
                <p:cNvSpPr/>
                <p:nvPr/>
              </p:nvSpPr>
              <p:spPr>
                <a:xfrm>
                  <a:off x="3868" y="3104"/>
                  <a:ext cx="767"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CourseOffering</a:t>
                  </a:r>
                  <a:endParaRPr lang="en-US" altLang="zh-CN" sz="1200" b="1" dirty="0">
                    <a:latin typeface="Times New Roman" panose="02020603050405020304" pitchFamily="18" charset="0"/>
                    <a:ea typeface="黑体" panose="02010609060101010101" pitchFamily="49" charset="-122"/>
                  </a:endParaRPr>
                </a:p>
              </p:txBody>
            </p:sp>
            <p:sp>
              <p:nvSpPr>
                <p:cNvPr id="35901" name="Line 35"/>
                <p:cNvSpPr/>
                <p:nvPr/>
              </p:nvSpPr>
              <p:spPr>
                <a:xfrm>
                  <a:off x="3757" y="3310"/>
                  <a:ext cx="1669" cy="1"/>
                </a:xfrm>
                <a:prstGeom prst="line">
                  <a:avLst/>
                </a:prstGeom>
                <a:ln w="12700" cap="flat" cmpd="sng">
                  <a:solidFill>
                    <a:schemeClr val="tx1"/>
                  </a:solidFill>
                  <a:prstDash val="solid"/>
                  <a:headEnd type="none" w="med" len="med"/>
                  <a:tailEnd type="none" w="med" len="med"/>
                </a:ln>
              </p:spPr>
            </p:sp>
            <p:sp>
              <p:nvSpPr>
                <p:cNvPr id="35902" name="Line 36"/>
                <p:cNvSpPr/>
                <p:nvPr/>
              </p:nvSpPr>
              <p:spPr>
                <a:xfrm>
                  <a:off x="3766" y="3505"/>
                  <a:ext cx="1659" cy="1"/>
                </a:xfrm>
                <a:prstGeom prst="line">
                  <a:avLst/>
                </a:prstGeom>
                <a:ln w="12700" cap="flat" cmpd="sng">
                  <a:solidFill>
                    <a:schemeClr val="tx1"/>
                  </a:solidFill>
                  <a:prstDash val="solid"/>
                  <a:headEnd type="none" w="med" len="med"/>
                  <a:tailEnd type="none" w="med" len="med"/>
                </a:ln>
              </p:spPr>
            </p:sp>
          </p:grpSp>
          <p:sp>
            <p:nvSpPr>
              <p:cNvPr id="35896" name="Rectangle 37"/>
              <p:cNvSpPr/>
              <p:nvPr/>
            </p:nvSpPr>
            <p:spPr>
              <a:xfrm>
                <a:off x="3834" y="3323"/>
                <a:ext cx="387"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location</a:t>
                </a:r>
                <a:endParaRPr lang="en-US" altLang="zh-CN" sz="1200" b="1" dirty="0">
                  <a:latin typeface="Times New Roman" panose="02020603050405020304" pitchFamily="18" charset="0"/>
                  <a:ea typeface="黑体" panose="02010609060101010101" pitchFamily="49" charset="-122"/>
                </a:endParaRPr>
              </a:p>
            </p:txBody>
          </p:sp>
          <p:sp>
            <p:nvSpPr>
              <p:cNvPr id="35897" name="Rectangle 38"/>
              <p:cNvSpPr/>
              <p:nvPr/>
            </p:nvSpPr>
            <p:spPr>
              <a:xfrm>
                <a:off x="3818" y="3523"/>
                <a:ext cx="310"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open()</a:t>
                </a:r>
                <a:endParaRPr lang="en-US" altLang="zh-CN" sz="1200" b="1" dirty="0">
                  <a:latin typeface="Times New Roman" panose="02020603050405020304" pitchFamily="18" charset="0"/>
                  <a:ea typeface="黑体" panose="02010609060101010101" pitchFamily="49" charset="-122"/>
                </a:endParaRPr>
              </a:p>
            </p:txBody>
          </p:sp>
          <p:sp>
            <p:nvSpPr>
              <p:cNvPr id="35898" name="Rectangle 39"/>
              <p:cNvSpPr/>
              <p:nvPr/>
            </p:nvSpPr>
            <p:spPr>
              <a:xfrm>
                <a:off x="3809" y="3683"/>
                <a:ext cx="1219"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addStudent(StudentInfo)</a:t>
                </a:r>
                <a:endParaRPr lang="en-US" altLang="zh-CN" sz="1200" b="1" dirty="0">
                  <a:latin typeface="Times New Roman" panose="02020603050405020304" pitchFamily="18" charset="0"/>
                  <a:ea typeface="黑体" panose="02010609060101010101" pitchFamily="49" charset="-122"/>
                </a:endParaRPr>
              </a:p>
            </p:txBody>
          </p:sp>
        </p:grpSp>
        <p:grpSp>
          <p:nvGrpSpPr>
            <p:cNvPr id="35855" name="Group 83"/>
            <p:cNvGrpSpPr/>
            <p:nvPr/>
          </p:nvGrpSpPr>
          <p:grpSpPr>
            <a:xfrm>
              <a:off x="616" y="3178"/>
              <a:ext cx="928" cy="686"/>
              <a:chOff x="616" y="3178"/>
              <a:chExt cx="928" cy="686"/>
            </a:xfrm>
          </p:grpSpPr>
          <p:grpSp>
            <p:nvGrpSpPr>
              <p:cNvPr id="35888" name="Group 82"/>
              <p:cNvGrpSpPr/>
              <p:nvPr/>
            </p:nvGrpSpPr>
            <p:grpSpPr>
              <a:xfrm>
                <a:off x="616" y="3178"/>
                <a:ext cx="928" cy="686"/>
                <a:chOff x="616" y="3178"/>
                <a:chExt cx="928" cy="686"/>
              </a:xfrm>
            </p:grpSpPr>
            <p:sp>
              <p:nvSpPr>
                <p:cNvPr id="35891" name="Rectangle 42"/>
                <p:cNvSpPr/>
                <p:nvPr/>
              </p:nvSpPr>
              <p:spPr>
                <a:xfrm>
                  <a:off x="616" y="3178"/>
                  <a:ext cx="928" cy="686"/>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35892" name="Rectangle 43"/>
                <p:cNvSpPr/>
                <p:nvPr/>
              </p:nvSpPr>
              <p:spPr>
                <a:xfrm>
                  <a:off x="677" y="3192"/>
                  <a:ext cx="461"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Professor</a:t>
                  </a:r>
                  <a:endParaRPr lang="en-US" altLang="zh-CN" sz="1200" b="1" dirty="0">
                    <a:latin typeface="Times New Roman" panose="02020603050405020304" pitchFamily="18" charset="0"/>
                    <a:ea typeface="黑体" panose="02010609060101010101" pitchFamily="49" charset="-122"/>
                  </a:endParaRPr>
                </a:p>
              </p:txBody>
            </p:sp>
            <p:sp>
              <p:nvSpPr>
                <p:cNvPr id="35893" name="Line 44"/>
                <p:cNvSpPr/>
                <p:nvPr/>
              </p:nvSpPr>
              <p:spPr>
                <a:xfrm>
                  <a:off x="617" y="3404"/>
                  <a:ext cx="916" cy="1"/>
                </a:xfrm>
                <a:prstGeom prst="line">
                  <a:avLst/>
                </a:prstGeom>
                <a:ln w="12700" cap="flat" cmpd="sng">
                  <a:solidFill>
                    <a:schemeClr val="tx1"/>
                  </a:solidFill>
                  <a:prstDash val="solid"/>
                  <a:headEnd type="none" w="med" len="med"/>
                  <a:tailEnd type="none" w="med" len="med"/>
                </a:ln>
              </p:spPr>
            </p:sp>
            <p:sp>
              <p:nvSpPr>
                <p:cNvPr id="35894" name="Line 45"/>
                <p:cNvSpPr/>
                <p:nvPr/>
              </p:nvSpPr>
              <p:spPr>
                <a:xfrm>
                  <a:off x="617" y="3739"/>
                  <a:ext cx="924" cy="1"/>
                </a:xfrm>
                <a:prstGeom prst="line">
                  <a:avLst/>
                </a:prstGeom>
                <a:ln w="12700" cap="flat" cmpd="sng">
                  <a:solidFill>
                    <a:schemeClr val="tx1"/>
                  </a:solidFill>
                  <a:prstDash val="solid"/>
                  <a:headEnd type="none" w="med" len="med"/>
                  <a:tailEnd type="none" w="med" len="med"/>
                </a:ln>
              </p:spPr>
            </p:sp>
          </p:grpSp>
          <p:sp>
            <p:nvSpPr>
              <p:cNvPr id="35889" name="Rectangle 46"/>
              <p:cNvSpPr/>
              <p:nvPr/>
            </p:nvSpPr>
            <p:spPr>
              <a:xfrm>
                <a:off x="677" y="3383"/>
                <a:ext cx="266"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name</a:t>
                </a:r>
                <a:endParaRPr lang="en-US" altLang="zh-CN" sz="1200" b="1" dirty="0">
                  <a:latin typeface="Times New Roman" panose="02020603050405020304" pitchFamily="18" charset="0"/>
                  <a:ea typeface="黑体" panose="02010609060101010101" pitchFamily="49" charset="-122"/>
                </a:endParaRPr>
              </a:p>
            </p:txBody>
          </p:sp>
          <p:sp>
            <p:nvSpPr>
              <p:cNvPr id="35890" name="Rectangle 47"/>
              <p:cNvSpPr/>
              <p:nvPr/>
            </p:nvSpPr>
            <p:spPr>
              <a:xfrm>
                <a:off x="677" y="3527"/>
                <a:ext cx="618"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tenureStatus</a:t>
                </a:r>
                <a:endParaRPr lang="en-US" altLang="zh-CN" sz="1200" b="1" dirty="0">
                  <a:latin typeface="Times New Roman" panose="02020603050405020304" pitchFamily="18" charset="0"/>
                  <a:ea typeface="黑体" panose="02010609060101010101" pitchFamily="49" charset="-122"/>
                </a:endParaRPr>
              </a:p>
            </p:txBody>
          </p:sp>
        </p:grpSp>
        <p:grpSp>
          <p:nvGrpSpPr>
            <p:cNvPr id="35856" name="Group 87"/>
            <p:cNvGrpSpPr/>
            <p:nvPr/>
          </p:nvGrpSpPr>
          <p:grpSpPr>
            <a:xfrm>
              <a:off x="3764" y="839"/>
              <a:ext cx="1295" cy="494"/>
              <a:chOff x="3764" y="839"/>
              <a:chExt cx="1295" cy="494"/>
            </a:xfrm>
          </p:grpSpPr>
          <p:sp>
            <p:nvSpPr>
              <p:cNvPr id="35883" name="Rectangle 49"/>
              <p:cNvSpPr/>
              <p:nvPr/>
            </p:nvSpPr>
            <p:spPr>
              <a:xfrm>
                <a:off x="3816" y="858"/>
                <a:ext cx="944"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ScheduleAlgorithm</a:t>
                </a:r>
                <a:endParaRPr lang="en-US" altLang="zh-CN" sz="1200" b="1" dirty="0">
                  <a:latin typeface="Times New Roman" panose="02020603050405020304" pitchFamily="18" charset="0"/>
                  <a:ea typeface="黑体" panose="02010609060101010101" pitchFamily="49" charset="-122"/>
                </a:endParaRPr>
              </a:p>
            </p:txBody>
          </p:sp>
          <p:sp>
            <p:nvSpPr>
              <p:cNvPr id="35884" name="Line 50"/>
              <p:cNvSpPr/>
              <p:nvPr/>
            </p:nvSpPr>
            <p:spPr>
              <a:xfrm>
                <a:off x="3765" y="1080"/>
                <a:ext cx="1293" cy="1"/>
              </a:xfrm>
              <a:prstGeom prst="line">
                <a:avLst/>
              </a:prstGeom>
              <a:ln w="12700" cap="flat" cmpd="sng">
                <a:solidFill>
                  <a:schemeClr val="tx1"/>
                </a:solidFill>
                <a:prstDash val="solid"/>
                <a:headEnd type="none" w="med" len="med"/>
                <a:tailEnd type="none" w="med" len="med"/>
              </a:ln>
            </p:spPr>
          </p:sp>
          <p:grpSp>
            <p:nvGrpSpPr>
              <p:cNvPr id="35885" name="Group 51"/>
              <p:cNvGrpSpPr/>
              <p:nvPr/>
            </p:nvGrpSpPr>
            <p:grpSpPr>
              <a:xfrm>
                <a:off x="3764" y="839"/>
                <a:ext cx="1295" cy="494"/>
                <a:chOff x="2195" y="912"/>
                <a:chExt cx="982" cy="494"/>
              </a:xfrm>
            </p:grpSpPr>
            <p:sp>
              <p:nvSpPr>
                <p:cNvPr id="35886" name="Rectangle 52"/>
                <p:cNvSpPr/>
                <p:nvPr/>
              </p:nvSpPr>
              <p:spPr>
                <a:xfrm>
                  <a:off x="2195" y="912"/>
                  <a:ext cx="982" cy="494"/>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35887" name="Line 53"/>
                <p:cNvSpPr/>
                <p:nvPr/>
              </p:nvSpPr>
              <p:spPr>
                <a:xfrm>
                  <a:off x="2196" y="1257"/>
                  <a:ext cx="980" cy="1"/>
                </a:xfrm>
                <a:prstGeom prst="line">
                  <a:avLst/>
                </a:prstGeom>
                <a:ln w="12700" cap="flat" cmpd="sng">
                  <a:solidFill>
                    <a:schemeClr val="tx1"/>
                  </a:solidFill>
                  <a:prstDash val="solid"/>
                  <a:headEnd type="none" w="med" len="med"/>
                  <a:tailEnd type="none" w="med" len="med"/>
                </a:ln>
              </p:spPr>
            </p:sp>
          </p:grpSp>
        </p:grpSp>
        <p:sp>
          <p:nvSpPr>
            <p:cNvPr id="35857" name="Line 54"/>
            <p:cNvSpPr/>
            <p:nvPr/>
          </p:nvSpPr>
          <p:spPr>
            <a:xfrm>
              <a:off x="1330" y="1465"/>
              <a:ext cx="514" cy="383"/>
            </a:xfrm>
            <a:prstGeom prst="line">
              <a:avLst/>
            </a:prstGeom>
            <a:ln w="22225" cap="flat" cmpd="sng">
              <a:solidFill>
                <a:schemeClr val="tx1"/>
              </a:solidFill>
              <a:prstDash val="solid"/>
              <a:headEnd type="none" w="med" len="med"/>
              <a:tailEnd type="none" w="med" len="med"/>
            </a:ln>
          </p:spPr>
        </p:sp>
        <p:sp>
          <p:nvSpPr>
            <p:cNvPr id="35858" name="Line 55"/>
            <p:cNvSpPr/>
            <p:nvPr/>
          </p:nvSpPr>
          <p:spPr>
            <a:xfrm flipV="1">
              <a:off x="3248" y="1341"/>
              <a:ext cx="607" cy="491"/>
            </a:xfrm>
            <a:prstGeom prst="line">
              <a:avLst/>
            </a:prstGeom>
            <a:ln w="22225" cap="flat" cmpd="sng">
              <a:solidFill>
                <a:schemeClr val="tx1"/>
              </a:solidFill>
              <a:prstDash val="dash"/>
              <a:headEnd type="none" w="med" len="med"/>
              <a:tailEnd type="arrow" w="med" len="med"/>
            </a:ln>
          </p:spPr>
        </p:sp>
        <p:sp>
          <p:nvSpPr>
            <p:cNvPr id="35859" name="Line 56"/>
            <p:cNvSpPr/>
            <p:nvPr/>
          </p:nvSpPr>
          <p:spPr>
            <a:xfrm>
              <a:off x="3509" y="2020"/>
              <a:ext cx="470" cy="0"/>
            </a:xfrm>
            <a:prstGeom prst="line">
              <a:avLst/>
            </a:prstGeom>
            <a:ln w="22225" cap="flat" cmpd="sng">
              <a:solidFill>
                <a:schemeClr val="tx1"/>
              </a:solidFill>
              <a:prstDash val="solid"/>
              <a:headEnd type="none" w="med" len="med"/>
              <a:tailEnd type="arrow" w="med" len="med"/>
            </a:ln>
          </p:spPr>
        </p:sp>
        <p:sp>
          <p:nvSpPr>
            <p:cNvPr id="35860" name="Line 57"/>
            <p:cNvSpPr/>
            <p:nvPr/>
          </p:nvSpPr>
          <p:spPr>
            <a:xfrm>
              <a:off x="2884" y="2966"/>
              <a:ext cx="873" cy="230"/>
            </a:xfrm>
            <a:prstGeom prst="line">
              <a:avLst/>
            </a:prstGeom>
            <a:ln w="22225" cap="flat" cmpd="sng">
              <a:solidFill>
                <a:schemeClr val="tx1"/>
              </a:solidFill>
              <a:prstDash val="solid"/>
              <a:headEnd type="none" w="med" len="med"/>
              <a:tailEnd type="none" w="med" len="med"/>
            </a:ln>
          </p:spPr>
        </p:sp>
        <p:sp>
          <p:nvSpPr>
            <p:cNvPr id="35861" name="Line 58"/>
            <p:cNvSpPr/>
            <p:nvPr/>
          </p:nvSpPr>
          <p:spPr>
            <a:xfrm flipV="1">
              <a:off x="1559" y="3574"/>
              <a:ext cx="2206" cy="9"/>
            </a:xfrm>
            <a:prstGeom prst="line">
              <a:avLst/>
            </a:prstGeom>
            <a:ln w="22225" cap="flat" cmpd="sng">
              <a:solidFill>
                <a:schemeClr val="tx1"/>
              </a:solidFill>
              <a:prstDash val="solid"/>
              <a:headEnd type="none" w="med" len="med"/>
              <a:tailEnd type="none" w="med" len="med"/>
            </a:ln>
          </p:spPr>
        </p:sp>
        <p:sp>
          <p:nvSpPr>
            <p:cNvPr id="35862" name="Line 59"/>
            <p:cNvSpPr/>
            <p:nvPr/>
          </p:nvSpPr>
          <p:spPr>
            <a:xfrm flipH="1">
              <a:off x="4497" y="2654"/>
              <a:ext cx="231" cy="420"/>
            </a:xfrm>
            <a:prstGeom prst="line">
              <a:avLst/>
            </a:prstGeom>
            <a:ln w="22225" cap="flat" cmpd="sng">
              <a:solidFill>
                <a:schemeClr val="tx1"/>
              </a:solidFill>
              <a:prstDash val="solid"/>
              <a:headEnd type="none" w="med" len="med"/>
              <a:tailEnd type="arrow" w="med" len="med"/>
            </a:ln>
          </p:spPr>
        </p:sp>
        <p:sp>
          <p:nvSpPr>
            <p:cNvPr id="35863" name="AutoShape 60"/>
            <p:cNvSpPr/>
            <p:nvPr/>
          </p:nvSpPr>
          <p:spPr>
            <a:xfrm rot="1571724">
              <a:off x="4711" y="2547"/>
              <a:ext cx="90" cy="115"/>
            </a:xfrm>
            <a:prstGeom prst="diamond">
              <a:avLst/>
            </a:prstGeom>
            <a:noFill/>
            <a:ln w="22225"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35864" name="Rectangle 61"/>
            <p:cNvSpPr/>
            <p:nvPr/>
          </p:nvSpPr>
          <p:spPr>
            <a:xfrm>
              <a:off x="1906" y="1639"/>
              <a:ext cx="57"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1</a:t>
              </a:r>
              <a:endParaRPr lang="en-US" altLang="zh-CN" sz="1200" b="1" dirty="0">
                <a:latin typeface="Times New Roman" panose="02020603050405020304" pitchFamily="18" charset="0"/>
                <a:ea typeface="黑体" panose="02010609060101010101" pitchFamily="49" charset="-122"/>
              </a:endParaRPr>
            </a:p>
          </p:txBody>
        </p:sp>
        <p:sp>
          <p:nvSpPr>
            <p:cNvPr id="35865" name="Rectangle 62"/>
            <p:cNvSpPr/>
            <p:nvPr/>
          </p:nvSpPr>
          <p:spPr>
            <a:xfrm>
              <a:off x="1679" y="1499"/>
              <a:ext cx="171"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0..*</a:t>
              </a:r>
              <a:endParaRPr lang="en-US" altLang="zh-CN" sz="1200" b="1" dirty="0">
                <a:latin typeface="Times New Roman" panose="02020603050405020304" pitchFamily="18" charset="0"/>
                <a:ea typeface="黑体" panose="02010609060101010101" pitchFamily="49" charset="-122"/>
              </a:endParaRPr>
            </a:p>
          </p:txBody>
        </p:sp>
        <p:sp>
          <p:nvSpPr>
            <p:cNvPr id="35866" name="Rectangle 63"/>
            <p:cNvSpPr/>
            <p:nvPr/>
          </p:nvSpPr>
          <p:spPr>
            <a:xfrm>
              <a:off x="3718" y="1800"/>
              <a:ext cx="171"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0..*</a:t>
              </a:r>
              <a:endParaRPr lang="en-US" altLang="zh-CN" sz="1200" b="1" dirty="0">
                <a:latin typeface="Times New Roman" panose="02020603050405020304" pitchFamily="18" charset="0"/>
                <a:ea typeface="黑体" panose="02010609060101010101" pitchFamily="49" charset="-122"/>
              </a:endParaRPr>
            </a:p>
          </p:txBody>
        </p:sp>
        <p:sp>
          <p:nvSpPr>
            <p:cNvPr id="35867" name="Rectangle 64"/>
            <p:cNvSpPr/>
            <p:nvPr/>
          </p:nvSpPr>
          <p:spPr>
            <a:xfrm>
              <a:off x="3560" y="1800"/>
              <a:ext cx="57"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1</a:t>
              </a:r>
              <a:endParaRPr lang="en-US" altLang="zh-CN" sz="1200" b="1" dirty="0">
                <a:latin typeface="Times New Roman" panose="02020603050405020304" pitchFamily="18" charset="0"/>
                <a:ea typeface="黑体" panose="02010609060101010101" pitchFamily="49" charset="-122"/>
              </a:endParaRPr>
            </a:p>
          </p:txBody>
        </p:sp>
        <p:sp>
          <p:nvSpPr>
            <p:cNvPr id="35868" name="Rectangle 65"/>
            <p:cNvSpPr/>
            <p:nvPr/>
          </p:nvSpPr>
          <p:spPr>
            <a:xfrm>
              <a:off x="4856" y="2582"/>
              <a:ext cx="57"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1</a:t>
              </a:r>
              <a:endParaRPr lang="en-US" altLang="zh-CN" sz="1200" b="1" dirty="0">
                <a:latin typeface="Times New Roman" panose="02020603050405020304" pitchFamily="18" charset="0"/>
                <a:ea typeface="黑体" panose="02010609060101010101" pitchFamily="49" charset="-122"/>
              </a:endParaRPr>
            </a:p>
          </p:txBody>
        </p:sp>
        <p:sp>
          <p:nvSpPr>
            <p:cNvPr id="35869" name="Rectangle 66"/>
            <p:cNvSpPr/>
            <p:nvPr/>
          </p:nvSpPr>
          <p:spPr>
            <a:xfrm>
              <a:off x="4670" y="2855"/>
              <a:ext cx="171"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1..*</a:t>
              </a:r>
              <a:endParaRPr lang="en-US" altLang="zh-CN" sz="1200" b="1" dirty="0">
                <a:latin typeface="Times New Roman" panose="02020603050405020304" pitchFamily="18" charset="0"/>
                <a:ea typeface="黑体" panose="02010609060101010101" pitchFamily="49" charset="-122"/>
              </a:endParaRPr>
            </a:p>
          </p:txBody>
        </p:sp>
        <p:sp>
          <p:nvSpPr>
            <p:cNvPr id="35870" name="Rectangle 67"/>
            <p:cNvSpPr/>
            <p:nvPr/>
          </p:nvSpPr>
          <p:spPr>
            <a:xfrm>
              <a:off x="3616" y="2970"/>
              <a:ext cx="57"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4</a:t>
              </a:r>
              <a:endParaRPr lang="en-US" altLang="zh-CN" sz="1200" b="1" dirty="0">
                <a:latin typeface="Times New Roman" panose="02020603050405020304" pitchFamily="18" charset="0"/>
                <a:ea typeface="黑体" panose="02010609060101010101" pitchFamily="49" charset="-122"/>
              </a:endParaRPr>
            </a:p>
          </p:txBody>
        </p:sp>
        <p:sp>
          <p:nvSpPr>
            <p:cNvPr id="35871" name="Rectangle 68"/>
            <p:cNvSpPr/>
            <p:nvPr/>
          </p:nvSpPr>
          <p:spPr>
            <a:xfrm>
              <a:off x="2962" y="2774"/>
              <a:ext cx="228"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3..10</a:t>
              </a:r>
              <a:endParaRPr lang="en-US" altLang="zh-CN" sz="1200" b="1" dirty="0">
                <a:latin typeface="Times New Roman" panose="02020603050405020304" pitchFamily="18" charset="0"/>
                <a:ea typeface="黑体" panose="02010609060101010101" pitchFamily="49" charset="-122"/>
              </a:endParaRPr>
            </a:p>
          </p:txBody>
        </p:sp>
        <p:sp>
          <p:nvSpPr>
            <p:cNvPr id="35872" name="Rectangle 69"/>
            <p:cNvSpPr/>
            <p:nvPr/>
          </p:nvSpPr>
          <p:spPr>
            <a:xfrm>
              <a:off x="3436" y="3351"/>
              <a:ext cx="171"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0..4</a:t>
              </a:r>
              <a:endParaRPr lang="en-US" altLang="zh-CN" sz="1200" b="1" dirty="0">
                <a:latin typeface="Times New Roman" panose="02020603050405020304" pitchFamily="18" charset="0"/>
                <a:ea typeface="黑体" panose="02010609060101010101" pitchFamily="49" charset="-122"/>
              </a:endParaRPr>
            </a:p>
          </p:txBody>
        </p:sp>
        <p:sp>
          <p:nvSpPr>
            <p:cNvPr id="35873" name="Rectangle 70"/>
            <p:cNvSpPr/>
            <p:nvPr/>
          </p:nvSpPr>
          <p:spPr>
            <a:xfrm>
              <a:off x="1645" y="3351"/>
              <a:ext cx="57"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1</a:t>
              </a:r>
              <a:endParaRPr lang="en-US" altLang="zh-CN" sz="1200" b="1" dirty="0">
                <a:latin typeface="Times New Roman" panose="02020603050405020304" pitchFamily="18" charset="0"/>
                <a:ea typeface="黑体" panose="02010609060101010101" pitchFamily="49" charset="-122"/>
              </a:endParaRPr>
            </a:p>
          </p:txBody>
        </p:sp>
        <p:grpSp>
          <p:nvGrpSpPr>
            <p:cNvPr id="35874" name="Group 88"/>
            <p:cNvGrpSpPr/>
            <p:nvPr/>
          </p:nvGrpSpPr>
          <p:grpSpPr>
            <a:xfrm>
              <a:off x="642" y="924"/>
              <a:ext cx="1208" cy="540"/>
              <a:chOff x="642" y="924"/>
              <a:chExt cx="1208" cy="540"/>
            </a:xfrm>
          </p:grpSpPr>
          <p:sp>
            <p:nvSpPr>
              <p:cNvPr id="35879" name="Rectangle 72"/>
              <p:cNvSpPr/>
              <p:nvPr/>
            </p:nvSpPr>
            <p:spPr>
              <a:xfrm>
                <a:off x="694" y="959"/>
                <a:ext cx="875" cy="169"/>
              </a:xfrm>
              <a:prstGeom prst="rect">
                <a:avLst/>
              </a:prstGeom>
              <a:noFill/>
              <a:ln w="12700">
                <a:noFill/>
              </a:ln>
            </p:spPr>
            <p:txBody>
              <a:bodyPr wrap="none"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en-US" altLang="zh-CN" sz="1200" b="1" dirty="0">
                    <a:latin typeface="Times New Roman" panose="02020603050405020304" pitchFamily="18" charset="0"/>
                    <a:ea typeface="黑体" panose="02010609060101010101" pitchFamily="49" charset="-122"/>
                  </a:rPr>
                  <a:t>RegistrationForm</a:t>
                </a:r>
                <a:endParaRPr lang="en-US" altLang="zh-CN" sz="1200" b="1" dirty="0">
                  <a:latin typeface="Times New Roman" panose="02020603050405020304" pitchFamily="18" charset="0"/>
                  <a:ea typeface="黑体" panose="02010609060101010101" pitchFamily="49" charset="-122"/>
                </a:endParaRPr>
              </a:p>
            </p:txBody>
          </p:sp>
          <p:sp>
            <p:nvSpPr>
              <p:cNvPr id="35880" name="Line 73"/>
              <p:cNvSpPr/>
              <p:nvPr/>
            </p:nvSpPr>
            <p:spPr>
              <a:xfrm>
                <a:off x="643" y="1166"/>
                <a:ext cx="1196" cy="2"/>
              </a:xfrm>
              <a:prstGeom prst="line">
                <a:avLst/>
              </a:prstGeom>
              <a:ln w="12700" cap="flat" cmpd="sng">
                <a:solidFill>
                  <a:schemeClr val="tx1"/>
                </a:solidFill>
                <a:prstDash val="solid"/>
                <a:headEnd type="none" w="med" len="med"/>
                <a:tailEnd type="none" w="med" len="med"/>
              </a:ln>
            </p:spPr>
          </p:sp>
          <p:sp>
            <p:nvSpPr>
              <p:cNvPr id="35881" name="Rectangle 74"/>
              <p:cNvSpPr/>
              <p:nvPr/>
            </p:nvSpPr>
            <p:spPr>
              <a:xfrm>
                <a:off x="642" y="924"/>
                <a:ext cx="1208" cy="540"/>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35882" name="Line 75"/>
              <p:cNvSpPr/>
              <p:nvPr/>
            </p:nvSpPr>
            <p:spPr>
              <a:xfrm>
                <a:off x="643" y="1278"/>
                <a:ext cx="1204" cy="1"/>
              </a:xfrm>
              <a:prstGeom prst="line">
                <a:avLst/>
              </a:prstGeom>
              <a:ln w="12700" cap="flat" cmpd="sng">
                <a:solidFill>
                  <a:schemeClr val="tx1"/>
                </a:solidFill>
                <a:prstDash val="solid"/>
                <a:headEnd type="none" w="med" len="med"/>
                <a:tailEnd type="none" w="med" len="med"/>
              </a:ln>
            </p:spPr>
          </p:sp>
        </p:grpSp>
        <p:sp>
          <p:nvSpPr>
            <p:cNvPr id="35875" name="Line 76"/>
            <p:cNvSpPr/>
            <p:nvPr/>
          </p:nvSpPr>
          <p:spPr>
            <a:xfrm flipH="1" flipV="1">
              <a:off x="864" y="2850"/>
              <a:ext cx="115" cy="329"/>
            </a:xfrm>
            <a:prstGeom prst="line">
              <a:avLst/>
            </a:prstGeom>
            <a:ln w="22225" cap="flat" cmpd="sng">
              <a:solidFill>
                <a:schemeClr val="tx2"/>
              </a:solidFill>
              <a:prstDash val="solid"/>
              <a:headEnd type="none" w="med" len="med"/>
              <a:tailEnd type="none" w="med" len="med"/>
            </a:ln>
          </p:spPr>
        </p:sp>
        <p:sp>
          <p:nvSpPr>
            <p:cNvPr id="35876" name="AutoShape 77"/>
            <p:cNvSpPr/>
            <p:nvPr/>
          </p:nvSpPr>
          <p:spPr>
            <a:xfrm rot="-1136824">
              <a:off x="811" y="2750"/>
              <a:ext cx="83" cy="107"/>
            </a:xfrm>
            <a:prstGeom prst="triangle">
              <a:avLst>
                <a:gd name="adj" fmla="val 50000"/>
              </a:avLst>
            </a:prstGeom>
            <a:noFill/>
            <a:ln w="22225" cap="flat" cmpd="sng">
              <a:solidFill>
                <a:schemeClr val="tx2"/>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sp>
          <p:nvSpPr>
            <p:cNvPr id="35877" name="Line 78"/>
            <p:cNvSpPr/>
            <p:nvPr/>
          </p:nvSpPr>
          <p:spPr>
            <a:xfrm flipH="1" flipV="1">
              <a:off x="1363" y="2683"/>
              <a:ext cx="774" cy="214"/>
            </a:xfrm>
            <a:prstGeom prst="line">
              <a:avLst/>
            </a:prstGeom>
            <a:ln w="22225" cap="flat" cmpd="sng">
              <a:solidFill>
                <a:schemeClr val="tx2"/>
              </a:solidFill>
              <a:prstDash val="solid"/>
              <a:headEnd type="none" w="med" len="med"/>
              <a:tailEnd type="none" w="med" len="med"/>
            </a:ln>
          </p:spPr>
        </p:sp>
        <p:sp>
          <p:nvSpPr>
            <p:cNvPr id="35878" name="AutoShape 79"/>
            <p:cNvSpPr/>
            <p:nvPr/>
          </p:nvSpPr>
          <p:spPr>
            <a:xfrm rot="-4264587">
              <a:off x="1271" y="2614"/>
              <a:ext cx="91" cy="103"/>
            </a:xfrm>
            <a:prstGeom prst="triangle">
              <a:avLst>
                <a:gd name="adj" fmla="val 50000"/>
              </a:avLst>
            </a:prstGeom>
            <a:noFill/>
            <a:ln w="22225" cap="flat" cmpd="sng">
              <a:solidFill>
                <a:schemeClr val="tx2"/>
              </a:solidFill>
              <a:prstDash val="solid"/>
              <a:miter/>
              <a:headEnd type="none" w="med" len="med"/>
              <a:tailEnd type="none" w="med" len="med"/>
            </a:ln>
          </p:spPr>
          <p:txBody>
            <a:bodyPr wrap="none" anchor="ctr"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1200" b="1" dirty="0">
                <a:latin typeface="黑体" panose="02010609060101010101" pitchFamily="49" charset="-122"/>
                <a:ea typeface="黑体" panose="02010609060101010101" pitchFamily="49" charset="-122"/>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5"/>
          <p:cNvSpPr>
            <a:spLocks noGrp="1"/>
          </p:cNvSpPr>
          <p:nvPr>
            <p:ph type="title"/>
          </p:nvPr>
        </p:nvSpPr>
        <p:spPr>
          <a:xfrm>
            <a:off x="455613" y="398463"/>
            <a:ext cx="9193212" cy="1139825"/>
          </a:xfrm>
          <a:ln/>
        </p:spPr>
        <p:txBody>
          <a:bodyPr vert="horz" wrap="square" lIns="0" tIns="45610" rIns="0" bIns="0" anchor="b" anchorCtr="0"/>
          <a:p>
            <a:r>
              <a:rPr lang="en-US" altLang="zh-CN" sz="4400" b="1" dirty="0">
                <a:latin typeface="微软雅黑" panose="020B0503020204020204" pitchFamily="34" charset="-122"/>
                <a:ea typeface="微软雅黑" panose="020B0503020204020204" pitchFamily="34" charset="-122"/>
              </a:rPr>
              <a:t>6 </a:t>
            </a:r>
            <a:r>
              <a:rPr lang="zh-CN" altLang="en-US" sz="4400" b="1" dirty="0">
                <a:latin typeface="微软雅黑" panose="020B0503020204020204" pitchFamily="34" charset="-122"/>
                <a:ea typeface="微软雅黑" panose="020B0503020204020204" pitchFamily="34" charset="-122"/>
              </a:rPr>
              <a:t>序列图</a:t>
            </a:r>
            <a:endParaRPr lang="zh-CN" altLang="en-US" sz="4400" b="1" dirty="0">
              <a:latin typeface="微软雅黑" panose="020B0503020204020204" pitchFamily="34" charset="-122"/>
              <a:ea typeface="微软雅黑" panose="020B0503020204020204" pitchFamily="34" charset="-122"/>
            </a:endParaRPr>
          </a:p>
        </p:txBody>
      </p:sp>
      <p:pic>
        <p:nvPicPr>
          <p:cNvPr id="36867" name="Picture 4"/>
          <p:cNvPicPr>
            <a:picLocks noChangeAspect="1"/>
          </p:cNvPicPr>
          <p:nvPr/>
        </p:nvPicPr>
        <p:blipFill>
          <a:blip r:embed="rId1"/>
          <a:stretch>
            <a:fillRect/>
          </a:stretch>
        </p:blipFill>
        <p:spPr>
          <a:xfrm>
            <a:off x="2687638" y="182563"/>
            <a:ext cx="6119812" cy="6767512"/>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7890" name="对象 1"/>
          <p:cNvGraphicFramePr>
            <a:graphicFrameLocks noChangeAspect="1"/>
          </p:cNvGraphicFramePr>
          <p:nvPr/>
        </p:nvGraphicFramePr>
        <p:xfrm>
          <a:off x="682625" y="1268413"/>
          <a:ext cx="7826375" cy="5462587"/>
        </p:xfrm>
        <a:graphic>
          <a:graphicData uri="http://schemas.openxmlformats.org/presentationml/2006/ole">
            <mc:AlternateContent xmlns:mc="http://schemas.openxmlformats.org/markup-compatibility/2006">
              <mc:Choice xmlns:v="urn:schemas-microsoft-com:vml" Requires="v">
                <p:oleObj spid="_x0000_s3076" name="" r:id="rId1" imgW="9652000" imgH="6261100" progId="Visio.Drawing.11">
                  <p:embed/>
                </p:oleObj>
              </mc:Choice>
              <mc:Fallback>
                <p:oleObj name="" r:id="rId1" imgW="9652000" imgH="6261100" progId="Visio.Drawing.11">
                  <p:embed/>
                  <p:pic>
                    <p:nvPicPr>
                      <p:cNvPr id="0" name="图片 3075"/>
                      <p:cNvPicPr/>
                      <p:nvPr/>
                    </p:nvPicPr>
                    <p:blipFill>
                      <a:blip r:embed="rId2"/>
                      <a:stretch>
                        <a:fillRect/>
                      </a:stretch>
                    </p:blipFill>
                    <p:spPr>
                      <a:xfrm>
                        <a:off x="682625" y="1268413"/>
                        <a:ext cx="7826375" cy="5462587"/>
                      </a:xfrm>
                      <a:prstGeom prst="rect">
                        <a:avLst/>
                      </a:prstGeom>
                      <a:noFill/>
                      <a:ln w="38100">
                        <a:noFill/>
                        <a:miter/>
                      </a:ln>
                    </p:spPr>
                  </p:pic>
                </p:oleObj>
              </mc:Fallback>
            </mc:AlternateContent>
          </a:graphicData>
        </a:graphic>
      </p:graphicFrame>
      <p:sp>
        <p:nvSpPr>
          <p:cNvPr id="37891" name="标题 1"/>
          <p:cNvSpPr>
            <a:spLocks noGrp="1"/>
          </p:cNvSpPr>
          <p:nvPr>
            <p:ph type="title"/>
          </p:nvPr>
        </p:nvSpPr>
        <p:spPr>
          <a:xfrm>
            <a:off x="393700" y="119063"/>
            <a:ext cx="8207375"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课程进度安排</a:t>
            </a:r>
            <a:endParaRPr lang="zh-CN" altLang="en-US" b="1" dirty="0">
              <a:latin typeface="微软雅黑" panose="020B0503020204020204" pitchFamily="34" charset="-122"/>
              <a:ea typeface="微软雅黑" panose="020B0503020204020204" pitchFamily="34" charset="-122"/>
            </a:endParaRPr>
          </a:p>
        </p:txBody>
      </p:sp>
      <p:sp>
        <p:nvSpPr>
          <p:cNvPr id="43012" name="Rectangle 2"/>
          <p:cNvSpPr>
            <a:spLocks noChangeArrowheads="1"/>
          </p:cNvSpPr>
          <p:nvPr/>
        </p:nvSpPr>
        <p:spPr bwMode="auto">
          <a:xfrm>
            <a:off x="0" y="-165100"/>
            <a:ext cx="184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600" b="1">
                <a:solidFill>
                  <a:schemeClr val="tx1"/>
                </a:solidFill>
                <a:latin typeface="Comic Sans MS" panose="030F0702030302020204" pitchFamily="66" charset="0"/>
                <a:ea typeface="宋体" panose="02010600030101010101" pitchFamily="2" charset="-122"/>
              </a:defRPr>
            </a:lvl1pPr>
            <a:lvl2pPr marL="742950" indent="-285750">
              <a:defRPr sz="1600" b="1">
                <a:solidFill>
                  <a:schemeClr val="tx1"/>
                </a:solidFill>
                <a:latin typeface="Comic Sans MS" panose="030F0702030302020204" pitchFamily="66" charset="0"/>
                <a:ea typeface="宋体" panose="02010600030101010101" pitchFamily="2" charset="-122"/>
              </a:defRPr>
            </a:lvl2pPr>
            <a:lvl3pPr marL="1143000" indent="-228600">
              <a:defRPr sz="1600" b="1">
                <a:solidFill>
                  <a:schemeClr val="tx1"/>
                </a:solidFill>
                <a:latin typeface="Comic Sans MS" panose="030F0702030302020204" pitchFamily="66" charset="0"/>
                <a:ea typeface="宋体" panose="02010600030101010101" pitchFamily="2" charset="-122"/>
              </a:defRPr>
            </a:lvl3pPr>
            <a:lvl4pPr marL="1600200" indent="-228600">
              <a:defRPr sz="1600" b="1">
                <a:solidFill>
                  <a:schemeClr val="tx1"/>
                </a:solidFill>
                <a:latin typeface="Comic Sans MS" panose="030F0702030302020204" pitchFamily="66" charset="0"/>
                <a:ea typeface="宋体" panose="02010600030101010101" pitchFamily="2" charset="-122"/>
              </a:defRPr>
            </a:lvl4pPr>
            <a:lvl5pPr marL="2057400" indent="-228600">
              <a:defRPr sz="16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5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cxnSp>
        <p:nvCxnSpPr>
          <p:cNvPr id="3" name="直接箭头连接符 2"/>
          <p:cNvCxnSpPr/>
          <p:nvPr/>
        </p:nvCxnSpPr>
        <p:spPr>
          <a:xfrm>
            <a:off x="4672013" y="1778000"/>
            <a:ext cx="2811463" cy="4483100"/>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015" name="文本框 3"/>
          <p:cNvSpPr txBox="1">
            <a:spLocks noChangeArrowheads="1"/>
          </p:cNvSpPr>
          <p:nvPr/>
        </p:nvSpPr>
        <p:spPr bwMode="auto">
          <a:xfrm>
            <a:off x="5965825" y="4000500"/>
            <a:ext cx="1443038"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Comic Sans MS" panose="030F0702030302020204" pitchFamily="66" charset="0"/>
                <a:ea typeface="宋体" panose="02010600030101010101" pitchFamily="2" charset="-122"/>
              </a:defRPr>
            </a:lvl1pPr>
            <a:lvl2pPr marL="742950" indent="-285750">
              <a:defRPr sz="1600" b="1">
                <a:solidFill>
                  <a:schemeClr val="tx1"/>
                </a:solidFill>
                <a:latin typeface="Comic Sans MS" panose="030F0702030302020204" pitchFamily="66" charset="0"/>
                <a:ea typeface="宋体" panose="02010600030101010101" pitchFamily="2" charset="-122"/>
              </a:defRPr>
            </a:lvl2pPr>
            <a:lvl3pPr marL="1143000" indent="-228600">
              <a:defRPr sz="1600" b="1">
                <a:solidFill>
                  <a:schemeClr val="tx1"/>
                </a:solidFill>
                <a:latin typeface="Comic Sans MS" panose="030F0702030302020204" pitchFamily="66" charset="0"/>
                <a:ea typeface="宋体" panose="02010600030101010101" pitchFamily="2" charset="-122"/>
              </a:defRPr>
            </a:lvl3pPr>
            <a:lvl4pPr marL="1600200" indent="-228600">
              <a:defRPr sz="1600" b="1">
                <a:solidFill>
                  <a:schemeClr val="tx1"/>
                </a:solidFill>
                <a:latin typeface="Comic Sans MS" panose="030F0702030302020204" pitchFamily="66" charset="0"/>
                <a:ea typeface="宋体" panose="02010600030101010101" pitchFamily="2" charset="-122"/>
              </a:defRPr>
            </a:lvl4pPr>
            <a:lvl5pPr marL="2057400" indent="-228600">
              <a:defRPr sz="1600" b="1">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sz="1600" b="1">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395" b="1" i="0" u="none"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cs"/>
              </a:rPr>
              <a:t>面向对象的方法</a:t>
            </a:r>
            <a:endParaRPr kumimoji="1" lang="zh-CN" altLang="en-US" sz="2395" b="1" i="0" u="none" strike="noStrike" kern="1200" cap="none" spc="0" normalizeH="0" baseline="0" noProof="0" dirty="0" smtClean="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sp>
        <p:nvSpPr>
          <p:cNvPr id="11" name="矩形标注 10"/>
          <p:cNvSpPr/>
          <p:nvPr/>
        </p:nvSpPr>
        <p:spPr>
          <a:xfrm>
            <a:off x="6287770" y="3134678"/>
            <a:ext cx="1624013" cy="485775"/>
          </a:xfrm>
          <a:prstGeom prst="wedgeRectCallout">
            <a:avLst>
              <a:gd name="adj1" fmla="val -104674"/>
              <a:gd name="adj2" fmla="val 98699"/>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190" b="1" i="0" u="none" strike="noStrike" kern="1200" cap="none" spc="0" normalizeH="0" baseline="0" noProof="0" dirty="0">
                <a:ln>
                  <a:noFill/>
                </a:ln>
                <a:solidFill>
                  <a:srgbClr val="FFFF00"/>
                </a:solidFill>
                <a:effectLst/>
                <a:uLnTx/>
                <a:uFillTx/>
                <a:latin typeface="+mn-lt"/>
                <a:ea typeface="+mn-ea"/>
                <a:cs typeface="+mn-cs"/>
              </a:rPr>
              <a:t>第七课</a:t>
            </a:r>
            <a:endParaRPr kumimoji="1" lang="zh-CN" altLang="en-US" sz="3190" b="1" i="0" u="none" strike="noStrike" kern="1200" cap="none" spc="0" normalizeH="0" baseline="0" noProof="0" dirty="0">
              <a:ln>
                <a:noFill/>
              </a:ln>
              <a:solidFill>
                <a:srgbClr val="FFFF00"/>
              </a:solidFill>
              <a:effectLst/>
              <a:uLnTx/>
              <a:uFillTx/>
              <a:latin typeface="+mn-lt"/>
              <a:ea typeface="+mn-ea"/>
              <a:cs typeface="+mn-cs"/>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灯片编号占位符 4"/>
          <p:cNvSpPr txBox="1">
            <a:spLocks noGrp="1"/>
          </p:cNvSpPr>
          <p:nvPr>
            <p:ph type="sldNum" sz="quarter" idx="12"/>
          </p:nvPr>
        </p:nvSpPr>
        <p:spPr>
          <a:xfrm>
            <a:off x="7902575" y="6345238"/>
            <a:ext cx="760413" cy="363537"/>
          </a:xfrm>
          <a:noFill/>
          <a:ln>
            <a:noFill/>
          </a:ln>
        </p:spPr>
        <p:txBody>
          <a:bodyPr lIns="0" tIns="0" rIns="0" bIns="0" anchor="b" anchorCtr="0"/>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5pPr>
          </a:lstStyle>
          <a:p>
            <a:pPr lvl="0" algn="r" eaLnBrk="1" hangingPunct="1">
              <a:buFont typeface="Wingdings" panose="05000000000000000000" pitchFamily="2" charset="2"/>
              <a:buNone/>
            </a:pPr>
            <a:fld id="{9A0DB2DC-4C9A-4742-B13C-FB6460FD3503}" type="slidenum">
              <a:rPr lang="en-US" altLang="zh-CN" sz="1200" dirty="0">
                <a:solidFill>
                  <a:srgbClr val="045C75"/>
                </a:solidFill>
              </a:rPr>
            </a:fld>
            <a:endParaRPr lang="en-US" altLang="zh-CN" sz="1200" dirty="0">
              <a:solidFill>
                <a:srgbClr val="045C75"/>
              </a:solidFill>
            </a:endParaRPr>
          </a:p>
        </p:txBody>
      </p:sp>
      <p:sp>
        <p:nvSpPr>
          <p:cNvPr id="96260" name="Text Box 4"/>
          <p:cNvSpPr txBox="1">
            <a:spLocks noChangeArrowheads="1"/>
          </p:cNvSpPr>
          <p:nvPr/>
        </p:nvSpPr>
        <p:spPr bwMode="auto">
          <a:xfrm>
            <a:off x="763588" y="665163"/>
            <a:ext cx="1895475" cy="1139825"/>
          </a:xfrm>
          <a:prstGeom prst="rect">
            <a:avLst/>
          </a:prstGeom>
          <a:noFill/>
          <a:ln w="9525">
            <a:noFill/>
            <a:miter lim="800000"/>
          </a:ln>
          <a:effectLst/>
        </p:spPr>
        <p:txBody>
          <a:bodyPr lIns="0" tIns="0" rIns="0" bIns="0">
            <a:spAutoFit/>
          </a:bodyPr>
          <a:lstStyle/>
          <a:p>
            <a:pPr marR="0" defTabSz="914400" eaLnBrk="1" hangingPunct="1">
              <a:lnSpc>
                <a:spcPts val="4400"/>
              </a:lnSpc>
              <a:buClrTx/>
              <a:buSzTx/>
              <a:buFont typeface="Wingdings" panose="05000000000000000000" pitchFamily="2" charset="2"/>
              <a:buNone/>
              <a:defRPr/>
            </a:pPr>
            <a:r>
              <a:rPr kumimoji="1" lang="zh-CN" altLang="en-US" sz="36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面向对象的分析</a:t>
            </a:r>
            <a:endParaRPr kumimoji="1" lang="zh-CN" altLang="en-US" sz="36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
        <p:nvSpPr>
          <p:cNvPr id="3" name="TextBox 2"/>
          <p:cNvSpPr txBox="1"/>
          <p:nvPr/>
        </p:nvSpPr>
        <p:spPr>
          <a:xfrm>
            <a:off x="61913" y="3814763"/>
            <a:ext cx="865187" cy="460375"/>
          </a:xfrm>
          <a:prstGeom prst="rect">
            <a:avLst/>
          </a:prstGeom>
          <a:noFill/>
          <a:ln w="9525">
            <a:noFill/>
          </a:ln>
        </p:spPr>
        <p:txBody>
          <a:bodyPr>
            <a:spAutoFit/>
          </a:bodyPr>
          <a:p>
            <a:pPr eaLnBrk="1" hangingPunct="1">
              <a:buFont typeface="Wingdings" panose="05000000000000000000" pitchFamily="2" charset="2"/>
            </a:pPr>
            <a:r>
              <a:rPr lang="zh-CN" altLang="en-US" dirty="0">
                <a:latin typeface="黑体" panose="02010609060101010101" pitchFamily="49" charset="-122"/>
              </a:rPr>
              <a:t>用例</a:t>
            </a:r>
            <a:endParaRPr lang="zh-CN" altLang="en-US" dirty="0">
              <a:latin typeface="黑体" panose="02010609060101010101" pitchFamily="49" charset="-122"/>
            </a:endParaRPr>
          </a:p>
        </p:txBody>
      </p:sp>
      <p:pic>
        <p:nvPicPr>
          <p:cNvPr id="8" name="Picture 4"/>
          <p:cNvPicPr>
            <a:picLocks noChangeAspect="1"/>
          </p:cNvPicPr>
          <p:nvPr/>
        </p:nvPicPr>
        <p:blipFill>
          <a:blip r:embed="rId1"/>
          <a:stretch>
            <a:fillRect/>
          </a:stretch>
        </p:blipFill>
        <p:spPr>
          <a:xfrm>
            <a:off x="495300" y="3336925"/>
            <a:ext cx="2484438" cy="1416050"/>
          </a:xfrm>
          <a:prstGeom prst="rect">
            <a:avLst/>
          </a:prstGeom>
          <a:noFill/>
          <a:ln w="9525">
            <a:noFill/>
          </a:ln>
        </p:spPr>
      </p:pic>
      <p:pic>
        <p:nvPicPr>
          <p:cNvPr id="9" name="Picture 4"/>
          <p:cNvPicPr>
            <a:picLocks noChangeAspect="1"/>
          </p:cNvPicPr>
          <p:nvPr/>
        </p:nvPicPr>
        <p:blipFill>
          <a:blip r:embed="rId2"/>
          <a:stretch>
            <a:fillRect/>
          </a:stretch>
        </p:blipFill>
        <p:spPr>
          <a:xfrm>
            <a:off x="3876675" y="3643313"/>
            <a:ext cx="2032000" cy="1789112"/>
          </a:xfrm>
          <a:prstGeom prst="rect">
            <a:avLst/>
          </a:prstGeom>
          <a:noFill/>
          <a:ln w="9525">
            <a:noFill/>
          </a:ln>
        </p:spPr>
      </p:pic>
      <p:sp>
        <p:nvSpPr>
          <p:cNvPr id="10" name="TextBox 9"/>
          <p:cNvSpPr txBox="1"/>
          <p:nvPr/>
        </p:nvSpPr>
        <p:spPr>
          <a:xfrm>
            <a:off x="7134225" y="3814763"/>
            <a:ext cx="1860550" cy="1322387"/>
          </a:xfrm>
          <a:prstGeom prst="rect">
            <a:avLst/>
          </a:prstGeom>
          <a:noFill/>
          <a:ln w="9525">
            <a:noFill/>
          </a:ln>
        </p:spPr>
        <p:txBody>
          <a:bodyPr>
            <a:spAutoFit/>
          </a:bodyPr>
          <a:p>
            <a:pPr eaLnBrk="1" hangingPunct="1"/>
            <a:r>
              <a:rPr lang="zh-CN" altLang="en-US" sz="2000" dirty="0">
                <a:solidFill>
                  <a:srgbClr val="FF0000"/>
                </a:solidFill>
                <a:latin typeface="黑体" panose="02010609060101010101" pitchFamily="49" charset="-122"/>
              </a:rPr>
              <a:t>   各种类</a:t>
            </a:r>
            <a:endParaRPr lang="en-US" altLang="zh-CN" sz="2000" dirty="0">
              <a:solidFill>
                <a:srgbClr val="FF0000"/>
              </a:solidFill>
              <a:latin typeface="黑体" panose="02010609060101010101" pitchFamily="49" charset="-122"/>
            </a:endParaRPr>
          </a:p>
          <a:p>
            <a:pPr eaLnBrk="1" hangingPunct="1"/>
            <a:r>
              <a:rPr lang="zh-CN" altLang="en-US" sz="2000" dirty="0">
                <a:solidFill>
                  <a:srgbClr val="FF0000"/>
                </a:solidFill>
                <a:latin typeface="黑体" panose="02010609060101010101" pitchFamily="49" charset="-122"/>
              </a:rPr>
              <a:t>类是面向对象程序最基本的组成单元</a:t>
            </a:r>
            <a:endParaRPr lang="zh-CN" altLang="en-US" sz="2000" dirty="0">
              <a:solidFill>
                <a:srgbClr val="FF0000"/>
              </a:solidFill>
              <a:latin typeface="黑体" panose="02010609060101010101" pitchFamily="49" charset="-122"/>
            </a:endParaRPr>
          </a:p>
        </p:txBody>
      </p:sp>
      <p:sp>
        <p:nvSpPr>
          <p:cNvPr id="4" name="右箭头 3"/>
          <p:cNvSpPr/>
          <p:nvPr/>
        </p:nvSpPr>
        <p:spPr>
          <a:xfrm>
            <a:off x="2905125" y="4306888"/>
            <a:ext cx="715963" cy="4635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2" name="TextBox 11"/>
          <p:cNvSpPr txBox="1"/>
          <p:nvPr/>
        </p:nvSpPr>
        <p:spPr>
          <a:xfrm>
            <a:off x="4811713" y="1830388"/>
            <a:ext cx="1504950" cy="1200150"/>
          </a:xfrm>
          <a:prstGeom prst="rect">
            <a:avLst/>
          </a:prstGeom>
          <a:noFill/>
          <a:ln w="9525">
            <a:noFill/>
          </a:ln>
        </p:spPr>
        <p:txBody>
          <a:bodyPr>
            <a:spAutoFit/>
          </a:bodyPr>
          <a:p>
            <a:pPr eaLnBrk="1" hangingPunct="1">
              <a:buFont typeface="Wingdings" panose="05000000000000000000" pitchFamily="2" charset="2"/>
            </a:pPr>
            <a:r>
              <a:rPr lang="zh-CN" altLang="en-US" sz="7200" dirty="0">
                <a:solidFill>
                  <a:srgbClr val="FF0000"/>
                </a:solidFill>
                <a:latin typeface="黑体" panose="02010609060101010101" pitchFamily="49" charset="-122"/>
              </a:rPr>
              <a:t>？</a:t>
            </a:r>
            <a:endParaRPr lang="zh-CN" altLang="en-US" sz="7200" dirty="0">
              <a:solidFill>
                <a:srgbClr val="FF0000"/>
              </a:solidFill>
              <a:latin typeface="黑体" panose="02010609060101010101" pitchFamily="49" charset="-122"/>
            </a:endParaRPr>
          </a:p>
        </p:txBody>
      </p:sp>
      <p:sp>
        <p:nvSpPr>
          <p:cNvPr id="11" name="Text Box 4"/>
          <p:cNvSpPr txBox="1">
            <a:spLocks noChangeArrowheads="1"/>
          </p:cNvSpPr>
          <p:nvPr/>
        </p:nvSpPr>
        <p:spPr bwMode="auto">
          <a:xfrm>
            <a:off x="4092575" y="665163"/>
            <a:ext cx="1878013" cy="1139825"/>
          </a:xfrm>
          <a:prstGeom prst="rect">
            <a:avLst/>
          </a:prstGeom>
          <a:noFill/>
          <a:ln w="9525">
            <a:noFill/>
            <a:miter lim="800000"/>
          </a:ln>
          <a:effectLst/>
        </p:spPr>
        <p:txBody>
          <a:bodyPr lIns="0" tIns="0" rIns="0" bIns="0">
            <a:spAutoFit/>
          </a:bodyPr>
          <a:lstStyle/>
          <a:p>
            <a:pPr marR="0" defTabSz="914400" eaLnBrk="1" hangingPunct="1">
              <a:lnSpc>
                <a:spcPts val="4400"/>
              </a:lnSpc>
              <a:buClrTx/>
              <a:buSzTx/>
              <a:buFont typeface="Wingdings" panose="05000000000000000000" pitchFamily="2" charset="2"/>
              <a:buNone/>
              <a:defRPr/>
            </a:pPr>
            <a:r>
              <a:rPr kumimoji="1" lang="zh-CN" altLang="en-US" sz="36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面向对象的设计</a:t>
            </a:r>
            <a:endParaRPr kumimoji="1" lang="zh-CN" altLang="en-US" sz="36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
        <p:nvSpPr>
          <p:cNvPr id="13" name="右箭头 12"/>
          <p:cNvSpPr/>
          <p:nvPr/>
        </p:nvSpPr>
        <p:spPr>
          <a:xfrm>
            <a:off x="2759075" y="1003300"/>
            <a:ext cx="1231900" cy="4635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pic>
        <p:nvPicPr>
          <p:cNvPr id="2" name="图片 1"/>
          <p:cNvPicPr>
            <a:picLocks noChangeAspect="1"/>
          </p:cNvPicPr>
          <p:nvPr/>
        </p:nvPicPr>
        <p:blipFill>
          <a:blip r:embed="rId3"/>
          <a:stretch>
            <a:fillRect/>
          </a:stretch>
        </p:blipFill>
        <p:spPr>
          <a:xfrm>
            <a:off x="958850" y="4989513"/>
            <a:ext cx="1700213" cy="1508125"/>
          </a:xfrm>
          <a:prstGeom prst="rect">
            <a:avLst/>
          </a:prstGeom>
          <a:noFill/>
          <a:ln w="9525">
            <a:noFill/>
          </a:ln>
        </p:spPr>
      </p:pic>
      <p:sp>
        <p:nvSpPr>
          <p:cNvPr id="5" name="下箭头 4"/>
          <p:cNvSpPr/>
          <p:nvPr/>
        </p:nvSpPr>
        <p:spPr>
          <a:xfrm>
            <a:off x="1319213" y="1938338"/>
            <a:ext cx="417513" cy="10080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4" name="右箭头 13"/>
          <p:cNvSpPr/>
          <p:nvPr/>
        </p:nvSpPr>
        <p:spPr>
          <a:xfrm>
            <a:off x="5681663" y="1119188"/>
            <a:ext cx="1231900" cy="4635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5" name="Text Box 4"/>
          <p:cNvSpPr txBox="1">
            <a:spLocks noChangeArrowheads="1"/>
          </p:cNvSpPr>
          <p:nvPr/>
        </p:nvSpPr>
        <p:spPr bwMode="auto">
          <a:xfrm>
            <a:off x="6962775" y="747713"/>
            <a:ext cx="1879600" cy="1139825"/>
          </a:xfrm>
          <a:prstGeom prst="rect">
            <a:avLst/>
          </a:prstGeom>
          <a:noFill/>
          <a:ln w="9525">
            <a:noFill/>
            <a:miter lim="800000"/>
          </a:ln>
          <a:effectLst/>
        </p:spPr>
        <p:txBody>
          <a:bodyPr lIns="0" tIns="0" rIns="0" bIns="0">
            <a:spAutoFit/>
          </a:bodyPr>
          <a:lstStyle/>
          <a:p>
            <a:pPr marR="0" defTabSz="914400" eaLnBrk="1" hangingPunct="1">
              <a:lnSpc>
                <a:spcPts val="4400"/>
              </a:lnSpc>
              <a:buClrTx/>
              <a:buSzTx/>
              <a:buFont typeface="Wingdings" panose="05000000000000000000" pitchFamily="2" charset="2"/>
              <a:buNone/>
              <a:defRPr/>
            </a:pPr>
            <a:r>
              <a:rPr kumimoji="1" lang="zh-CN" altLang="en-US" sz="36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面向对象的实现</a:t>
            </a:r>
            <a:endParaRPr kumimoji="1" lang="zh-CN" altLang="en-US" sz="36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
        <p:nvSpPr>
          <p:cNvPr id="16" name="下箭头 15"/>
          <p:cNvSpPr/>
          <p:nvPr/>
        </p:nvSpPr>
        <p:spPr>
          <a:xfrm>
            <a:off x="4429125" y="1909763"/>
            <a:ext cx="419100" cy="10080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7" name="下箭头 16"/>
          <p:cNvSpPr/>
          <p:nvPr/>
        </p:nvSpPr>
        <p:spPr>
          <a:xfrm>
            <a:off x="7605713" y="1925638"/>
            <a:ext cx="417513" cy="10080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8" name="右箭头 17"/>
          <p:cNvSpPr/>
          <p:nvPr/>
        </p:nvSpPr>
        <p:spPr>
          <a:xfrm rot="10800000">
            <a:off x="6316663" y="4214813"/>
            <a:ext cx="715963" cy="4635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a:off x="4078288" y="5432425"/>
            <a:ext cx="1416050" cy="461963"/>
          </a:xfrm>
          <a:prstGeom prst="rect">
            <a:avLst/>
          </a:prstGeom>
          <a:noFill/>
          <a:ln w="9525">
            <a:noFill/>
          </a:ln>
        </p:spPr>
        <p:txBody>
          <a:bodyPr wrap="none">
            <a:spAutoFit/>
          </a:bodyPr>
          <a:p>
            <a:r>
              <a:rPr lang="zh-CN" altLang="en-US" dirty="0">
                <a:latin typeface="微软雅黑" panose="020B0503020204020204" pitchFamily="34" charset="-122"/>
                <a:ea typeface="微软雅黑" panose="020B0503020204020204" pitchFamily="34" charset="-122"/>
              </a:rPr>
              <a:t>对象建模</a:t>
            </a:r>
            <a:endParaRPr lang="zh-CN" altLang="en-US" dirty="0">
              <a:latin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additive="base">
                                        <p:cTn id="49" dur="500" fill="hold"/>
                                        <p:tgtEl>
                                          <p:spTgt spid="18"/>
                                        </p:tgtEl>
                                        <p:attrNameLst>
                                          <p:attrName>ppt_x</p:attrName>
                                        </p:attrNameLst>
                                      </p:cBhvr>
                                      <p:tavLst>
                                        <p:tav tm="0">
                                          <p:val>
                                            <p:strVal val="#ppt_x"/>
                                          </p:val>
                                        </p:tav>
                                        <p:tav tm="100000">
                                          <p:val>
                                            <p:strVal val="#ppt_x"/>
                                          </p:val>
                                        </p:tav>
                                      </p:tavLst>
                                    </p:anim>
                                    <p:anim calcmode="lin" valueType="num">
                                      <p:cBhvr additive="base">
                                        <p:cTn id="50" dur="500" fill="hold"/>
                                        <p:tgtEl>
                                          <p:spTgt spid="18"/>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9"/>
                                        </p:tgtEl>
                                        <p:attrNameLst>
                                          <p:attrName>style.visibility</p:attrName>
                                        </p:attrNameLst>
                                      </p:cBhvr>
                                      <p:to>
                                        <p:strVal val="visible"/>
                                      </p:to>
                                    </p:set>
                                    <p:anim calcmode="lin" valueType="num">
                                      <p:cBhvr additive="base">
                                        <p:cTn id="53" dur="500" fill="hold"/>
                                        <p:tgtEl>
                                          <p:spTgt spid="9"/>
                                        </p:tgtEl>
                                        <p:attrNameLst>
                                          <p:attrName>ppt_x</p:attrName>
                                        </p:attrNameLst>
                                      </p:cBhvr>
                                      <p:tavLst>
                                        <p:tav tm="0">
                                          <p:val>
                                            <p:strVal val="#ppt_x"/>
                                          </p:val>
                                        </p:tav>
                                        <p:tav tm="100000">
                                          <p:val>
                                            <p:strVal val="#ppt_x"/>
                                          </p:val>
                                        </p:tav>
                                      </p:tavLst>
                                    </p:anim>
                                    <p:anim calcmode="lin" valueType="num">
                                      <p:cBhvr additive="base">
                                        <p:cTn id="54" dur="500" fill="hold"/>
                                        <p:tgtEl>
                                          <p:spTgt spid="9"/>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4"/>
                                        </p:tgtEl>
                                        <p:attrNameLst>
                                          <p:attrName>style.visibility</p:attrName>
                                        </p:attrNameLst>
                                      </p:cBhvr>
                                      <p:to>
                                        <p:strVal val="visible"/>
                                      </p:to>
                                    </p:set>
                                    <p:anim calcmode="lin" valueType="num">
                                      <p:cBhvr additive="base">
                                        <p:cTn id="57" dur="500" fill="hold"/>
                                        <p:tgtEl>
                                          <p:spTgt spid="4"/>
                                        </p:tgtEl>
                                        <p:attrNameLst>
                                          <p:attrName>ppt_x</p:attrName>
                                        </p:attrNameLst>
                                      </p:cBhvr>
                                      <p:tavLst>
                                        <p:tav tm="0">
                                          <p:val>
                                            <p:strVal val="#ppt_x"/>
                                          </p:val>
                                        </p:tav>
                                        <p:tav tm="100000">
                                          <p:val>
                                            <p:strVal val="#ppt_x"/>
                                          </p:val>
                                        </p:tav>
                                      </p:tavLst>
                                    </p:anim>
                                    <p:anim calcmode="lin" valueType="num">
                                      <p:cBhvr additive="base">
                                        <p:cTn id="58" dur="500" fill="hold"/>
                                        <p:tgtEl>
                                          <p:spTgt spid="4"/>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6"/>
                                        </p:tgtEl>
                                        <p:attrNameLst>
                                          <p:attrName>style.visibility</p:attrName>
                                        </p:attrNameLst>
                                      </p:cBhvr>
                                      <p:to>
                                        <p:strVal val="visible"/>
                                      </p:to>
                                    </p:set>
                                    <p:anim calcmode="lin" valueType="num">
                                      <p:cBhvr additive="base">
                                        <p:cTn id="61" dur="500" fill="hold"/>
                                        <p:tgtEl>
                                          <p:spTgt spid="6"/>
                                        </p:tgtEl>
                                        <p:attrNameLst>
                                          <p:attrName>ppt_x</p:attrName>
                                        </p:attrNameLst>
                                      </p:cBhvr>
                                      <p:tavLst>
                                        <p:tav tm="0">
                                          <p:val>
                                            <p:strVal val="#ppt_x"/>
                                          </p:val>
                                        </p:tav>
                                        <p:tav tm="100000">
                                          <p:val>
                                            <p:strVal val="#ppt_x"/>
                                          </p:val>
                                        </p:tav>
                                      </p:tavLst>
                                    </p:anim>
                                    <p:anim calcmode="lin" valueType="num">
                                      <p:cBhvr additive="base">
                                        <p:cTn id="6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4" grpId="0" animBg="1"/>
      <p:bldP spid="12" grpId="0"/>
      <p:bldP spid="5" grpId="0" animBg="1"/>
      <p:bldP spid="16" grpId="0" animBg="1"/>
      <p:bldP spid="17" grpId="0" animBg="1"/>
      <p:bldP spid="18" grpId="0" animBg="1"/>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标题 1"/>
          <p:cNvSpPr>
            <a:spLocks noGrp="1"/>
          </p:cNvSpPr>
          <p:nvPr>
            <p:ph type="title"/>
          </p:nvPr>
        </p:nvSpPr>
        <p:spPr>
          <a:xfrm>
            <a:off x="455613" y="469900"/>
            <a:ext cx="8207375" cy="1139825"/>
          </a:xfrm>
          <a:ln/>
        </p:spPr>
        <p:txBody>
          <a:bodyPr vert="horz" wrap="square" lIns="0" tIns="45610" rIns="0" bIns="0" anchor="b" anchorCtr="0"/>
          <a:p>
            <a:pPr marL="606425" indent="-606425" eaLnBrk="1" hangingPunct="1">
              <a:spcBef>
                <a:spcPts val="1200"/>
              </a:spcBef>
            </a:pPr>
            <a:r>
              <a:rPr lang="zh-CN" altLang="en-US" b="1" dirty="0">
                <a:latin typeface="微软雅黑" panose="020B0503020204020204" pitchFamily="34" charset="-122"/>
                <a:ea typeface="微软雅黑" panose="020B0503020204020204" pitchFamily="34" charset="-122"/>
              </a:rPr>
              <a:t>对象识别过程</a:t>
            </a:r>
            <a:endParaRPr lang="zh-CN" altLang="en-US" sz="4400" b="1" dirty="0">
              <a:latin typeface="微软雅黑" panose="020B0503020204020204" pitchFamily="34" charset="-122"/>
              <a:ea typeface="微软雅黑" panose="020B0503020204020204" pitchFamily="34" charset="-122"/>
            </a:endParaRPr>
          </a:p>
        </p:txBody>
      </p:sp>
      <p:sp>
        <p:nvSpPr>
          <p:cNvPr id="40963" name="矩形 4"/>
          <p:cNvSpPr/>
          <p:nvPr/>
        </p:nvSpPr>
        <p:spPr>
          <a:xfrm>
            <a:off x="742950" y="1982788"/>
            <a:ext cx="7488238" cy="2554287"/>
          </a:xfrm>
          <a:prstGeom prst="rect">
            <a:avLst/>
          </a:prstGeom>
          <a:noFill/>
          <a:ln w="9525">
            <a:noFill/>
          </a:ln>
        </p:spPr>
        <p:txBody>
          <a:bodyPr lIns="91430" tIns="45715" rIns="91430" bIns="4571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857250" lvl="1" indent="0" algn="just" eaLnBrk="1" hangingPunct="1">
              <a:spcBef>
                <a:spcPct val="0"/>
              </a:spcBef>
              <a:buClrTx/>
              <a:buSzTx/>
              <a:buFont typeface="Wingdings" panose="05000000000000000000" pitchFamily="2" charset="2"/>
              <a:buNone/>
            </a:pPr>
            <a:r>
              <a:rPr lang="en-US" altLang="zh-CN" sz="3200" b="1" dirty="0">
                <a:latin typeface="楷体_GB2312" pitchFamily="49" charset="-122"/>
                <a:ea typeface="黑体" panose="02010609060101010101" pitchFamily="49" charset="-122"/>
              </a:rPr>
              <a:t>1</a:t>
            </a:r>
            <a:r>
              <a:rPr lang="zh-CN" altLang="en-US" sz="3200" b="1" dirty="0">
                <a:latin typeface="楷体_GB2312" pitchFamily="49" charset="-122"/>
                <a:ea typeface="黑体" panose="02010609060101010101" pitchFamily="49" charset="-122"/>
              </a:rPr>
              <a:t>．理解每个用例描述</a:t>
            </a:r>
            <a:endParaRPr lang="en-US" altLang="zh-CN" sz="3200" b="1" dirty="0">
              <a:latin typeface="楷体_GB2312" pitchFamily="49" charset="-122"/>
              <a:ea typeface="黑体" panose="02010609060101010101" pitchFamily="49" charset="-122"/>
            </a:endParaRPr>
          </a:p>
          <a:p>
            <a:pPr marL="857250" lvl="1" indent="0" algn="just" eaLnBrk="1" hangingPunct="1">
              <a:spcBef>
                <a:spcPct val="0"/>
              </a:spcBef>
              <a:buClrTx/>
              <a:buSzTx/>
              <a:buFont typeface="Wingdings" panose="05000000000000000000" pitchFamily="2" charset="2"/>
              <a:buNone/>
            </a:pPr>
            <a:r>
              <a:rPr lang="en-US" altLang="zh-CN" sz="3200" b="1" dirty="0">
                <a:latin typeface="楷体_GB2312" pitchFamily="49" charset="-122"/>
                <a:ea typeface="黑体" panose="02010609060101010101" pitchFamily="49" charset="-122"/>
              </a:rPr>
              <a:t>2</a:t>
            </a:r>
            <a:r>
              <a:rPr lang="zh-CN" altLang="en-US" sz="3200" b="1" dirty="0">
                <a:latin typeface="楷体_GB2312" pitchFamily="49" charset="-122"/>
                <a:ea typeface="黑体" panose="02010609060101010101" pitchFamily="49" charset="-122"/>
              </a:rPr>
              <a:t>．识别类和类的属性</a:t>
            </a:r>
            <a:endParaRPr lang="en-US" altLang="zh-CN" sz="3200" b="1" dirty="0">
              <a:latin typeface="楷体_GB2312" pitchFamily="49" charset="-122"/>
              <a:ea typeface="黑体" panose="02010609060101010101" pitchFamily="49" charset="-122"/>
            </a:endParaRPr>
          </a:p>
          <a:p>
            <a:pPr marL="857250" lvl="1" indent="0" algn="just" eaLnBrk="1" hangingPunct="1">
              <a:spcBef>
                <a:spcPct val="0"/>
              </a:spcBef>
              <a:buClrTx/>
              <a:buSzTx/>
              <a:buFont typeface="Wingdings" panose="05000000000000000000" pitchFamily="2" charset="2"/>
              <a:buNone/>
            </a:pPr>
            <a:r>
              <a:rPr lang="en-US" altLang="zh-CN" sz="3200" b="1" dirty="0">
                <a:latin typeface="楷体_GB2312" pitchFamily="49" charset="-122"/>
                <a:ea typeface="黑体" panose="02010609060101010101" pitchFamily="49" charset="-122"/>
              </a:rPr>
              <a:t>3</a:t>
            </a:r>
            <a:r>
              <a:rPr lang="zh-CN" altLang="en-US" sz="3200" b="1" dirty="0">
                <a:latin typeface="楷体_GB2312" pitchFamily="49" charset="-122"/>
                <a:ea typeface="黑体" panose="02010609060101010101" pitchFamily="49" charset="-122"/>
              </a:rPr>
              <a:t>．识别类的操作</a:t>
            </a:r>
            <a:endParaRPr lang="en-US" altLang="zh-CN" sz="3200" b="1" dirty="0">
              <a:latin typeface="楷体_GB2312" pitchFamily="49" charset="-122"/>
              <a:ea typeface="黑体" panose="02010609060101010101" pitchFamily="49" charset="-122"/>
            </a:endParaRPr>
          </a:p>
          <a:p>
            <a:pPr marL="857250" lvl="1" indent="0" algn="just" eaLnBrk="1" hangingPunct="1">
              <a:spcBef>
                <a:spcPct val="0"/>
              </a:spcBef>
              <a:buClrTx/>
              <a:buSzTx/>
              <a:buFont typeface="Wingdings" panose="05000000000000000000" pitchFamily="2" charset="2"/>
              <a:buNone/>
            </a:pPr>
            <a:r>
              <a:rPr lang="en-US" altLang="zh-CN" sz="3200" b="1" dirty="0">
                <a:latin typeface="楷体_GB2312" pitchFamily="49" charset="-122"/>
                <a:ea typeface="黑体" panose="02010609060101010101" pitchFamily="49" charset="-122"/>
              </a:rPr>
              <a:t>4</a:t>
            </a:r>
            <a:r>
              <a:rPr lang="zh-CN" altLang="en-US" sz="3200" b="1" dirty="0">
                <a:latin typeface="楷体_GB2312" pitchFamily="49" charset="-122"/>
                <a:ea typeface="黑体" panose="02010609060101010101" pitchFamily="49" charset="-122"/>
              </a:rPr>
              <a:t>．确定类与类之间的关系</a:t>
            </a:r>
            <a:endParaRPr lang="en-US" altLang="zh-CN" sz="3200" b="1" dirty="0">
              <a:latin typeface="楷体_GB2312" pitchFamily="49" charset="-122"/>
              <a:ea typeface="黑体" panose="02010609060101010101" pitchFamily="49" charset="-122"/>
            </a:endParaRPr>
          </a:p>
          <a:p>
            <a:pPr marL="857250" lvl="1" indent="0" algn="just" eaLnBrk="1" hangingPunct="1">
              <a:spcBef>
                <a:spcPct val="0"/>
              </a:spcBef>
              <a:buClrTx/>
              <a:buSzTx/>
              <a:buFont typeface="Wingdings" panose="05000000000000000000" pitchFamily="2" charset="2"/>
              <a:buNone/>
            </a:pPr>
            <a:r>
              <a:rPr lang="en-US" altLang="zh-CN" sz="3200" b="1" dirty="0">
                <a:latin typeface="楷体_GB2312" pitchFamily="49" charset="-122"/>
                <a:ea typeface="黑体" panose="02010609060101010101" pitchFamily="49" charset="-122"/>
              </a:rPr>
              <a:t>5</a:t>
            </a:r>
            <a:r>
              <a:rPr lang="zh-CN" altLang="en-US" sz="3200" b="1" dirty="0">
                <a:latin typeface="楷体_GB2312" pitchFamily="49" charset="-122"/>
                <a:ea typeface="黑体" panose="02010609060101010101" pitchFamily="49" charset="-122"/>
              </a:rPr>
              <a:t>．评审</a:t>
            </a:r>
            <a:endParaRPr lang="en-US" altLang="zh-CN" sz="3200" b="1" dirty="0">
              <a:latin typeface="楷体_GB2312" pitchFamily="49" charset="-122"/>
              <a:ea typeface="黑体" panose="02010609060101010101" pitchFamily="49" charset="-122"/>
            </a:endParaRPr>
          </a:p>
        </p:txBody>
      </p:sp>
      <p:sp>
        <p:nvSpPr>
          <p:cNvPr id="4" name="TextBox 3"/>
          <p:cNvSpPr txBox="1"/>
          <p:nvPr/>
        </p:nvSpPr>
        <p:spPr>
          <a:xfrm>
            <a:off x="742950" y="4932363"/>
            <a:ext cx="6761163" cy="1443990"/>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3200" b="1" dirty="0">
                <a:solidFill>
                  <a:srgbClr val="FF0000"/>
                </a:solidFill>
                <a:latin typeface="Arial" panose="020B0604020202020204" pitchFamily="34" charset="0"/>
              </a:rPr>
              <a:t>两大难题：</a:t>
            </a:r>
            <a:endParaRPr lang="en-US" altLang="zh-CN" sz="3200" b="1" dirty="0">
              <a:solidFill>
                <a:srgbClr val="FF0000"/>
              </a:solidFill>
              <a:latin typeface="Arial" panose="020B0604020202020204" pitchFamily="34" charset="0"/>
            </a:endParaRPr>
          </a:p>
          <a:p>
            <a:pPr marL="800100" lvl="1" indent="-342900" eaLnBrk="1" hangingPunct="1">
              <a:spcBef>
                <a:spcPct val="0"/>
              </a:spcBef>
              <a:buClrTx/>
              <a:buSzTx/>
              <a:buFont typeface="Calibri" panose="020F0502020204030204" pitchFamily="34" charset="0"/>
              <a:buAutoNum type="arabicPeriod"/>
            </a:pPr>
            <a:r>
              <a:rPr lang="zh-CN" altLang="en-US" sz="2800" b="1" dirty="0">
                <a:solidFill>
                  <a:srgbClr val="FF0000"/>
                </a:solidFill>
                <a:latin typeface="Arial" panose="020B0604020202020204" pitchFamily="34" charset="0"/>
              </a:rPr>
              <a:t>怎么识别对象？</a:t>
            </a:r>
            <a:endParaRPr lang="en-US" altLang="zh-CN" sz="2800" b="1" dirty="0">
              <a:solidFill>
                <a:srgbClr val="FF0000"/>
              </a:solidFill>
              <a:latin typeface="Arial" panose="020B0604020202020204" pitchFamily="34" charset="0"/>
            </a:endParaRPr>
          </a:p>
          <a:p>
            <a:pPr marL="800100" lvl="1" indent="-342900" eaLnBrk="1" hangingPunct="1">
              <a:spcBef>
                <a:spcPct val="0"/>
              </a:spcBef>
              <a:buClrTx/>
              <a:buSzTx/>
              <a:buFont typeface="Calibri" panose="020F0502020204030204" pitchFamily="34" charset="0"/>
              <a:buAutoNum type="arabicPeriod"/>
            </a:pPr>
            <a:r>
              <a:rPr lang="zh-CN" altLang="en-US" sz="2800" b="1" dirty="0">
                <a:solidFill>
                  <a:srgbClr val="FF0000"/>
                </a:solidFill>
                <a:latin typeface="Arial" panose="020B0604020202020204" pitchFamily="34" charset="0"/>
              </a:rPr>
              <a:t>怎么识别对象的操作？</a:t>
            </a:r>
            <a:endParaRPr lang="zh-CN" altLang="en-US" sz="2800" b="1" dirty="0">
              <a:solidFill>
                <a:srgbClr val="FF0000"/>
              </a:solidFill>
              <a:latin typeface="Arial" panose="020B0604020202020204" pitchFamily="34" charset="0"/>
            </a:endParaRPr>
          </a:p>
        </p:txBody>
      </p:sp>
      <p:sp>
        <p:nvSpPr>
          <p:cNvPr id="5" name="TextBox 4"/>
          <p:cNvSpPr txBox="1"/>
          <p:nvPr/>
        </p:nvSpPr>
        <p:spPr>
          <a:xfrm>
            <a:off x="4775200" y="4932363"/>
            <a:ext cx="4164013" cy="144462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3200" b="1" dirty="0">
                <a:solidFill>
                  <a:srgbClr val="FF0000"/>
                </a:solidFill>
                <a:latin typeface="Arial" panose="020B0604020202020204" pitchFamily="34" charset="0"/>
              </a:rPr>
              <a:t>解决问题的主要技术：</a:t>
            </a:r>
            <a:endParaRPr lang="en-US" altLang="zh-CN" sz="3200" b="1" dirty="0">
              <a:solidFill>
                <a:srgbClr val="FF0000"/>
              </a:solidFill>
              <a:latin typeface="Arial" panose="020B0604020202020204" pitchFamily="34" charset="0"/>
            </a:endParaRPr>
          </a:p>
          <a:p>
            <a:pPr marL="800100" lvl="1" indent="-342900" eaLnBrk="1" hangingPunct="1">
              <a:spcBef>
                <a:spcPct val="0"/>
              </a:spcBef>
              <a:buClrTx/>
              <a:buSzTx/>
              <a:buFont typeface="Calibri" panose="020F0502020204030204" pitchFamily="34" charset="0"/>
              <a:buAutoNum type="arabicPeriod"/>
            </a:pPr>
            <a:r>
              <a:rPr lang="zh-CN" altLang="en-US" sz="2800" b="1" dirty="0">
                <a:solidFill>
                  <a:srgbClr val="FF0000"/>
                </a:solidFill>
                <a:latin typeface="Arial" panose="020B0604020202020204" pitchFamily="34" charset="0"/>
              </a:rPr>
              <a:t>分析类</a:t>
            </a:r>
            <a:endParaRPr lang="en-US" altLang="zh-CN" sz="2800" b="1" dirty="0">
              <a:solidFill>
                <a:srgbClr val="FF0000"/>
              </a:solidFill>
              <a:latin typeface="Arial" panose="020B0604020202020204" pitchFamily="34" charset="0"/>
            </a:endParaRPr>
          </a:p>
          <a:p>
            <a:pPr marL="800100" lvl="1" indent="-342900" eaLnBrk="1" hangingPunct="1">
              <a:spcBef>
                <a:spcPct val="0"/>
              </a:spcBef>
              <a:buClrTx/>
              <a:buSzTx/>
              <a:buFont typeface="Calibri" panose="020F0502020204030204" pitchFamily="34" charset="0"/>
              <a:buAutoNum type="arabicPeriod"/>
            </a:pPr>
            <a:r>
              <a:rPr lang="zh-CN" altLang="en-US" sz="2800" b="1" dirty="0">
                <a:solidFill>
                  <a:srgbClr val="FF0000"/>
                </a:solidFill>
                <a:latin typeface="Arial" panose="020B0604020202020204" pitchFamily="34" charset="0"/>
              </a:rPr>
              <a:t>为用例建立序列图</a:t>
            </a:r>
            <a:endParaRPr lang="zh-CN" altLang="en-US" sz="2800" b="1" dirty="0">
              <a:solidFill>
                <a:srgbClr val="FF0000"/>
              </a:solidFill>
              <a:latin typeface="Arial" panose="020B060402020202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标题 1"/>
          <p:cNvSpPr>
            <a:spLocks noGrp="1"/>
          </p:cNvSpPr>
          <p:nvPr>
            <p:ph type="title"/>
          </p:nvPr>
        </p:nvSpPr>
        <p:spPr>
          <a:xfrm>
            <a:off x="455613" y="469900"/>
            <a:ext cx="8207375" cy="1139825"/>
          </a:xfrm>
          <a:ln/>
        </p:spPr>
        <p:txBody>
          <a:bodyPr vert="horz" wrap="square" lIns="0" tIns="45610" rIns="0" bIns="0" anchor="b" anchorCtr="0"/>
          <a:p>
            <a:pPr marL="606425" indent="-606425" eaLnBrk="1" hangingPunct="1">
              <a:spcBef>
                <a:spcPts val="1200"/>
              </a:spcBef>
            </a:pPr>
            <a:r>
              <a:rPr lang="zh-CN" altLang="en-US" b="1" dirty="0">
                <a:latin typeface="微软雅黑" panose="020B0503020204020204" pitchFamily="34" charset="-122"/>
                <a:ea typeface="微软雅黑" panose="020B0503020204020204" pitchFamily="34" charset="-122"/>
              </a:rPr>
              <a:t>三种分析类</a:t>
            </a:r>
            <a:endParaRPr lang="zh-CN" altLang="en-US" b="1" dirty="0">
              <a:latin typeface="微软雅黑" panose="020B0503020204020204" pitchFamily="34" charset="-122"/>
              <a:ea typeface="微软雅黑" panose="020B0503020204020204" pitchFamily="34" charset="-122"/>
            </a:endParaRPr>
          </a:p>
        </p:txBody>
      </p:sp>
      <p:sp>
        <p:nvSpPr>
          <p:cNvPr id="4" name="TextBox 3"/>
          <p:cNvSpPr txBox="1"/>
          <p:nvPr/>
        </p:nvSpPr>
        <p:spPr>
          <a:xfrm>
            <a:off x="527050" y="1766888"/>
            <a:ext cx="8591550" cy="4610100"/>
          </a:xfrm>
          <a:prstGeom prst="rect">
            <a:avLst/>
          </a:prstGeom>
          <a:noFill/>
        </p:spPr>
        <p:txBody>
          <a:bodyPr lIns="91430" tIns="45715" rIns="91430" bIns="45715">
            <a:spAutoFit/>
          </a:bodyPr>
          <a:lstStyle/>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6565" algn="l"/>
              </a:tabLst>
              <a:defRPr/>
            </a:pPr>
            <a:r>
              <a:rPr kumimoji="1" lang="zh-CN" altLang="en-US" sz="2600" b="1" i="0" u="none" strike="noStrike" kern="1200" cap="none" spc="0" normalizeH="0" baseline="0" noProof="0" dirty="0">
                <a:ln>
                  <a:noFill/>
                </a:ln>
                <a:solidFill>
                  <a:schemeClr val="tx1"/>
                </a:solidFill>
                <a:effectLst/>
                <a:uLnTx/>
                <a:uFillTx/>
                <a:latin typeface="+mn-lt"/>
                <a:ea typeface="+mn-ea"/>
                <a:cs typeface="+mn-cs"/>
              </a:rPr>
              <a:t>在系统分析中，在</a:t>
            </a:r>
            <a:r>
              <a:rPr kumimoji="1" lang="zh-CN" altLang="en-US" sz="2600" b="1" i="0" u="none" strike="noStrike" kern="1200" cap="none" spc="0" normalizeH="0" baseline="0" noProof="0" dirty="0">
                <a:ln>
                  <a:noFill/>
                </a:ln>
                <a:solidFill>
                  <a:srgbClr val="FF0000"/>
                </a:solidFill>
                <a:effectLst/>
                <a:uLnTx/>
                <a:uFillTx/>
                <a:latin typeface="+mn-lt"/>
                <a:ea typeface="+mn-ea"/>
                <a:cs typeface="+mn-cs"/>
              </a:rPr>
              <a:t>较高层次</a:t>
            </a:r>
            <a:r>
              <a:rPr kumimoji="1" lang="zh-CN" altLang="en-US" sz="2600" b="1" i="0" u="none" strike="noStrike" kern="1200" cap="none" spc="0" normalizeH="0" baseline="0" noProof="0" dirty="0">
                <a:ln>
                  <a:noFill/>
                </a:ln>
                <a:solidFill>
                  <a:schemeClr val="tx1"/>
                </a:solidFill>
                <a:effectLst/>
                <a:uLnTx/>
                <a:uFillTx/>
                <a:latin typeface="+mn-lt"/>
                <a:ea typeface="+mn-ea"/>
                <a:cs typeface="+mn-cs"/>
              </a:rPr>
              <a:t>上对</a:t>
            </a:r>
            <a:r>
              <a:rPr kumimoji="1" lang="zh-CN" altLang="en-US" sz="2600" b="1" i="0" u="none" strike="noStrike" kern="1200" cap="none" spc="0" normalizeH="0" baseline="0" noProof="0" dirty="0">
                <a:ln>
                  <a:noFill/>
                </a:ln>
                <a:solidFill>
                  <a:srgbClr val="FF0000"/>
                </a:solidFill>
                <a:effectLst/>
                <a:uLnTx/>
                <a:uFillTx/>
                <a:latin typeface="+mn-lt"/>
                <a:ea typeface="+mn-ea"/>
                <a:cs typeface="+mn-cs"/>
              </a:rPr>
              <a:t>系统对象的一种划分</a:t>
            </a:r>
            <a:endParaRPr kumimoji="1" lang="en-US" altLang="zh-CN" sz="2600" b="1" i="0" u="none" strike="noStrike" kern="1200" cap="none" spc="0" normalizeH="0" baseline="0" noProof="0" dirty="0">
              <a:ln>
                <a:noFill/>
              </a:ln>
              <a:solidFill>
                <a:schemeClr val="tx1"/>
              </a:solidFill>
              <a:effectLst/>
              <a:uLnTx/>
              <a:uFillTx/>
              <a:latin typeface="+mn-lt"/>
              <a:ea typeface="+mn-ea"/>
              <a:cs typeface="+mn-cs"/>
            </a:endParaRPr>
          </a:p>
          <a:p>
            <a:pPr marL="273050" marR="0" indent="-273050" defTabSz="914400" eaLnBrk="1" hangingPunct="1">
              <a:lnSpc>
                <a:spcPct val="150000"/>
              </a:lnSpc>
              <a:spcBef>
                <a:spcPct val="20000"/>
              </a:spcBef>
              <a:buClr>
                <a:srgbClr val="0BD0D9"/>
              </a:buClr>
              <a:buSzPct val="95000"/>
              <a:buFont typeface="Wingdings" panose="05000000000000000000" pitchFamily="2" charset="2"/>
              <a:buChar char="p"/>
              <a:tabLst>
                <a:tab pos="456565" algn="l"/>
              </a:tabLst>
              <a:defRPr/>
            </a:pPr>
            <a:r>
              <a:rPr kumimoji="1" lang="zh-CN" altLang="en-US" sz="2600" kern="1200" cap="none" spc="0" normalizeH="0" baseline="0" noProof="0" dirty="0">
                <a:latin typeface="黑体" panose="02010609060101010101" pitchFamily="49" charset="-122"/>
                <a:ea typeface="黑体" panose="02010609060101010101" pitchFamily="49" charset="-122"/>
                <a:cs typeface="+mn-cs"/>
              </a:rPr>
              <a:t>三种分析类</a:t>
            </a:r>
            <a:endParaRPr kumimoji="1" lang="en-US" altLang="zh-CN" sz="2600" kern="1200" cap="none" spc="0" normalizeH="0" baseline="0" noProof="0" dirty="0">
              <a:latin typeface="黑体" panose="02010609060101010101" pitchFamily="49" charset="-122"/>
              <a:ea typeface="黑体" panose="02010609060101010101" pitchFamily="49" charset="-122"/>
              <a:cs typeface="+mn-cs"/>
            </a:endParaRPr>
          </a:p>
          <a:p>
            <a:pPr marL="7302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ü"/>
              <a:tabLst>
                <a:tab pos="456565" algn="l"/>
              </a:tabLst>
              <a:defRPr/>
            </a:pPr>
            <a:r>
              <a:rPr kumimoji="1"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边界类：</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描述与参与者直接打交道的对象，一般是</a:t>
            </a:r>
            <a:r>
              <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UI</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界面</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7302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ü"/>
              <a:tabLst>
                <a:tab pos="456565" algn="l"/>
              </a:tabLst>
              <a:defRPr/>
            </a:pPr>
            <a:r>
              <a:rPr kumimoji="1"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控制类：</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描述系统的行为，即系统做什么</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7302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ü"/>
              <a:tabLst>
                <a:tab pos="456565" algn="l"/>
              </a:tabLst>
              <a:defRPr/>
            </a:pPr>
            <a:r>
              <a:rPr kumimoji="1"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实体类：</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描述系统的中的数据信息（</a:t>
            </a:r>
            <a:r>
              <a:rPr kumimoji="1" lang="zh-CN" altLang="en-US" sz="2400" b="1" i="0" u="sng"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有些数据是实体类，而有些是实体类的属性</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273050" marR="0" indent="-273050" defTabSz="914400" eaLnBrk="1" hangingPunct="1">
              <a:lnSpc>
                <a:spcPct val="80000"/>
              </a:lnSpc>
              <a:spcBef>
                <a:spcPct val="20000"/>
              </a:spcBef>
              <a:buClr>
                <a:srgbClr val="0BD0D9"/>
              </a:buClr>
              <a:buSzPct val="95000"/>
              <a:buFont typeface="Wingdings" panose="05000000000000000000" pitchFamily="2" charset="2"/>
              <a:buNone/>
              <a:tabLst>
                <a:tab pos="456565" algn="l"/>
              </a:tabLst>
              <a:defRPr/>
            </a:pPr>
            <a:r>
              <a:rPr kumimoji="1" lang="en-US" altLang="zh-CN" sz="2600" kern="1200" cap="none" spc="0" normalizeH="0" baseline="0" noProof="0" dirty="0">
                <a:latin typeface="+mn-lt"/>
                <a:ea typeface="+mn-ea"/>
                <a:cs typeface="+mn-cs"/>
              </a:rPr>
              <a:t>     </a:t>
            </a:r>
            <a:endParaRPr kumimoji="1" lang="en-US" altLang="zh-CN" sz="2600" kern="1200" cap="none" spc="0" normalizeH="0" baseline="0" noProof="0" dirty="0">
              <a:latin typeface="+mn-lt"/>
              <a:ea typeface="+mn-ea"/>
              <a:cs typeface="+mn-cs"/>
            </a:endParaRPr>
          </a:p>
          <a:p>
            <a:pPr marL="273050" marR="0" indent="-273050" defTabSz="914400" eaLnBrk="1" hangingPunct="1">
              <a:lnSpc>
                <a:spcPct val="80000"/>
              </a:lnSpc>
              <a:spcBef>
                <a:spcPct val="20000"/>
              </a:spcBef>
              <a:buClr>
                <a:srgbClr val="0BD0D9"/>
              </a:buClr>
              <a:buSzPct val="95000"/>
              <a:buFont typeface="Wingdings" panose="05000000000000000000" pitchFamily="2" charset="2"/>
              <a:buNone/>
              <a:tabLst>
                <a:tab pos="456565" algn="l"/>
              </a:tabLst>
              <a:defRPr/>
            </a:pPr>
            <a:r>
              <a:rPr kumimoji="1" lang="en-US" altLang="zh-CN" sz="2600" b="1" i="0" u="none" strike="noStrike" kern="1200" cap="none" spc="0" normalizeH="0" baseline="0" noProof="0" dirty="0">
                <a:ln>
                  <a:noFill/>
                </a:ln>
                <a:solidFill>
                  <a:schemeClr val="tx1"/>
                </a:solidFill>
                <a:effectLst/>
                <a:uLnTx/>
                <a:uFillTx/>
                <a:latin typeface="+mn-lt"/>
                <a:ea typeface="+mn-ea"/>
                <a:cs typeface="+mn-cs"/>
              </a:rPr>
              <a:t>        </a:t>
            </a:r>
            <a:endParaRPr kumimoji="1" lang="zh-CN" altLang="en-US" sz="2600" kern="1200" cap="none" spc="0" normalizeH="0" baseline="0" noProof="0" dirty="0">
              <a:latin typeface="+mn-lt"/>
              <a:ea typeface="+mn-ea"/>
              <a:cs typeface="+mn-cs"/>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标题 1"/>
          <p:cNvSpPr>
            <a:spLocks noGrp="1"/>
          </p:cNvSpPr>
          <p:nvPr>
            <p:ph type="title"/>
          </p:nvPr>
        </p:nvSpPr>
        <p:spPr>
          <a:xfrm>
            <a:off x="455613" y="469900"/>
            <a:ext cx="8207375" cy="1139825"/>
          </a:xfrm>
          <a:ln/>
        </p:spPr>
        <p:txBody>
          <a:bodyPr vert="horz" wrap="square" lIns="0" tIns="45610" rIns="0" bIns="0" anchor="b" anchorCtr="0"/>
          <a:p>
            <a:pPr marL="606425" indent="-606425" eaLnBrk="1" hangingPunct="1">
              <a:spcBef>
                <a:spcPts val="1200"/>
              </a:spcBef>
            </a:pPr>
            <a:r>
              <a:rPr lang="zh-CN" altLang="en-US" sz="4800" b="1" dirty="0">
                <a:latin typeface="微软雅黑" panose="020B0503020204020204" pitchFamily="34" charset="-122"/>
                <a:ea typeface="微软雅黑" panose="020B0503020204020204" pitchFamily="34" charset="-122"/>
              </a:rPr>
              <a:t>分析类的识别示例</a:t>
            </a:r>
            <a:endParaRPr lang="zh-CN" altLang="en-US" sz="4800" b="1" dirty="0">
              <a:latin typeface="微软雅黑" panose="020B0503020204020204" pitchFamily="34" charset="-122"/>
              <a:ea typeface="微软雅黑" panose="020B0503020204020204" pitchFamily="34" charset="-122"/>
            </a:endParaRPr>
          </a:p>
        </p:txBody>
      </p:sp>
      <p:sp>
        <p:nvSpPr>
          <p:cNvPr id="43011" name="Rectangle 3"/>
          <p:cNvSpPr txBox="1"/>
          <p:nvPr/>
        </p:nvSpPr>
        <p:spPr>
          <a:xfrm>
            <a:off x="238125" y="1912938"/>
            <a:ext cx="8880475" cy="4383087"/>
          </a:xfrm>
          <a:prstGeom prst="rect">
            <a:avLst/>
          </a:prstGeom>
          <a:noFill/>
          <a:ln w="9525">
            <a:noFill/>
          </a:ln>
        </p:spPr>
        <p:txBody>
          <a:bodyPr lIns="91212" tIns="45605" rIns="91212" bIns="45605"/>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nSpc>
                <a:spcPct val="90000"/>
              </a:lnSpc>
              <a:buNone/>
            </a:pPr>
            <a:r>
              <a:rPr lang="zh-CN" altLang="en-US" sz="2400" b="1" dirty="0">
                <a:solidFill>
                  <a:srgbClr val="FF0000"/>
                </a:solidFill>
                <a:latin typeface="楷体_GB2312" pitchFamily="49" charset="-122"/>
              </a:rPr>
              <a:t>用例名称</a:t>
            </a:r>
            <a:r>
              <a:rPr lang="zh-CN" altLang="en-US" sz="2400" b="1" dirty="0">
                <a:solidFill>
                  <a:srgbClr val="000000"/>
                </a:solidFill>
                <a:latin typeface="楷体_GB2312" pitchFamily="49" charset="-122"/>
              </a:rPr>
              <a:t>：开户</a:t>
            </a:r>
            <a:endParaRPr lang="en-US" altLang="zh-CN" sz="2400" b="1" dirty="0">
              <a:solidFill>
                <a:srgbClr val="000000"/>
              </a:solidFill>
              <a:latin typeface="楷体_GB2312" pitchFamily="49" charset="-122"/>
            </a:endParaRPr>
          </a:p>
          <a:p>
            <a:pPr marL="0" lvl="0" indent="0">
              <a:lnSpc>
                <a:spcPct val="90000"/>
              </a:lnSpc>
              <a:buNone/>
            </a:pPr>
            <a:r>
              <a:rPr lang="en-US" altLang="zh-CN" sz="2400" b="1" dirty="0">
                <a:solidFill>
                  <a:srgbClr val="000000"/>
                </a:solidFill>
                <a:latin typeface="楷体_GB2312" pitchFamily="49" charset="-122"/>
              </a:rPr>
              <a:t> </a:t>
            </a:r>
            <a:r>
              <a:rPr lang="en-US" altLang="zh-CN" sz="2400" b="1" dirty="0">
                <a:solidFill>
                  <a:srgbClr val="FF0000"/>
                </a:solidFill>
                <a:latin typeface="楷体_GB2312" pitchFamily="49" charset="-122"/>
              </a:rPr>
              <a:t>……</a:t>
            </a:r>
            <a:endParaRPr lang="en-US" altLang="zh-CN" sz="2400" b="1" dirty="0">
              <a:solidFill>
                <a:srgbClr val="FF0000"/>
              </a:solidFill>
              <a:latin typeface="楷体_GB2312" pitchFamily="49" charset="-122"/>
            </a:endParaRPr>
          </a:p>
          <a:p>
            <a:pPr marL="0" lvl="0" indent="0">
              <a:lnSpc>
                <a:spcPct val="90000"/>
              </a:lnSpc>
              <a:spcBef>
                <a:spcPct val="0"/>
              </a:spcBef>
              <a:buNone/>
            </a:pPr>
            <a:r>
              <a:rPr lang="zh-CN" altLang="en-US" sz="2400" b="1" dirty="0">
                <a:solidFill>
                  <a:srgbClr val="FF0000"/>
                </a:solidFill>
                <a:latin typeface="楷体_GB2312" pitchFamily="49" charset="-122"/>
              </a:rPr>
              <a:t>事件流</a:t>
            </a:r>
            <a:r>
              <a:rPr lang="zh-CN" altLang="en-US" sz="2400" b="1" dirty="0">
                <a:solidFill>
                  <a:srgbClr val="000000"/>
                </a:solidFill>
                <a:latin typeface="楷体_GB2312" pitchFamily="49" charset="-122"/>
              </a:rPr>
              <a:t>：</a:t>
            </a:r>
            <a:endParaRPr lang="zh-CN" altLang="en-US" sz="2400" b="1" dirty="0">
              <a:solidFill>
                <a:srgbClr val="000000"/>
              </a:solidFill>
              <a:latin typeface="楷体_GB2312" pitchFamily="49" charset="-122"/>
            </a:endParaRPr>
          </a:p>
          <a:p>
            <a:pPr marL="363855" lvl="1" indent="0">
              <a:lnSpc>
                <a:spcPct val="90000"/>
              </a:lnSpc>
              <a:spcBef>
                <a:spcPct val="0"/>
              </a:spcBef>
              <a:buClr>
                <a:srgbClr val="0F6FC6"/>
              </a:buClr>
              <a:buNone/>
            </a:pPr>
            <a:r>
              <a:rPr lang="en-US" altLang="zh-CN" sz="2200" b="1" dirty="0">
                <a:solidFill>
                  <a:srgbClr val="000000"/>
                </a:solidFill>
                <a:latin typeface="楷体_GB2312" pitchFamily="49" charset="-122"/>
              </a:rPr>
              <a:t>1.</a:t>
            </a:r>
            <a:r>
              <a:rPr lang="zh-CN" altLang="en-US" sz="2000" b="1" dirty="0">
                <a:solidFill>
                  <a:srgbClr val="000000"/>
                </a:solidFill>
                <a:latin typeface="楷体_GB2312" pitchFamily="49" charset="-122"/>
              </a:rPr>
              <a:t>银行职员在</a:t>
            </a:r>
            <a:r>
              <a:rPr lang="zh-CN" altLang="en-US" sz="2000" b="1" u="sng" dirty="0">
                <a:solidFill>
                  <a:srgbClr val="0070C0"/>
                </a:solidFill>
                <a:latin typeface="楷体_GB2312" pitchFamily="49" charset="-122"/>
              </a:rPr>
              <a:t>系统主页</a:t>
            </a:r>
            <a:r>
              <a:rPr lang="zh-CN" altLang="en-US" sz="2000" b="1" dirty="0">
                <a:solidFill>
                  <a:srgbClr val="000000"/>
                </a:solidFill>
                <a:latin typeface="楷体_GB2312" pitchFamily="49" charset="-122"/>
              </a:rPr>
              <a:t>，点击开户按钮</a:t>
            </a:r>
            <a:r>
              <a:rPr lang="zh-CN" altLang="en-US" sz="2200" b="1" dirty="0">
                <a:solidFill>
                  <a:srgbClr val="000000"/>
                </a:solidFill>
                <a:latin typeface="楷体_GB2312" pitchFamily="49" charset="-122"/>
              </a:rPr>
              <a:t>；</a:t>
            </a:r>
            <a:endParaRPr lang="en-US" altLang="zh-CN" sz="2200" b="1" dirty="0">
              <a:solidFill>
                <a:srgbClr val="000000"/>
              </a:solidFill>
              <a:latin typeface="楷体_GB2312" pitchFamily="49" charset="-122"/>
            </a:endParaRPr>
          </a:p>
          <a:p>
            <a:pPr marL="363855" lvl="1" indent="0">
              <a:lnSpc>
                <a:spcPct val="90000"/>
              </a:lnSpc>
              <a:spcBef>
                <a:spcPct val="0"/>
              </a:spcBef>
              <a:buClr>
                <a:srgbClr val="0F6FC6"/>
              </a:buClr>
              <a:buNone/>
            </a:pPr>
            <a:r>
              <a:rPr lang="en-US" altLang="zh-CN" sz="2200" b="1" dirty="0">
                <a:solidFill>
                  <a:srgbClr val="000000"/>
                </a:solidFill>
                <a:latin typeface="楷体_GB2312" pitchFamily="49" charset="-122"/>
              </a:rPr>
              <a:t>2.</a:t>
            </a:r>
            <a:r>
              <a:rPr lang="zh-CN" altLang="en-US" sz="2200" b="1" dirty="0">
                <a:solidFill>
                  <a:srgbClr val="000000"/>
                </a:solidFill>
                <a:latin typeface="楷体_GB2312" pitchFamily="49" charset="-122"/>
              </a:rPr>
              <a:t>系统</a:t>
            </a:r>
            <a:r>
              <a:rPr lang="zh-CN" altLang="en-US" sz="2200" b="1" u="sng" dirty="0">
                <a:solidFill>
                  <a:srgbClr val="7030A0"/>
                </a:solidFill>
                <a:latin typeface="楷体_GB2312" pitchFamily="49" charset="-122"/>
              </a:rPr>
              <a:t>弹出</a:t>
            </a:r>
            <a:r>
              <a:rPr lang="zh-CN" altLang="en-US" sz="2200" b="1" u="sng" dirty="0">
                <a:solidFill>
                  <a:srgbClr val="0070C0"/>
                </a:solidFill>
                <a:latin typeface="楷体_GB2312" pitchFamily="49" charset="-122"/>
              </a:rPr>
              <a:t>开户页面</a:t>
            </a:r>
            <a:r>
              <a:rPr lang="zh-CN" altLang="en-US" sz="2200" b="1" dirty="0">
                <a:solidFill>
                  <a:srgbClr val="000000"/>
                </a:solidFill>
                <a:latin typeface="楷体_GB2312" pitchFamily="49" charset="-122"/>
              </a:rPr>
              <a:t>，并</a:t>
            </a:r>
            <a:r>
              <a:rPr lang="zh-CN" altLang="en-US" sz="2200" b="1" u="sng" dirty="0">
                <a:solidFill>
                  <a:srgbClr val="7030A0"/>
                </a:solidFill>
                <a:latin typeface="楷体_GB2312" pitchFamily="49" charset="-122"/>
              </a:rPr>
              <a:t>显示</a:t>
            </a:r>
            <a:r>
              <a:rPr lang="zh-CN" altLang="en-US" sz="2200" b="1" dirty="0">
                <a:solidFill>
                  <a:srgbClr val="000000"/>
                </a:solidFill>
                <a:latin typeface="楷体_GB2312" pitchFamily="49" charset="-122"/>
              </a:rPr>
              <a:t>提示输入客户信息的消息；</a:t>
            </a:r>
            <a:endParaRPr lang="zh-CN" altLang="en-US" sz="2200" b="1" dirty="0">
              <a:solidFill>
                <a:srgbClr val="000000"/>
              </a:solidFill>
              <a:latin typeface="楷体_GB2312" pitchFamily="49" charset="-122"/>
            </a:endParaRPr>
          </a:p>
          <a:p>
            <a:pPr marL="363855" lvl="1" indent="0">
              <a:lnSpc>
                <a:spcPct val="90000"/>
              </a:lnSpc>
              <a:spcBef>
                <a:spcPct val="0"/>
              </a:spcBef>
              <a:buClr>
                <a:srgbClr val="0F6FC6"/>
              </a:buClr>
              <a:buNone/>
            </a:pPr>
            <a:r>
              <a:rPr lang="en-US" altLang="zh-CN" sz="2200" b="1" dirty="0">
                <a:solidFill>
                  <a:srgbClr val="000000"/>
                </a:solidFill>
                <a:latin typeface="楷体_GB2312" pitchFamily="49" charset="-122"/>
              </a:rPr>
              <a:t>2.</a:t>
            </a:r>
            <a:r>
              <a:rPr lang="zh-CN" altLang="en-US" sz="2000" b="1" dirty="0">
                <a:solidFill>
                  <a:srgbClr val="000000"/>
                </a:solidFill>
                <a:latin typeface="楷体_GB2312" pitchFamily="49" charset="-122"/>
              </a:rPr>
              <a:t>银行职员在开户页面</a:t>
            </a:r>
            <a:r>
              <a:rPr lang="zh-CN" altLang="en-US" sz="2200" b="1" dirty="0">
                <a:solidFill>
                  <a:srgbClr val="000000"/>
                </a:solidFill>
                <a:latin typeface="楷体_GB2312" pitchFamily="49" charset="-122"/>
              </a:rPr>
              <a:t>输入</a:t>
            </a:r>
            <a:r>
              <a:rPr lang="zh-CN" altLang="en-US" sz="2200" b="1" dirty="0">
                <a:solidFill>
                  <a:srgbClr val="387026"/>
                </a:solidFill>
                <a:latin typeface="楷体_GB2312" pitchFamily="49" charset="-122"/>
              </a:rPr>
              <a:t>客户信息</a:t>
            </a:r>
            <a:r>
              <a:rPr lang="zh-CN" altLang="en-US" sz="2200" b="1" dirty="0">
                <a:solidFill>
                  <a:srgbClr val="000000"/>
                </a:solidFill>
                <a:latin typeface="楷体_GB2312" pitchFamily="49" charset="-122"/>
              </a:rPr>
              <a:t>（姓名、地址、身份证号等）；</a:t>
            </a:r>
            <a:endParaRPr lang="zh-CN" altLang="en-US" sz="2200" b="1" dirty="0">
              <a:solidFill>
                <a:srgbClr val="000000"/>
              </a:solidFill>
              <a:latin typeface="楷体_GB2312" pitchFamily="49" charset="-122"/>
            </a:endParaRPr>
          </a:p>
          <a:p>
            <a:pPr marL="363855" lvl="1" indent="0">
              <a:lnSpc>
                <a:spcPct val="90000"/>
              </a:lnSpc>
              <a:spcBef>
                <a:spcPct val="0"/>
              </a:spcBef>
              <a:buClr>
                <a:srgbClr val="0F6FC6"/>
              </a:buClr>
              <a:buNone/>
            </a:pPr>
            <a:r>
              <a:rPr lang="en-US" altLang="zh-CN" sz="2200" b="1" dirty="0">
                <a:solidFill>
                  <a:srgbClr val="000000"/>
                </a:solidFill>
                <a:latin typeface="楷体_GB2312" pitchFamily="49" charset="-122"/>
              </a:rPr>
              <a:t>3.</a:t>
            </a:r>
            <a:r>
              <a:rPr lang="zh-CN" altLang="en-US" sz="2200" b="1" dirty="0">
                <a:solidFill>
                  <a:srgbClr val="000000"/>
                </a:solidFill>
                <a:latin typeface="楷体_GB2312" pitchFamily="49" charset="-122"/>
              </a:rPr>
              <a:t>系统在开户页面显示给客户</a:t>
            </a:r>
            <a:r>
              <a:rPr lang="zh-CN" altLang="en-US" sz="2200" b="1" u="sng" dirty="0">
                <a:solidFill>
                  <a:srgbClr val="7030A0"/>
                </a:solidFill>
                <a:latin typeface="楷体_GB2312" pitchFamily="49" charset="-122"/>
              </a:rPr>
              <a:t>分配</a:t>
            </a:r>
            <a:r>
              <a:rPr lang="zh-CN" altLang="en-US" sz="2200" b="1" dirty="0">
                <a:solidFill>
                  <a:srgbClr val="000000"/>
                </a:solidFill>
                <a:latin typeface="楷体_GB2312" pitchFamily="49" charset="-122"/>
              </a:rPr>
              <a:t>的</a:t>
            </a:r>
            <a:r>
              <a:rPr lang="zh-CN" altLang="en-US" sz="2200" b="1" dirty="0">
                <a:solidFill>
                  <a:srgbClr val="387026"/>
                </a:solidFill>
                <a:latin typeface="楷体_GB2312" pitchFamily="49" charset="-122"/>
              </a:rPr>
              <a:t>账号</a:t>
            </a:r>
            <a:r>
              <a:rPr lang="zh-CN" altLang="en-US" sz="2200" b="1" dirty="0">
                <a:solidFill>
                  <a:srgbClr val="000000"/>
                </a:solidFill>
                <a:latin typeface="楷体_GB2312" pitchFamily="49" charset="-122"/>
              </a:rPr>
              <a:t>；</a:t>
            </a:r>
            <a:endParaRPr lang="zh-CN" altLang="en-US" sz="2200" b="1" dirty="0">
              <a:solidFill>
                <a:srgbClr val="000000"/>
              </a:solidFill>
              <a:latin typeface="楷体_GB2312" pitchFamily="49" charset="-122"/>
            </a:endParaRPr>
          </a:p>
          <a:p>
            <a:pPr marL="363855" lvl="1" indent="0">
              <a:lnSpc>
                <a:spcPct val="90000"/>
              </a:lnSpc>
              <a:spcBef>
                <a:spcPct val="0"/>
              </a:spcBef>
              <a:buClr>
                <a:srgbClr val="0F6FC6"/>
              </a:buClr>
              <a:buNone/>
            </a:pPr>
            <a:r>
              <a:rPr lang="en-US" altLang="zh-CN" sz="2200" b="1" dirty="0">
                <a:solidFill>
                  <a:srgbClr val="000000"/>
                </a:solidFill>
                <a:latin typeface="楷体_GB2312" pitchFamily="49" charset="-122"/>
              </a:rPr>
              <a:t>4.</a:t>
            </a:r>
            <a:r>
              <a:rPr lang="zh-CN" altLang="en-US" sz="2200" b="1" dirty="0">
                <a:solidFill>
                  <a:srgbClr val="000000"/>
                </a:solidFill>
                <a:latin typeface="楷体_GB2312" pitchFamily="49" charset="-122"/>
              </a:rPr>
              <a:t>系统</a:t>
            </a:r>
            <a:r>
              <a:rPr lang="zh-CN" altLang="en-US" sz="2200" b="1" u="sng" dirty="0">
                <a:solidFill>
                  <a:srgbClr val="7030A0"/>
                </a:solidFill>
                <a:latin typeface="楷体_GB2312" pitchFamily="49" charset="-122"/>
              </a:rPr>
              <a:t>提示</a:t>
            </a:r>
            <a:r>
              <a:rPr lang="zh-CN" altLang="en-US" sz="2200" b="1" dirty="0">
                <a:solidFill>
                  <a:srgbClr val="000000"/>
                </a:solidFill>
                <a:latin typeface="楷体_GB2312" pitchFamily="49" charset="-122"/>
              </a:rPr>
              <a:t>客户输入</a:t>
            </a:r>
            <a:r>
              <a:rPr lang="zh-CN" altLang="en-US" sz="2200" b="1" dirty="0">
                <a:solidFill>
                  <a:srgbClr val="387026"/>
                </a:solidFill>
                <a:latin typeface="楷体_GB2312" pitchFamily="49" charset="-122"/>
              </a:rPr>
              <a:t>密码</a:t>
            </a:r>
            <a:r>
              <a:rPr lang="zh-CN" altLang="en-US" sz="2200" b="1" dirty="0">
                <a:solidFill>
                  <a:srgbClr val="000000"/>
                </a:solidFill>
                <a:latin typeface="楷体_GB2312" pitchFamily="49" charset="-122"/>
              </a:rPr>
              <a:t>；</a:t>
            </a:r>
            <a:endParaRPr lang="en-US" altLang="zh-CN" sz="2200" b="1" dirty="0">
              <a:solidFill>
                <a:srgbClr val="000000"/>
              </a:solidFill>
              <a:latin typeface="楷体_GB2312" pitchFamily="49" charset="-122"/>
            </a:endParaRPr>
          </a:p>
          <a:p>
            <a:pPr marL="363855" lvl="1" indent="0">
              <a:lnSpc>
                <a:spcPct val="90000"/>
              </a:lnSpc>
              <a:spcBef>
                <a:spcPct val="0"/>
              </a:spcBef>
              <a:buClr>
                <a:srgbClr val="0F6FC6"/>
              </a:buClr>
              <a:buNone/>
            </a:pPr>
            <a:r>
              <a:rPr lang="en-US" altLang="zh-CN" sz="2200" b="1" dirty="0">
                <a:solidFill>
                  <a:srgbClr val="000000"/>
                </a:solidFill>
                <a:latin typeface="楷体_GB2312" pitchFamily="49" charset="-122"/>
              </a:rPr>
              <a:t>5.</a:t>
            </a:r>
            <a:r>
              <a:rPr lang="zh-CN" altLang="en-US" sz="2200" b="1" dirty="0">
                <a:solidFill>
                  <a:srgbClr val="000000"/>
                </a:solidFill>
                <a:latin typeface="楷体_GB2312" pitchFamily="49" charset="-122"/>
              </a:rPr>
              <a:t>客户输入密码；</a:t>
            </a:r>
            <a:endParaRPr lang="zh-CN" altLang="en-US" sz="2200" b="1" dirty="0">
              <a:solidFill>
                <a:srgbClr val="000000"/>
              </a:solidFill>
              <a:latin typeface="楷体_GB2312" pitchFamily="49" charset="-122"/>
            </a:endParaRPr>
          </a:p>
          <a:p>
            <a:pPr marL="363855" lvl="1" indent="0">
              <a:lnSpc>
                <a:spcPct val="90000"/>
              </a:lnSpc>
              <a:spcBef>
                <a:spcPct val="0"/>
              </a:spcBef>
              <a:buClr>
                <a:srgbClr val="0F6FC6"/>
              </a:buClr>
              <a:buNone/>
            </a:pPr>
            <a:r>
              <a:rPr lang="en-US" altLang="zh-CN" sz="2200" b="1" dirty="0">
                <a:solidFill>
                  <a:srgbClr val="000000"/>
                </a:solidFill>
                <a:latin typeface="楷体_GB2312" pitchFamily="49" charset="-122"/>
              </a:rPr>
              <a:t>6.</a:t>
            </a:r>
            <a:r>
              <a:rPr lang="zh-CN" altLang="en-US" sz="2200" b="1" dirty="0">
                <a:solidFill>
                  <a:srgbClr val="000000"/>
                </a:solidFill>
                <a:latin typeface="楷体_GB2312" pitchFamily="49" charset="-122"/>
              </a:rPr>
              <a:t>系统再次提示客户再次输入密码；</a:t>
            </a:r>
            <a:endParaRPr lang="en-US" altLang="zh-CN" sz="2200" b="1" dirty="0">
              <a:solidFill>
                <a:srgbClr val="000000"/>
              </a:solidFill>
              <a:latin typeface="楷体_GB2312" pitchFamily="49" charset="-122"/>
            </a:endParaRPr>
          </a:p>
          <a:p>
            <a:pPr marL="363855" lvl="1" indent="0">
              <a:lnSpc>
                <a:spcPct val="90000"/>
              </a:lnSpc>
              <a:spcBef>
                <a:spcPct val="0"/>
              </a:spcBef>
              <a:buClr>
                <a:srgbClr val="0F6FC6"/>
              </a:buClr>
              <a:buNone/>
            </a:pPr>
            <a:r>
              <a:rPr lang="en-US" altLang="zh-CN" sz="2200" b="1" dirty="0">
                <a:solidFill>
                  <a:srgbClr val="000000"/>
                </a:solidFill>
                <a:latin typeface="楷体_GB2312" pitchFamily="49" charset="-122"/>
              </a:rPr>
              <a:t>7.</a:t>
            </a:r>
            <a:r>
              <a:rPr lang="zh-CN" altLang="en-US" sz="2200" b="1" dirty="0">
                <a:solidFill>
                  <a:srgbClr val="000000"/>
                </a:solidFill>
                <a:latin typeface="楷体_GB2312" pitchFamily="49" charset="-122"/>
              </a:rPr>
              <a:t>客户再次输入密码；</a:t>
            </a:r>
            <a:endParaRPr lang="zh-CN" altLang="en-US" sz="2200" b="1" dirty="0">
              <a:solidFill>
                <a:srgbClr val="000000"/>
              </a:solidFill>
              <a:latin typeface="楷体_GB2312" pitchFamily="49" charset="-122"/>
            </a:endParaRPr>
          </a:p>
          <a:p>
            <a:pPr marL="363855" lvl="1" indent="0">
              <a:lnSpc>
                <a:spcPct val="90000"/>
              </a:lnSpc>
              <a:spcBef>
                <a:spcPct val="0"/>
              </a:spcBef>
              <a:buClr>
                <a:srgbClr val="0F6FC6"/>
              </a:buClr>
              <a:buNone/>
            </a:pPr>
            <a:r>
              <a:rPr lang="en-US" altLang="zh-CN" sz="2200" b="1" dirty="0">
                <a:solidFill>
                  <a:srgbClr val="000000"/>
                </a:solidFill>
                <a:latin typeface="楷体_GB2312" pitchFamily="49" charset="-122"/>
              </a:rPr>
              <a:t>8.</a:t>
            </a:r>
            <a:r>
              <a:rPr lang="zh-CN" altLang="en-US" sz="2200" b="1" dirty="0">
                <a:solidFill>
                  <a:srgbClr val="000000"/>
                </a:solidFill>
                <a:latin typeface="楷体_GB2312" pitchFamily="49" charset="-122"/>
              </a:rPr>
              <a:t>系统</a:t>
            </a:r>
            <a:r>
              <a:rPr lang="zh-CN" altLang="en-US" sz="2200" b="1" u="sng" dirty="0">
                <a:solidFill>
                  <a:srgbClr val="7030A0"/>
                </a:solidFill>
                <a:latin typeface="楷体_GB2312" pitchFamily="49" charset="-122"/>
              </a:rPr>
              <a:t>检测</a:t>
            </a:r>
            <a:r>
              <a:rPr lang="zh-CN" altLang="en-US" sz="2200" b="1" dirty="0">
                <a:solidFill>
                  <a:srgbClr val="000000"/>
                </a:solidFill>
                <a:latin typeface="楷体_GB2312" pitchFamily="49" charset="-122"/>
              </a:rPr>
              <a:t>客户输入的两次密码是否一致，如果不一致则回到第</a:t>
            </a:r>
            <a:r>
              <a:rPr lang="en-US" altLang="zh-CN" sz="2200" b="1" dirty="0">
                <a:solidFill>
                  <a:srgbClr val="000000"/>
                </a:solidFill>
                <a:latin typeface="楷体_GB2312" pitchFamily="49" charset="-122"/>
              </a:rPr>
              <a:t>4</a:t>
            </a:r>
            <a:r>
              <a:rPr lang="zh-CN" altLang="en-US" sz="2200" b="1" dirty="0">
                <a:solidFill>
                  <a:srgbClr val="000000"/>
                </a:solidFill>
                <a:latin typeface="楷体_GB2312" pitchFamily="49" charset="-122"/>
              </a:rPr>
              <a:t>步，否则继续；</a:t>
            </a:r>
            <a:endParaRPr lang="zh-CN" altLang="en-US" sz="2200" b="1" dirty="0">
              <a:solidFill>
                <a:srgbClr val="000000"/>
              </a:solidFill>
              <a:latin typeface="楷体_GB2312" pitchFamily="49" charset="-122"/>
            </a:endParaRPr>
          </a:p>
          <a:p>
            <a:pPr marL="363855" lvl="1" indent="0">
              <a:lnSpc>
                <a:spcPct val="90000"/>
              </a:lnSpc>
              <a:spcBef>
                <a:spcPct val="0"/>
              </a:spcBef>
              <a:buClr>
                <a:srgbClr val="0F6FC6"/>
              </a:buClr>
              <a:buNone/>
            </a:pPr>
            <a:r>
              <a:rPr lang="en-US" altLang="zh-CN" sz="2200" b="1" dirty="0">
                <a:solidFill>
                  <a:srgbClr val="000000"/>
                </a:solidFill>
                <a:latin typeface="楷体_GB2312" pitchFamily="49" charset="-122"/>
              </a:rPr>
              <a:t>9.</a:t>
            </a:r>
            <a:r>
              <a:rPr lang="zh-CN" altLang="en-US" sz="2200" b="1" dirty="0">
                <a:solidFill>
                  <a:srgbClr val="000000"/>
                </a:solidFill>
                <a:latin typeface="楷体_GB2312" pitchFamily="49" charset="-122"/>
              </a:rPr>
              <a:t>系统在账户库中</a:t>
            </a:r>
            <a:r>
              <a:rPr lang="zh-CN" altLang="en-US" sz="2200" b="1" u="sng" dirty="0">
                <a:solidFill>
                  <a:srgbClr val="7030A0"/>
                </a:solidFill>
                <a:latin typeface="楷体_GB2312" pitchFamily="49" charset="-122"/>
              </a:rPr>
              <a:t>添加</a:t>
            </a:r>
            <a:r>
              <a:rPr lang="zh-CN" altLang="en-US" sz="2200" b="1" u="sng" dirty="0">
                <a:solidFill>
                  <a:srgbClr val="000000"/>
                </a:solidFill>
                <a:latin typeface="楷体_GB2312" pitchFamily="49" charset="-122"/>
              </a:rPr>
              <a:t>新</a:t>
            </a:r>
            <a:r>
              <a:rPr lang="zh-CN" altLang="en-US" sz="2200" b="1" u="sng" dirty="0">
                <a:solidFill>
                  <a:srgbClr val="387026"/>
                </a:solidFill>
                <a:latin typeface="楷体_GB2312" pitchFamily="49" charset="-122"/>
              </a:rPr>
              <a:t>账户</a:t>
            </a:r>
            <a:r>
              <a:rPr lang="zh-CN" altLang="en-US" sz="2200" b="1" dirty="0">
                <a:solidFill>
                  <a:srgbClr val="000000"/>
                </a:solidFill>
                <a:latin typeface="楷体_GB2312" pitchFamily="49" charset="-122"/>
              </a:rPr>
              <a:t>；</a:t>
            </a:r>
            <a:endParaRPr lang="en-US" altLang="zh-CN" sz="2200" b="1" dirty="0">
              <a:solidFill>
                <a:srgbClr val="000000"/>
              </a:solidFill>
              <a:latin typeface="楷体_GB2312" pitchFamily="49" charset="-122"/>
            </a:endParaRPr>
          </a:p>
          <a:p>
            <a:pPr marL="363855" lvl="1" indent="0">
              <a:lnSpc>
                <a:spcPct val="90000"/>
              </a:lnSpc>
              <a:spcBef>
                <a:spcPct val="0"/>
              </a:spcBef>
              <a:buClr>
                <a:srgbClr val="0F6FC6"/>
              </a:buClr>
              <a:buNone/>
            </a:pPr>
            <a:r>
              <a:rPr lang="en-US" altLang="zh-CN" sz="2200" b="1" dirty="0">
                <a:solidFill>
                  <a:srgbClr val="000000"/>
                </a:solidFill>
                <a:latin typeface="楷体_GB2312" pitchFamily="49" charset="-122"/>
              </a:rPr>
              <a:t>10.</a:t>
            </a:r>
            <a:r>
              <a:rPr lang="zh-CN" altLang="en-US" sz="2200" b="1" dirty="0">
                <a:solidFill>
                  <a:srgbClr val="000000"/>
                </a:solidFill>
                <a:latin typeface="楷体_GB2312" pitchFamily="49" charset="-122"/>
              </a:rPr>
              <a:t>用例结束。</a:t>
            </a:r>
            <a:endParaRPr lang="zh-CN" altLang="en-US" sz="2200" b="1" dirty="0">
              <a:solidFill>
                <a:srgbClr val="000000"/>
              </a:solidFill>
              <a:latin typeface="楷体_GB2312" pitchFamily="49" charset="-122"/>
            </a:endParaRPr>
          </a:p>
        </p:txBody>
      </p:sp>
      <p:grpSp>
        <p:nvGrpSpPr>
          <p:cNvPr id="43012" name="组合 5"/>
          <p:cNvGrpSpPr/>
          <p:nvPr/>
        </p:nvGrpSpPr>
        <p:grpSpPr>
          <a:xfrm>
            <a:off x="3983038" y="1976438"/>
            <a:ext cx="1944687" cy="574675"/>
            <a:chOff x="3983236" y="2198514"/>
            <a:chExt cx="1944216" cy="576064"/>
          </a:xfrm>
        </p:grpSpPr>
        <p:sp>
          <p:nvSpPr>
            <p:cNvPr id="2" name="圆角矩形标注 1"/>
            <p:cNvSpPr/>
            <p:nvPr/>
          </p:nvSpPr>
          <p:spPr>
            <a:xfrm>
              <a:off x="3983236" y="2198514"/>
              <a:ext cx="1944216" cy="576064"/>
            </a:xfrm>
            <a:prstGeom prst="wedgeRoundRectCallout">
              <a:avLst>
                <a:gd name="adj1" fmla="val -95143"/>
                <a:gd name="adj2" fmla="val 13869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prstClr val="white"/>
                  </a:solidFill>
                  <a:effectLst/>
                  <a:uLnTx/>
                  <a:uFillTx/>
                  <a:latin typeface="+mn-lt"/>
                  <a:ea typeface="+mn-ea"/>
                  <a:cs typeface="+mn-cs"/>
                </a:rPr>
                <a:t>边界类</a:t>
              </a:r>
              <a:endParaRPr kumimoji="1" lang="zh-CN" altLang="en-US" sz="2400" b="1" i="0" u="none" strike="noStrike" kern="1200" cap="none" spc="0" normalizeH="0" baseline="0" noProof="0" dirty="0">
                <a:ln>
                  <a:noFill/>
                </a:ln>
                <a:solidFill>
                  <a:prstClr val="white"/>
                </a:solidFill>
                <a:effectLst/>
                <a:uLnTx/>
                <a:uFillTx/>
                <a:latin typeface="+mn-lt"/>
                <a:ea typeface="+mn-ea"/>
                <a:cs typeface="+mn-cs"/>
              </a:endParaRPr>
            </a:p>
          </p:txBody>
        </p:sp>
        <p:sp>
          <p:nvSpPr>
            <p:cNvPr id="7" name="圆角矩形标注 6"/>
            <p:cNvSpPr/>
            <p:nvPr/>
          </p:nvSpPr>
          <p:spPr>
            <a:xfrm>
              <a:off x="3983236" y="2198514"/>
              <a:ext cx="1944216" cy="576064"/>
            </a:xfrm>
            <a:prstGeom prst="wedgeRoundRectCallout">
              <a:avLst>
                <a:gd name="adj1" fmla="val -91380"/>
                <a:gd name="adj2" fmla="val 20536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prstClr val="white"/>
                  </a:solidFill>
                  <a:effectLst/>
                  <a:uLnTx/>
                  <a:uFillTx/>
                  <a:latin typeface="+mn-lt"/>
                  <a:ea typeface="+mn-ea"/>
                  <a:cs typeface="+mn-cs"/>
                </a:rPr>
                <a:t>边界类对象</a:t>
              </a:r>
              <a:endParaRPr kumimoji="1" lang="zh-CN" altLang="en-US" sz="2400" b="1" i="0" u="none" strike="noStrike" kern="1200" cap="none" spc="0" normalizeH="0" baseline="0" noProof="0" dirty="0">
                <a:ln>
                  <a:noFill/>
                </a:ln>
                <a:solidFill>
                  <a:prstClr val="white"/>
                </a:solidFill>
                <a:effectLst/>
                <a:uLnTx/>
                <a:uFillTx/>
                <a:latin typeface="+mn-lt"/>
                <a:ea typeface="+mn-ea"/>
                <a:cs typeface="+mn-cs"/>
              </a:endParaRPr>
            </a:p>
          </p:txBody>
        </p:sp>
      </p:grpSp>
      <p:sp>
        <p:nvSpPr>
          <p:cNvPr id="10" name="圆角矩形标注 9"/>
          <p:cNvSpPr/>
          <p:nvPr/>
        </p:nvSpPr>
        <p:spPr>
          <a:xfrm>
            <a:off x="6288088" y="4351338"/>
            <a:ext cx="1943100" cy="576263"/>
          </a:xfrm>
          <a:prstGeom prst="wedgeRoundRectCallout">
            <a:avLst>
              <a:gd name="adj1" fmla="val -148760"/>
              <a:gd name="adj2" fmla="val 26726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prstClr val="white"/>
                </a:solidFill>
                <a:effectLst/>
                <a:uLnTx/>
                <a:uFillTx/>
                <a:latin typeface="+mn-lt"/>
                <a:ea typeface="+mn-ea"/>
                <a:cs typeface="+mn-cs"/>
              </a:rPr>
              <a:t>实体类对象</a:t>
            </a:r>
            <a:endParaRPr kumimoji="1" lang="zh-CN" altLang="en-US" sz="2400" b="1" i="0" u="none" strike="noStrike" kern="1200" cap="none" spc="0" normalizeH="0" baseline="0" noProof="0" dirty="0">
              <a:ln>
                <a:noFill/>
              </a:ln>
              <a:solidFill>
                <a:prstClr val="white"/>
              </a:solidFill>
              <a:effectLst/>
              <a:uLnTx/>
              <a:uFillTx/>
              <a:latin typeface="+mn-lt"/>
              <a:ea typeface="+mn-ea"/>
              <a:cs typeface="+mn-cs"/>
            </a:endParaRPr>
          </a:p>
        </p:txBody>
      </p:sp>
      <p:grpSp>
        <p:nvGrpSpPr>
          <p:cNvPr id="43014" name="组合 7"/>
          <p:cNvGrpSpPr/>
          <p:nvPr/>
        </p:nvGrpSpPr>
        <p:grpSpPr>
          <a:xfrm>
            <a:off x="6645275" y="2262188"/>
            <a:ext cx="1952625" cy="577850"/>
            <a:chOff x="6645072" y="2486546"/>
            <a:chExt cx="1953352" cy="576064"/>
          </a:xfrm>
        </p:grpSpPr>
        <p:sp>
          <p:nvSpPr>
            <p:cNvPr id="12" name="圆角矩形标注 11"/>
            <p:cNvSpPr/>
            <p:nvPr/>
          </p:nvSpPr>
          <p:spPr>
            <a:xfrm>
              <a:off x="6648248" y="2486546"/>
              <a:ext cx="1943823" cy="576064"/>
            </a:xfrm>
            <a:prstGeom prst="wedgeRoundRectCallout">
              <a:avLst>
                <a:gd name="adj1" fmla="val -148760"/>
                <a:gd name="adj2" fmla="val 26726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prstClr val="white"/>
                  </a:solidFill>
                  <a:effectLst/>
                  <a:uLnTx/>
                  <a:uFillTx/>
                  <a:latin typeface="+mn-lt"/>
                  <a:ea typeface="+mn-ea"/>
                  <a:cs typeface="+mn-cs"/>
                </a:rPr>
                <a:t>控制类</a:t>
              </a:r>
              <a:endParaRPr kumimoji="1" lang="zh-CN" altLang="en-US" sz="2400" b="1" i="0" u="none" strike="noStrike" kern="1200" cap="none" spc="0" normalizeH="0" baseline="0" noProof="0" dirty="0">
                <a:ln>
                  <a:noFill/>
                </a:ln>
                <a:solidFill>
                  <a:prstClr val="white"/>
                </a:solidFill>
                <a:effectLst/>
                <a:uLnTx/>
                <a:uFillTx/>
                <a:latin typeface="+mn-lt"/>
                <a:ea typeface="+mn-ea"/>
                <a:cs typeface="+mn-cs"/>
              </a:endParaRPr>
            </a:p>
          </p:txBody>
        </p:sp>
        <p:sp>
          <p:nvSpPr>
            <p:cNvPr id="13" name="圆角矩形标注 12"/>
            <p:cNvSpPr/>
            <p:nvPr/>
          </p:nvSpPr>
          <p:spPr>
            <a:xfrm>
              <a:off x="6645072" y="2486546"/>
              <a:ext cx="1943823" cy="576064"/>
            </a:xfrm>
            <a:prstGeom prst="wedgeRoundRectCallout">
              <a:avLst>
                <a:gd name="adj1" fmla="val -170395"/>
                <a:gd name="adj2" fmla="val 14821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prstClr val="white"/>
                  </a:solidFill>
                  <a:effectLst/>
                  <a:uLnTx/>
                  <a:uFillTx/>
                  <a:latin typeface="+mn-lt"/>
                  <a:ea typeface="+mn-ea"/>
                  <a:cs typeface="+mn-cs"/>
                </a:rPr>
                <a:t>控制类</a:t>
              </a:r>
              <a:endParaRPr kumimoji="1" lang="zh-CN" altLang="en-US" sz="2400" b="1" i="0" u="none" strike="noStrike" kern="1200" cap="none" spc="0" normalizeH="0" baseline="0" noProof="0" dirty="0">
                <a:ln>
                  <a:noFill/>
                </a:ln>
                <a:solidFill>
                  <a:prstClr val="white"/>
                </a:solidFill>
                <a:effectLst/>
                <a:uLnTx/>
                <a:uFillTx/>
                <a:latin typeface="+mn-lt"/>
                <a:ea typeface="+mn-ea"/>
                <a:cs typeface="+mn-cs"/>
              </a:endParaRPr>
            </a:p>
          </p:txBody>
        </p:sp>
        <p:sp>
          <p:nvSpPr>
            <p:cNvPr id="14" name="圆角矩形标注 13"/>
            <p:cNvSpPr/>
            <p:nvPr/>
          </p:nvSpPr>
          <p:spPr>
            <a:xfrm>
              <a:off x="6654601" y="2486546"/>
              <a:ext cx="1943823" cy="576064"/>
            </a:xfrm>
            <a:prstGeom prst="wedgeRoundRectCallout">
              <a:avLst>
                <a:gd name="adj1" fmla="val -280919"/>
                <a:gd name="adj2" fmla="val 52123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prstClr val="white"/>
                  </a:solidFill>
                  <a:effectLst/>
                  <a:uLnTx/>
                  <a:uFillTx/>
                  <a:latin typeface="+mn-lt"/>
                  <a:ea typeface="+mn-ea"/>
                  <a:cs typeface="+mn-cs"/>
                </a:rPr>
                <a:t>控制类对象</a:t>
              </a:r>
              <a:endParaRPr kumimoji="1" lang="zh-CN" altLang="en-US" sz="2400" b="1" i="0" u="none" strike="noStrike" kern="1200" cap="none" spc="0" normalizeH="0" baseline="0" noProof="0" dirty="0">
                <a:ln>
                  <a:noFill/>
                </a:ln>
                <a:solidFill>
                  <a:prstClr val="white"/>
                </a:solidFill>
                <a:effectLst/>
                <a:uLnTx/>
                <a:uFillTx/>
                <a:latin typeface="+mn-lt"/>
                <a:ea typeface="+mn-ea"/>
                <a:cs typeface="+mn-cs"/>
              </a:endParaRPr>
            </a:p>
          </p:txBody>
        </p:sp>
      </p:gr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标题 1"/>
          <p:cNvSpPr>
            <a:spLocks noGrp="1"/>
          </p:cNvSpPr>
          <p:nvPr>
            <p:ph type="title"/>
          </p:nvPr>
        </p:nvSpPr>
        <p:spPr>
          <a:xfrm>
            <a:off x="466725" y="1347788"/>
            <a:ext cx="8207375" cy="1139825"/>
          </a:xfrm>
          <a:ln/>
        </p:spPr>
        <p:txBody>
          <a:bodyPr vert="horz" wrap="square" lIns="0" tIns="45610" rIns="0" bIns="0" anchor="b" anchorCtr="0"/>
          <a:p>
            <a:pPr marL="271780" indent="-271780" defTabSz="914400">
              <a:spcBef>
                <a:spcPct val="20000"/>
              </a:spcBef>
              <a:tabLst>
                <a:tab pos="455930" algn="l"/>
              </a:tabLst>
            </a:pPr>
            <a:r>
              <a:rPr lang="zh-CN" altLang="en-US" b="1" dirty="0">
                <a:latin typeface="微软雅黑" panose="020B0503020204020204" pitchFamily="34" charset="-122"/>
                <a:ea typeface="微软雅黑" panose="020B0503020204020204" pitchFamily="34" charset="-122"/>
              </a:rPr>
              <a:t>对“开户”用例分析之后所得到的系统应实现的类</a:t>
            </a:r>
            <a:endParaRPr lang="en-US" altLang="zh-CN" sz="5400" dirty="0"/>
          </a:p>
        </p:txBody>
      </p:sp>
      <p:pic>
        <p:nvPicPr>
          <p:cNvPr id="44035" name="Picture 4"/>
          <p:cNvPicPr>
            <a:picLocks noChangeAspect="1"/>
          </p:cNvPicPr>
          <p:nvPr/>
        </p:nvPicPr>
        <p:blipFill>
          <a:blip r:embed="rId1"/>
          <a:stretch>
            <a:fillRect/>
          </a:stretch>
        </p:blipFill>
        <p:spPr>
          <a:xfrm>
            <a:off x="2471738" y="3457575"/>
            <a:ext cx="3197225" cy="2481263"/>
          </a:xfrm>
          <a:prstGeom prst="rect">
            <a:avLst/>
          </a:prstGeom>
          <a:noFill/>
          <a:ln w="9525">
            <a:noFill/>
          </a:ln>
        </p:spPr>
      </p:pic>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5058" name="Picture 3"/>
          <p:cNvPicPr>
            <a:picLocks noChangeAspect="1"/>
          </p:cNvPicPr>
          <p:nvPr/>
        </p:nvPicPr>
        <p:blipFill>
          <a:blip r:embed="rId1"/>
          <a:stretch>
            <a:fillRect/>
          </a:stretch>
        </p:blipFill>
        <p:spPr>
          <a:xfrm>
            <a:off x="254000" y="-177800"/>
            <a:ext cx="8431213" cy="7272338"/>
          </a:xfrm>
          <a:prstGeom prst="rect">
            <a:avLst/>
          </a:prstGeom>
          <a:noFill/>
          <a:ln w="9525">
            <a:noFill/>
          </a:ln>
        </p:spPr>
      </p:pic>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矩形 1"/>
          <p:cNvSpPr>
            <a:spLocks noChangeArrowheads="1"/>
          </p:cNvSpPr>
          <p:nvPr/>
        </p:nvSpPr>
        <p:spPr bwMode="auto">
          <a:xfrm>
            <a:off x="393700" y="614363"/>
            <a:ext cx="8474075" cy="162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spAutoFit/>
          </a:bodyPr>
          <a:lstStyle>
            <a:lvl1pPr marL="273050" indent="-273050" eaLnBrk="0" hangingPunct="0">
              <a:spcBef>
                <a:spcPct val="20000"/>
              </a:spcBef>
              <a:buClr>
                <a:srgbClr val="0BD0D9"/>
              </a:buClr>
              <a:buSzPct val="95000"/>
              <a:buFont typeface="Wingdings 2" panose="05020102010507070707" pitchFamily="18" charset="2"/>
              <a:buChar char=""/>
              <a:tabLst>
                <a:tab pos="457200" algn="l"/>
              </a:tabLst>
              <a:defRPr sz="2600">
                <a:solidFill>
                  <a:schemeClr val="tx1"/>
                </a:solidFill>
                <a:latin typeface="Constantia" panose="02030602050306030303" pitchFamily="18" charset="0"/>
                <a:ea typeface="宋体" panose="02010600030101010101" pitchFamily="2" charset="-122"/>
              </a:defRPr>
            </a:lvl1pPr>
            <a:lvl2pPr marL="742950" indent="-285750" eaLnBrk="0" hangingPunct="0">
              <a:spcBef>
                <a:spcPct val="20000"/>
              </a:spcBef>
              <a:buClr>
                <a:schemeClr val="accent1"/>
              </a:buClr>
              <a:buSzPct val="85000"/>
              <a:buFont typeface="Wingdings 2" panose="05020102010507070707" pitchFamily="18" charset="2"/>
              <a:buChar char=""/>
              <a:tabLst>
                <a:tab pos="457200" algn="l"/>
              </a:tabLst>
              <a:defRPr sz="2400">
                <a:solidFill>
                  <a:schemeClr val="tx1"/>
                </a:solidFill>
                <a:latin typeface="Constantia" panose="02030602050306030303" pitchFamily="18" charset="0"/>
                <a:ea typeface="宋体" panose="02010600030101010101" pitchFamily="2" charset="-122"/>
              </a:defRPr>
            </a:lvl2pPr>
            <a:lvl3pPr marL="1143000" indent="-228600" eaLnBrk="0" hangingPunct="0">
              <a:spcBef>
                <a:spcPct val="20000"/>
              </a:spcBef>
              <a:buClr>
                <a:schemeClr val="accent2"/>
              </a:buClr>
              <a:buSzPct val="70000"/>
              <a:buFont typeface="Wingdings 2" panose="05020102010507070707" pitchFamily="18" charset="2"/>
              <a:buChar char=""/>
              <a:tabLst>
                <a:tab pos="457200" algn="l"/>
              </a:tabLst>
              <a:defRPr sz="2100">
                <a:solidFill>
                  <a:schemeClr val="tx1"/>
                </a:solidFill>
                <a:latin typeface="Constantia" panose="02030602050306030303" pitchFamily="18" charset="0"/>
                <a:ea typeface="宋体" panose="02010600030101010101" pitchFamily="2" charset="-122"/>
              </a:defRPr>
            </a:lvl3pPr>
            <a:lvl4pPr marL="1600200" indent="-228600" eaLnBrk="0" hangingPunct="0">
              <a:spcBef>
                <a:spcPct val="20000"/>
              </a:spcBef>
              <a:buClr>
                <a:srgbClr val="0BD0D9"/>
              </a:buClr>
              <a:buSzPct val="65000"/>
              <a:buFont typeface="Wingdings 2" panose="05020102010507070707" pitchFamily="18" charset="2"/>
              <a:buChar char=""/>
              <a:tabLst>
                <a:tab pos="457200" algn="l"/>
              </a:tabLst>
              <a:defRPr sz="2000">
                <a:solidFill>
                  <a:schemeClr val="tx1"/>
                </a:solidFill>
                <a:latin typeface="Constantia" panose="02030602050306030303" pitchFamily="18" charset="0"/>
                <a:ea typeface="宋体" panose="02010600030101010101" pitchFamily="2" charset="-122"/>
              </a:defRPr>
            </a:lvl4pPr>
            <a:lvl5pPr marL="2057400" indent="-228600" eaLnBrk="0" hangingPunct="0">
              <a:spcBef>
                <a:spcPct val="20000"/>
              </a:spcBef>
              <a:buClr>
                <a:srgbClr val="10CF9B"/>
              </a:buClr>
              <a:buSzPct val="65000"/>
              <a:buFont typeface="Wingdings 2" panose="05020102010507070707" pitchFamily="18" charset="2"/>
              <a:buChar char=""/>
              <a:tabLst>
                <a:tab pos="457200" algn="l"/>
              </a:tabLst>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l"/>
              </a:tabLst>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l"/>
              </a:tabLst>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l"/>
              </a:tabLst>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l"/>
              </a:tabLst>
              <a:defRPr sz="20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tabLst>
                <a:tab pos="457200" algn="l"/>
              </a:tabLst>
              <a:defRPr/>
            </a:pPr>
            <a:r>
              <a:rPr kumimoji="1" lang="zh-CN" altLang="en-US" sz="5000" b="1" i="0" u="none" strike="noStrike" kern="1200" cap="none" spc="0" normalizeH="0" baseline="0" noProof="0" dirty="0">
                <a:ln>
                  <a:noFill/>
                </a:ln>
                <a:solidFill>
                  <a:srgbClr val="04617B"/>
                </a:solidFill>
                <a:effectLst/>
                <a:uLnTx/>
                <a:uFillTx/>
                <a:latin typeface="微软雅黑" panose="020B0503020204020204" pitchFamily="34" charset="-122"/>
                <a:ea typeface="微软雅黑" panose="020B0503020204020204" pitchFamily="34" charset="-122"/>
                <a:cs typeface="+mj-cs"/>
              </a:rPr>
              <a:t>对用例“开户”进行分析之后得到的类图</a:t>
            </a:r>
            <a:endParaRPr kumimoji="1" lang="en-US" altLang="zh-CN" sz="5000" b="1" i="0" u="none" strike="noStrike" kern="1200" cap="none" spc="0" normalizeH="0" baseline="0" noProof="0" dirty="0">
              <a:ln>
                <a:noFill/>
              </a:ln>
              <a:solidFill>
                <a:srgbClr val="04617B"/>
              </a:solidFill>
              <a:effectLst/>
              <a:uLnTx/>
              <a:uFillTx/>
              <a:latin typeface="微软雅黑" panose="020B0503020204020204" pitchFamily="34" charset="-122"/>
              <a:ea typeface="微软雅黑" panose="020B0503020204020204" pitchFamily="34" charset="-122"/>
              <a:cs typeface="+mj-cs"/>
            </a:endParaRPr>
          </a:p>
        </p:txBody>
      </p:sp>
      <p:pic>
        <p:nvPicPr>
          <p:cNvPr id="46083" name="Picture 4"/>
          <p:cNvPicPr>
            <a:picLocks noChangeAspect="1"/>
          </p:cNvPicPr>
          <p:nvPr/>
        </p:nvPicPr>
        <p:blipFill>
          <a:blip r:embed="rId1"/>
          <a:stretch>
            <a:fillRect/>
          </a:stretch>
        </p:blipFill>
        <p:spPr>
          <a:xfrm>
            <a:off x="1671638" y="2271713"/>
            <a:ext cx="5029200" cy="4432300"/>
          </a:xfrm>
          <a:prstGeom prst="rect">
            <a:avLst/>
          </a:prstGeom>
          <a:noFill/>
          <a:ln w="9525">
            <a:noFill/>
          </a:ln>
        </p:spPr>
      </p:pic>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7106" name="Picture 3"/>
          <p:cNvPicPr>
            <a:picLocks noChangeAspect="1"/>
          </p:cNvPicPr>
          <p:nvPr/>
        </p:nvPicPr>
        <p:blipFill>
          <a:blip r:embed="rId1"/>
          <a:stretch>
            <a:fillRect/>
          </a:stretch>
        </p:blipFill>
        <p:spPr>
          <a:xfrm>
            <a:off x="254000" y="-177800"/>
            <a:ext cx="8431213" cy="7272338"/>
          </a:xfrm>
          <a:prstGeom prst="rect">
            <a:avLst/>
          </a:prstGeom>
          <a:noFill/>
          <a:ln w="9525">
            <a:noFill/>
          </a:ln>
        </p:spPr>
      </p:pic>
      <p:sp>
        <p:nvSpPr>
          <p:cNvPr id="3" name="矩形标注 2"/>
          <p:cNvSpPr/>
          <p:nvPr/>
        </p:nvSpPr>
        <p:spPr>
          <a:xfrm>
            <a:off x="7223125" y="1262063"/>
            <a:ext cx="1895475" cy="2447925"/>
          </a:xfrm>
          <a:prstGeom prst="wedgeRectCallout">
            <a:avLst>
              <a:gd name="adj1" fmla="val -71224"/>
              <a:gd name="adj2" fmla="val -19399"/>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800" b="1" i="0" u="none" strike="noStrike" kern="1200" cap="none" spc="0" normalizeH="0" baseline="0" noProof="0" dirty="0">
                <a:ln>
                  <a:noFill/>
                </a:ln>
                <a:solidFill>
                  <a:schemeClr val="tx1"/>
                </a:solidFill>
                <a:effectLst/>
                <a:uLnTx/>
                <a:uFillTx/>
                <a:latin typeface="+mn-lt"/>
                <a:ea typeface="+mn-ea"/>
                <a:cs typeface="+mn-cs"/>
              </a:rPr>
              <a:t>即负责</a:t>
            </a:r>
            <a:r>
              <a:rPr kumimoji="1" lang="zh-CN" altLang="en-US" sz="2800" b="1" i="0" u="none" strike="noStrike" kern="1200" cap="none" spc="0" normalizeH="0" baseline="0" noProof="0" dirty="0">
                <a:ln>
                  <a:noFill/>
                </a:ln>
                <a:solidFill>
                  <a:srgbClr val="FF0000"/>
                </a:solidFill>
                <a:effectLst/>
                <a:uLnTx/>
                <a:uFillTx/>
                <a:latin typeface="+mn-lt"/>
                <a:ea typeface="+mn-ea"/>
                <a:cs typeface="+mn-cs"/>
              </a:rPr>
              <a:t>数据定义</a:t>
            </a:r>
            <a:r>
              <a:rPr kumimoji="1" lang="zh-CN" altLang="en-US" sz="2800" b="1" i="0" u="none" strike="noStrike" kern="1200" cap="none" spc="0" normalizeH="0" baseline="0" noProof="0" dirty="0">
                <a:ln>
                  <a:noFill/>
                </a:ln>
                <a:solidFill>
                  <a:schemeClr val="tx1"/>
                </a:solidFill>
                <a:effectLst/>
                <a:uLnTx/>
                <a:uFillTx/>
                <a:latin typeface="+mn-lt"/>
                <a:ea typeface="+mn-ea"/>
                <a:cs typeface="+mn-cs"/>
              </a:rPr>
              <a:t>、又负责</a:t>
            </a:r>
            <a:r>
              <a:rPr kumimoji="1" lang="zh-CN" altLang="en-US" sz="2800" b="1" i="0" u="none" strike="noStrike" kern="1200" cap="none" spc="0" normalizeH="0" baseline="0" noProof="0" dirty="0">
                <a:ln>
                  <a:noFill/>
                </a:ln>
                <a:solidFill>
                  <a:srgbClr val="FF0000"/>
                </a:solidFill>
                <a:effectLst/>
                <a:uLnTx/>
                <a:uFillTx/>
                <a:latin typeface="+mn-lt"/>
                <a:ea typeface="+mn-ea"/>
                <a:cs typeface="+mn-cs"/>
              </a:rPr>
              <a:t>业务处理</a:t>
            </a:r>
            <a:r>
              <a:rPr kumimoji="1" lang="zh-CN" altLang="en-US" sz="2800" b="1" i="0" u="none" strike="noStrike" kern="1200" cap="none" spc="0" normalizeH="0" baseline="0" noProof="0" dirty="0">
                <a:ln>
                  <a:noFill/>
                </a:ln>
                <a:solidFill>
                  <a:schemeClr val="tx1"/>
                </a:solidFill>
                <a:effectLst/>
                <a:uLnTx/>
                <a:uFillTx/>
                <a:latin typeface="+mn-lt"/>
                <a:ea typeface="+mn-ea"/>
                <a:cs typeface="+mn-cs"/>
              </a:rPr>
              <a:t>和</a:t>
            </a:r>
            <a:r>
              <a:rPr kumimoji="1" lang="zh-CN" altLang="en-US" sz="2800" b="1" i="0" u="none" strike="noStrike" kern="1200" cap="none" spc="0" normalizeH="0" baseline="0" noProof="0" dirty="0">
                <a:ln>
                  <a:noFill/>
                </a:ln>
                <a:solidFill>
                  <a:srgbClr val="FF0000"/>
                </a:solidFill>
                <a:effectLst/>
                <a:uLnTx/>
                <a:uFillTx/>
                <a:latin typeface="+mn-lt"/>
                <a:ea typeface="+mn-ea"/>
                <a:cs typeface="+mn-cs"/>
              </a:rPr>
              <a:t>数据库交互</a:t>
            </a:r>
            <a:endParaRPr kumimoji="1" lang="zh-CN" altLang="en-US" sz="2800" b="1" i="0" u="none" strike="noStrike" kern="1200" cap="none" spc="0" normalizeH="0" baseline="0" noProof="0" dirty="0">
              <a:ln>
                <a:noFill/>
              </a:ln>
              <a:solidFill>
                <a:srgbClr val="FF0000"/>
              </a:solidFill>
              <a:effectLst/>
              <a:uLnTx/>
              <a:uFillTx/>
              <a:latin typeface="+mn-lt"/>
              <a:ea typeface="+mn-ea"/>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8130" name="Picture 3"/>
          <p:cNvPicPr>
            <a:picLocks noChangeAspect="1"/>
          </p:cNvPicPr>
          <p:nvPr/>
        </p:nvPicPr>
        <p:blipFill>
          <a:blip r:embed="rId1"/>
          <a:stretch>
            <a:fillRect/>
          </a:stretch>
        </p:blipFill>
        <p:spPr>
          <a:xfrm>
            <a:off x="6350" y="-107950"/>
            <a:ext cx="9112250" cy="7119938"/>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标题 1"/>
          <p:cNvSpPr>
            <a:spLocks noGrp="1"/>
          </p:cNvSpPr>
          <p:nvPr>
            <p:ph type="title"/>
          </p:nvPr>
        </p:nvSpPr>
        <p:spPr>
          <a:xfrm>
            <a:off x="455613" y="469900"/>
            <a:ext cx="8207375" cy="1139825"/>
          </a:xfrm>
          <a:ln/>
        </p:spPr>
        <p:txBody>
          <a:bodyPr vert="horz" wrap="square" lIns="0" tIns="45610" rIns="0" bIns="0" anchor="b" anchorCtr="0"/>
          <a:p>
            <a:pPr marL="606425" indent="-606425" eaLnBrk="1" hangingPunct="1">
              <a:spcBef>
                <a:spcPts val="1200"/>
              </a:spcBef>
            </a:pPr>
            <a:r>
              <a:rPr lang="zh-CN" altLang="en-US" b="1" dirty="0">
                <a:solidFill>
                  <a:srgbClr val="FF0000"/>
                </a:solidFill>
                <a:latin typeface="微软雅黑" panose="020B0503020204020204" pitchFamily="34" charset="-122"/>
                <a:ea typeface="微软雅黑" panose="020B0503020204020204" pitchFamily="34" charset="-122"/>
              </a:rPr>
              <a:t>分析建模的实际过程</a:t>
            </a:r>
            <a:endParaRPr lang="zh-CN" altLang="en-US" sz="4400" b="1" dirty="0">
              <a:solidFill>
                <a:srgbClr val="FF0000"/>
              </a:solidFill>
              <a:latin typeface="微软雅黑" panose="020B0503020204020204" pitchFamily="34" charset="-122"/>
              <a:ea typeface="微软雅黑" panose="020B0503020204020204" pitchFamily="34" charset="-122"/>
            </a:endParaRPr>
          </a:p>
        </p:txBody>
      </p:sp>
      <p:sp>
        <p:nvSpPr>
          <p:cNvPr id="2" name="矩形 1"/>
          <p:cNvSpPr/>
          <p:nvPr/>
        </p:nvSpPr>
        <p:spPr>
          <a:xfrm>
            <a:off x="814388" y="2159000"/>
            <a:ext cx="3384550" cy="863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4800" b="1" i="0" u="none" strike="noStrike" kern="1200" cap="none" spc="0" normalizeH="0" baseline="0" noProof="0" dirty="0">
                <a:ln>
                  <a:noFill/>
                </a:ln>
                <a:solidFill>
                  <a:schemeClr val="lt1"/>
                </a:solidFill>
                <a:effectLst/>
                <a:uLnTx/>
                <a:uFillTx/>
                <a:latin typeface="+mn-lt"/>
                <a:ea typeface="+mn-ea"/>
                <a:cs typeface="+mn-cs"/>
              </a:rPr>
              <a:t>领域建模</a:t>
            </a:r>
            <a:endParaRPr kumimoji="1" lang="zh-CN" altLang="en-US" sz="4800" b="1" i="0" u="none" strike="noStrike" kern="1200" cap="none" spc="0" normalizeH="0" baseline="0" noProof="0" dirty="0">
              <a:ln>
                <a:noFill/>
              </a:ln>
              <a:solidFill>
                <a:schemeClr val="lt1"/>
              </a:solidFill>
              <a:effectLst/>
              <a:uLnTx/>
              <a:uFillTx/>
              <a:latin typeface="+mn-lt"/>
              <a:ea typeface="+mn-ea"/>
              <a:cs typeface="+mn-cs"/>
            </a:endParaRPr>
          </a:p>
        </p:txBody>
      </p:sp>
      <p:sp>
        <p:nvSpPr>
          <p:cNvPr id="5" name="矩形 4"/>
          <p:cNvSpPr/>
          <p:nvPr/>
        </p:nvSpPr>
        <p:spPr>
          <a:xfrm>
            <a:off x="2351088" y="4070350"/>
            <a:ext cx="3816350" cy="8651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4800" b="1" i="0" u="none" strike="noStrike" kern="1200" cap="none" spc="0" normalizeH="0" baseline="0" noProof="0" dirty="0" smtClean="0">
                <a:ln>
                  <a:noFill/>
                </a:ln>
                <a:solidFill>
                  <a:schemeClr val="lt1"/>
                </a:solidFill>
                <a:effectLst/>
                <a:uLnTx/>
                <a:uFillTx/>
                <a:latin typeface="+mn-lt"/>
                <a:ea typeface="+mn-ea"/>
                <a:cs typeface="+mn-cs"/>
              </a:rPr>
              <a:t>对象</a:t>
            </a:r>
            <a:r>
              <a:rPr kumimoji="1" lang="zh-CN" altLang="en-US" sz="4800" b="1" i="0" u="none" strike="noStrike" kern="1200" cap="none" spc="0" normalizeH="0" baseline="0" noProof="0" dirty="0">
                <a:ln>
                  <a:noFill/>
                </a:ln>
                <a:solidFill>
                  <a:schemeClr val="lt1"/>
                </a:solidFill>
                <a:effectLst/>
                <a:uLnTx/>
                <a:uFillTx/>
                <a:latin typeface="+mn-lt"/>
                <a:ea typeface="+mn-ea"/>
                <a:cs typeface="+mn-cs"/>
              </a:rPr>
              <a:t>建模</a:t>
            </a:r>
            <a:endParaRPr kumimoji="1" lang="zh-CN" altLang="en-US" sz="4800" b="1" i="0" u="none" strike="noStrike" kern="1200" cap="none" spc="0" normalizeH="0" baseline="0" noProof="0" dirty="0">
              <a:ln>
                <a:noFill/>
              </a:ln>
              <a:solidFill>
                <a:schemeClr val="lt1"/>
              </a:solidFill>
              <a:effectLst/>
              <a:uLnTx/>
              <a:uFillTx/>
              <a:latin typeface="+mn-lt"/>
              <a:ea typeface="+mn-ea"/>
              <a:cs typeface="+mn-cs"/>
            </a:endParaRPr>
          </a:p>
        </p:txBody>
      </p:sp>
      <p:sp>
        <p:nvSpPr>
          <p:cNvPr id="3" name="下箭头 2"/>
          <p:cNvSpPr/>
          <p:nvPr/>
        </p:nvSpPr>
        <p:spPr>
          <a:xfrm>
            <a:off x="3190875" y="3117850"/>
            <a:ext cx="576263" cy="863600"/>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a:off x="4475163" y="2159000"/>
            <a:ext cx="3384550" cy="863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4800" b="1" i="0" u="none" strike="noStrike" kern="1200" cap="none" spc="0" normalizeH="0" baseline="0" noProof="0" dirty="0">
                <a:ln>
                  <a:noFill/>
                </a:ln>
                <a:solidFill>
                  <a:schemeClr val="lt1"/>
                </a:solidFill>
                <a:effectLst/>
                <a:uLnTx/>
                <a:uFillTx/>
                <a:latin typeface="+mn-lt"/>
                <a:ea typeface="+mn-ea"/>
                <a:cs typeface="+mn-cs"/>
              </a:rPr>
              <a:t>用例建模</a:t>
            </a:r>
            <a:endParaRPr kumimoji="1" lang="zh-CN" altLang="en-US" sz="4800" b="1" i="0" u="none" strike="noStrike" kern="1200" cap="none" spc="0" normalizeH="0" baseline="0" noProof="0" dirty="0">
              <a:ln>
                <a:noFill/>
              </a:ln>
              <a:solidFill>
                <a:schemeClr val="lt1"/>
              </a:solidFill>
              <a:effectLst/>
              <a:uLnTx/>
              <a:uFillTx/>
              <a:latin typeface="+mn-lt"/>
              <a:ea typeface="+mn-ea"/>
              <a:cs typeface="+mn-cs"/>
            </a:endParaRPr>
          </a:p>
        </p:txBody>
      </p:sp>
      <p:sp>
        <p:nvSpPr>
          <p:cNvPr id="7" name="下箭头 6"/>
          <p:cNvSpPr/>
          <p:nvPr/>
        </p:nvSpPr>
        <p:spPr>
          <a:xfrm>
            <a:off x="4918075" y="3117850"/>
            <a:ext cx="576263" cy="863600"/>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标题 1"/>
          <p:cNvSpPr>
            <a:spLocks noGrp="1"/>
          </p:cNvSpPr>
          <p:nvPr>
            <p:ph type="title"/>
          </p:nvPr>
        </p:nvSpPr>
        <p:spPr>
          <a:xfrm>
            <a:off x="455613" y="327025"/>
            <a:ext cx="8207375" cy="1139825"/>
          </a:xfrm>
          <a:ln/>
        </p:spPr>
        <p:txBody>
          <a:bodyPr vert="horz" wrap="square" lIns="0" tIns="45610" rIns="0" bIns="0" anchor="b" anchorCtr="0"/>
          <a:p>
            <a:pPr marL="606425" indent="-606425" eaLnBrk="1" hangingPunct="1">
              <a:spcBef>
                <a:spcPts val="1200"/>
              </a:spcBef>
            </a:pPr>
            <a:r>
              <a:rPr lang="zh-CN" altLang="en-US" sz="4400" b="1" dirty="0">
                <a:solidFill>
                  <a:srgbClr val="FF0000"/>
                </a:solidFill>
                <a:latin typeface="微软雅黑" panose="020B0503020204020204" pitchFamily="34" charset="-122"/>
                <a:ea typeface="微软雅黑" panose="020B0503020204020204" pitchFamily="34" charset="-122"/>
              </a:rPr>
              <a:t>领域建模</a:t>
            </a:r>
            <a:endParaRPr lang="zh-CN" altLang="en-US" sz="4400" b="1" dirty="0">
              <a:solidFill>
                <a:srgbClr val="FF0000"/>
              </a:solidFill>
              <a:latin typeface="微软雅黑" panose="020B0503020204020204" pitchFamily="34" charset="-122"/>
              <a:ea typeface="微软雅黑" panose="020B0503020204020204" pitchFamily="34" charset="-122"/>
            </a:endParaRPr>
          </a:p>
        </p:txBody>
      </p:sp>
      <p:sp>
        <p:nvSpPr>
          <p:cNvPr id="50179" name="TextBox 3"/>
          <p:cNvSpPr txBox="1"/>
          <p:nvPr/>
        </p:nvSpPr>
        <p:spPr>
          <a:xfrm>
            <a:off x="511175" y="1406525"/>
            <a:ext cx="8135938" cy="1930400"/>
          </a:xfrm>
          <a:prstGeom prst="rect">
            <a:avLst/>
          </a:prstGeom>
          <a:noFill/>
          <a:ln w="9525">
            <a:noFill/>
          </a:ln>
        </p:spPr>
        <p:txBody>
          <a:bodyPr>
            <a:spAutoFit/>
          </a:bodyPr>
          <a:p>
            <a:pPr marL="271780" indent="-271780" defTabSz="914400" eaLnBrk="1" hangingPunct="1">
              <a:lnSpc>
                <a:spcPct val="150000"/>
              </a:lnSpc>
              <a:buClr>
                <a:srgbClr val="0BD0D9"/>
              </a:buClr>
              <a:buSzPct val="95000"/>
              <a:buFont typeface="Wingdings" panose="05000000000000000000" pitchFamily="2" charset="2"/>
              <a:buChar char="p"/>
              <a:tabLst>
                <a:tab pos="455930" algn="l"/>
              </a:tabLst>
            </a:pPr>
            <a:r>
              <a:rPr lang="zh-CN" altLang="en-US" sz="2800" dirty="0">
                <a:latin typeface="黑体" panose="02010609060101010101" pitchFamily="49" charset="-122"/>
              </a:rPr>
              <a:t>需求分析阶段的任务</a:t>
            </a:r>
            <a:endParaRPr lang="en-US" altLang="zh-CN" sz="2800" dirty="0">
              <a:latin typeface="黑体" panose="02010609060101010101" pitchFamily="49" charset="-122"/>
            </a:endParaRPr>
          </a:p>
          <a:p>
            <a:pPr marL="271780" indent="-271780" defTabSz="914400" eaLnBrk="1" hangingPunct="1">
              <a:lnSpc>
                <a:spcPct val="150000"/>
              </a:lnSpc>
              <a:buClr>
                <a:srgbClr val="0BD0D9"/>
              </a:buClr>
              <a:buSzPct val="95000"/>
              <a:buFont typeface="Wingdings" panose="05000000000000000000" pitchFamily="2" charset="2"/>
              <a:buChar char="p"/>
              <a:tabLst>
                <a:tab pos="455930" algn="l"/>
              </a:tabLst>
            </a:pPr>
            <a:r>
              <a:rPr lang="zh-CN" altLang="en-US" sz="2800" dirty="0">
                <a:latin typeface="黑体" panose="02010609060101010101" pitchFamily="49" charset="-122"/>
              </a:rPr>
              <a:t>系统分析人员基于自己对领域的认识</a:t>
            </a:r>
            <a:endParaRPr lang="en-US" altLang="zh-CN" sz="2800" dirty="0">
              <a:latin typeface="黑体" panose="02010609060101010101" pitchFamily="49" charset="-122"/>
            </a:endParaRPr>
          </a:p>
          <a:p>
            <a:pPr marL="271780" indent="-271780" defTabSz="914400" eaLnBrk="1" hangingPunct="1">
              <a:lnSpc>
                <a:spcPct val="150000"/>
              </a:lnSpc>
              <a:buClr>
                <a:srgbClr val="0BD0D9"/>
              </a:buClr>
              <a:buSzPct val="95000"/>
              <a:buFont typeface="Wingdings" panose="05000000000000000000" pitchFamily="2" charset="2"/>
              <a:buChar char="p"/>
              <a:tabLst>
                <a:tab pos="455930" algn="l"/>
              </a:tabLst>
            </a:pPr>
            <a:r>
              <a:rPr lang="zh-CN" altLang="en-US" sz="2800" dirty="0">
                <a:latin typeface="黑体" panose="02010609060101010101" pitchFamily="49" charset="-122"/>
              </a:rPr>
              <a:t>识别出一个领域的常见的对象与对象之间的关系</a:t>
            </a:r>
            <a:endParaRPr lang="zh-CN" altLang="en-US" sz="2800" dirty="0">
              <a:latin typeface="黑体" panose="02010609060101010101" pitchFamily="49" charset="-122"/>
            </a:endParaRPr>
          </a:p>
        </p:txBody>
      </p:sp>
      <p:pic>
        <p:nvPicPr>
          <p:cNvPr id="50180" name="Picture 2"/>
          <p:cNvPicPr>
            <a:picLocks noChangeAspect="1"/>
          </p:cNvPicPr>
          <p:nvPr/>
        </p:nvPicPr>
        <p:blipFill>
          <a:blip r:embed="rId1"/>
          <a:stretch>
            <a:fillRect/>
          </a:stretch>
        </p:blipFill>
        <p:spPr>
          <a:xfrm>
            <a:off x="1552575" y="3206750"/>
            <a:ext cx="6053138" cy="3808413"/>
          </a:xfrm>
          <a:prstGeom prst="rect">
            <a:avLst/>
          </a:prstGeom>
          <a:noFill/>
          <a:ln w="9525">
            <a:noFill/>
          </a:ln>
        </p:spPr>
      </p:pic>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92164" name="Text Box 4"/>
          <p:cNvSpPr txBox="1">
            <a:spLocks noChangeArrowheads="1"/>
          </p:cNvSpPr>
          <p:nvPr/>
        </p:nvSpPr>
        <p:spPr bwMode="auto">
          <a:xfrm>
            <a:off x="527050" y="1684338"/>
            <a:ext cx="7993063" cy="3077845"/>
          </a:xfrm>
          <a:prstGeom prst="rect">
            <a:avLst/>
          </a:prstGeom>
          <a:noFill/>
          <a:ln w="9525">
            <a:noFill/>
            <a:miter lim="800000"/>
          </a:ln>
          <a:effectLst/>
        </p:spPr>
        <p:txBody>
          <a:bodyPr lIns="0" tIns="0" rIns="0" bIns="0">
            <a:spAutoFit/>
          </a:bodyPr>
          <a:lstStyle/>
          <a:p>
            <a:pPr marR="0" algn="ctr" defTabSz="914400" eaLnBrk="1" hangingPunct="1">
              <a:buClrTx/>
              <a:buSzTx/>
              <a:buFont typeface="Wingdings" panose="05000000000000000000" pitchFamily="2" charset="2"/>
              <a:buNone/>
              <a:defRPr/>
            </a:pPr>
            <a:r>
              <a:rPr kumimoji="0"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第八次课</a:t>
            </a:r>
            <a:endParaRPr kumimoji="0" lang="en-US" altLang="zh-CN"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a:p>
            <a:pPr marR="0" algn="ctr" defTabSz="914400" eaLnBrk="1" hangingPunct="1">
              <a:buClrTx/>
              <a:buSzTx/>
              <a:buFont typeface="Wingdings" panose="05000000000000000000" pitchFamily="2" charset="2"/>
              <a:buNone/>
              <a:defRPr/>
            </a:pPr>
            <a:r>
              <a:rPr kumimoji="0"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面向对象设计的进一步介绍</a:t>
            </a:r>
            <a:endParaRPr kumimoji="0" lang="en-US" altLang="zh-CN"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a:p>
            <a:pPr marR="0" algn="ctr" defTabSz="914400" eaLnBrk="1" hangingPunct="1">
              <a:buClrTx/>
              <a:buSzTx/>
              <a:buFont typeface="Wingdings" panose="05000000000000000000" pitchFamily="2" charset="2"/>
              <a:buNone/>
              <a:defRPr/>
            </a:pPr>
            <a:r>
              <a:rPr kumimoji="0"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n-cs"/>
              </a:rPr>
              <a:t>（第十章）</a:t>
            </a:r>
            <a:endParaRPr kumimoji="0" lang="en-US" altLang="zh-CN" sz="5000" kern="1200" cap="none" spc="0" normalizeH="0" baseline="0" noProof="0" dirty="0">
              <a:solidFill>
                <a:schemeClr val="tx2"/>
              </a:solidFill>
              <a:latin typeface="微软雅黑" panose="020B0503020204020204" pitchFamily="34" charset="-122"/>
              <a:ea typeface="微软雅黑" panose="020B0503020204020204" pitchFamily="34" charset="-122"/>
              <a:cs typeface="+mn-cs"/>
            </a:endParaRPr>
          </a:p>
          <a:p>
            <a:pPr marR="0" algn="ctr" defTabSz="914400" eaLnBrk="1" hangingPunct="1">
              <a:buClrTx/>
              <a:buSzTx/>
              <a:buFont typeface="Wingdings" panose="05000000000000000000" pitchFamily="2" charset="2"/>
              <a:buNone/>
              <a:defRPr/>
            </a:pPr>
            <a:endParaRPr kumimoji="0"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96260" name="Text Box 4"/>
          <p:cNvSpPr txBox="1">
            <a:spLocks noChangeArrowheads="1"/>
          </p:cNvSpPr>
          <p:nvPr/>
        </p:nvSpPr>
        <p:spPr bwMode="auto">
          <a:xfrm>
            <a:off x="2830513" y="658813"/>
            <a:ext cx="2808288" cy="536575"/>
          </a:xfrm>
          <a:prstGeom prst="rect">
            <a:avLst/>
          </a:prstGeom>
          <a:noFill/>
          <a:ln w="9525">
            <a:noFill/>
            <a:miter lim="800000"/>
          </a:ln>
          <a:effectLst/>
        </p:spPr>
        <p:txBody>
          <a:bodyPr lIns="0" tIns="0" rIns="0" bIns="0">
            <a:spAutoFit/>
          </a:bodyPr>
          <a:lstStyle/>
          <a:p>
            <a:pPr marR="0" defTabSz="914400" eaLnBrk="1" hangingPunct="1">
              <a:lnSpc>
                <a:spcPts val="4000"/>
              </a:lnSpc>
              <a:buClrTx/>
              <a:buSzTx/>
              <a:buFontTx/>
              <a:buNone/>
              <a:defRPr/>
            </a:pPr>
            <a:r>
              <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内容提纲</a:t>
            </a:r>
            <a:endPar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
        <p:nvSpPr>
          <p:cNvPr id="14340" name="Text Box 5"/>
          <p:cNvSpPr txBox="1">
            <a:spLocks noChangeArrowheads="1"/>
          </p:cNvSpPr>
          <p:nvPr/>
        </p:nvSpPr>
        <p:spPr bwMode="auto">
          <a:xfrm>
            <a:off x="765175" y="1406525"/>
            <a:ext cx="7897813" cy="343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73050" indent="-27305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1pPr>
            <a:lvl2pPr marL="273050" indent="-27305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2pPr>
            <a:lvl3pPr indent="-45720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9pPr>
          </a:lstStyle>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4400" b="1" i="0" u="none" strike="noStrike" kern="1200" cap="none" spc="0" normalizeH="0" baseline="0" noProof="0" dirty="0" smtClean="0">
                <a:ln>
                  <a:noFill/>
                </a:ln>
                <a:solidFill>
                  <a:srgbClr val="FF0000"/>
                </a:solidFill>
                <a:effectLst/>
                <a:uLnTx/>
                <a:uFillTx/>
                <a:latin typeface="Constantia" panose="02030602050306030303" pitchFamily="18" charset="0"/>
                <a:ea typeface="宋体" panose="02010600030101010101" pitchFamily="2" charset="-122"/>
                <a:cs typeface="+mn-cs"/>
              </a:rPr>
              <a:t>回答三个问题</a:t>
            </a:r>
            <a:r>
              <a:rPr kumimoji="1" lang="zh-CN" altLang="en-US" sz="4400" b="1" i="0" u="none" strike="noStrike" kern="1200" cap="none" spc="0" normalizeH="0" baseline="0" noProof="0" dirty="0" smtClean="0">
                <a:ln>
                  <a:noFill/>
                </a:ln>
                <a:solidFill>
                  <a:schemeClr val="tx1"/>
                </a:solidFill>
                <a:effectLst/>
                <a:uLnTx/>
                <a:uFillTx/>
                <a:latin typeface="Constantia" panose="02030602050306030303" pitchFamily="18" charset="0"/>
                <a:ea typeface="宋体" panose="02010600030101010101" pitchFamily="2" charset="-122"/>
                <a:cs typeface="+mn-cs"/>
              </a:rPr>
              <a:t>：</a:t>
            </a:r>
            <a:endParaRPr kumimoji="1" lang="en-US" altLang="zh-CN" sz="4400" b="1" i="0" u="none" strike="noStrike" kern="1200" cap="none" spc="0" normalizeH="0" baseline="0" noProof="0" dirty="0" smtClean="0">
              <a:ln>
                <a:noFill/>
              </a:ln>
              <a:solidFill>
                <a:schemeClr val="tx1"/>
              </a:solidFill>
              <a:effectLst/>
              <a:uLnTx/>
              <a:uFillTx/>
              <a:latin typeface="Constantia" panose="02030602050306030303" pitchFamily="18" charset="0"/>
              <a:ea typeface="宋体" panose="02010600030101010101" pitchFamily="2" charset="-122"/>
              <a:cs typeface="+mn-cs"/>
            </a:endParaRPr>
          </a:p>
          <a:p>
            <a:pPr marL="641350" marR="0" lvl="1" indent="-45720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Ø"/>
              <a:tabLst>
                <a:tab pos="457200" algn="l"/>
              </a:tabLst>
              <a:defRPr/>
            </a:pPr>
            <a:r>
              <a:rPr kumimoji="1" lang="en-US" altLang="zh-CN" sz="3200" b="1" i="0" u="none" strike="noStrike" kern="1200" cap="none" spc="0" normalizeH="0" baseline="0" noProof="0" dirty="0" smtClean="0">
                <a:ln>
                  <a:noFill/>
                </a:ln>
                <a:solidFill>
                  <a:schemeClr val="tx1"/>
                </a:solidFill>
                <a:effectLst/>
                <a:uLnTx/>
                <a:uFillTx/>
                <a:latin typeface="Constantia" panose="02030602050306030303" pitchFamily="18" charset="0"/>
                <a:ea typeface="宋体" panose="02010600030101010101" pitchFamily="2" charset="-122"/>
                <a:cs typeface="+mn-cs"/>
              </a:rPr>
              <a:t>1</a:t>
            </a:r>
            <a:r>
              <a:rPr kumimoji="1" lang="zh-CN" altLang="en-US" sz="3200" b="1" i="0" u="none" strike="noStrike" kern="1200" cap="none" spc="0" normalizeH="0" baseline="0" noProof="0" dirty="0" smtClean="0">
                <a:ln>
                  <a:noFill/>
                </a:ln>
                <a:solidFill>
                  <a:schemeClr val="tx1"/>
                </a:solidFill>
                <a:effectLst/>
                <a:uLnTx/>
                <a:uFillTx/>
                <a:latin typeface="Constantia" panose="02030602050306030303" pitchFamily="18" charset="0"/>
                <a:ea typeface="宋体" panose="02010600030101010101" pitchFamily="2" charset="-122"/>
                <a:cs typeface="+mn-cs"/>
              </a:rPr>
              <a:t>）对于大型系统如何进行设计？</a:t>
            </a:r>
            <a:endParaRPr kumimoji="1" lang="en-US" altLang="zh-CN" sz="3200" b="1" i="0" u="none" strike="noStrike" kern="1200" cap="none" spc="0" normalizeH="0" baseline="0" noProof="0" dirty="0" smtClean="0">
              <a:ln>
                <a:noFill/>
              </a:ln>
              <a:solidFill>
                <a:schemeClr val="tx1"/>
              </a:solidFill>
              <a:effectLst/>
              <a:uLnTx/>
              <a:uFillTx/>
              <a:latin typeface="Constantia" panose="02030602050306030303" pitchFamily="18" charset="0"/>
              <a:ea typeface="宋体" panose="02010600030101010101" pitchFamily="2" charset="-122"/>
              <a:cs typeface="+mn-cs"/>
            </a:endParaRPr>
          </a:p>
          <a:p>
            <a:pPr marL="641350" marR="0" lvl="1" indent="-45720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Ø"/>
              <a:tabLst>
                <a:tab pos="457200" algn="l"/>
              </a:tabLst>
              <a:defRPr/>
            </a:pPr>
            <a:r>
              <a:rPr kumimoji="1" lang="en-US" altLang="zh-CN" sz="3200" b="1" i="0" u="none" strike="noStrike" kern="1200" cap="none" spc="0" normalizeH="0" baseline="0" noProof="0" dirty="0" smtClean="0">
                <a:ln>
                  <a:noFill/>
                </a:ln>
                <a:solidFill>
                  <a:schemeClr val="tx1"/>
                </a:solidFill>
                <a:effectLst/>
                <a:uLnTx/>
                <a:uFillTx/>
                <a:latin typeface="Constantia" panose="02030602050306030303" pitchFamily="18" charset="0"/>
                <a:ea typeface="宋体" panose="02010600030101010101" pitchFamily="2" charset="-122"/>
                <a:cs typeface="+mn-cs"/>
              </a:rPr>
              <a:t>2</a:t>
            </a:r>
            <a:r>
              <a:rPr kumimoji="1" lang="zh-CN" altLang="en-US" sz="3200" b="1" i="0" u="none" strike="noStrike" kern="1200" cap="none" spc="0" normalizeH="0" baseline="0" noProof="0" dirty="0" smtClean="0">
                <a:ln>
                  <a:noFill/>
                </a:ln>
                <a:solidFill>
                  <a:schemeClr val="tx1"/>
                </a:solidFill>
                <a:effectLst/>
                <a:uLnTx/>
                <a:uFillTx/>
                <a:latin typeface="Constantia" panose="02030602050306030303" pitchFamily="18" charset="0"/>
                <a:ea typeface="宋体" panose="02010600030101010101" pitchFamily="2" charset="-122"/>
                <a:cs typeface="+mn-cs"/>
              </a:rPr>
              <a:t>）概要设计完了之后，系统的详细设计做什么？</a:t>
            </a:r>
            <a:endParaRPr kumimoji="1" lang="en-US" altLang="zh-CN" sz="3200" b="1" i="0" u="none" strike="noStrike" kern="1200" cap="none" spc="0" normalizeH="0" baseline="0" noProof="0" dirty="0">
              <a:ln>
                <a:noFill/>
              </a:ln>
              <a:solidFill>
                <a:schemeClr val="tx1"/>
              </a:solidFill>
              <a:effectLst/>
              <a:uLnTx/>
              <a:uFillTx/>
              <a:latin typeface="Constantia" panose="02030602050306030303" pitchFamily="18" charset="0"/>
              <a:ea typeface="宋体" panose="02010600030101010101" pitchFamily="2" charset="-122"/>
              <a:cs typeface="+mn-cs"/>
            </a:endParaRPr>
          </a:p>
          <a:p>
            <a:pPr marL="641350" marR="0" lvl="1" indent="-45720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Ø"/>
              <a:tabLst>
                <a:tab pos="457200" algn="l"/>
              </a:tabLst>
              <a:defRPr/>
            </a:pPr>
            <a:r>
              <a:rPr kumimoji="1" lang="en-US" altLang="zh-CN" sz="3200" b="1" i="0" u="none" strike="noStrike" kern="1200" cap="none" spc="0" normalizeH="0" baseline="0" noProof="0" dirty="0" smtClean="0">
                <a:ln>
                  <a:noFill/>
                </a:ln>
                <a:solidFill>
                  <a:schemeClr val="tx1"/>
                </a:solidFill>
                <a:effectLst/>
                <a:uLnTx/>
                <a:uFillTx/>
                <a:latin typeface="Constantia" panose="02030602050306030303" pitchFamily="18" charset="0"/>
                <a:ea typeface="宋体" panose="02010600030101010101" pitchFamily="2" charset="-122"/>
                <a:cs typeface="+mn-cs"/>
              </a:rPr>
              <a:t>3</a:t>
            </a:r>
            <a:r>
              <a:rPr kumimoji="1" lang="zh-CN" altLang="en-US" sz="3200" b="1" i="0" u="none" strike="noStrike" kern="1200" cap="none" spc="0" normalizeH="0" baseline="0" noProof="0" dirty="0" smtClean="0">
                <a:ln>
                  <a:noFill/>
                </a:ln>
                <a:solidFill>
                  <a:schemeClr val="tx1"/>
                </a:solidFill>
                <a:effectLst/>
                <a:uLnTx/>
                <a:uFillTx/>
                <a:latin typeface="Constantia" panose="02030602050306030303" pitchFamily="18" charset="0"/>
                <a:ea typeface="宋体" panose="02010600030101010101" pitchFamily="2" charset="-122"/>
                <a:cs typeface="+mn-cs"/>
              </a:rPr>
              <a:t>）在确定类与类之间关系的过程中，有没有更好的指导方法？</a:t>
            </a:r>
            <a:endParaRPr kumimoji="1" lang="en-US" altLang="zh-CN" sz="3200" b="1" i="0" u="none" strike="noStrike" kern="1200" cap="none" spc="0" normalizeH="0" baseline="0" noProof="0" dirty="0" smtClean="0">
              <a:ln>
                <a:noFill/>
              </a:ln>
              <a:solidFill>
                <a:schemeClr val="tx1"/>
              </a:solidFill>
              <a:effectLst/>
              <a:uLnTx/>
              <a:uFillTx/>
              <a:latin typeface="Constantia" panose="02030602050306030303" pitchFamily="18" charset="0"/>
              <a:ea typeface="宋体" panose="02010600030101010101" pitchFamily="2" charset="-122"/>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内容占位符 2"/>
          <p:cNvSpPr>
            <a:spLocks noGrp="1"/>
          </p:cNvSpPr>
          <p:nvPr>
            <p:ph idx="1"/>
          </p:nvPr>
        </p:nvSpPr>
        <p:spPr>
          <a:xfrm>
            <a:off x="322263" y="1770063"/>
            <a:ext cx="8132762" cy="3878262"/>
          </a:xfrm>
          <a:ln/>
        </p:spPr>
        <p:txBody>
          <a:bodyPr vert="horz" wrap="square" lIns="91221" tIns="45610" rIns="91221" bIns="45610" anchor="t" anchorCtr="0"/>
          <a:p>
            <a:pPr marL="273050" lvl="1" indent="-273050" defTabSz="914400" eaLnBrk="1" hangingPunct="1">
              <a:lnSpc>
                <a:spcPct val="120000"/>
              </a:lnSpc>
              <a:buClr>
                <a:srgbClr val="0BD0D9"/>
              </a:buClr>
              <a:buSzPct val="95000"/>
              <a:buFont typeface="Wingdings" panose="05000000000000000000" pitchFamily="2" charset="2"/>
              <a:buChar char="p"/>
              <a:tabLst>
                <a:tab pos="457200" algn="l"/>
              </a:tabLst>
            </a:pPr>
            <a:r>
              <a:rPr lang="zh-CN" altLang="en-US" sz="3200" b="1" dirty="0">
                <a:solidFill>
                  <a:srgbClr val="FF0000"/>
                </a:solidFill>
              </a:rPr>
              <a:t>概要设计：</a:t>
            </a:r>
            <a:endParaRPr lang="en-US" altLang="zh-CN" sz="3200" b="1" dirty="0">
              <a:solidFill>
                <a:srgbClr val="FF0000"/>
              </a:solidFill>
            </a:endParaRPr>
          </a:p>
          <a:p>
            <a:pPr marL="615950" lvl="2" indent="-342900" defTabSz="914400" eaLnBrk="1" hangingPunct="1">
              <a:lnSpc>
                <a:spcPct val="120000"/>
              </a:lnSpc>
              <a:buClr>
                <a:srgbClr val="0BD0D9"/>
              </a:buClr>
              <a:buSzPct val="95000"/>
              <a:buFont typeface="Wingdings" panose="05000000000000000000" pitchFamily="2" charset="2"/>
              <a:buChar char="Ø"/>
              <a:tabLst>
                <a:tab pos="457200" algn="l"/>
              </a:tabLst>
            </a:pPr>
            <a:r>
              <a:rPr lang="zh-CN" altLang="en-US" dirty="0"/>
              <a:t>包括如何把整个系统分解为子系统、子系统的软硬件布局等策略性决策</a:t>
            </a:r>
            <a:endParaRPr lang="en-US" altLang="zh-CN" dirty="0"/>
          </a:p>
          <a:p>
            <a:pPr marL="273050" lvl="1" indent="-273050" defTabSz="914400" eaLnBrk="1" hangingPunct="1">
              <a:lnSpc>
                <a:spcPct val="120000"/>
              </a:lnSpc>
              <a:buClr>
                <a:srgbClr val="0BD0D9"/>
              </a:buClr>
              <a:buSzPct val="95000"/>
              <a:buFont typeface="Wingdings" panose="05000000000000000000" pitchFamily="2" charset="2"/>
              <a:buChar char="p"/>
              <a:tabLst>
                <a:tab pos="457200" algn="l"/>
              </a:tabLst>
            </a:pPr>
            <a:r>
              <a:rPr lang="zh-CN" altLang="en-US" sz="3200" b="1" dirty="0">
                <a:solidFill>
                  <a:srgbClr val="FF0000"/>
                </a:solidFill>
              </a:rPr>
              <a:t>详细设计：</a:t>
            </a:r>
            <a:endParaRPr lang="en-US" altLang="zh-CN" sz="3200" b="1" dirty="0">
              <a:solidFill>
                <a:srgbClr val="FF0000"/>
              </a:solidFill>
            </a:endParaRPr>
          </a:p>
          <a:p>
            <a:pPr marL="615950" lvl="2" indent="-342900" defTabSz="914400" eaLnBrk="1" hangingPunct="1">
              <a:lnSpc>
                <a:spcPct val="120000"/>
              </a:lnSpc>
              <a:buClr>
                <a:srgbClr val="0BD0D9"/>
              </a:buClr>
              <a:buSzPct val="95000"/>
              <a:buFont typeface="Wingdings" panose="05000000000000000000" pitchFamily="2" charset="2"/>
              <a:buChar char="Ø"/>
              <a:tabLst>
                <a:tab pos="457200" algn="l"/>
              </a:tabLst>
            </a:pPr>
            <a:r>
              <a:rPr lang="zh-CN" altLang="en-US" dirty="0"/>
              <a:t>根据具体的实现策略，对分析模型进行扩充，包括了对象设计和对象持久化设计</a:t>
            </a:r>
            <a:endParaRPr lang="en-US" altLang="zh-CN" dirty="0"/>
          </a:p>
          <a:p>
            <a:pPr marL="273050" lvl="1" indent="-273050" defTabSz="914400" eaLnBrk="1" hangingPunct="1">
              <a:lnSpc>
                <a:spcPct val="120000"/>
              </a:lnSpc>
              <a:buClr>
                <a:srgbClr val="0BD0D9"/>
              </a:buClr>
              <a:buSzPct val="95000"/>
              <a:buFont typeface="Wingdings" panose="05000000000000000000" pitchFamily="2" charset="2"/>
              <a:buChar char="p"/>
              <a:tabLst>
                <a:tab pos="457200" algn="l"/>
              </a:tabLst>
            </a:pPr>
            <a:r>
              <a:rPr lang="zh-CN" altLang="en-US" sz="3200" b="1" dirty="0">
                <a:solidFill>
                  <a:srgbClr val="FF0000"/>
                </a:solidFill>
              </a:rPr>
              <a:t>设计评审：</a:t>
            </a:r>
            <a:endParaRPr lang="en-US" altLang="zh-CN" sz="3200" b="1" dirty="0">
              <a:solidFill>
                <a:srgbClr val="FF0000"/>
              </a:solidFill>
            </a:endParaRPr>
          </a:p>
          <a:p>
            <a:pPr marL="615950" lvl="2" indent="-342900" defTabSz="914400" eaLnBrk="1" hangingPunct="1">
              <a:lnSpc>
                <a:spcPct val="120000"/>
              </a:lnSpc>
              <a:buClr>
                <a:srgbClr val="0BD0D9"/>
              </a:buClr>
              <a:buSzPct val="95000"/>
              <a:buFont typeface="Wingdings" panose="05000000000000000000" pitchFamily="2" charset="2"/>
              <a:buChar char="Ø"/>
              <a:tabLst>
                <a:tab pos="457200" algn="l"/>
              </a:tabLst>
            </a:pPr>
            <a:r>
              <a:rPr lang="zh-CN" altLang="en-US" dirty="0"/>
              <a:t>对所设计的系统和系统设计规格说明报告逐一进行严格审查，检查是否达到系统设计功能要求</a:t>
            </a:r>
            <a:endParaRPr lang="en-US" altLang="zh-CN" dirty="0"/>
          </a:p>
        </p:txBody>
      </p:sp>
      <p:sp>
        <p:nvSpPr>
          <p:cNvPr id="53251" name="标题 1"/>
          <p:cNvSpPr>
            <a:spLocks noGrp="1"/>
          </p:cNvSpPr>
          <p:nvPr>
            <p:ph type="title"/>
          </p:nvPr>
        </p:nvSpPr>
        <p:spPr>
          <a:xfrm>
            <a:off x="455613" y="469900"/>
            <a:ext cx="8207375"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系统设计一般包括两步</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内容占位符 2"/>
          <p:cNvSpPr>
            <a:spLocks noGrp="1"/>
          </p:cNvSpPr>
          <p:nvPr>
            <p:ph idx="1"/>
          </p:nvPr>
        </p:nvSpPr>
        <p:spPr>
          <a:ln/>
        </p:spPr>
        <p:txBody>
          <a:bodyPr vert="horz" wrap="square" lIns="91221" tIns="45610" rIns="91221" bIns="45610" anchor="t" anchorCtr="0"/>
          <a:p>
            <a:pPr marL="273050" lvl="1" indent="-273050" defTabSz="914400" eaLnBrk="1" hangingPunct="1">
              <a:lnSpc>
                <a:spcPct val="120000"/>
              </a:lnSpc>
              <a:buClr>
                <a:srgbClr val="0BD0D9"/>
              </a:buClr>
              <a:buSzPct val="95000"/>
              <a:buFont typeface="Wingdings" panose="05000000000000000000" pitchFamily="2" charset="2"/>
              <a:buChar char="p"/>
              <a:tabLst>
                <a:tab pos="457200" algn="l"/>
              </a:tabLst>
            </a:pPr>
            <a:r>
              <a:rPr lang="zh-CN" altLang="en-US" b="1" dirty="0"/>
              <a:t>概要设计主要是对</a:t>
            </a:r>
            <a:r>
              <a:rPr lang="zh-CN" altLang="en-US" b="1" dirty="0">
                <a:solidFill>
                  <a:srgbClr val="FF0000"/>
                </a:solidFill>
              </a:rPr>
              <a:t>系统的体系结构</a:t>
            </a:r>
            <a:r>
              <a:rPr lang="zh-CN" altLang="en-US" b="1" dirty="0"/>
              <a:t>进行设计</a:t>
            </a:r>
            <a:endParaRPr lang="en-US" altLang="zh-CN" b="1" dirty="0"/>
          </a:p>
          <a:p>
            <a:pPr marL="273050" lvl="1" indent="-273050" defTabSz="914400" eaLnBrk="1" hangingPunct="1">
              <a:lnSpc>
                <a:spcPct val="120000"/>
              </a:lnSpc>
              <a:buClr>
                <a:srgbClr val="0BD0D9"/>
              </a:buClr>
              <a:buSzPct val="95000"/>
              <a:buFont typeface="Wingdings" panose="05000000000000000000" pitchFamily="2" charset="2"/>
              <a:buChar char="p"/>
              <a:tabLst>
                <a:tab pos="457200" algn="l"/>
              </a:tabLst>
            </a:pPr>
            <a:r>
              <a:rPr lang="zh-CN" altLang="en-US" b="1" dirty="0"/>
              <a:t>系统体系结构也称为</a:t>
            </a:r>
            <a:r>
              <a:rPr lang="zh-CN" altLang="en-US" b="1" dirty="0">
                <a:solidFill>
                  <a:srgbClr val="FF0000"/>
                </a:solidFill>
              </a:rPr>
              <a:t>系统架构</a:t>
            </a:r>
            <a:r>
              <a:rPr lang="zh-CN" altLang="en-US" b="1" dirty="0"/>
              <a:t>，是指</a:t>
            </a:r>
            <a:r>
              <a:rPr lang="zh-CN" altLang="en-US" b="1" u="sng" dirty="0"/>
              <a:t>一个或一组结构</a:t>
            </a:r>
            <a:r>
              <a:rPr lang="zh-CN" altLang="en-US" b="1" dirty="0"/>
              <a:t>，它包含组成系统的软件元素、这些元素对外可见的性质以及它们之间的关系</a:t>
            </a:r>
            <a:endParaRPr lang="en-US" altLang="zh-CN" b="1" dirty="0">
              <a:solidFill>
                <a:srgbClr val="FF0000"/>
              </a:solidFill>
            </a:endParaRPr>
          </a:p>
        </p:txBody>
      </p:sp>
      <p:sp>
        <p:nvSpPr>
          <p:cNvPr id="54275" name="标题 1"/>
          <p:cNvSpPr>
            <a:spLocks noGrp="1"/>
          </p:cNvSpPr>
          <p:nvPr>
            <p:ph type="title"/>
          </p:nvPr>
        </p:nvSpPr>
        <p:spPr>
          <a:xfrm>
            <a:off x="455613" y="542925"/>
            <a:ext cx="8207375"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概要设计</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内容占位符 2"/>
          <p:cNvSpPr>
            <a:spLocks noGrp="1"/>
          </p:cNvSpPr>
          <p:nvPr>
            <p:ph idx="1"/>
          </p:nvPr>
        </p:nvSpPr>
        <p:spPr>
          <a:ln/>
        </p:spPr>
        <p:txBody>
          <a:bodyPr vert="horz" wrap="square" lIns="91221" tIns="45610" rIns="91221" bIns="45610" anchor="t" anchorCtr="0"/>
          <a:p>
            <a:pPr marL="273050" lvl="1" indent="-273050" defTabSz="914400" eaLnBrk="1" hangingPunct="1">
              <a:lnSpc>
                <a:spcPct val="120000"/>
              </a:lnSpc>
              <a:buClr>
                <a:srgbClr val="0BD0D9"/>
              </a:buClr>
              <a:buSzPct val="95000"/>
              <a:buFont typeface="Wingdings" panose="05000000000000000000" pitchFamily="2" charset="2"/>
              <a:buChar char="p"/>
              <a:tabLst>
                <a:tab pos="457200" algn="l"/>
              </a:tabLst>
            </a:pPr>
            <a:r>
              <a:rPr lang="zh-CN" altLang="en-US" b="1" dirty="0">
                <a:solidFill>
                  <a:srgbClr val="FF0000"/>
                </a:solidFill>
              </a:rPr>
              <a:t>系统架构是</a:t>
            </a:r>
            <a:r>
              <a:rPr lang="zh-CN" altLang="en-US" b="1" u="sng" dirty="0">
                <a:solidFill>
                  <a:srgbClr val="FF0000"/>
                </a:solidFill>
              </a:rPr>
              <a:t>最高层次的系统分解</a:t>
            </a:r>
            <a:r>
              <a:rPr lang="zh-CN" altLang="en-US" b="1" dirty="0"/>
              <a:t>，包括</a:t>
            </a:r>
            <a:r>
              <a:rPr lang="zh-CN" altLang="en-US" b="1" dirty="0">
                <a:solidFill>
                  <a:srgbClr val="FF0000"/>
                </a:solidFill>
              </a:rPr>
              <a:t>软件体系结构设计</a:t>
            </a:r>
            <a:r>
              <a:rPr lang="zh-CN" altLang="en-US" b="1" dirty="0"/>
              <a:t>和</a:t>
            </a:r>
            <a:r>
              <a:rPr lang="zh-CN" altLang="en-US" b="1" dirty="0">
                <a:solidFill>
                  <a:srgbClr val="FF0000"/>
                </a:solidFill>
              </a:rPr>
              <a:t>硬件体系结构设计</a:t>
            </a:r>
            <a:r>
              <a:rPr lang="zh-CN" altLang="en-US" b="1" dirty="0"/>
              <a:t>两部分；</a:t>
            </a:r>
            <a:endParaRPr lang="en-US" altLang="zh-CN" b="1" dirty="0"/>
          </a:p>
          <a:p>
            <a:pPr marL="273050" lvl="1" indent="-273050" defTabSz="914400" eaLnBrk="1" hangingPunct="1">
              <a:lnSpc>
                <a:spcPct val="120000"/>
              </a:lnSpc>
              <a:buClr>
                <a:srgbClr val="0BD0D9"/>
              </a:buClr>
              <a:buSzPct val="95000"/>
              <a:buFont typeface="Wingdings" panose="05000000000000000000" pitchFamily="2" charset="2"/>
              <a:buChar char="p"/>
              <a:tabLst>
                <a:tab pos="457200" algn="l"/>
              </a:tabLst>
            </a:pPr>
            <a:r>
              <a:rPr lang="zh-CN" altLang="en-US" b="1" u="sng" dirty="0"/>
              <a:t>软件系统体系结构设计</a:t>
            </a:r>
            <a:r>
              <a:rPr lang="zh-CN" altLang="en-US" b="1" dirty="0"/>
              <a:t>通过系统的</a:t>
            </a:r>
            <a:r>
              <a:rPr lang="zh-CN" altLang="en-US" b="1" dirty="0">
                <a:solidFill>
                  <a:srgbClr val="FF0000"/>
                </a:solidFill>
              </a:rPr>
              <a:t>层、包、主要框架、类、接口和子系统</a:t>
            </a:r>
            <a:r>
              <a:rPr lang="zh-CN" altLang="en-US" b="1" dirty="0"/>
              <a:t>的组织方式来描述。</a:t>
            </a:r>
            <a:endParaRPr lang="en-US" altLang="zh-CN" b="1" dirty="0"/>
          </a:p>
          <a:p>
            <a:pPr marL="273050" lvl="1" indent="-273050" defTabSz="914400" eaLnBrk="1" hangingPunct="1">
              <a:lnSpc>
                <a:spcPct val="120000"/>
              </a:lnSpc>
              <a:buClr>
                <a:srgbClr val="0BD0D9"/>
              </a:buClr>
              <a:buSzPct val="95000"/>
              <a:buFont typeface="Wingdings" panose="05000000000000000000" pitchFamily="2" charset="2"/>
              <a:buChar char="p"/>
              <a:tabLst>
                <a:tab pos="457200" algn="l"/>
              </a:tabLst>
            </a:pPr>
            <a:r>
              <a:rPr lang="zh-CN" altLang="en-US" b="1" u="sng" dirty="0"/>
              <a:t>硬件系统体系结构设计</a:t>
            </a:r>
            <a:r>
              <a:rPr lang="zh-CN" altLang="en-US" b="1" dirty="0"/>
              <a:t>描述了</a:t>
            </a:r>
            <a:r>
              <a:rPr lang="zh-CN" altLang="en-US" b="1" dirty="0">
                <a:solidFill>
                  <a:srgbClr val="FF0000"/>
                </a:solidFill>
              </a:rPr>
              <a:t>进程分配和网络配置</a:t>
            </a:r>
            <a:r>
              <a:rPr lang="zh-CN" altLang="en-US" b="1" dirty="0"/>
              <a:t>。</a:t>
            </a:r>
            <a:endParaRPr lang="zh-CN" altLang="en-US" b="1" dirty="0"/>
          </a:p>
        </p:txBody>
      </p:sp>
      <p:sp>
        <p:nvSpPr>
          <p:cNvPr id="55299" name="标题 1"/>
          <p:cNvSpPr>
            <a:spLocks noGrp="1"/>
          </p:cNvSpPr>
          <p:nvPr>
            <p:ph type="title"/>
          </p:nvPr>
        </p:nvSpPr>
        <p:spPr>
          <a:xfrm>
            <a:off x="455613" y="542925"/>
            <a:ext cx="8207375"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体系结构设计的两部分</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2"/>
          <p:cNvSpPr>
            <a:spLocks noGrp="1"/>
          </p:cNvSpPr>
          <p:nvPr>
            <p:ph type="title"/>
          </p:nvPr>
        </p:nvSpPr>
        <p:spPr>
          <a:xfrm>
            <a:off x="166688" y="469900"/>
            <a:ext cx="9145587"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体系结构设计的常见策略：</a:t>
            </a:r>
            <a:r>
              <a:rPr lang="zh-CN" altLang="en-US" b="1" dirty="0">
                <a:solidFill>
                  <a:srgbClr val="FF0000"/>
                </a:solidFill>
                <a:latin typeface="微软雅黑" panose="020B0503020204020204" pitchFamily="34" charset="-122"/>
                <a:ea typeface="微软雅黑" panose="020B0503020204020204" pitchFamily="34" charset="-122"/>
              </a:rPr>
              <a:t>分层</a:t>
            </a:r>
            <a:endParaRPr lang="en-US" altLang="zh-CN" b="1" dirty="0">
              <a:solidFill>
                <a:srgbClr val="FF0000"/>
              </a:solidFill>
              <a:latin typeface="微软雅黑" panose="020B0503020204020204" pitchFamily="34" charset="-122"/>
              <a:ea typeface="微软雅黑" panose="020B0503020204020204" pitchFamily="34" charset="-122"/>
            </a:endParaRPr>
          </a:p>
        </p:txBody>
      </p:sp>
      <p:sp>
        <p:nvSpPr>
          <p:cNvPr id="56323" name="Rectangle 3"/>
          <p:cNvSpPr>
            <a:spLocks noGrp="1"/>
          </p:cNvSpPr>
          <p:nvPr>
            <p:ph idx="1"/>
          </p:nvPr>
        </p:nvSpPr>
        <p:spPr>
          <a:ln/>
        </p:spPr>
        <p:txBody>
          <a:bodyPr vert="horz" wrap="square" lIns="91221" tIns="45610" rIns="91221" bIns="45610" anchor="t" anchorCtr="0"/>
          <a:p>
            <a:pPr marL="273050" lvl="1" indent="-273050" defTabSz="914400" eaLnBrk="1" hangingPunct="1">
              <a:lnSpc>
                <a:spcPct val="120000"/>
              </a:lnSpc>
              <a:buClr>
                <a:srgbClr val="0BD0D9"/>
              </a:buClr>
              <a:buSzPct val="95000"/>
              <a:buFont typeface="Wingdings" panose="05000000000000000000" pitchFamily="2" charset="2"/>
              <a:buChar char="p"/>
              <a:tabLst>
                <a:tab pos="457200" algn="l"/>
              </a:tabLst>
            </a:pPr>
            <a:r>
              <a:rPr lang="zh-CN" altLang="en-US" b="1" dirty="0"/>
              <a:t>在</a:t>
            </a:r>
            <a:r>
              <a:rPr lang="zh-CN" altLang="en-US" b="1" dirty="0">
                <a:solidFill>
                  <a:srgbClr val="FF0000"/>
                </a:solidFill>
              </a:rPr>
              <a:t>分解复杂的信息系统</a:t>
            </a:r>
            <a:r>
              <a:rPr lang="zh-CN" altLang="en-US" b="1" dirty="0"/>
              <a:t>时，用的最多的技术之一就是</a:t>
            </a:r>
            <a:r>
              <a:rPr lang="zh-CN" altLang="en-US" b="1" dirty="0">
                <a:solidFill>
                  <a:srgbClr val="FF0000"/>
                </a:solidFill>
              </a:rPr>
              <a:t>分层</a:t>
            </a:r>
            <a:r>
              <a:rPr lang="zh-CN" altLang="en-US" b="1" dirty="0"/>
              <a:t>；</a:t>
            </a:r>
            <a:endParaRPr lang="zh-CN" altLang="en-US" b="1" dirty="0"/>
          </a:p>
          <a:p>
            <a:pPr marL="273050" lvl="1" indent="-273050" defTabSz="914400" eaLnBrk="1" hangingPunct="1">
              <a:lnSpc>
                <a:spcPct val="120000"/>
              </a:lnSpc>
              <a:buClr>
                <a:srgbClr val="0BD0D9"/>
              </a:buClr>
              <a:buSzPct val="95000"/>
              <a:buFont typeface="Wingdings" panose="05000000000000000000" pitchFamily="2" charset="2"/>
              <a:buChar char="p"/>
              <a:tabLst>
                <a:tab pos="457200" algn="l"/>
              </a:tabLst>
            </a:pPr>
            <a:r>
              <a:rPr lang="zh-CN" altLang="en-US" b="1" dirty="0"/>
              <a:t>在采用分层架构时，</a:t>
            </a:r>
            <a:r>
              <a:rPr lang="zh-CN" altLang="en-US" b="1" dirty="0">
                <a:solidFill>
                  <a:srgbClr val="FF0000"/>
                </a:solidFill>
              </a:rPr>
              <a:t>下层组件负责对上层组件提供服务</a:t>
            </a:r>
            <a:r>
              <a:rPr lang="zh-CN" altLang="en-US" b="1" dirty="0"/>
              <a:t>，</a:t>
            </a:r>
            <a:r>
              <a:rPr lang="zh-CN" altLang="en-US" b="1" dirty="0">
                <a:solidFill>
                  <a:srgbClr val="FF0000"/>
                </a:solidFill>
              </a:rPr>
              <a:t>上层组件可以使用下层组件定义的服务</a:t>
            </a:r>
            <a:r>
              <a:rPr lang="zh-CN" altLang="en-US" b="1" dirty="0"/>
              <a:t>，但下层组件对上层组件一无所知；</a:t>
            </a:r>
            <a:endParaRPr lang="zh-CN" altLang="en-US" b="1" dirty="0"/>
          </a:p>
          <a:p>
            <a:pPr marL="273050" lvl="1" indent="-273050" defTabSz="914400" eaLnBrk="1" hangingPunct="1">
              <a:lnSpc>
                <a:spcPct val="120000"/>
              </a:lnSpc>
              <a:buClr>
                <a:srgbClr val="0BD0D9"/>
              </a:buClr>
              <a:buSzPct val="95000"/>
              <a:buFont typeface="Wingdings" panose="05000000000000000000" pitchFamily="2" charset="2"/>
              <a:buChar char="p"/>
              <a:tabLst>
                <a:tab pos="457200" algn="l"/>
              </a:tabLst>
            </a:pPr>
            <a:r>
              <a:rPr lang="zh-CN" altLang="en-US" b="1" dirty="0">
                <a:solidFill>
                  <a:srgbClr val="FF0000"/>
                </a:solidFill>
              </a:rPr>
              <a:t>层与层之间通常是不透明</a:t>
            </a:r>
            <a:r>
              <a:rPr lang="zh-CN" altLang="en-US" b="1" dirty="0"/>
              <a:t>的，每一层都具有独立的职责</a:t>
            </a:r>
            <a:r>
              <a:rPr lang="zh-CN" altLang="en-US" dirty="0"/>
              <a:t>。</a:t>
            </a:r>
            <a:endParaRPr lang="zh-CN" altLang="en-US" dirty="0"/>
          </a:p>
        </p:txBody>
      </p:sp>
      <p:sp>
        <p:nvSpPr>
          <p:cNvPr id="2" name="矩形 1"/>
          <p:cNvSpPr/>
          <p:nvPr/>
        </p:nvSpPr>
        <p:spPr>
          <a:xfrm>
            <a:off x="887413" y="4646613"/>
            <a:ext cx="7488237" cy="1570037"/>
          </a:xfrm>
          <a:prstGeom prst="rect">
            <a:avLst/>
          </a:prstGeom>
          <a:noFill/>
          <a:ln w="25400" cap="flat" cmpd="sng">
            <a:solidFill>
              <a:srgbClr val="FF0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342900" lvl="0" indent="-342900" eaLnBrk="1" hangingPunct="1">
              <a:spcBef>
                <a:spcPct val="0"/>
              </a:spcBef>
              <a:buClrTx/>
              <a:buSzTx/>
              <a:buFont typeface="Wingdings" panose="05000000000000000000" pitchFamily="2" charset="2"/>
              <a:buChar char="Ø"/>
            </a:pPr>
            <a:r>
              <a:rPr lang="zh-CN" altLang="en-US" sz="2400" b="1" dirty="0">
                <a:latin typeface="黑体" panose="02010609060101010101" pitchFamily="49" charset="-122"/>
                <a:ea typeface="黑体" panose="02010609060101010101" pitchFamily="49" charset="-122"/>
              </a:rPr>
              <a:t>分层结构描述的是</a:t>
            </a:r>
            <a:r>
              <a:rPr lang="zh-CN" altLang="en-US" sz="2400" b="1" dirty="0">
                <a:solidFill>
                  <a:srgbClr val="FF0000"/>
                </a:solidFill>
                <a:latin typeface="黑体" panose="02010609060101010101" pitchFamily="49" charset="-122"/>
                <a:ea typeface="黑体" panose="02010609060101010101" pitchFamily="49" charset="-122"/>
              </a:rPr>
              <a:t>设计元素在概念上的组织</a:t>
            </a:r>
            <a:r>
              <a:rPr lang="zh-CN" altLang="en-US" sz="2400" b="1" dirty="0">
                <a:latin typeface="黑体" panose="02010609060101010101" pitchFamily="49" charset="-122"/>
                <a:ea typeface="黑体" panose="02010609060101010101" pitchFamily="49" charset="-122"/>
              </a:rPr>
              <a:t>，是一种逻辑结构，而</a:t>
            </a:r>
            <a:r>
              <a:rPr lang="zh-CN" altLang="en-US" sz="2400" b="1" dirty="0">
                <a:solidFill>
                  <a:srgbClr val="FF0000"/>
                </a:solidFill>
                <a:latin typeface="黑体" panose="02010609060101010101" pitchFamily="49" charset="-122"/>
                <a:ea typeface="黑体" panose="02010609060101010101" pitchFamily="49" charset="-122"/>
              </a:rPr>
              <a:t>非物理上的部署</a:t>
            </a:r>
            <a:r>
              <a:rPr lang="zh-CN" altLang="en-US" sz="2400" b="1" dirty="0">
                <a:latin typeface="黑体" panose="02010609060101010101" pitchFamily="49" charset="-122"/>
                <a:ea typeface="黑体" panose="02010609060101010101" pitchFamily="49" charset="-122"/>
              </a:rPr>
              <a:t>，</a:t>
            </a:r>
            <a:endParaRPr lang="en-US" altLang="zh-CN" sz="2400" b="1" dirty="0">
              <a:latin typeface="黑体" panose="02010609060101010101" pitchFamily="49" charset="-122"/>
              <a:ea typeface="黑体" panose="02010609060101010101" pitchFamily="49" charset="-122"/>
            </a:endParaRPr>
          </a:p>
          <a:p>
            <a:pPr marL="342900" lvl="0" indent="-342900" eaLnBrk="1" hangingPunct="1">
              <a:spcBef>
                <a:spcPct val="0"/>
              </a:spcBef>
              <a:buClrTx/>
              <a:buSzTx/>
              <a:buFont typeface="Wingdings" panose="05000000000000000000" pitchFamily="2" charset="2"/>
              <a:buChar char="Ø"/>
            </a:pPr>
            <a:r>
              <a:rPr lang="zh-CN" altLang="en-US" sz="2400" b="1" dirty="0">
                <a:latin typeface="黑体" panose="02010609060101010101" pitchFamily="49" charset="-122"/>
                <a:ea typeface="黑体" panose="02010609060101010101" pitchFamily="49" charset="-122"/>
              </a:rPr>
              <a:t>对于不同的层，</a:t>
            </a:r>
            <a:r>
              <a:rPr lang="zh-CN" altLang="en-US" sz="2400" b="1" dirty="0">
                <a:solidFill>
                  <a:srgbClr val="FF0000"/>
                </a:solidFill>
                <a:latin typeface="黑体" panose="02010609060101010101" pitchFamily="49" charset="-122"/>
                <a:ea typeface="黑体" panose="02010609060101010101" pitchFamily="49" charset="-122"/>
              </a:rPr>
              <a:t>可以部署到不同的机器上</a:t>
            </a:r>
            <a:r>
              <a:rPr lang="zh-CN" altLang="en-US" sz="2400" b="1" dirty="0">
                <a:latin typeface="黑体" panose="02010609060101010101" pitchFamily="49" charset="-122"/>
                <a:ea typeface="黑体" panose="02010609060101010101" pitchFamily="49" charset="-122"/>
              </a:rPr>
              <a:t>，也可以部署到同一机器上。</a:t>
            </a:r>
            <a:endParaRPr lang="zh-CN" altLang="en-US" sz="24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ChangeArrowheads="1"/>
          </p:cNvSpPr>
          <p:nvPr/>
        </p:nvSpPr>
        <p:spPr bwMode="auto">
          <a:xfrm>
            <a:off x="322263" y="1809750"/>
            <a:ext cx="8629650" cy="326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21" tIns="45610" rIns="91221" bIns="45610">
            <a:spAutoFit/>
          </a:bodyPr>
          <a:lstStyle/>
          <a:p>
            <a:pPr marL="273050" marR="0" lvl="1" indent="-273050" algn="l" defTabSz="914400" rtl="0" eaLnBrk="0" fontAlgn="base" latinLnBrk="0" hangingPunct="0">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在</a:t>
            </a:r>
            <a:r>
              <a:rPr kumimoji="1"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信息系统</a:t>
            </a: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中软件架构通常采用典型的三层结构：</a:t>
            </a:r>
            <a:endPar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800100" marR="0" lvl="1" indent="-342900" algn="l" defTabSz="914400" rtl="0" eaLnBrk="0" fontAlgn="base" latinLnBrk="0" hangingPunct="0">
              <a:lnSpc>
                <a:spcPct val="120000"/>
              </a:lnSpc>
              <a:spcBef>
                <a:spcPct val="0"/>
              </a:spcBef>
              <a:spcAft>
                <a:spcPct val="0"/>
              </a:spcAft>
              <a:buClrTx/>
              <a:buSzTx/>
              <a:buFont typeface="Wingdings" panose="05000000000000000000" pitchFamily="2" charset="2"/>
              <a:buChar char="Ø"/>
              <a:tabLst>
                <a:tab pos="531495" algn="l"/>
              </a:tabLst>
              <a:defRPr/>
            </a:pPr>
            <a:r>
              <a:rPr kumimoji="1" lang="zh-CN" altLang="en-US" sz="2400" b="1" i="0" u="none" strike="noStrike" kern="1200" cap="none" spc="0" normalizeH="0" baseline="0" noProof="0" dirty="0">
                <a:ln>
                  <a:noFill/>
                </a:ln>
                <a:solidFill>
                  <a:srgbClr val="FF0000"/>
                </a:solidFill>
                <a:effectLst/>
                <a:uLnTx/>
                <a:uFillTx/>
                <a:latin typeface="楷体_GB2312" pitchFamily="49" charset="-122"/>
                <a:ea typeface="楷体_GB2312" pitchFamily="49" charset="-122"/>
                <a:cs typeface="+mn-cs"/>
              </a:rPr>
              <a:t>表示层</a:t>
            </a:r>
            <a:r>
              <a:rPr kumimoji="1" lang="zh-CN" altLang="en-US" sz="24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――用户界面</a:t>
            </a:r>
            <a:endParaRPr kumimoji="1" lang="zh-CN" altLang="en-US" sz="24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800100" marR="0" lvl="1" indent="-342900" algn="l" defTabSz="914400" rtl="0" eaLnBrk="0" fontAlgn="base" latinLnBrk="0" hangingPunct="0">
              <a:lnSpc>
                <a:spcPct val="120000"/>
              </a:lnSpc>
              <a:spcBef>
                <a:spcPct val="0"/>
              </a:spcBef>
              <a:spcAft>
                <a:spcPct val="0"/>
              </a:spcAft>
              <a:buClrTx/>
              <a:buSzTx/>
              <a:buFont typeface="Wingdings" panose="05000000000000000000" pitchFamily="2" charset="2"/>
              <a:buChar char="Ø"/>
              <a:tabLst>
                <a:tab pos="531495" algn="l"/>
              </a:tabLst>
              <a:defRPr/>
            </a:pPr>
            <a:r>
              <a:rPr kumimoji="1" lang="zh-CN" altLang="en-US" sz="2400" b="1" i="0" u="none" strike="noStrike" kern="1200" cap="none" spc="0" normalizeH="0" baseline="0" noProof="0" dirty="0">
                <a:ln>
                  <a:noFill/>
                </a:ln>
                <a:solidFill>
                  <a:srgbClr val="FF0000"/>
                </a:solidFill>
                <a:effectLst/>
                <a:uLnTx/>
                <a:uFillTx/>
                <a:latin typeface="楷体_GB2312" pitchFamily="49" charset="-122"/>
                <a:ea typeface="楷体_GB2312" pitchFamily="49" charset="-122"/>
                <a:cs typeface="+mn-cs"/>
              </a:rPr>
              <a:t>业务层</a:t>
            </a:r>
            <a:r>
              <a:rPr kumimoji="1" lang="zh-CN" altLang="en-US" sz="24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――业务处理流程</a:t>
            </a:r>
            <a:endParaRPr kumimoji="1" lang="zh-CN" altLang="en-US" sz="24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800100" marR="0" lvl="1" indent="-342900" algn="l" defTabSz="914400" rtl="0" eaLnBrk="0" fontAlgn="base" latinLnBrk="0" hangingPunct="0">
              <a:lnSpc>
                <a:spcPct val="120000"/>
              </a:lnSpc>
              <a:spcBef>
                <a:spcPct val="0"/>
              </a:spcBef>
              <a:spcAft>
                <a:spcPct val="0"/>
              </a:spcAft>
              <a:buClrTx/>
              <a:buSzTx/>
              <a:buFont typeface="Wingdings" panose="05000000000000000000" pitchFamily="2" charset="2"/>
              <a:buChar char="Ø"/>
              <a:tabLst>
                <a:tab pos="531495" algn="l"/>
              </a:tabLst>
              <a:defRPr/>
            </a:pPr>
            <a:r>
              <a:rPr kumimoji="1" lang="zh-CN" altLang="en-US" sz="2400" b="1" i="0" u="none" strike="noStrike" kern="1200" cap="none" spc="0" normalizeH="0" baseline="0" noProof="0" dirty="0">
                <a:ln>
                  <a:noFill/>
                </a:ln>
                <a:solidFill>
                  <a:srgbClr val="FF0000"/>
                </a:solidFill>
                <a:effectLst/>
                <a:uLnTx/>
                <a:uFillTx/>
                <a:latin typeface="楷体_GB2312" pitchFamily="49" charset="-122"/>
                <a:ea typeface="楷体_GB2312" pitchFamily="49" charset="-122"/>
                <a:cs typeface="+mn-cs"/>
              </a:rPr>
              <a:t>数据层</a:t>
            </a:r>
            <a:r>
              <a:rPr kumimoji="1" lang="zh-CN" altLang="en-US" sz="24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――持久化存储</a:t>
            </a:r>
            <a:endParaRPr kumimoji="1" lang="en-US" altLang="zh-CN" sz="24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273050" marR="0" lvl="1" indent="-273050" algn="l" defTabSz="914400" rtl="0" eaLnBrk="0" fontAlgn="base" latinLnBrk="0" hangingPunct="0">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数据层在业务层中是可见的，业务层在表示层中是可见的，反之则不可见</a:t>
            </a:r>
            <a:endPar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304165" algn="l" defTabSz="914400" rtl="0" eaLnBrk="0" fontAlgn="base" latinLnBrk="0" hangingPunct="0">
              <a:lnSpc>
                <a:spcPct val="120000"/>
              </a:lnSpc>
              <a:spcBef>
                <a:spcPct val="0"/>
              </a:spcBef>
              <a:spcAft>
                <a:spcPct val="0"/>
              </a:spcAft>
              <a:buClrTx/>
              <a:buSzTx/>
              <a:buFont typeface="Wingdings" panose="05000000000000000000" pitchFamily="2" charset="2"/>
              <a:buNone/>
              <a:tabLst>
                <a:tab pos="531495" algn="l"/>
              </a:tabLst>
              <a:defRPr/>
            </a:pPr>
            <a:endParaRPr kumimoji="1" lang="zh-CN" altLang="en-US" sz="24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p:txBody>
      </p:sp>
      <p:sp>
        <p:nvSpPr>
          <p:cNvPr id="3" name="标题 1"/>
          <p:cNvSpPr txBox="1"/>
          <p:nvPr/>
        </p:nvSpPr>
        <p:spPr>
          <a:xfrm>
            <a:off x="358775" y="985838"/>
            <a:ext cx="9096375" cy="636588"/>
          </a:xfrm>
          <a:prstGeom prst="rect">
            <a:avLst/>
          </a:prstGeom>
        </p:spPr>
        <p:txBody>
          <a:bodyPr lIns="91221" tIns="45610" rIns="91221" bIns="45610"/>
          <a:lstStyle>
            <a:lvl1pPr algn="l" rtl="0" fontAlgn="base">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fontAlgn="base">
              <a:spcBef>
                <a:spcPct val="0"/>
              </a:spcBef>
              <a:spcAft>
                <a:spcPct val="0"/>
              </a:spcAft>
              <a:defRPr sz="4100" b="1">
                <a:solidFill>
                  <a:schemeClr val="tx2"/>
                </a:solidFill>
                <a:latin typeface="Lucida Sans Unicode" panose="020B0602030504020204" pitchFamily="34" charset="0"/>
              </a:defRPr>
            </a:lvl2pPr>
            <a:lvl3pPr algn="l" rtl="0" fontAlgn="base">
              <a:spcBef>
                <a:spcPct val="0"/>
              </a:spcBef>
              <a:spcAft>
                <a:spcPct val="0"/>
              </a:spcAft>
              <a:defRPr sz="4100" b="1">
                <a:solidFill>
                  <a:schemeClr val="tx2"/>
                </a:solidFill>
                <a:latin typeface="Lucida Sans Unicode" panose="020B0602030504020204" pitchFamily="34" charset="0"/>
              </a:defRPr>
            </a:lvl3pPr>
            <a:lvl4pPr algn="l" rtl="0" fontAlgn="base">
              <a:spcBef>
                <a:spcPct val="0"/>
              </a:spcBef>
              <a:spcAft>
                <a:spcPct val="0"/>
              </a:spcAft>
              <a:defRPr sz="4100" b="1">
                <a:solidFill>
                  <a:schemeClr val="tx2"/>
                </a:solidFill>
                <a:latin typeface="Lucida Sans Unicode" panose="020B0602030504020204" pitchFamily="34" charset="0"/>
              </a:defRPr>
            </a:lvl4pPr>
            <a:lvl5pPr algn="l" rtl="0" fontAlgn="base">
              <a:spcBef>
                <a:spcPct val="0"/>
              </a:spcBef>
              <a:spcAft>
                <a:spcPct val="0"/>
              </a:spcAft>
              <a:defRPr sz="4100" b="1">
                <a:solidFill>
                  <a:schemeClr val="tx2"/>
                </a:solidFill>
                <a:latin typeface="Lucida Sans Unicode" panose="020B0602030504020204" pitchFamily="34" charset="0"/>
              </a:defRPr>
            </a:lvl5pPr>
            <a:lvl6pPr marL="457200" algn="l" rtl="0" fontAlgn="base">
              <a:spcBef>
                <a:spcPct val="0"/>
              </a:spcBef>
              <a:spcAft>
                <a:spcPct val="0"/>
              </a:spcAft>
              <a:defRPr sz="4100" b="1">
                <a:solidFill>
                  <a:schemeClr val="tx2"/>
                </a:solidFill>
                <a:latin typeface="Lucida Sans Unicode" panose="020B0602030504020204" pitchFamily="34" charset="0"/>
              </a:defRPr>
            </a:lvl6pPr>
            <a:lvl7pPr marL="914400" algn="l" rtl="0" fontAlgn="base">
              <a:spcBef>
                <a:spcPct val="0"/>
              </a:spcBef>
              <a:spcAft>
                <a:spcPct val="0"/>
              </a:spcAft>
              <a:defRPr sz="4100" b="1">
                <a:solidFill>
                  <a:schemeClr val="tx2"/>
                </a:solidFill>
                <a:latin typeface="Lucida Sans Unicode" panose="020B0602030504020204" pitchFamily="34" charset="0"/>
              </a:defRPr>
            </a:lvl7pPr>
            <a:lvl8pPr marL="1371600" algn="l" rtl="0" fontAlgn="base">
              <a:spcBef>
                <a:spcPct val="0"/>
              </a:spcBef>
              <a:spcAft>
                <a:spcPct val="0"/>
              </a:spcAft>
              <a:defRPr sz="4100" b="1">
                <a:solidFill>
                  <a:schemeClr val="tx2"/>
                </a:solidFill>
                <a:latin typeface="Lucida Sans Unicode" panose="020B0602030504020204" pitchFamily="34" charset="0"/>
              </a:defRPr>
            </a:lvl8pPr>
            <a:lvl9pPr marL="1828800" algn="l" rtl="0" fontAlgn="base">
              <a:spcBef>
                <a:spcPct val="0"/>
              </a:spcBef>
              <a:spcAft>
                <a:spcPct val="0"/>
              </a:spcAft>
              <a:defRPr sz="4100" b="1">
                <a:solidFill>
                  <a:schemeClr val="tx2"/>
                </a:solidFill>
                <a:latin typeface="Lucida Sans Unicode" panose="020B0602030504020204" pitchFamily="34" charset="0"/>
              </a:defRPr>
            </a:lvl9pPr>
          </a:lstStyle>
          <a:p>
            <a:pPr marL="0" marR="0" lvl="0" indent="0" algn="l" defTabSz="914400" rtl="0" eaLnBrk="1" fontAlgn="base" latinLnBrk="0" hangingPunct="1">
              <a:lnSpc>
                <a:spcPts val="4000"/>
              </a:lnSpc>
              <a:spcBef>
                <a:spcPct val="0"/>
              </a:spcBef>
              <a:spcAft>
                <a:spcPct val="0"/>
              </a:spcAft>
              <a:buClrTx/>
              <a:buSzTx/>
              <a:buFont typeface="Wingdings" panose="05000000000000000000" pitchFamily="2" charset="2"/>
              <a:buNone/>
              <a:defRPr/>
            </a:pPr>
            <a:r>
              <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三层架构</a:t>
            </a:r>
            <a:endPar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endParaRPr>
          </a:p>
        </p:txBody>
      </p:sp>
      <p:pic>
        <p:nvPicPr>
          <p:cNvPr id="58372" name="Picture 3" descr="C:\jnx\cndesign\images\struc_1.gif"/>
          <p:cNvPicPr>
            <a:picLocks noChangeAspect="1"/>
          </p:cNvPicPr>
          <p:nvPr/>
        </p:nvPicPr>
        <p:blipFill>
          <a:blip r:embed="rId1"/>
          <a:stretch>
            <a:fillRect/>
          </a:stretch>
        </p:blipFill>
        <p:spPr>
          <a:xfrm>
            <a:off x="1574800" y="5222875"/>
            <a:ext cx="5622925" cy="625475"/>
          </a:xfrm>
          <a:prstGeom prst="rect">
            <a:avLst/>
          </a:prstGeom>
          <a:noFill/>
          <a:ln w="9525">
            <a:noFill/>
          </a:ln>
        </p:spPr>
      </p:pic>
      <p:sp>
        <p:nvSpPr>
          <p:cNvPr id="2" name="矩形 1"/>
          <p:cNvSpPr/>
          <p:nvPr/>
        </p:nvSpPr>
        <p:spPr>
          <a:xfrm>
            <a:off x="3519488" y="6086475"/>
            <a:ext cx="1731962" cy="461963"/>
          </a:xfrm>
          <a:prstGeom prst="rect">
            <a:avLst/>
          </a:prstGeom>
          <a:noFill/>
          <a:ln w="9525">
            <a:noFill/>
          </a:ln>
        </p:spPr>
        <p:txBody>
          <a:bodyPr wrap="none">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2400" b="1" u="sng" dirty="0">
                <a:solidFill>
                  <a:srgbClr val="FF0000"/>
                </a:solidFill>
                <a:latin typeface="黑体" panose="02010609060101010101" pitchFamily="49" charset="-122"/>
                <a:ea typeface="黑体" panose="02010609060101010101" pitchFamily="49" charset="-122"/>
              </a:rPr>
              <a:t>职责的分离</a:t>
            </a:r>
            <a:endParaRPr lang="zh-CN" altLang="en-US" sz="2400" b="1" u="sng"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5"/>
          <p:cNvSpPr/>
          <p:nvPr/>
        </p:nvSpPr>
        <p:spPr>
          <a:xfrm>
            <a:off x="0" y="1936750"/>
            <a:ext cx="184150" cy="461963"/>
          </a:xfrm>
          <a:prstGeom prst="rect">
            <a:avLst/>
          </a:prstGeom>
          <a:noFill/>
          <a:ln w="9525">
            <a:noFill/>
          </a:ln>
        </p:spPr>
        <p:txBody>
          <a:bodyPr wrap="none" lIns="91221" tIns="45610" rIns="91221" bIns="45610"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aphicFrame>
        <p:nvGraphicFramePr>
          <p:cNvPr id="60419" name="Object 4"/>
          <p:cNvGraphicFramePr>
            <a:graphicFrameLocks noChangeAspect="1"/>
          </p:cNvGraphicFramePr>
          <p:nvPr/>
        </p:nvGraphicFramePr>
        <p:xfrm>
          <a:off x="1039813" y="1266825"/>
          <a:ext cx="7110412" cy="4471988"/>
        </p:xfrm>
        <a:graphic>
          <a:graphicData uri="http://schemas.openxmlformats.org/presentationml/2006/ole">
            <mc:AlternateContent xmlns:mc="http://schemas.openxmlformats.org/markup-compatibility/2006">
              <mc:Choice xmlns:v="urn:schemas-microsoft-com:vml" Requires="v">
                <p:oleObj spid="_x0000_s3077" name="" r:id="rId1" imgW="8712200" imgH="5486400" progId="Visio.Drawing.11">
                  <p:embed/>
                </p:oleObj>
              </mc:Choice>
              <mc:Fallback>
                <p:oleObj name="" r:id="rId1" imgW="8712200" imgH="5486400" progId="Visio.Drawing.11">
                  <p:embed/>
                  <p:pic>
                    <p:nvPicPr>
                      <p:cNvPr id="0" name="图片 3076"/>
                      <p:cNvPicPr/>
                      <p:nvPr/>
                    </p:nvPicPr>
                    <p:blipFill>
                      <a:blip r:embed="rId2"/>
                      <a:stretch>
                        <a:fillRect/>
                      </a:stretch>
                    </p:blipFill>
                    <p:spPr>
                      <a:xfrm>
                        <a:off x="1039813" y="1266825"/>
                        <a:ext cx="7110412" cy="4471988"/>
                      </a:xfrm>
                      <a:prstGeom prst="rect">
                        <a:avLst/>
                      </a:prstGeom>
                      <a:noFill/>
                      <a:ln w="38100">
                        <a:noFill/>
                        <a:miter/>
                      </a:ln>
                    </p:spPr>
                  </p:pic>
                </p:oleObj>
              </mc:Fallback>
            </mc:AlternateContent>
          </a:graphicData>
        </a:graphic>
      </p:graphicFrame>
      <p:sp>
        <p:nvSpPr>
          <p:cNvPr id="4" name="矩形 3"/>
          <p:cNvSpPr/>
          <p:nvPr/>
        </p:nvSpPr>
        <p:spPr>
          <a:xfrm>
            <a:off x="311150" y="1946275"/>
            <a:ext cx="431800" cy="156845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2400" b="1" dirty="0">
                <a:solidFill>
                  <a:srgbClr val="FF0000"/>
                </a:solidFill>
                <a:latin typeface="黑体" panose="02010609060101010101" pitchFamily="49" charset="-122"/>
                <a:ea typeface="黑体" panose="02010609060101010101" pitchFamily="49" charset="-122"/>
              </a:rPr>
              <a:t>职责分离</a:t>
            </a:r>
            <a:endParaRPr lang="zh-CN" altLang="en-US" sz="24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6354" name="Rectangle 2"/>
          <p:cNvSpPr>
            <a:spLocks noGrp="1" noChangeArrowheads="1"/>
          </p:cNvSpPr>
          <p:nvPr>
            <p:ph type="title"/>
          </p:nvPr>
        </p:nvSpPr>
        <p:spPr/>
        <p:txBody>
          <a:bodyPr vert="horz" wrap="square" lIns="0" tIns="45610" rIns="0" bIns="0" numCol="1" anchor="b" anchorCtr="0" compatLnSpc="1"/>
          <a:lstStyle/>
          <a:p>
            <a:pPr marL="0" marR="0" lvl="0" indent="0" algn="l" defTabSz="914400" rtl="0" eaLnBrk="0" fontAlgn="base" latinLnBrk="0" hangingPunct="0">
              <a:lnSpc>
                <a:spcPts val="4000"/>
              </a:lnSpc>
              <a:spcBef>
                <a:spcPct val="0"/>
              </a:spcBef>
              <a:spcAft>
                <a:spcPct val="0"/>
              </a:spcAft>
              <a:buClrTx/>
              <a:buSzTx/>
              <a:buFont typeface="Wingdings" panose="05000000000000000000" pitchFamily="2" charset="2"/>
              <a:buNone/>
              <a:defRPr/>
            </a:pPr>
            <a:r>
              <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三层架构</a:t>
            </a:r>
            <a:endParaRPr kumimoji="1" lang="en-US" altLang="zh-CN"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endParaRPr>
          </a:p>
        </p:txBody>
      </p:sp>
      <p:sp>
        <p:nvSpPr>
          <p:cNvPr id="62467" name="Rectangle 3"/>
          <p:cNvSpPr>
            <a:spLocks noGrp="1"/>
          </p:cNvSpPr>
          <p:nvPr>
            <p:ph idx="1"/>
          </p:nvPr>
        </p:nvSpPr>
        <p:spPr>
          <a:ln/>
        </p:spPr>
        <p:txBody>
          <a:bodyPr vert="horz" wrap="square" lIns="91221" tIns="45610" rIns="91221" bIns="45610" anchor="t" anchorCtr="0"/>
          <a:p>
            <a:pPr marL="273050" lvl="1" indent="-273050" defTabSz="914400">
              <a:lnSpc>
                <a:spcPct val="120000"/>
              </a:lnSpc>
              <a:buClr>
                <a:srgbClr val="0BD0D9"/>
              </a:buClr>
              <a:buSzPct val="95000"/>
              <a:buFont typeface="Wingdings" panose="05000000000000000000" pitchFamily="2" charset="2"/>
              <a:buChar char="p"/>
              <a:tabLst>
                <a:tab pos="457200" algn="l"/>
              </a:tabLst>
            </a:pPr>
            <a:r>
              <a:rPr lang="zh-CN" altLang="en-US" b="1" dirty="0"/>
              <a:t>以上三层是基本的层次结构，</a:t>
            </a:r>
            <a:r>
              <a:rPr lang="zh-CN" altLang="en-US" b="1" dirty="0">
                <a:solidFill>
                  <a:srgbClr val="FF0000"/>
                </a:solidFill>
              </a:rPr>
              <a:t>具体如何分离取决于问题的复杂程度</a:t>
            </a:r>
            <a:r>
              <a:rPr lang="zh-CN" altLang="en-US" b="1" dirty="0"/>
              <a:t>；</a:t>
            </a:r>
            <a:endParaRPr lang="zh-CN" altLang="en-US" b="1" dirty="0"/>
          </a:p>
          <a:p>
            <a:pPr marL="273050" lvl="1" indent="-273050" defTabSz="914400">
              <a:lnSpc>
                <a:spcPct val="120000"/>
              </a:lnSpc>
              <a:buClr>
                <a:srgbClr val="0BD0D9"/>
              </a:buClr>
              <a:buSzPct val="95000"/>
              <a:buFont typeface="Wingdings" panose="05000000000000000000" pitchFamily="2" charset="2"/>
              <a:buChar char="p"/>
              <a:tabLst>
                <a:tab pos="457200" algn="l"/>
              </a:tabLst>
            </a:pPr>
            <a:r>
              <a:rPr lang="zh-CN" altLang="en-US" b="1" dirty="0"/>
              <a:t>必须遵守一条关于</a:t>
            </a:r>
            <a:r>
              <a:rPr lang="zh-CN" altLang="en-US" b="1" dirty="0">
                <a:solidFill>
                  <a:srgbClr val="FF0000"/>
                </a:solidFill>
              </a:rPr>
              <a:t>层间依赖的普遍原则</a:t>
            </a:r>
            <a:r>
              <a:rPr lang="zh-CN" altLang="en-US" b="1" dirty="0"/>
              <a:t>：</a:t>
            </a:r>
            <a:r>
              <a:rPr lang="zh-CN" altLang="en-US" b="1" u="sng" dirty="0"/>
              <a:t>业务逻辑层和数据存储层绝对不要依赖于表现层</a:t>
            </a:r>
            <a:r>
              <a:rPr lang="zh-CN" altLang="en-US" b="1" dirty="0"/>
              <a:t>；</a:t>
            </a:r>
            <a:endParaRPr lang="zh-CN" altLang="en-US" b="1" dirty="0"/>
          </a:p>
          <a:p>
            <a:pPr marL="273050" lvl="1" indent="-273050" defTabSz="914400">
              <a:lnSpc>
                <a:spcPct val="120000"/>
              </a:lnSpc>
              <a:buClr>
                <a:srgbClr val="0BD0D9"/>
              </a:buClr>
              <a:buSzPct val="95000"/>
              <a:buFont typeface="Wingdings" panose="05000000000000000000" pitchFamily="2" charset="2"/>
              <a:buChar char="p"/>
              <a:tabLst>
                <a:tab pos="457200" algn="l"/>
              </a:tabLst>
            </a:pPr>
            <a:r>
              <a:rPr lang="zh-CN" altLang="en-US" b="1" dirty="0"/>
              <a:t>当业务逻辑变得越来越复杂时，可以根据系统的实际情况或设计需求，进行进一步的分解，</a:t>
            </a:r>
            <a:r>
              <a:rPr lang="zh-CN" altLang="en-US" b="1" dirty="0">
                <a:solidFill>
                  <a:srgbClr val="FF0000"/>
                </a:solidFill>
              </a:rPr>
              <a:t>基本的三层结构可以扩展为四层、五层或更多</a:t>
            </a:r>
            <a:r>
              <a:rPr lang="zh-CN" altLang="en-US" b="1" dirty="0"/>
              <a:t>。 </a:t>
            </a:r>
            <a:endParaRPr lang="zh-CN" altLang="en-US" b="1" dirty="0"/>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内容占位符 1"/>
          <p:cNvSpPr>
            <a:spLocks noGrp="1"/>
          </p:cNvSpPr>
          <p:nvPr>
            <p:ph idx="1"/>
          </p:nvPr>
        </p:nvSpPr>
        <p:spPr>
          <a:ln/>
        </p:spPr>
        <p:txBody>
          <a:bodyPr vert="horz" wrap="square" lIns="91221" tIns="45610" rIns="91221" bIns="45610" anchor="t" anchorCtr="0"/>
          <a:p>
            <a:pPr marL="273050" lvl="1" indent="-273050" defTabSz="914400">
              <a:lnSpc>
                <a:spcPct val="120000"/>
              </a:lnSpc>
              <a:buClr>
                <a:srgbClr val="0BD0D9"/>
              </a:buClr>
              <a:buSzPct val="95000"/>
              <a:buFont typeface="Wingdings" panose="05000000000000000000" pitchFamily="2" charset="2"/>
              <a:buChar char="p"/>
              <a:tabLst>
                <a:tab pos="457200" algn="l"/>
              </a:tabLst>
            </a:pPr>
            <a:r>
              <a:rPr lang="zh-CN" altLang="en-US" b="1" dirty="0">
                <a:solidFill>
                  <a:srgbClr val="FF0000"/>
                </a:solidFill>
              </a:rPr>
              <a:t>包（</a:t>
            </a:r>
            <a:r>
              <a:rPr lang="en-US" altLang="zh-CN" b="1" dirty="0">
                <a:solidFill>
                  <a:srgbClr val="FF0000"/>
                </a:solidFill>
              </a:rPr>
              <a:t>package</a:t>
            </a:r>
            <a:r>
              <a:rPr lang="zh-CN" altLang="en-US" b="1" dirty="0">
                <a:solidFill>
                  <a:srgbClr val="FF0000"/>
                </a:solidFill>
              </a:rPr>
              <a:t>）</a:t>
            </a:r>
            <a:r>
              <a:rPr lang="zh-CN" altLang="en-US" b="1" dirty="0"/>
              <a:t>是一种</a:t>
            </a:r>
            <a:r>
              <a:rPr lang="zh-CN" altLang="en-US" b="1" dirty="0">
                <a:solidFill>
                  <a:srgbClr val="FF0000"/>
                </a:solidFill>
              </a:rPr>
              <a:t>逻辑分组手段</a:t>
            </a:r>
            <a:r>
              <a:rPr lang="zh-CN" altLang="en-US" b="1" dirty="0"/>
              <a:t>，可以取</a:t>
            </a:r>
            <a:r>
              <a:rPr lang="en-US" altLang="zh-CN" b="1" dirty="0"/>
              <a:t>UML</a:t>
            </a:r>
            <a:r>
              <a:rPr lang="zh-CN" altLang="en-US" b="1" dirty="0"/>
              <a:t>模型中的任何一种事物，将相关成分聚在一起，以构成更高层的组织单元</a:t>
            </a:r>
            <a:endParaRPr lang="en-US" altLang="zh-CN" b="1" dirty="0"/>
          </a:p>
          <a:p>
            <a:pPr marL="273050" lvl="1" indent="-273050" defTabSz="914400">
              <a:lnSpc>
                <a:spcPct val="120000"/>
              </a:lnSpc>
              <a:buClr>
                <a:srgbClr val="0BD0D9"/>
              </a:buClr>
              <a:buSzPct val="95000"/>
              <a:buFont typeface="Wingdings" panose="05000000000000000000" pitchFamily="2" charset="2"/>
              <a:buChar char="p"/>
              <a:tabLst>
                <a:tab pos="457200" algn="l"/>
              </a:tabLst>
            </a:pPr>
            <a:r>
              <a:rPr lang="zh-CN" altLang="en-US" b="1" dirty="0"/>
              <a:t>最常用的方法是</a:t>
            </a:r>
            <a:r>
              <a:rPr lang="zh-CN" altLang="en-US" b="1" dirty="0">
                <a:solidFill>
                  <a:srgbClr val="FF0000"/>
                </a:solidFill>
              </a:rPr>
              <a:t>将类以包为单位进行分组</a:t>
            </a:r>
            <a:r>
              <a:rPr lang="zh-CN" altLang="en-US" b="1" dirty="0"/>
              <a:t>，比如三层结构中的每一层中的所有类组成一个包</a:t>
            </a:r>
            <a:endParaRPr lang="zh-CN" altLang="en-US" b="1" dirty="0"/>
          </a:p>
          <a:p>
            <a:pPr marL="273050" lvl="1" indent="-273050" defTabSz="914400">
              <a:lnSpc>
                <a:spcPct val="120000"/>
              </a:lnSpc>
              <a:buClr>
                <a:srgbClr val="0BD0D9"/>
              </a:buClr>
              <a:buSzPct val="95000"/>
              <a:buFont typeface="Wingdings" panose="05000000000000000000" pitchFamily="2" charset="2"/>
              <a:buChar char="p"/>
              <a:tabLst>
                <a:tab pos="457200" algn="l"/>
              </a:tabLst>
            </a:pPr>
            <a:r>
              <a:rPr lang="zh-CN" altLang="en-US" b="1" dirty="0"/>
              <a:t>一个包可以包含其它的包，高层包被分成若干子包，子包又可以在分成更小的包</a:t>
            </a:r>
            <a:endParaRPr lang="zh-CN" altLang="en-US" b="1" dirty="0"/>
          </a:p>
          <a:p>
            <a:pPr defTabSz="914400" eaLnBrk="1" hangingPunct="1">
              <a:buFont typeface="Wingdings 2" panose="05020102010507070707" pitchFamily="18" charset="2"/>
              <a:buChar char=""/>
              <a:tabLst>
                <a:tab pos="457200" algn="l"/>
              </a:tabLst>
            </a:pPr>
            <a:endParaRPr lang="zh-CN" altLang="en-US" dirty="0"/>
          </a:p>
        </p:txBody>
      </p:sp>
      <p:sp>
        <p:nvSpPr>
          <p:cNvPr id="4" name="标题 1"/>
          <p:cNvSpPr>
            <a:spLocks noGrp="1"/>
          </p:cNvSpPr>
          <p:nvPr>
            <p:ph type="title"/>
          </p:nvPr>
        </p:nvSpPr>
        <p:spPr>
          <a:xfrm>
            <a:off x="238125" y="469900"/>
            <a:ext cx="8516938" cy="1141413"/>
          </a:xfrm>
        </p:spPr>
        <p:txBody>
          <a:bodyPr vert="horz" wrap="square" lIns="0" tIns="45610" rIns="0" bIns="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1" lang="zh-CN" altLang="en-US" sz="50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软件体系结构的</a:t>
            </a:r>
            <a:r>
              <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建模</a:t>
            </a:r>
            <a:r>
              <a:rPr kumimoji="1" lang="zh-CN" altLang="en-US" sz="5000" b="1" i="0" u="none" strike="noStrike" kern="1200" cap="none" spc="0" normalizeH="0" baseline="0" noProof="0" dirty="0" smtClean="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工具：</a:t>
            </a:r>
            <a:r>
              <a:rPr kumimoji="1" lang="zh-CN" altLang="en-US" sz="5000" b="1" i="0" u="none" strike="noStrike" kern="1200" cap="none" spc="0" normalizeH="0" baseline="0" noProof="0" dirty="0">
                <a:ln>
                  <a:noFill/>
                </a:ln>
                <a:solidFill>
                  <a:srgbClr val="FF0000"/>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包</a:t>
            </a:r>
            <a:endParaRPr kumimoji="1" lang="zh-CN" altLang="en-US" sz="5000" b="1" i="0" u="none" strike="noStrike" kern="1200" cap="none" spc="0" normalizeH="0" baseline="0" noProof="0" dirty="0">
              <a:ln>
                <a:noFill/>
              </a:ln>
              <a:solidFill>
                <a:srgbClr val="FF0000"/>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noRot="1" noChangeArrowheads="1"/>
          </p:cNvSpPr>
          <p:nvPr>
            <p:ph type="title"/>
          </p:nvPr>
        </p:nvSpPr>
        <p:spPr>
          <a:xfrm>
            <a:off x="322263" y="254000"/>
            <a:ext cx="8516938" cy="1141413"/>
          </a:xfrm>
        </p:spPr>
        <p:txBody>
          <a:bodyPr vert="horz" wrap="square" lIns="0" tIns="45610" rIns="0" bIns="0" numCol="1" anchor="b" anchorCtr="0" compatLnSpc="1"/>
          <a:lstStyle/>
          <a:p>
            <a:pPr marL="0" marR="0" lvl="0" indent="0" algn="l" defTabSz="914400" rtl="0" eaLnBrk="1" fontAlgn="auto" latinLnBrk="0" hangingPunct="1">
              <a:lnSpc>
                <a:spcPct val="100000"/>
              </a:lnSpc>
              <a:spcBef>
                <a:spcPct val="0"/>
              </a:spcBef>
              <a:spcAft>
                <a:spcPts val="0"/>
              </a:spcAft>
              <a:buClrTx/>
              <a:buSzTx/>
              <a:buFontTx/>
              <a:buNone/>
              <a:defRPr/>
            </a:pPr>
            <a:r>
              <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包图</a:t>
            </a:r>
            <a:endPar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endParaRPr>
          </a:p>
        </p:txBody>
      </p:sp>
      <p:graphicFrame>
        <p:nvGraphicFramePr>
          <p:cNvPr id="66563" name="Object 3"/>
          <p:cNvGraphicFramePr>
            <a:graphicFrameLocks noGrp="1" noChangeAspect="1"/>
          </p:cNvGraphicFramePr>
          <p:nvPr>
            <p:ph idx="1"/>
          </p:nvPr>
        </p:nvGraphicFramePr>
        <p:xfrm>
          <a:off x="1766888" y="4575175"/>
          <a:ext cx="5727700" cy="2112963"/>
        </p:xfrm>
        <a:graphic>
          <a:graphicData uri="http://schemas.openxmlformats.org/presentationml/2006/ole">
            <mc:AlternateContent xmlns:mc="http://schemas.openxmlformats.org/markup-compatibility/2006">
              <mc:Choice xmlns:v="urn:schemas-microsoft-com:vml" Requires="v">
                <p:oleObj spid="_x0000_s3078" name="" r:id="rId1" imgW="4086225" imgH="1762125" progId="Paint.Picture">
                  <p:embed/>
                </p:oleObj>
              </mc:Choice>
              <mc:Fallback>
                <p:oleObj name="" r:id="rId1" imgW="4086225" imgH="1762125" progId="Paint.Picture">
                  <p:embed/>
                  <p:pic>
                    <p:nvPicPr>
                      <p:cNvPr id="0" name="图片 3077"/>
                      <p:cNvPicPr/>
                      <p:nvPr/>
                    </p:nvPicPr>
                    <p:blipFill>
                      <a:blip r:embed="rId2"/>
                      <a:srcRect/>
                      <a:stretch>
                        <a:fillRect/>
                      </a:stretch>
                    </p:blipFill>
                    <p:spPr>
                      <a:xfrm>
                        <a:off x="1766888" y="4575175"/>
                        <a:ext cx="5727700" cy="2112963"/>
                      </a:xfrm>
                      <a:prstGeom prst="rect">
                        <a:avLst/>
                      </a:prstGeom>
                      <a:noFill/>
                      <a:ln w="38100">
                        <a:miter/>
                      </a:ln>
                    </p:spPr>
                  </p:pic>
                </p:oleObj>
              </mc:Fallback>
            </mc:AlternateContent>
          </a:graphicData>
        </a:graphic>
      </p:graphicFrame>
      <p:sp>
        <p:nvSpPr>
          <p:cNvPr id="17412" name="Rectangle 4"/>
          <p:cNvSpPr>
            <a:spLocks noChangeArrowheads="1"/>
          </p:cNvSpPr>
          <p:nvPr/>
        </p:nvSpPr>
        <p:spPr bwMode="auto">
          <a:xfrm>
            <a:off x="322263" y="1454150"/>
            <a:ext cx="8616950" cy="499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21" tIns="45610" rIns="91221" bIns="45610"/>
          <a:lstStyle/>
          <a:p>
            <a:pPr marL="273050" marR="0" lvl="1" indent="-273050" algn="l" defTabSz="914400" rtl="0" eaLnBrk="0" fontAlgn="base" latinLnBrk="0" hangingPunct="0">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包图用来描述包及其依赖关系，</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用来标识一个完整系统的主要部分</a:t>
            </a:r>
            <a:endParaRPr kumimoji="1"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0" fontAlgn="base" latinLnBrk="0" hangingPunct="0">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在包图中只使用两个符号：一个</a:t>
            </a:r>
            <a:r>
              <a:rPr kumimoji="1"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包的标识符</a:t>
            </a: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，一个</a:t>
            </a:r>
            <a:r>
              <a:rPr kumimoji="1"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虚线箭头</a:t>
            </a: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1"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虚线箭头表示依赖关系</a:t>
            </a: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，箭头的尾部表示被依赖的包，头部是独立的包。</a:t>
            </a:r>
            <a:endParaRPr kumimoji="1"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0" fontAlgn="base" latinLnBrk="0" hangingPunct="0">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包依赖关系可以是直接的，也可以间接的，依赖关系可以传递</a:t>
            </a:r>
            <a:r>
              <a:rPr kumimoji="1"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endParaRPr kumimoji="1"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0" fontAlgn="base" latinLnBrk="0" hangingPunct="0">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endPar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0" fontAlgn="base" latinLnBrk="0" hangingPunct="0">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endPar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7" name="Rectangle 3"/>
          <p:cNvSpPr>
            <a:spLocks noChangeArrowheads="1"/>
          </p:cNvSpPr>
          <p:nvPr/>
        </p:nvSpPr>
        <p:spPr bwMode="auto">
          <a:xfrm>
            <a:off x="122238" y="1838325"/>
            <a:ext cx="8829675"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5959" tIns="164652" rIns="91221" bIns="164652">
            <a:spAutoFit/>
          </a:bodyPr>
          <a:lstStyle/>
          <a:p>
            <a:pPr marL="273050" marR="0" lvl="1" indent="-273050" algn="l" defTabSz="914400" rtl="0" eaLnBrk="0" fontAlgn="base" latinLnBrk="0" hangingPunct="0">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每层对应一个包：</a:t>
            </a:r>
            <a:r>
              <a:rPr kumimoji="1"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用户界面包</a:t>
            </a: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1"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业务处理包</a:t>
            </a: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1"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数据访问包</a:t>
            </a: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endParaRPr kumimoji="1" lang="en-US" altLang="zh-CN"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0" fontAlgn="base" latinLnBrk="0" hangingPunct="0">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再把各层中的一些公共部分提出来：</a:t>
            </a:r>
            <a:r>
              <a:rPr kumimoji="1"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权限管理包</a:t>
            </a: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1"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异常处理包</a:t>
            </a:r>
            <a:endPar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67587" name="Rectangle 5"/>
          <p:cNvSpPr/>
          <p:nvPr/>
        </p:nvSpPr>
        <p:spPr>
          <a:xfrm>
            <a:off x="2103438" y="2205038"/>
            <a:ext cx="9118600" cy="461962"/>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pic>
        <p:nvPicPr>
          <p:cNvPr id="67588" name="Picture 4"/>
          <p:cNvPicPr>
            <a:picLocks noChangeAspect="1"/>
          </p:cNvPicPr>
          <p:nvPr/>
        </p:nvPicPr>
        <p:blipFill>
          <a:blip r:embed="rId1"/>
          <a:stretch>
            <a:fillRect/>
          </a:stretch>
        </p:blipFill>
        <p:spPr>
          <a:xfrm>
            <a:off x="1743075" y="3709988"/>
            <a:ext cx="5222875" cy="2589212"/>
          </a:xfrm>
          <a:prstGeom prst="rect">
            <a:avLst/>
          </a:prstGeom>
          <a:noFill/>
          <a:ln w="9525">
            <a:noFill/>
          </a:ln>
        </p:spPr>
      </p:pic>
      <p:sp>
        <p:nvSpPr>
          <p:cNvPr id="6" name="Rectangle 2"/>
          <p:cNvSpPr txBox="1">
            <a:spLocks noRot="1" noChangeArrowheads="1"/>
          </p:cNvSpPr>
          <p:nvPr/>
        </p:nvSpPr>
        <p:spPr>
          <a:xfrm>
            <a:off x="277813" y="830263"/>
            <a:ext cx="8516938" cy="1141413"/>
          </a:xfrm>
          <a:prstGeom prst="rect">
            <a:avLst/>
          </a:prstGeom>
        </p:spPr>
        <p:txBody>
          <a:bodyPr/>
          <a:lst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2pPr>
            <a:lvl3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3pPr>
            <a:lvl4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4pPr>
            <a:lvl5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5pPr>
            <a:lvl6pPr marL="4572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6pPr>
            <a:lvl7pPr marL="9144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7pPr>
            <a:lvl8pPr marL="13716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8pPr>
            <a:lvl9pPr marL="18288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9pPr>
          </a:lstStyle>
          <a:p>
            <a:pPr marL="0" marR="0" lvl="0" indent="0" algn="l" defTabSz="914400" rtl="0" eaLnBrk="1" fontAlgn="auto" latinLnBrk="0" hangingPunct="1">
              <a:lnSpc>
                <a:spcPct val="100000"/>
              </a:lnSpc>
              <a:spcBef>
                <a:spcPct val="0"/>
              </a:spcBef>
              <a:spcAft>
                <a:spcPts val="0"/>
              </a:spcAft>
              <a:buClrTx/>
              <a:buSzTx/>
              <a:buFont typeface="Wingdings" panose="05000000000000000000" pitchFamily="2" charset="2"/>
              <a:buNone/>
              <a:defRPr/>
            </a:pPr>
            <a:r>
              <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三层架构的包图</a:t>
            </a:r>
            <a:endPar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8610" name="Picture 2"/>
          <p:cNvPicPr>
            <a:picLocks noChangeAspect="1"/>
          </p:cNvPicPr>
          <p:nvPr/>
        </p:nvPicPr>
        <p:blipFill>
          <a:blip r:embed="rId1"/>
          <a:stretch>
            <a:fillRect/>
          </a:stretch>
        </p:blipFill>
        <p:spPr>
          <a:xfrm>
            <a:off x="1174750" y="1679575"/>
            <a:ext cx="5622925" cy="1666875"/>
          </a:xfrm>
          <a:prstGeom prst="rect">
            <a:avLst/>
          </a:prstGeom>
          <a:noFill/>
          <a:ln w="9525">
            <a:noFill/>
          </a:ln>
        </p:spPr>
      </p:pic>
      <p:sp>
        <p:nvSpPr>
          <p:cNvPr id="48133" name="Rectangle 6"/>
          <p:cNvSpPr>
            <a:spLocks noChangeArrowheads="1"/>
          </p:cNvSpPr>
          <p:nvPr/>
        </p:nvSpPr>
        <p:spPr bwMode="auto">
          <a:xfrm>
            <a:off x="974725" y="614363"/>
            <a:ext cx="3389313"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221" tIns="45610" rIns="91221" bIns="45610">
            <a:spAutoFit/>
          </a:bodyPr>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用户界面包</a:t>
            </a:r>
            <a:endPar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endParaRPr>
          </a:p>
        </p:txBody>
      </p:sp>
      <p:sp>
        <p:nvSpPr>
          <p:cNvPr id="68612" name="Rectangle 8"/>
          <p:cNvSpPr/>
          <p:nvPr/>
        </p:nvSpPr>
        <p:spPr>
          <a:xfrm>
            <a:off x="3044825" y="2886075"/>
            <a:ext cx="9118600"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pic>
        <p:nvPicPr>
          <p:cNvPr id="68613" name="Picture 7"/>
          <p:cNvPicPr>
            <a:picLocks noChangeAspect="1"/>
          </p:cNvPicPr>
          <p:nvPr/>
        </p:nvPicPr>
        <p:blipFill>
          <a:blip r:embed="rId2"/>
          <a:stretch>
            <a:fillRect/>
          </a:stretch>
        </p:blipFill>
        <p:spPr>
          <a:xfrm>
            <a:off x="1744663" y="3746500"/>
            <a:ext cx="4483100" cy="1589088"/>
          </a:xfrm>
          <a:prstGeom prst="rect">
            <a:avLst/>
          </a:prstGeom>
          <a:noFill/>
          <a:ln w="9525">
            <a:noFill/>
          </a:ln>
        </p:spPr>
      </p:pic>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3"/>
          <p:cNvSpPr/>
          <p:nvPr/>
        </p:nvSpPr>
        <p:spPr>
          <a:xfrm>
            <a:off x="3044825" y="2886075"/>
            <a:ext cx="9118600"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49155" name="Rectangle 4"/>
          <p:cNvSpPr>
            <a:spLocks noChangeArrowheads="1"/>
          </p:cNvSpPr>
          <p:nvPr/>
        </p:nvSpPr>
        <p:spPr bwMode="auto">
          <a:xfrm>
            <a:off x="360363" y="474663"/>
            <a:ext cx="5173663"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21" tIns="45610" rIns="91221" bIns="45610">
            <a:spAutoFit/>
          </a:bodyPr>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业务处理包 </a:t>
            </a:r>
            <a:endPar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endParaRPr>
          </a:p>
        </p:txBody>
      </p:sp>
      <p:sp>
        <p:nvSpPr>
          <p:cNvPr id="69636" name="Rectangle 6"/>
          <p:cNvSpPr/>
          <p:nvPr/>
        </p:nvSpPr>
        <p:spPr>
          <a:xfrm>
            <a:off x="2298700" y="2962275"/>
            <a:ext cx="9118600"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pic>
        <p:nvPicPr>
          <p:cNvPr id="69637" name="Picture 5"/>
          <p:cNvPicPr>
            <a:picLocks noChangeAspect="1"/>
          </p:cNvPicPr>
          <p:nvPr/>
        </p:nvPicPr>
        <p:blipFill>
          <a:blip r:embed="rId1"/>
          <a:stretch>
            <a:fillRect/>
          </a:stretch>
        </p:blipFill>
        <p:spPr>
          <a:xfrm>
            <a:off x="887413" y="1712913"/>
            <a:ext cx="6230937" cy="1270000"/>
          </a:xfrm>
          <a:prstGeom prst="rect">
            <a:avLst/>
          </a:prstGeom>
          <a:noFill/>
          <a:ln w="9525">
            <a:noFill/>
          </a:ln>
        </p:spPr>
      </p:pic>
      <p:sp>
        <p:nvSpPr>
          <p:cNvPr id="69638" name="Rectangle 9"/>
          <p:cNvSpPr/>
          <p:nvPr/>
        </p:nvSpPr>
        <p:spPr>
          <a:xfrm>
            <a:off x="2405063" y="1625600"/>
            <a:ext cx="9118600" cy="461963"/>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pic>
        <p:nvPicPr>
          <p:cNvPr id="69639" name="Picture 8"/>
          <p:cNvPicPr>
            <a:picLocks noChangeAspect="1"/>
          </p:cNvPicPr>
          <p:nvPr/>
        </p:nvPicPr>
        <p:blipFill>
          <a:blip r:embed="rId2"/>
          <a:stretch>
            <a:fillRect/>
          </a:stretch>
        </p:blipFill>
        <p:spPr>
          <a:xfrm>
            <a:off x="1798638" y="3327400"/>
            <a:ext cx="4406900" cy="1422400"/>
          </a:xfrm>
          <a:prstGeom prst="rect">
            <a:avLst/>
          </a:prstGeom>
          <a:noFill/>
          <a:ln w="9525">
            <a:noFill/>
          </a:ln>
        </p:spPr>
      </p:pic>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ChangeArrowheads="1"/>
          </p:cNvSpPr>
          <p:nvPr/>
        </p:nvSpPr>
        <p:spPr bwMode="auto">
          <a:xfrm>
            <a:off x="538163" y="404813"/>
            <a:ext cx="4452938"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21" tIns="45610" rIns="91221" bIns="45610">
            <a:spAutoFit/>
          </a:bodyPr>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数据访问包 </a:t>
            </a:r>
            <a:endPar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endParaRPr>
          </a:p>
        </p:txBody>
      </p:sp>
      <p:pic>
        <p:nvPicPr>
          <p:cNvPr id="70659" name="Picture 3"/>
          <p:cNvPicPr>
            <a:picLocks noChangeAspect="1"/>
          </p:cNvPicPr>
          <p:nvPr/>
        </p:nvPicPr>
        <p:blipFill>
          <a:blip r:embed="rId1"/>
          <a:stretch>
            <a:fillRect/>
          </a:stretch>
        </p:blipFill>
        <p:spPr>
          <a:xfrm>
            <a:off x="1338263" y="1622425"/>
            <a:ext cx="5091112" cy="1160463"/>
          </a:xfrm>
          <a:prstGeom prst="rect">
            <a:avLst/>
          </a:prstGeom>
          <a:noFill/>
          <a:ln w="9525">
            <a:noFill/>
          </a:ln>
        </p:spPr>
      </p:pic>
      <p:pic>
        <p:nvPicPr>
          <p:cNvPr id="70660" name="Picture 6"/>
          <p:cNvPicPr>
            <a:picLocks noChangeAspect="1"/>
          </p:cNvPicPr>
          <p:nvPr/>
        </p:nvPicPr>
        <p:blipFill>
          <a:blip r:embed="rId2"/>
          <a:stretch>
            <a:fillRect/>
          </a:stretch>
        </p:blipFill>
        <p:spPr>
          <a:xfrm>
            <a:off x="1223963" y="3206750"/>
            <a:ext cx="5319712" cy="1631950"/>
          </a:xfrm>
          <a:prstGeom prst="rect">
            <a:avLst/>
          </a:prstGeom>
          <a:noFill/>
          <a:ln w="9525">
            <a:noFill/>
          </a:ln>
        </p:spPr>
      </p:pic>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4"/>
          <p:cNvSpPr/>
          <p:nvPr/>
        </p:nvSpPr>
        <p:spPr>
          <a:xfrm>
            <a:off x="2522538" y="2962275"/>
            <a:ext cx="9118600"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pic>
        <p:nvPicPr>
          <p:cNvPr id="71683" name="Picture 3"/>
          <p:cNvPicPr>
            <a:picLocks noChangeAspect="1"/>
          </p:cNvPicPr>
          <p:nvPr/>
        </p:nvPicPr>
        <p:blipFill>
          <a:blip r:embed="rId1"/>
          <a:stretch>
            <a:fillRect/>
          </a:stretch>
        </p:blipFill>
        <p:spPr>
          <a:xfrm>
            <a:off x="1606550" y="1457325"/>
            <a:ext cx="5608638" cy="1268413"/>
          </a:xfrm>
          <a:prstGeom prst="rect">
            <a:avLst/>
          </a:prstGeom>
          <a:noFill/>
          <a:ln w="9525">
            <a:noFill/>
          </a:ln>
        </p:spPr>
      </p:pic>
      <p:sp>
        <p:nvSpPr>
          <p:cNvPr id="71684" name="Rectangle 7"/>
          <p:cNvSpPr/>
          <p:nvPr/>
        </p:nvSpPr>
        <p:spPr>
          <a:xfrm>
            <a:off x="2117725" y="1195388"/>
            <a:ext cx="9118600"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pic>
        <p:nvPicPr>
          <p:cNvPr id="71685" name="Picture 6"/>
          <p:cNvPicPr>
            <a:picLocks noChangeAspect="1"/>
          </p:cNvPicPr>
          <p:nvPr/>
        </p:nvPicPr>
        <p:blipFill>
          <a:blip r:embed="rId2"/>
          <a:stretch>
            <a:fillRect/>
          </a:stretch>
        </p:blipFill>
        <p:spPr>
          <a:xfrm>
            <a:off x="2017713" y="2962275"/>
            <a:ext cx="4787900" cy="3251200"/>
          </a:xfrm>
          <a:prstGeom prst="rect">
            <a:avLst/>
          </a:prstGeom>
          <a:noFill/>
          <a:ln w="9525">
            <a:noFill/>
          </a:ln>
        </p:spPr>
      </p:pic>
      <p:sp>
        <p:nvSpPr>
          <p:cNvPr id="9" name="Rectangle 2"/>
          <p:cNvSpPr>
            <a:spLocks noChangeArrowheads="1"/>
          </p:cNvSpPr>
          <p:nvPr/>
        </p:nvSpPr>
        <p:spPr bwMode="auto">
          <a:xfrm>
            <a:off x="671513" y="419100"/>
            <a:ext cx="4452938"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21" tIns="45610" rIns="91221" bIns="45610">
            <a:spAutoFit/>
          </a:bodyPr>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权限管理包 </a:t>
            </a:r>
            <a:endPar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ChangeArrowheads="1"/>
          </p:cNvSpPr>
          <p:nvPr/>
        </p:nvSpPr>
        <p:spPr bwMode="auto">
          <a:xfrm>
            <a:off x="682625" y="547688"/>
            <a:ext cx="4956175"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21" tIns="45610" rIns="91221" bIns="45610">
            <a:spAutoFit/>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rPr>
              <a:t>异常处理包 </a:t>
            </a:r>
            <a:endParaRPr kumimoji="1" lang="zh-CN" altLang="en-US" sz="5000" b="1" i="0" u="none" strike="noStrike" kern="1200" cap="none" spc="0" normalizeH="0" baseline="0" noProof="0" dirty="0">
              <a:ln>
                <a:noFill/>
              </a:ln>
              <a:solidFill>
                <a:schemeClr val="tx2"/>
              </a:solidFill>
              <a:effectLst>
                <a:outerShdw blurRad="31750" dist="25400" dir="5400000" algn="tl" rotWithShape="0">
                  <a:srgbClr val="000000">
                    <a:alpha val="25000"/>
                  </a:srgbClr>
                </a:outerShdw>
              </a:effectLst>
              <a:uLnTx/>
              <a:uFillTx/>
              <a:latin typeface="微软雅黑" panose="020B0503020204020204" pitchFamily="34" charset="-122"/>
              <a:ea typeface="微软雅黑" panose="020B0503020204020204" pitchFamily="34" charset="-122"/>
              <a:cs typeface="+mj-cs"/>
            </a:endParaRPr>
          </a:p>
        </p:txBody>
      </p:sp>
      <p:sp>
        <p:nvSpPr>
          <p:cNvPr id="72707" name="Rectangle 4"/>
          <p:cNvSpPr/>
          <p:nvPr/>
        </p:nvSpPr>
        <p:spPr>
          <a:xfrm>
            <a:off x="2365375" y="2962275"/>
            <a:ext cx="9118600"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pic>
        <p:nvPicPr>
          <p:cNvPr id="72708" name="Picture 3"/>
          <p:cNvPicPr>
            <a:picLocks noChangeAspect="1"/>
          </p:cNvPicPr>
          <p:nvPr/>
        </p:nvPicPr>
        <p:blipFill>
          <a:blip r:embed="rId1"/>
          <a:stretch>
            <a:fillRect/>
          </a:stretch>
        </p:blipFill>
        <p:spPr>
          <a:xfrm>
            <a:off x="1289050" y="1581150"/>
            <a:ext cx="5635625" cy="1185863"/>
          </a:xfrm>
          <a:prstGeom prst="rect">
            <a:avLst/>
          </a:prstGeom>
          <a:noFill/>
          <a:ln w="9525">
            <a:noFill/>
          </a:ln>
        </p:spPr>
      </p:pic>
      <p:sp>
        <p:nvSpPr>
          <p:cNvPr id="72709" name="Rectangle 7"/>
          <p:cNvSpPr/>
          <p:nvPr/>
        </p:nvSpPr>
        <p:spPr>
          <a:xfrm>
            <a:off x="1985963" y="2519363"/>
            <a:ext cx="9118600" cy="461962"/>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pic>
        <p:nvPicPr>
          <p:cNvPr id="72710" name="Picture 6"/>
          <p:cNvPicPr>
            <a:picLocks noChangeAspect="1"/>
          </p:cNvPicPr>
          <p:nvPr/>
        </p:nvPicPr>
        <p:blipFill>
          <a:blip r:embed="rId2"/>
          <a:stretch>
            <a:fillRect/>
          </a:stretch>
        </p:blipFill>
        <p:spPr>
          <a:xfrm>
            <a:off x="95250" y="2962275"/>
            <a:ext cx="8189913" cy="3379788"/>
          </a:xfrm>
          <a:prstGeom prst="rect">
            <a:avLst/>
          </a:prstGeom>
          <a:noFill/>
          <a:ln w="9525">
            <a:noFill/>
          </a:ln>
        </p:spPr>
      </p:pic>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4"/>
          <p:cNvSpPr/>
          <p:nvPr/>
        </p:nvSpPr>
        <p:spPr>
          <a:xfrm>
            <a:off x="1933575" y="1003300"/>
            <a:ext cx="9118600" cy="461963"/>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pic>
        <p:nvPicPr>
          <p:cNvPr id="73731" name="Picture 3"/>
          <p:cNvPicPr>
            <a:picLocks noChangeAspect="1"/>
          </p:cNvPicPr>
          <p:nvPr/>
        </p:nvPicPr>
        <p:blipFill>
          <a:blip r:embed="rId1"/>
          <a:stretch>
            <a:fillRect/>
          </a:stretch>
        </p:blipFill>
        <p:spPr>
          <a:xfrm>
            <a:off x="1030288" y="98425"/>
            <a:ext cx="7446962" cy="6861175"/>
          </a:xfrm>
          <a:prstGeom prst="rect">
            <a:avLst/>
          </a:prstGeom>
          <a:noFill/>
          <a:ln w="9525">
            <a:noFill/>
          </a:ln>
        </p:spPr>
      </p:pic>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内容占位符 2"/>
          <p:cNvSpPr>
            <a:spLocks noGrp="1"/>
          </p:cNvSpPr>
          <p:nvPr>
            <p:ph idx="1"/>
          </p:nvPr>
        </p:nvSpPr>
        <p:spPr>
          <a:ln/>
        </p:spPr>
        <p:txBody>
          <a:bodyPr vert="horz" wrap="square" lIns="91221" tIns="45610" rIns="91221" bIns="45610" anchor="t" anchorCtr="0"/>
          <a:p>
            <a:pPr marL="273050" lvl="1" indent="-273050" defTabSz="914400" eaLnBrk="1" hangingPunct="1">
              <a:lnSpc>
                <a:spcPct val="130000"/>
              </a:lnSpc>
              <a:buClr>
                <a:srgbClr val="0BD0D9"/>
              </a:buClr>
              <a:buSzPct val="95000"/>
              <a:buFont typeface="Wingdings" panose="05000000000000000000" pitchFamily="2" charset="2"/>
              <a:buChar char="p"/>
              <a:tabLst>
                <a:tab pos="457200" algn="l"/>
              </a:tabLst>
            </a:pPr>
            <a:r>
              <a:rPr lang="zh-CN" altLang="en-US" sz="2800" b="1" dirty="0"/>
              <a:t>指出系统中的</a:t>
            </a:r>
            <a:r>
              <a:rPr lang="zh-CN" altLang="en-US" sz="2800" b="1" dirty="0">
                <a:solidFill>
                  <a:srgbClr val="FF0000"/>
                </a:solidFill>
              </a:rPr>
              <a:t>类和对象涉及的具体程序或进程</a:t>
            </a:r>
            <a:r>
              <a:rPr lang="zh-CN" altLang="en-US" sz="2800" b="1" dirty="0"/>
              <a:t>。</a:t>
            </a:r>
            <a:endParaRPr lang="zh-CN" altLang="en-US" sz="2800" b="1" dirty="0"/>
          </a:p>
          <a:p>
            <a:pPr marL="273050" lvl="1" indent="-273050" defTabSz="914400" eaLnBrk="1" hangingPunct="1">
              <a:lnSpc>
                <a:spcPct val="130000"/>
              </a:lnSpc>
              <a:buClr>
                <a:srgbClr val="0BD0D9"/>
              </a:buClr>
              <a:buSzPct val="95000"/>
              <a:buFont typeface="Wingdings" panose="05000000000000000000" pitchFamily="2" charset="2"/>
              <a:buChar char="p"/>
              <a:tabLst>
                <a:tab pos="457200" algn="l"/>
              </a:tabLst>
            </a:pPr>
            <a:r>
              <a:rPr lang="zh-CN" altLang="en-US" sz="2800" b="1" dirty="0"/>
              <a:t>指明系统中</a:t>
            </a:r>
            <a:r>
              <a:rPr lang="zh-CN" altLang="en-US" sz="2800" b="1" dirty="0">
                <a:solidFill>
                  <a:srgbClr val="FF0000"/>
                </a:solidFill>
              </a:rPr>
              <a:t>配置的计算机和其他硬件设备</a:t>
            </a:r>
            <a:r>
              <a:rPr lang="zh-CN" altLang="en-US" sz="2800" b="1" dirty="0"/>
              <a:t>。</a:t>
            </a:r>
            <a:endParaRPr lang="zh-CN" altLang="en-US" sz="2800" b="1" dirty="0"/>
          </a:p>
          <a:p>
            <a:pPr marL="273050" lvl="1" indent="-273050" defTabSz="914400" eaLnBrk="1" hangingPunct="1">
              <a:lnSpc>
                <a:spcPct val="130000"/>
              </a:lnSpc>
              <a:buClr>
                <a:srgbClr val="0BD0D9"/>
              </a:buClr>
              <a:buSzPct val="95000"/>
              <a:buFont typeface="Wingdings" panose="05000000000000000000" pitchFamily="2" charset="2"/>
              <a:buChar char="p"/>
              <a:tabLst>
                <a:tab pos="457200" algn="l"/>
              </a:tabLst>
            </a:pPr>
            <a:r>
              <a:rPr lang="zh-CN" altLang="en-US" sz="2800" b="1" dirty="0"/>
              <a:t>指明系统中各种计算机和硬件设备如何进行相互连接。</a:t>
            </a:r>
            <a:endParaRPr lang="zh-CN" altLang="en-US" sz="2800" b="1" dirty="0"/>
          </a:p>
          <a:p>
            <a:pPr marL="273050" lvl="1" indent="-273050" defTabSz="914400" eaLnBrk="1" hangingPunct="1">
              <a:lnSpc>
                <a:spcPct val="130000"/>
              </a:lnSpc>
              <a:buClr>
                <a:srgbClr val="0BD0D9"/>
              </a:buClr>
              <a:buSzPct val="95000"/>
              <a:buFont typeface="Wingdings" panose="05000000000000000000" pitchFamily="2" charset="2"/>
              <a:buChar char="p"/>
              <a:tabLst>
                <a:tab pos="457200" algn="l"/>
              </a:tabLst>
            </a:pPr>
            <a:r>
              <a:rPr lang="zh-CN" altLang="en-US" sz="2800" b="1" dirty="0"/>
              <a:t>明确不同代码文件之间的相互依赖关系。</a:t>
            </a:r>
            <a:endParaRPr lang="zh-CN" altLang="en-US" sz="2800" b="1" dirty="0"/>
          </a:p>
        </p:txBody>
      </p:sp>
      <p:sp>
        <p:nvSpPr>
          <p:cNvPr id="74755" name="标题 1"/>
          <p:cNvSpPr>
            <a:spLocks noGrp="1"/>
          </p:cNvSpPr>
          <p:nvPr>
            <p:ph type="title"/>
          </p:nvPr>
        </p:nvSpPr>
        <p:spPr>
          <a:xfrm>
            <a:off x="455613" y="542925"/>
            <a:ext cx="8207375"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硬件体系结构设计</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5778" name="内容占位符 3"/>
          <p:cNvPicPr>
            <a:picLocks noGrp="1" noChangeAspect="1"/>
          </p:cNvPicPr>
          <p:nvPr>
            <p:ph idx="1"/>
          </p:nvPr>
        </p:nvPicPr>
        <p:blipFill>
          <a:blip r:embed="rId1"/>
          <a:srcRect/>
          <a:stretch>
            <a:fillRect/>
          </a:stretch>
        </p:blipFill>
        <p:spPr>
          <a:xfrm>
            <a:off x="814388" y="2054225"/>
            <a:ext cx="8029575" cy="4024313"/>
          </a:xfrm>
          <a:ln/>
        </p:spPr>
      </p:pic>
      <p:sp>
        <p:nvSpPr>
          <p:cNvPr id="75779" name="标题 2"/>
          <p:cNvSpPr>
            <a:spLocks noGrp="1"/>
          </p:cNvSpPr>
          <p:nvPr>
            <p:ph type="title"/>
          </p:nvPr>
        </p:nvSpPr>
        <p:spPr>
          <a:xfrm>
            <a:off x="455613" y="542925"/>
            <a:ext cx="7991475"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硬件体系结构设计：部署图</a:t>
            </a:r>
            <a:endParaRPr lang="zh-CN" altLang="en-US" b="1" dirty="0">
              <a:latin typeface="微软雅黑" panose="020B0503020204020204" pitchFamily="34" charset="-122"/>
              <a:ea typeface="微软雅黑" panose="020B0503020204020204" pitchFamily="34" charset="-122"/>
            </a:endParaRPr>
          </a:p>
        </p:txBody>
      </p:sp>
      <p:sp>
        <p:nvSpPr>
          <p:cNvPr id="2" name="矩形 1"/>
          <p:cNvSpPr/>
          <p:nvPr/>
        </p:nvSpPr>
        <p:spPr>
          <a:xfrm>
            <a:off x="958850" y="5726113"/>
            <a:ext cx="7777163" cy="95567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2800" b="1" dirty="0">
                <a:solidFill>
                  <a:srgbClr val="FF0000"/>
                </a:solidFill>
                <a:latin typeface="黑体" panose="02010609060101010101" pitchFamily="49" charset="-122"/>
                <a:ea typeface="楷体_GB2312" pitchFamily="49" charset="-122"/>
              </a:rPr>
              <a:t>并不是所有的系统都需要建立配置图，一个单机系统只需建立包图或构件图</a:t>
            </a:r>
            <a:endParaRPr lang="zh-CN" altLang="en-US" sz="28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96260" name="Text Box 4"/>
          <p:cNvSpPr txBox="1">
            <a:spLocks noChangeArrowheads="1"/>
          </p:cNvSpPr>
          <p:nvPr/>
        </p:nvSpPr>
        <p:spPr bwMode="auto">
          <a:xfrm>
            <a:off x="2830513" y="658813"/>
            <a:ext cx="2808288" cy="536575"/>
          </a:xfrm>
          <a:prstGeom prst="rect">
            <a:avLst/>
          </a:prstGeom>
          <a:noFill/>
          <a:ln w="9525">
            <a:noFill/>
            <a:miter lim="800000"/>
          </a:ln>
          <a:effectLst/>
        </p:spPr>
        <p:txBody>
          <a:bodyPr lIns="0" tIns="0" rIns="0" bIns="0">
            <a:spAutoFit/>
          </a:bodyPr>
          <a:lstStyle/>
          <a:p>
            <a:pPr marR="0" defTabSz="914400" eaLnBrk="1" hangingPunct="1">
              <a:lnSpc>
                <a:spcPts val="4000"/>
              </a:lnSpc>
              <a:buClrTx/>
              <a:buSzTx/>
              <a:buFontTx/>
              <a:buNone/>
              <a:defRPr/>
            </a:pPr>
            <a:r>
              <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内容提纲</a:t>
            </a:r>
            <a:endPar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
        <p:nvSpPr>
          <p:cNvPr id="14340" name="Text Box 5"/>
          <p:cNvSpPr txBox="1">
            <a:spLocks noChangeArrowheads="1"/>
          </p:cNvSpPr>
          <p:nvPr/>
        </p:nvSpPr>
        <p:spPr bwMode="auto">
          <a:xfrm>
            <a:off x="765175" y="1406525"/>
            <a:ext cx="7897813" cy="324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73050" indent="-27305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1pPr>
            <a:lvl2pPr marL="273050" indent="-27305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2pPr>
            <a:lvl3pPr indent="-45720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9pPr>
          </a:lstStyle>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3200" b="1" i="0" u="none" strike="noStrike" kern="1200" cap="none" spc="0" normalizeH="0" baseline="0" noProof="0" dirty="0" smtClean="0">
                <a:ln>
                  <a:noFill/>
                </a:ln>
                <a:solidFill>
                  <a:srgbClr val="FF0000"/>
                </a:solidFill>
                <a:effectLst/>
                <a:uLnTx/>
                <a:uFillTx/>
                <a:latin typeface="Constantia" panose="02030602050306030303" pitchFamily="18" charset="0"/>
                <a:ea typeface="宋体" panose="02010600030101010101" pitchFamily="2" charset="-122"/>
                <a:cs typeface="+mn-cs"/>
              </a:rPr>
              <a:t>回答两个问题</a:t>
            </a:r>
            <a:r>
              <a:rPr kumimoji="1" lang="zh-CN" altLang="en-US" sz="3200" b="1" i="0" u="none" strike="noStrike" kern="1200" cap="none" spc="0" normalizeH="0" baseline="0" noProof="0" dirty="0" smtClean="0">
                <a:ln>
                  <a:noFill/>
                </a:ln>
                <a:solidFill>
                  <a:schemeClr val="tx1"/>
                </a:solidFill>
                <a:effectLst/>
                <a:uLnTx/>
                <a:uFillTx/>
                <a:latin typeface="Constantia" panose="02030602050306030303" pitchFamily="18" charset="0"/>
                <a:ea typeface="宋体" panose="02010600030101010101" pitchFamily="2" charset="-122"/>
                <a:cs typeface="+mn-cs"/>
              </a:rPr>
              <a:t>：</a:t>
            </a:r>
            <a:endParaRPr kumimoji="1" lang="en-US" altLang="zh-CN" sz="3200" b="1" i="0" u="none" strike="noStrike" kern="1200" cap="none" spc="0" normalizeH="0" baseline="0" noProof="0" dirty="0" smtClean="0">
              <a:ln>
                <a:noFill/>
              </a:ln>
              <a:solidFill>
                <a:schemeClr val="tx1"/>
              </a:solidFill>
              <a:effectLst/>
              <a:uLnTx/>
              <a:uFillTx/>
              <a:latin typeface="Constantia" panose="02030602050306030303" pitchFamily="18" charset="0"/>
              <a:ea typeface="宋体" panose="02010600030101010101" pitchFamily="2" charset="-122"/>
              <a:cs typeface="+mn-cs"/>
            </a:endParaRPr>
          </a:p>
          <a:p>
            <a:pPr marL="641350" marR="0" lvl="1" indent="-45720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Ø"/>
              <a:tabLst>
                <a:tab pos="457200" algn="l"/>
              </a:tabLst>
              <a:defRPr/>
            </a:pPr>
            <a:r>
              <a:rPr kumimoji="1" lang="en-US" altLang="zh-CN" sz="3200" b="1" i="0" u="none" strike="noStrike" kern="1200" cap="none" spc="0" normalizeH="0" baseline="0" noProof="0" dirty="0" smtClean="0">
                <a:ln>
                  <a:noFill/>
                </a:ln>
                <a:solidFill>
                  <a:srgbClr val="FF0000"/>
                </a:solidFill>
                <a:effectLst/>
                <a:uLnTx/>
                <a:uFillTx/>
                <a:latin typeface="Constantia" panose="02030602050306030303" pitchFamily="18" charset="0"/>
                <a:ea typeface="宋体" panose="02010600030101010101" pitchFamily="2" charset="-122"/>
                <a:cs typeface="+mn-cs"/>
              </a:rPr>
              <a:t>1</a:t>
            </a:r>
            <a:r>
              <a:rPr kumimoji="1" lang="zh-CN" altLang="en-US" sz="3200" b="1" i="0" u="none" strike="noStrike" kern="1200" cap="none" spc="0" normalizeH="0" baseline="0" noProof="0" dirty="0" smtClean="0">
                <a:ln>
                  <a:noFill/>
                </a:ln>
                <a:solidFill>
                  <a:srgbClr val="FF0000"/>
                </a:solidFill>
                <a:effectLst/>
                <a:uLnTx/>
                <a:uFillTx/>
                <a:latin typeface="Constantia" panose="02030602050306030303" pitchFamily="18" charset="0"/>
                <a:ea typeface="宋体" panose="02010600030101010101" pitchFamily="2" charset="-122"/>
                <a:cs typeface="+mn-cs"/>
              </a:rPr>
              <a:t>）对于大型系统如何进行设计？</a:t>
            </a:r>
            <a:endParaRPr kumimoji="1" lang="en-US" altLang="zh-CN" sz="3200" b="1" i="0" u="none" strike="noStrike" kern="1200" cap="none" spc="0" normalizeH="0" baseline="0" noProof="0" dirty="0" smtClean="0">
              <a:ln>
                <a:noFill/>
              </a:ln>
              <a:solidFill>
                <a:srgbClr val="FF0000"/>
              </a:solidFill>
              <a:effectLst/>
              <a:uLnTx/>
              <a:uFillTx/>
              <a:latin typeface="Constantia" panose="02030602050306030303" pitchFamily="18" charset="0"/>
              <a:ea typeface="宋体" panose="02010600030101010101" pitchFamily="2" charset="-122"/>
              <a:cs typeface="+mn-cs"/>
            </a:endParaRPr>
          </a:p>
          <a:p>
            <a:pPr marL="641350" marR="0" lvl="1" indent="-45720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Ø"/>
              <a:tabLst>
                <a:tab pos="457200" algn="l"/>
              </a:tabLst>
              <a:defRPr/>
            </a:pPr>
            <a:r>
              <a:rPr kumimoji="1" lang="en-US" altLang="zh-CN" sz="3200" b="1" i="0" u="none" strike="noStrike" kern="1200" cap="none" spc="0" normalizeH="0" baseline="0" noProof="0" dirty="0" smtClean="0">
                <a:ln>
                  <a:noFill/>
                </a:ln>
                <a:solidFill>
                  <a:schemeClr val="tx1"/>
                </a:solidFill>
                <a:effectLst/>
                <a:uLnTx/>
                <a:uFillTx/>
                <a:latin typeface="Constantia" panose="02030602050306030303" pitchFamily="18" charset="0"/>
                <a:ea typeface="宋体" panose="02010600030101010101" pitchFamily="2" charset="-122"/>
                <a:cs typeface="+mn-cs"/>
              </a:rPr>
              <a:t>2</a:t>
            </a:r>
            <a:r>
              <a:rPr kumimoji="1" lang="zh-CN" altLang="en-US" sz="3200" b="1" i="0" u="none" strike="noStrike" kern="1200" cap="none" spc="0" normalizeH="0" baseline="0" noProof="0" dirty="0" smtClean="0">
                <a:ln>
                  <a:noFill/>
                </a:ln>
                <a:solidFill>
                  <a:schemeClr val="tx1"/>
                </a:solidFill>
                <a:effectLst/>
                <a:uLnTx/>
                <a:uFillTx/>
                <a:latin typeface="Constantia" panose="02030602050306030303" pitchFamily="18" charset="0"/>
                <a:ea typeface="宋体" panose="02010600030101010101" pitchFamily="2" charset="-122"/>
                <a:cs typeface="+mn-cs"/>
              </a:rPr>
              <a:t>）概要设计完了之后，系统的详细设计做什么？</a:t>
            </a:r>
            <a:endParaRPr kumimoji="1" lang="en-US" altLang="zh-CN" sz="3200" b="1" i="0" u="none" strike="noStrike" kern="1200" cap="none" spc="0" normalizeH="0" baseline="0" noProof="0" dirty="0">
              <a:ln>
                <a:noFill/>
              </a:ln>
              <a:solidFill>
                <a:schemeClr val="tx1"/>
              </a:solidFill>
              <a:effectLst/>
              <a:uLnTx/>
              <a:uFillTx/>
              <a:latin typeface="Constantia" panose="02030602050306030303" pitchFamily="18" charset="0"/>
              <a:ea typeface="宋体" panose="02010600030101010101" pitchFamily="2" charset="-122"/>
              <a:cs typeface="+mn-cs"/>
            </a:endParaRPr>
          </a:p>
          <a:p>
            <a:pPr marL="641350" marR="0" lvl="1" indent="-45720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Ø"/>
              <a:tabLst>
                <a:tab pos="457200" algn="l"/>
              </a:tabLst>
              <a:defRPr/>
            </a:pPr>
            <a:r>
              <a:rPr kumimoji="1" lang="en-US" altLang="zh-CN" sz="3200" b="1" i="0" u="none" strike="noStrike" kern="1200" cap="none" spc="0" normalizeH="0" baseline="0" noProof="0" dirty="0" smtClean="0">
                <a:ln>
                  <a:noFill/>
                </a:ln>
                <a:solidFill>
                  <a:schemeClr val="tx1"/>
                </a:solidFill>
                <a:effectLst/>
                <a:uLnTx/>
                <a:uFillTx/>
                <a:latin typeface="Constantia" panose="02030602050306030303" pitchFamily="18" charset="0"/>
                <a:ea typeface="宋体" panose="02010600030101010101" pitchFamily="2" charset="-122"/>
                <a:cs typeface="+mn-cs"/>
              </a:rPr>
              <a:t>3</a:t>
            </a:r>
            <a:r>
              <a:rPr kumimoji="1" lang="zh-CN" altLang="en-US" sz="3200" b="1" i="0" u="none" strike="noStrike" kern="1200" cap="none" spc="0" normalizeH="0" baseline="0" noProof="0" dirty="0" smtClean="0">
                <a:ln>
                  <a:noFill/>
                </a:ln>
                <a:solidFill>
                  <a:schemeClr val="tx1"/>
                </a:solidFill>
                <a:effectLst/>
                <a:uLnTx/>
                <a:uFillTx/>
                <a:latin typeface="Constantia" panose="02030602050306030303" pitchFamily="18" charset="0"/>
                <a:ea typeface="宋体" panose="02010600030101010101" pitchFamily="2" charset="-122"/>
                <a:cs typeface="+mn-cs"/>
              </a:rPr>
              <a:t>）在确定类与类之间关系的过程中，有没有更好的指导方法？</a:t>
            </a:r>
            <a:endParaRPr kumimoji="1" lang="en-US" altLang="zh-CN" sz="3200" b="1" i="0" u="none" strike="noStrike" kern="1200" cap="none" spc="0" normalizeH="0" baseline="0" noProof="0" dirty="0" smtClean="0">
              <a:ln>
                <a:noFill/>
              </a:ln>
              <a:solidFill>
                <a:schemeClr val="tx1"/>
              </a:solidFill>
              <a:effectLst/>
              <a:uLnTx/>
              <a:uFillTx/>
              <a:latin typeface="Constantia" panose="02030602050306030303" pitchFamily="18" charset="0"/>
              <a:ea typeface="宋体" panose="02010600030101010101" pitchFamily="2" charset="-122"/>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内容占位符 2"/>
          <p:cNvSpPr>
            <a:spLocks noGrp="1"/>
          </p:cNvSpPr>
          <p:nvPr>
            <p:ph idx="1"/>
          </p:nvPr>
        </p:nvSpPr>
        <p:spPr/>
        <p:txBody>
          <a:bodyPr vert="horz" wrap="square" lIns="91221" tIns="45610" rIns="91221" bIns="45610" numCol="1" anchor="t" anchorCtr="0" compatLnSpc="1"/>
          <a:lstStyle/>
          <a:p>
            <a:pPr marL="273050" marR="0" lvl="0"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主要包括</a:t>
            </a:r>
            <a:r>
              <a:rPr kumimoji="1"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对象设计</a:t>
            </a:r>
            <a:r>
              <a:rPr kumimoji="1"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和</a:t>
            </a:r>
            <a:r>
              <a:rPr kumimoji="1" lang="zh-CN" altLang="en-US"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对象持久化设计（数据库设计）</a:t>
            </a:r>
            <a:endParaRPr kumimoji="1" lang="en-US" altLang="zh-CN"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对象设计：</a:t>
            </a:r>
            <a:endParaRPr kumimoji="1" lang="en-US" altLang="zh-CN"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tabLst>
                <a:tab pos="457200" algn="l"/>
              </a:tabLst>
              <a:defRPr/>
            </a:pPr>
            <a:r>
              <a:rPr kumimoji="1" lang="en-US" altLang="zh-CN"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 </a:t>
            </a:r>
            <a:r>
              <a:rPr kumimoji="1" lang="en-US" altLang="zh-CN"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     </a:t>
            </a: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概要</a:t>
            </a: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设计相当于大楼的建筑平面图，规定了每个房间的用途，以及房间与房间之间、房间与外部环境之间的连接机制。</a:t>
            </a:r>
            <a:r>
              <a:rPr kumimoji="0" lang="zh-CN" altLang="en-US"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对象设计着重于每个房间的内部细节</a:t>
            </a:r>
            <a:endParaRPr kumimoji="0" lang="en-US" altLang="zh-CN"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对象持久化设计：</a:t>
            </a:r>
            <a:endParaRPr kumimoji="1" lang="en-US" altLang="zh-CN"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tabLst>
                <a:tab pos="457200" algn="l"/>
              </a:tabLst>
              <a:defRPr/>
            </a:pPr>
            <a:r>
              <a:rPr kumimoji="1" lang="en-US" altLang="zh-CN" sz="24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    </a:t>
            </a:r>
            <a:r>
              <a:rPr kumimoji="1"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解决对象数据的存储和检索</a:t>
            </a:r>
            <a:endParaRPr kumimoji="1"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77827" name="标题 1"/>
          <p:cNvSpPr>
            <a:spLocks noGrp="1"/>
          </p:cNvSpPr>
          <p:nvPr>
            <p:ph type="title"/>
          </p:nvPr>
        </p:nvSpPr>
        <p:spPr>
          <a:xfrm>
            <a:off x="455613" y="469900"/>
            <a:ext cx="8207375"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详细设计</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内容占位符 2"/>
          <p:cNvSpPr>
            <a:spLocks noGrp="1"/>
          </p:cNvSpPr>
          <p:nvPr>
            <p:ph idx="1"/>
          </p:nvPr>
        </p:nvSpPr>
        <p:spPr>
          <a:xfrm>
            <a:off x="455613" y="1766888"/>
            <a:ext cx="8207375" cy="4381500"/>
          </a:xfrm>
          <a:ln/>
        </p:spPr>
        <p:txBody>
          <a:bodyPr vert="horz" wrap="square" lIns="91221" tIns="45610" rIns="91221" bIns="45610" anchor="t" anchorCtr="0"/>
          <a:p>
            <a:pPr defTabSz="914400" eaLnBrk="1" hangingPunct="1">
              <a:buFont typeface="Wingdings" panose="05000000000000000000" pitchFamily="2" charset="2"/>
              <a:buChar char="p"/>
              <a:tabLst>
                <a:tab pos="457200" algn="l"/>
              </a:tabLst>
            </a:pPr>
            <a:r>
              <a:rPr lang="zh-CN" altLang="en-US" sz="2400" b="1" dirty="0"/>
              <a:t>对</a:t>
            </a:r>
            <a:r>
              <a:rPr lang="zh-CN" altLang="en-US" sz="2400" b="1" dirty="0">
                <a:solidFill>
                  <a:srgbClr val="FF0000"/>
                </a:solidFill>
              </a:rPr>
              <a:t>属性</a:t>
            </a:r>
            <a:r>
              <a:rPr lang="zh-CN" altLang="en-US" sz="2400" b="1" dirty="0"/>
              <a:t>和</a:t>
            </a:r>
            <a:r>
              <a:rPr lang="zh-CN" altLang="en-US" sz="2400" b="1" dirty="0">
                <a:solidFill>
                  <a:srgbClr val="FF0000"/>
                </a:solidFill>
              </a:rPr>
              <a:t>操作</a:t>
            </a:r>
            <a:r>
              <a:rPr lang="zh-CN" altLang="en-US" sz="2400" b="1" dirty="0"/>
              <a:t>进行建模</a:t>
            </a:r>
            <a:endParaRPr lang="en-US" altLang="zh-CN" sz="2400" b="1" dirty="0"/>
          </a:p>
          <a:p>
            <a:pPr defTabSz="914400" eaLnBrk="1" hangingPunct="1">
              <a:buFont typeface="Wingdings" panose="05000000000000000000" pitchFamily="2" charset="2"/>
              <a:buChar char="p"/>
              <a:tabLst>
                <a:tab pos="457200" algn="l"/>
              </a:tabLst>
            </a:pPr>
            <a:r>
              <a:rPr lang="zh-CN" altLang="en-US" sz="2400" b="1" dirty="0"/>
              <a:t>属性建模：确定属性的</a:t>
            </a:r>
            <a:r>
              <a:rPr lang="zh-CN" altLang="en-US" sz="2400" b="1" dirty="0">
                <a:solidFill>
                  <a:srgbClr val="FF0000"/>
                </a:solidFill>
              </a:rPr>
              <a:t>类型</a:t>
            </a:r>
            <a:r>
              <a:rPr lang="zh-CN" altLang="en-US" sz="2400" b="1" dirty="0"/>
              <a:t>和</a:t>
            </a:r>
            <a:r>
              <a:rPr lang="zh-CN" altLang="en-US" sz="2400" b="1" dirty="0">
                <a:solidFill>
                  <a:srgbClr val="FF0000"/>
                </a:solidFill>
              </a:rPr>
              <a:t>数据结构</a:t>
            </a:r>
            <a:r>
              <a:rPr lang="zh-CN" altLang="en-US" sz="2400" b="1" dirty="0"/>
              <a:t>、</a:t>
            </a:r>
            <a:r>
              <a:rPr lang="zh-CN" altLang="en-US" sz="2400" b="1" dirty="0">
                <a:solidFill>
                  <a:srgbClr val="FF0000"/>
                </a:solidFill>
              </a:rPr>
              <a:t>可见性等</a:t>
            </a:r>
            <a:endParaRPr lang="en-US" altLang="zh-CN" sz="2400" b="1" dirty="0">
              <a:solidFill>
                <a:srgbClr val="FF0000"/>
              </a:solidFill>
            </a:endParaRPr>
          </a:p>
          <a:p>
            <a:pPr marL="615950" lvl="2" indent="-342900" defTabSz="914400" eaLnBrk="1" hangingPunct="1">
              <a:buClr>
                <a:srgbClr val="0BD0D9"/>
              </a:buClr>
              <a:buSzPct val="95000"/>
              <a:buFont typeface="Wingdings" panose="05000000000000000000" pitchFamily="2" charset="2"/>
              <a:buChar char="Ø"/>
              <a:tabLst>
                <a:tab pos="457200" algn="l"/>
              </a:tabLst>
            </a:pPr>
            <a:r>
              <a:rPr lang="zh-CN" altLang="en-US" sz="2000" dirty="0"/>
              <a:t>将所有属性的</a:t>
            </a:r>
            <a:r>
              <a:rPr lang="zh-CN" altLang="en-US" sz="2000" dirty="0">
                <a:solidFill>
                  <a:srgbClr val="FF0000"/>
                </a:solidFill>
              </a:rPr>
              <a:t>可见性设置为</a:t>
            </a:r>
            <a:r>
              <a:rPr lang="en-US" altLang="zh-CN" sz="2000" dirty="0">
                <a:solidFill>
                  <a:srgbClr val="FF0000"/>
                </a:solidFill>
              </a:rPr>
              <a:t>private</a:t>
            </a:r>
            <a:endParaRPr lang="zh-CN" altLang="en-US" sz="2000" dirty="0">
              <a:solidFill>
                <a:srgbClr val="FF0000"/>
              </a:solidFill>
            </a:endParaRPr>
          </a:p>
          <a:p>
            <a:pPr marL="615950" lvl="2" indent="-342900" defTabSz="914400" eaLnBrk="1" hangingPunct="1">
              <a:buClr>
                <a:srgbClr val="0BD0D9"/>
              </a:buClr>
              <a:buSzPct val="95000"/>
              <a:buFont typeface="Wingdings" panose="05000000000000000000" pitchFamily="2" charset="2"/>
              <a:buChar char="Ø"/>
              <a:tabLst>
                <a:tab pos="457200" algn="l"/>
              </a:tabLst>
            </a:pPr>
            <a:r>
              <a:rPr lang="zh-CN" altLang="en-US" sz="2000" dirty="0"/>
              <a:t>仅通过</a:t>
            </a:r>
            <a:r>
              <a:rPr lang="en-US" altLang="zh-CN" sz="2000" dirty="0">
                <a:solidFill>
                  <a:srgbClr val="FF0000"/>
                </a:solidFill>
              </a:rPr>
              <a:t>set </a:t>
            </a:r>
            <a:r>
              <a:rPr lang="zh-CN" altLang="en-US" sz="2000" dirty="0">
                <a:solidFill>
                  <a:srgbClr val="FF0000"/>
                </a:solidFill>
              </a:rPr>
              <a:t>方法更新</a:t>
            </a:r>
            <a:r>
              <a:rPr lang="zh-CN" altLang="en-US" sz="2000" dirty="0"/>
              <a:t>属性</a:t>
            </a:r>
            <a:endParaRPr lang="zh-CN" altLang="en-US" sz="2000" dirty="0"/>
          </a:p>
          <a:p>
            <a:pPr marL="615950" lvl="2" indent="-342900" defTabSz="914400" eaLnBrk="1" hangingPunct="1">
              <a:buClr>
                <a:srgbClr val="0BD0D9"/>
              </a:buClr>
              <a:buSzPct val="95000"/>
              <a:buFont typeface="Wingdings" panose="05000000000000000000" pitchFamily="2" charset="2"/>
              <a:buChar char="Ø"/>
              <a:tabLst>
                <a:tab pos="457200" algn="l"/>
              </a:tabLst>
            </a:pPr>
            <a:r>
              <a:rPr lang="zh-CN" altLang="en-US" sz="2000" dirty="0"/>
              <a:t>仅通过</a:t>
            </a:r>
            <a:r>
              <a:rPr lang="en-US" altLang="zh-CN" sz="2000" dirty="0">
                <a:solidFill>
                  <a:srgbClr val="FF0000"/>
                </a:solidFill>
              </a:rPr>
              <a:t>get </a:t>
            </a:r>
            <a:r>
              <a:rPr lang="zh-CN" altLang="en-US" sz="2000" dirty="0">
                <a:solidFill>
                  <a:srgbClr val="FF0000"/>
                </a:solidFill>
              </a:rPr>
              <a:t>方法访问</a:t>
            </a:r>
            <a:r>
              <a:rPr lang="zh-CN" altLang="en-US" sz="2000" dirty="0"/>
              <a:t>属性</a:t>
            </a:r>
            <a:endParaRPr lang="zh-CN" altLang="en-US" sz="2000" dirty="0"/>
          </a:p>
          <a:p>
            <a:pPr marL="615950" lvl="2" indent="-342900" defTabSz="914400" eaLnBrk="1" hangingPunct="1">
              <a:buClr>
                <a:srgbClr val="0BD0D9"/>
              </a:buClr>
              <a:buSzPct val="95000"/>
              <a:buFont typeface="Wingdings" panose="05000000000000000000" pitchFamily="2" charset="2"/>
              <a:buChar char="Ø"/>
              <a:tabLst>
                <a:tab pos="457200" algn="l"/>
              </a:tabLst>
            </a:pPr>
            <a:r>
              <a:rPr lang="zh-CN" altLang="en-US" sz="2000" dirty="0"/>
              <a:t>在属性的</a:t>
            </a:r>
            <a:r>
              <a:rPr lang="en-US" altLang="zh-CN" sz="2000" dirty="0"/>
              <a:t>set </a:t>
            </a:r>
            <a:r>
              <a:rPr lang="zh-CN" altLang="en-US" sz="2000" dirty="0"/>
              <a:t>方法中，实现</a:t>
            </a:r>
            <a:r>
              <a:rPr lang="zh-CN" altLang="en-US" sz="2000" dirty="0">
                <a:solidFill>
                  <a:srgbClr val="FF0000"/>
                </a:solidFill>
              </a:rPr>
              <a:t>简单的有效性验证</a:t>
            </a:r>
            <a:r>
              <a:rPr lang="zh-CN" altLang="en-US" sz="2000" dirty="0"/>
              <a:t>，而 在独立的验证方法中实现复杂的逻辑验证</a:t>
            </a:r>
            <a:endParaRPr lang="en-US" altLang="zh-CN" sz="2000" dirty="0">
              <a:solidFill>
                <a:srgbClr val="FF0000"/>
              </a:solidFill>
            </a:endParaRPr>
          </a:p>
          <a:p>
            <a:pPr defTabSz="914400" eaLnBrk="1" hangingPunct="1">
              <a:buFont typeface="Wingdings" panose="05000000000000000000" pitchFamily="2" charset="2"/>
              <a:buChar char="p"/>
              <a:tabLst>
                <a:tab pos="457200" algn="l"/>
              </a:tabLst>
            </a:pPr>
            <a:r>
              <a:rPr lang="zh-CN" altLang="en-US" sz="2400" b="1" dirty="0"/>
              <a:t>操作建模：确定操作的</a:t>
            </a:r>
            <a:r>
              <a:rPr lang="zh-CN" altLang="en-US" sz="2400" b="1" dirty="0">
                <a:solidFill>
                  <a:srgbClr val="FF0000"/>
                </a:solidFill>
              </a:rPr>
              <a:t>可见性</a:t>
            </a:r>
            <a:r>
              <a:rPr lang="zh-CN" altLang="en-US" sz="2400" b="1" dirty="0"/>
              <a:t>、</a:t>
            </a:r>
            <a:r>
              <a:rPr lang="zh-CN" altLang="en-US" sz="2400" b="1" dirty="0">
                <a:solidFill>
                  <a:srgbClr val="FF0000"/>
                </a:solidFill>
              </a:rPr>
              <a:t>参数</a:t>
            </a:r>
            <a:r>
              <a:rPr lang="zh-CN" altLang="en-US" sz="2400" b="1" dirty="0"/>
              <a:t>、</a:t>
            </a:r>
            <a:r>
              <a:rPr lang="zh-CN" altLang="en-US" sz="2400" b="1" dirty="0">
                <a:solidFill>
                  <a:srgbClr val="FF0000"/>
                </a:solidFill>
              </a:rPr>
              <a:t>返回值、算法等</a:t>
            </a:r>
            <a:endParaRPr lang="en-US" altLang="zh-CN" sz="2400" b="1" dirty="0">
              <a:solidFill>
                <a:srgbClr val="FF0000"/>
              </a:solidFill>
            </a:endParaRPr>
          </a:p>
          <a:p>
            <a:pPr marL="615950" lvl="2" indent="-342900" defTabSz="914400" eaLnBrk="1" hangingPunct="1">
              <a:buClr>
                <a:srgbClr val="0BD0D9"/>
              </a:buClr>
              <a:buSzPct val="95000"/>
              <a:buFont typeface="Wingdings" panose="05000000000000000000" pitchFamily="2" charset="2"/>
              <a:buChar char="Ø"/>
              <a:tabLst>
                <a:tab pos="457200" algn="l"/>
              </a:tabLst>
            </a:pPr>
            <a:r>
              <a:rPr lang="zh-CN" altLang="en-US" sz="2000" dirty="0"/>
              <a:t>设计实现服务的算法。</a:t>
            </a:r>
            <a:endParaRPr lang="en-US" altLang="zh-CN" sz="2000" dirty="0"/>
          </a:p>
          <a:p>
            <a:pPr marL="615950" lvl="2" indent="-342900" defTabSz="914400" eaLnBrk="1" hangingPunct="1">
              <a:buClr>
                <a:srgbClr val="0BD0D9"/>
              </a:buClr>
              <a:buSzPct val="95000"/>
              <a:buFont typeface="Wingdings" panose="05000000000000000000" pitchFamily="2" charset="2"/>
              <a:buChar char="Ø"/>
              <a:tabLst>
                <a:tab pos="457200" algn="l"/>
              </a:tabLst>
            </a:pPr>
            <a:r>
              <a:rPr lang="zh-CN" altLang="en-US" sz="2000" dirty="0"/>
              <a:t>定义内部类和内部操作</a:t>
            </a:r>
            <a:endParaRPr lang="en-US" altLang="zh-CN" sz="2000" dirty="0"/>
          </a:p>
          <a:p>
            <a:pPr defTabSz="914400" eaLnBrk="1" hangingPunct="1">
              <a:buFont typeface="Wingdings" panose="05000000000000000000" pitchFamily="2" charset="2"/>
              <a:buChar char="p"/>
              <a:tabLst>
                <a:tab pos="457200" algn="l"/>
              </a:tabLst>
            </a:pPr>
            <a:endParaRPr lang="en-US" altLang="zh-CN" sz="2400" b="1" dirty="0">
              <a:solidFill>
                <a:srgbClr val="FF0000"/>
              </a:solidFill>
            </a:endParaRPr>
          </a:p>
        </p:txBody>
      </p:sp>
      <p:sp>
        <p:nvSpPr>
          <p:cNvPr id="78851" name="标题 1"/>
          <p:cNvSpPr>
            <a:spLocks noGrp="1"/>
          </p:cNvSpPr>
          <p:nvPr>
            <p:ph type="title"/>
          </p:nvPr>
        </p:nvSpPr>
        <p:spPr>
          <a:xfrm>
            <a:off x="455613" y="469900"/>
            <a:ext cx="8783637"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详细设计：对象设计</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内容占位符 1"/>
          <p:cNvSpPr>
            <a:spLocks noGrp="1"/>
          </p:cNvSpPr>
          <p:nvPr>
            <p:ph idx="1"/>
          </p:nvPr>
        </p:nvSpPr>
        <p:spPr>
          <a:ln/>
        </p:spPr>
        <p:txBody>
          <a:bodyPr vert="horz" wrap="square" lIns="91221" tIns="45610" rIns="91221" bIns="45610" anchor="t" anchorCtr="0"/>
          <a:p>
            <a:pPr eaLnBrk="1" hangingPunct="1"/>
            <a:endParaRPr lang="zh-CN" altLang="en-US" dirty="0"/>
          </a:p>
        </p:txBody>
      </p:sp>
      <p:sp>
        <p:nvSpPr>
          <p:cNvPr id="79875" name="标题 2"/>
          <p:cNvSpPr>
            <a:spLocks noGrp="1"/>
          </p:cNvSpPr>
          <p:nvPr>
            <p:ph type="title"/>
          </p:nvPr>
        </p:nvSpPr>
        <p:spPr>
          <a:ln/>
        </p:spPr>
        <p:txBody>
          <a:bodyPr vert="horz" wrap="square" lIns="0" tIns="45610" rIns="0" bIns="0" anchor="b" anchorCtr="0"/>
          <a:p>
            <a:pPr eaLnBrk="1" hangingPunct="1"/>
            <a:endParaRPr lang="zh-CN" altLang="en-US" dirty="0"/>
          </a:p>
        </p:txBody>
      </p:sp>
      <p:pic>
        <p:nvPicPr>
          <p:cNvPr id="79876" name="Picture 3"/>
          <p:cNvPicPr>
            <a:picLocks noChangeAspect="1"/>
          </p:cNvPicPr>
          <p:nvPr/>
        </p:nvPicPr>
        <p:blipFill>
          <a:blip r:embed="rId1"/>
          <a:stretch>
            <a:fillRect/>
          </a:stretch>
        </p:blipFill>
        <p:spPr>
          <a:xfrm>
            <a:off x="179388" y="28575"/>
            <a:ext cx="5081587" cy="6816725"/>
          </a:xfrm>
          <a:prstGeom prst="rect">
            <a:avLst/>
          </a:prstGeom>
          <a:noFill/>
          <a:ln w="9525">
            <a:noFill/>
          </a:ln>
        </p:spPr>
      </p:pic>
      <p:pic>
        <p:nvPicPr>
          <p:cNvPr id="79877" name="Picture 4"/>
          <p:cNvPicPr>
            <a:picLocks noChangeAspect="1"/>
          </p:cNvPicPr>
          <p:nvPr/>
        </p:nvPicPr>
        <p:blipFill>
          <a:blip r:embed="rId2"/>
          <a:stretch>
            <a:fillRect/>
          </a:stretch>
        </p:blipFill>
        <p:spPr>
          <a:xfrm>
            <a:off x="4097338" y="-15875"/>
            <a:ext cx="5033962" cy="6807200"/>
          </a:xfrm>
          <a:prstGeom prst="rect">
            <a:avLst/>
          </a:prstGeom>
          <a:noFill/>
          <a:ln w="9525">
            <a:noFill/>
          </a:ln>
        </p:spPr>
      </p:pic>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内容占位符 2"/>
          <p:cNvSpPr>
            <a:spLocks noGrp="1"/>
          </p:cNvSpPr>
          <p:nvPr>
            <p:ph idx="1"/>
          </p:nvPr>
        </p:nvSpPr>
        <p:spPr>
          <a:ln/>
        </p:spPr>
        <p:txBody>
          <a:bodyPr vert="horz" wrap="square" lIns="91221" tIns="45610" rIns="91221" bIns="45610" anchor="t" anchorCtr="0"/>
          <a:p>
            <a:pPr defTabSz="914400" eaLnBrk="1" hangingPunct="1">
              <a:buFont typeface="Wingdings" panose="05000000000000000000" pitchFamily="2" charset="2"/>
              <a:buChar char="p"/>
              <a:tabLst>
                <a:tab pos="457200" algn="l"/>
              </a:tabLst>
            </a:pPr>
            <a:r>
              <a:rPr lang="zh-CN" altLang="en-US" sz="2400" b="1" dirty="0"/>
              <a:t>关注的是</a:t>
            </a:r>
            <a:r>
              <a:rPr lang="zh-CN" altLang="en-US" sz="2400" b="1" dirty="0">
                <a:solidFill>
                  <a:srgbClr val="FF0000"/>
                </a:solidFill>
              </a:rPr>
              <a:t>对象数据如何存储</a:t>
            </a:r>
            <a:endParaRPr lang="en-US" altLang="zh-CN" sz="2400" b="1" dirty="0">
              <a:solidFill>
                <a:srgbClr val="FF0000"/>
              </a:solidFill>
            </a:endParaRPr>
          </a:p>
          <a:p>
            <a:pPr defTabSz="914400" eaLnBrk="1" hangingPunct="1">
              <a:buFont typeface="Wingdings" panose="05000000000000000000" pitchFamily="2" charset="2"/>
              <a:buChar char="p"/>
              <a:tabLst>
                <a:tab pos="457200" algn="l"/>
              </a:tabLst>
            </a:pPr>
            <a:r>
              <a:rPr lang="zh-CN" altLang="en-US" sz="2400" b="1" dirty="0"/>
              <a:t>数据存储管理的一般模式</a:t>
            </a:r>
            <a:endParaRPr lang="en-US" altLang="zh-CN" sz="2400" b="1" dirty="0"/>
          </a:p>
          <a:p>
            <a:pPr lvl="1" defTabSz="914400" eaLnBrk="1" hangingPunct="1">
              <a:buFont typeface="Wingdings" panose="05000000000000000000" pitchFamily="2" charset="2"/>
              <a:buChar char="Ø"/>
              <a:tabLst>
                <a:tab pos="457200" algn="l"/>
              </a:tabLst>
            </a:pPr>
            <a:r>
              <a:rPr lang="zh-CN" altLang="en-US" sz="2200" dirty="0"/>
              <a:t>文件管理模式</a:t>
            </a:r>
            <a:endParaRPr lang="en-US" altLang="zh-CN" sz="2200" dirty="0"/>
          </a:p>
          <a:p>
            <a:pPr lvl="1" defTabSz="914400" eaLnBrk="1" hangingPunct="1">
              <a:buFont typeface="Wingdings" panose="05000000000000000000" pitchFamily="2" charset="2"/>
              <a:buChar char="Ø"/>
              <a:tabLst>
                <a:tab pos="457200" algn="l"/>
              </a:tabLst>
            </a:pPr>
            <a:r>
              <a:rPr lang="zh-CN" altLang="en-US" sz="2200" dirty="0"/>
              <a:t>关系数据库管理系统</a:t>
            </a:r>
            <a:endParaRPr lang="en-US" altLang="zh-CN" sz="2200" dirty="0"/>
          </a:p>
          <a:p>
            <a:pPr lvl="1" defTabSz="914400" eaLnBrk="1" hangingPunct="1">
              <a:buFont typeface="Wingdings" panose="05000000000000000000" pitchFamily="2" charset="2"/>
              <a:buChar char="Ø"/>
              <a:tabLst>
                <a:tab pos="457200" algn="l"/>
              </a:tabLst>
            </a:pPr>
            <a:r>
              <a:rPr lang="zh-CN" altLang="en-US" sz="2200" dirty="0"/>
              <a:t>面向对象数据库管理系统</a:t>
            </a:r>
            <a:endParaRPr lang="en-US" altLang="zh-CN" sz="2200" b="1" dirty="0"/>
          </a:p>
        </p:txBody>
      </p:sp>
      <p:sp>
        <p:nvSpPr>
          <p:cNvPr id="80899" name="标题 1"/>
          <p:cNvSpPr>
            <a:spLocks noGrp="1"/>
          </p:cNvSpPr>
          <p:nvPr>
            <p:ph type="title"/>
          </p:nvPr>
        </p:nvSpPr>
        <p:spPr>
          <a:xfrm>
            <a:off x="455613" y="469900"/>
            <a:ext cx="8207375"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详细设计：</a:t>
            </a:r>
            <a:r>
              <a:rPr lang="zh-CN" altLang="en-US" b="1" dirty="0">
                <a:solidFill>
                  <a:srgbClr val="FF0000"/>
                </a:solidFill>
                <a:latin typeface="微软雅黑" panose="020B0503020204020204" pitchFamily="34" charset="-122"/>
                <a:ea typeface="微软雅黑" panose="020B0503020204020204" pitchFamily="34" charset="-122"/>
              </a:rPr>
              <a:t>对象持久化设计</a:t>
            </a:r>
            <a:endParaRPr lang="zh-CN" altLang="en-US"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内容占位符 2"/>
          <p:cNvSpPr>
            <a:spLocks noGrp="1"/>
          </p:cNvSpPr>
          <p:nvPr>
            <p:ph idx="1"/>
          </p:nvPr>
        </p:nvSpPr>
        <p:spPr>
          <a:ln/>
        </p:spPr>
        <p:txBody>
          <a:bodyPr vert="horz" wrap="square" lIns="91221" tIns="45610" rIns="91221" bIns="45610" anchor="t" anchorCtr="0"/>
          <a:p>
            <a:pPr defTabSz="914400" eaLnBrk="1" hangingPunct="1">
              <a:buFont typeface="Wingdings" panose="05000000000000000000" pitchFamily="2" charset="2"/>
              <a:buChar char="p"/>
              <a:tabLst>
                <a:tab pos="457200" algn="l"/>
              </a:tabLst>
            </a:pPr>
            <a:r>
              <a:rPr lang="zh-CN" altLang="en-US" sz="2400" b="1" dirty="0">
                <a:solidFill>
                  <a:srgbClr val="FF0000"/>
                </a:solidFill>
              </a:rPr>
              <a:t>关系数据库</a:t>
            </a:r>
            <a:r>
              <a:rPr lang="zh-CN" altLang="en-US" sz="2400" b="1" dirty="0"/>
              <a:t>与</a:t>
            </a:r>
            <a:r>
              <a:rPr lang="zh-CN" altLang="en-US" sz="2400" b="1" dirty="0">
                <a:solidFill>
                  <a:srgbClr val="FF0000"/>
                </a:solidFill>
              </a:rPr>
              <a:t>面向对象</a:t>
            </a:r>
            <a:r>
              <a:rPr lang="zh-CN" altLang="en-US" sz="2400" b="1" dirty="0"/>
              <a:t>中的概念存在一定的对应</a:t>
            </a:r>
            <a:endParaRPr lang="en-US" altLang="zh-CN" sz="2400" b="1" dirty="0"/>
          </a:p>
        </p:txBody>
      </p:sp>
      <p:sp>
        <p:nvSpPr>
          <p:cNvPr id="81923" name="标题 1"/>
          <p:cNvSpPr>
            <a:spLocks noGrp="1"/>
          </p:cNvSpPr>
          <p:nvPr>
            <p:ph type="title"/>
          </p:nvPr>
        </p:nvSpPr>
        <p:spPr>
          <a:xfrm>
            <a:off x="382588" y="685800"/>
            <a:ext cx="8207375" cy="1139825"/>
          </a:xfrm>
          <a:ln/>
        </p:spPr>
        <p:txBody>
          <a:bodyPr vert="horz" wrap="square" lIns="0" tIns="45610" rIns="0" bIns="0" anchor="b" anchorCtr="0"/>
          <a:p>
            <a:pPr eaLnBrk="1" hangingPunct="1">
              <a:lnSpc>
                <a:spcPts val="6000"/>
              </a:lnSpc>
            </a:pPr>
            <a:r>
              <a:rPr lang="zh-CN" altLang="en-US" b="1" dirty="0">
                <a:latin typeface="微软雅黑" panose="020B0503020204020204" pitchFamily="34" charset="-122"/>
                <a:ea typeface="微软雅黑" panose="020B0503020204020204" pitchFamily="34" charset="-122"/>
              </a:rPr>
              <a:t>对象持久化设计的方法：基于关系数据库存储</a:t>
            </a:r>
            <a:endParaRPr lang="zh-CN" altLang="en-US" b="1" dirty="0">
              <a:latin typeface="微软雅黑" panose="020B0503020204020204" pitchFamily="34" charset="-122"/>
              <a:ea typeface="微软雅黑" panose="020B0503020204020204" pitchFamily="34" charset="-122"/>
            </a:endParaRPr>
          </a:p>
        </p:txBody>
      </p:sp>
      <p:pic>
        <p:nvPicPr>
          <p:cNvPr id="81924" name="Picture 2"/>
          <p:cNvPicPr>
            <a:picLocks noChangeAspect="1"/>
          </p:cNvPicPr>
          <p:nvPr/>
        </p:nvPicPr>
        <p:blipFill>
          <a:blip r:embed="rId1"/>
          <a:stretch>
            <a:fillRect/>
          </a:stretch>
        </p:blipFill>
        <p:spPr>
          <a:xfrm>
            <a:off x="95250" y="2774950"/>
            <a:ext cx="8904288" cy="2730500"/>
          </a:xfrm>
          <a:prstGeom prst="rect">
            <a:avLst/>
          </a:prstGeom>
          <a:noFill/>
          <a:ln w="9525">
            <a:noFill/>
          </a:ln>
        </p:spPr>
      </p:pic>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内容占位符 2"/>
          <p:cNvSpPr>
            <a:spLocks noGrp="1"/>
          </p:cNvSpPr>
          <p:nvPr>
            <p:ph idx="1"/>
          </p:nvPr>
        </p:nvSpPr>
        <p:spPr>
          <a:ln/>
        </p:spPr>
        <p:txBody>
          <a:bodyPr vert="horz" wrap="square" lIns="91221" tIns="45610" rIns="91221" bIns="45610" anchor="t" anchorCtr="0"/>
          <a:p>
            <a:pPr defTabSz="914400" eaLnBrk="1" hangingPunct="1">
              <a:buFont typeface="Wingdings" panose="05000000000000000000" pitchFamily="2" charset="2"/>
              <a:buChar char="p"/>
              <a:tabLst>
                <a:tab pos="457200" algn="l"/>
              </a:tabLst>
            </a:pPr>
            <a:r>
              <a:rPr lang="zh-CN" altLang="en-US" sz="2400" b="1" dirty="0"/>
              <a:t>永久类的存储设计</a:t>
            </a:r>
            <a:endParaRPr lang="en-US" altLang="zh-CN" sz="2400" b="1" dirty="0"/>
          </a:p>
          <a:p>
            <a:pPr lvl="1" defTabSz="914400" eaLnBrk="1" hangingPunct="1">
              <a:buFont typeface="Wingdings" panose="05000000000000000000" pitchFamily="2" charset="2"/>
              <a:buChar char="Ø"/>
              <a:tabLst>
                <a:tab pos="457200" algn="l"/>
              </a:tabLst>
            </a:pPr>
            <a:r>
              <a:rPr lang="zh-CN" altLang="en-US" sz="2200" b="1" dirty="0"/>
              <a:t>永久类一般都是实体类，对应的是系统中涉及的数据</a:t>
            </a:r>
            <a:endParaRPr lang="en-US" altLang="zh-CN" sz="2200" b="1" dirty="0"/>
          </a:p>
          <a:p>
            <a:pPr lvl="1" defTabSz="914400" eaLnBrk="1" hangingPunct="1">
              <a:buFont typeface="Wingdings" panose="05000000000000000000" pitchFamily="2" charset="2"/>
              <a:buChar char="Ø"/>
              <a:tabLst>
                <a:tab pos="457200" algn="l"/>
              </a:tabLst>
            </a:pPr>
            <a:r>
              <a:rPr lang="zh-CN" altLang="en-US" sz="2200" b="1" dirty="0"/>
              <a:t>每一个永久类映射为一个关系表，表格的列或字段对应类的属性，而行或记录对应类的实例（对象）</a:t>
            </a:r>
            <a:endParaRPr lang="en-US" altLang="zh-CN" b="1" dirty="0"/>
          </a:p>
          <a:p>
            <a:pPr defTabSz="914400" eaLnBrk="1" hangingPunct="1">
              <a:buFont typeface="Wingdings" panose="05000000000000000000" pitchFamily="2" charset="2"/>
              <a:buChar char="p"/>
              <a:tabLst>
                <a:tab pos="457200" algn="l"/>
              </a:tabLst>
            </a:pPr>
            <a:r>
              <a:rPr lang="zh-CN" altLang="en-US" sz="2400" b="1" dirty="0"/>
              <a:t>关联的存储设计</a:t>
            </a:r>
            <a:endParaRPr lang="en-US" altLang="zh-CN" sz="2400" b="1" dirty="0"/>
          </a:p>
          <a:p>
            <a:pPr lvl="1" defTabSz="914400" eaLnBrk="1" hangingPunct="1">
              <a:buFont typeface="Wingdings" panose="05000000000000000000" pitchFamily="2" charset="2"/>
              <a:buChar char="Ø"/>
              <a:tabLst>
                <a:tab pos="457200" algn="l"/>
              </a:tabLst>
            </a:pPr>
            <a:r>
              <a:rPr lang="en-US" altLang="zh-CN" sz="2200" b="1" dirty="0"/>
              <a:t>    1:1</a:t>
            </a:r>
            <a:r>
              <a:rPr lang="zh-CN" altLang="en-US" sz="2200" b="1" dirty="0"/>
              <a:t>关联：在一个类对应的表中用外键隐含管理</a:t>
            </a:r>
            <a:endParaRPr lang="en-US" altLang="zh-CN" sz="2200" b="1" dirty="0"/>
          </a:p>
          <a:p>
            <a:pPr lvl="1" defTabSz="914400" eaLnBrk="1" hangingPunct="1">
              <a:buFont typeface="Wingdings" panose="05000000000000000000" pitchFamily="2" charset="2"/>
              <a:buChar char="Ø"/>
              <a:tabLst>
                <a:tab pos="457200" algn="l"/>
              </a:tabLst>
            </a:pPr>
            <a:r>
              <a:rPr lang="en-US" altLang="zh-CN" sz="2200" b="1" dirty="0"/>
              <a:t>    1:n</a:t>
            </a:r>
            <a:r>
              <a:rPr lang="zh-CN" altLang="en-US" sz="2200" b="1" dirty="0"/>
              <a:t>关联：在</a:t>
            </a:r>
            <a:r>
              <a:rPr lang="en-US" altLang="zh-CN" sz="2200" b="1" dirty="0"/>
              <a:t>n</a:t>
            </a:r>
            <a:r>
              <a:rPr lang="zh-CN" altLang="en-US" sz="2200" b="1" dirty="0"/>
              <a:t>端类对应的表中用外键隐含关联</a:t>
            </a:r>
            <a:endParaRPr lang="en-US" altLang="zh-CN" sz="2200" b="1" dirty="0"/>
          </a:p>
          <a:p>
            <a:pPr lvl="1" defTabSz="914400" eaLnBrk="1" hangingPunct="1">
              <a:buFont typeface="Wingdings" panose="05000000000000000000" pitchFamily="2" charset="2"/>
              <a:buChar char="Ø"/>
              <a:tabLst>
                <a:tab pos="457200" algn="l"/>
              </a:tabLst>
            </a:pPr>
            <a:r>
              <a:rPr lang="en-US" altLang="zh-CN" sz="2200" b="1" dirty="0"/>
              <a:t>    n:n</a:t>
            </a:r>
            <a:r>
              <a:rPr lang="zh-CN" altLang="en-US" sz="2200" b="1" dirty="0"/>
              <a:t>关联：转换成</a:t>
            </a:r>
            <a:r>
              <a:rPr lang="en-US" altLang="zh-CN" sz="2200" b="1" dirty="0"/>
              <a:t>1:n</a:t>
            </a:r>
            <a:r>
              <a:rPr lang="zh-CN" altLang="en-US" sz="2200" b="1" dirty="0"/>
              <a:t>管理，然后按照上面的方法进行转换</a:t>
            </a:r>
            <a:endParaRPr lang="en-US" altLang="zh-CN" sz="2200" b="1" dirty="0"/>
          </a:p>
        </p:txBody>
      </p:sp>
      <p:sp>
        <p:nvSpPr>
          <p:cNvPr id="82947" name="标题 1"/>
          <p:cNvSpPr>
            <a:spLocks noGrp="1"/>
          </p:cNvSpPr>
          <p:nvPr>
            <p:ph type="title"/>
          </p:nvPr>
        </p:nvSpPr>
        <p:spPr>
          <a:xfrm>
            <a:off x="166688" y="469900"/>
            <a:ext cx="8661400" cy="1139825"/>
          </a:xfrm>
          <a:ln/>
        </p:spPr>
        <p:txBody>
          <a:bodyPr vert="horz" wrap="square" lIns="0" tIns="45610" rIns="0" bIns="0" anchor="b" anchorCtr="0"/>
          <a:p>
            <a:pPr eaLnBrk="1" hangingPunct="1">
              <a:lnSpc>
                <a:spcPts val="6000"/>
              </a:lnSpc>
            </a:pPr>
            <a:r>
              <a:rPr lang="zh-CN" altLang="en-US" sz="4400" b="1" dirty="0">
                <a:latin typeface="微软雅黑" panose="020B0503020204020204" pitchFamily="34" charset="-122"/>
                <a:ea typeface="微软雅黑" panose="020B0503020204020204" pitchFamily="34" charset="-122"/>
              </a:rPr>
              <a:t>基于关系数据库的对象持久化设计</a:t>
            </a:r>
            <a:endParaRPr lang="zh-CN" altLang="en-US" sz="4400" b="1" dirty="0">
              <a:latin typeface="微软雅黑" panose="020B0503020204020204" pitchFamily="34" charset="-122"/>
              <a:ea typeface="微软雅黑" panose="020B0503020204020204" pitchFamily="34" charset="-122"/>
            </a:endParaRPr>
          </a:p>
        </p:txBody>
      </p:sp>
      <p:pic>
        <p:nvPicPr>
          <p:cNvPr id="9" name="Picture 3"/>
          <p:cNvPicPr>
            <a:picLocks noChangeAspect="1"/>
          </p:cNvPicPr>
          <p:nvPr/>
        </p:nvPicPr>
        <p:blipFill>
          <a:blip r:embed="rId1"/>
          <a:stretch>
            <a:fillRect/>
          </a:stretch>
        </p:blipFill>
        <p:spPr>
          <a:xfrm>
            <a:off x="927100" y="2187575"/>
            <a:ext cx="7491413" cy="3838575"/>
          </a:xfrm>
          <a:prstGeom prst="rect">
            <a:avLst/>
          </a:prstGeom>
          <a:noFill/>
          <a:ln w="9525">
            <a:noFill/>
          </a:ln>
        </p:spPr>
      </p:pic>
      <p:pic>
        <p:nvPicPr>
          <p:cNvPr id="10" name="Picture 2"/>
          <p:cNvPicPr>
            <a:picLocks noChangeAspect="1"/>
          </p:cNvPicPr>
          <p:nvPr/>
        </p:nvPicPr>
        <p:blipFill>
          <a:blip r:embed="rId2"/>
          <a:stretch>
            <a:fillRect/>
          </a:stretch>
        </p:blipFill>
        <p:spPr>
          <a:xfrm>
            <a:off x="915988" y="2187575"/>
            <a:ext cx="7491412" cy="3611563"/>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标题 1"/>
          <p:cNvSpPr>
            <a:spLocks noGrp="1"/>
          </p:cNvSpPr>
          <p:nvPr>
            <p:ph type="title"/>
          </p:nvPr>
        </p:nvSpPr>
        <p:spPr>
          <a:xfrm>
            <a:off x="455613" y="542925"/>
            <a:ext cx="8207375" cy="1139825"/>
          </a:xfrm>
          <a:ln/>
        </p:spPr>
        <p:txBody>
          <a:bodyPr vert="horz" wrap="square" lIns="0" tIns="45610" rIns="0" bIns="0" anchor="b" anchorCtr="0"/>
          <a:p>
            <a:pPr eaLnBrk="1" hangingPunct="1">
              <a:lnSpc>
                <a:spcPts val="6000"/>
              </a:lnSpc>
            </a:pPr>
            <a:r>
              <a:rPr lang="en-US" altLang="zh-CN" b="1" dirty="0">
                <a:latin typeface="微软雅黑" panose="020B0503020204020204" pitchFamily="34" charset="-122"/>
                <a:ea typeface="微软雅黑" panose="020B0503020204020204" pitchFamily="34" charset="-122"/>
              </a:rPr>
              <a:t>1:1</a:t>
            </a:r>
            <a:r>
              <a:rPr lang="zh-CN" altLang="en-US" b="1" dirty="0">
                <a:latin typeface="微软雅黑" panose="020B0503020204020204" pitchFamily="34" charset="-122"/>
                <a:ea typeface="微软雅黑" panose="020B0503020204020204" pitchFamily="34" charset="-122"/>
              </a:rPr>
              <a:t>关联</a:t>
            </a:r>
            <a:endParaRPr lang="zh-CN" altLang="en-US" b="1" dirty="0">
              <a:latin typeface="微软雅黑" panose="020B0503020204020204" pitchFamily="34" charset="-122"/>
              <a:ea typeface="微软雅黑" panose="020B0503020204020204" pitchFamily="34" charset="-122"/>
            </a:endParaRPr>
          </a:p>
        </p:txBody>
      </p:sp>
      <p:pic>
        <p:nvPicPr>
          <p:cNvPr id="83971" name="Picture 2"/>
          <p:cNvPicPr>
            <a:picLocks noChangeAspect="1"/>
          </p:cNvPicPr>
          <p:nvPr/>
        </p:nvPicPr>
        <p:blipFill>
          <a:blip r:embed="rId1"/>
          <a:stretch>
            <a:fillRect/>
          </a:stretch>
        </p:blipFill>
        <p:spPr>
          <a:xfrm>
            <a:off x="671513" y="1909763"/>
            <a:ext cx="6805612" cy="3249612"/>
          </a:xfrm>
          <a:prstGeom prst="rect">
            <a:avLst/>
          </a:prstGeom>
          <a:noFill/>
          <a:ln w="9525">
            <a:noFill/>
          </a:ln>
        </p:spPr>
      </p:pic>
      <p:pic>
        <p:nvPicPr>
          <p:cNvPr id="106500" name="Picture 4"/>
          <p:cNvPicPr>
            <a:picLocks noChangeAspect="1"/>
          </p:cNvPicPr>
          <p:nvPr/>
        </p:nvPicPr>
        <p:blipFill>
          <a:blip r:embed="rId2"/>
          <a:stretch>
            <a:fillRect/>
          </a:stretch>
        </p:blipFill>
        <p:spPr>
          <a:xfrm>
            <a:off x="-14287" y="4216400"/>
            <a:ext cx="4981575" cy="2628900"/>
          </a:xfrm>
          <a:prstGeom prst="rect">
            <a:avLst/>
          </a:prstGeom>
          <a:noFill/>
          <a:ln w="9525">
            <a:noFill/>
          </a:ln>
        </p:spPr>
      </p:pic>
      <p:pic>
        <p:nvPicPr>
          <p:cNvPr id="106501" name="Picture 5"/>
          <p:cNvPicPr>
            <a:picLocks noChangeAspect="1"/>
          </p:cNvPicPr>
          <p:nvPr/>
        </p:nvPicPr>
        <p:blipFill>
          <a:blip r:embed="rId3"/>
          <a:stretch>
            <a:fillRect/>
          </a:stretch>
        </p:blipFill>
        <p:spPr>
          <a:xfrm>
            <a:off x="4630738" y="3490913"/>
            <a:ext cx="4419600" cy="3228975"/>
          </a:xfrm>
          <a:prstGeom prst="rect">
            <a:avLst/>
          </a:prstGeom>
          <a:noFill/>
          <a:ln w="9525">
            <a:noFill/>
          </a:ln>
        </p:spPr>
      </p:pic>
      <p:sp>
        <p:nvSpPr>
          <p:cNvPr id="4" name="椭圆 3"/>
          <p:cNvSpPr/>
          <p:nvPr/>
        </p:nvSpPr>
        <p:spPr>
          <a:xfrm>
            <a:off x="4775200" y="6159500"/>
            <a:ext cx="4176713" cy="5032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5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650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标题 1"/>
          <p:cNvSpPr>
            <a:spLocks noGrp="1"/>
          </p:cNvSpPr>
          <p:nvPr>
            <p:ph type="title"/>
          </p:nvPr>
        </p:nvSpPr>
        <p:spPr>
          <a:xfrm>
            <a:off x="455613" y="542925"/>
            <a:ext cx="8207375" cy="1139825"/>
          </a:xfrm>
          <a:ln/>
        </p:spPr>
        <p:txBody>
          <a:bodyPr vert="horz" wrap="square" lIns="0" tIns="45610" rIns="0" bIns="0" anchor="b" anchorCtr="0"/>
          <a:p>
            <a:pPr eaLnBrk="1" hangingPunct="1">
              <a:lnSpc>
                <a:spcPts val="6000"/>
              </a:lnSpc>
            </a:pPr>
            <a:r>
              <a:rPr lang="en-US" altLang="zh-CN" b="1" dirty="0">
                <a:latin typeface="微软雅黑" panose="020B0503020204020204" pitchFamily="34" charset="-122"/>
                <a:ea typeface="微软雅黑" panose="020B0503020204020204" pitchFamily="34" charset="-122"/>
              </a:rPr>
              <a:t>1:n</a:t>
            </a:r>
            <a:r>
              <a:rPr lang="zh-CN" altLang="en-US" b="1" dirty="0">
                <a:latin typeface="微软雅黑" panose="020B0503020204020204" pitchFamily="34" charset="-122"/>
                <a:ea typeface="微软雅黑" panose="020B0503020204020204" pitchFamily="34" charset="-122"/>
              </a:rPr>
              <a:t>关联</a:t>
            </a:r>
            <a:endParaRPr lang="zh-CN" altLang="en-US" b="1" dirty="0">
              <a:latin typeface="微软雅黑" panose="020B0503020204020204" pitchFamily="34" charset="-122"/>
              <a:ea typeface="微软雅黑" panose="020B0503020204020204" pitchFamily="34" charset="-122"/>
            </a:endParaRPr>
          </a:p>
        </p:txBody>
      </p:sp>
      <p:pic>
        <p:nvPicPr>
          <p:cNvPr id="84995" name="Picture 2"/>
          <p:cNvPicPr>
            <a:picLocks noChangeAspect="1"/>
          </p:cNvPicPr>
          <p:nvPr/>
        </p:nvPicPr>
        <p:blipFill>
          <a:blip r:embed="rId1"/>
          <a:stretch>
            <a:fillRect/>
          </a:stretch>
        </p:blipFill>
        <p:spPr>
          <a:xfrm>
            <a:off x="382588" y="1838325"/>
            <a:ext cx="6848475" cy="3400425"/>
          </a:xfrm>
          <a:prstGeom prst="rect">
            <a:avLst/>
          </a:prstGeom>
          <a:noFill/>
          <a:ln w="9525">
            <a:noFill/>
          </a:ln>
        </p:spPr>
      </p:pic>
      <p:pic>
        <p:nvPicPr>
          <p:cNvPr id="107524" name="Picture 4"/>
          <p:cNvPicPr>
            <a:picLocks noChangeAspect="1"/>
          </p:cNvPicPr>
          <p:nvPr/>
        </p:nvPicPr>
        <p:blipFill>
          <a:blip r:embed="rId2"/>
          <a:stretch>
            <a:fillRect/>
          </a:stretch>
        </p:blipFill>
        <p:spPr>
          <a:xfrm>
            <a:off x="-50800" y="4143375"/>
            <a:ext cx="5276850" cy="2409825"/>
          </a:xfrm>
          <a:prstGeom prst="rect">
            <a:avLst/>
          </a:prstGeom>
          <a:noFill/>
          <a:ln w="9525">
            <a:noFill/>
          </a:ln>
        </p:spPr>
      </p:pic>
      <p:pic>
        <p:nvPicPr>
          <p:cNvPr id="107523" name="Picture 3"/>
          <p:cNvPicPr>
            <a:picLocks noChangeAspect="1"/>
          </p:cNvPicPr>
          <p:nvPr/>
        </p:nvPicPr>
        <p:blipFill>
          <a:blip r:embed="rId3"/>
          <a:stretch>
            <a:fillRect/>
          </a:stretch>
        </p:blipFill>
        <p:spPr>
          <a:xfrm>
            <a:off x="4343400" y="3638550"/>
            <a:ext cx="4876800" cy="2676525"/>
          </a:xfrm>
          <a:prstGeom prst="rect">
            <a:avLst/>
          </a:prstGeom>
          <a:noFill/>
          <a:ln w="9525">
            <a:noFill/>
          </a:ln>
        </p:spPr>
      </p:pic>
      <p:sp>
        <p:nvSpPr>
          <p:cNvPr id="4" name="椭圆 3"/>
          <p:cNvSpPr/>
          <p:nvPr/>
        </p:nvSpPr>
        <p:spPr>
          <a:xfrm>
            <a:off x="4630738" y="5726113"/>
            <a:ext cx="4176713" cy="5048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5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5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96260" name="Text Box 4"/>
          <p:cNvSpPr txBox="1">
            <a:spLocks noChangeArrowheads="1"/>
          </p:cNvSpPr>
          <p:nvPr/>
        </p:nvSpPr>
        <p:spPr bwMode="auto">
          <a:xfrm>
            <a:off x="2830513" y="658813"/>
            <a:ext cx="2808288" cy="536575"/>
          </a:xfrm>
          <a:prstGeom prst="rect">
            <a:avLst/>
          </a:prstGeom>
          <a:noFill/>
          <a:ln w="9525">
            <a:noFill/>
            <a:miter lim="800000"/>
          </a:ln>
          <a:effectLst/>
        </p:spPr>
        <p:txBody>
          <a:bodyPr lIns="0" tIns="0" rIns="0" bIns="0">
            <a:spAutoFit/>
          </a:bodyPr>
          <a:lstStyle/>
          <a:p>
            <a:pPr marR="0" defTabSz="914400" eaLnBrk="1" hangingPunct="1">
              <a:lnSpc>
                <a:spcPts val="4000"/>
              </a:lnSpc>
              <a:buClrTx/>
              <a:buSzTx/>
              <a:buFontTx/>
              <a:buNone/>
              <a:defRPr/>
            </a:pPr>
            <a:r>
              <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内容提纲</a:t>
            </a:r>
            <a:endPar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
        <p:nvSpPr>
          <p:cNvPr id="14340" name="Text Box 5"/>
          <p:cNvSpPr txBox="1">
            <a:spLocks noChangeArrowheads="1"/>
          </p:cNvSpPr>
          <p:nvPr/>
        </p:nvSpPr>
        <p:spPr bwMode="auto">
          <a:xfrm>
            <a:off x="765175" y="1406525"/>
            <a:ext cx="7897813" cy="324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73050" indent="-27305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1pPr>
            <a:lvl2pPr marL="273050" indent="-27305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2pPr>
            <a:lvl3pPr indent="-45720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tabLst>
                <a:tab pos="457200" algn="l"/>
              </a:tabLst>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buFont typeface="Wingdings" panose="05000000000000000000" pitchFamily="2" charset="2"/>
              <a:tabLst>
                <a:tab pos="457200" algn="l"/>
              </a:tabLst>
              <a:defRPr kumimoji="1" sz="2400" b="1">
                <a:solidFill>
                  <a:schemeClr val="tx1"/>
                </a:solidFill>
                <a:latin typeface="黑体" panose="02010609060101010101" pitchFamily="49" charset="-122"/>
                <a:ea typeface="黑体" panose="02010609060101010101" pitchFamily="49" charset="-122"/>
              </a:defRPr>
            </a:lvl9pPr>
          </a:lstStyle>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3200" b="1" i="0" u="none" strike="noStrike" kern="1200" cap="none" spc="0" normalizeH="0" baseline="0" noProof="0" dirty="0" smtClean="0">
                <a:ln>
                  <a:noFill/>
                </a:ln>
                <a:solidFill>
                  <a:srgbClr val="FF0000"/>
                </a:solidFill>
                <a:effectLst/>
                <a:uLnTx/>
                <a:uFillTx/>
                <a:latin typeface="Constantia" panose="02030602050306030303" pitchFamily="18" charset="0"/>
                <a:ea typeface="宋体" panose="02010600030101010101" pitchFamily="2" charset="-122"/>
                <a:cs typeface="+mn-cs"/>
              </a:rPr>
              <a:t>回答两个问题</a:t>
            </a:r>
            <a:r>
              <a:rPr kumimoji="1" lang="zh-CN" altLang="en-US" sz="3200" b="1" i="0" u="none" strike="noStrike" kern="1200" cap="none" spc="0" normalizeH="0" baseline="0" noProof="0" dirty="0" smtClean="0">
                <a:ln>
                  <a:noFill/>
                </a:ln>
                <a:solidFill>
                  <a:schemeClr val="tx1"/>
                </a:solidFill>
                <a:effectLst/>
                <a:uLnTx/>
                <a:uFillTx/>
                <a:latin typeface="Constantia" panose="02030602050306030303" pitchFamily="18" charset="0"/>
                <a:ea typeface="宋体" panose="02010600030101010101" pitchFamily="2" charset="-122"/>
                <a:cs typeface="+mn-cs"/>
              </a:rPr>
              <a:t>：</a:t>
            </a:r>
            <a:endParaRPr kumimoji="1" lang="en-US" altLang="zh-CN" sz="3200" b="1" i="0" u="none" strike="noStrike" kern="1200" cap="none" spc="0" normalizeH="0" baseline="0" noProof="0" dirty="0" smtClean="0">
              <a:ln>
                <a:noFill/>
              </a:ln>
              <a:solidFill>
                <a:schemeClr val="tx1"/>
              </a:solidFill>
              <a:effectLst/>
              <a:uLnTx/>
              <a:uFillTx/>
              <a:latin typeface="Constantia" panose="02030602050306030303" pitchFamily="18" charset="0"/>
              <a:ea typeface="宋体" panose="02010600030101010101" pitchFamily="2" charset="-122"/>
              <a:cs typeface="+mn-cs"/>
            </a:endParaRPr>
          </a:p>
          <a:p>
            <a:pPr marL="641350" marR="0" lvl="1" indent="-45720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Ø"/>
              <a:tabLst>
                <a:tab pos="457200" algn="l"/>
              </a:tabLst>
              <a:defRPr/>
            </a:pPr>
            <a:r>
              <a:rPr kumimoji="1" lang="en-US" altLang="zh-CN" sz="3200" b="1" i="0" u="none" strike="noStrike" kern="1200" cap="none" spc="0" normalizeH="0" baseline="0" noProof="0" dirty="0" smtClean="0">
                <a:ln>
                  <a:noFill/>
                </a:ln>
                <a:solidFill>
                  <a:srgbClr val="FF0000"/>
                </a:solidFill>
                <a:effectLst/>
                <a:uLnTx/>
                <a:uFillTx/>
                <a:latin typeface="Constantia" panose="02030602050306030303" pitchFamily="18" charset="0"/>
                <a:ea typeface="宋体" panose="02010600030101010101" pitchFamily="2" charset="-122"/>
                <a:cs typeface="+mn-cs"/>
              </a:rPr>
              <a:t>1</a:t>
            </a:r>
            <a:r>
              <a:rPr kumimoji="1" lang="zh-CN" altLang="en-US" sz="3200" b="1" i="0" u="none" strike="noStrike" kern="1200" cap="none" spc="0" normalizeH="0" baseline="0" noProof="0" dirty="0" smtClean="0">
                <a:ln>
                  <a:noFill/>
                </a:ln>
                <a:solidFill>
                  <a:srgbClr val="FF0000"/>
                </a:solidFill>
                <a:effectLst/>
                <a:uLnTx/>
                <a:uFillTx/>
                <a:latin typeface="Constantia" panose="02030602050306030303" pitchFamily="18" charset="0"/>
                <a:ea typeface="宋体" panose="02010600030101010101" pitchFamily="2" charset="-122"/>
                <a:cs typeface="+mn-cs"/>
              </a:rPr>
              <a:t>）对于大型系统如何进行设计？</a:t>
            </a:r>
            <a:endParaRPr kumimoji="1" lang="en-US" altLang="zh-CN" sz="3200" b="1" i="0" u="none" strike="noStrike" kern="1200" cap="none" spc="0" normalizeH="0" baseline="0" noProof="0" dirty="0" smtClean="0">
              <a:ln>
                <a:noFill/>
              </a:ln>
              <a:solidFill>
                <a:srgbClr val="FF0000"/>
              </a:solidFill>
              <a:effectLst/>
              <a:uLnTx/>
              <a:uFillTx/>
              <a:latin typeface="Constantia" panose="02030602050306030303" pitchFamily="18" charset="0"/>
              <a:ea typeface="宋体" panose="02010600030101010101" pitchFamily="2" charset="-122"/>
              <a:cs typeface="+mn-cs"/>
            </a:endParaRPr>
          </a:p>
          <a:p>
            <a:pPr marL="641350" marR="0" lvl="1" indent="-45720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Ø"/>
              <a:tabLst>
                <a:tab pos="457200" algn="l"/>
              </a:tabLst>
              <a:defRPr/>
            </a:pPr>
            <a:r>
              <a:rPr kumimoji="1" lang="en-US" altLang="zh-CN" sz="3200" b="1" i="0" u="none" strike="noStrike" kern="1200" cap="none" spc="0" normalizeH="0" baseline="0" noProof="0" dirty="0" smtClean="0">
                <a:ln>
                  <a:noFill/>
                </a:ln>
                <a:solidFill>
                  <a:srgbClr val="FF0000"/>
                </a:solidFill>
                <a:effectLst/>
                <a:uLnTx/>
                <a:uFillTx/>
                <a:latin typeface="Constantia" panose="02030602050306030303" pitchFamily="18" charset="0"/>
                <a:ea typeface="宋体" panose="02010600030101010101" pitchFamily="2" charset="-122"/>
                <a:cs typeface="+mn-cs"/>
              </a:rPr>
              <a:t>2</a:t>
            </a:r>
            <a:r>
              <a:rPr kumimoji="1" lang="zh-CN" altLang="en-US" sz="3200" b="1" i="0" u="none" strike="noStrike" kern="1200" cap="none" spc="0" normalizeH="0" baseline="0" noProof="0" dirty="0" smtClean="0">
                <a:ln>
                  <a:noFill/>
                </a:ln>
                <a:solidFill>
                  <a:srgbClr val="FF0000"/>
                </a:solidFill>
                <a:effectLst/>
                <a:uLnTx/>
                <a:uFillTx/>
                <a:latin typeface="Constantia" panose="02030602050306030303" pitchFamily="18" charset="0"/>
                <a:ea typeface="宋体" panose="02010600030101010101" pitchFamily="2" charset="-122"/>
                <a:cs typeface="+mn-cs"/>
              </a:rPr>
              <a:t>）概要设计完了之后，系统的详细设计做什么？</a:t>
            </a:r>
            <a:endParaRPr kumimoji="1" lang="en-US" altLang="zh-CN" sz="3200" b="1" i="0" u="none" strike="noStrike" kern="1200" cap="none" spc="0" normalizeH="0" baseline="0" noProof="0" dirty="0">
              <a:ln>
                <a:noFill/>
              </a:ln>
              <a:solidFill>
                <a:srgbClr val="FF0000"/>
              </a:solidFill>
              <a:effectLst/>
              <a:uLnTx/>
              <a:uFillTx/>
              <a:latin typeface="Constantia" panose="02030602050306030303" pitchFamily="18" charset="0"/>
              <a:ea typeface="宋体" panose="02010600030101010101" pitchFamily="2" charset="-122"/>
              <a:cs typeface="+mn-cs"/>
            </a:endParaRPr>
          </a:p>
          <a:p>
            <a:pPr marL="641350" marR="0" lvl="1" indent="-45720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Ø"/>
              <a:tabLst>
                <a:tab pos="457200" algn="l"/>
              </a:tabLst>
              <a:defRPr/>
            </a:pPr>
            <a:r>
              <a:rPr kumimoji="1" lang="en-US" altLang="zh-CN" sz="3200" b="1" i="0" u="none" strike="noStrike" kern="1200" cap="none" spc="0" normalizeH="0" baseline="0" noProof="0" dirty="0" smtClean="0">
                <a:ln>
                  <a:noFill/>
                </a:ln>
                <a:solidFill>
                  <a:schemeClr val="tx1"/>
                </a:solidFill>
                <a:effectLst/>
                <a:uLnTx/>
                <a:uFillTx/>
                <a:latin typeface="Constantia" panose="02030602050306030303" pitchFamily="18" charset="0"/>
                <a:ea typeface="宋体" panose="02010600030101010101" pitchFamily="2" charset="-122"/>
                <a:cs typeface="+mn-cs"/>
              </a:rPr>
              <a:t>3</a:t>
            </a:r>
            <a:r>
              <a:rPr kumimoji="1" lang="zh-CN" altLang="en-US" sz="3200" b="1" i="0" u="none" strike="noStrike" kern="1200" cap="none" spc="0" normalizeH="0" baseline="0" noProof="0" dirty="0" smtClean="0">
                <a:ln>
                  <a:noFill/>
                </a:ln>
                <a:solidFill>
                  <a:schemeClr val="tx1"/>
                </a:solidFill>
                <a:effectLst/>
                <a:uLnTx/>
                <a:uFillTx/>
                <a:latin typeface="Constantia" panose="02030602050306030303" pitchFamily="18" charset="0"/>
                <a:ea typeface="宋体" panose="02010600030101010101" pitchFamily="2" charset="-122"/>
                <a:cs typeface="+mn-cs"/>
              </a:rPr>
              <a:t>）在确定类与类之间关系的过程中，有没有更好的指导方法？</a:t>
            </a:r>
            <a:endParaRPr kumimoji="1" lang="en-US" altLang="zh-CN" sz="3200" b="1" i="0" u="none" strike="noStrike" kern="1200" cap="none" spc="0" normalizeH="0" baseline="0" noProof="0" dirty="0" smtClean="0">
              <a:ln>
                <a:noFill/>
              </a:ln>
              <a:solidFill>
                <a:schemeClr val="tx1"/>
              </a:solidFill>
              <a:effectLst/>
              <a:uLnTx/>
              <a:uFillTx/>
              <a:latin typeface="Constantia" panose="02030602050306030303" pitchFamily="18" charset="0"/>
              <a:ea typeface="宋体" panose="02010600030101010101" pitchFamily="2" charset="-122"/>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矩形 1"/>
          <p:cNvSpPr>
            <a:spLocks noChangeArrowheads="1"/>
          </p:cNvSpPr>
          <p:nvPr/>
        </p:nvSpPr>
        <p:spPr bwMode="auto">
          <a:xfrm>
            <a:off x="393700" y="614363"/>
            <a:ext cx="8474075" cy="162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spAutoFit/>
          </a:bodyPr>
          <a:lstStyle>
            <a:lvl1pPr marL="273050" indent="-273050" eaLnBrk="0" hangingPunct="0">
              <a:spcBef>
                <a:spcPct val="20000"/>
              </a:spcBef>
              <a:buClr>
                <a:srgbClr val="0BD0D9"/>
              </a:buClr>
              <a:buSzPct val="95000"/>
              <a:buFont typeface="Wingdings 2" panose="05020102010507070707" pitchFamily="18" charset="2"/>
              <a:buChar char=""/>
              <a:tabLst>
                <a:tab pos="457200" algn="l"/>
              </a:tabLst>
              <a:defRPr sz="2600">
                <a:solidFill>
                  <a:schemeClr val="tx1"/>
                </a:solidFill>
                <a:latin typeface="Constantia" panose="02030602050306030303" pitchFamily="18" charset="0"/>
                <a:ea typeface="宋体" panose="02010600030101010101" pitchFamily="2" charset="-122"/>
              </a:defRPr>
            </a:lvl1pPr>
            <a:lvl2pPr marL="742950" indent="-285750" eaLnBrk="0" hangingPunct="0">
              <a:spcBef>
                <a:spcPct val="20000"/>
              </a:spcBef>
              <a:buClr>
                <a:schemeClr val="accent1"/>
              </a:buClr>
              <a:buSzPct val="85000"/>
              <a:buFont typeface="Wingdings 2" panose="05020102010507070707" pitchFamily="18" charset="2"/>
              <a:buChar char=""/>
              <a:tabLst>
                <a:tab pos="457200" algn="l"/>
              </a:tabLst>
              <a:defRPr sz="2400">
                <a:solidFill>
                  <a:schemeClr val="tx1"/>
                </a:solidFill>
                <a:latin typeface="Constantia" panose="02030602050306030303" pitchFamily="18" charset="0"/>
                <a:ea typeface="宋体" panose="02010600030101010101" pitchFamily="2" charset="-122"/>
              </a:defRPr>
            </a:lvl2pPr>
            <a:lvl3pPr marL="1143000" indent="-228600" eaLnBrk="0" hangingPunct="0">
              <a:spcBef>
                <a:spcPct val="20000"/>
              </a:spcBef>
              <a:buClr>
                <a:schemeClr val="accent2"/>
              </a:buClr>
              <a:buSzPct val="70000"/>
              <a:buFont typeface="Wingdings 2" panose="05020102010507070707" pitchFamily="18" charset="2"/>
              <a:buChar char=""/>
              <a:tabLst>
                <a:tab pos="457200" algn="l"/>
              </a:tabLst>
              <a:defRPr sz="2100">
                <a:solidFill>
                  <a:schemeClr val="tx1"/>
                </a:solidFill>
                <a:latin typeface="Constantia" panose="02030602050306030303" pitchFamily="18" charset="0"/>
                <a:ea typeface="宋体" panose="02010600030101010101" pitchFamily="2" charset="-122"/>
              </a:defRPr>
            </a:lvl3pPr>
            <a:lvl4pPr marL="1600200" indent="-228600" eaLnBrk="0" hangingPunct="0">
              <a:spcBef>
                <a:spcPct val="20000"/>
              </a:spcBef>
              <a:buClr>
                <a:srgbClr val="0BD0D9"/>
              </a:buClr>
              <a:buSzPct val="65000"/>
              <a:buFont typeface="Wingdings 2" panose="05020102010507070707" pitchFamily="18" charset="2"/>
              <a:buChar char=""/>
              <a:tabLst>
                <a:tab pos="457200" algn="l"/>
              </a:tabLst>
              <a:defRPr sz="2000">
                <a:solidFill>
                  <a:schemeClr val="tx1"/>
                </a:solidFill>
                <a:latin typeface="Constantia" panose="02030602050306030303" pitchFamily="18" charset="0"/>
                <a:ea typeface="宋体" panose="02010600030101010101" pitchFamily="2" charset="-122"/>
              </a:defRPr>
            </a:lvl4pPr>
            <a:lvl5pPr marL="2057400" indent="-228600" eaLnBrk="0" hangingPunct="0">
              <a:spcBef>
                <a:spcPct val="20000"/>
              </a:spcBef>
              <a:buClr>
                <a:srgbClr val="10CF9B"/>
              </a:buClr>
              <a:buSzPct val="65000"/>
              <a:buFont typeface="Wingdings 2" panose="05020102010507070707" pitchFamily="18" charset="2"/>
              <a:buChar char=""/>
              <a:tabLst>
                <a:tab pos="457200" algn="l"/>
              </a:tabLst>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l"/>
              </a:tabLst>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l"/>
              </a:tabLst>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l"/>
              </a:tabLst>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tabLst>
                <a:tab pos="457200" algn="l"/>
              </a:tabLst>
              <a:defRPr sz="20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tabLst>
                <a:tab pos="457200" algn="l"/>
              </a:tabLst>
              <a:defRPr/>
            </a:pPr>
            <a:r>
              <a:rPr kumimoji="1" lang="zh-CN" altLang="en-US" sz="5000" b="1" i="0" u="none" strike="noStrike" kern="1200" cap="none" spc="0" normalizeH="0" baseline="0" noProof="0" dirty="0">
                <a:ln>
                  <a:noFill/>
                </a:ln>
                <a:solidFill>
                  <a:srgbClr val="04617B"/>
                </a:solidFill>
                <a:effectLst/>
                <a:uLnTx/>
                <a:uFillTx/>
                <a:latin typeface="微软雅黑" panose="020B0503020204020204" pitchFamily="34" charset="-122"/>
                <a:ea typeface="微软雅黑" panose="020B0503020204020204" pitchFamily="34" charset="-122"/>
                <a:cs typeface="+mj-cs"/>
              </a:rPr>
              <a:t>对用例“开户”进行分析之后得到的类图</a:t>
            </a:r>
            <a:endParaRPr kumimoji="1" lang="en-US" altLang="zh-CN" sz="5000" b="1" i="0" u="none" strike="noStrike" kern="1200" cap="none" spc="0" normalizeH="0" baseline="0" noProof="0" dirty="0">
              <a:ln>
                <a:noFill/>
              </a:ln>
              <a:solidFill>
                <a:srgbClr val="04617B"/>
              </a:solidFill>
              <a:effectLst/>
              <a:uLnTx/>
              <a:uFillTx/>
              <a:latin typeface="微软雅黑" panose="020B0503020204020204" pitchFamily="34" charset="-122"/>
              <a:ea typeface="微软雅黑" panose="020B0503020204020204" pitchFamily="34" charset="-122"/>
              <a:cs typeface="+mj-cs"/>
            </a:endParaRPr>
          </a:p>
        </p:txBody>
      </p:sp>
      <p:pic>
        <p:nvPicPr>
          <p:cNvPr id="87043" name="Picture 4"/>
          <p:cNvPicPr>
            <a:picLocks noChangeAspect="1"/>
          </p:cNvPicPr>
          <p:nvPr/>
        </p:nvPicPr>
        <p:blipFill>
          <a:blip r:embed="rId1"/>
          <a:stretch>
            <a:fillRect/>
          </a:stretch>
        </p:blipFill>
        <p:spPr>
          <a:xfrm>
            <a:off x="1671638" y="2271713"/>
            <a:ext cx="5029200" cy="4432300"/>
          </a:xfrm>
          <a:prstGeom prst="rect">
            <a:avLst/>
          </a:prstGeom>
          <a:noFill/>
          <a:ln w="9525">
            <a:noFill/>
          </a:ln>
        </p:spPr>
      </p:pic>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4"/>
          <p:cNvSpPr/>
          <p:nvPr/>
        </p:nvSpPr>
        <p:spPr>
          <a:xfrm>
            <a:off x="1933575" y="1003300"/>
            <a:ext cx="9118600" cy="461963"/>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pic>
        <p:nvPicPr>
          <p:cNvPr id="88067" name="Picture 3"/>
          <p:cNvPicPr>
            <a:picLocks noChangeAspect="1"/>
          </p:cNvPicPr>
          <p:nvPr/>
        </p:nvPicPr>
        <p:blipFill>
          <a:blip r:embed="rId1"/>
          <a:stretch>
            <a:fillRect/>
          </a:stretch>
        </p:blipFill>
        <p:spPr>
          <a:xfrm>
            <a:off x="1030288" y="98425"/>
            <a:ext cx="7446962" cy="6861175"/>
          </a:xfrm>
          <a:prstGeom prst="rect">
            <a:avLst/>
          </a:prstGeom>
          <a:noFill/>
          <a:ln w="9525">
            <a:noFill/>
          </a:ln>
        </p:spPr>
      </p:pic>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内容占位符 2"/>
          <p:cNvSpPr>
            <a:spLocks noGrp="1"/>
          </p:cNvSpPr>
          <p:nvPr>
            <p:ph idx="1"/>
          </p:nvPr>
        </p:nvSpPr>
        <p:spPr>
          <a:xfrm>
            <a:off x="527050" y="1909763"/>
            <a:ext cx="8207375" cy="4381500"/>
          </a:xfrm>
          <a:ln/>
        </p:spPr>
        <p:txBody>
          <a:bodyPr vert="horz" wrap="square" lIns="91221" tIns="45610" rIns="91221" bIns="45610" anchor="t" anchorCtr="0"/>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单一职责原则</a:t>
            </a:r>
            <a:endParaRPr lang="zh-CN" altLang="en-US" sz="3200"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开放</a:t>
            </a:r>
            <a:r>
              <a:rPr lang="en-US" altLang="zh-CN" sz="3200" b="1" dirty="0"/>
              <a:t>-</a:t>
            </a:r>
            <a:r>
              <a:rPr lang="zh-CN" altLang="en-US" sz="3200" b="1" dirty="0"/>
              <a:t>封闭原则</a:t>
            </a:r>
            <a:endParaRPr lang="zh-CN" altLang="en-US" sz="3200"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接口隔离原则</a:t>
            </a:r>
            <a:endParaRPr lang="zh-CN" altLang="en-US" sz="3200"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en-US" altLang="zh-CN" sz="3200" b="1" dirty="0"/>
              <a:t>Liskov</a:t>
            </a:r>
            <a:r>
              <a:rPr lang="zh-CN" altLang="en-US" sz="3200" b="1" dirty="0"/>
              <a:t>替换原则</a:t>
            </a:r>
            <a:endParaRPr lang="zh-CN" altLang="en-US" sz="3200"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依赖倒置原则</a:t>
            </a:r>
            <a:endParaRPr lang="zh-CN" altLang="en-US" sz="3200" b="1" dirty="0"/>
          </a:p>
        </p:txBody>
      </p:sp>
      <p:sp>
        <p:nvSpPr>
          <p:cNvPr id="89091" name="标题 1"/>
          <p:cNvSpPr>
            <a:spLocks noGrp="1"/>
          </p:cNvSpPr>
          <p:nvPr>
            <p:ph type="title"/>
          </p:nvPr>
        </p:nvSpPr>
        <p:spPr>
          <a:xfrm>
            <a:off x="455613" y="542925"/>
            <a:ext cx="8207375"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面向对象设计原则</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内容占位符 2"/>
          <p:cNvSpPr>
            <a:spLocks noGrp="1"/>
          </p:cNvSpPr>
          <p:nvPr>
            <p:ph idx="1"/>
          </p:nvPr>
        </p:nvSpPr>
        <p:spPr>
          <a:xfrm>
            <a:off x="311150" y="1406525"/>
            <a:ext cx="8616950" cy="4516438"/>
          </a:xfrm>
          <a:ln/>
        </p:spPr>
        <p:txBody>
          <a:bodyPr vert="horz" wrap="square" lIns="91221" tIns="45610" rIns="91221" bIns="45610" anchor="t" anchorCtr="0"/>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b="1" dirty="0"/>
              <a:t>一个类只完成某一类功能</a:t>
            </a:r>
            <a:r>
              <a:rPr lang="en-US" altLang="zh-CN" b="1" dirty="0"/>
              <a:t>(</a:t>
            </a:r>
            <a:r>
              <a:rPr lang="zh-CN" altLang="en-US" b="1" dirty="0"/>
              <a:t>职责</a:t>
            </a:r>
            <a:r>
              <a:rPr lang="en-US" altLang="zh-CN" b="1" dirty="0"/>
              <a:t>)</a:t>
            </a:r>
            <a:endParaRPr lang="en-US" altLang="zh-CN"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b="1" dirty="0"/>
              <a:t>尽可能避免出现一个“复合”功能的类</a:t>
            </a:r>
            <a:r>
              <a:rPr lang="en-US" altLang="zh-CN" b="1" dirty="0"/>
              <a:t>——</a:t>
            </a:r>
            <a:r>
              <a:rPr lang="zh-CN" altLang="en-US" b="1" dirty="0"/>
              <a:t>在同一个类中完成多个不同的功能</a:t>
            </a:r>
            <a:endParaRPr lang="zh-CN" altLang="en-US" dirty="0"/>
          </a:p>
        </p:txBody>
      </p:sp>
      <p:sp>
        <p:nvSpPr>
          <p:cNvPr id="90115" name="标题 1"/>
          <p:cNvSpPr>
            <a:spLocks noGrp="1"/>
          </p:cNvSpPr>
          <p:nvPr>
            <p:ph type="title"/>
          </p:nvPr>
        </p:nvSpPr>
        <p:spPr>
          <a:xfrm>
            <a:off x="455613" y="327025"/>
            <a:ext cx="8207375" cy="1139825"/>
          </a:xfrm>
          <a:ln/>
        </p:spPr>
        <p:txBody>
          <a:bodyPr vert="horz" wrap="square" lIns="0" tIns="45610" rIns="0" bIns="0" anchor="b" anchorCtr="0"/>
          <a:p>
            <a:pPr eaLnBrk="1" hangingPunct="1">
              <a:lnSpc>
                <a:spcPts val="4000"/>
              </a:lnSpc>
            </a:pP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、单一职责原则</a:t>
            </a:r>
            <a:endParaRPr lang="zh-CN" altLang="en-US" b="1" dirty="0">
              <a:latin typeface="微软雅黑" panose="020B0503020204020204" pitchFamily="34" charset="-122"/>
              <a:ea typeface="微软雅黑" panose="020B0503020204020204" pitchFamily="34" charset="-122"/>
            </a:endParaRPr>
          </a:p>
        </p:txBody>
      </p:sp>
      <p:pic>
        <p:nvPicPr>
          <p:cNvPr id="90116" name="Picture 4"/>
          <p:cNvPicPr>
            <a:picLocks noChangeAspect="1"/>
          </p:cNvPicPr>
          <p:nvPr/>
        </p:nvPicPr>
        <p:blipFill>
          <a:blip r:embed="rId1"/>
          <a:stretch>
            <a:fillRect/>
          </a:stretch>
        </p:blipFill>
        <p:spPr>
          <a:xfrm>
            <a:off x="2398713" y="3135313"/>
            <a:ext cx="4414837" cy="3841750"/>
          </a:xfrm>
          <a:prstGeom prst="rect">
            <a:avLst/>
          </a:prstGeom>
          <a:noFill/>
          <a:ln w="9525">
            <a:noFill/>
          </a:ln>
        </p:spPr>
      </p:pic>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内容占位符 1"/>
          <p:cNvSpPr>
            <a:spLocks noGrp="1"/>
          </p:cNvSpPr>
          <p:nvPr>
            <p:ph idx="1"/>
          </p:nvPr>
        </p:nvSpPr>
        <p:spPr>
          <a:ln/>
        </p:spPr>
        <p:txBody>
          <a:bodyPr vert="horz" wrap="square" lIns="91221" tIns="45610" rIns="91221" bIns="45610" anchor="t" anchorCtr="0"/>
          <a:p>
            <a:endParaRPr lang="zh-CN" altLang="en-US" dirty="0"/>
          </a:p>
        </p:txBody>
      </p:sp>
      <p:sp>
        <p:nvSpPr>
          <p:cNvPr id="91139" name="标题 2"/>
          <p:cNvSpPr>
            <a:spLocks noGrp="1"/>
          </p:cNvSpPr>
          <p:nvPr>
            <p:ph type="title"/>
          </p:nvPr>
        </p:nvSpPr>
        <p:spPr>
          <a:ln/>
        </p:spPr>
        <p:txBody>
          <a:bodyPr vert="horz" wrap="square" lIns="0" tIns="45610" rIns="0" bIns="0" anchor="b" anchorCtr="0"/>
          <a:p>
            <a:endParaRPr lang="zh-CN" altLang="en-US" dirty="0"/>
          </a:p>
        </p:txBody>
      </p:sp>
      <p:pic>
        <p:nvPicPr>
          <p:cNvPr id="91140" name="Picture 4"/>
          <p:cNvPicPr>
            <a:picLocks noChangeAspect="1"/>
          </p:cNvPicPr>
          <p:nvPr/>
        </p:nvPicPr>
        <p:blipFill>
          <a:blip r:embed="rId1"/>
          <a:stretch>
            <a:fillRect/>
          </a:stretch>
        </p:blipFill>
        <p:spPr>
          <a:xfrm>
            <a:off x="0" y="1982788"/>
            <a:ext cx="9118600" cy="3690937"/>
          </a:xfrm>
          <a:prstGeom prst="rect">
            <a:avLst/>
          </a:prstGeom>
          <a:noFill/>
          <a:ln w="9525">
            <a:noFill/>
          </a:ln>
        </p:spPr>
      </p:pic>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内容占位符 2"/>
          <p:cNvSpPr>
            <a:spLocks noGrp="1"/>
          </p:cNvSpPr>
          <p:nvPr>
            <p:ph idx="1"/>
          </p:nvPr>
        </p:nvSpPr>
        <p:spPr>
          <a:ln/>
        </p:spPr>
        <p:txBody>
          <a:bodyPr vert="horz" wrap="square" lIns="91221" tIns="45610" rIns="91221" bIns="45610" anchor="t" anchorCtr="0"/>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b="1" dirty="0"/>
              <a:t>开放−封闭原则：</a:t>
            </a:r>
            <a:r>
              <a:rPr lang="zh-CN" altLang="en-US" dirty="0"/>
              <a:t>软件实体类</a:t>
            </a:r>
            <a:r>
              <a:rPr lang="en-US" altLang="zh-CN" dirty="0"/>
              <a:t>(</a:t>
            </a:r>
            <a:r>
              <a:rPr lang="zh-CN" altLang="en-US" dirty="0"/>
              <a:t>类、模块、函数等</a:t>
            </a:r>
            <a:r>
              <a:rPr lang="en-US" altLang="zh-CN" dirty="0"/>
              <a:t>)</a:t>
            </a:r>
            <a:r>
              <a:rPr lang="zh-CN" altLang="en-US" dirty="0"/>
              <a:t>应该是可以扩展、但是不可修改的</a:t>
            </a:r>
            <a:endParaRPr lang="zh-CN" altLang="en-US"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b="1" dirty="0"/>
              <a:t>基本思想：</a:t>
            </a:r>
            <a:r>
              <a:rPr lang="zh-CN" altLang="en-US" dirty="0"/>
              <a:t>不用修改原有类就能扩展一个类的行为</a:t>
            </a:r>
            <a:endParaRPr lang="zh-CN" altLang="en-US" dirty="0"/>
          </a:p>
        </p:txBody>
      </p:sp>
      <p:sp>
        <p:nvSpPr>
          <p:cNvPr id="92163" name="标题 1"/>
          <p:cNvSpPr>
            <a:spLocks noGrp="1"/>
          </p:cNvSpPr>
          <p:nvPr>
            <p:ph type="title"/>
          </p:nvPr>
        </p:nvSpPr>
        <p:spPr>
          <a:xfrm>
            <a:off x="455613" y="542925"/>
            <a:ext cx="8207375" cy="1139825"/>
          </a:xfrm>
          <a:ln/>
        </p:spPr>
        <p:txBody>
          <a:bodyPr vert="horz" wrap="square" lIns="0" tIns="45610" rIns="0" bIns="0" anchor="b" anchorCtr="0"/>
          <a:p>
            <a:pPr eaLnBrk="1" hangingPunct="1">
              <a:lnSpc>
                <a:spcPts val="4000"/>
              </a:lnSpc>
            </a:pPr>
            <a:r>
              <a:rPr lang="en-US" altLang="zh-CN" b="1" dirty="0">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、开放−封闭原则</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noRot="1"/>
          </p:cNvSpPr>
          <p:nvPr>
            <p:ph type="title"/>
          </p:nvPr>
        </p:nvSpPr>
        <p:spPr>
          <a:xfrm>
            <a:off x="296863" y="228600"/>
            <a:ext cx="8518525"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什么是不封闭、不开放</a:t>
            </a:r>
            <a:endParaRPr lang="zh-CN" altLang="en-US" b="1" dirty="0">
              <a:latin typeface="微软雅黑" panose="020B0503020204020204" pitchFamily="34" charset="-122"/>
              <a:ea typeface="微软雅黑" panose="020B0503020204020204" pitchFamily="34" charset="-122"/>
            </a:endParaRPr>
          </a:p>
        </p:txBody>
      </p:sp>
      <p:sp>
        <p:nvSpPr>
          <p:cNvPr id="94211" name="Rectangle 3"/>
          <p:cNvSpPr>
            <a:spLocks noGrp="1" noRot="1"/>
          </p:cNvSpPr>
          <p:nvPr>
            <p:ph type="body" sz="half" idx="1"/>
          </p:nvPr>
        </p:nvSpPr>
        <p:spPr>
          <a:xfrm>
            <a:off x="7938" y="1477963"/>
            <a:ext cx="9118600" cy="1581150"/>
          </a:xfrm>
          <a:ln/>
        </p:spPr>
        <p:txBody>
          <a:bodyPr vert="horz" wrap="square" lIns="91221" tIns="45610" rIns="91221" bIns="45610" anchor="t" anchorCtr="0"/>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b="1" dirty="0"/>
              <a:t>如下的模型可以处理月薪制和时薪制职工工资，如果还要增加一种职工类型，其计酬方式不同（如提成制），则必定要修改</a:t>
            </a:r>
            <a:r>
              <a:rPr lang="en-US" altLang="zh-CN" b="1" dirty="0"/>
              <a:t>Employee</a:t>
            </a:r>
            <a:r>
              <a:rPr lang="zh-CN" altLang="en-US" b="1" dirty="0"/>
              <a:t>类</a:t>
            </a:r>
            <a:endParaRPr lang="zh-CN" altLang="en-US" b="1" dirty="0"/>
          </a:p>
        </p:txBody>
      </p:sp>
      <p:pic>
        <p:nvPicPr>
          <p:cNvPr id="96260" name="Picture 4"/>
          <p:cNvPicPr>
            <a:picLocks noGrp="1" noChangeAspect="1"/>
          </p:cNvPicPr>
          <p:nvPr>
            <p:ph sz="half" idx="2"/>
          </p:nvPr>
        </p:nvPicPr>
        <p:blipFill>
          <a:blip r:embed="rId1"/>
          <a:srcRect/>
          <a:stretch>
            <a:fillRect/>
          </a:stretch>
        </p:blipFill>
        <p:spPr>
          <a:xfrm>
            <a:off x="0" y="3206750"/>
            <a:ext cx="9118600" cy="3063875"/>
          </a:xfrm>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6260"/>
                                        </p:tgtEl>
                                        <p:attrNameLst>
                                          <p:attrName>style.visibility</p:attrName>
                                        </p:attrNameLst>
                                      </p:cBhvr>
                                      <p:to>
                                        <p:strVal val="visible"/>
                                      </p:to>
                                    </p:set>
                                    <p:animEffect transition="in" filter="dissolve">
                                      <p:cBhvr>
                                        <p:cTn id="7" dur="500"/>
                                        <p:tgtEl>
                                          <p:spTgt spid="96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2"/>
          <p:cNvSpPr>
            <a:spLocks noGrp="1" noRot="1"/>
          </p:cNvSpPr>
          <p:nvPr>
            <p:ph type="title"/>
          </p:nvPr>
        </p:nvSpPr>
        <p:spPr>
          <a:xfrm>
            <a:off x="296863" y="228600"/>
            <a:ext cx="8518525"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如何改进</a:t>
            </a:r>
            <a:endParaRPr lang="zh-CN" altLang="en-US" b="1" dirty="0">
              <a:latin typeface="微软雅黑" panose="020B0503020204020204" pitchFamily="34" charset="-122"/>
              <a:ea typeface="微软雅黑" panose="020B0503020204020204" pitchFamily="34" charset="-122"/>
            </a:endParaRPr>
          </a:p>
        </p:txBody>
      </p:sp>
      <p:sp>
        <p:nvSpPr>
          <p:cNvPr id="23555" name="Rectangle 3"/>
          <p:cNvSpPr>
            <a:spLocks noGrp="1" noRot="1" noChangeArrowheads="1"/>
          </p:cNvSpPr>
          <p:nvPr>
            <p:ph type="body" sz="half" idx="1"/>
          </p:nvPr>
        </p:nvSpPr>
        <p:spPr>
          <a:xfrm>
            <a:off x="382588" y="1477963"/>
            <a:ext cx="8054975" cy="1154113"/>
          </a:xfrm>
        </p:spPr>
        <p:txBody>
          <a:bodyPr vert="horz" wrap="square" lIns="91221" tIns="45610" rIns="91221" bIns="45610" numCol="1" anchor="t" anchorCtr="0" compatLnSpc="1"/>
          <a:lstStyle/>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利用抽象机制</a:t>
            </a:r>
            <a:endPar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Ø"/>
              <a:defRPr/>
            </a:pPr>
            <a:r>
              <a:rPr kumimoji="0"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封闭</a:t>
            </a: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Employee</a:t>
            </a: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及其子类是封闭的</a:t>
            </a:r>
            <a:endPar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Ø"/>
              <a:defRPr/>
            </a:pPr>
            <a:r>
              <a:rPr kumimoji="0"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开放</a:t>
            </a: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：可以派生新的子类，实现新的需求</a:t>
            </a:r>
            <a:endPar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pic>
        <p:nvPicPr>
          <p:cNvPr id="97284" name="Picture 4"/>
          <p:cNvPicPr>
            <a:picLocks noGrp="1" noChangeAspect="1"/>
          </p:cNvPicPr>
          <p:nvPr>
            <p:ph sz="half" idx="2"/>
          </p:nvPr>
        </p:nvPicPr>
        <p:blipFill>
          <a:blip r:embed="rId1"/>
          <a:srcRect/>
          <a:stretch>
            <a:fillRect/>
          </a:stretch>
        </p:blipFill>
        <p:spPr>
          <a:xfrm>
            <a:off x="671513" y="3206750"/>
            <a:ext cx="7781925" cy="3490913"/>
          </a:xfrm>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7284"/>
                                        </p:tgtEl>
                                        <p:attrNameLst>
                                          <p:attrName>style.visibility</p:attrName>
                                        </p:attrNameLst>
                                      </p:cBhvr>
                                      <p:to>
                                        <p:strVal val="visible"/>
                                      </p:to>
                                    </p:set>
                                    <p:animEffect transition="in" filter="dissolve">
                                      <p:cBhvr>
                                        <p:cTn id="7" dur="500"/>
                                        <p:tgtEl>
                                          <p:spTgt spid="972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内容占位符 2"/>
          <p:cNvSpPr>
            <a:spLocks noGrp="1"/>
          </p:cNvSpPr>
          <p:nvPr>
            <p:ph idx="1"/>
          </p:nvPr>
        </p:nvSpPr>
        <p:spPr>
          <a:xfrm>
            <a:off x="455613" y="1931988"/>
            <a:ext cx="8496300" cy="4381500"/>
          </a:xfrm>
          <a:ln/>
        </p:spPr>
        <p:txBody>
          <a:bodyPr vert="horz" wrap="square" lIns="91221" tIns="45610" rIns="91221" bIns="45610" anchor="t" anchorCtr="0"/>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en-US" altLang="zh-CN" sz="2800" b="1" dirty="0"/>
              <a:t>Liskov </a:t>
            </a:r>
            <a:r>
              <a:rPr lang="zh-CN" altLang="en-US" sz="2800" b="1" dirty="0"/>
              <a:t>替换原则：</a:t>
            </a:r>
            <a:r>
              <a:rPr lang="zh-CN" altLang="en-US" sz="2800" dirty="0"/>
              <a:t>子类应当可以替换父类并出现在父类能够出现的任何地方</a:t>
            </a:r>
            <a:endParaRPr lang="en-US" altLang="zh-CN" sz="2800"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2800" b="1" dirty="0"/>
              <a:t>核心思想：</a:t>
            </a:r>
            <a:r>
              <a:rPr lang="zh-CN" altLang="en-US" sz="2800" dirty="0"/>
              <a:t>子类型必须能够替换它们的基类型，该原则能够知道设计人员正确地进行类的继承与派生</a:t>
            </a:r>
            <a:endParaRPr lang="en-US" altLang="zh-CN" sz="2800" dirty="0"/>
          </a:p>
        </p:txBody>
      </p:sp>
      <p:sp>
        <p:nvSpPr>
          <p:cNvPr id="96259" name="标题 1"/>
          <p:cNvSpPr>
            <a:spLocks noGrp="1"/>
          </p:cNvSpPr>
          <p:nvPr>
            <p:ph type="title"/>
          </p:nvPr>
        </p:nvSpPr>
        <p:spPr>
          <a:ln/>
        </p:spPr>
        <p:txBody>
          <a:bodyPr vert="horz" wrap="square" lIns="0" tIns="45610" rIns="0" bIns="0" anchor="b" anchorCtr="0"/>
          <a:p>
            <a:pPr eaLnBrk="1" hangingPunct="1">
              <a:lnSpc>
                <a:spcPts val="4000"/>
              </a:lnSpc>
            </a:pPr>
            <a:r>
              <a:rPr lang="en-US" altLang="zh-CN" b="1" dirty="0">
                <a:latin typeface="微软雅黑" panose="020B0503020204020204" pitchFamily="34" charset="-122"/>
                <a:ea typeface="微软雅黑" panose="020B0503020204020204" pitchFamily="34" charset="-122"/>
              </a:rPr>
              <a:t>3</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Liskov </a:t>
            </a:r>
            <a:r>
              <a:rPr lang="zh-CN" altLang="en-US" b="1" dirty="0">
                <a:latin typeface="微软雅黑" panose="020B0503020204020204" pitchFamily="34" charset="-122"/>
                <a:ea typeface="微软雅黑" panose="020B0503020204020204" pitchFamily="34" charset="-122"/>
              </a:rPr>
              <a:t>替换原则</a:t>
            </a:r>
            <a:endParaRPr lang="zh-CN" altLang="en-US" b="1" dirty="0">
              <a:latin typeface="微软雅黑" panose="020B0503020204020204" pitchFamily="34" charset="-122"/>
              <a:ea typeface="微软雅黑" panose="020B0503020204020204" pitchFamily="34" charset="-122"/>
            </a:endParaRPr>
          </a:p>
        </p:txBody>
      </p:sp>
      <p:pic>
        <p:nvPicPr>
          <p:cNvPr id="96260" name="Picture 2"/>
          <p:cNvPicPr>
            <a:picLocks noChangeAspect="1"/>
          </p:cNvPicPr>
          <p:nvPr/>
        </p:nvPicPr>
        <p:blipFill>
          <a:blip r:embed="rId1"/>
          <a:stretch>
            <a:fillRect/>
          </a:stretch>
        </p:blipFill>
        <p:spPr>
          <a:xfrm>
            <a:off x="455613" y="4862513"/>
            <a:ext cx="8456612" cy="1831975"/>
          </a:xfrm>
          <a:prstGeom prst="rect">
            <a:avLst/>
          </a:prstGeom>
          <a:noFill/>
          <a:ln w="9525">
            <a:noFill/>
          </a:ln>
        </p:spPr>
      </p:pic>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2"/>
          <p:cNvSpPr>
            <a:spLocks noGrp="1" noRot="1"/>
          </p:cNvSpPr>
          <p:nvPr>
            <p:ph type="title"/>
          </p:nvPr>
        </p:nvSpPr>
        <p:spPr>
          <a:xfrm>
            <a:off x="311150" y="398463"/>
            <a:ext cx="8516938" cy="1141412"/>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一个违反</a:t>
            </a:r>
            <a:r>
              <a:rPr lang="en-US" altLang="zh-CN" b="1" dirty="0">
                <a:latin typeface="微软雅黑" panose="020B0503020204020204" pitchFamily="34" charset="-122"/>
                <a:ea typeface="微软雅黑" panose="020B0503020204020204" pitchFamily="34" charset="-122"/>
              </a:rPr>
              <a:t>Liskov</a:t>
            </a:r>
            <a:r>
              <a:rPr lang="zh-CN" altLang="en-US" b="1" dirty="0">
                <a:latin typeface="微软雅黑" panose="020B0503020204020204" pitchFamily="34" charset="-122"/>
                <a:ea typeface="微软雅黑" panose="020B0503020204020204" pitchFamily="34" charset="-122"/>
              </a:rPr>
              <a:t>原则的例子</a:t>
            </a:r>
            <a:endParaRPr lang="zh-CN" altLang="en-US" b="1" dirty="0">
              <a:latin typeface="微软雅黑" panose="020B0503020204020204" pitchFamily="34" charset="-122"/>
              <a:ea typeface="微软雅黑" panose="020B0503020204020204" pitchFamily="34" charset="-122"/>
            </a:endParaRPr>
          </a:p>
        </p:txBody>
      </p:sp>
      <p:sp>
        <p:nvSpPr>
          <p:cNvPr id="97283" name="Rectangle 3"/>
          <p:cNvSpPr>
            <a:spLocks noGrp="1" noRot="1"/>
          </p:cNvSpPr>
          <p:nvPr>
            <p:ph type="body" sz="half" idx="1"/>
          </p:nvPr>
        </p:nvSpPr>
        <p:spPr>
          <a:xfrm>
            <a:off x="393700" y="1643063"/>
            <a:ext cx="7985125" cy="1274762"/>
          </a:xfrm>
          <a:ln/>
        </p:spPr>
        <p:txBody>
          <a:bodyPr vert="horz" wrap="square" lIns="91221" tIns="45610" rIns="91221" bIns="45610" anchor="t" anchorCtr="0"/>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2800" b="1" dirty="0"/>
              <a:t>正方形是长方形的一种特例</a:t>
            </a:r>
            <a:endParaRPr lang="zh-CN" altLang="en-US" sz="2800" b="1" dirty="0"/>
          </a:p>
        </p:txBody>
      </p:sp>
      <p:pic>
        <p:nvPicPr>
          <p:cNvPr id="99332" name="Picture 4"/>
          <p:cNvPicPr>
            <a:picLocks noGrp="1" noChangeAspect="1"/>
          </p:cNvPicPr>
          <p:nvPr>
            <p:ph sz="half" idx="2"/>
          </p:nvPr>
        </p:nvPicPr>
        <p:blipFill>
          <a:blip r:embed="rId1"/>
          <a:srcRect/>
          <a:stretch>
            <a:fillRect/>
          </a:stretch>
        </p:blipFill>
        <p:spPr>
          <a:xfrm>
            <a:off x="0" y="2486025"/>
            <a:ext cx="9118600" cy="3025775"/>
          </a:xfrm>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9332"/>
                                        </p:tgtEl>
                                        <p:attrNameLst>
                                          <p:attrName>style.visibility</p:attrName>
                                        </p:attrNameLst>
                                      </p:cBhvr>
                                      <p:to>
                                        <p:strVal val="visible"/>
                                      </p:to>
                                    </p:set>
                                    <p:animEffect transition="in" filter="dissolve">
                                      <p:cBhvr>
                                        <p:cTn id="7" dur="500"/>
                                        <p:tgtEl>
                                          <p:spTgt spid="99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3"/>
          <p:cNvSpPr>
            <a:spLocks noGrp="1" noRot="1"/>
          </p:cNvSpPr>
          <p:nvPr>
            <p:ph type="body" sz="half" idx="1"/>
          </p:nvPr>
        </p:nvSpPr>
        <p:spPr>
          <a:xfrm>
            <a:off x="382588" y="1046163"/>
            <a:ext cx="8193087" cy="971550"/>
          </a:xfrm>
          <a:ln/>
        </p:spPr>
        <p:txBody>
          <a:bodyPr vert="horz" wrap="square" lIns="91221" tIns="45610" rIns="91221" bIns="45610" anchor="t" anchorCtr="0"/>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2800" b="1" dirty="0"/>
              <a:t>正方形有独特的行为方式</a:t>
            </a:r>
            <a:endParaRPr lang="zh-CN" altLang="en-US" sz="2800"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2800" b="1" dirty="0"/>
              <a:t>通过覆盖父类的有关方法来实现子类行为</a:t>
            </a:r>
            <a:endParaRPr lang="zh-CN" altLang="en-US" sz="2800" b="1" dirty="0"/>
          </a:p>
        </p:txBody>
      </p:sp>
      <p:pic>
        <p:nvPicPr>
          <p:cNvPr id="100356" name="Picture 4"/>
          <p:cNvPicPr>
            <a:picLocks noGrp="1" noChangeAspect="1"/>
          </p:cNvPicPr>
          <p:nvPr>
            <p:ph sz="half" idx="2"/>
          </p:nvPr>
        </p:nvPicPr>
        <p:blipFill>
          <a:blip r:embed="rId1"/>
          <a:srcRect/>
          <a:stretch>
            <a:fillRect/>
          </a:stretch>
        </p:blipFill>
        <p:spPr>
          <a:xfrm>
            <a:off x="527050" y="2559050"/>
            <a:ext cx="7799388" cy="3709988"/>
          </a:xfrm>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0356"/>
                                        </p:tgtEl>
                                        <p:attrNameLst>
                                          <p:attrName>style.visibility</p:attrName>
                                        </p:attrNameLst>
                                      </p:cBhvr>
                                      <p:to>
                                        <p:strVal val="visible"/>
                                      </p:to>
                                    </p:set>
                                    <p:animEffect transition="in" filter="dissolve">
                                      <p:cBhvr>
                                        <p:cTn id="7" dur="500"/>
                                        <p:tgtEl>
                                          <p:spTgt spid="100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2"/>
          <p:cNvSpPr>
            <a:spLocks noGrp="1" noRot="1"/>
          </p:cNvSpPr>
          <p:nvPr>
            <p:ph type="title"/>
          </p:nvPr>
        </p:nvSpPr>
        <p:spPr>
          <a:xfrm>
            <a:off x="455613" y="254000"/>
            <a:ext cx="8207375"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实际中的使用情况</a:t>
            </a:r>
            <a:endParaRPr lang="zh-CN" altLang="en-US" b="1" dirty="0">
              <a:latin typeface="微软雅黑" panose="020B0503020204020204" pitchFamily="34" charset="-122"/>
              <a:ea typeface="微软雅黑" panose="020B0503020204020204" pitchFamily="34" charset="-122"/>
            </a:endParaRPr>
          </a:p>
        </p:txBody>
      </p:sp>
      <p:sp>
        <p:nvSpPr>
          <p:cNvPr id="101379" name="Rectangle 3"/>
          <p:cNvSpPr>
            <a:spLocks noGrp="1" noRot="1" noChangeArrowheads="1"/>
          </p:cNvSpPr>
          <p:nvPr>
            <p:ph idx="1"/>
          </p:nvPr>
        </p:nvSpPr>
        <p:spPr>
          <a:xfrm>
            <a:off x="188913" y="1335088"/>
            <a:ext cx="8929688" cy="5318125"/>
          </a:xfrm>
        </p:spPr>
        <p:txBody>
          <a:bodyPr vert="horz" wrap="square" lIns="91221" tIns="45610" rIns="91221" bIns="45610" numCol="1" anchor="t" anchorCtr="0" compatLnSpc="1"/>
          <a:lstStyle/>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长方形的使用者按照长方形的特点来调用</a:t>
            </a:r>
            <a:r>
              <a:rPr kumimoji="1" lang="en-US" altLang="zh-CN" sz="2400" b="0"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SetWidth</a:t>
            </a:r>
            <a:r>
              <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和</a:t>
            </a:r>
            <a:r>
              <a:rPr kumimoji="1" lang="en-US" altLang="zh-CN" sz="2400" b="0"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SetHeight</a:t>
            </a:r>
            <a:r>
              <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两个函数，并测试面积，代码如下：</a:t>
            </a:r>
            <a:endPar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None/>
              <a:defRPr/>
            </a:pP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void </a:t>
            </a:r>
            <a:r>
              <a:rPr kumimoji="0" lang="en-US" altLang="zh-CN" sz="1800" b="0"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testArea</a:t>
            </a: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(Rectangle&amp; r) {</a:t>
            </a:r>
            <a:endPar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None/>
              <a:defRPr/>
            </a:pP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0"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r.SetWidth</a:t>
            </a: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(5);</a:t>
            </a:r>
            <a:endPar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None/>
              <a:defRPr/>
            </a:pP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en-US" altLang="zh-CN" sz="1800" b="0"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r.SetHeight</a:t>
            </a: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(4);</a:t>
            </a:r>
            <a:endPar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None/>
              <a:defRPr/>
            </a:pP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assert(</a:t>
            </a:r>
            <a:r>
              <a:rPr kumimoji="0" lang="en-US" altLang="zh-CN" sz="1800" b="0" i="0" u="none" strike="noStrike" kern="1200" cap="none" spc="0" normalizeH="0" baseline="0" noProof="0" dirty="0" err="1">
                <a:ln>
                  <a:noFill/>
                </a:ln>
                <a:solidFill>
                  <a:schemeClr val="tx1"/>
                </a:solidFill>
                <a:effectLst/>
                <a:uLnTx/>
                <a:uFillTx/>
                <a:latin typeface="+mn-lt"/>
                <a:ea typeface="宋体" panose="02010600030101010101" pitchFamily="2" charset="-122"/>
                <a:cs typeface="+mn-cs"/>
              </a:rPr>
              <a:t>r.Area</a:t>
            </a: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 20);</a:t>
            </a:r>
            <a:endPar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None/>
              <a:defRPr/>
            </a:pPr>
            <a:r>
              <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en-US" altLang="zh-CN" sz="1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如果传递进来的是</a:t>
            </a:r>
            <a:r>
              <a:rPr kumimoji="1"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Square</a:t>
            </a:r>
            <a:r>
              <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对象又会如何呢？显然会出现断言错误，测试失败。</a:t>
            </a:r>
            <a:endPar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对于客户程序来说，模型中的层次结构是脆弱的，因为违反了</a:t>
            </a:r>
            <a:r>
              <a:rPr kumimoji="1"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LSP</a:t>
            </a:r>
            <a:r>
              <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替换原则，</a:t>
            </a:r>
            <a:r>
              <a:rPr kumimoji="1"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Square</a:t>
            </a:r>
            <a:r>
              <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对象和</a:t>
            </a:r>
            <a:r>
              <a:rPr kumimoji="1"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Rectangle</a:t>
            </a:r>
            <a:r>
              <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对象的行为方式不相容</a:t>
            </a:r>
            <a:endPar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379">
                                            <p:txEl>
                                              <p:charRg st="0" end="5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379">
                                            <p:txEl>
                                              <p:charRg st="53" end="8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1379">
                                            <p:txEl>
                                              <p:charRg st="83" end="9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1379">
                                            <p:txEl>
                                              <p:charRg st="99" end="11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1379">
                                            <p:txEl>
                                              <p:charRg st="116" end="14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1379">
                                            <p:txEl>
                                              <p:charRg st="141" end="14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1379">
                                            <p:txEl>
                                              <p:charRg st="143" end="18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1379">
                                            <p:txEl>
                                              <p:charRg st="181" end="24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a:spLocks noGrp="1" noRot="1"/>
          </p:cNvSpPr>
          <p:nvPr>
            <p:ph type="title"/>
          </p:nvPr>
        </p:nvSpPr>
        <p:spPr>
          <a:xfrm>
            <a:off x="455613" y="469900"/>
            <a:ext cx="8207375" cy="1139825"/>
          </a:xfrm>
          <a:ln/>
        </p:spPr>
        <p:txBody>
          <a:bodyPr vert="horz" wrap="square" lIns="0" tIns="45610" rIns="0" bIns="0" anchor="b" anchorCtr="0"/>
          <a:p>
            <a:pPr eaLnBrk="1" hangingPunct="1">
              <a:lnSpc>
                <a:spcPts val="4000"/>
              </a:lnSpc>
            </a:pPr>
            <a:r>
              <a:rPr lang="en-US" altLang="zh-CN" b="1" dirty="0">
                <a:latin typeface="微软雅黑" panose="020B0503020204020204" pitchFamily="34" charset="-122"/>
                <a:ea typeface="微软雅黑" panose="020B0503020204020204" pitchFamily="34" charset="-122"/>
              </a:rPr>
              <a:t>4</a:t>
            </a:r>
            <a:r>
              <a:rPr lang="zh-CN" altLang="en-US" b="1" dirty="0">
                <a:latin typeface="微软雅黑" panose="020B0503020204020204" pitchFamily="34" charset="-122"/>
                <a:ea typeface="微软雅黑" panose="020B0503020204020204" pitchFamily="34" charset="-122"/>
              </a:rPr>
              <a:t>、接口隔离原则</a:t>
            </a:r>
            <a:endParaRPr lang="zh-CN" altLang="en-US" b="1" dirty="0">
              <a:latin typeface="微软雅黑" panose="020B0503020204020204" pitchFamily="34" charset="-122"/>
              <a:ea typeface="微软雅黑" panose="020B0503020204020204" pitchFamily="34" charset="-122"/>
            </a:endParaRPr>
          </a:p>
        </p:txBody>
      </p:sp>
      <p:sp>
        <p:nvSpPr>
          <p:cNvPr id="30723" name="Rectangle 3"/>
          <p:cNvSpPr>
            <a:spLocks noGrp="1" noRot="1" noChangeArrowheads="1"/>
          </p:cNvSpPr>
          <p:nvPr>
            <p:ph idx="1"/>
          </p:nvPr>
        </p:nvSpPr>
        <p:spPr/>
        <p:txBody>
          <a:bodyPr vert="horz" wrap="square" lIns="91221" tIns="45610" rIns="91221" bIns="45610" numCol="1" anchor="t" anchorCtr="0" compatLnSpc="1"/>
          <a:lstStyle/>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接口隔离原则：</a:t>
            </a:r>
            <a:r>
              <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采用多个与特定客户类有关的接口比采用一个通用的涵盖多个业务方法的接口更好。</a:t>
            </a:r>
            <a:endParaRPr kumimoji="1"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对接口的污染</a:t>
            </a:r>
            <a:endPar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Ø"/>
              <a:defRPr/>
            </a:pP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设计人员为了节省接口数目，而经常将一些功能相近或功能相关的接口合并成一个总的接口</a:t>
            </a:r>
            <a:endPar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Ø"/>
              <a:defRPr/>
            </a:pP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臃肿的大</a:t>
            </a: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接口</a:t>
            </a:r>
            <a:endPar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内容占位符 1"/>
          <p:cNvSpPr>
            <a:spLocks noGrp="1"/>
          </p:cNvSpPr>
          <p:nvPr>
            <p:ph idx="1"/>
          </p:nvPr>
        </p:nvSpPr>
        <p:spPr>
          <a:ln/>
        </p:spPr>
        <p:txBody>
          <a:bodyPr vert="horz" wrap="square" lIns="91221" tIns="45610" rIns="91221" bIns="45610" anchor="t" anchorCtr="0"/>
          <a:p>
            <a:pPr eaLnBrk="1" hangingPunct="1"/>
            <a:endParaRPr lang="zh-CN" altLang="en-US" dirty="0"/>
          </a:p>
        </p:txBody>
      </p:sp>
      <p:sp>
        <p:nvSpPr>
          <p:cNvPr id="101379" name="标题 2"/>
          <p:cNvSpPr>
            <a:spLocks noGrp="1"/>
          </p:cNvSpPr>
          <p:nvPr>
            <p:ph type="title"/>
          </p:nvPr>
        </p:nvSpPr>
        <p:spPr>
          <a:ln/>
        </p:spPr>
        <p:txBody>
          <a:bodyPr vert="horz" wrap="square" lIns="0" tIns="45610" rIns="0" bIns="0" anchor="b" anchorCtr="0"/>
          <a:p>
            <a:pPr eaLnBrk="1" hangingPunct="1"/>
            <a:endParaRPr lang="zh-CN" altLang="en-US" dirty="0"/>
          </a:p>
        </p:txBody>
      </p:sp>
      <p:pic>
        <p:nvPicPr>
          <p:cNvPr id="6" name="Picture 4"/>
          <p:cNvPicPr>
            <a:picLocks noChangeAspect="1"/>
          </p:cNvPicPr>
          <p:nvPr/>
        </p:nvPicPr>
        <p:blipFill>
          <a:blip r:embed="rId1"/>
          <a:stretch>
            <a:fillRect/>
          </a:stretch>
        </p:blipFill>
        <p:spPr>
          <a:xfrm>
            <a:off x="-34925" y="398463"/>
            <a:ext cx="4287838" cy="5260975"/>
          </a:xfrm>
          <a:prstGeom prst="rect">
            <a:avLst/>
          </a:prstGeom>
          <a:noFill/>
          <a:ln w="9525">
            <a:noFill/>
          </a:ln>
        </p:spPr>
      </p:pic>
      <p:pic>
        <p:nvPicPr>
          <p:cNvPr id="7" name="Picture 5"/>
          <p:cNvPicPr>
            <a:picLocks noChangeAspect="1"/>
          </p:cNvPicPr>
          <p:nvPr/>
        </p:nvPicPr>
        <p:blipFill>
          <a:blip r:embed="rId2"/>
          <a:stretch>
            <a:fillRect/>
          </a:stretch>
        </p:blipFill>
        <p:spPr>
          <a:xfrm>
            <a:off x="4198938" y="1693863"/>
            <a:ext cx="5056187" cy="5254625"/>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内容占位符 1"/>
          <p:cNvSpPr>
            <a:spLocks noGrp="1"/>
          </p:cNvSpPr>
          <p:nvPr>
            <p:ph idx="1"/>
          </p:nvPr>
        </p:nvSpPr>
        <p:spPr>
          <a:xfrm>
            <a:off x="455613" y="1700213"/>
            <a:ext cx="8496300" cy="5035550"/>
          </a:xfrm>
          <a:solidFill>
            <a:schemeClr val="bg1">
              <a:alpha val="100000"/>
            </a:schemeClr>
          </a:solidFill>
          <a:ln/>
        </p:spPr>
        <p:txBody>
          <a:bodyPr vert="horz" wrap="square" lIns="91221" tIns="45610" rIns="91221" bIns="45610" anchor="t" anchorCtr="0"/>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面向过程</a:t>
            </a:r>
            <a:r>
              <a:rPr lang="en-US" altLang="zh-CN" b="1" dirty="0"/>
              <a:t>——</a:t>
            </a:r>
            <a:r>
              <a:rPr lang="zh-CN" altLang="en-US" dirty="0"/>
              <a:t>自顶向下，逐步求精，形成上对下依赖</a:t>
            </a:r>
            <a:endParaRPr lang="en-US" altLang="zh-CN" dirty="0"/>
          </a:p>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依赖倒置原则：</a:t>
            </a:r>
            <a:r>
              <a:rPr lang="zh-CN" altLang="en-US" dirty="0"/>
              <a:t>应用系统中的高层模块不应依赖于底层模块；抽象不应该依赖于细节实现，实现细节应该依赖于抽象。</a:t>
            </a:r>
            <a:endParaRPr lang="zh-CN" altLang="en-US" dirty="0"/>
          </a:p>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优点：</a:t>
            </a:r>
            <a:r>
              <a:rPr lang="zh-CN" altLang="en-US" dirty="0"/>
              <a:t>复用、灵活性、易维护</a:t>
            </a:r>
            <a:endParaRPr lang="zh-CN" altLang="en-US" dirty="0"/>
          </a:p>
          <a:p>
            <a:pPr marL="363855" indent="-254000" defTabSz="914400" eaLnBrk="1" hangingPunct="1">
              <a:buFont typeface="Wingdings 3" panose="05040102010807070707" pitchFamily="18" charset="2"/>
              <a:buChar char=""/>
              <a:tabLst>
                <a:tab pos="457200" algn="l"/>
              </a:tabLst>
            </a:pPr>
            <a:endParaRPr lang="zh-CN" altLang="en-US" sz="2000" dirty="0"/>
          </a:p>
          <a:p>
            <a:pPr marL="363855" indent="-254000" defTabSz="914400" eaLnBrk="1" hangingPunct="1">
              <a:buFont typeface="Wingdings 3" panose="05040102010807070707" pitchFamily="18" charset="2"/>
              <a:buChar char=""/>
              <a:tabLst>
                <a:tab pos="457200" algn="l"/>
              </a:tabLst>
            </a:pPr>
            <a:endParaRPr lang="zh-CN" altLang="en-US" sz="2000" dirty="0"/>
          </a:p>
        </p:txBody>
      </p:sp>
      <p:sp>
        <p:nvSpPr>
          <p:cNvPr id="102403" name="标题 2"/>
          <p:cNvSpPr>
            <a:spLocks noGrp="1"/>
          </p:cNvSpPr>
          <p:nvPr>
            <p:ph type="title"/>
          </p:nvPr>
        </p:nvSpPr>
        <p:spPr>
          <a:xfrm>
            <a:off x="455613" y="469900"/>
            <a:ext cx="8207375" cy="1139825"/>
          </a:xfrm>
          <a:ln/>
        </p:spPr>
        <p:txBody>
          <a:bodyPr vert="horz" wrap="square" lIns="0" tIns="45610" rIns="0" bIns="0" anchor="b" anchorCtr="0"/>
          <a:p>
            <a:pPr eaLnBrk="1" hangingPunct="1">
              <a:lnSpc>
                <a:spcPts val="4000"/>
              </a:lnSpc>
            </a:pPr>
            <a:r>
              <a:rPr lang="en-US" altLang="zh-CN" b="1" dirty="0">
                <a:latin typeface="微软雅黑" panose="020B0503020204020204" pitchFamily="34" charset="-122"/>
                <a:ea typeface="微软雅黑" panose="020B0503020204020204" pitchFamily="34" charset="-122"/>
              </a:rPr>
              <a:t>5</a:t>
            </a:r>
            <a:r>
              <a:rPr lang="zh-CN" altLang="en-US" b="1" dirty="0">
                <a:latin typeface="微软雅黑" panose="020B0503020204020204" pitchFamily="34" charset="-122"/>
                <a:ea typeface="微软雅黑" panose="020B0503020204020204" pitchFamily="34" charset="-122"/>
              </a:rPr>
              <a:t>、依赖倒置原则</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内容占位符 2"/>
          <p:cNvSpPr>
            <a:spLocks noGrp="1"/>
          </p:cNvSpPr>
          <p:nvPr>
            <p:ph idx="1"/>
          </p:nvPr>
        </p:nvSpPr>
        <p:spPr>
          <a:ln/>
        </p:spPr>
        <p:txBody>
          <a:bodyPr vert="horz" wrap="square" lIns="91221" tIns="45610" rIns="91221" bIns="45610" anchor="t" anchorCtr="0"/>
          <a:p>
            <a:pPr eaLnBrk="1" hangingPunct="1"/>
            <a:endParaRPr lang="zh-CN" altLang="en-US" dirty="0"/>
          </a:p>
        </p:txBody>
      </p:sp>
      <p:pic>
        <p:nvPicPr>
          <p:cNvPr id="12292" name="Picture 4"/>
          <p:cNvPicPr>
            <a:picLocks noChangeAspect="1"/>
          </p:cNvPicPr>
          <p:nvPr/>
        </p:nvPicPr>
        <p:blipFill>
          <a:blip r:embed="rId1"/>
          <a:stretch>
            <a:fillRect/>
          </a:stretch>
        </p:blipFill>
        <p:spPr>
          <a:xfrm>
            <a:off x="671513" y="1479550"/>
            <a:ext cx="7569200" cy="3308350"/>
          </a:xfrm>
          <a:prstGeom prst="rect">
            <a:avLst/>
          </a:prstGeom>
          <a:noFill/>
          <a:ln w="9525">
            <a:noFill/>
          </a:ln>
        </p:spPr>
      </p:pic>
      <p:pic>
        <p:nvPicPr>
          <p:cNvPr id="12293" name="Picture 5"/>
          <p:cNvPicPr>
            <a:picLocks noChangeAspect="1"/>
          </p:cNvPicPr>
          <p:nvPr/>
        </p:nvPicPr>
        <p:blipFill>
          <a:blip r:embed="rId2"/>
          <a:stretch>
            <a:fillRect/>
          </a:stretch>
        </p:blipFill>
        <p:spPr>
          <a:xfrm>
            <a:off x="382588" y="1468438"/>
            <a:ext cx="8424862" cy="3449637"/>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229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9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229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2"/>
          <p:cNvSpPr>
            <a:spLocks noGrp="1" noRot="1"/>
          </p:cNvSpPr>
          <p:nvPr>
            <p:ph type="title"/>
          </p:nvPr>
        </p:nvSpPr>
        <p:spPr>
          <a:xfrm>
            <a:off x="455613" y="542925"/>
            <a:ext cx="8207375"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如何遵守设计原则</a:t>
            </a:r>
            <a:endParaRPr lang="zh-CN" altLang="en-US" b="1" dirty="0">
              <a:latin typeface="微软雅黑" panose="020B0503020204020204" pitchFamily="34" charset="-122"/>
              <a:ea typeface="微软雅黑" panose="020B0503020204020204" pitchFamily="34" charset="-122"/>
            </a:endParaRPr>
          </a:p>
        </p:txBody>
      </p:sp>
      <p:sp>
        <p:nvSpPr>
          <p:cNvPr id="104451" name="Rectangle 3"/>
          <p:cNvSpPr>
            <a:spLocks noGrp="1" noRot="1"/>
          </p:cNvSpPr>
          <p:nvPr>
            <p:ph idx="1"/>
          </p:nvPr>
        </p:nvSpPr>
        <p:spPr>
          <a:ln/>
        </p:spPr>
        <p:txBody>
          <a:bodyPr vert="horz" wrap="square" lIns="91221" tIns="45610" rIns="91221" bIns="45610" anchor="t" anchorCtr="0"/>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设计原则不是死记硬背，而是要灵活运用</a:t>
            </a:r>
            <a:endParaRPr lang="zh-CN" altLang="en-US" b="1" dirty="0"/>
          </a:p>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一些成熟的</a:t>
            </a:r>
            <a:r>
              <a:rPr lang="zh-CN" altLang="en-US" b="1" dirty="0">
                <a:solidFill>
                  <a:srgbClr val="FF0000"/>
                </a:solidFill>
              </a:rPr>
              <a:t>设计模式</a:t>
            </a:r>
            <a:r>
              <a:rPr lang="zh-CN" altLang="en-US" b="1" dirty="0"/>
              <a:t>可以帮助我们解决实际问题，并且符合设计原则</a:t>
            </a:r>
            <a:endParaRPr lang="zh-CN" altLang="en-US" b="1" dirty="0"/>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内容占位符 2"/>
          <p:cNvSpPr>
            <a:spLocks noGrp="1"/>
          </p:cNvSpPr>
          <p:nvPr>
            <p:ph idx="1"/>
          </p:nvPr>
        </p:nvSpPr>
        <p:spPr>
          <a:ln/>
        </p:spPr>
        <p:txBody>
          <a:bodyPr vert="horz" wrap="square" lIns="91221" tIns="45610" rIns="91221" bIns="45610" anchor="t" anchorCtr="0"/>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solidFill>
                  <a:srgbClr val="FF0000"/>
                </a:solidFill>
              </a:rPr>
              <a:t>广义上讲</a:t>
            </a:r>
            <a:r>
              <a:rPr lang="zh-CN" altLang="en-US" b="1" dirty="0"/>
              <a:t>：设计模式是对被用来在</a:t>
            </a:r>
            <a:r>
              <a:rPr lang="zh-CN" altLang="en-US" b="1" dirty="0">
                <a:solidFill>
                  <a:srgbClr val="FF0000"/>
                </a:solidFill>
              </a:rPr>
              <a:t>特定场景下</a:t>
            </a:r>
            <a:r>
              <a:rPr lang="zh-CN" altLang="en-US" b="1" dirty="0"/>
              <a:t>解决一般设计问题的</a:t>
            </a:r>
            <a:r>
              <a:rPr lang="zh-CN" altLang="en-US" b="1" dirty="0">
                <a:solidFill>
                  <a:srgbClr val="FF0000"/>
                </a:solidFill>
              </a:rPr>
              <a:t>类和相互通信的对象</a:t>
            </a:r>
            <a:r>
              <a:rPr lang="zh-CN" altLang="en-US" b="1" dirty="0"/>
              <a:t>的描述。</a:t>
            </a:r>
            <a:endParaRPr lang="en-US" altLang="zh-CN" b="1" dirty="0"/>
          </a:p>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solidFill>
                  <a:srgbClr val="FF0000"/>
                </a:solidFill>
              </a:rPr>
              <a:t>狭义上讲</a:t>
            </a:r>
            <a:r>
              <a:rPr lang="zh-CN" altLang="en-US" b="1" dirty="0"/>
              <a:t>：设计模式就是对特定问题的</a:t>
            </a:r>
            <a:r>
              <a:rPr lang="zh-CN" altLang="en-US" b="1" dirty="0">
                <a:solidFill>
                  <a:srgbClr val="FF0000"/>
                </a:solidFill>
              </a:rPr>
              <a:t>描述或解决方案</a:t>
            </a:r>
            <a:r>
              <a:rPr lang="zh-CN" altLang="en-US" b="1" dirty="0"/>
              <a:t>，往往直接对应</a:t>
            </a:r>
            <a:r>
              <a:rPr lang="zh-CN" altLang="en-US" b="1" dirty="0">
                <a:solidFill>
                  <a:srgbClr val="FF0000"/>
                </a:solidFill>
              </a:rPr>
              <a:t>一段程序代码</a:t>
            </a:r>
            <a:r>
              <a:rPr lang="zh-CN" altLang="en-US" b="1" dirty="0"/>
              <a:t>。</a:t>
            </a:r>
            <a:endParaRPr lang="zh-CN" altLang="en-US" b="1" dirty="0"/>
          </a:p>
        </p:txBody>
      </p:sp>
      <p:sp>
        <p:nvSpPr>
          <p:cNvPr id="105475" name="标题 1"/>
          <p:cNvSpPr>
            <a:spLocks noGrp="1"/>
          </p:cNvSpPr>
          <p:nvPr>
            <p:ph type="title"/>
          </p:nvPr>
        </p:nvSpPr>
        <p:spPr>
          <a:xfrm>
            <a:off x="455613" y="469900"/>
            <a:ext cx="8207375"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设 计 模 式</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内容占位符 2"/>
          <p:cNvSpPr>
            <a:spLocks noGrp="1"/>
          </p:cNvSpPr>
          <p:nvPr>
            <p:ph idx="1"/>
          </p:nvPr>
        </p:nvSpPr>
        <p:spPr>
          <a:xfrm>
            <a:off x="179388" y="1770063"/>
            <a:ext cx="8516937" cy="4456112"/>
          </a:xfrm>
          <a:solidFill>
            <a:schemeClr val="bg1">
              <a:alpha val="100000"/>
            </a:schemeClr>
          </a:solidFill>
          <a:ln/>
        </p:spPr>
        <p:txBody>
          <a:bodyPr vert="horz" wrap="square" lIns="91221" tIns="45610" rIns="91221" bIns="45610" anchor="t" anchorCtr="0"/>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作用：</a:t>
            </a:r>
            <a:r>
              <a:rPr lang="zh-CN" altLang="en-US" dirty="0"/>
              <a:t>记录和提炼了软件人员在面向对象软件设计中的成功</a:t>
            </a:r>
            <a:r>
              <a:rPr lang="zh-CN" altLang="en-US" b="1" dirty="0">
                <a:solidFill>
                  <a:srgbClr val="FF0000"/>
                </a:solidFill>
              </a:rPr>
              <a:t>经验和问题的解决方案</a:t>
            </a:r>
            <a:r>
              <a:rPr lang="zh-CN" altLang="en-US" dirty="0"/>
              <a:t>，是</a:t>
            </a:r>
            <a:r>
              <a:rPr lang="zh-CN" altLang="en-US" b="1" dirty="0">
                <a:solidFill>
                  <a:srgbClr val="FF0000"/>
                </a:solidFill>
              </a:rPr>
              <a:t>系统可复用的基础</a:t>
            </a:r>
            <a:r>
              <a:rPr lang="zh-CN" altLang="en-US" dirty="0"/>
              <a:t>。正确地使用设计模式，有助于快速开发出可复用的系统。</a:t>
            </a:r>
            <a:endParaRPr lang="en-US" altLang="zh-CN" dirty="0"/>
          </a:p>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意义：</a:t>
            </a:r>
            <a:endParaRPr lang="en-US" altLang="zh-CN" b="1" dirty="0"/>
          </a:p>
          <a:p>
            <a:pPr marL="624205" lvl="3" indent="-342900" defTabSz="914400" eaLnBrk="1" hangingPunct="1">
              <a:lnSpc>
                <a:spcPct val="120000"/>
              </a:lnSpc>
              <a:spcBef>
                <a:spcPts val="400"/>
              </a:spcBef>
              <a:buClr>
                <a:schemeClr val="accent1"/>
              </a:buClr>
              <a:buSzPct val="68000"/>
              <a:buFont typeface="Wingdings" panose="05000000000000000000" pitchFamily="2" charset="2"/>
              <a:buChar char="Ø"/>
              <a:tabLst>
                <a:tab pos="457200" algn="l"/>
              </a:tabLst>
            </a:pPr>
            <a:r>
              <a:rPr lang="zh-CN" altLang="en-US" sz="2400" dirty="0"/>
              <a:t>优化的设计经验</a:t>
            </a:r>
            <a:endParaRPr lang="en-US" altLang="zh-CN" sz="2400" dirty="0"/>
          </a:p>
          <a:p>
            <a:pPr marL="624205" lvl="3" indent="-342900" defTabSz="914400" eaLnBrk="1" hangingPunct="1">
              <a:lnSpc>
                <a:spcPct val="120000"/>
              </a:lnSpc>
              <a:spcBef>
                <a:spcPts val="400"/>
              </a:spcBef>
              <a:buClr>
                <a:schemeClr val="accent1"/>
              </a:buClr>
              <a:buSzPct val="68000"/>
              <a:buFont typeface="Wingdings" panose="05000000000000000000" pitchFamily="2" charset="2"/>
              <a:buChar char="Ø"/>
              <a:tabLst>
                <a:tab pos="457200" algn="l"/>
              </a:tabLst>
            </a:pPr>
            <a:r>
              <a:rPr lang="zh-CN" altLang="en-US" sz="2400" dirty="0"/>
              <a:t>极高的复用性</a:t>
            </a:r>
            <a:endParaRPr lang="en-US" altLang="zh-CN" sz="2400" dirty="0"/>
          </a:p>
          <a:p>
            <a:pPr marL="624205" lvl="3" indent="-342900" defTabSz="914400" eaLnBrk="1" hangingPunct="1">
              <a:lnSpc>
                <a:spcPct val="120000"/>
              </a:lnSpc>
              <a:spcBef>
                <a:spcPts val="400"/>
              </a:spcBef>
              <a:buClr>
                <a:schemeClr val="accent1"/>
              </a:buClr>
              <a:buSzPct val="68000"/>
              <a:buFont typeface="Wingdings" panose="05000000000000000000" pitchFamily="2" charset="2"/>
              <a:buChar char="Ø"/>
              <a:tabLst>
                <a:tab pos="457200" algn="l"/>
              </a:tabLst>
            </a:pPr>
            <a:r>
              <a:rPr lang="zh-CN" altLang="en-US" sz="2400" dirty="0"/>
              <a:t>丰富的表达能力</a:t>
            </a:r>
            <a:endParaRPr lang="en-US" altLang="zh-CN" sz="2400" dirty="0"/>
          </a:p>
          <a:p>
            <a:pPr marL="624205" lvl="3" indent="-342900" defTabSz="914400" eaLnBrk="1" hangingPunct="1">
              <a:lnSpc>
                <a:spcPct val="120000"/>
              </a:lnSpc>
              <a:spcBef>
                <a:spcPts val="400"/>
              </a:spcBef>
              <a:buClr>
                <a:schemeClr val="accent1"/>
              </a:buClr>
              <a:buSzPct val="68000"/>
              <a:buFont typeface="Wingdings" panose="05000000000000000000" pitchFamily="2" charset="2"/>
              <a:buChar char="Ø"/>
              <a:tabLst>
                <a:tab pos="457200" algn="l"/>
              </a:tabLst>
            </a:pPr>
            <a:r>
              <a:rPr lang="zh-CN" altLang="en-US" sz="2400" dirty="0"/>
              <a:t>极低的耦合度</a:t>
            </a:r>
            <a:endParaRPr lang="zh-CN" altLang="en-US" sz="2400" dirty="0"/>
          </a:p>
        </p:txBody>
      </p:sp>
      <p:sp>
        <p:nvSpPr>
          <p:cNvPr id="106499" name="标题 1"/>
          <p:cNvSpPr>
            <a:spLocks noGrp="1"/>
          </p:cNvSpPr>
          <p:nvPr>
            <p:ph type="title"/>
          </p:nvPr>
        </p:nvSpPr>
        <p:spPr>
          <a:xfrm>
            <a:off x="300038" y="469900"/>
            <a:ext cx="8818562" cy="1141413"/>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设计模式的作用和研究意义</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内容占位符 1"/>
          <p:cNvSpPr>
            <a:spLocks noGrp="1"/>
          </p:cNvSpPr>
          <p:nvPr>
            <p:ph idx="1"/>
          </p:nvPr>
        </p:nvSpPr>
        <p:spPr>
          <a:ln/>
        </p:spPr>
        <p:txBody>
          <a:bodyPr vert="horz" wrap="square" lIns="91221" tIns="45610" rIns="91221" bIns="45610" anchor="t" anchorCtr="0"/>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从面向对象分析到面向对象设计，是一个逐渐扩充模型的过程，二者需要多次反复迭代。</a:t>
            </a:r>
            <a:endParaRPr lang="en-US" altLang="zh-CN" b="1" dirty="0"/>
          </a:p>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en-US" altLang="zh-CN" b="1" dirty="0"/>
              <a:t>OOD </a:t>
            </a:r>
            <a:r>
              <a:rPr lang="zh-CN" altLang="en-US" b="1" dirty="0"/>
              <a:t>主要包括两个方面：系统设计和详细设计。</a:t>
            </a:r>
            <a:endParaRPr lang="en-US" altLang="zh-CN" b="1" dirty="0"/>
          </a:p>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系统设计包括软件体系结构设计和硬件体系结构设计</a:t>
            </a:r>
            <a:endParaRPr lang="en-US" altLang="zh-CN" b="1" dirty="0"/>
          </a:p>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详细设计包括对象设计和对象持久化设计</a:t>
            </a:r>
            <a:endParaRPr lang="en-US" altLang="zh-CN" b="1" dirty="0"/>
          </a:p>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五个设计原则和设计模式</a:t>
            </a:r>
            <a:endParaRPr lang="zh-CN" altLang="en-US" b="1" dirty="0"/>
          </a:p>
        </p:txBody>
      </p:sp>
      <p:sp>
        <p:nvSpPr>
          <p:cNvPr id="107523" name="标题 2"/>
          <p:cNvSpPr>
            <a:spLocks noGrp="1"/>
          </p:cNvSpPr>
          <p:nvPr>
            <p:ph type="title"/>
          </p:nvPr>
        </p:nvSpPr>
        <p:spPr>
          <a:xfrm>
            <a:off x="455613" y="542925"/>
            <a:ext cx="8207375"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小结</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tags/tag1.xml><?xml version="1.0" encoding="utf-8"?>
<p:tagLst xmlns:p="http://schemas.openxmlformats.org/presentationml/2006/main">
  <p:tag name="commondata" val="eyJoZGlkIjoiZTNhZDIxYmVkM2NhYTRiNDgwZDM4ZDVhYjhiY2EzM2IifQ=="/>
</p:tagLst>
</file>

<file path=ppt/theme/_rels/theme1.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0</TotalTime>
  <Words>6456</Words>
  <Application>WPS 演示</Application>
  <PresentationFormat/>
  <Paragraphs>678</Paragraphs>
  <Slides>83</Slides>
  <Notes>13</Notes>
  <HiddenSlides>0</HiddenSlides>
  <MMClips>0</MMClips>
  <ScaleCrop>false</ScaleCrop>
  <HeadingPairs>
    <vt:vector size="8" baseType="variant">
      <vt:variant>
        <vt:lpstr>已用的字体</vt:lpstr>
      </vt:variant>
      <vt:variant>
        <vt:i4>23</vt:i4>
      </vt:variant>
      <vt:variant>
        <vt:lpstr>主题</vt:lpstr>
      </vt:variant>
      <vt:variant>
        <vt:i4>1</vt:i4>
      </vt:variant>
      <vt:variant>
        <vt:lpstr>嵌入 OLE 服务器</vt:lpstr>
      </vt:variant>
      <vt:variant>
        <vt:i4>4</vt:i4>
      </vt:variant>
      <vt:variant>
        <vt:lpstr>幻灯片标题</vt:lpstr>
      </vt:variant>
      <vt:variant>
        <vt:i4>83</vt:i4>
      </vt:variant>
    </vt:vector>
  </HeadingPairs>
  <TitlesOfParts>
    <vt:vector size="111" baseType="lpstr">
      <vt:lpstr>Arial</vt:lpstr>
      <vt:lpstr>宋体</vt:lpstr>
      <vt:lpstr>Wingdings</vt:lpstr>
      <vt:lpstr>黑体</vt:lpstr>
      <vt:lpstr>Calibri</vt:lpstr>
      <vt:lpstr>隶书</vt:lpstr>
      <vt:lpstr>Constantia</vt:lpstr>
      <vt:lpstr>Wingdings 2</vt:lpstr>
      <vt:lpstr>楷体_GB2312</vt:lpstr>
      <vt:lpstr>新宋体</vt:lpstr>
      <vt:lpstr>微软雅黑</vt:lpstr>
      <vt:lpstr>幼圆</vt:lpstr>
      <vt:lpstr>华文细黑</vt:lpstr>
      <vt:lpstr>Times New Roman</vt:lpstr>
      <vt:lpstr>Comic Sans MS</vt:lpstr>
      <vt:lpstr>仿宋_GB2312</vt:lpstr>
      <vt:lpstr>仿宋</vt:lpstr>
      <vt:lpstr>Monotype Sorts</vt:lpstr>
      <vt:lpstr>Wingdings</vt:lpstr>
      <vt:lpstr>Wingdings 3</vt:lpstr>
      <vt:lpstr>Wingdings 2</vt:lpstr>
      <vt:lpstr>Arial Unicode MS</vt:lpstr>
      <vt:lpstr>Lucida Sans Unicode</vt:lpstr>
      <vt:lpstr>流畅</vt:lpstr>
      <vt:lpstr>Visio.Drawing.11</vt:lpstr>
      <vt:lpstr>Visio.Drawing.11</vt:lpstr>
      <vt:lpstr>Visio.Drawing.11</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zj</dc:creator>
  <cp:lastModifiedBy>喻杰</cp:lastModifiedBy>
  <cp:revision>530</cp:revision>
  <dcterms:created xsi:type="dcterms:W3CDTF">2010-02-20T02:56:04Z</dcterms:created>
  <dcterms:modified xsi:type="dcterms:W3CDTF">2024-10-30T02:50:04Z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A537CBD2018648E8BA176579D67B28CE_12</vt:lpwstr>
  </property>
  <property fmtid="{D5CDD505-2E9C-101B-9397-08002B2CF9AE}" pid="3" name="KSOProductBuildVer">
    <vt:lpwstr>2052-12.1.0.17827</vt:lpwstr>
  </property>
</Properties>
</file>