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8"/>
  </p:notesMasterIdLst>
  <p:sldIdLst>
    <p:sldId id="473" r:id="rId4"/>
    <p:sldId id="1263" r:id="rId5"/>
    <p:sldId id="1353" r:id="rId6"/>
    <p:sldId id="1354" r:id="rId7"/>
    <p:sldId id="1355" r:id="rId8"/>
    <p:sldId id="1356" r:id="rId9"/>
    <p:sldId id="1357" r:id="rId10"/>
    <p:sldId id="1358" r:id="rId11"/>
    <p:sldId id="1359" r:id="rId12"/>
    <p:sldId id="1445" r:id="rId13"/>
    <p:sldId id="1446" r:id="rId14"/>
    <p:sldId id="1447" r:id="rId15"/>
    <p:sldId id="1448" r:id="rId16"/>
    <p:sldId id="1362" r:id="rId17"/>
    <p:sldId id="1361" r:id="rId19"/>
    <p:sldId id="1449" r:id="rId20"/>
    <p:sldId id="1267" r:id="rId21"/>
    <p:sldId id="1268" r:id="rId22"/>
    <p:sldId id="1269" r:id="rId23"/>
    <p:sldId id="1270" r:id="rId24"/>
    <p:sldId id="1271" r:id="rId25"/>
    <p:sldId id="1272" r:id="rId26"/>
    <p:sldId id="1273" r:id="rId27"/>
    <p:sldId id="1274" r:id="rId28"/>
    <p:sldId id="1275" r:id="rId29"/>
    <p:sldId id="1475" r:id="rId30"/>
    <p:sldId id="1450" r:id="rId31"/>
    <p:sldId id="1451" r:id="rId32"/>
    <p:sldId id="1452" r:id="rId33"/>
    <p:sldId id="1453" r:id="rId34"/>
    <p:sldId id="1454" r:id="rId35"/>
    <p:sldId id="1455" r:id="rId36"/>
    <p:sldId id="1456" r:id="rId37"/>
    <p:sldId id="1457" r:id="rId38"/>
    <p:sldId id="1458" r:id="rId39"/>
    <p:sldId id="1459" r:id="rId40"/>
    <p:sldId id="1460" r:id="rId41"/>
    <p:sldId id="1461" r:id="rId42"/>
    <p:sldId id="1462" r:id="rId43"/>
    <p:sldId id="1463" r:id="rId44"/>
    <p:sldId id="1464" r:id="rId45"/>
    <p:sldId id="1465" r:id="rId46"/>
    <p:sldId id="1466" r:id="rId47"/>
    <p:sldId id="1467" r:id="rId48"/>
    <p:sldId id="1468" r:id="rId49"/>
    <p:sldId id="1469" r:id="rId50"/>
    <p:sldId id="1470" r:id="rId51"/>
    <p:sldId id="1471" r:id="rId52"/>
    <p:sldId id="1476" r:id="rId53"/>
    <p:sldId id="1477" r:id="rId54"/>
    <p:sldId id="1364" r:id="rId55"/>
    <p:sldId id="1365" r:id="rId56"/>
    <p:sldId id="1478" r:id="rId57"/>
    <p:sldId id="1288" r:id="rId58"/>
    <p:sldId id="1291" r:id="rId59"/>
    <p:sldId id="1292" r:id="rId60"/>
    <p:sldId id="1293" r:id="rId61"/>
    <p:sldId id="1294" r:id="rId62"/>
    <p:sldId id="1300" r:id="rId63"/>
    <p:sldId id="1301" r:id="rId64"/>
    <p:sldId id="1302" r:id="rId65"/>
    <p:sldId id="1303" r:id="rId66"/>
    <p:sldId id="1304" r:id="rId67"/>
    <p:sldId id="1308" r:id="rId68"/>
    <p:sldId id="1309" r:id="rId69"/>
    <p:sldId id="1310" r:id="rId70"/>
    <p:sldId id="1311" r:id="rId71"/>
    <p:sldId id="1312" r:id="rId72"/>
    <p:sldId id="1313" r:id="rId73"/>
    <p:sldId id="1314" r:id="rId74"/>
    <p:sldId id="1315" r:id="rId75"/>
    <p:sldId id="1318" r:id="rId76"/>
    <p:sldId id="1319" r:id="rId77"/>
    <p:sldId id="1320" r:id="rId78"/>
    <p:sldId id="1321" r:id="rId79"/>
    <p:sldId id="1323" r:id="rId80"/>
    <p:sldId id="1324" r:id="rId81"/>
    <p:sldId id="1328" r:id="rId82"/>
    <p:sldId id="1329" r:id="rId83"/>
    <p:sldId id="1330" r:id="rId84"/>
    <p:sldId id="837" r:id="rId85"/>
    <p:sldId id="838" r:id="rId86"/>
    <p:sldId id="839" r:id="rId87"/>
    <p:sldId id="840" r:id="rId88"/>
    <p:sldId id="841" r:id="rId89"/>
    <p:sldId id="842" r:id="rId90"/>
    <p:sldId id="843" r:id="rId91"/>
    <p:sldId id="845" r:id="rId92"/>
    <p:sldId id="846" r:id="rId93"/>
    <p:sldId id="847" r:id="rId94"/>
    <p:sldId id="849" r:id="rId95"/>
    <p:sldId id="850" r:id="rId96"/>
    <p:sldId id="852" r:id="rId97"/>
    <p:sldId id="853" r:id="rId98"/>
    <p:sldId id="1261" r:id="rId99"/>
    <p:sldId id="1000" r:id="rId100"/>
    <p:sldId id="1333" r:id="rId101"/>
    <p:sldId id="1334" r:id="rId102"/>
    <p:sldId id="1335" r:id="rId103"/>
    <p:sldId id="1336" r:id="rId104"/>
    <p:sldId id="1337" r:id="rId105"/>
    <p:sldId id="1338" r:id="rId106"/>
    <p:sldId id="1339" r:id="rId107"/>
    <p:sldId id="1340" r:id="rId108"/>
    <p:sldId id="1341" r:id="rId109"/>
    <p:sldId id="1342" r:id="rId110"/>
    <p:sldId id="1343" r:id="rId111"/>
    <p:sldId id="1344" r:id="rId112"/>
    <p:sldId id="1345" r:id="rId113"/>
    <p:sldId id="1346" r:id="rId114"/>
    <p:sldId id="1347" r:id="rId115"/>
    <p:sldId id="1348" r:id="rId116"/>
    <p:sldId id="1349" r:id="rId117"/>
    <p:sldId id="1350" r:id="rId118"/>
    <p:sldId id="1351" r:id="rId119"/>
    <p:sldId id="1352" r:id="rId120"/>
    <p:sldId id="906" r:id="rId121"/>
  </p:sldIdLst>
  <p:sldSz cx="9118600" cy="6845300"/>
  <p:notesSz cx="6858000" cy="9144000"/>
  <p:custDataLst>
    <p:tags r:id="rId125"/>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263"/>
    <p:restoredTop sz="94660"/>
  </p:normalViewPr>
  <p:slideViewPr>
    <p:cSldViewPr showGuides="1">
      <p:cViewPr varScale="1">
        <p:scale>
          <a:sx n="97" d="100"/>
          <a:sy n="97" d="100"/>
        </p:scale>
        <p:origin x="1556" y="72"/>
      </p:cViewPr>
      <p:guideLst>
        <p:guide orient="horz" pos="2156"/>
        <p:guide pos="287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notesMaster" Target="notesMasters/notes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5" Type="http://schemas.openxmlformats.org/officeDocument/2006/relationships/tags" Target="tags/tag1.xml"/><Relationship Id="rId124" Type="http://schemas.openxmlformats.org/officeDocument/2006/relationships/tableStyles" Target="tableStyles.xml"/><Relationship Id="rId123" Type="http://schemas.openxmlformats.org/officeDocument/2006/relationships/viewProps" Target="viewProps.xml"/><Relationship Id="rId122" Type="http://schemas.openxmlformats.org/officeDocument/2006/relationships/presProps" Target="presProps.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19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idx="2"/>
          </p:nvPr>
        </p:nvSpPr>
        <p:spPr>
          <a:xfrm>
            <a:off x="1144588" y="685800"/>
            <a:ext cx="4568825" cy="3429000"/>
          </a:xfrm>
          <a:prstGeom prst="rect">
            <a:avLst/>
          </a:prstGeom>
          <a:noFill/>
          <a:ln w="9525" cap="flat" cmpd="sng">
            <a:solidFill>
              <a:srgbClr val="000000"/>
            </a:solidFill>
            <a:prstDash val="solid"/>
            <a:miter/>
            <a:headEnd type="none" w="med" len="med"/>
            <a:tailEnd type="none" w="med" len="med"/>
          </a:ln>
        </p:spPr>
      </p:sp>
      <p:sp>
        <p:nvSpPr>
          <p:cNvPr id="25190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BF7FF7E-7F17-42E6-B507-A1526AAC0D8E}"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idx="1"/>
          </p:nvPr>
        </p:nvSpPr>
        <p:spPr/>
        <p:txBody>
          <a:bodyPr wrap="square" lIns="91440" tIns="45720" rIns="91440" bIns="45720" anchor="t" anchorCtr="0"/>
          <a:p>
            <a:pPr lvl="0"/>
            <a:r>
              <a:rPr lang="zh-CN" altLang="en-US" dirty="0">
                <a:latin typeface="宋体" panose="02010600030101010101" pitchFamily="2" charset="-122"/>
              </a:rPr>
              <a:t>面向对象方法学的出发点和基本原则，是尽可能模拟人类习惯的思维方式，使开发软件的方法与过程尽可能接近人类认识世界解决问题的方法与过程。</a:t>
            </a:r>
            <a:endParaRPr lang="en-US" altLang="zh-CN" dirty="0">
              <a:latin typeface="宋体" panose="02010600030101010101" pitchFamily="2" charset="-122"/>
            </a:endParaRPr>
          </a:p>
          <a:p>
            <a:pPr lvl="0"/>
            <a:endParaRPr lang="en-US" altLang="zh-CN" dirty="0">
              <a:latin typeface="宋体" panose="02010600030101010101" pitchFamily="2" charset="-122"/>
            </a:endParaRPr>
          </a:p>
          <a:p>
            <a:pPr lvl="0"/>
            <a:r>
              <a:rPr lang="zh-CN" altLang="en-US" dirty="0">
                <a:latin typeface="宋体" panose="02010600030101010101" pitchFamily="2" charset="-122"/>
              </a:rPr>
              <a:t>从而使描述问题的问题空间</a:t>
            </a:r>
            <a:r>
              <a:rPr lang="en-US" altLang="zh-CN" dirty="0">
                <a:latin typeface="宋体" panose="02010600030101010101" pitchFamily="2" charset="-122"/>
              </a:rPr>
              <a:t>(</a:t>
            </a:r>
            <a:r>
              <a:rPr lang="zh-CN" altLang="en-US" dirty="0">
                <a:latin typeface="宋体" panose="02010600030101010101" pitchFamily="2" charset="-122"/>
              </a:rPr>
              <a:t>也称为问题域</a:t>
            </a:r>
            <a:r>
              <a:rPr lang="en-US" altLang="zh-CN" dirty="0">
                <a:latin typeface="宋体" panose="02010600030101010101" pitchFamily="2" charset="-122"/>
              </a:rPr>
              <a:t>)</a:t>
            </a:r>
            <a:r>
              <a:rPr lang="zh-CN" altLang="en-US" dirty="0">
                <a:latin typeface="宋体" panose="02010600030101010101" pitchFamily="2" charset="-122"/>
              </a:rPr>
              <a:t>与实现解法的解空间</a:t>
            </a:r>
            <a:r>
              <a:rPr lang="en-US" altLang="zh-CN" dirty="0">
                <a:latin typeface="宋体" panose="02010600030101010101" pitchFamily="2" charset="-122"/>
              </a:rPr>
              <a:t>(</a:t>
            </a:r>
            <a:r>
              <a:rPr lang="zh-CN" altLang="en-US" dirty="0">
                <a:latin typeface="宋体" panose="02010600030101010101" pitchFamily="2" charset="-122"/>
              </a:rPr>
              <a:t>也称为求解域</a:t>
            </a:r>
            <a:r>
              <a:rPr lang="en-US" altLang="zh-CN" dirty="0">
                <a:latin typeface="宋体" panose="02010600030101010101" pitchFamily="2" charset="-122"/>
              </a:rPr>
              <a:t>)</a:t>
            </a:r>
            <a:r>
              <a:rPr lang="zh-CN" altLang="en-US" dirty="0">
                <a:latin typeface="宋体" panose="02010600030101010101" pitchFamily="2" charset="-122"/>
              </a:rPr>
              <a:t>在结构上尽可能一致。</a:t>
            </a:r>
            <a:endParaRPr lang="zh-CN" altLang="en-US" dirty="0"/>
          </a:p>
          <a:p>
            <a:pPr lvl="0"/>
            <a:endParaRPr lang="zh-CN" altLang="en-US" dirty="0"/>
          </a:p>
        </p:txBody>
      </p:sp>
      <p:sp>
        <p:nvSpPr>
          <p:cNvPr id="184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4579" name="Rectangle 2"/>
          <p:cNvSpPr>
            <a:spLocks noRot="1" noTextEdit="1"/>
          </p:cNvSpPr>
          <p:nvPr>
            <p:ph type="sldImg"/>
          </p:nvPr>
        </p:nvSpPr>
        <p:spPr/>
      </p:sp>
      <p:sp>
        <p:nvSpPr>
          <p:cNvPr id="24580"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6627" name="Rectangle 2"/>
          <p:cNvSpPr>
            <a:spLocks noRot="1" noTextEdit="1"/>
          </p:cNvSpPr>
          <p:nvPr>
            <p:ph type="sldImg"/>
          </p:nvPr>
        </p:nvSpPr>
        <p:spPr/>
      </p:sp>
      <p:sp>
        <p:nvSpPr>
          <p:cNvPr id="26628"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8675" name="Rectangle 2"/>
          <p:cNvSpPr>
            <a:spLocks noRot="1" noTextEdit="1"/>
          </p:cNvSpPr>
          <p:nvPr>
            <p:ph type="sldImg"/>
          </p:nvPr>
        </p:nvSpPr>
        <p:spPr/>
      </p:sp>
      <p:sp>
        <p:nvSpPr>
          <p:cNvPr id="28676"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30723" name="Rectangle 2"/>
          <p:cNvSpPr>
            <a:spLocks noRot="1" noTextEdit="1"/>
          </p:cNvSpPr>
          <p:nvPr>
            <p:ph type="sldImg"/>
          </p:nvPr>
        </p:nvSpPr>
        <p:spPr/>
      </p:sp>
      <p:sp>
        <p:nvSpPr>
          <p:cNvPr id="30724"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32771" name="Rectangle 2"/>
          <p:cNvSpPr>
            <a:spLocks noRot="1" noTextEdit="1"/>
          </p:cNvSpPr>
          <p:nvPr>
            <p:ph type="sldImg"/>
          </p:nvPr>
        </p:nvSpPr>
        <p:spPr/>
      </p:sp>
      <p:sp>
        <p:nvSpPr>
          <p:cNvPr id="32772"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34819" name="Rectangle 2"/>
          <p:cNvSpPr>
            <a:spLocks noRot="1" noTextEdit="1"/>
          </p:cNvSpPr>
          <p:nvPr>
            <p:ph type="sldImg"/>
          </p:nvPr>
        </p:nvSpPr>
        <p:spPr/>
      </p:sp>
      <p:sp>
        <p:nvSpPr>
          <p:cNvPr id="34820"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36867" name="Rectangle 2"/>
          <p:cNvSpPr>
            <a:spLocks noRot="1" noTextEdit="1"/>
          </p:cNvSpPr>
          <p:nvPr>
            <p:ph type="sldImg"/>
          </p:nvPr>
        </p:nvSpPr>
        <p:spPr/>
      </p:sp>
      <p:sp>
        <p:nvSpPr>
          <p:cNvPr id="36868" name="Rectangle 3"/>
          <p:cNvSpPr>
            <a:spLocks noGrp="1"/>
          </p:cNvSpPr>
          <p:nvPr>
            <p:ph type="body" idx="1"/>
          </p:nvPr>
        </p:nvSpPr>
        <p:spPr>
          <a:xfrm>
            <a:off x="914400" y="4343400"/>
            <a:ext cx="5029200" cy="4114800"/>
          </a:xfrm>
        </p:spPr>
        <p:txBody>
          <a:bodyPr wrap="square" lIns="91440" tIns="45720" rIns="91440" bIns="45720" anchor="t" anchorCtr="0"/>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9" name="Rectangle 2"/>
          <p:cNvSpPr>
            <a:spLocks noRot="1" noTextEdit="1"/>
          </p:cNvSpPr>
          <p:nvPr>
            <p:ph type="sldImg"/>
          </p:nvPr>
        </p:nvSpPr>
        <p:spPr/>
      </p:sp>
      <p:sp>
        <p:nvSpPr>
          <p:cNvPr id="92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7" name="Rectangle 2"/>
          <p:cNvSpPr>
            <a:spLocks noRot="1" noTextEdit="1"/>
          </p:cNvSpPr>
          <p:nvPr>
            <p:ph type="sldImg"/>
          </p:nvPr>
        </p:nvSpPr>
        <p:spPr/>
      </p:sp>
      <p:sp>
        <p:nvSpPr>
          <p:cNvPr id="112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315" name="Rectangle 2"/>
          <p:cNvSpPr>
            <a:spLocks noRot="1" noTextEdit="1"/>
          </p:cNvSpPr>
          <p:nvPr>
            <p:ph type="sldImg"/>
          </p:nvPr>
        </p:nvSpPr>
        <p:spPr/>
      </p:sp>
      <p:sp>
        <p:nvSpPr>
          <p:cNvPr id="133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5363" name="Rectangle 2"/>
          <p:cNvSpPr>
            <a:spLocks noRot="1" noTextEdit="1"/>
          </p:cNvSpPr>
          <p:nvPr>
            <p:ph type="sldImg"/>
          </p:nvPr>
        </p:nvSpPr>
        <p:spPr/>
      </p:sp>
      <p:sp>
        <p:nvSpPr>
          <p:cNvPr id="153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7411" name="Rectangle 2"/>
          <p:cNvSpPr>
            <a:spLocks noRot="1" noTextEdit="1"/>
          </p:cNvSpPr>
          <p:nvPr>
            <p:ph type="sldImg"/>
          </p:nvPr>
        </p:nvSpPr>
        <p:spPr/>
      </p:sp>
      <p:sp>
        <p:nvSpPr>
          <p:cNvPr id="174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9459" name="Rectangle 2"/>
          <p:cNvSpPr>
            <a:spLocks noRot="1" noTextEdit="1"/>
          </p:cNvSpPr>
          <p:nvPr>
            <p:ph type="sldImg"/>
          </p:nvPr>
        </p:nvSpPr>
        <p:spPr/>
      </p:sp>
      <p:sp>
        <p:nvSpPr>
          <p:cNvPr id="194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1507" name="Rectangle 2"/>
          <p:cNvSpPr>
            <a:spLocks noRot="1" noTextEdit="1"/>
          </p:cNvSpPr>
          <p:nvPr>
            <p:ph type="sldImg"/>
          </p:nvPr>
        </p:nvSpPr>
        <p:spPr/>
      </p:sp>
      <p:sp>
        <p:nvSpPr>
          <p:cNvPr id="215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3555" name="Rectangle 2"/>
          <p:cNvSpPr>
            <a:spLocks noRot="1" noTextEdit="1"/>
          </p:cNvSpPr>
          <p:nvPr>
            <p:ph type="sldImg"/>
          </p:nvPr>
        </p:nvSpPr>
        <p:spPr/>
      </p:sp>
      <p:sp>
        <p:nvSpPr>
          <p:cNvPr id="235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5603" name="Rectangle 2"/>
          <p:cNvSpPr>
            <a:spLocks noRot="1" noTextEdit="1"/>
          </p:cNvSpPr>
          <p:nvPr>
            <p:ph type="sldImg"/>
          </p:nvPr>
        </p:nvSpPr>
        <p:spPr/>
      </p:sp>
      <p:sp>
        <p:nvSpPr>
          <p:cNvPr id="256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7651" name="Rectangle 2"/>
          <p:cNvSpPr>
            <a:spLocks noRot="1" noTextEdit="1"/>
          </p:cNvSpPr>
          <p:nvPr>
            <p:ph type="sldImg"/>
          </p:nvPr>
        </p:nvSpPr>
        <p:spPr/>
      </p:sp>
      <p:sp>
        <p:nvSpPr>
          <p:cNvPr id="276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9699" name="Rectangle 2"/>
          <p:cNvSpPr>
            <a:spLocks noRot="1" noTextEdit="1"/>
          </p:cNvSpPr>
          <p:nvPr>
            <p:ph type="sldImg"/>
          </p:nvPr>
        </p:nvSpPr>
        <p:spPr/>
      </p:sp>
      <p:sp>
        <p:nvSpPr>
          <p:cNvPr id="297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1747" name="Rectangle 2"/>
          <p:cNvSpPr>
            <a:spLocks noRot="1" noTextEdit="1"/>
          </p:cNvSpPr>
          <p:nvPr>
            <p:ph type="sldImg"/>
          </p:nvPr>
        </p:nvSpPr>
        <p:spPr/>
      </p:sp>
      <p:sp>
        <p:nvSpPr>
          <p:cNvPr id="317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3795" name="Rectangle 2"/>
          <p:cNvSpPr>
            <a:spLocks noRot="1" noTextEdit="1"/>
          </p:cNvSpPr>
          <p:nvPr>
            <p:ph type="sldImg"/>
          </p:nvPr>
        </p:nvSpPr>
        <p:spPr/>
      </p:sp>
      <p:sp>
        <p:nvSpPr>
          <p:cNvPr id="337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5843" name="Rectangle 2"/>
          <p:cNvSpPr>
            <a:spLocks noRot="1" noTextEdit="1"/>
          </p:cNvSpPr>
          <p:nvPr>
            <p:ph type="sldImg"/>
          </p:nvPr>
        </p:nvSpPr>
        <p:spPr/>
      </p:sp>
      <p:sp>
        <p:nvSpPr>
          <p:cNvPr id="358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7891" name="Rectangle 2"/>
          <p:cNvSpPr>
            <a:spLocks noRot="1" noTextEdit="1"/>
          </p:cNvSpPr>
          <p:nvPr>
            <p:ph type="sldImg"/>
          </p:nvPr>
        </p:nvSpPr>
        <p:spPr/>
      </p:sp>
      <p:sp>
        <p:nvSpPr>
          <p:cNvPr id="378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9939" name="Rectangle 2"/>
          <p:cNvSpPr>
            <a:spLocks noRot="1" noTextEdit="1"/>
          </p:cNvSpPr>
          <p:nvPr>
            <p:ph type="sldImg"/>
          </p:nvPr>
        </p:nvSpPr>
        <p:spPr/>
      </p:sp>
      <p:sp>
        <p:nvSpPr>
          <p:cNvPr id="399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1987" name="Rectangle 2"/>
          <p:cNvSpPr>
            <a:spLocks noRot="1" noTextEdit="1"/>
          </p:cNvSpPr>
          <p:nvPr>
            <p:ph type="sldImg"/>
          </p:nvPr>
        </p:nvSpPr>
        <p:spPr/>
      </p:sp>
      <p:sp>
        <p:nvSpPr>
          <p:cNvPr id="419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4035" name="Rectangle 2"/>
          <p:cNvSpPr>
            <a:spLocks noRot="1" noTextEdit="1"/>
          </p:cNvSpPr>
          <p:nvPr>
            <p:ph type="sldImg"/>
          </p:nvPr>
        </p:nvSpPr>
        <p:spPr/>
      </p:sp>
      <p:sp>
        <p:nvSpPr>
          <p:cNvPr id="440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6083" name="Rectangle 2"/>
          <p:cNvSpPr>
            <a:spLocks noRot="1" noTextEdit="1"/>
          </p:cNvSpPr>
          <p:nvPr>
            <p:ph type="sldImg"/>
          </p:nvPr>
        </p:nvSpPr>
        <p:spPr/>
      </p:sp>
      <p:sp>
        <p:nvSpPr>
          <p:cNvPr id="460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8131" name="Rectangle 2"/>
          <p:cNvSpPr>
            <a:spLocks noRot="1" noTextEdit="1"/>
          </p:cNvSpPr>
          <p:nvPr>
            <p:ph type="sldImg"/>
          </p:nvPr>
        </p:nvSpPr>
        <p:spPr/>
      </p:sp>
      <p:sp>
        <p:nvSpPr>
          <p:cNvPr id="481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0179" name="Rectangle 2"/>
          <p:cNvSpPr>
            <a:spLocks noRot="1" noTextEdit="1"/>
          </p:cNvSpPr>
          <p:nvPr>
            <p:ph type="sldImg"/>
          </p:nvPr>
        </p:nvSpPr>
        <p:spPr/>
      </p:sp>
      <p:sp>
        <p:nvSpPr>
          <p:cNvPr id="501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2227" name="Rectangle 2"/>
          <p:cNvSpPr>
            <a:spLocks noRot="1" noTextEdit="1"/>
          </p:cNvSpPr>
          <p:nvPr>
            <p:ph type="sldImg"/>
          </p:nvPr>
        </p:nvSpPr>
        <p:spPr/>
      </p:sp>
      <p:sp>
        <p:nvSpPr>
          <p:cNvPr id="522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0179" name="Rectangle 2"/>
          <p:cNvSpPr>
            <a:spLocks noGrp="1" noRot="1" noChangeAspect="1" noTextEdit="1"/>
          </p:cNvSpPr>
          <p:nvPr>
            <p:ph type="sldImg"/>
          </p:nvPr>
        </p:nvSpPr>
        <p:spPr/>
      </p:sp>
      <p:sp>
        <p:nvSpPr>
          <p:cNvPr id="50180" name="Rectangle 3"/>
          <p:cNvSpPr>
            <a:spLocks noGrp="1"/>
          </p:cNvSpPr>
          <p:nvPr>
            <p:ph type="body" idx="1"/>
          </p:nvPr>
        </p:nvSpPr>
        <p:spPr/>
        <p:txBody>
          <a:bodyPr wrap="square" lIns="91440" tIns="45720" rIns="91440" bIns="45720" anchor="t" anchorCtr="0"/>
          <a:p>
            <a:pPr lvl="0"/>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1440" tIns="45720" rIns="91440" bIns="45720" anchor="t" anchorCtr="0"/>
          <a:p>
            <a:pPr lvl="0"/>
            <a:r>
              <a:rPr lang="zh-CN" altLang="en-US" dirty="0"/>
              <a:t>但在</a:t>
            </a:r>
            <a:r>
              <a:rPr lang="en-US" altLang="zh-CN" dirty="0"/>
              <a:t>Java</a:t>
            </a:r>
            <a:r>
              <a:rPr lang="zh-CN" altLang="en-US" dirty="0"/>
              <a:t>中，包还指代了物理的组织手段</a:t>
            </a:r>
            <a:endParaRPr lang="zh-CN" altLang="en-US" dirty="0"/>
          </a:p>
          <a:p>
            <a:pPr lvl="0"/>
            <a:endParaRPr lang="zh-CN" altLang="en-US" dirty="0"/>
          </a:p>
        </p:txBody>
      </p:sp>
      <p:sp>
        <p:nvSpPr>
          <p:cNvPr id="604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nchorCtr="0"/>
          <a:p>
            <a:pPr lvl="0"/>
            <a:r>
              <a:rPr lang="zh-CN" altLang="en-US" dirty="0"/>
              <a:t>开放：模块的行为必须是开发的，支持可扩展，而不是僵化的</a:t>
            </a:r>
            <a:endParaRPr lang="zh-CN" altLang="en-US" dirty="0"/>
          </a:p>
          <a:p>
            <a:pPr lvl="0"/>
            <a:r>
              <a:rPr lang="zh-CN" altLang="en-US" dirty="0"/>
              <a:t>封闭：对模块进行扩展时，不应该影响系统中已有模块的其他部分功能的实现代码。</a:t>
            </a:r>
            <a:endParaRPr lang="zh-CN" altLang="en-US" dirty="0"/>
          </a:p>
          <a:p>
            <a:pPr lvl="0"/>
            <a:endParaRPr lang="zh-CN" altLang="en-US" dirty="0"/>
          </a:p>
        </p:txBody>
      </p:sp>
      <p:sp>
        <p:nvSpPr>
          <p:cNvPr id="829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1918" y="1369060"/>
            <a:ext cx="7829838" cy="1825413"/>
          </a:xfrm>
          <a:ln>
            <a:noFill/>
          </a:ln>
        </p:spPr>
        <p:txBody>
          <a:bodyPr tIns="0" rIns="1824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1919" y="3222557"/>
            <a:ext cx="7832877" cy="1749354"/>
          </a:xfrm>
        </p:spPr>
        <p:txBody>
          <a:bodyPr lIns="0" rIns="18244"/>
          <a:lstStyle>
            <a:lvl1pPr marL="0" marR="45720" indent="0" algn="r">
              <a:buNone/>
              <a:defRPr>
                <a:solidFill>
                  <a:schemeClr val="tx1"/>
                </a:solidFill>
              </a:defRPr>
            </a:lvl1pPr>
            <a:lvl2pPr marL="455930" indent="0" algn="ctr">
              <a:buNone/>
            </a:lvl2pPr>
            <a:lvl3pPr marL="912495" indent="0" algn="ctr">
              <a:buNone/>
            </a:lvl3pPr>
            <a:lvl4pPr marL="1368425" indent="0" algn="ctr">
              <a:buNone/>
            </a:lvl4pPr>
            <a:lvl5pPr marL="1824355" indent="0" algn="ctr">
              <a:buNone/>
            </a:lvl5pPr>
            <a:lvl6pPr marL="2280285" indent="0" algn="ctr">
              <a:buNone/>
            </a:lvl6pPr>
            <a:lvl7pPr marL="2736850" indent="0" algn="ctr">
              <a:buNone/>
            </a:lvl7pPr>
            <a:lvl8pPr marL="3192780" indent="0" algn="ctr">
              <a:buNone/>
            </a:lvl8pPr>
            <a:lvl9pPr marL="3648710" indent="0" algn="ctr">
              <a:buNone/>
            </a:lvl9pPr>
          </a:lstStyle>
          <a:p>
            <a:r>
              <a:rPr lang="zh-CN" altLang="en-US" smtClean="0"/>
              <a:t>单击此处编辑母版副标题样式</a:t>
            </a:r>
            <a:endParaRPr lang="en-US"/>
          </a:p>
        </p:txBody>
      </p:sp>
      <p:sp>
        <p:nvSpPr>
          <p:cNvPr id="14" name="日期占位符 29"/>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18"/>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26"/>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B7342E66-DF52-4F0D-A24E-60D51DA8DC9E}"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8879" y="1314298"/>
            <a:ext cx="7750810" cy="1359933"/>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28879" y="2699655"/>
            <a:ext cx="7750810" cy="1506916"/>
          </a:xfrm>
        </p:spPr>
        <p:txBody>
          <a:bodyPr lIns="45610" rIns="4561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日期占位符 3"/>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4"/>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5"/>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034A1B7F-B9C0-46A6-B62A-1EBB95D8908F}"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5930"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35288"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5930" y="1851812"/>
            <a:ext cx="4028965" cy="658131"/>
          </a:xfrm>
        </p:spPr>
        <p:txBody>
          <a:bodyPr lIns="45610" tIns="0" rIns="4561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32123" y="1856314"/>
            <a:ext cx="4030548" cy="653630"/>
          </a:xfrm>
        </p:spPr>
        <p:txBody>
          <a:bodyPr lIns="45610" tIns="0" rIns="4561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5930" y="2509943"/>
            <a:ext cx="4028965"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32123" y="2509943"/>
            <a:ext cx="4030548"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82728" cy="1140883"/>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3895" y="513400"/>
            <a:ext cx="2735580" cy="115989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683895" y="1673296"/>
            <a:ext cx="2735580" cy="4563533"/>
          </a:xfrm>
        </p:spPr>
        <p:txBody>
          <a:bodyPr lIns="18244" rIns="18244"/>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3565119" y="1673296"/>
            <a:ext cx="5097551" cy="4563533"/>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单圆角矩形 13"/>
          <p:cNvSpPr/>
          <p:nvPr/>
        </p:nvSpPr>
        <p:spPr>
          <a:xfrm rot="420000" flipV="1">
            <a:off x="3157538" y="1106488"/>
            <a:ext cx="5241925" cy="4106863"/>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直角三角形 14"/>
          <p:cNvSpPr/>
          <p:nvPr/>
        </p:nvSpPr>
        <p:spPr>
          <a:xfrm rot="420000" flipV="1">
            <a:off x="7981950" y="5349875"/>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任意多边形 15"/>
          <p:cNvSpPr/>
          <p:nvPr/>
        </p:nvSpPr>
        <p:spPr bwMode="auto">
          <a:xfrm flipV="1">
            <a:off x="-9525" y="5805488"/>
            <a:ext cx="9137650" cy="103981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7" name="任意多边形 16"/>
          <p:cNvSpPr/>
          <p:nvPr/>
        </p:nvSpPr>
        <p:spPr bwMode="auto">
          <a:xfrm flipV="1">
            <a:off x="4368800" y="6208713"/>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607907" y="1174817"/>
            <a:ext cx="2206701" cy="1579690"/>
          </a:xfrm>
        </p:spPr>
        <p:txBody>
          <a:bodyPr lIns="45610" rIns="45610" bIns="45610"/>
          <a:lstStyle>
            <a:lvl1pPr algn="l">
              <a:buNone/>
              <a:defRPr sz="2000" b="1">
                <a:solidFill>
                  <a:schemeClr val="tx2"/>
                </a:solidFill>
              </a:defRPr>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607907" y="2823547"/>
            <a:ext cx="2203662" cy="2175284"/>
          </a:xfrm>
        </p:spPr>
        <p:txBody>
          <a:bodyPr lIns="63854" rIns="4561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rot="420000">
            <a:off x="3476110" y="1197296"/>
            <a:ext cx="4604893" cy="3924639"/>
          </a:xfrm>
          <a:prstGeom prst="rect">
            <a:avLst/>
          </a:prstGeom>
          <a:solidFill>
            <a:schemeClr val="bg2"/>
          </a:solidFill>
          <a:ln w="3000" cap="rnd">
            <a:solidFill>
              <a:srgbClr val="C0C0C0"/>
            </a:solidFill>
            <a:round/>
          </a:ln>
          <a:effectLst/>
        </p:spPr>
        <p:txBody>
          <a:bodyPr vert="horz" wrap="square" lIns="91221" tIns="45610" rIns="91221" bIns="4561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9" name="日期占位符 4"/>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0" name="页脚占位符 5"/>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1" name="灯片编号占位符 6"/>
          <p:cNvSpPr>
            <a:spLocks noGrp="1"/>
          </p:cNvSpPr>
          <p:nvPr>
            <p:ph type="sldNum" sz="quarter" idx="4"/>
          </p:nvPr>
        </p:nvSpPr>
        <p:spPr>
          <a:xfrm>
            <a:off x="8054975" y="6345238"/>
            <a:ext cx="6080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915E1BBA-510F-4009-929B-5B204D89C683}"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985" y="912708"/>
            <a:ext cx="2051685" cy="5202112"/>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5930" y="912708"/>
            <a:ext cx="6003078" cy="520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7621" y="228177"/>
            <a:ext cx="8517026" cy="114088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94190" y="1554454"/>
            <a:ext cx="4123950" cy="449064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70117" y="1554454"/>
            <a:ext cx="4125533" cy="449064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1918" y="1369060"/>
            <a:ext cx="7829838" cy="1825413"/>
          </a:xfrm>
          <a:ln>
            <a:noFill/>
          </a:ln>
        </p:spPr>
        <p:txBody>
          <a:bodyPr tIns="0" rIns="1824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1919" y="3222557"/>
            <a:ext cx="7832877" cy="1749354"/>
          </a:xfrm>
        </p:spPr>
        <p:txBody>
          <a:bodyPr lIns="0" rIns="18244"/>
          <a:lstStyle>
            <a:lvl1pPr marL="0" marR="45720" indent="0" algn="r">
              <a:buNone/>
              <a:defRPr>
                <a:solidFill>
                  <a:schemeClr val="tx1"/>
                </a:solidFill>
              </a:defRPr>
            </a:lvl1pPr>
            <a:lvl2pPr marL="455930" indent="0" algn="ctr">
              <a:buNone/>
            </a:lvl2pPr>
            <a:lvl3pPr marL="912495" indent="0" algn="ctr">
              <a:buNone/>
            </a:lvl3pPr>
            <a:lvl4pPr marL="1368425" indent="0" algn="ctr">
              <a:buNone/>
            </a:lvl4pPr>
            <a:lvl5pPr marL="1824355" indent="0" algn="ctr">
              <a:buNone/>
            </a:lvl5pPr>
            <a:lvl6pPr marL="2280285" indent="0" algn="ctr">
              <a:buNone/>
            </a:lvl6pPr>
            <a:lvl7pPr marL="2736850" indent="0" algn="ctr">
              <a:buNone/>
            </a:lvl7pPr>
            <a:lvl8pPr marL="3192780" indent="0" algn="ctr">
              <a:buNone/>
            </a:lvl8pPr>
            <a:lvl9pPr marL="3648710" indent="0" algn="ctr">
              <a:buNone/>
            </a:lvl9pPr>
          </a:lstStyle>
          <a:p>
            <a:r>
              <a:rPr lang="zh-CN" altLang="en-US" smtClean="0"/>
              <a:t>单击此处编辑母版副标题样式</a:t>
            </a:r>
            <a:endParaRPr lang="en-US"/>
          </a:p>
        </p:txBody>
      </p:sp>
      <p:sp>
        <p:nvSpPr>
          <p:cNvPr id="14" name="日期占位符 29"/>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18"/>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26"/>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B7342E66-DF52-4F0D-A24E-60D51DA8DC9E}"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8879" y="1314298"/>
            <a:ext cx="7750810" cy="1359933"/>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28879" y="2699655"/>
            <a:ext cx="7750810" cy="1506916"/>
          </a:xfrm>
        </p:spPr>
        <p:txBody>
          <a:bodyPr lIns="45610" rIns="4561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日期占位符 3"/>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4"/>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5"/>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034A1B7F-B9C0-46A6-B62A-1EBB95D8908F}"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5930"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35288"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5930" y="1851812"/>
            <a:ext cx="4028965" cy="658131"/>
          </a:xfrm>
        </p:spPr>
        <p:txBody>
          <a:bodyPr lIns="45610" tIns="0" rIns="4561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32123" y="1856314"/>
            <a:ext cx="4030548" cy="653630"/>
          </a:xfrm>
        </p:spPr>
        <p:txBody>
          <a:bodyPr lIns="45610" tIns="0" rIns="4561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5930" y="2509943"/>
            <a:ext cx="4028965"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32123" y="2509943"/>
            <a:ext cx="4030548"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82728" cy="1140883"/>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3895" y="513400"/>
            <a:ext cx="2735580" cy="115989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683895" y="1673296"/>
            <a:ext cx="2735580" cy="4563533"/>
          </a:xfrm>
        </p:spPr>
        <p:txBody>
          <a:bodyPr lIns="18244" rIns="18244"/>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3565119" y="1673296"/>
            <a:ext cx="5097551" cy="4563533"/>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单圆角矩形 13"/>
          <p:cNvSpPr/>
          <p:nvPr/>
        </p:nvSpPr>
        <p:spPr>
          <a:xfrm rot="420000" flipV="1">
            <a:off x="3157538" y="1106488"/>
            <a:ext cx="5241925" cy="4106863"/>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直角三角形 14"/>
          <p:cNvSpPr/>
          <p:nvPr/>
        </p:nvSpPr>
        <p:spPr>
          <a:xfrm rot="420000" flipV="1">
            <a:off x="7981950" y="5349875"/>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任意多边形 15"/>
          <p:cNvSpPr/>
          <p:nvPr/>
        </p:nvSpPr>
        <p:spPr bwMode="auto">
          <a:xfrm flipV="1">
            <a:off x="-9525" y="5805488"/>
            <a:ext cx="9137650" cy="103981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7" name="任意多边形 16"/>
          <p:cNvSpPr/>
          <p:nvPr/>
        </p:nvSpPr>
        <p:spPr bwMode="auto">
          <a:xfrm flipV="1">
            <a:off x="4368800" y="6208713"/>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607907" y="1174817"/>
            <a:ext cx="2206701" cy="1579690"/>
          </a:xfrm>
        </p:spPr>
        <p:txBody>
          <a:bodyPr lIns="45610" rIns="45610" bIns="45610"/>
          <a:lstStyle>
            <a:lvl1pPr algn="l">
              <a:buNone/>
              <a:defRPr sz="2000" b="1">
                <a:solidFill>
                  <a:schemeClr val="tx2"/>
                </a:solidFill>
              </a:defRPr>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607907" y="2823547"/>
            <a:ext cx="2203662" cy="2175284"/>
          </a:xfrm>
        </p:spPr>
        <p:txBody>
          <a:bodyPr lIns="63854" rIns="4561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rot="420000">
            <a:off x="3476110" y="1197296"/>
            <a:ext cx="4604893" cy="3924639"/>
          </a:xfrm>
          <a:prstGeom prst="rect">
            <a:avLst/>
          </a:prstGeom>
          <a:solidFill>
            <a:schemeClr val="bg2"/>
          </a:solidFill>
          <a:ln w="3000" cap="rnd">
            <a:solidFill>
              <a:srgbClr val="C0C0C0"/>
            </a:solidFill>
            <a:round/>
          </a:ln>
          <a:effectLst/>
        </p:spPr>
        <p:txBody>
          <a:bodyPr vert="horz" wrap="square" lIns="91221" tIns="45610" rIns="91221" bIns="4561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9" name="日期占位符 4"/>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0" name="页脚占位符 5"/>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1" name="灯片编号占位符 6"/>
          <p:cNvSpPr>
            <a:spLocks noGrp="1"/>
          </p:cNvSpPr>
          <p:nvPr>
            <p:ph type="sldNum" sz="quarter" idx="4"/>
          </p:nvPr>
        </p:nvSpPr>
        <p:spPr>
          <a:xfrm>
            <a:off x="8054975" y="6345238"/>
            <a:ext cx="6080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915E1BBA-510F-4009-929B-5B204D89C683}"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985" y="912708"/>
            <a:ext cx="2051685" cy="5202112"/>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5930" y="912708"/>
            <a:ext cx="6003078" cy="520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7621" y="228177"/>
            <a:ext cx="8517026" cy="114088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94190" y="1554454"/>
            <a:ext cx="4123950" cy="449064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70117" y="1554454"/>
            <a:ext cx="4125533" cy="449064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7" name="任意多边形 6"/>
          <p:cNvSpPr/>
          <p:nvPr/>
        </p:nvSpPr>
        <p:spPr bwMode="auto">
          <a:xfrm>
            <a:off x="-9525" y="-6350"/>
            <a:ext cx="9137650" cy="103822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8" name="任意多边形 7"/>
          <p:cNvSpPr/>
          <p:nvPr/>
        </p:nvSpPr>
        <p:spPr bwMode="auto">
          <a:xfrm>
            <a:off x="4368800" y="-6350"/>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028" name="标题占位符 8"/>
          <p:cNvSpPr>
            <a:spLocks noGrp="1"/>
          </p:cNvSpPr>
          <p:nvPr>
            <p:ph type="title"/>
          </p:nvPr>
        </p:nvSpPr>
        <p:spPr>
          <a:xfrm>
            <a:off x="455613" y="703263"/>
            <a:ext cx="8207375" cy="1139825"/>
          </a:xfrm>
          <a:prstGeom prst="rect">
            <a:avLst/>
          </a:prstGeom>
          <a:noFill/>
          <a:ln w="9525">
            <a:noFill/>
          </a:ln>
        </p:spPr>
        <p:txBody>
          <a:bodyPr lIns="0" tIns="45610" rIns="0" bIns="0" anchor="b" anchorCtr="0"/>
          <a:p>
            <a:pPr lvl="0"/>
            <a:r>
              <a:rPr lang="zh-CN" altLang="en-US" dirty="0"/>
              <a:t>单击此处编辑母版标题样式</a:t>
            </a:r>
            <a:endParaRPr lang="en-US" altLang="zh-CN" dirty="0"/>
          </a:p>
        </p:txBody>
      </p:sp>
      <p:sp>
        <p:nvSpPr>
          <p:cNvPr id="1029" name="文本占位符 29"/>
          <p:cNvSpPr>
            <a:spLocks noGrp="1"/>
          </p:cNvSpPr>
          <p:nvPr>
            <p:ph type="body" idx="1"/>
          </p:nvPr>
        </p:nvSpPr>
        <p:spPr>
          <a:xfrm>
            <a:off x="455613" y="1931988"/>
            <a:ext cx="8207375" cy="4381500"/>
          </a:xfrm>
          <a:prstGeom prst="rect">
            <a:avLst/>
          </a:prstGeom>
          <a:noFill/>
          <a:ln w="9525">
            <a:noFill/>
          </a:ln>
        </p:spPr>
        <p:txBody>
          <a:bodyPr lIns="91221" tIns="45610" rIns="91221" bIns="4561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455613" y="6345238"/>
            <a:ext cx="2127250"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2"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8"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lgn="r" eaLnBrk="1" hangingPunct="1">
              <a:buFont typeface="Wingdings" panose="05000000000000000000" pitchFamily="2" charset="2"/>
              <a:buNone/>
              <a:defRPr kumimoji="0"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grpSp>
        <p:nvGrpSpPr>
          <p:cNvPr id="1033" name="组合 1"/>
          <p:cNvGrpSpPr/>
          <p:nvPr/>
        </p:nvGrpSpPr>
        <p:grpSpPr>
          <a:xfrm>
            <a:off x="-19050" y="201613"/>
            <a:ext cx="91551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5930" algn="l" rtl="0" eaLnBrk="1" latinLnBrk="0" hangingPunct="1">
        <a:defRPr kumimoji="0" kern="1200">
          <a:solidFill>
            <a:schemeClr val="tx1"/>
          </a:solidFill>
          <a:latin typeface="+mn-lt"/>
          <a:ea typeface="+mn-ea"/>
          <a:cs typeface="+mn-cs"/>
        </a:defRPr>
      </a:lvl2pPr>
      <a:lvl3pPr marL="912495" algn="l" rtl="0" eaLnBrk="1" latinLnBrk="0" hangingPunct="1">
        <a:defRPr kumimoji="0" kern="1200">
          <a:solidFill>
            <a:schemeClr val="tx1"/>
          </a:solidFill>
          <a:latin typeface="+mn-lt"/>
          <a:ea typeface="+mn-ea"/>
          <a:cs typeface="+mn-cs"/>
        </a:defRPr>
      </a:lvl3pPr>
      <a:lvl4pPr marL="1368425" algn="l" rtl="0" eaLnBrk="1" latinLnBrk="0" hangingPunct="1">
        <a:defRPr kumimoji="0" kern="1200">
          <a:solidFill>
            <a:schemeClr val="tx1"/>
          </a:solidFill>
          <a:latin typeface="+mn-lt"/>
          <a:ea typeface="+mn-ea"/>
          <a:cs typeface="+mn-cs"/>
        </a:defRPr>
      </a:lvl4pPr>
      <a:lvl5pPr marL="1824355" algn="l" rtl="0" eaLnBrk="1" latinLnBrk="0" hangingPunct="1">
        <a:defRPr kumimoji="0" kern="1200">
          <a:solidFill>
            <a:schemeClr val="tx1"/>
          </a:solidFill>
          <a:latin typeface="+mn-lt"/>
          <a:ea typeface="+mn-ea"/>
          <a:cs typeface="+mn-cs"/>
        </a:defRPr>
      </a:lvl5pPr>
      <a:lvl6pPr marL="2280285" algn="l" rtl="0" eaLnBrk="1" latinLnBrk="0" hangingPunct="1">
        <a:defRPr kumimoji="0" kern="1200">
          <a:solidFill>
            <a:schemeClr val="tx1"/>
          </a:solidFill>
          <a:latin typeface="+mn-lt"/>
          <a:ea typeface="+mn-ea"/>
          <a:cs typeface="+mn-cs"/>
        </a:defRPr>
      </a:lvl6pPr>
      <a:lvl7pPr marL="2736850" algn="l" rtl="0" eaLnBrk="1" latinLnBrk="0" hangingPunct="1">
        <a:defRPr kumimoji="0" kern="1200">
          <a:solidFill>
            <a:schemeClr val="tx1"/>
          </a:solidFill>
          <a:latin typeface="+mn-lt"/>
          <a:ea typeface="+mn-ea"/>
          <a:cs typeface="+mn-cs"/>
        </a:defRPr>
      </a:lvl7pPr>
      <a:lvl8pPr marL="3192780" algn="l" rtl="0" eaLnBrk="1" latinLnBrk="0" hangingPunct="1">
        <a:defRPr kumimoji="0" kern="1200">
          <a:solidFill>
            <a:schemeClr val="tx1"/>
          </a:solidFill>
          <a:latin typeface="+mn-lt"/>
          <a:ea typeface="+mn-ea"/>
          <a:cs typeface="+mn-cs"/>
        </a:defRPr>
      </a:lvl8pPr>
      <a:lvl9pPr marL="364871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7" name="任意多边形 6"/>
          <p:cNvSpPr/>
          <p:nvPr/>
        </p:nvSpPr>
        <p:spPr bwMode="auto">
          <a:xfrm>
            <a:off x="-9525" y="-6350"/>
            <a:ext cx="9137650" cy="103822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8" name="任意多边形 7"/>
          <p:cNvSpPr/>
          <p:nvPr/>
        </p:nvSpPr>
        <p:spPr bwMode="auto">
          <a:xfrm>
            <a:off x="4368800" y="-6350"/>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028" name="标题占位符 8"/>
          <p:cNvSpPr>
            <a:spLocks noGrp="1"/>
          </p:cNvSpPr>
          <p:nvPr>
            <p:ph type="title"/>
          </p:nvPr>
        </p:nvSpPr>
        <p:spPr>
          <a:xfrm>
            <a:off x="455613" y="703263"/>
            <a:ext cx="8207375" cy="1139825"/>
          </a:xfrm>
          <a:prstGeom prst="rect">
            <a:avLst/>
          </a:prstGeom>
          <a:noFill/>
          <a:ln w="9525">
            <a:noFill/>
          </a:ln>
        </p:spPr>
        <p:txBody>
          <a:bodyPr lIns="0" tIns="45610" rIns="0" bIns="0" anchor="b" anchorCtr="0"/>
          <a:p>
            <a:pPr lvl="0"/>
            <a:r>
              <a:rPr lang="zh-CN" altLang="en-US" dirty="0"/>
              <a:t>单击此处编辑母版标题样式</a:t>
            </a:r>
            <a:endParaRPr lang="en-US" altLang="zh-CN" dirty="0"/>
          </a:p>
        </p:txBody>
      </p:sp>
      <p:sp>
        <p:nvSpPr>
          <p:cNvPr id="1029" name="文本占位符 29"/>
          <p:cNvSpPr>
            <a:spLocks noGrp="1"/>
          </p:cNvSpPr>
          <p:nvPr>
            <p:ph type="body" idx="1"/>
          </p:nvPr>
        </p:nvSpPr>
        <p:spPr>
          <a:xfrm>
            <a:off x="455613" y="1931988"/>
            <a:ext cx="8207375" cy="4381500"/>
          </a:xfrm>
          <a:prstGeom prst="rect">
            <a:avLst/>
          </a:prstGeom>
          <a:noFill/>
          <a:ln w="9525">
            <a:noFill/>
          </a:ln>
        </p:spPr>
        <p:txBody>
          <a:bodyPr lIns="91221" tIns="45610" rIns="91221" bIns="4561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455613" y="6345238"/>
            <a:ext cx="2127250"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2"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8"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lgn="r" eaLnBrk="1" hangingPunct="1">
              <a:buFont typeface="Wingdings" panose="05000000000000000000" pitchFamily="2" charset="2"/>
              <a:buNone/>
              <a:defRPr kumimoji="0"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2E1E30E4-E13A-4397-B371-E3B72C7AFF5B}"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grpSp>
        <p:nvGrpSpPr>
          <p:cNvPr id="1033" name="组合 1"/>
          <p:cNvGrpSpPr/>
          <p:nvPr/>
        </p:nvGrpSpPr>
        <p:grpSpPr>
          <a:xfrm>
            <a:off x="-19050" y="201613"/>
            <a:ext cx="91551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5930" algn="l" rtl="0" eaLnBrk="1" latinLnBrk="0" hangingPunct="1">
        <a:defRPr kumimoji="0" kern="1200">
          <a:solidFill>
            <a:schemeClr val="tx1"/>
          </a:solidFill>
          <a:latin typeface="+mn-lt"/>
          <a:ea typeface="+mn-ea"/>
          <a:cs typeface="+mn-cs"/>
        </a:defRPr>
      </a:lvl2pPr>
      <a:lvl3pPr marL="912495" algn="l" rtl="0" eaLnBrk="1" latinLnBrk="0" hangingPunct="1">
        <a:defRPr kumimoji="0" kern="1200">
          <a:solidFill>
            <a:schemeClr val="tx1"/>
          </a:solidFill>
          <a:latin typeface="+mn-lt"/>
          <a:ea typeface="+mn-ea"/>
          <a:cs typeface="+mn-cs"/>
        </a:defRPr>
      </a:lvl3pPr>
      <a:lvl4pPr marL="1368425" algn="l" rtl="0" eaLnBrk="1" latinLnBrk="0" hangingPunct="1">
        <a:defRPr kumimoji="0" kern="1200">
          <a:solidFill>
            <a:schemeClr val="tx1"/>
          </a:solidFill>
          <a:latin typeface="+mn-lt"/>
          <a:ea typeface="+mn-ea"/>
          <a:cs typeface="+mn-cs"/>
        </a:defRPr>
      </a:lvl4pPr>
      <a:lvl5pPr marL="1824355" algn="l" rtl="0" eaLnBrk="1" latinLnBrk="0" hangingPunct="1">
        <a:defRPr kumimoji="0" kern="1200">
          <a:solidFill>
            <a:schemeClr val="tx1"/>
          </a:solidFill>
          <a:latin typeface="+mn-lt"/>
          <a:ea typeface="+mn-ea"/>
          <a:cs typeface="+mn-cs"/>
        </a:defRPr>
      </a:lvl5pPr>
      <a:lvl6pPr marL="2280285" algn="l" rtl="0" eaLnBrk="1" latinLnBrk="0" hangingPunct="1">
        <a:defRPr kumimoji="0" kern="1200">
          <a:solidFill>
            <a:schemeClr val="tx1"/>
          </a:solidFill>
          <a:latin typeface="+mn-lt"/>
          <a:ea typeface="+mn-ea"/>
          <a:cs typeface="+mn-cs"/>
        </a:defRPr>
      </a:lvl6pPr>
      <a:lvl7pPr marL="2736850" algn="l" rtl="0" eaLnBrk="1" latinLnBrk="0" hangingPunct="1">
        <a:defRPr kumimoji="0" kern="1200">
          <a:solidFill>
            <a:schemeClr val="tx1"/>
          </a:solidFill>
          <a:latin typeface="+mn-lt"/>
          <a:ea typeface="+mn-ea"/>
          <a:cs typeface="+mn-cs"/>
        </a:defRPr>
      </a:lvl7pPr>
      <a:lvl8pPr marL="3192780" algn="l" rtl="0" eaLnBrk="1" latinLnBrk="0" hangingPunct="1">
        <a:defRPr kumimoji="0" kern="1200">
          <a:solidFill>
            <a:schemeClr val="tx1"/>
          </a:solidFill>
          <a:latin typeface="+mn-lt"/>
          <a:ea typeface="+mn-ea"/>
          <a:cs typeface="+mn-cs"/>
        </a:defRPr>
      </a:lvl8pPr>
      <a:lvl9pPr marL="364871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4.xml"/><Relationship Id="rId2" Type="http://schemas.openxmlformats.org/officeDocument/2006/relationships/image" Target="../media/image9.e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4.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1.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4.xml"/><Relationship Id="rId2" Type="http://schemas.openxmlformats.org/officeDocument/2006/relationships/image" Target="../media/image9.emf"/><Relationship Id="rId1" Type="http://schemas.openxmlformats.org/officeDocument/2006/relationships/oleObject" Target="../embeddings/oleObject4.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image" Target="../media/image13.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em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oleObject" Target="../embeddings/oleObject5.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wmf"/></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image" Target="../media/image20.wmf"/></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image" Target="../media/image22.wmf"/></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image" Target="../media/image24.wmf"/></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image" Target="../media/image26.wmf"/></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image" Target="../media/image28.w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w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w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5.wmf"/></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6.wmf"/></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8.wmf"/></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9.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emf"/><Relationship Id="rId1" Type="http://schemas.openxmlformats.org/officeDocument/2006/relationships/image" Target="../media/image40.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emf"/><Relationship Id="rId1" Type="http://schemas.openxmlformats.org/officeDocument/2006/relationships/image" Target="../media/image42.em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2.jpe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2.xml"/><Relationship Id="rId1" Type="http://schemas.openxmlformats.org/officeDocument/2006/relationships/image" Target="../media/image2.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3.xml"/><Relationship Id="rId1" Type="http://schemas.openxmlformats.org/officeDocument/2006/relationships/image" Target="../media/image2.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4.xml"/><Relationship Id="rId1" Type="http://schemas.openxmlformats.org/officeDocument/2006/relationships/image" Target="../media/image2.jpe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xml"/><Relationship Id="rId4" Type="http://schemas.openxmlformats.org/officeDocument/2006/relationships/themeOverride" Target="../theme/themeOverride5.xml"/><Relationship Id="rId3" Type="http://schemas.openxmlformats.org/officeDocument/2006/relationships/image" Target="../media/image44.png"/><Relationship Id="rId2" Type="http://schemas.openxmlformats.org/officeDocument/2006/relationships/oleObject" Target="../embeddings/oleObject6.bin"/><Relationship Id="rId1" Type="http://schemas.openxmlformats.org/officeDocument/2006/relationships/image" Target="../media/image2.jpe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6.xml"/><Relationship Id="rId1" Type="http://schemas.openxmlformats.org/officeDocument/2006/relationships/image" Target="../media/image2.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1.xml"/><Relationship Id="rId4" Type="http://schemas.openxmlformats.org/officeDocument/2006/relationships/themeOverride" Target="../theme/themeOverride7.xml"/><Relationship Id="rId3" Type="http://schemas.openxmlformats.org/officeDocument/2006/relationships/image" Target="../media/image45.png"/><Relationship Id="rId2" Type="http://schemas.openxmlformats.org/officeDocument/2006/relationships/oleObject" Target="../embeddings/oleObject7.bin"/><Relationship Id="rId1" Type="http://schemas.openxmlformats.org/officeDocument/2006/relationships/image" Target="../media/image2.jpe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8.xml"/><Relationship Id="rId1" Type="http://schemas.openxmlformats.org/officeDocument/2006/relationships/image" Target="../media/image2.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1.xml"/><Relationship Id="rId4" Type="http://schemas.openxmlformats.org/officeDocument/2006/relationships/themeOverride" Target="../theme/themeOverride9.xml"/><Relationship Id="rId3" Type="http://schemas.openxmlformats.org/officeDocument/2006/relationships/image" Target="../media/image46.png"/><Relationship Id="rId2" Type="http://schemas.openxmlformats.org/officeDocument/2006/relationships/oleObject" Target="../embeddings/oleObject8.bin"/><Relationship Id="rId1" Type="http://schemas.openxmlformats.org/officeDocument/2006/relationships/image" Target="../media/image2.jpe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1.xml"/><Relationship Id="rId4" Type="http://schemas.openxmlformats.org/officeDocument/2006/relationships/themeOverride" Target="../theme/themeOverride10.xml"/><Relationship Id="rId3" Type="http://schemas.openxmlformats.org/officeDocument/2006/relationships/image" Target="../media/image47.png"/><Relationship Id="rId2" Type="http://schemas.openxmlformats.org/officeDocument/2006/relationships/oleObject" Target="../embeddings/oleObject9.bin"/><Relationship Id="rId1" Type="http://schemas.openxmlformats.org/officeDocument/2006/relationships/image" Target="../media/image2.jpe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1.xml"/><Relationship Id="rId1" Type="http://schemas.openxmlformats.org/officeDocument/2006/relationships/image" Target="../media/image2.jpe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1.xml"/><Relationship Id="rId4" Type="http://schemas.openxmlformats.org/officeDocument/2006/relationships/themeOverride" Target="../theme/themeOverride12.xml"/><Relationship Id="rId3" Type="http://schemas.openxmlformats.org/officeDocument/2006/relationships/image" Target="../media/image48.png"/><Relationship Id="rId2" Type="http://schemas.openxmlformats.org/officeDocument/2006/relationships/oleObject" Target="../embeddings/oleObject10.bin"/><Relationship Id="rId1" Type="http://schemas.openxmlformats.org/officeDocument/2006/relationships/image" Target="../media/image2.jpe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rrowheads="1"/>
          </p:cNvSpPr>
          <p:nvPr>
            <p:ph type="ctrTitle"/>
          </p:nvPr>
        </p:nvSpPr>
        <p:spPr bwMode="auto">
          <a:xfrm>
            <a:off x="531918" y="1064825"/>
            <a:ext cx="7750810" cy="145938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44"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rPr>
              <a:t>软 件 工 程 导 论</a:t>
            </a:r>
            <a:endPar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endParaRPr>
          </a:p>
        </p:txBody>
      </p:sp>
      <p:sp>
        <p:nvSpPr>
          <p:cNvPr id="6147" name="Rectangle 3"/>
          <p:cNvSpPr>
            <a:spLocks noGrp="1" noRot="1"/>
          </p:cNvSpPr>
          <p:nvPr>
            <p:ph type="subTitle" idx="1"/>
          </p:nvPr>
        </p:nvSpPr>
        <p:spPr>
          <a:xfrm>
            <a:off x="1319213" y="3567113"/>
            <a:ext cx="6381750" cy="2551112"/>
          </a:xfrm>
        </p:spPr>
        <p:txBody>
          <a:bodyPr vert="horz" wrap="square" lIns="0" tIns="45610" rIns="18244" bIns="45610" anchor="t" anchorCtr="0"/>
          <a:p>
            <a:pPr marR="0" algn="ctr" eaLnBrk="1" hangingPunct="1">
              <a:lnSpc>
                <a:spcPct val="90000"/>
              </a:lnSpc>
              <a:buClr>
                <a:srgbClr val="0BD0D9"/>
              </a:buClr>
              <a:buSzPct val="95000"/>
            </a:pPr>
            <a:r>
              <a:rPr lang="zh-CN" altLang="en-US" sz="4000" b="1" kern="1200" dirty="0">
                <a:latin typeface="楷体_GB2312" pitchFamily="49" charset="-122"/>
                <a:ea typeface="楷体_GB2312" pitchFamily="49" charset="-122"/>
                <a:cs typeface="+mn-cs"/>
              </a:rPr>
              <a:t>第十次课：期中教学内容回顾与总结</a:t>
            </a:r>
            <a:endParaRPr lang="zh-CN" altLang="en-US" sz="4000" b="1" kern="1200" dirty="0">
              <a:latin typeface="楷体_GB2312" pitchFamily="49" charset="-122"/>
              <a:ea typeface="楷体_GB2312"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358775" y="5222558"/>
            <a:ext cx="8759825" cy="1139825"/>
          </a:xfrm>
        </p:spPr>
        <p:txBody>
          <a:bodyPr vert="horz" wrap="square" lIns="0" tIns="45610" rIns="0" bIns="0" anchor="b" anchorCtr="0"/>
          <a:p>
            <a:pPr eaLnBrk="1" hangingPunct="1"/>
            <a:r>
              <a:rPr lang="zh-CN" altLang="en-US" sz="4000" b="1" dirty="0">
                <a:latin typeface="微软雅黑" panose="020B0503020204020204" pitchFamily="34" charset="-122"/>
                <a:ea typeface="微软雅黑" panose="020B0503020204020204" pitchFamily="34" charset="-122"/>
              </a:rPr>
              <a:t>第一次课：软件工程概述</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第二次课：软件过程模型</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第三次课：敏捷软件过程</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第四次课：面向对象的需求分析</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第五次课：结构化分析</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第六次课：面向对象基础</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第七次课：面向对象设计</a:t>
            </a:r>
            <a:br>
              <a:rPr lang="zh-CN" altLang="en-US"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第八次课：面向对象设计的进一步介绍</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第九次课：设计模式</a:t>
            </a:r>
            <a:endParaRPr lang="zh-CN" altLang="en-US" sz="40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软件工程</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vert="horz" wrap="square" lIns="91221" tIns="45610" rIns="91221" bIns="45610" numCol="1" anchor="t" anchorCtr="0" compatLnSpc="1">
            <a:normAutofit/>
          </a:bodyPr>
          <a:lstStyle/>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r>
              <a:rPr kumimoji="0" lang="zh-CN" altLang="en-US" sz="26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软件工程主要研究内容：</a:t>
            </a:r>
            <a:endParaRPr kumimoji="0" lang="en-US" altLang="zh-CN" sz="26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513080" marR="0" lvl="0" indent="-513080" algn="l" defTabSz="914400" rtl="0" eaLnBrk="1" fontAlgn="auto" latinLnBrk="0" hangingPunct="1">
              <a:lnSpc>
                <a:spcPct val="150000"/>
              </a:lnSpc>
              <a:spcBef>
                <a:spcPct val="20000"/>
              </a:spcBef>
              <a:spcAft>
                <a:spcPts val="0"/>
              </a:spcAft>
              <a:buClr>
                <a:schemeClr val="accent3"/>
              </a:buClr>
              <a:buSzPct val="95000"/>
              <a:buFont typeface="+mj-lt"/>
              <a:buAutoNum type="arabicPeriod"/>
              <a:defRPr/>
            </a:pPr>
            <a:r>
              <a:rPr kumimoji="0" lang="zh-CN" altLang="en-US" sz="2600" b="1"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一个目标</a:t>
            </a:r>
            <a:r>
              <a:rPr kumimoji="0" lang="zh-CN" altLang="en-US" sz="26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a:t>
            </a:r>
            <a:r>
              <a:rPr kumimoji="0" lang="zh-CN" altLang="en-US" sz="2395" b="0"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如何经济的、高质量的开发与维护一个软件系统</a:t>
            </a:r>
            <a:endParaRPr kumimoji="0" lang="en-US" altLang="zh-CN" sz="2395" b="0"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513080" marR="0" lvl="0" indent="-513080" algn="l" defTabSz="914400" rtl="0" eaLnBrk="1" fontAlgn="auto" latinLnBrk="0" hangingPunct="1">
              <a:lnSpc>
                <a:spcPct val="150000"/>
              </a:lnSpc>
              <a:spcBef>
                <a:spcPct val="20000"/>
              </a:spcBef>
              <a:spcAft>
                <a:spcPts val="0"/>
              </a:spcAft>
              <a:buClr>
                <a:schemeClr val="accent3"/>
              </a:buClr>
              <a:buSzPct val="95000"/>
              <a:buFont typeface="+mj-lt"/>
              <a:buAutoNum type="arabicPeriod"/>
              <a:defRPr/>
            </a:pPr>
            <a:r>
              <a:rPr kumimoji="0" lang="zh-CN" altLang="en-US" sz="2600" b="1"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三个</a:t>
            </a:r>
            <a:r>
              <a:rPr kumimoji="0" lang="zh-CN" altLang="en-US" sz="26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方面</a:t>
            </a:r>
            <a:r>
              <a:rPr kumimoji="0" lang="zh-CN" altLang="en-US" sz="26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a:t>
            </a:r>
            <a:r>
              <a:rPr kumimoji="0" lang="zh-CN" altLang="en-US" sz="2395" b="0"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过程、方法、工具</a:t>
            </a:r>
            <a:endParaRPr kumimoji="0" lang="en-US" altLang="zh-CN" sz="2395" b="0"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0" marR="0" lvl="0" indent="0" algn="l" defTabSz="914400" rtl="0" eaLnBrk="1" fontAlgn="auto" latinLnBrk="0" hangingPunct="1">
              <a:lnSpc>
                <a:spcPct val="150000"/>
              </a:lnSpc>
              <a:spcBef>
                <a:spcPct val="20000"/>
              </a:spcBef>
              <a:spcAft>
                <a:spcPts val="0"/>
              </a:spcAft>
              <a:buClr>
                <a:schemeClr val="accent3"/>
              </a:buClr>
              <a:buSzPct val="95000"/>
              <a:buFont typeface="Wingdings 2" panose="05020102010507070707" pitchFamily="18" charset="2"/>
              <a:buNone/>
              <a:defRPr/>
            </a:pPr>
            <a:endParaRPr kumimoji="0" lang="en-US" altLang="zh-CN" sz="2600" b="0"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endParaRPr kumimoji="0" lang="en-US" altLang="zh-CN"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endParaRPr kumimoji="0" lang="en-US" altLang="zh-CN"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685" marR="0" lvl="0" indent="-273685"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zh-CN" altLang="en-US"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pic>
        <p:nvPicPr>
          <p:cNvPr id="8196" name="Picture 7"/>
          <p:cNvPicPr>
            <a:picLocks noChangeAspect="1"/>
          </p:cNvPicPr>
          <p:nvPr/>
        </p:nvPicPr>
        <p:blipFill>
          <a:blip r:embed="rId1"/>
          <a:stretch>
            <a:fillRect/>
          </a:stretch>
        </p:blipFill>
        <p:spPr>
          <a:xfrm>
            <a:off x="2582863" y="4681538"/>
            <a:ext cx="3552825" cy="1951037"/>
          </a:xfrm>
          <a:prstGeom prst="rect">
            <a:avLst/>
          </a:prstGeom>
          <a:noFill/>
          <a:ln w="9525">
            <a:noFill/>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3" name="表格 72"/>
          <p:cNvGraphicFramePr>
            <a:graphicFrameLocks noGrp="1"/>
          </p:cNvGraphicFramePr>
          <p:nvPr/>
        </p:nvGraphicFramePr>
        <p:xfrm>
          <a:off x="835872" y="4562475"/>
          <a:ext cx="7522846" cy="1008746"/>
        </p:xfrm>
        <a:graphic>
          <a:graphicData uri="http://schemas.openxmlformats.org/drawingml/2006/table">
            <a:tbl>
              <a:tblPr firstRow="1" bandRow="1">
                <a:effectLst>
                  <a:outerShdw blurRad="76200" dir="18900000" sy="23000" kx="-1200000" algn="bl" rotWithShape="0">
                    <a:prstClr val="black">
                      <a:alpha val="20000"/>
                    </a:prstClr>
                  </a:outerShdw>
                  <a:reflection blurRad="6350" stA="50000" endA="300" endPos="55000" dir="5400000" sy="-100000" algn="bl" rotWithShape="0"/>
                </a:effectLst>
                <a:tableStyleId>{93296810-A885-4BE3-A3E7-6D5BEEA58F35}</a:tableStyleId>
              </a:tblPr>
              <a:tblGrid>
                <a:gridCol w="1215812"/>
                <a:gridCol w="1063837"/>
                <a:gridCol w="1063837"/>
                <a:gridCol w="1063837"/>
                <a:gridCol w="1063837"/>
                <a:gridCol w="962863"/>
                <a:gridCol w="1088823"/>
              </a:tblGrid>
              <a:tr h="100874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可行性分析</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需求分析</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概要设计</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详细设计</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编程实现</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测试</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dirty="0" smtClean="0">
                          <a:solidFill>
                            <a:schemeClr val="tx1"/>
                          </a:solidFill>
                          <a:latin typeface="微软雅黑" panose="020B0503020204020204" pitchFamily="34" charset="-122"/>
                          <a:ea typeface="微软雅黑" panose="020B0503020204020204" pitchFamily="34" charset="-122"/>
                        </a:rPr>
                        <a:t>部署维护</a:t>
                      </a:r>
                      <a:endParaRPr lang="zh-CN" altLang="en-US" sz="2400" dirty="0">
                        <a:solidFill>
                          <a:schemeClr val="tx1"/>
                        </a:solidFill>
                        <a:latin typeface="微软雅黑" panose="020B0503020204020204" pitchFamily="34" charset="-122"/>
                        <a:ea typeface="微软雅黑" panose="020B0503020204020204" pitchFamily="34" charset="-122"/>
                      </a:endParaRPr>
                    </a:p>
                  </a:txBody>
                  <a:tcPr marL="91186" marR="91186" marT="45593" marB="4559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r>
            </a:tbl>
          </a:graphicData>
        </a:graphic>
      </p:graphicFrame>
      <p:sp>
        <p:nvSpPr>
          <p:cNvPr id="3" name="右箭头 2"/>
          <p:cNvSpPr/>
          <p:nvPr/>
        </p:nvSpPr>
        <p:spPr>
          <a:xfrm>
            <a:off x="8358188" y="4941888"/>
            <a:ext cx="608013"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395" b="1" i="0" u="none" strike="noStrike" kern="1200" cap="none" spc="0" normalizeH="0" baseline="0" noProof="0">
              <a:ln>
                <a:noFill/>
              </a:ln>
              <a:solidFill>
                <a:schemeClr val="lt1"/>
              </a:solidFill>
              <a:effectLst/>
              <a:uLnTx/>
              <a:uFillTx/>
              <a:latin typeface="+mn-lt"/>
              <a:ea typeface="+mn-ea"/>
              <a:cs typeface="+mn-cs"/>
            </a:endParaRPr>
          </a:p>
        </p:txBody>
      </p:sp>
      <p:sp>
        <p:nvSpPr>
          <p:cNvPr id="6" name="右箭头 5"/>
          <p:cNvSpPr/>
          <p:nvPr/>
        </p:nvSpPr>
        <p:spPr>
          <a:xfrm>
            <a:off x="228600" y="4941888"/>
            <a:ext cx="608013"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395" b="1" i="0" u="none" strike="noStrike" kern="1200" cap="none" spc="0" normalizeH="0" baseline="0" noProof="0">
              <a:ln>
                <a:noFill/>
              </a:ln>
              <a:solidFill>
                <a:schemeClr val="lt1"/>
              </a:solidFill>
              <a:effectLst/>
              <a:uLnTx/>
              <a:uFillTx/>
              <a:latin typeface="+mn-lt"/>
              <a:ea typeface="+mn-ea"/>
              <a:cs typeface="+mn-cs"/>
            </a:endParaRPr>
          </a:p>
        </p:txBody>
      </p:sp>
      <p:cxnSp>
        <p:nvCxnSpPr>
          <p:cNvPr id="8" name="直接箭头连接符 7"/>
          <p:cNvCxnSpPr/>
          <p:nvPr/>
        </p:nvCxnSpPr>
        <p:spPr>
          <a:xfrm>
            <a:off x="1425575"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82863"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6762750"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4711700"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3592513"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5775325"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7785100" y="3575050"/>
            <a:ext cx="0" cy="911225"/>
          </a:xfrm>
          <a:prstGeom prst="straightConnector1">
            <a:avLst/>
          </a:prstGeom>
          <a:ln w="28575" cmpd="thickThin">
            <a:tailEnd type="arrow"/>
          </a:ln>
        </p:spPr>
        <p:style>
          <a:lnRef idx="1">
            <a:schemeClr val="accent1"/>
          </a:lnRef>
          <a:fillRef idx="0">
            <a:schemeClr val="accent1"/>
          </a:fillRef>
          <a:effectRef idx="0">
            <a:schemeClr val="accent1"/>
          </a:effectRef>
          <a:fontRef idx="minor">
            <a:schemeClr val="tx1"/>
          </a:fontRef>
        </p:style>
      </p:cxnSp>
      <p:sp>
        <p:nvSpPr>
          <p:cNvPr id="13324" name="TextBox 8"/>
          <p:cNvSpPr txBox="1">
            <a:spLocks noChangeArrowheads="1"/>
          </p:cNvSpPr>
          <p:nvPr/>
        </p:nvSpPr>
        <p:spPr bwMode="auto">
          <a:xfrm>
            <a:off x="307658" y="3567748"/>
            <a:ext cx="11366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可行性分析方法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矩形 9"/>
          <p:cNvSpPr/>
          <p:nvPr/>
        </p:nvSpPr>
        <p:spPr>
          <a:xfrm>
            <a:off x="760413" y="2617788"/>
            <a:ext cx="7521575" cy="957263"/>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190" b="1" i="0" u="none" strike="noStrike" kern="1200" cap="none" spc="0" normalizeH="0" baseline="0" noProof="0" dirty="0">
                <a:ln>
                  <a:noFill/>
                </a:ln>
                <a:solidFill>
                  <a:schemeClr val="tx1"/>
                </a:solidFill>
                <a:effectLst/>
                <a:uLnTx/>
                <a:uFillTx/>
                <a:latin typeface="+mn-lt"/>
                <a:ea typeface="+mn-ea"/>
                <a:cs typeface="+mn-cs"/>
              </a:rPr>
              <a:t>软件工程方法</a:t>
            </a:r>
            <a:endParaRPr kumimoji="1" lang="zh-CN" altLang="en-US" sz="3190" b="1" i="0" u="none" strike="noStrike" kern="1200" cap="none" spc="0" normalizeH="0" baseline="0" noProof="0" dirty="0">
              <a:ln>
                <a:noFill/>
              </a:ln>
              <a:solidFill>
                <a:schemeClr val="tx1"/>
              </a:solidFill>
              <a:effectLst/>
              <a:uLnTx/>
              <a:uFillTx/>
              <a:latin typeface="+mn-lt"/>
              <a:ea typeface="+mn-ea"/>
              <a:cs typeface="+mn-cs"/>
            </a:endParaRPr>
          </a:p>
        </p:txBody>
      </p:sp>
      <p:sp>
        <p:nvSpPr>
          <p:cNvPr id="19" name="矩形 18"/>
          <p:cNvSpPr/>
          <p:nvPr/>
        </p:nvSpPr>
        <p:spPr>
          <a:xfrm>
            <a:off x="801688" y="914400"/>
            <a:ext cx="7521575" cy="98901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190" b="1" i="0" u="none" strike="noStrike" kern="1200" cap="none" spc="0" normalizeH="0" baseline="0" noProof="0" dirty="0">
                <a:ln>
                  <a:noFill/>
                </a:ln>
                <a:solidFill>
                  <a:schemeClr val="tx1"/>
                </a:solidFill>
                <a:effectLst/>
                <a:uLnTx/>
                <a:uFillTx/>
                <a:latin typeface="+mn-lt"/>
                <a:ea typeface="+mn-ea"/>
                <a:cs typeface="+mn-cs"/>
              </a:rPr>
              <a:t>软件工程工具</a:t>
            </a:r>
            <a:endParaRPr kumimoji="1" lang="zh-CN" altLang="en-US" sz="3190" b="1" i="0" u="none" strike="noStrike" kern="1200" cap="none" spc="0" normalizeH="0" baseline="0" noProof="0" dirty="0">
              <a:ln>
                <a:noFill/>
              </a:ln>
              <a:solidFill>
                <a:schemeClr val="tx1"/>
              </a:solidFill>
              <a:effectLst/>
              <a:uLnTx/>
              <a:uFillTx/>
              <a:latin typeface="+mn-lt"/>
              <a:ea typeface="+mn-ea"/>
              <a:cs typeface="+mn-cs"/>
            </a:endParaRPr>
          </a:p>
        </p:txBody>
      </p:sp>
      <p:sp>
        <p:nvSpPr>
          <p:cNvPr id="17" name="下箭头 16"/>
          <p:cNvSpPr/>
          <p:nvPr/>
        </p:nvSpPr>
        <p:spPr>
          <a:xfrm>
            <a:off x="4256088" y="1933575"/>
            <a:ext cx="455613" cy="6842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395" b="1" i="0" u="none" strike="noStrike" kern="1200" cap="none" spc="0" normalizeH="0" baseline="0" noProof="0">
              <a:ln>
                <a:noFill/>
              </a:ln>
              <a:solidFill>
                <a:schemeClr val="lt1"/>
              </a:solidFill>
              <a:effectLst/>
              <a:uLnTx/>
              <a:uFillTx/>
              <a:latin typeface="+mn-lt"/>
              <a:ea typeface="+mn-ea"/>
              <a:cs typeface="+mn-cs"/>
            </a:endParaRPr>
          </a:p>
        </p:txBody>
      </p:sp>
      <p:sp>
        <p:nvSpPr>
          <p:cNvPr id="13328" name="TextBox 20"/>
          <p:cNvSpPr txBox="1">
            <a:spLocks noChangeArrowheads="1"/>
          </p:cNvSpPr>
          <p:nvPr/>
        </p:nvSpPr>
        <p:spPr bwMode="auto">
          <a:xfrm>
            <a:off x="1676083" y="3567748"/>
            <a:ext cx="9112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需求分析方法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29" name="TextBox 21"/>
          <p:cNvSpPr txBox="1">
            <a:spLocks noChangeArrowheads="1"/>
          </p:cNvSpPr>
          <p:nvPr/>
        </p:nvSpPr>
        <p:spPr bwMode="auto">
          <a:xfrm>
            <a:off x="2663508" y="3567748"/>
            <a:ext cx="100806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概要设计方法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30" name="TextBox 22"/>
          <p:cNvSpPr txBox="1">
            <a:spLocks noChangeArrowheads="1"/>
          </p:cNvSpPr>
          <p:nvPr/>
        </p:nvSpPr>
        <p:spPr bwMode="auto">
          <a:xfrm>
            <a:off x="3768408" y="3567748"/>
            <a:ext cx="947738"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详细设计方法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31" name="TextBox 23"/>
          <p:cNvSpPr txBox="1">
            <a:spLocks noChangeArrowheads="1"/>
          </p:cNvSpPr>
          <p:nvPr/>
        </p:nvSpPr>
        <p:spPr bwMode="auto">
          <a:xfrm>
            <a:off x="4847908" y="3561398"/>
            <a:ext cx="100806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编程实现方法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32" name="TextBox 24"/>
          <p:cNvSpPr txBox="1">
            <a:spLocks noChangeArrowheads="1"/>
          </p:cNvSpPr>
          <p:nvPr/>
        </p:nvSpPr>
        <p:spPr bwMode="auto">
          <a:xfrm>
            <a:off x="6082983" y="3586798"/>
            <a:ext cx="83661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测试方法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33" name="TextBox 25"/>
          <p:cNvSpPr txBox="1">
            <a:spLocks noChangeArrowheads="1"/>
          </p:cNvSpPr>
          <p:nvPr/>
        </p:nvSpPr>
        <p:spPr bwMode="auto">
          <a:xfrm>
            <a:off x="7070408" y="3586798"/>
            <a:ext cx="83343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维护方法</a:t>
            </a:r>
            <a:endParaRPr kumimoji="1"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34" name="TextBox 63"/>
          <p:cNvSpPr txBox="1">
            <a:spLocks noChangeArrowheads="1"/>
          </p:cNvSpPr>
          <p:nvPr/>
        </p:nvSpPr>
        <p:spPr bwMode="auto">
          <a:xfrm>
            <a:off x="4691063" y="2054225"/>
            <a:ext cx="2071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995"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支持方法的工具</a:t>
            </a:r>
            <a:endParaRPr kumimoji="1" lang="zh-CN" altLang="en-US" sz="1995"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3324"/>
                                        </p:tgtEl>
                                        <p:attrNameLst>
                                          <p:attrName>style.visibility</p:attrName>
                                        </p:attrNameLst>
                                      </p:cBhvr>
                                      <p:to>
                                        <p:strVal val="visible"/>
                                      </p:to>
                                    </p:set>
                                    <p:anim calcmode="lin" valueType="num">
                                      <p:cBhvr additive="base">
                                        <p:cTn id="53" dur="500" fill="hold"/>
                                        <p:tgtEl>
                                          <p:spTgt spid="13324"/>
                                        </p:tgtEl>
                                        <p:attrNameLst>
                                          <p:attrName>ppt_x</p:attrName>
                                        </p:attrNameLst>
                                      </p:cBhvr>
                                      <p:tavLst>
                                        <p:tav tm="0">
                                          <p:val>
                                            <p:strVal val="#ppt_x"/>
                                          </p:val>
                                        </p:tav>
                                        <p:tav tm="100000">
                                          <p:val>
                                            <p:strVal val="#ppt_x"/>
                                          </p:val>
                                        </p:tav>
                                      </p:tavLst>
                                    </p:anim>
                                    <p:anim calcmode="lin" valueType="num">
                                      <p:cBhvr additive="base">
                                        <p:cTn id="54" dur="500" fill="hold"/>
                                        <p:tgtEl>
                                          <p:spTgt spid="1332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3328"/>
                                        </p:tgtEl>
                                        <p:attrNameLst>
                                          <p:attrName>style.visibility</p:attrName>
                                        </p:attrNameLst>
                                      </p:cBhvr>
                                      <p:to>
                                        <p:strVal val="visible"/>
                                      </p:to>
                                    </p:set>
                                    <p:anim calcmode="lin" valueType="num">
                                      <p:cBhvr additive="base">
                                        <p:cTn id="57" dur="500" fill="hold"/>
                                        <p:tgtEl>
                                          <p:spTgt spid="13328"/>
                                        </p:tgtEl>
                                        <p:attrNameLst>
                                          <p:attrName>ppt_x</p:attrName>
                                        </p:attrNameLst>
                                      </p:cBhvr>
                                      <p:tavLst>
                                        <p:tav tm="0">
                                          <p:val>
                                            <p:strVal val="#ppt_x"/>
                                          </p:val>
                                        </p:tav>
                                        <p:tav tm="100000">
                                          <p:val>
                                            <p:strVal val="#ppt_x"/>
                                          </p:val>
                                        </p:tav>
                                      </p:tavLst>
                                    </p:anim>
                                    <p:anim calcmode="lin" valueType="num">
                                      <p:cBhvr additive="base">
                                        <p:cTn id="58" dur="500" fill="hold"/>
                                        <p:tgtEl>
                                          <p:spTgt spid="13328"/>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3329"/>
                                        </p:tgtEl>
                                        <p:attrNameLst>
                                          <p:attrName>style.visibility</p:attrName>
                                        </p:attrNameLst>
                                      </p:cBhvr>
                                      <p:to>
                                        <p:strVal val="visible"/>
                                      </p:to>
                                    </p:set>
                                    <p:anim calcmode="lin" valueType="num">
                                      <p:cBhvr additive="base">
                                        <p:cTn id="61" dur="500" fill="hold"/>
                                        <p:tgtEl>
                                          <p:spTgt spid="13329"/>
                                        </p:tgtEl>
                                        <p:attrNameLst>
                                          <p:attrName>ppt_x</p:attrName>
                                        </p:attrNameLst>
                                      </p:cBhvr>
                                      <p:tavLst>
                                        <p:tav tm="0">
                                          <p:val>
                                            <p:strVal val="#ppt_x"/>
                                          </p:val>
                                        </p:tav>
                                        <p:tav tm="100000">
                                          <p:val>
                                            <p:strVal val="#ppt_x"/>
                                          </p:val>
                                        </p:tav>
                                      </p:tavLst>
                                    </p:anim>
                                    <p:anim calcmode="lin" valueType="num">
                                      <p:cBhvr additive="base">
                                        <p:cTn id="62" dur="500" fill="hold"/>
                                        <p:tgtEl>
                                          <p:spTgt spid="13329"/>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3330"/>
                                        </p:tgtEl>
                                        <p:attrNameLst>
                                          <p:attrName>style.visibility</p:attrName>
                                        </p:attrNameLst>
                                      </p:cBhvr>
                                      <p:to>
                                        <p:strVal val="visible"/>
                                      </p:to>
                                    </p:set>
                                    <p:anim calcmode="lin" valueType="num">
                                      <p:cBhvr additive="base">
                                        <p:cTn id="65" dur="500" fill="hold"/>
                                        <p:tgtEl>
                                          <p:spTgt spid="13330"/>
                                        </p:tgtEl>
                                        <p:attrNameLst>
                                          <p:attrName>ppt_x</p:attrName>
                                        </p:attrNameLst>
                                      </p:cBhvr>
                                      <p:tavLst>
                                        <p:tav tm="0">
                                          <p:val>
                                            <p:strVal val="#ppt_x"/>
                                          </p:val>
                                        </p:tav>
                                        <p:tav tm="100000">
                                          <p:val>
                                            <p:strVal val="#ppt_x"/>
                                          </p:val>
                                        </p:tav>
                                      </p:tavLst>
                                    </p:anim>
                                    <p:anim calcmode="lin" valueType="num">
                                      <p:cBhvr additive="base">
                                        <p:cTn id="66" dur="500" fill="hold"/>
                                        <p:tgtEl>
                                          <p:spTgt spid="13330"/>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3331"/>
                                        </p:tgtEl>
                                        <p:attrNameLst>
                                          <p:attrName>style.visibility</p:attrName>
                                        </p:attrNameLst>
                                      </p:cBhvr>
                                      <p:to>
                                        <p:strVal val="visible"/>
                                      </p:to>
                                    </p:set>
                                    <p:anim calcmode="lin" valueType="num">
                                      <p:cBhvr additive="base">
                                        <p:cTn id="69" dur="500" fill="hold"/>
                                        <p:tgtEl>
                                          <p:spTgt spid="13331"/>
                                        </p:tgtEl>
                                        <p:attrNameLst>
                                          <p:attrName>ppt_x</p:attrName>
                                        </p:attrNameLst>
                                      </p:cBhvr>
                                      <p:tavLst>
                                        <p:tav tm="0">
                                          <p:val>
                                            <p:strVal val="#ppt_x"/>
                                          </p:val>
                                        </p:tav>
                                        <p:tav tm="100000">
                                          <p:val>
                                            <p:strVal val="#ppt_x"/>
                                          </p:val>
                                        </p:tav>
                                      </p:tavLst>
                                    </p:anim>
                                    <p:anim calcmode="lin" valueType="num">
                                      <p:cBhvr additive="base">
                                        <p:cTn id="70" dur="500" fill="hold"/>
                                        <p:tgtEl>
                                          <p:spTgt spid="13331"/>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3332"/>
                                        </p:tgtEl>
                                        <p:attrNameLst>
                                          <p:attrName>style.visibility</p:attrName>
                                        </p:attrNameLst>
                                      </p:cBhvr>
                                      <p:to>
                                        <p:strVal val="visible"/>
                                      </p:to>
                                    </p:set>
                                    <p:anim calcmode="lin" valueType="num">
                                      <p:cBhvr additive="base">
                                        <p:cTn id="73" dur="500" fill="hold"/>
                                        <p:tgtEl>
                                          <p:spTgt spid="13332"/>
                                        </p:tgtEl>
                                        <p:attrNameLst>
                                          <p:attrName>ppt_x</p:attrName>
                                        </p:attrNameLst>
                                      </p:cBhvr>
                                      <p:tavLst>
                                        <p:tav tm="0">
                                          <p:val>
                                            <p:strVal val="#ppt_x"/>
                                          </p:val>
                                        </p:tav>
                                        <p:tav tm="100000">
                                          <p:val>
                                            <p:strVal val="#ppt_x"/>
                                          </p:val>
                                        </p:tav>
                                      </p:tavLst>
                                    </p:anim>
                                    <p:anim calcmode="lin" valueType="num">
                                      <p:cBhvr additive="base">
                                        <p:cTn id="74" dur="500" fill="hold"/>
                                        <p:tgtEl>
                                          <p:spTgt spid="13332"/>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3333"/>
                                        </p:tgtEl>
                                        <p:attrNameLst>
                                          <p:attrName>style.visibility</p:attrName>
                                        </p:attrNameLst>
                                      </p:cBhvr>
                                      <p:to>
                                        <p:strVal val="visible"/>
                                      </p:to>
                                    </p:set>
                                    <p:anim calcmode="lin" valueType="num">
                                      <p:cBhvr additive="base">
                                        <p:cTn id="77" dur="500" fill="hold"/>
                                        <p:tgtEl>
                                          <p:spTgt spid="13333"/>
                                        </p:tgtEl>
                                        <p:attrNameLst>
                                          <p:attrName>ppt_x</p:attrName>
                                        </p:attrNameLst>
                                      </p:cBhvr>
                                      <p:tavLst>
                                        <p:tav tm="0">
                                          <p:val>
                                            <p:strVal val="#ppt_x"/>
                                          </p:val>
                                        </p:tav>
                                        <p:tav tm="100000">
                                          <p:val>
                                            <p:strVal val="#ppt_x"/>
                                          </p:val>
                                        </p:tav>
                                      </p:tavLst>
                                    </p:anim>
                                    <p:anim calcmode="lin" valueType="num">
                                      <p:cBhvr additive="base">
                                        <p:cTn id="78" dur="500" fill="hold"/>
                                        <p:tgtEl>
                                          <p:spTgt spid="13333"/>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anim calcmode="lin" valueType="num">
                                      <p:cBhvr additive="base">
                                        <p:cTn id="83" dur="500" fill="hold"/>
                                        <p:tgtEl>
                                          <p:spTgt spid="17"/>
                                        </p:tgtEl>
                                        <p:attrNameLst>
                                          <p:attrName>ppt_x</p:attrName>
                                        </p:attrNameLst>
                                      </p:cBhvr>
                                      <p:tavLst>
                                        <p:tav tm="0">
                                          <p:val>
                                            <p:strVal val="#ppt_x"/>
                                          </p:val>
                                        </p:tav>
                                        <p:tav tm="100000">
                                          <p:val>
                                            <p:strVal val="#ppt_x"/>
                                          </p:val>
                                        </p:tav>
                                      </p:tavLst>
                                    </p:anim>
                                    <p:anim calcmode="lin" valueType="num">
                                      <p:cBhvr additive="base">
                                        <p:cTn id="84" dur="500" fill="hold"/>
                                        <p:tgtEl>
                                          <p:spTgt spid="1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3334"/>
                                        </p:tgtEl>
                                        <p:attrNameLst>
                                          <p:attrName>style.visibility</p:attrName>
                                        </p:attrNameLst>
                                      </p:cBhvr>
                                      <p:to>
                                        <p:strVal val="visible"/>
                                      </p:to>
                                    </p:set>
                                    <p:anim calcmode="lin" valueType="num">
                                      <p:cBhvr additive="base">
                                        <p:cTn id="87" dur="500" fill="hold"/>
                                        <p:tgtEl>
                                          <p:spTgt spid="13334"/>
                                        </p:tgtEl>
                                        <p:attrNameLst>
                                          <p:attrName>ppt_x</p:attrName>
                                        </p:attrNameLst>
                                      </p:cBhvr>
                                      <p:tavLst>
                                        <p:tav tm="0">
                                          <p:val>
                                            <p:strVal val="#ppt_x"/>
                                          </p:val>
                                        </p:tav>
                                        <p:tav tm="100000">
                                          <p:val>
                                            <p:strVal val="#ppt_x"/>
                                          </p:val>
                                        </p:tav>
                                      </p:tavLst>
                                    </p:anim>
                                    <p:anim calcmode="lin" valueType="num">
                                      <p:cBhvr additive="base">
                                        <p:cTn id="88" dur="500" fill="hold"/>
                                        <p:tgtEl>
                                          <p:spTgt spid="1333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additive="base">
                                        <p:cTn id="91" dur="500" fill="hold"/>
                                        <p:tgtEl>
                                          <p:spTgt spid="19"/>
                                        </p:tgtEl>
                                        <p:attrNameLst>
                                          <p:attrName>ppt_x</p:attrName>
                                        </p:attrNameLst>
                                      </p:cBhvr>
                                      <p:tavLst>
                                        <p:tav tm="0">
                                          <p:val>
                                            <p:strVal val="#ppt_x"/>
                                          </p:val>
                                        </p:tav>
                                        <p:tav tm="100000">
                                          <p:val>
                                            <p:strVal val="#ppt_x"/>
                                          </p:val>
                                        </p:tav>
                                      </p:tavLst>
                                    </p:anim>
                                    <p:anim calcmode="lin" valueType="num">
                                      <p:cBhvr additive="base">
                                        <p:cTn id="9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3324" grpId="0"/>
      <p:bldP spid="10" grpId="0" animBg="1"/>
      <p:bldP spid="19" grpId="0" animBg="1"/>
      <p:bldP spid="17" grpId="0" animBg="1"/>
      <p:bldP spid="13328" grpId="0"/>
      <p:bldP spid="13329" grpId="0"/>
      <p:bldP spid="13330" grpId="0"/>
      <p:bldP spid="13331" grpId="0"/>
      <p:bldP spid="13332" grpId="0"/>
      <p:bldP spid="13333" grpId="0"/>
      <p:bldP spid="133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软件过程模型</a:t>
            </a:r>
            <a:endParaRPr lang="zh-CN" altLang="en-US" b="1"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vert="horz" wrap="square" lIns="91221" tIns="45610" rIns="91221" bIns="45610" numCol="1" anchor="t" anchorCtr="0" compatLnSpc="1">
            <a:normAutofit/>
          </a:bodyPr>
          <a:lstStyle/>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r>
              <a:rPr kumimoji="0" lang="zh-CN" altLang="en-US" sz="279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几种常见的软件过程模型</a:t>
            </a:r>
            <a:endParaRPr kumimoji="0" lang="en-US" altLang="zh-CN" sz="279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auto" latinLnBrk="0" hangingPunct="1">
              <a:lnSpc>
                <a:spcPct val="150000"/>
              </a:lnSpc>
              <a:spcBef>
                <a:spcPct val="20000"/>
              </a:spcBef>
              <a:spcAft>
                <a:spcPts val="0"/>
              </a:spcAft>
              <a:buClr>
                <a:schemeClr val="accent3"/>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瀑布模型</a:t>
            </a:r>
            <a:endParaRPr kumimoji="0" lang="en-US" altLang="zh-CN"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638175" marR="0" lvl="1" indent="-246380" algn="l" defTabSz="914400" rtl="0" eaLnBrk="1" fontAlgn="auto" latinLnBrk="0" hangingPunct="1">
              <a:lnSpc>
                <a:spcPct val="150000"/>
              </a:lnSpc>
              <a:spcBef>
                <a:spcPct val="20000"/>
              </a:spcBef>
              <a:spcAft>
                <a:spcPts val="0"/>
              </a:spcAft>
              <a:buClr>
                <a:schemeClr val="accent3"/>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原型模型</a:t>
            </a:r>
            <a:endParaRPr kumimoji="0" lang="en-US" altLang="zh-CN"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638175" marR="0" lvl="1" indent="-246380" algn="l" defTabSz="914400" rtl="0" eaLnBrk="1" fontAlgn="auto" latinLnBrk="0" hangingPunct="1">
              <a:lnSpc>
                <a:spcPct val="150000"/>
              </a:lnSpc>
              <a:spcBef>
                <a:spcPct val="20000"/>
              </a:spcBef>
              <a:spcAft>
                <a:spcPts val="0"/>
              </a:spcAft>
              <a:buClr>
                <a:schemeClr val="accent3"/>
              </a:buClr>
              <a:buSzPct val="85000"/>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增量</a:t>
            </a:r>
            <a:r>
              <a:rPr kumimoji="0" lang="zh-CN" altLang="en-US"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模型</a:t>
            </a:r>
            <a:endParaRPr kumimoji="0" lang="en-US" altLang="zh-CN"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638175" marR="0" lvl="1" indent="-246380" algn="l" defTabSz="914400" rtl="0" eaLnBrk="1" fontAlgn="auto" latinLnBrk="0" hangingPunct="1">
              <a:lnSpc>
                <a:spcPct val="150000"/>
              </a:lnSpc>
              <a:spcBef>
                <a:spcPct val="20000"/>
              </a:spcBef>
              <a:spcAft>
                <a:spcPts val="0"/>
              </a:spcAft>
              <a:buClr>
                <a:schemeClr val="accent3"/>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螺旋模型</a:t>
            </a:r>
            <a:endParaRPr kumimoji="0" lang="en-US" altLang="zh-CN"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638175" marR="0" lvl="1" indent="-246380" algn="l" defTabSz="914400" rtl="0" eaLnBrk="1" fontAlgn="auto" latinLnBrk="0" hangingPunct="1">
              <a:lnSpc>
                <a:spcPct val="150000"/>
              </a:lnSpc>
              <a:spcBef>
                <a:spcPct val="20000"/>
              </a:spcBef>
              <a:spcAft>
                <a:spcPts val="0"/>
              </a:spcAft>
              <a:buClr>
                <a:schemeClr val="accent3"/>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喷泉模型</a:t>
            </a:r>
            <a:endParaRPr kumimoji="0" lang="en-US" altLang="zh-CN" sz="2400" b="0"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0" marR="0" lvl="0" indent="0" algn="l" defTabSz="914400" rtl="0" eaLnBrk="1" fontAlgn="auto" latinLnBrk="0" hangingPunct="1">
              <a:lnSpc>
                <a:spcPct val="150000"/>
              </a:lnSpc>
              <a:spcBef>
                <a:spcPct val="20000"/>
              </a:spcBef>
              <a:spcAft>
                <a:spcPts val="0"/>
              </a:spcAft>
              <a:buClr>
                <a:schemeClr val="accent3"/>
              </a:buClr>
              <a:buSzPct val="95000"/>
              <a:buFont typeface="Wingdings 2" panose="05020102010507070707" pitchFamily="18" charset="2"/>
              <a:buNone/>
              <a:defRPr/>
            </a:pPr>
            <a:endParaRPr kumimoji="0" lang="en-US" altLang="zh-CN" sz="2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endParaRPr kumimoji="0" lang="en-US" altLang="zh-CN"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endParaRPr kumimoji="0" lang="en-US" altLang="zh-CN"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685" marR="0" lvl="0" indent="-273685"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zh-CN" altLang="en-US"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29 CuadroTexto"/>
          <p:cNvSpPr txBox="1">
            <a:spLocks noChangeArrowheads="1"/>
          </p:cNvSpPr>
          <p:nvPr/>
        </p:nvSpPr>
        <p:spPr bwMode="auto">
          <a:xfrm>
            <a:off x="4194175" y="6078538"/>
            <a:ext cx="261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1" lang="es-HN" altLang="zh-CN" sz="1195" b="1" i="0" u="none" strike="noStrike" kern="1200" cap="none" spc="0" normalizeH="0" baseline="0" noProof="0" smtClean="0">
                <a:ln>
                  <a:noFill/>
                </a:ln>
                <a:solidFill>
                  <a:srgbClr val="FF6699"/>
                </a:solidFill>
                <a:effectLst/>
                <a:uLnTx/>
                <a:uFillTx/>
                <a:latin typeface="Calibri" panose="020F0502020204030204" pitchFamily="34" charset="0"/>
                <a:ea typeface="宋体" panose="02010600030101010101" pitchFamily="2" charset="-122"/>
                <a:cs typeface="+mn-cs"/>
              </a:rPr>
              <a:t>1</a:t>
            </a:r>
            <a:endParaRPr kumimoji="1" lang="es-ES" altLang="zh-CN" sz="1195" b="1" i="0" u="none" strike="noStrike" kern="1200" cap="none" spc="0" normalizeH="0" baseline="0" noProof="0" smtClean="0">
              <a:ln>
                <a:noFill/>
              </a:ln>
              <a:solidFill>
                <a:srgbClr val="FF6699"/>
              </a:solidFill>
              <a:effectLst/>
              <a:uLnTx/>
              <a:uFillTx/>
              <a:latin typeface="Calibri" panose="020F0502020204030204" pitchFamily="34" charset="0"/>
              <a:ea typeface="宋体" panose="02010600030101010101" pitchFamily="2" charset="-122"/>
              <a:cs typeface="+mn-cs"/>
            </a:endParaRPr>
          </a:p>
        </p:txBody>
      </p:sp>
      <p:grpSp>
        <p:nvGrpSpPr>
          <p:cNvPr id="11267" name="13 Grupo"/>
          <p:cNvGrpSpPr/>
          <p:nvPr/>
        </p:nvGrpSpPr>
        <p:grpSpPr>
          <a:xfrm>
            <a:off x="4605338" y="2273300"/>
            <a:ext cx="6350" cy="3009900"/>
            <a:chOff x="4276603" y="1491264"/>
            <a:chExt cx="319" cy="3377896"/>
          </a:xfrm>
        </p:grpSpPr>
        <p:cxnSp>
          <p:nvCxnSpPr>
            <p:cNvPr id="23" name="9 Conector recto"/>
            <p:cNvCxnSpPr/>
            <p:nvPr/>
          </p:nvCxnSpPr>
          <p:spPr>
            <a:xfrm>
              <a:off x="4276603" y="1491264"/>
              <a:ext cx="0" cy="3377896"/>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cxnSp>
          <p:nvCxnSpPr>
            <p:cNvPr id="24" name="10 Conector recto"/>
            <p:cNvCxnSpPr/>
            <p:nvPr/>
          </p:nvCxnSpPr>
          <p:spPr>
            <a:xfrm>
              <a:off x="4276922" y="1491264"/>
              <a:ext cx="0" cy="337789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grpSp>
      <p:sp>
        <p:nvSpPr>
          <p:cNvPr id="11" name="内容占位符 2"/>
          <p:cNvSpPr>
            <a:spLocks noGrp="1"/>
          </p:cNvSpPr>
          <p:nvPr>
            <p:ph idx="1"/>
          </p:nvPr>
        </p:nvSpPr>
        <p:spPr>
          <a:xfrm>
            <a:off x="469900" y="1909763"/>
            <a:ext cx="8207375" cy="4514850"/>
          </a:xfrm>
          <a:ln>
            <a:miter lim="800000"/>
          </a:ln>
        </p:spPr>
        <p:txBody>
          <a:bodyPr vert="horz" wrap="square" lIns="91221" tIns="45610" rIns="91221" bIns="45610" numCol="1" anchor="t" anchorCtr="0" compatLnSpc="1">
            <a:normAutofit/>
          </a:body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99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敏捷开发（</a:t>
            </a:r>
            <a:r>
              <a:rPr kumimoji="0" lang="en-US" altLang="zh-CN" sz="299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agile development</a:t>
            </a:r>
            <a:r>
              <a:rPr kumimoji="0" lang="zh-CN" altLang="en-US" sz="299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t>
            </a:r>
            <a:endParaRPr kumimoji="0" lang="en-US" altLang="zh-CN" sz="299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是一种以</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宋体" panose="02010600030101010101" pitchFamily="2" charset="-122"/>
                <a:cs typeface="+mn-cs"/>
              </a:rPr>
              <a:t>人为核心、迭代、循序渐进</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的开发方法。</a:t>
            </a:r>
            <a:endParaRPr kumimoji="0" lang="en-US" altLang="zh-CN"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软件</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项目的构建被切分成多个子项目，各个子项目的成果都经过测试，具备集成和可运行的特征。</a:t>
            </a:r>
            <a:endParaRPr kumimoji="0" lang="en-US" altLang="zh-CN"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简言之，就是把一个大项目分为多个相互联系，但也可独立运行的小项目，并分别完成，</a:t>
            </a:r>
            <a:r>
              <a:rPr kumimoji="0" lang="zh-CN" altLang="en-US" sz="2000" b="1" i="0" u="sng" strike="noStrike" kern="1200" cap="none" spc="0" normalizeH="0" baseline="0" noProof="0" dirty="0">
                <a:ln>
                  <a:noFill/>
                </a:ln>
                <a:solidFill>
                  <a:srgbClr val="FF0000"/>
                </a:solidFill>
                <a:effectLst/>
                <a:uLnTx/>
                <a:uFillTx/>
                <a:latin typeface="微软雅黑" panose="020B0503020204020204" pitchFamily="34" charset="-122"/>
                <a:ea typeface="宋体" panose="02010600030101010101" pitchFamily="2" charset="-122"/>
                <a:cs typeface="+mn-cs"/>
              </a:rPr>
              <a:t>在此过程中软件一直处于可使用状态。</a:t>
            </a:r>
            <a:endParaRPr kumimoji="0" lang="en-US" altLang="zh-CN" sz="2000" b="1" i="0" u="sng" strike="noStrike" kern="1200" cap="none" spc="0" normalizeH="0" baseline="0" noProof="0" dirty="0">
              <a:ln>
                <a:noFill/>
              </a:ln>
              <a:solidFill>
                <a:srgbClr val="FF0000"/>
              </a:solidFill>
              <a:effectLst/>
              <a:uLnTx/>
              <a:uFillTx/>
              <a:latin typeface="微软雅黑" panose="020B0503020204020204" pitchFamily="34" charset="-122"/>
              <a:ea typeface="宋体" panose="02010600030101010101" pitchFamily="2" charset="-122"/>
              <a:cs typeface="+mn-cs"/>
            </a:endParaRPr>
          </a:p>
          <a:p>
            <a:pPr marL="273050" marR="0" lvl="0" indent="-273050" algn="l" defTabSz="914400" rtl="0" eaLnBrk="0" fontAlgn="base" latinLnBrk="0" hangingPunct="0">
              <a:lnSpc>
                <a:spcPct val="100000"/>
              </a:lnSpc>
              <a:spcBef>
                <a:spcPts val="1800"/>
              </a:spcBef>
              <a:spcAft>
                <a:spcPct val="0"/>
              </a:spcAft>
              <a:buClr>
                <a:srgbClr val="0BD0D9"/>
              </a:buClr>
              <a:buSzPct val="95000"/>
              <a:buFont typeface="Wingdings" panose="05000000000000000000" pitchFamily="2" charset="2"/>
              <a:buChar char="l"/>
              <a:defRPr/>
            </a:pPr>
            <a:r>
              <a:rPr kumimoji="0" lang="zh-CN" altLang="en-US" sz="279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敏捷开发</a:t>
            </a:r>
            <a:r>
              <a:rPr kumimoji="0" lang="zh-CN" altLang="en-US" sz="2790" b="1" i="0" u="none" strike="noStrike" kern="1200" cap="none" spc="0" normalizeH="0" baseline="0" noProof="0" dirty="0">
                <a:ln>
                  <a:noFill/>
                </a:ln>
                <a:solidFill>
                  <a:srgbClr val="FF0000"/>
                </a:solidFill>
                <a:effectLst/>
                <a:uLnTx/>
                <a:uFillTx/>
                <a:latin typeface="微软雅黑" panose="020B0503020204020204" pitchFamily="34" charset="-122"/>
                <a:ea typeface="宋体" panose="02010600030101010101" pitchFamily="2" charset="-122"/>
                <a:cs typeface="+mn-cs"/>
              </a:rPr>
              <a:t>由几种轻量级的软件开发方法组成</a:t>
            </a:r>
            <a:endParaRPr kumimoji="0" lang="en-US" altLang="zh-CN" sz="2600" b="0" i="0" u="none" strike="noStrike" kern="1200" cap="none" spc="0" normalizeH="0" baseline="0" noProof="0" dirty="0">
              <a:ln>
                <a:noFill/>
              </a:ln>
              <a:solidFill>
                <a:srgbClr val="FF0000"/>
              </a:solidFill>
              <a:effectLst/>
              <a:uLnTx/>
              <a:uFillTx/>
              <a:latin typeface="微软雅黑" panose="020B0503020204020204" pitchFamily="34"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极限</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编程</a:t>
            </a:r>
            <a:r>
              <a:rPr kumimoji="0" 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t>
            </a:r>
            <a:r>
              <a:rPr kumimoji="0" lang="en-US" altLang="zh-CN"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Scrum</a:t>
            </a:r>
            <a:r>
              <a:rPr kumimoji="0" 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精益开发</a:t>
            </a:r>
            <a:r>
              <a:rPr kumimoji="0" 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动态系统开发方法</a:t>
            </a:r>
            <a:r>
              <a:rPr kumimoji="0" 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特征驱动开发</a:t>
            </a:r>
            <a:r>
              <a:rPr kumimoji="0" 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rPr>
              <a:t>水晶开发等等</a:t>
            </a:r>
            <a:endParaRPr kumimoji="0" lang="zh-CN" altLang="en-US" sz="2000" b="0"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宋体" panose="02010600030101010101" pitchFamily="2" charset="-122"/>
              <a:cs typeface="+mn-cs"/>
            </a:endParaRPr>
          </a:p>
        </p:txBody>
      </p:sp>
      <p:sp>
        <p:nvSpPr>
          <p:cNvPr id="11269" name="标题 1"/>
          <p:cNvSpPr>
            <a:spLocks noGrp="1"/>
          </p:cNvSpPr>
          <p:nvPr>
            <p:ph type="title"/>
          </p:nvPr>
        </p:nvSpPr>
        <p:spPr>
          <a:xfrm>
            <a:off x="501650" y="382588"/>
            <a:ext cx="8207375" cy="1139825"/>
          </a:xfrm>
        </p:spPr>
        <p:txBody>
          <a:bodyPr vert="horz" wrap="square" lIns="0" tIns="45610" rIns="0" bIns="0" anchor="b" anchorCtr="0"/>
          <a:p>
            <a:pPr eaLnBrk="1" hangingPunct="1">
              <a:buNone/>
            </a:pPr>
            <a:r>
              <a:rPr lang="zh-CN" altLang="en-US" b="1" dirty="0">
                <a:latin typeface="微软雅黑" panose="020B0503020204020204" pitchFamily="34" charset="-122"/>
                <a:ea typeface="微软雅黑" panose="020B0503020204020204" pitchFamily="34" charset="-122"/>
              </a:rPr>
              <a:t>敏捷软件开发</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Line 8"/>
          <p:cNvSpPr>
            <a:spLocks noChangeShapeType="1"/>
          </p:cNvSpPr>
          <p:nvPr/>
        </p:nvSpPr>
        <p:spPr bwMode="auto">
          <a:xfrm flipV="1">
            <a:off x="179388" y="6107113"/>
            <a:ext cx="8924925" cy="0"/>
          </a:xfrm>
          <a:prstGeom prst="line">
            <a:avLst/>
          </a:prstGeom>
          <a:noFill/>
          <a:ln w="254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822" tIns="36411" rIns="72822" bIns="3641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395" b="1" i="0" u="none" strike="noStrike" kern="1200" cap="none" spc="0" normalizeH="0" baseline="0" noProof="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4340" name="Text Box 9"/>
          <p:cNvSpPr txBox="1">
            <a:spLocks noChangeArrowheads="1"/>
          </p:cNvSpPr>
          <p:nvPr/>
        </p:nvSpPr>
        <p:spPr bwMode="auto">
          <a:xfrm>
            <a:off x="873125" y="6205538"/>
            <a:ext cx="2333625"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1" lang="zh-CN" altLang="en-US" sz="2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上个世纪</a:t>
            </a:r>
            <a:r>
              <a:rPr kumimoji="1" lang="en-US" altLang="zh-CN" sz="2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90</a:t>
            </a:r>
            <a:r>
              <a:rPr kumimoji="1" lang="zh-CN" altLang="en-US" sz="2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年代</a:t>
            </a:r>
            <a:endParaRPr kumimoji="1" lang="en-US" altLang="zh-CN" sz="2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endParaRPr>
          </a:p>
        </p:txBody>
      </p:sp>
      <p:sp>
        <p:nvSpPr>
          <p:cNvPr id="14341" name="Text Box 10"/>
          <p:cNvSpPr txBox="1">
            <a:spLocks noChangeArrowheads="1"/>
          </p:cNvSpPr>
          <p:nvPr/>
        </p:nvSpPr>
        <p:spPr bwMode="auto">
          <a:xfrm>
            <a:off x="4156075" y="6176963"/>
            <a:ext cx="844550" cy="33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1" lang="en-US" altLang="zh-CN"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2001</a:t>
            </a:r>
            <a:r>
              <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年</a:t>
            </a:r>
            <a:endPar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42" name="Text Box 11"/>
          <p:cNvSpPr txBox="1">
            <a:spLocks noChangeArrowheads="1"/>
          </p:cNvSpPr>
          <p:nvPr/>
        </p:nvSpPr>
        <p:spPr bwMode="auto">
          <a:xfrm>
            <a:off x="6956425" y="6176963"/>
            <a:ext cx="1257300" cy="33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1" lang="en-US" altLang="zh-CN"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2004</a:t>
            </a:r>
            <a:r>
              <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年以后</a:t>
            </a:r>
            <a:endPar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43" name="Rectangle 13"/>
          <p:cNvSpPr>
            <a:spLocks noChangeArrowheads="1"/>
          </p:cNvSpPr>
          <p:nvPr/>
        </p:nvSpPr>
        <p:spPr bwMode="auto">
          <a:xfrm>
            <a:off x="3052763" y="2516188"/>
            <a:ext cx="2565400" cy="2657475"/>
          </a:xfrm>
          <a:prstGeom prst="rect">
            <a:avLst/>
          </a:prstGeom>
          <a:solidFill>
            <a:srgbClr val="CCECFF">
              <a:alpha val="50195"/>
            </a:srgbClr>
          </a:solidFill>
          <a:ln>
            <a:noFill/>
          </a:ln>
          <a:effectLst>
            <a:outerShdw dist="107763" dir="189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44" name="Line 35"/>
          <p:cNvSpPr>
            <a:spLocks noChangeShapeType="1"/>
          </p:cNvSpPr>
          <p:nvPr/>
        </p:nvSpPr>
        <p:spPr bwMode="auto">
          <a:xfrm flipV="1">
            <a:off x="174625" y="1766888"/>
            <a:ext cx="38100" cy="4340225"/>
          </a:xfrm>
          <a:prstGeom prst="line">
            <a:avLst/>
          </a:prstGeom>
          <a:noFill/>
          <a:ln w="254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822" tIns="36411" rIns="72822" bIns="3641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395" b="1" i="0" u="none" strike="noStrike" kern="1200" cap="none" spc="0" normalizeH="0" baseline="0" noProof="0" smtClean="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4345" name="Rectangle 36"/>
          <p:cNvSpPr>
            <a:spLocks noChangeArrowheads="1"/>
          </p:cNvSpPr>
          <p:nvPr/>
        </p:nvSpPr>
        <p:spPr bwMode="auto">
          <a:xfrm>
            <a:off x="406400" y="3089275"/>
            <a:ext cx="2335213" cy="2730500"/>
          </a:xfrm>
          <a:prstGeom prst="rect">
            <a:avLst/>
          </a:prstGeom>
          <a:solidFill>
            <a:schemeClr val="accent1">
              <a:alpha val="50195"/>
            </a:schemeClr>
          </a:solidFill>
          <a:ln>
            <a:noFill/>
          </a:ln>
          <a:effectLst>
            <a:outerShdw dist="107763" dir="189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46" name="Rectangle 37"/>
          <p:cNvSpPr>
            <a:spLocks noChangeArrowheads="1"/>
          </p:cNvSpPr>
          <p:nvPr/>
        </p:nvSpPr>
        <p:spPr bwMode="auto">
          <a:xfrm>
            <a:off x="639763" y="3130550"/>
            <a:ext cx="23336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10000"/>
              </a:lnSpc>
              <a:spcBef>
                <a:spcPct val="40000"/>
              </a:spcBef>
              <a:spcAft>
                <a:spcPct val="0"/>
              </a:spcAft>
              <a:buClrTx/>
              <a:buSzTx/>
              <a:buFont typeface="Wingdings" panose="05000000000000000000" pitchFamily="2" charset="2"/>
              <a:buNone/>
              <a:defRPr/>
            </a:pPr>
            <a:r>
              <a:rPr kumimoji="1" lang="zh-CN" altLang="en-US"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萌芽</a:t>
            </a:r>
            <a:r>
              <a:rPr kumimoji="1" lang="en-US" altLang="zh-CN"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a:t>
            </a:r>
            <a:r>
              <a:rPr kumimoji="1" lang="zh-CN" altLang="en-US"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产生敏捷方法</a:t>
            </a:r>
            <a:endParaRPr kumimoji="1" lang="en-US" altLang="zh-CN" sz="1595" b="1"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14347" name="Rectangle 59"/>
          <p:cNvSpPr>
            <a:spLocks noChangeArrowheads="1"/>
          </p:cNvSpPr>
          <p:nvPr/>
        </p:nvSpPr>
        <p:spPr bwMode="auto">
          <a:xfrm>
            <a:off x="5932488" y="1939925"/>
            <a:ext cx="2332038" cy="1941513"/>
          </a:xfrm>
          <a:prstGeom prst="rect">
            <a:avLst/>
          </a:prstGeom>
          <a:solidFill>
            <a:srgbClr val="79EBF7">
              <a:alpha val="50195"/>
            </a:srgbClr>
          </a:solidFill>
          <a:ln>
            <a:noFill/>
          </a:ln>
          <a:effectLst>
            <a:outerShdw dist="107763" dir="189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12299" name="Picture 71" descr="dian"/>
          <p:cNvPicPr>
            <a:picLocks noChangeAspect="1"/>
          </p:cNvPicPr>
          <p:nvPr/>
        </p:nvPicPr>
        <p:blipFill>
          <a:blip r:embed="rId1">
            <a:clrChange>
              <a:clrFrom>
                <a:srgbClr val="FFFFFF"/>
              </a:clrFrom>
              <a:clrTo>
                <a:srgbClr val="FFFFFF">
                  <a:alpha val="0"/>
                </a:srgbClr>
              </a:clrTo>
            </a:clrChange>
          </a:blip>
          <a:stretch>
            <a:fillRect/>
          </a:stretch>
        </p:blipFill>
        <p:spPr>
          <a:xfrm>
            <a:off x="3206750" y="2627313"/>
            <a:ext cx="157163" cy="142875"/>
          </a:xfrm>
          <a:prstGeom prst="rect">
            <a:avLst/>
          </a:prstGeom>
          <a:noFill/>
          <a:ln w="9525">
            <a:noFill/>
          </a:ln>
        </p:spPr>
      </p:pic>
      <p:pic>
        <p:nvPicPr>
          <p:cNvPr id="12300" name="Picture 72" descr="dian2"/>
          <p:cNvPicPr>
            <a:picLocks noChangeAspect="1"/>
          </p:cNvPicPr>
          <p:nvPr/>
        </p:nvPicPr>
        <p:blipFill>
          <a:blip r:embed="rId2">
            <a:clrChange>
              <a:clrFrom>
                <a:srgbClr val="FFFFFF"/>
              </a:clrFrom>
              <a:clrTo>
                <a:srgbClr val="FFFFFF">
                  <a:alpha val="0"/>
                </a:srgbClr>
              </a:clrTo>
            </a:clrChange>
          </a:blip>
          <a:stretch>
            <a:fillRect/>
          </a:stretch>
        </p:blipFill>
        <p:spPr>
          <a:xfrm>
            <a:off x="6007100" y="2127250"/>
            <a:ext cx="157163" cy="136525"/>
          </a:xfrm>
          <a:prstGeom prst="rect">
            <a:avLst/>
          </a:prstGeom>
          <a:noFill/>
          <a:ln w="9525">
            <a:noFill/>
          </a:ln>
        </p:spPr>
      </p:pic>
      <p:pic>
        <p:nvPicPr>
          <p:cNvPr id="12301" name="Picture 73" descr="dian3"/>
          <p:cNvPicPr>
            <a:picLocks noChangeAspect="1"/>
          </p:cNvPicPr>
          <p:nvPr/>
        </p:nvPicPr>
        <p:blipFill>
          <a:blip r:embed="rId3">
            <a:clrChange>
              <a:clrFrom>
                <a:srgbClr val="FDFFFF"/>
              </a:clrFrom>
              <a:clrTo>
                <a:srgbClr val="FDFFFF">
                  <a:alpha val="0"/>
                </a:srgbClr>
              </a:clrTo>
            </a:clrChange>
          </a:blip>
          <a:stretch>
            <a:fillRect/>
          </a:stretch>
        </p:blipFill>
        <p:spPr>
          <a:xfrm>
            <a:off x="563563" y="3273425"/>
            <a:ext cx="168275" cy="161925"/>
          </a:xfrm>
          <a:prstGeom prst="rect">
            <a:avLst/>
          </a:prstGeom>
          <a:noFill/>
          <a:ln w="9525">
            <a:noFill/>
          </a:ln>
        </p:spPr>
      </p:pic>
      <p:sp>
        <p:nvSpPr>
          <p:cNvPr id="14351" name="Text Box 74"/>
          <p:cNvSpPr txBox="1">
            <a:spLocks noChangeArrowheads="1"/>
          </p:cNvSpPr>
          <p:nvPr/>
        </p:nvSpPr>
        <p:spPr bwMode="auto">
          <a:xfrm>
            <a:off x="642938" y="3489325"/>
            <a:ext cx="2020888" cy="1890713"/>
          </a:xfrm>
          <a:prstGeom prst="rect">
            <a:avLst/>
          </a:prstGeom>
          <a:noFill/>
          <a:ln w="12700">
            <a:solidFill>
              <a:schemeClr val="folHlink"/>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40000"/>
              </a:lnSpc>
              <a:spcBef>
                <a:spcPct val="50000"/>
              </a:spcBef>
              <a:spcAft>
                <a:spcPct val="0"/>
              </a:spcAft>
              <a:buClr>
                <a:srgbClr val="FFFFFF"/>
              </a:buClr>
              <a:buSzTx/>
              <a:buFont typeface="Wingdings" panose="05000000000000000000" pitchFamily="2" charset="2"/>
              <a:buNone/>
              <a:defRPr/>
            </a:pPr>
            <a:r>
              <a:rPr kumimoji="1" lang="zh-CN" altLang="en-US" sz="1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敏捷方法是从上个世纪</a:t>
            </a:r>
            <a:r>
              <a:rPr kumimoji="1" lang="en-US" altLang="zh-CN" sz="1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90</a:t>
            </a:r>
            <a:r>
              <a:rPr kumimoji="1" lang="zh-CN" altLang="en-US" sz="1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年代开始发展起来的一组方法学的总称，包括极限编程等等。这些方法学之间有一些差异，但是差异不是特别大</a:t>
            </a:r>
            <a:endParaRPr kumimoji="1" lang="zh-CN" altLang="en-US" sz="13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endParaRPr>
          </a:p>
        </p:txBody>
      </p:sp>
      <p:sp>
        <p:nvSpPr>
          <p:cNvPr id="14352" name="Rectangle 75"/>
          <p:cNvSpPr>
            <a:spLocks noChangeArrowheads="1"/>
          </p:cNvSpPr>
          <p:nvPr/>
        </p:nvSpPr>
        <p:spPr bwMode="auto">
          <a:xfrm>
            <a:off x="3348038" y="2490788"/>
            <a:ext cx="2332038"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10000"/>
              </a:lnSpc>
              <a:spcBef>
                <a:spcPct val="40000"/>
              </a:spcBef>
              <a:spcAft>
                <a:spcPct val="0"/>
              </a:spcAft>
              <a:buClrTx/>
              <a:buSzTx/>
              <a:buFont typeface="Wingdings" panose="05000000000000000000" pitchFamily="2" charset="2"/>
              <a:buNone/>
              <a:defRPr/>
            </a:pPr>
            <a:r>
              <a:rPr kumimoji="1" lang="zh-CN" altLang="en-US"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正规</a:t>
            </a:r>
            <a:r>
              <a:rPr kumimoji="1" lang="en-US" altLang="zh-CN"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a:t>
            </a:r>
            <a:r>
              <a:rPr kumimoji="1" lang="zh-CN" altLang="en-US"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成立敏捷联盟</a:t>
            </a:r>
            <a:endParaRPr kumimoji="1" lang="zh-CN" altLang="en-US" sz="1595" b="1"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12305" name="Text Box 76"/>
          <p:cNvSpPr txBox="1">
            <a:spLocks noChangeArrowheads="1"/>
          </p:cNvSpPr>
          <p:nvPr/>
        </p:nvSpPr>
        <p:spPr bwMode="auto">
          <a:xfrm>
            <a:off x="3441700" y="2843213"/>
            <a:ext cx="2020888" cy="1890713"/>
          </a:xfrm>
          <a:prstGeom prst="rect">
            <a:avLst/>
          </a:prstGeom>
          <a:noFill/>
          <a:ln w="12700" cap="flat" cmpd="sng">
            <a:solidFill>
              <a:srgbClr val="33CCCC"/>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40000"/>
              </a:lnSpc>
              <a:spcBef>
                <a:spcPct val="50000"/>
              </a:spcBef>
              <a:spcAft>
                <a:spcPct val="0"/>
              </a:spcAft>
              <a:buClr>
                <a:srgbClr val="FFFFFF"/>
              </a:buClr>
              <a:buSzPct val="100000"/>
              <a:buFont typeface="Wingdings" panose="05000000000000000000" pitchFamily="2" charset="2"/>
              <a:buNone/>
              <a:defRPr/>
            </a:pPr>
            <a:r>
              <a:rPr kumimoji="1" lang="zh-CN" altLang="en-US" sz="1395" b="1" i="0" u="none" strike="noStrike" kern="1200" cap="none" spc="0" normalizeH="0" baseline="0" noProof="0" dirty="0">
                <a:ln>
                  <a:noFill/>
                </a:ln>
                <a:solidFill>
                  <a:srgbClr val="000000"/>
                </a:solidFill>
                <a:effectLst/>
                <a:uLnTx/>
                <a:uFillTx/>
                <a:latin typeface="FrutigerNext LT Regular"/>
                <a:ea typeface="华文细黑" panose="02010600040101010101" pitchFamily="2" charset="-122"/>
                <a:cs typeface="+mn-cs"/>
              </a:rPr>
              <a:t>每种方法学的领导人共同起草了</a:t>
            </a:r>
            <a:r>
              <a:rPr kumimoji="1" lang="zh-CN" altLang="en-US" sz="1395" b="1" i="0" u="none" strike="noStrike" kern="1200" cap="none" spc="0" normalizeH="0" baseline="0" noProof="0" dirty="0">
                <a:ln>
                  <a:noFill/>
                </a:ln>
                <a:solidFill>
                  <a:srgbClr val="FF0000"/>
                </a:solidFill>
                <a:effectLst/>
                <a:uLnTx/>
                <a:uFillTx/>
                <a:latin typeface="+mn-ea"/>
                <a:ea typeface="+mn-ea"/>
                <a:cs typeface="+mn-cs"/>
              </a:rPr>
              <a:t>敏捷软件开发宣言</a:t>
            </a:r>
            <a:r>
              <a:rPr kumimoji="1" lang="zh-CN" altLang="en-US" sz="1395" b="1" i="0" u="none" strike="noStrike" kern="1200" cap="none" spc="0" normalizeH="0" baseline="0" noProof="0" dirty="0">
                <a:ln>
                  <a:noFill/>
                </a:ln>
                <a:solidFill>
                  <a:srgbClr val="000000"/>
                </a:solidFill>
                <a:effectLst/>
                <a:uLnTx/>
                <a:uFillTx/>
                <a:latin typeface="FrutigerNext LT Regular"/>
                <a:ea typeface="华文细黑" panose="02010600040101010101" pitchFamily="2" charset="-122"/>
                <a:cs typeface="+mn-cs"/>
              </a:rPr>
              <a:t>，总结出方法之间的共同点，最终就是价值，并且用敏捷这个词给这种方法学一个统称</a:t>
            </a:r>
            <a:endParaRPr kumimoji="1" lang="zh-CN" altLang="en-US" sz="1395" b="1" i="0" u="none" strike="noStrike" kern="1200" cap="none" spc="0" normalizeH="0" baseline="0" noProof="0" dirty="0">
              <a:ln>
                <a:noFill/>
              </a:ln>
              <a:solidFill>
                <a:srgbClr val="000000"/>
              </a:solidFill>
              <a:effectLst/>
              <a:uLnTx/>
              <a:uFillTx/>
              <a:latin typeface="FrutigerNext LT Regular"/>
              <a:ea typeface="华文细黑" panose="02010600040101010101" pitchFamily="2" charset="-122"/>
              <a:cs typeface="+mn-cs"/>
            </a:endParaRPr>
          </a:p>
        </p:txBody>
      </p:sp>
      <p:sp>
        <p:nvSpPr>
          <p:cNvPr id="14354" name="Rectangle 77"/>
          <p:cNvSpPr>
            <a:spLocks noChangeArrowheads="1"/>
          </p:cNvSpPr>
          <p:nvPr/>
        </p:nvSpPr>
        <p:spPr bwMode="auto">
          <a:xfrm>
            <a:off x="6165850" y="1981200"/>
            <a:ext cx="2332038"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10000"/>
              </a:lnSpc>
              <a:spcBef>
                <a:spcPct val="40000"/>
              </a:spcBef>
              <a:spcAft>
                <a:spcPct val="0"/>
              </a:spcAft>
              <a:buClrTx/>
              <a:buSzTx/>
              <a:buFont typeface="Wingdings" panose="05000000000000000000" pitchFamily="2" charset="2"/>
              <a:buNone/>
              <a:defRPr/>
            </a:pPr>
            <a:r>
              <a:rPr kumimoji="1" lang="zh-CN" altLang="en-US"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发展</a:t>
            </a:r>
            <a:r>
              <a:rPr kumimoji="1" lang="en-US" altLang="zh-CN"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a:t>
            </a:r>
            <a:r>
              <a:rPr kumimoji="1" lang="zh-CN" altLang="en-US" sz="1595" b="1" i="0" u="none" strike="noStrike" kern="1200" cap="none" spc="0" normalizeH="0" baseline="0" noProof="0" smtClean="0">
                <a:ln>
                  <a:noFill/>
                </a:ln>
                <a:solidFill>
                  <a:srgbClr val="000000"/>
                </a:solidFill>
                <a:effectLst/>
                <a:uLnTx/>
                <a:uFillTx/>
                <a:latin typeface="FrutigerNext LT Regular"/>
                <a:ea typeface="宋体" panose="02010600030101010101" pitchFamily="2" charset="-122"/>
                <a:cs typeface="+mn-cs"/>
              </a:rPr>
              <a:t>开始广为流行</a:t>
            </a:r>
            <a:endParaRPr kumimoji="1" lang="zh-CN" altLang="en-US" sz="1595" b="1" i="0" u="none" strike="noStrike" kern="1200" cap="none" spc="0" normalizeH="0" baseline="0" noProof="0" smtClean="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14355" name="Text Box 78"/>
          <p:cNvSpPr txBox="1">
            <a:spLocks noChangeArrowheads="1"/>
          </p:cNvSpPr>
          <p:nvPr/>
        </p:nvSpPr>
        <p:spPr bwMode="auto">
          <a:xfrm>
            <a:off x="6164263" y="2333625"/>
            <a:ext cx="2022475" cy="1120775"/>
          </a:xfrm>
          <a:prstGeom prst="rect">
            <a:avLst/>
          </a:prstGeom>
          <a:noFill/>
          <a:ln w="12700">
            <a:solidFill>
              <a:srgbClr val="33CCCC"/>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6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1pPr>
            <a:lvl2pPr marL="742950" indent="-28575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2pPr>
            <a:lvl3pPr marL="11430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4pPr>
            <a:lvl5pPr marL="2057400" indent="-228600">
              <a:spcBef>
                <a:spcPct val="40000"/>
              </a:spcBef>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base" latinLnBrk="0" hangingPunct="1">
              <a:lnSpc>
                <a:spcPct val="140000"/>
              </a:lnSpc>
              <a:spcBef>
                <a:spcPct val="50000"/>
              </a:spcBef>
              <a:spcAft>
                <a:spcPct val="0"/>
              </a:spcAft>
              <a:buClr>
                <a:srgbClr val="FFFFFF"/>
              </a:buClr>
              <a:buSzTx/>
              <a:buFont typeface="Wingdings" panose="05000000000000000000" pitchFamily="2" charset="2"/>
              <a:buNone/>
              <a:defRPr/>
            </a:pPr>
            <a:r>
              <a:rPr kumimoji="1" lang="en-US" altLang="zh-CN"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500</a:t>
            </a:r>
            <a:r>
              <a:rPr kumimoji="1" lang="zh-CN" altLang="en-US"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强公司中众多公司应用敏捷</a:t>
            </a:r>
            <a:r>
              <a:rPr kumimoji="1" lang="en-US" altLang="zh-CN"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a:t>
            </a:r>
            <a:r>
              <a:rPr kumimoji="1" lang="zh-CN" altLang="en-US"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如</a:t>
            </a:r>
            <a:r>
              <a:rPr kumimoji="1" lang="en-US" altLang="zh-CN"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HP,Microsoft,IBM</a:t>
            </a:r>
            <a:r>
              <a:rPr kumimoji="1" lang="zh-CN" altLang="en-US"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rPr>
              <a:t>等</a:t>
            </a:r>
            <a:endParaRPr kumimoji="1" lang="zh-CN" altLang="en-US" sz="1595" b="1" i="0" u="none" strike="noStrike" kern="1200" cap="none" spc="0" normalizeH="0" baseline="0" noProof="0" smtClean="0">
              <a:ln>
                <a:noFill/>
              </a:ln>
              <a:solidFill>
                <a:srgbClr val="000000"/>
              </a:solidFill>
              <a:effectLst/>
              <a:uLnTx/>
              <a:uFillTx/>
              <a:latin typeface="FrutigerNext LT Regular"/>
              <a:ea typeface="华文细黑" panose="02010600040101010101" pitchFamily="2" charset="-122"/>
              <a:cs typeface="+mn-cs"/>
            </a:endParaRPr>
          </a:p>
        </p:txBody>
      </p:sp>
      <p:sp>
        <p:nvSpPr>
          <p:cNvPr id="12307" name="标题 1"/>
          <p:cNvSpPr txBox="1"/>
          <p:nvPr/>
        </p:nvSpPr>
        <p:spPr>
          <a:xfrm>
            <a:off x="411163" y="414338"/>
            <a:ext cx="8207375" cy="1139825"/>
          </a:xfrm>
          <a:prstGeom prst="rect">
            <a:avLst/>
          </a:prstGeom>
          <a:noFill/>
          <a:ln w="9525">
            <a:noFill/>
          </a:ln>
        </p:spPr>
        <p:txBody>
          <a:bodyPr lIns="0" tIns="45610" rIns="0" bIns="0" anchor="b"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zh-CN" altLang="en-US" sz="5000" b="1" dirty="0">
                <a:solidFill>
                  <a:schemeClr val="tx2"/>
                </a:solidFill>
                <a:latin typeface="微软雅黑" panose="020B0503020204020204" pitchFamily="34" charset="-122"/>
                <a:ea typeface="微软雅黑" panose="020B0503020204020204" pitchFamily="34" charset="-122"/>
              </a:rPr>
              <a:t>敏捷软件开发</a:t>
            </a:r>
            <a:r>
              <a:rPr lang="zh-CN" altLang="en-US" sz="5000" b="1" dirty="0">
                <a:solidFill>
                  <a:schemeClr val="tx2"/>
                </a:solidFill>
                <a:latin typeface="微软雅黑" panose="020B0503020204020204" pitchFamily="34" charset="-122"/>
                <a:ea typeface="微软雅黑" panose="020B0503020204020204" pitchFamily="34" charset="-122"/>
              </a:rPr>
              <a:t>的发展</a:t>
            </a:r>
            <a:endParaRPr lang="zh-CN" altLang="en-US" sz="5000" b="1"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p:nvPr>
            <p:ph type="title"/>
          </p:nvPr>
        </p:nvSpPr>
        <p:spPr>
          <a:xfrm>
            <a:off x="382588" y="469900"/>
            <a:ext cx="8629650" cy="1139825"/>
          </a:xfrm>
        </p:spPr>
        <p:txBody>
          <a:bodyPr vert="horz" wrap="square" lIns="0" tIns="45610" rIns="0" bIns="0" anchor="b" anchorCtr="0"/>
          <a:p>
            <a:pPr eaLnBrk="1" hangingPunct="1">
              <a:buNone/>
            </a:pPr>
            <a:r>
              <a:rPr lang="zh-CN" altLang="en-US" b="1" dirty="0">
                <a:latin typeface="微软雅黑" panose="020B0503020204020204" pitchFamily="34" charset="-122"/>
                <a:ea typeface="微软雅黑" panose="020B0503020204020204" pitchFamily="34" charset="-122"/>
              </a:rPr>
              <a:t>敏捷开发核心价值之敏捷宣言</a:t>
            </a:r>
            <a:endParaRPr lang="en-US" altLang="zh-CN" b="1" dirty="0">
              <a:latin typeface="微软雅黑" panose="020B0503020204020204" pitchFamily="34" charset="-122"/>
              <a:ea typeface="微软雅黑" panose="020B0503020204020204" pitchFamily="34" charset="-122"/>
            </a:endParaRPr>
          </a:p>
        </p:txBody>
      </p:sp>
      <p:sp>
        <p:nvSpPr>
          <p:cNvPr id="15363" name="Rectangle 3"/>
          <p:cNvSpPr>
            <a:spLocks noGrp="1" noChangeArrowheads="1"/>
          </p:cNvSpPr>
          <p:nvPr>
            <p:ph type="body" idx="1"/>
          </p:nvPr>
        </p:nvSpPr>
        <p:spPr>
          <a:xfrm>
            <a:off x="444500" y="2054225"/>
            <a:ext cx="8651875" cy="4308475"/>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21" tIns="45610" rIns="91221" bIns="45610" numCol="1" anchor="t" anchorCtr="0" compatLnSpc="1"/>
          <a:lstStyle/>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anose="05020102010507070707" pitchFamily="18" charset="2"/>
              <a:buChar char=""/>
              <a:defRPr/>
            </a:pPr>
            <a: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Individuals and interactions over processes and tools </a:t>
            </a:r>
            <a:b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个人和交流重于过程和工具</a:t>
            </a:r>
            <a:b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endPar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anose="05020102010507070707" pitchFamily="18" charset="2"/>
              <a:buChar char=""/>
              <a:defRPr/>
            </a:pPr>
            <a: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Working software over comprehensive documentation </a:t>
            </a:r>
            <a:b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可以运行的软件本身重于复杂的文档</a:t>
            </a:r>
            <a:b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endPar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anose="05020102010507070707" pitchFamily="18" charset="2"/>
              <a:buChar char=""/>
              <a:defRPr/>
            </a:pPr>
            <a: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Customer collaboration over contract negotiation </a:t>
            </a:r>
            <a:b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与客户的沟通和交流重于使用合同约束客户</a:t>
            </a:r>
            <a:b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endPar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anose="05020102010507070707" pitchFamily="18" charset="2"/>
              <a:buChar char=""/>
              <a:defRPr/>
            </a:pPr>
            <a: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Responding to change over following a plan</a:t>
            </a:r>
            <a:br>
              <a:rPr kumimoji="0" lang="en-US" altLang="zh-CN"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br>
            <a:r>
              <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对变化的快速响应重于跟随计划</a:t>
            </a:r>
            <a:endParaRPr kumimoji="0" lang="zh-CN" altLang="en-US" sz="2395"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3"/>
          <p:cNvPicPr>
            <a:picLocks noChangeAspect="1"/>
          </p:cNvPicPr>
          <p:nvPr/>
        </p:nvPicPr>
        <p:blipFill>
          <a:blip r:embed="rId1"/>
          <a:stretch>
            <a:fillRect/>
          </a:stretch>
        </p:blipFill>
        <p:spPr>
          <a:xfrm>
            <a:off x="598488" y="1622425"/>
            <a:ext cx="7720012" cy="4899025"/>
          </a:xfrm>
          <a:prstGeom prst="rect">
            <a:avLst/>
          </a:prstGeom>
          <a:noFill/>
          <a:ln w="9525">
            <a:noFill/>
          </a:ln>
        </p:spPr>
      </p:pic>
      <p:sp>
        <p:nvSpPr>
          <p:cNvPr id="14339" name="Rectangle 2"/>
          <p:cNvSpPr txBox="1"/>
          <p:nvPr/>
        </p:nvSpPr>
        <p:spPr>
          <a:xfrm>
            <a:off x="455613" y="398463"/>
            <a:ext cx="8229600" cy="804862"/>
          </a:xfrm>
          <a:prstGeom prst="rect">
            <a:avLst/>
          </a:prstGeom>
          <a:noFill/>
          <a:ln w="9525">
            <a:noFill/>
          </a:ln>
        </p:spPr>
        <p:txBody>
          <a:bodyPr lIns="0" tIns="45610" rIns="0" bIns="0" anchor="b" anchorCtr="0"/>
          <a:p>
            <a:pPr eaLnBrk="1" hangingPunct="1">
              <a:buNone/>
            </a:pPr>
            <a:r>
              <a:rPr lang="zh-CN" altLang="en-US" sz="5000" dirty="0">
                <a:solidFill>
                  <a:schemeClr val="tx2"/>
                </a:solidFill>
                <a:latin typeface="微软雅黑" panose="020B0503020204020204" pitchFamily="34" charset="-122"/>
                <a:ea typeface="微软雅黑" panose="020B0503020204020204" pitchFamily="34" charset="-122"/>
              </a:rPr>
              <a:t>Scrum的实施过程</a:t>
            </a:r>
            <a:endParaRPr lang="zh-CN" altLang="zh-CN" sz="5000"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382905" y="5078413"/>
            <a:ext cx="8759825" cy="1139825"/>
          </a:xfrm>
        </p:spPr>
        <p:txBody>
          <a:bodyPr vert="horz" wrap="square" lIns="0" tIns="45610" rIns="0" bIns="0" anchor="b" anchorCtr="0"/>
          <a:p>
            <a:pPr eaLnBrk="1" hangingPunct="1"/>
            <a:r>
              <a:rPr lang="zh-CN" altLang="en-US" sz="4000" b="1" dirty="0">
                <a:solidFill>
                  <a:srgbClr val="FF0000"/>
                </a:solidFill>
                <a:latin typeface="微软雅黑" panose="020B0503020204020204" pitchFamily="34" charset="-122"/>
                <a:ea typeface="微软雅黑" panose="020B0503020204020204" pitchFamily="34" charset="-122"/>
              </a:rPr>
              <a:t>第一次课：软件工程概述</a:t>
            </a:r>
            <a:br>
              <a:rPr lang="en-US" altLang="zh-CN" sz="4000" b="1" dirty="0">
                <a:solidFill>
                  <a:srgbClr val="FF0000"/>
                </a:solidFill>
                <a:latin typeface="微软雅黑" panose="020B0503020204020204" pitchFamily="34" charset="-122"/>
                <a:ea typeface="微软雅黑" panose="020B0503020204020204" pitchFamily="34" charset="-122"/>
              </a:rPr>
            </a:br>
            <a:r>
              <a:rPr lang="zh-CN" altLang="en-US" sz="4000" b="1" dirty="0">
                <a:solidFill>
                  <a:srgbClr val="FF0000"/>
                </a:solidFill>
                <a:latin typeface="微软雅黑" panose="020B0503020204020204" pitchFamily="34" charset="-122"/>
                <a:ea typeface="微软雅黑" panose="020B0503020204020204" pitchFamily="34" charset="-122"/>
              </a:rPr>
              <a:t>第二次课：软件过程模型</a:t>
            </a:r>
            <a:br>
              <a:rPr lang="en-US" altLang="zh-CN" sz="4000" b="1" dirty="0">
                <a:solidFill>
                  <a:srgbClr val="FF0000"/>
                </a:solidFill>
                <a:latin typeface="微软雅黑" panose="020B0503020204020204" pitchFamily="34" charset="-122"/>
                <a:ea typeface="微软雅黑" panose="020B0503020204020204" pitchFamily="34" charset="-122"/>
              </a:rPr>
            </a:br>
            <a:r>
              <a:rPr lang="zh-CN" altLang="en-US" sz="4000" b="1" dirty="0">
                <a:solidFill>
                  <a:srgbClr val="FF0000"/>
                </a:solidFill>
                <a:latin typeface="微软雅黑" panose="020B0503020204020204" pitchFamily="34" charset="-122"/>
                <a:ea typeface="微软雅黑" panose="020B0503020204020204" pitchFamily="34" charset="-122"/>
              </a:rPr>
              <a:t>第三次课：敏捷软件过程</a:t>
            </a:r>
            <a:br>
              <a:rPr lang="en-US" altLang="zh-CN" sz="4000" b="1" dirty="0">
                <a:solidFill>
                  <a:srgbClr val="FF0000"/>
                </a:solidFill>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第四次课：面向对象的需求分析</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第五次课：结构化分析</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第六次课：面向对象基础</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第七次课：面向对象设计</a:t>
            </a:r>
            <a:br>
              <a:rPr lang="zh-CN" altLang="en-US"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第八次课：面向对象设计的进一步介绍</a:t>
            </a:r>
            <a:br>
              <a:rPr lang="en-US" altLang="zh-CN" sz="4000"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第九次课：设计模式</a:t>
            </a:r>
            <a:endParaRPr lang="zh-CN" altLang="en-US" sz="40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4818" name="对象 1"/>
          <p:cNvGraphicFramePr>
            <a:graphicFrameLocks noChangeAspect="1"/>
          </p:cNvGraphicFramePr>
          <p:nvPr/>
        </p:nvGraphicFramePr>
        <p:xfrm>
          <a:off x="682312" y="1268065"/>
          <a:ext cx="7826798" cy="5463244"/>
        </p:xfrm>
        <a:graphic>
          <a:graphicData uri="http://schemas.openxmlformats.org/presentationml/2006/ole">
            <mc:AlternateContent xmlns:mc="http://schemas.openxmlformats.org/markup-compatibility/2006">
              <mc:Choice xmlns:v="urn:schemas-microsoft-com:vml" Requires="v">
                <p:oleObj spid="_x0000_s3079" name="" r:id="rId1" imgW="9652000" imgH="6261100" progId="Visio.Drawing.11">
                  <p:embed/>
                </p:oleObj>
              </mc:Choice>
              <mc:Fallback>
                <p:oleObj name="" r:id="rId1" imgW="9652000" imgH="6261100" progId="Visio.Drawing.11">
                  <p:embed/>
                  <p:pic>
                    <p:nvPicPr>
                      <p:cNvPr id="0" name="图片 3078"/>
                      <p:cNvPicPr/>
                      <p:nvPr/>
                    </p:nvPicPr>
                    <p:blipFill>
                      <a:blip r:embed="rId2"/>
                      <a:stretch>
                        <a:fillRect/>
                      </a:stretch>
                    </p:blipFill>
                    <p:spPr>
                      <a:xfrm>
                        <a:off x="682312" y="1268065"/>
                        <a:ext cx="7826798" cy="5463244"/>
                      </a:xfrm>
                      <a:prstGeom prst="rect">
                        <a:avLst/>
                      </a:prstGeom>
                      <a:noFill/>
                      <a:ln w="38100">
                        <a:noFill/>
                        <a:miter/>
                      </a:ln>
                    </p:spPr>
                  </p:pic>
                </p:oleObj>
              </mc:Fallback>
            </mc:AlternateContent>
          </a:graphicData>
        </a:graphic>
      </p:graphicFrame>
      <p:sp>
        <p:nvSpPr>
          <p:cNvPr id="34819" name="标题 1"/>
          <p:cNvSpPr>
            <a:spLocks noGrp="1"/>
          </p:cNvSpPr>
          <p:nvPr>
            <p:ph type="title"/>
          </p:nvPr>
        </p:nvSpPr>
        <p:spPr>
          <a:xfrm>
            <a:off x="394190" y="118741"/>
            <a:ext cx="8206740" cy="1139825"/>
          </a:xfrm>
        </p:spPr>
        <p:txBody>
          <a:bodyPr vert="horz" wrap="square" lIns="0" tIns="45593"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34820" name="Rectangle 2"/>
          <p:cNvSpPr/>
          <p:nvPr/>
        </p:nvSpPr>
        <p:spPr>
          <a:xfrm>
            <a:off x="0" y="-227012"/>
            <a:ext cx="309880" cy="460375"/>
          </a:xfrm>
          <a:prstGeom prst="rect">
            <a:avLst/>
          </a:prstGeom>
          <a:noFill/>
          <a:ln w="9525">
            <a:noFill/>
          </a:ln>
        </p:spPr>
        <p:txBody>
          <a:bodyPr wrap="none" anchor="ctr" anchorCtr="0">
            <a:spAutoFit/>
          </a:bodyPr>
          <a:p>
            <a:endParaRPr lang="zh-CN" altLang="en-US" sz="2395" dirty="0">
              <a:solidFill>
                <a:srgbClr val="000000"/>
              </a:solidFill>
              <a:latin typeface="Arial" panose="020B0604020202020204" pitchFamily="34" charset="0"/>
            </a:endParaRPr>
          </a:p>
        </p:txBody>
      </p:sp>
      <p:sp>
        <p:nvSpPr>
          <p:cNvPr id="6" name="TextBox 1"/>
          <p:cNvSpPr txBox="1"/>
          <p:nvPr/>
        </p:nvSpPr>
        <p:spPr>
          <a:xfrm>
            <a:off x="4255347" y="554090"/>
            <a:ext cx="3495463" cy="7048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3990" b="1" dirty="0">
                <a:solidFill>
                  <a:srgbClr val="00B050"/>
                </a:solidFill>
                <a:latin typeface="微软雅黑" panose="020B0503020204020204" pitchFamily="34" charset="-122"/>
                <a:ea typeface="微软雅黑" panose="020B0503020204020204" pitchFamily="34" charset="-122"/>
              </a:rPr>
              <a:t>方法基于过程</a:t>
            </a:r>
            <a:endParaRPr lang="zh-CN" altLang="en-US" sz="3990" b="1" dirty="0">
              <a:solidFill>
                <a:srgbClr val="00B050"/>
              </a:solidFill>
              <a:latin typeface="微软雅黑" panose="020B0503020204020204" pitchFamily="34" charset="-122"/>
              <a:ea typeface="微软雅黑" panose="020B0503020204020204" pitchFamily="34" charset="-122"/>
            </a:endParaRPr>
          </a:p>
        </p:txBody>
      </p:sp>
      <p:cxnSp>
        <p:nvCxnSpPr>
          <p:cNvPr id="3" name="直接箭头连接符 2"/>
          <p:cNvCxnSpPr/>
          <p:nvPr/>
        </p:nvCxnSpPr>
        <p:spPr>
          <a:xfrm>
            <a:off x="4671700" y="1777820"/>
            <a:ext cx="2811568" cy="4483312"/>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471160" y="1521359"/>
            <a:ext cx="2811568" cy="4483312"/>
          </a:xfrm>
          <a:prstGeom prst="straightConnector1">
            <a:avLst/>
          </a:prstGeom>
          <a:ln w="349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824" name="文本框 3"/>
          <p:cNvSpPr txBox="1"/>
          <p:nvPr/>
        </p:nvSpPr>
        <p:spPr>
          <a:xfrm>
            <a:off x="5965084" y="4000478"/>
            <a:ext cx="1443778" cy="829945"/>
          </a:xfrm>
          <a:prstGeom prst="rect">
            <a:avLst/>
          </a:prstGeom>
          <a:noFill/>
          <a:ln w="9525">
            <a:noFill/>
          </a:ln>
        </p:spPr>
        <p:txBody>
          <a:bodyPr>
            <a:spAutoFit/>
          </a:bodyPr>
          <a:p>
            <a:r>
              <a:rPr lang="zh-CN" altLang="en-US" sz="2395" dirty="0">
                <a:solidFill>
                  <a:srgbClr val="FF0000"/>
                </a:solidFill>
                <a:latin typeface="微软雅黑" panose="020B0503020204020204" pitchFamily="34" charset="-122"/>
                <a:ea typeface="微软雅黑" panose="020B0503020204020204" pitchFamily="34" charset="-122"/>
              </a:rPr>
              <a:t>面向过程的方法</a:t>
            </a:r>
            <a:endParaRPr lang="zh-CN" altLang="en-US" sz="2395" dirty="0">
              <a:solidFill>
                <a:srgbClr val="FF0000"/>
              </a:solidFill>
              <a:latin typeface="微软雅黑" panose="020B0503020204020204" pitchFamily="34" charset="-122"/>
              <a:ea typeface="微软雅黑" panose="020B0503020204020204" pitchFamily="34" charset="-122"/>
            </a:endParaRPr>
          </a:p>
        </p:txBody>
      </p:sp>
      <p:sp>
        <p:nvSpPr>
          <p:cNvPr id="34825" name="文本框 11"/>
          <p:cNvSpPr txBox="1"/>
          <p:nvPr/>
        </p:nvSpPr>
        <p:spPr>
          <a:xfrm>
            <a:off x="6079067" y="2130848"/>
            <a:ext cx="1404202" cy="829945"/>
          </a:xfrm>
          <a:prstGeom prst="rect">
            <a:avLst/>
          </a:prstGeom>
          <a:noFill/>
          <a:ln w="9525">
            <a:noFill/>
          </a:ln>
        </p:spPr>
        <p:txBody>
          <a:bodyPr>
            <a:spAutoFit/>
          </a:bodyPr>
          <a:p>
            <a:r>
              <a:rPr lang="zh-CN" altLang="en-US" sz="2395" dirty="0">
                <a:solidFill>
                  <a:srgbClr val="00B050"/>
                </a:solidFill>
                <a:latin typeface="微软雅黑" panose="020B0503020204020204" pitchFamily="34" charset="-122"/>
                <a:ea typeface="微软雅黑" panose="020B0503020204020204" pitchFamily="34" charset="-122"/>
              </a:rPr>
              <a:t>面向对象的方法</a:t>
            </a:r>
            <a:endParaRPr lang="zh-CN" altLang="en-US" sz="2395"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p:txBody>
          <a:bodyPr vert="horz" wrap="square" lIns="0" tIns="45593" rIns="0" bIns="0" anchor="b" anchorCtr="0"/>
          <a:p>
            <a:r>
              <a:rPr lang="zh-CN" altLang="en-US" b="1" dirty="0">
                <a:latin typeface="微软雅黑" panose="020B0503020204020204" pitchFamily="34" charset="-122"/>
                <a:ea typeface="微软雅黑" panose="020B0503020204020204" pitchFamily="34" charset="-122"/>
              </a:rPr>
              <a:t>面向过程的开发方法</a:t>
            </a:r>
            <a:endParaRPr lang="zh-CN" altLang="en-US" b="1" dirty="0">
              <a:latin typeface="微软雅黑" panose="020B0503020204020204" pitchFamily="34" charset="-122"/>
              <a:ea typeface="微软雅黑" panose="020B0503020204020204" pitchFamily="34" charset="-122"/>
            </a:endParaRPr>
          </a:p>
        </p:txBody>
      </p:sp>
      <p:sp>
        <p:nvSpPr>
          <p:cNvPr id="4" name="Rectangle 46"/>
          <p:cNvSpPr txBox="1">
            <a:spLocks noChangeArrowheads="1"/>
          </p:cNvSpPr>
          <p:nvPr/>
        </p:nvSpPr>
        <p:spPr bwMode="black">
          <a:xfrm>
            <a:off x="862785" y="1906050"/>
            <a:ext cx="7559257" cy="470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74320" marR="0" lvl="0" indent="-274320" algn="l" defTabSz="914400" rtl="0" eaLnBrk="0" fontAlgn="auto" latinLnBrk="0" hangingPunct="0">
              <a:lnSpc>
                <a:spcPct val="150000"/>
              </a:lnSpc>
              <a:spcBef>
                <a:spcPct val="20000"/>
              </a:spcBef>
              <a:spcAft>
                <a:spcPts val="0"/>
              </a:spcAft>
              <a:buClr>
                <a:srgbClr val="0BD0D9"/>
              </a:buClr>
              <a:buSzPct val="95000"/>
              <a:buFont typeface="Wingdings" panose="05000000000000000000" pitchFamily="2" charset="2"/>
              <a:buChar char="p"/>
              <a:defRPr/>
            </a:pPr>
            <a:r>
              <a:rPr kumimoji="0" lang="zh-CN" altLang="en-US" sz="2790" b="1" i="0" u="none" strike="noStrike" kern="1200" cap="none" spc="0" normalizeH="0" baseline="0" noProof="0" dirty="0">
                <a:ln>
                  <a:noFill/>
                </a:ln>
                <a:solidFill>
                  <a:prstClr val="black"/>
                </a:solidFill>
                <a:effectLst/>
                <a:uLnTx/>
                <a:uFillTx/>
                <a:latin typeface="+mn-lt"/>
                <a:ea typeface="+mn-ea"/>
                <a:cs typeface="+mn-cs"/>
              </a:rPr>
              <a:t>主要特点</a:t>
            </a:r>
            <a:endParaRPr kumimoji="0" lang="en-US" altLang="zh-CN" sz="2790" b="1" i="0" u="none" strike="noStrike" kern="1200" cap="none" spc="0" normalizeH="0" baseline="0" noProof="0" dirty="0">
              <a:ln>
                <a:noFill/>
              </a:ln>
              <a:solidFill>
                <a:prstClr val="black"/>
              </a:solidFill>
              <a:effectLst/>
              <a:uLnTx/>
              <a:uFillTx/>
              <a:latin typeface="+mn-lt"/>
              <a:ea typeface="+mn-ea"/>
              <a:cs typeface="+mn-cs"/>
            </a:endParaRPr>
          </a:p>
          <a:p>
            <a:pPr marL="742950" marR="0" lvl="1" indent="-28575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r>
              <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强调模块化思想</a:t>
            </a:r>
            <a:endParaRPr kumimoji="0"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742950" marR="0" lvl="1" indent="-28575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r>
              <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主要采用抽象和分解两个手段</a:t>
            </a:r>
            <a:endParaRPr kumimoji="0"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742950" marR="0" lvl="1" indent="-28575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r>
              <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主要采取“自顶向下、逐步求精”的过程</a:t>
            </a:r>
            <a:endParaRPr kumimoji="0"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742950" marR="0" lvl="1" indent="-28575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r>
              <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程序</a:t>
            </a:r>
            <a:r>
              <a:rPr kumimoji="0"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a:t>
            </a:r>
            <a:r>
              <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算法</a:t>
            </a:r>
            <a:r>
              <a:rPr kumimoji="0"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a:t>
            </a:r>
            <a:r>
              <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数据结构</a:t>
            </a:r>
            <a:endParaRPr kumimoji="0"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342900" marR="0" lvl="0" indent="-342900" algn="l" defTabSz="914400" rtl="0" eaLnBrk="0" fontAlgn="base" latinLnBrk="0" hangingPunct="0">
              <a:lnSpc>
                <a:spcPct val="150000"/>
              </a:lnSpc>
              <a:spcBef>
                <a:spcPct val="20000"/>
              </a:spcBef>
              <a:spcAft>
                <a:spcPct val="0"/>
              </a:spcAft>
              <a:buClrTx/>
              <a:buSzTx/>
              <a:buFont typeface="Wingdings" panose="05000000000000000000" pitchFamily="2" charset="2"/>
              <a:buChar char="ü"/>
              <a:defRPr/>
            </a:pPr>
            <a:endPar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1" lang="en-US" altLang="zh-CN" sz="2395" b="1"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  </a:t>
            </a:r>
            <a:endPar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395" b="1" i="0" u="none" strike="noStrike" kern="1200" cap="none" spc="0" normalizeH="0" baseline="0" noProof="0" dirty="0" smtClean="0">
                <a:ln>
                  <a:noFill/>
                </a:ln>
                <a:solidFill>
                  <a:prstClr val="black"/>
                </a:solidFill>
                <a:effectLst/>
                <a:uLnTx/>
                <a:uFillTx/>
                <a:latin typeface="+mn-lt"/>
                <a:ea typeface="+mn-ea"/>
                <a:cs typeface="+mn-cs"/>
              </a:rPr>
              <a:t>        </a:t>
            </a:r>
            <a:endParaRPr kumimoji="0" lang="en-US" altLang="zh-CN" sz="2395" b="1"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395" b="1" i="0" u="none" strike="noStrike" kern="1200" cap="none" spc="0" normalizeH="0" baseline="0" noProof="0" dirty="0" smtClean="0">
                <a:ln>
                  <a:noFill/>
                </a:ln>
                <a:solidFill>
                  <a:srgbClr val="000000"/>
                </a:solidFill>
                <a:effectLst/>
                <a:uLnTx/>
                <a:uFillTx/>
                <a:latin typeface="+mn-lt"/>
                <a:ea typeface="楷体_GB2312" pitchFamily="49" charset="-122"/>
                <a:cs typeface="+mn-cs"/>
              </a:rPr>
              <a:t>     </a:t>
            </a:r>
            <a:endParaRPr kumimoji="0" lang="zh-CN" altLang="en-US" sz="2395" b="1" i="0" u="none" strike="noStrike" kern="1200" cap="none" spc="0" normalizeH="0" baseline="0" noProof="0" dirty="0">
              <a:ln>
                <a:noFill/>
              </a:ln>
              <a:solidFill>
                <a:prstClr val="black"/>
              </a:solidFill>
              <a:effectLst/>
              <a:uLnTx/>
              <a:uFillTx/>
              <a:latin typeface="+mn-lt"/>
              <a:ea typeface="+mn-ea"/>
              <a:cs typeface="+mn-cs"/>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wrap="square" lIns="0" tIns="45593" rIns="0" bIns="0" anchor="b" anchorCtr="0"/>
          <a:p>
            <a:r>
              <a:rPr lang="zh-CN" altLang="en-US" b="1" dirty="0">
                <a:latin typeface="微软雅黑" panose="020B0503020204020204" pitchFamily="34" charset="-122"/>
                <a:ea typeface="微软雅黑" panose="020B0503020204020204" pitchFamily="34" charset="-122"/>
              </a:rPr>
              <a:t>面向过程的开发方法</a:t>
            </a:r>
            <a:endParaRPr lang="zh-CN" altLang="en-US" b="1" dirty="0">
              <a:latin typeface="微软雅黑" panose="020B0503020204020204" pitchFamily="34" charset="-122"/>
              <a:ea typeface="微软雅黑" panose="020B0503020204020204" pitchFamily="34" charset="-122"/>
            </a:endParaRPr>
          </a:p>
        </p:txBody>
      </p:sp>
      <p:sp>
        <p:nvSpPr>
          <p:cNvPr id="4" name="Rectangle 46"/>
          <p:cNvSpPr txBox="1">
            <a:spLocks noChangeArrowheads="1"/>
          </p:cNvSpPr>
          <p:nvPr/>
        </p:nvSpPr>
        <p:spPr bwMode="black">
          <a:xfrm>
            <a:off x="862785" y="1906050"/>
            <a:ext cx="7559257" cy="4708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74320" marR="0" lvl="0" indent="-274320" algn="l" defTabSz="914400" rtl="0" eaLnBrk="0" fontAlgn="auto" latinLnBrk="0" hangingPunct="0">
              <a:lnSpc>
                <a:spcPct val="150000"/>
              </a:lnSpc>
              <a:spcBef>
                <a:spcPct val="20000"/>
              </a:spcBef>
              <a:spcAft>
                <a:spcPts val="0"/>
              </a:spcAft>
              <a:buClr>
                <a:srgbClr val="0BD0D9"/>
              </a:buClr>
              <a:buSzPct val="95000"/>
              <a:buFont typeface="Wingdings" panose="05000000000000000000" pitchFamily="2" charset="2"/>
              <a:buChar char="p"/>
              <a:defRPr/>
            </a:pPr>
            <a:r>
              <a:rPr kumimoji="0" lang="zh-CN" altLang="en-US" sz="2790" b="1" i="0" u="none" strike="noStrike" kern="1200" cap="none" spc="0" normalizeH="0" baseline="0" noProof="0" dirty="0">
                <a:ln>
                  <a:noFill/>
                </a:ln>
                <a:solidFill>
                  <a:prstClr val="black"/>
                </a:solidFill>
                <a:effectLst/>
                <a:uLnTx/>
                <a:uFillTx/>
                <a:latin typeface="+mn-lt"/>
                <a:ea typeface="+mn-ea"/>
                <a:cs typeface="+mn-cs"/>
              </a:rPr>
              <a:t>主要思想示例</a:t>
            </a:r>
            <a:endParaRPr kumimoji="0" lang="en-US" altLang="zh-CN" sz="279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zh-CN" altLang="en-US"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1" lang="en-US" altLang="zh-CN" sz="2395" b="1" i="0" u="none" strike="noStrike" kern="1200" cap="none" spc="0" normalizeH="0" baseline="0" noProof="0" dirty="0">
                <a:ln>
                  <a:noFill/>
                </a:ln>
                <a:solidFill>
                  <a:srgbClr val="000000"/>
                </a:solidFill>
                <a:effectLst/>
                <a:uLnTx/>
                <a:uFillTx/>
                <a:latin typeface="宋体" panose="02010600030101010101" pitchFamily="2" charset="-122"/>
                <a:ea typeface="+mn-ea"/>
                <a:cs typeface="+mn-cs"/>
              </a:rPr>
              <a:t> </a:t>
            </a:r>
            <a:r>
              <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rPr>
              <a:t>  </a:t>
            </a:r>
            <a:endPar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1" lang="en-US" altLang="zh-CN" sz="2395" b="1" i="0" u="none" strike="noStrike" kern="1200" cap="none" spc="0" normalizeH="0" baseline="0" noProof="0" dirty="0" smtClean="0">
              <a:ln>
                <a:noFill/>
              </a:ln>
              <a:solidFill>
                <a:srgbClr val="000000"/>
              </a:solidFill>
              <a:effectLst/>
              <a:uLnTx/>
              <a:uFillTx/>
              <a:latin typeface="宋体" panose="02010600030101010101" pitchFamily="2" charset="-122"/>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2395" b="1" i="0" u="none" strike="noStrike" kern="1200" cap="none" spc="0" normalizeH="0" baseline="0" noProof="0" dirty="0" smtClean="0">
                <a:ln>
                  <a:noFill/>
                </a:ln>
                <a:solidFill>
                  <a:prstClr val="black"/>
                </a:solidFill>
                <a:effectLst/>
                <a:uLnTx/>
                <a:uFillTx/>
                <a:latin typeface="+mn-lt"/>
                <a:ea typeface="+mn-ea"/>
                <a:cs typeface="+mn-cs"/>
              </a:rPr>
              <a:t>        </a:t>
            </a:r>
            <a:endParaRPr kumimoji="0" lang="en-US" altLang="zh-CN" sz="2395" b="1"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altLang="zh-CN" sz="2395" b="1" i="0" u="none" strike="noStrike" kern="1200" cap="none" spc="0" normalizeH="0" baseline="0" noProof="0" dirty="0" smtClean="0">
                <a:ln>
                  <a:noFill/>
                </a:ln>
                <a:solidFill>
                  <a:srgbClr val="000000"/>
                </a:solidFill>
                <a:effectLst/>
                <a:uLnTx/>
                <a:uFillTx/>
                <a:latin typeface="+mn-lt"/>
                <a:ea typeface="楷体_GB2312" pitchFamily="49" charset="-122"/>
                <a:cs typeface="+mn-cs"/>
              </a:rPr>
              <a:t>     </a:t>
            </a:r>
            <a:endParaRPr kumimoji="0" lang="zh-CN" altLang="en-US" sz="2395" b="1" i="0" u="none" strike="noStrike" kern="1200" cap="none" spc="0" normalizeH="0" baseline="0" noProof="0" dirty="0">
              <a:ln>
                <a:noFill/>
              </a:ln>
              <a:solidFill>
                <a:prstClr val="black"/>
              </a:solidFill>
              <a:effectLst/>
              <a:uLnTx/>
              <a:uFillTx/>
              <a:latin typeface="+mn-lt"/>
              <a:ea typeface="+mn-ea"/>
              <a:cs typeface="+mn-cs"/>
            </a:endParaRPr>
          </a:p>
        </p:txBody>
      </p:sp>
      <p:pic>
        <p:nvPicPr>
          <p:cNvPr id="37892" name="Picture 2"/>
          <p:cNvPicPr>
            <a:picLocks noChangeAspect="1"/>
          </p:cNvPicPr>
          <p:nvPr/>
        </p:nvPicPr>
        <p:blipFill>
          <a:blip r:embed="rId1"/>
          <a:stretch>
            <a:fillRect/>
          </a:stretch>
        </p:blipFill>
        <p:spPr>
          <a:xfrm>
            <a:off x="1660662" y="2741921"/>
            <a:ext cx="5965084" cy="3720262"/>
          </a:xfrm>
          <a:prstGeom prst="rect">
            <a:avLst/>
          </a:prstGeom>
          <a:noFill/>
          <a:ln w="9525">
            <a:noFill/>
          </a:ln>
        </p:spPr>
      </p:pic>
      <p:cxnSp>
        <p:nvCxnSpPr>
          <p:cNvPr id="5" name="直接箭头连接符 4"/>
          <p:cNvCxnSpPr/>
          <p:nvPr/>
        </p:nvCxnSpPr>
        <p:spPr>
          <a:xfrm>
            <a:off x="1215813" y="2661184"/>
            <a:ext cx="0" cy="3645857"/>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8282728" y="2738755"/>
            <a:ext cx="0" cy="3568285"/>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sp>
        <p:nvSpPr>
          <p:cNvPr id="47111" name="TextBox 9"/>
          <p:cNvSpPr txBox="1"/>
          <p:nvPr/>
        </p:nvSpPr>
        <p:spPr>
          <a:xfrm>
            <a:off x="379942" y="3878580"/>
            <a:ext cx="835872" cy="4603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395" b="1" dirty="0">
                <a:solidFill>
                  <a:srgbClr val="000000"/>
                </a:solidFill>
                <a:latin typeface="Arial" panose="020B0604020202020204" pitchFamily="34" charset="0"/>
              </a:rPr>
              <a:t>分解</a:t>
            </a:r>
            <a:endParaRPr lang="zh-CN" altLang="en-US" sz="2395" b="1" dirty="0">
              <a:solidFill>
                <a:srgbClr val="000000"/>
              </a:solidFill>
              <a:latin typeface="Arial" panose="020B0604020202020204" pitchFamily="34" charset="0"/>
            </a:endParaRPr>
          </a:p>
        </p:txBody>
      </p:sp>
      <p:sp>
        <p:nvSpPr>
          <p:cNvPr id="47112" name="TextBox 12"/>
          <p:cNvSpPr txBox="1"/>
          <p:nvPr/>
        </p:nvSpPr>
        <p:spPr>
          <a:xfrm>
            <a:off x="8282728" y="3873831"/>
            <a:ext cx="835872" cy="4603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395" b="1" dirty="0">
                <a:solidFill>
                  <a:srgbClr val="000000"/>
                </a:solidFill>
                <a:latin typeface="Arial" panose="020B0604020202020204" pitchFamily="34" charset="0"/>
              </a:rPr>
              <a:t>抽象</a:t>
            </a:r>
            <a:endParaRPr lang="zh-CN" altLang="en-US" sz="2395" b="1" dirty="0">
              <a:solidFill>
                <a:srgbClr val="000000"/>
              </a:solidFill>
              <a:latin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11"/>
                                        </p:tgtEl>
                                        <p:attrNameLst>
                                          <p:attrName>style.visibility</p:attrName>
                                        </p:attrNameLst>
                                      </p:cBhvr>
                                      <p:to>
                                        <p:strVal val="visible"/>
                                      </p:to>
                                    </p:set>
                                    <p:anim calcmode="lin" valueType="num">
                                      <p:cBhvr additive="base">
                                        <p:cTn id="7" dur="500" fill="hold"/>
                                        <p:tgtEl>
                                          <p:spTgt spid="47111"/>
                                        </p:tgtEl>
                                        <p:attrNameLst>
                                          <p:attrName>ppt_x</p:attrName>
                                        </p:attrNameLst>
                                      </p:cBhvr>
                                      <p:tavLst>
                                        <p:tav tm="0">
                                          <p:val>
                                            <p:strVal val="#ppt_x"/>
                                          </p:val>
                                        </p:tav>
                                        <p:tav tm="100000">
                                          <p:val>
                                            <p:strVal val="#ppt_x"/>
                                          </p:val>
                                        </p:tav>
                                      </p:tavLst>
                                    </p:anim>
                                    <p:anim calcmode="lin" valueType="num">
                                      <p:cBhvr additive="base">
                                        <p:cTn id="8" dur="500" fill="hold"/>
                                        <p:tgtEl>
                                          <p:spTgt spid="471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112"/>
                                        </p:tgtEl>
                                        <p:attrNameLst>
                                          <p:attrName>style.visibility</p:attrName>
                                        </p:attrNameLst>
                                      </p:cBhvr>
                                      <p:to>
                                        <p:strVal val="visible"/>
                                      </p:to>
                                    </p:set>
                                    <p:anim calcmode="lin" valueType="num">
                                      <p:cBhvr additive="base">
                                        <p:cTn id="17" dur="500" fill="hold"/>
                                        <p:tgtEl>
                                          <p:spTgt spid="47112"/>
                                        </p:tgtEl>
                                        <p:attrNameLst>
                                          <p:attrName>ppt_x</p:attrName>
                                        </p:attrNameLst>
                                      </p:cBhvr>
                                      <p:tavLst>
                                        <p:tav tm="0">
                                          <p:val>
                                            <p:strVal val="#ppt_x"/>
                                          </p:val>
                                        </p:tav>
                                        <p:tav tm="100000">
                                          <p:val>
                                            <p:strVal val="#ppt_x"/>
                                          </p:val>
                                        </p:tav>
                                      </p:tavLst>
                                    </p:anim>
                                    <p:anim calcmode="lin" valueType="num">
                                      <p:cBhvr additive="base">
                                        <p:cTn id="18" dur="500" fill="hold"/>
                                        <p:tgtEl>
                                          <p:spTgt spid="4711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p:bldP spid="471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46"/>
          <p:cNvSpPr txBox="1">
            <a:spLocks noChangeArrowheads="1"/>
          </p:cNvSpPr>
          <p:nvPr/>
        </p:nvSpPr>
        <p:spPr bwMode="black">
          <a:xfrm>
            <a:off x="862013" y="1906588"/>
            <a:ext cx="7559675"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73685" marR="0" lvl="0" indent="-273685"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r>
              <a:rPr kumimoji="1" lang="zh-CN" altLang="en-US" sz="2790" b="1" i="0" u="none" strike="noStrike" kern="1200" cap="none" spc="0" normalizeH="0" baseline="0" noProof="0" dirty="0">
                <a:ln>
                  <a:noFill/>
                </a:ln>
                <a:solidFill>
                  <a:schemeClr val="tx1"/>
                </a:solidFill>
                <a:effectLst/>
                <a:uLnTx/>
                <a:uFillTx/>
                <a:latin typeface="+mn-lt"/>
                <a:ea typeface="+mn-ea"/>
                <a:cs typeface="+mn-cs"/>
              </a:rPr>
              <a:t>主要特点</a:t>
            </a:r>
            <a:endParaRPr kumimoji="1" lang="en-US" altLang="zh-CN" sz="279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静态</a:t>
            </a:r>
            <a:r>
              <a:rPr kumimoji="1" lang="en-US" altLang="zh-CN" sz="2395" b="1" i="0" u="none" strike="noStrike" kern="1200" cap="none" spc="0" normalizeH="0" baseline="0" noProof="0" dirty="0">
                <a:ln>
                  <a:noFill/>
                </a:ln>
                <a:solidFill>
                  <a:srgbClr val="000000"/>
                </a:solidFill>
                <a:effectLst/>
                <a:uLnTx/>
                <a:uFillTx/>
                <a:latin typeface="+mn-ea"/>
                <a:ea typeface="+mn-ea"/>
                <a:cs typeface="+mn-cs"/>
              </a:rPr>
              <a:t>+</a:t>
            </a: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动态的视角，看软件的构成部分及其关系</a:t>
            </a:r>
            <a:endParaRPr kumimoji="1" lang="en-US" altLang="zh-CN" sz="2395" b="1" i="0" u="none" strike="noStrike" kern="1200" cap="none" spc="0" normalizeH="0" baseline="0" noProof="0" dirty="0">
              <a:ln>
                <a:noFill/>
              </a:ln>
              <a:solidFill>
                <a:srgbClr val="000000"/>
              </a:solidFill>
              <a:effectLst/>
              <a:uLnTx/>
              <a:uFillTx/>
              <a:latin typeface="+mn-ea"/>
              <a:ea typeface="+mn-ea"/>
              <a:cs typeface="+mn-cs"/>
            </a:endParaRPr>
          </a:p>
          <a:p>
            <a:pPr marL="342900" marR="0" lvl="0" indent="-34290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1" lang="zh-CN" altLang="en-US" sz="2395" b="1" i="0" u="none" strike="noStrike" kern="1200" cap="none" spc="0" normalizeH="0" baseline="0" noProof="0" dirty="0">
                <a:ln>
                  <a:noFill/>
                </a:ln>
                <a:solidFill>
                  <a:schemeClr val="tx1"/>
                </a:solidFill>
                <a:effectLst/>
                <a:uLnTx/>
                <a:uFillTx/>
                <a:latin typeface="宋体" panose="02010600030101010101" pitchFamily="2" charset="-122"/>
                <a:ea typeface="+mn-ea"/>
                <a:cs typeface="+mn-cs"/>
              </a:rPr>
              <a:t>对象将数据及在数据上的操作行为封装在一起，形成一种新的软件构件</a:t>
            </a:r>
            <a:endParaRPr kumimoji="1" lang="en-US" altLang="zh-CN" sz="2395" b="1" i="0" u="none" strike="noStrike" kern="1200" cap="none" spc="0" normalizeH="0" baseline="0" noProof="0" dirty="0">
              <a:ln>
                <a:noFill/>
              </a:ln>
              <a:solidFill>
                <a:schemeClr val="tx1"/>
              </a:solidFill>
              <a:effectLst/>
              <a:uLnTx/>
              <a:uFillTx/>
              <a:latin typeface="宋体" panose="02010600030101010101" pitchFamily="2" charset="-122"/>
              <a:ea typeface="+mn-ea"/>
              <a:cs typeface="+mn-cs"/>
            </a:endParaRPr>
          </a:p>
          <a:p>
            <a:pPr marL="342900" marR="0" lvl="0" indent="-34290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程序</a:t>
            </a:r>
            <a:r>
              <a:rPr kumimoji="1" lang="en-US" altLang="zh-CN" sz="2395" b="1" i="0" u="none" strike="noStrike" kern="1200" cap="none" spc="0" normalizeH="0" baseline="0" noProof="0" dirty="0">
                <a:ln>
                  <a:noFill/>
                </a:ln>
                <a:solidFill>
                  <a:srgbClr val="000000"/>
                </a:solidFill>
                <a:effectLst/>
                <a:uLnTx/>
                <a:uFillTx/>
                <a:latin typeface="+mn-ea"/>
                <a:ea typeface="+mn-ea"/>
                <a:cs typeface="+mn-cs"/>
              </a:rPr>
              <a:t>=</a:t>
            </a: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对象</a:t>
            </a:r>
            <a:r>
              <a:rPr kumimoji="1" lang="en-US" altLang="zh-CN" sz="2395" b="1" i="0" u="none" strike="noStrike" kern="1200" cap="none" spc="0" normalizeH="0" baseline="0" noProof="0" dirty="0">
                <a:ln>
                  <a:noFill/>
                </a:ln>
                <a:solidFill>
                  <a:srgbClr val="000000"/>
                </a:solidFill>
                <a:effectLst/>
                <a:uLnTx/>
                <a:uFillTx/>
                <a:latin typeface="+mn-ea"/>
                <a:ea typeface="+mn-ea"/>
                <a:cs typeface="+mn-cs"/>
              </a:rPr>
              <a:t>+</a:t>
            </a: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消息</a:t>
            </a:r>
            <a:endParaRPr kumimoji="1" lang="en-US" altLang="zh-CN" sz="2395" b="1" i="0" u="none" strike="noStrike" kern="1200" cap="none" spc="0" normalizeH="0" baseline="0" noProof="0" dirty="0">
              <a:ln>
                <a:noFill/>
              </a:ln>
              <a:solidFill>
                <a:srgbClr val="000000"/>
              </a:solidFill>
              <a:effectLst/>
              <a:uLnTx/>
              <a:uFillTx/>
              <a:latin typeface="+mn-ea"/>
              <a:ea typeface="+mn-ea"/>
              <a:cs typeface="+mn-cs"/>
            </a:endParaRPr>
          </a:p>
          <a:p>
            <a:pPr marL="342900" marR="0" lvl="0" indent="-34290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分析设计时由对象抽象出类，运行时由类还原到对象</a:t>
            </a:r>
            <a:endParaRPr kumimoji="1" lang="en-US" altLang="zh-CN" sz="2395" b="1" i="0" u="none" strike="noStrike" kern="1200" cap="none" spc="0" normalizeH="0" baseline="0" noProof="0" dirty="0">
              <a:ln>
                <a:noFill/>
              </a:ln>
              <a:solidFill>
                <a:srgbClr val="000000"/>
              </a:solidFill>
              <a:effectLst/>
              <a:uLnTx/>
              <a:uFillTx/>
              <a:latin typeface="+mn-ea"/>
              <a:ea typeface="+mn-ea"/>
              <a:cs typeface="+mn-cs"/>
            </a:endParaRPr>
          </a:p>
          <a:p>
            <a:pPr marL="342900" marR="0" lvl="0" indent="-34290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1" lang="zh-CN" altLang="en-US" sz="2395" b="1" i="0" u="none" strike="noStrike" kern="1200" cap="none" spc="0" normalizeH="0" baseline="0" noProof="0" dirty="0">
                <a:ln>
                  <a:noFill/>
                </a:ln>
                <a:solidFill>
                  <a:srgbClr val="000000"/>
                </a:solidFill>
                <a:effectLst/>
                <a:uLnTx/>
                <a:uFillTx/>
                <a:latin typeface="+mn-ea"/>
                <a:ea typeface="+mn-ea"/>
                <a:cs typeface="+mn-cs"/>
              </a:rPr>
              <a:t>继承、多态、</a:t>
            </a:r>
            <a:r>
              <a:rPr kumimoji="1" lang="en-US" altLang="zh-CN" sz="2395" b="1" i="0" u="none" strike="noStrike" kern="1200" cap="none" spc="0" normalizeH="0" baseline="0" noProof="0" dirty="0">
                <a:ln>
                  <a:noFill/>
                </a:ln>
                <a:solidFill>
                  <a:srgbClr val="000000"/>
                </a:solidFill>
                <a:effectLst/>
                <a:uLnTx/>
                <a:uFillTx/>
                <a:latin typeface="+mn-ea"/>
                <a:ea typeface="+mn-ea"/>
                <a:cs typeface="+mn-cs"/>
              </a:rPr>
              <a:t>……</a:t>
            </a:r>
            <a:endParaRPr kumimoji="1" lang="en-US" altLang="zh-CN" sz="2395" b="1" i="0" u="none" strike="noStrike" kern="1200" cap="none" spc="0" normalizeH="0" baseline="0" noProof="0" dirty="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r>
              <a:rPr kumimoji="1" lang="en-US" altLang="zh-CN" sz="2395" b="1" i="0" u="none" strike="noStrike" kern="1200" cap="none" spc="0" normalizeH="0" baseline="0" noProof="0" dirty="0">
                <a:ln>
                  <a:noFill/>
                </a:ln>
                <a:solidFill>
                  <a:srgbClr val="000000"/>
                </a:solidFill>
                <a:effectLst/>
                <a:uLnTx/>
                <a:uFillTx/>
                <a:latin typeface="+mn-ea"/>
                <a:ea typeface="+mn-ea"/>
                <a:cs typeface="+mn-cs"/>
              </a:rPr>
              <a:t> </a:t>
            </a:r>
            <a:endParaRPr kumimoji="1" lang="en-US" altLang="zh-CN" sz="2395" b="1" i="0" u="none" strike="noStrike" kern="1200" cap="none" spc="0" normalizeH="0" baseline="0" noProof="0" dirty="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endParaRPr kumimoji="1" lang="en-US" altLang="zh-CN" sz="2395" b="1" i="0" u="none" strike="noStrike" kern="1200" cap="none" spc="0" normalizeH="0" baseline="0" noProof="0" dirty="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1" lang="zh-CN" altLang="en-US" sz="2395" b="1" i="0" u="none" strike="noStrike" kern="1200" cap="none" spc="0" normalizeH="0" baseline="0" noProof="0" dirty="0">
                <a:ln>
                  <a:noFill/>
                </a:ln>
                <a:solidFill>
                  <a:schemeClr val="tx1"/>
                </a:solidFill>
                <a:effectLst/>
                <a:uLnTx/>
                <a:uFillTx/>
                <a:latin typeface="+mn-lt"/>
                <a:ea typeface="+mn-ea"/>
                <a:cs typeface="+mn-cs"/>
              </a:rPr>
              <a:t>        </a:t>
            </a:r>
            <a:endParaRPr kumimoji="1" lang="en-US" altLang="zh-CN" sz="2395"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1" lang="en-US" altLang="zh-CN" sz="2395" b="1" i="0" u="none" strike="noStrike" kern="1200" cap="none" spc="0" normalizeH="0" baseline="0" noProof="0" dirty="0">
                <a:ln>
                  <a:noFill/>
                </a:ln>
                <a:solidFill>
                  <a:srgbClr val="000000"/>
                </a:solidFill>
                <a:effectLst/>
                <a:uLnTx/>
                <a:uFillTx/>
                <a:latin typeface="+mn-lt"/>
                <a:ea typeface="楷体_GB2312" pitchFamily="49" charset="-122"/>
                <a:cs typeface="+mn-cs"/>
              </a:rPr>
              <a:t>     </a:t>
            </a:r>
            <a:endParaRPr kumimoji="1" lang="zh-CN" altLang="en-US" sz="2395" b="1" i="0" u="none" strike="noStrike" kern="1200" cap="none" spc="0" normalizeH="0" baseline="0" noProof="0" dirty="0">
              <a:ln>
                <a:noFill/>
              </a:ln>
              <a:solidFill>
                <a:schemeClr val="tx1"/>
              </a:solidFill>
              <a:effectLst/>
              <a:uLnTx/>
              <a:uFillTx/>
              <a:latin typeface="+mn-lt"/>
              <a:ea typeface="+mn-ea"/>
              <a:cs typeface="+mn-cs"/>
            </a:endParaRPr>
          </a:p>
        </p:txBody>
      </p:sp>
      <p:sp>
        <p:nvSpPr>
          <p:cNvPr id="17411" name="Rectangle 2"/>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面向对象方法概述</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面向对象方法概述</a:t>
            </a:r>
            <a:endParaRPr lang="zh-CN" altLang="en-US" b="1" dirty="0">
              <a:latin typeface="微软雅黑" panose="020B0503020204020204" pitchFamily="34" charset="-122"/>
              <a:ea typeface="微软雅黑" panose="020B0503020204020204" pitchFamily="34" charset="-122"/>
            </a:endParaRPr>
          </a:p>
        </p:txBody>
      </p:sp>
      <p:sp>
        <p:nvSpPr>
          <p:cNvPr id="19459"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13316" name="矩形 5"/>
          <p:cNvSpPr/>
          <p:nvPr/>
        </p:nvSpPr>
        <p:spPr>
          <a:xfrm>
            <a:off x="958850" y="4214813"/>
            <a:ext cx="7439025" cy="64611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600" b="1" dirty="0">
                <a:latin typeface="微软雅黑" panose="020B0503020204020204" pitchFamily="34" charset="-122"/>
                <a:ea typeface="微软雅黑" panose="020B0503020204020204" pitchFamily="34" charset="-122"/>
              </a:rPr>
              <a:t>面向对象</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对象 </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类</a:t>
            </a:r>
            <a:r>
              <a:rPr lang="en-US" altLang="zh-CN" sz="3600" b="1" dirty="0">
                <a:latin typeface="微软雅黑" panose="020B0503020204020204" pitchFamily="34" charset="-122"/>
                <a:ea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rPr>
              <a:t>继承</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通信</a:t>
            </a:r>
            <a:endParaRPr lang="zh-CN" altLang="en-US" sz="3600" b="1" dirty="0">
              <a:latin typeface="微软雅黑" panose="020B0503020204020204" pitchFamily="34" charset="-122"/>
              <a:ea typeface="微软雅黑" panose="020B0503020204020204" pitchFamily="34" charset="-122"/>
            </a:endParaRPr>
          </a:p>
        </p:txBody>
      </p:sp>
      <p:sp>
        <p:nvSpPr>
          <p:cNvPr id="2" name="矩形 1"/>
          <p:cNvSpPr/>
          <p:nvPr/>
        </p:nvSpPr>
        <p:spPr>
          <a:xfrm>
            <a:off x="887413" y="2211388"/>
            <a:ext cx="6911975" cy="107791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1" indent="0" defTabSz="914400" eaLnBrk="1" hangingPunct="1">
              <a:spcBef>
                <a:spcPct val="0"/>
              </a:spcBef>
              <a:buClr>
                <a:srgbClr val="0BD0D9"/>
              </a:buClr>
              <a:buSzPct val="95000"/>
              <a:buFont typeface="Wingdings" panose="05000000000000000000" pitchFamily="2" charset="2"/>
              <a:buNone/>
              <a:tabLst>
                <a:tab pos="457200" algn="l"/>
              </a:tabLst>
            </a:pPr>
            <a:r>
              <a:rPr lang="zh-CN" altLang="en-US" sz="3200" b="1" dirty="0">
                <a:solidFill>
                  <a:srgbClr val="FF0000"/>
                </a:solidFill>
                <a:latin typeface="黑体" panose="02010609060101010101" pitchFamily="49" charset="-122"/>
                <a:ea typeface="黑体" panose="02010609060101010101" pitchFamily="49" charset="-122"/>
              </a:rPr>
              <a:t>“面向对象方法”不仅仅是使用面向对象编程语言（ </a:t>
            </a:r>
            <a:r>
              <a:rPr lang="en-US" altLang="zh-CN" sz="3200" b="1" dirty="0">
                <a:solidFill>
                  <a:srgbClr val="FF0000"/>
                </a:solidFill>
                <a:latin typeface="黑体" panose="02010609060101010101" pitchFamily="49" charset="-122"/>
                <a:ea typeface="黑体" panose="02010609060101010101" pitchFamily="49" charset="-122"/>
              </a:rPr>
              <a:t>C++, Java </a:t>
            </a:r>
            <a:r>
              <a:rPr lang="zh-CN" altLang="en-US" sz="3200" b="1" dirty="0">
                <a:solidFill>
                  <a:srgbClr val="FF0000"/>
                </a:solidFill>
                <a:latin typeface="黑体" panose="02010609060101010101" pitchFamily="49" charset="-122"/>
                <a:ea typeface="黑体" panose="02010609060101010101" pitchFamily="49" charset="-122"/>
              </a:rPr>
              <a:t>）</a:t>
            </a:r>
            <a:endParaRPr lang="zh-CN" altLang="en-US" sz="32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6"/>
                                        </p:tgtEl>
                                        <p:attrNameLst>
                                          <p:attrName>style.visibility</p:attrName>
                                        </p:attrNameLst>
                                      </p:cBhvr>
                                      <p:to>
                                        <p:strVal val="visible"/>
                                      </p:to>
                                    </p:set>
                                    <p:anim calcmode="lin" valueType="num">
                                      <p:cBhvr additive="base">
                                        <p:cTn id="13" dur="500" fill="hold"/>
                                        <p:tgtEl>
                                          <p:spTgt spid="13316"/>
                                        </p:tgtEl>
                                        <p:attrNameLst>
                                          <p:attrName>ppt_x</p:attrName>
                                        </p:attrNameLst>
                                      </p:cBhvr>
                                      <p:tavLst>
                                        <p:tav tm="0">
                                          <p:val>
                                            <p:strVal val="#ppt_x"/>
                                          </p:val>
                                        </p:tav>
                                        <p:tav tm="100000">
                                          <p:val>
                                            <p:strVal val="#ppt_x"/>
                                          </p:val>
                                        </p:tav>
                                      </p:tavLst>
                                    </p:anim>
                                    <p:anim calcmode="lin" valueType="num">
                                      <p:cBhvr additive="base">
                                        <p:cTn id="14"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4818" name="对象 1"/>
          <p:cNvGraphicFramePr>
            <a:graphicFrameLocks noChangeAspect="1"/>
          </p:cNvGraphicFramePr>
          <p:nvPr/>
        </p:nvGraphicFramePr>
        <p:xfrm>
          <a:off x="682312" y="1268065"/>
          <a:ext cx="7826798" cy="5463244"/>
        </p:xfrm>
        <a:graphic>
          <a:graphicData uri="http://schemas.openxmlformats.org/presentationml/2006/ole">
            <mc:AlternateContent xmlns:mc="http://schemas.openxmlformats.org/markup-compatibility/2006">
              <mc:Choice xmlns:v="urn:schemas-microsoft-com:vml" Requires="v">
                <p:oleObj spid="_x0000_s3079" name="" r:id="rId1" imgW="9652000" imgH="6261100" progId="Visio.Drawing.11">
                  <p:embed/>
                </p:oleObj>
              </mc:Choice>
              <mc:Fallback>
                <p:oleObj name="" r:id="rId1" imgW="9652000" imgH="6261100" progId="Visio.Drawing.11">
                  <p:embed/>
                  <p:pic>
                    <p:nvPicPr>
                      <p:cNvPr id="0" name="图片 3078"/>
                      <p:cNvPicPr/>
                      <p:nvPr/>
                    </p:nvPicPr>
                    <p:blipFill>
                      <a:blip r:embed="rId2"/>
                      <a:stretch>
                        <a:fillRect/>
                      </a:stretch>
                    </p:blipFill>
                    <p:spPr>
                      <a:xfrm>
                        <a:off x="682312" y="1268065"/>
                        <a:ext cx="7826798" cy="5463244"/>
                      </a:xfrm>
                      <a:prstGeom prst="rect">
                        <a:avLst/>
                      </a:prstGeom>
                      <a:noFill/>
                      <a:ln w="38100">
                        <a:noFill/>
                        <a:miter/>
                      </a:ln>
                    </p:spPr>
                  </p:pic>
                </p:oleObj>
              </mc:Fallback>
            </mc:AlternateContent>
          </a:graphicData>
        </a:graphic>
      </p:graphicFrame>
      <p:sp>
        <p:nvSpPr>
          <p:cNvPr id="34819" name="标题 1"/>
          <p:cNvSpPr>
            <a:spLocks noGrp="1"/>
          </p:cNvSpPr>
          <p:nvPr>
            <p:ph type="title"/>
          </p:nvPr>
        </p:nvSpPr>
        <p:spPr>
          <a:xfrm>
            <a:off x="394190" y="118741"/>
            <a:ext cx="8206740" cy="1139825"/>
          </a:xfrm>
        </p:spPr>
        <p:txBody>
          <a:bodyPr vert="horz" wrap="square" lIns="0" tIns="45593"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34820" name="Rectangle 2"/>
          <p:cNvSpPr/>
          <p:nvPr/>
        </p:nvSpPr>
        <p:spPr>
          <a:xfrm>
            <a:off x="0" y="-227012"/>
            <a:ext cx="309880" cy="460375"/>
          </a:xfrm>
          <a:prstGeom prst="rect">
            <a:avLst/>
          </a:prstGeom>
          <a:noFill/>
          <a:ln w="9525">
            <a:noFill/>
          </a:ln>
        </p:spPr>
        <p:txBody>
          <a:bodyPr wrap="none" anchor="ctr" anchorCtr="0">
            <a:spAutoFit/>
          </a:bodyPr>
          <a:p>
            <a:endParaRPr lang="zh-CN" altLang="en-US" sz="2395" dirty="0">
              <a:solidFill>
                <a:srgbClr val="000000"/>
              </a:solidFill>
              <a:latin typeface="Arial" panose="020B0604020202020204" pitchFamily="34" charset="0"/>
            </a:endParaRPr>
          </a:p>
        </p:txBody>
      </p:sp>
      <p:cxnSp>
        <p:nvCxnSpPr>
          <p:cNvPr id="3" name="直接箭头连接符 2"/>
          <p:cNvCxnSpPr/>
          <p:nvPr/>
        </p:nvCxnSpPr>
        <p:spPr>
          <a:xfrm>
            <a:off x="4671700" y="1777820"/>
            <a:ext cx="2811568" cy="4483312"/>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471160" y="1521359"/>
            <a:ext cx="2811568" cy="4483312"/>
          </a:xfrm>
          <a:prstGeom prst="straightConnector1">
            <a:avLst/>
          </a:prstGeom>
          <a:ln w="349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824" name="文本框 3"/>
          <p:cNvSpPr txBox="1"/>
          <p:nvPr/>
        </p:nvSpPr>
        <p:spPr>
          <a:xfrm>
            <a:off x="5965084" y="4000478"/>
            <a:ext cx="1443778" cy="829945"/>
          </a:xfrm>
          <a:prstGeom prst="rect">
            <a:avLst/>
          </a:prstGeom>
          <a:noFill/>
          <a:ln w="9525">
            <a:noFill/>
          </a:ln>
        </p:spPr>
        <p:txBody>
          <a:bodyPr>
            <a:spAutoFit/>
          </a:bodyPr>
          <a:p>
            <a:r>
              <a:rPr lang="zh-CN" altLang="en-US" sz="2395" dirty="0">
                <a:solidFill>
                  <a:srgbClr val="FF0000"/>
                </a:solidFill>
                <a:latin typeface="微软雅黑" panose="020B0503020204020204" pitchFamily="34" charset="-122"/>
                <a:ea typeface="微软雅黑" panose="020B0503020204020204" pitchFamily="34" charset="-122"/>
              </a:rPr>
              <a:t>面向过程的方法</a:t>
            </a:r>
            <a:endParaRPr lang="zh-CN" altLang="en-US" sz="2395" dirty="0">
              <a:solidFill>
                <a:srgbClr val="FF0000"/>
              </a:solidFill>
              <a:latin typeface="微软雅黑" panose="020B0503020204020204" pitchFamily="34" charset="-122"/>
              <a:ea typeface="微软雅黑" panose="020B0503020204020204" pitchFamily="34" charset="-122"/>
            </a:endParaRPr>
          </a:p>
        </p:txBody>
      </p:sp>
      <p:sp>
        <p:nvSpPr>
          <p:cNvPr id="34825" name="文本框 11"/>
          <p:cNvSpPr txBox="1"/>
          <p:nvPr/>
        </p:nvSpPr>
        <p:spPr>
          <a:xfrm>
            <a:off x="6079067" y="2130848"/>
            <a:ext cx="1404202" cy="829945"/>
          </a:xfrm>
          <a:prstGeom prst="rect">
            <a:avLst/>
          </a:prstGeom>
          <a:noFill/>
          <a:ln w="9525">
            <a:noFill/>
          </a:ln>
        </p:spPr>
        <p:txBody>
          <a:bodyPr>
            <a:spAutoFit/>
          </a:bodyPr>
          <a:p>
            <a:r>
              <a:rPr lang="zh-CN" altLang="en-US" sz="2395" dirty="0">
                <a:solidFill>
                  <a:srgbClr val="00B050"/>
                </a:solidFill>
                <a:latin typeface="微软雅黑" panose="020B0503020204020204" pitchFamily="34" charset="-122"/>
                <a:ea typeface="微软雅黑" panose="020B0503020204020204" pitchFamily="34" charset="-122"/>
              </a:rPr>
              <a:t>面向对象的方法</a:t>
            </a:r>
            <a:endParaRPr lang="zh-CN" altLang="en-US" sz="2395" dirty="0">
              <a:solidFill>
                <a:srgbClr val="00B050"/>
              </a:solidFill>
              <a:latin typeface="微软雅黑" panose="020B0503020204020204" pitchFamily="34" charset="-122"/>
              <a:ea typeface="微软雅黑" panose="020B0503020204020204" pitchFamily="34" charset="-122"/>
            </a:endParaRPr>
          </a:p>
        </p:txBody>
      </p:sp>
      <p:sp>
        <p:nvSpPr>
          <p:cNvPr id="9" name="矩形标注 8"/>
          <p:cNvSpPr/>
          <p:nvPr/>
        </p:nvSpPr>
        <p:spPr>
          <a:xfrm>
            <a:off x="5965825" y="2543175"/>
            <a:ext cx="1624013" cy="484188"/>
          </a:xfrm>
          <a:prstGeom prst="wedgeRectCallout">
            <a:avLst>
              <a:gd name="adj1" fmla="val -104674"/>
              <a:gd name="adj2" fmla="val 98699"/>
            </a:avLst>
          </a:prstGeom>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190" b="1" i="0" u="none" strike="noStrike" kern="1200" cap="none" spc="0" normalizeH="0" baseline="0" noProof="0" dirty="0" smtClean="0">
                <a:ln>
                  <a:noFill/>
                </a:ln>
                <a:solidFill>
                  <a:srgbClr val="FFFF00"/>
                </a:solidFill>
                <a:effectLst/>
                <a:uLnTx/>
                <a:uFillTx/>
                <a:latin typeface="+mn-lt"/>
                <a:ea typeface="+mn-ea"/>
                <a:cs typeface="+mn-cs"/>
              </a:rPr>
              <a:t>如何做？</a:t>
            </a:r>
            <a:endParaRPr kumimoji="1" lang="zh-CN" altLang="en-US" sz="319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382588" y="758825"/>
            <a:ext cx="8132763" cy="1138238"/>
          </a:xfrm>
        </p:spPr>
        <p:txBody>
          <a:bodyPr vert="horz" wrap="square" lIns="0" tIns="45610"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面向对象方法的需求分析：</a:t>
            </a:r>
            <a:r>
              <a:rPr kumimoji="1" lang="zh-CN" altLang="en-US" sz="50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用例建模</a:t>
            </a:r>
            <a:endParaRPr kumimoji="1" lang="zh-CN" altLang="en-US" sz="4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sp>
        <p:nvSpPr>
          <p:cNvPr id="9" name="TextBox 8"/>
          <p:cNvSpPr txBox="1"/>
          <p:nvPr/>
        </p:nvSpPr>
        <p:spPr>
          <a:xfrm>
            <a:off x="530225" y="2054225"/>
            <a:ext cx="8583613" cy="4121150"/>
          </a:xfrm>
          <a:prstGeom prst="rect">
            <a:avLst/>
          </a:prstGeom>
          <a:noFill/>
        </p:spPr>
        <p:txBody>
          <a:bodyPr lIns="91346" tIns="45673" rIns="91346" bIns="45673">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用例建模就是建立系统的用例模型</a:t>
            </a:r>
            <a:endParaRPr kumimoji="1" lang="en-US" altLang="zh-CN" sz="2600" kern="1200" cap="none" spc="0" normalizeH="0" baseline="0" noProof="0" dirty="0">
              <a:latin typeface="+mn-lt"/>
              <a:ea typeface="+mn-ea"/>
              <a:cs typeface="+mn-cs"/>
            </a:endParaRPr>
          </a:p>
          <a:p>
            <a:pPr marL="273050" marR="0" indent="-273050" defTabSz="914400" eaLnBrk="1" hangingPunct="1">
              <a:spcBef>
                <a:spcPts val="18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用例建模是一种描述</a:t>
            </a:r>
            <a:r>
              <a:rPr kumimoji="1" lang="zh-CN" altLang="en-US" sz="2600" kern="1200" cap="none" spc="0" normalizeH="0" baseline="0" noProof="0" dirty="0">
                <a:solidFill>
                  <a:srgbClr val="FF0000"/>
                </a:solidFill>
                <a:latin typeface="+mn-lt"/>
                <a:ea typeface="+mn-ea"/>
                <a:cs typeface="+mn-cs"/>
              </a:rPr>
              <a:t>应该做什么</a:t>
            </a:r>
            <a:r>
              <a:rPr kumimoji="1" lang="zh-CN" altLang="en-US" sz="2600" kern="1200" cap="none" spc="0" normalizeH="0" baseline="0" noProof="0" dirty="0">
                <a:latin typeface="+mn-lt"/>
                <a:ea typeface="+mn-ea"/>
                <a:cs typeface="+mn-cs"/>
              </a:rPr>
              <a:t>的建模技术</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在软件开发的初期，解决如下几个问题：</a:t>
            </a:r>
            <a:endParaRPr kumimoji="1" lang="en-US" altLang="zh-CN" sz="260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1</a:t>
            </a:r>
            <a:r>
              <a:rPr kumimoji="1" lang="zh-CN" altLang="en-US" sz="2600" b="0" kern="1200" cap="none" spc="0" normalizeH="0" baseline="0" noProof="0" dirty="0">
                <a:latin typeface="+mn-lt"/>
                <a:ea typeface="+mn-ea"/>
                <a:cs typeface="+mn-cs"/>
              </a:rPr>
              <a:t>）软件的用户以及涉及系统运行的各个对象是谁？</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2</a:t>
            </a:r>
            <a:r>
              <a:rPr kumimoji="1" lang="zh-CN" altLang="en-US" sz="2600" b="0" kern="1200" cap="none" spc="0" normalizeH="0" baseline="0" noProof="0" dirty="0">
                <a:latin typeface="+mn-lt"/>
                <a:ea typeface="+mn-ea"/>
                <a:cs typeface="+mn-cs"/>
              </a:rPr>
              <a:t>）软件的用户希望软件系统有什么功能？</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3</a:t>
            </a:r>
            <a:r>
              <a:rPr kumimoji="1" lang="zh-CN" altLang="en-US" sz="2600" b="0" kern="1200" cap="none" spc="0" normalizeH="0" baseline="0" noProof="0" dirty="0">
                <a:latin typeface="+mn-lt"/>
                <a:ea typeface="+mn-ea"/>
                <a:cs typeface="+mn-cs"/>
              </a:rPr>
              <a:t>）用户希望如何使用这些功能？</a:t>
            </a:r>
            <a:endParaRPr kumimoji="1" lang="en-US" altLang="zh-CN" sz="2600" b="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458788" y="473075"/>
            <a:ext cx="8201025" cy="1138238"/>
          </a:xfrm>
        </p:spPr>
        <p:txBody>
          <a:bodyPr vert="horz" wrap="square" lIns="0" tIns="45610"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smtClean="0">
                <a:ln>
                  <a:noFill/>
                </a:ln>
                <a:solidFill>
                  <a:schemeClr val="tx2"/>
                </a:solidFill>
                <a:effectLst/>
                <a:uLnTx/>
                <a:uFillTx/>
                <a:latin typeface="微软雅黑" panose="020B0503020204020204" pitchFamily="34" charset="-122"/>
                <a:ea typeface="微软雅黑" panose="020B0503020204020204" pitchFamily="34" charset="-122"/>
                <a:cs typeface="+mj-cs"/>
              </a:rPr>
              <a:t>用例建模过程</a:t>
            </a:r>
            <a:endParaRPr kumimoji="1" lang="zh-CN" altLang="en-US" sz="4395"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
        <p:nvSpPr>
          <p:cNvPr id="9219" name="矩形 4"/>
          <p:cNvSpPr>
            <a:spLocks noChangeArrowheads="1"/>
          </p:cNvSpPr>
          <p:nvPr/>
        </p:nvSpPr>
        <p:spPr bwMode="auto">
          <a:xfrm>
            <a:off x="747713" y="1984375"/>
            <a:ext cx="7480300"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46" tIns="45673" rIns="91346" bIns="45673">
            <a:spAutoFit/>
          </a:bodyPr>
          <a:lstStyle>
            <a:lvl1pPr marL="342900" indent="-342900">
              <a:defRPr kumimoji="1" sz="2400" b="1">
                <a:solidFill>
                  <a:schemeClr val="tx1"/>
                </a:solidFill>
                <a:latin typeface="黑体" panose="02010609060101010101" pitchFamily="49" charset="-122"/>
                <a:ea typeface="黑体" panose="02010609060101010101" pitchFamily="49" charset="-122"/>
              </a:defRPr>
            </a:lvl1pPr>
            <a:lvl2pPr marL="8572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1</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．定义系统</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2</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．确定参与者</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3</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．确定用例</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4</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．描述用例</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5</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．定义用例之间的关系</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6</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．确认模型</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p:txBody>
      </p:sp>
      <p:sp>
        <p:nvSpPr>
          <p:cNvPr id="4" name="文本框 3"/>
          <p:cNvSpPr txBox="1">
            <a:spLocks noChangeArrowheads="1"/>
          </p:cNvSpPr>
          <p:nvPr/>
        </p:nvSpPr>
        <p:spPr bwMode="auto">
          <a:xfrm>
            <a:off x="6215063" y="2054225"/>
            <a:ext cx="2903538" cy="267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n"/>
              <a:defRPr/>
            </a:pPr>
            <a:r>
              <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参与者：</a:t>
            </a:r>
            <a:r>
              <a:rPr kumimoji="1" lang="zh-CN" altLang="en-US" sz="2395" b="1" i="0" u="sng"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与系统直接交互，参与到系统执行过程中的各种外在对象</a:t>
            </a:r>
            <a:endParaRPr kumimoji="1" lang="en-US" altLang="zh-CN" sz="2395" b="1" i="0" u="sng"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n"/>
              <a:defRPr/>
            </a:pPr>
            <a:r>
              <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用例：</a:t>
            </a:r>
            <a:r>
              <a:rPr kumimoji="1" lang="zh-CN" altLang="en-US" sz="2395" b="1" i="0" u="sng"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用户使用系统的过程示例</a:t>
            </a:r>
            <a:endParaRPr kumimoji="1" lang="zh-CN" altLang="en-US" sz="2395" b="1" i="0" u="sng"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95250" y="327025"/>
            <a:ext cx="9288463" cy="1139825"/>
          </a:xfrm>
        </p:spPr>
        <p:txBody>
          <a:bodyPr vert="horz" wrap="square" lIns="0" tIns="45610"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用例建模</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银行储蓄账户管理系统</a:t>
            </a:r>
            <a:endParaRPr lang="zh-CN" altLang="en-US" b="1" dirty="0">
              <a:latin typeface="微软雅黑" panose="020B0503020204020204" pitchFamily="34" charset="-122"/>
              <a:ea typeface="微软雅黑" panose="020B0503020204020204" pitchFamily="34" charset="-122"/>
            </a:endParaRPr>
          </a:p>
        </p:txBody>
      </p:sp>
      <p:sp>
        <p:nvSpPr>
          <p:cNvPr id="23555" name="Rectangle 3"/>
          <p:cNvSpPr>
            <a:spLocks noGrp="1"/>
          </p:cNvSpPr>
          <p:nvPr>
            <p:ph idx="1"/>
          </p:nvPr>
        </p:nvSpPr>
        <p:spPr/>
        <p:txBody>
          <a:bodyPr vert="horz" wrap="square" lIns="91221" tIns="45610" rIns="91221" bIns="45610" anchor="t" anchorCtr="0"/>
          <a:p>
            <a:pPr marL="0" indent="849630">
              <a:lnSpc>
                <a:spcPct val="90000"/>
              </a:lnSpc>
              <a:buNone/>
            </a:pPr>
            <a:r>
              <a:rPr lang="zh-CN" altLang="en-US" dirty="0">
                <a:latin typeface="楷体_GB2312" pitchFamily="49" charset="-122"/>
              </a:rPr>
              <a:t>一个客户可以在多个银行中开设账户，一个客户也可在同一银行中开设多个不同的账户。客户可以通过银行职员进行开户、存款、取款、转账、注销账户等活动。其中转账指客户将自己的某个账户上的钱款转入同一银行的不同账户（称为银行内转账）或转入不同银行的账户（称为银行间转账）。系统管理员负责系统的账户管理及业务报表的生成。</a:t>
            </a:r>
            <a:endParaRPr lang="zh-CN" altLang="en-US" dirty="0">
              <a:latin typeface="楷体_GB2312"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455613" y="398463"/>
            <a:ext cx="8207375" cy="1139825"/>
          </a:xfrm>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确定参与者</a:t>
            </a:r>
            <a:endParaRPr lang="en-US" altLang="zh-CN" b="1" dirty="0">
              <a:latin typeface="微软雅黑" panose="020B0503020204020204" pitchFamily="34" charset="-122"/>
              <a:ea typeface="微软雅黑" panose="020B0503020204020204" pitchFamily="34" charset="-122"/>
            </a:endParaRPr>
          </a:p>
        </p:txBody>
      </p:sp>
      <p:sp>
        <p:nvSpPr>
          <p:cNvPr id="25603" name="矩形 6"/>
          <p:cNvSpPr/>
          <p:nvPr/>
        </p:nvSpPr>
        <p:spPr>
          <a:xfrm>
            <a:off x="382588" y="1838325"/>
            <a:ext cx="8424862" cy="2862263"/>
          </a:xfrm>
          <a:prstGeom prst="rect">
            <a:avLst/>
          </a:prstGeom>
          <a:noFill/>
          <a:ln w="9525">
            <a:noFill/>
          </a:ln>
        </p:spPr>
        <p:txBody>
          <a:bodyPr lIns="91430" tIns="45715" rIns="91430" bIns="45715">
            <a:spAutoFit/>
          </a:bodyPr>
          <a:p>
            <a:pPr eaLnBrk="1" hangingPunct="1">
              <a:lnSpc>
                <a:spcPct val="150000"/>
              </a:lnSpc>
              <a:buFont typeface="Wingdings" panose="05000000000000000000" pitchFamily="2" charset="2"/>
            </a:pPr>
            <a:r>
              <a:rPr lang="zh-CN" altLang="en-US" dirty="0">
                <a:solidFill>
                  <a:srgbClr val="FF0000"/>
                </a:solidFill>
                <a:latin typeface="黑体" panose="02010609060101010101" pitchFamily="49" charset="-122"/>
              </a:rPr>
              <a:t>客户</a:t>
            </a:r>
            <a:r>
              <a:rPr lang="zh-CN" altLang="en-US" dirty="0">
                <a:latin typeface="黑体" panose="02010609060101010101" pitchFamily="49" charset="-122"/>
              </a:rPr>
              <a:t>：到银行办理储蓄业务的人，负责输入密码</a:t>
            </a:r>
            <a:endParaRPr lang="zh-CN" altLang="en-US" dirty="0">
              <a:latin typeface="楷体_GB2312" pitchFamily="49" charset="-122"/>
            </a:endParaRPr>
          </a:p>
          <a:p>
            <a:pPr eaLnBrk="1" hangingPunct="1">
              <a:lnSpc>
                <a:spcPct val="150000"/>
              </a:lnSpc>
              <a:buFont typeface="Wingdings" panose="05000000000000000000" pitchFamily="2" charset="2"/>
            </a:pPr>
            <a:r>
              <a:rPr lang="zh-CN" altLang="en-US" dirty="0">
                <a:solidFill>
                  <a:srgbClr val="FF0000"/>
                </a:solidFill>
                <a:latin typeface="黑体" panose="02010609060101010101" pitchFamily="49" charset="-122"/>
              </a:rPr>
              <a:t>银行职员</a:t>
            </a:r>
            <a:r>
              <a:rPr lang="zh-CN" altLang="en-US" dirty="0">
                <a:latin typeface="黑体" panose="02010609060101010101" pitchFamily="49" charset="-122"/>
              </a:rPr>
              <a:t>：银行工作人员，代表客户进行储蓄业务的操作</a:t>
            </a:r>
            <a:endParaRPr lang="zh-CN" altLang="en-US" dirty="0">
              <a:latin typeface="黑体" panose="02010609060101010101" pitchFamily="49" charset="-122"/>
            </a:endParaRPr>
          </a:p>
          <a:p>
            <a:pPr eaLnBrk="1" hangingPunct="1">
              <a:lnSpc>
                <a:spcPct val="150000"/>
              </a:lnSpc>
              <a:buFont typeface="Wingdings" panose="05000000000000000000" pitchFamily="2" charset="2"/>
            </a:pPr>
            <a:r>
              <a:rPr lang="zh-CN" altLang="en-US" dirty="0">
                <a:solidFill>
                  <a:srgbClr val="FF0000"/>
                </a:solidFill>
                <a:latin typeface="宋体" panose="02010600030101010101" pitchFamily="2" charset="-122"/>
              </a:rPr>
              <a:t>系统管理员</a:t>
            </a:r>
            <a:r>
              <a:rPr lang="zh-CN" altLang="en-US" dirty="0">
                <a:latin typeface="宋体" panose="02010600030101010101" pitchFamily="2" charset="-122"/>
              </a:rPr>
              <a:t>：银行计算机的管理人员，负责账户的管理和业务报表的生成</a:t>
            </a:r>
            <a:endParaRPr lang="zh-CN" altLang="en-US" dirty="0">
              <a:latin typeface="宋体" panose="02010600030101010101" pitchFamily="2" charset="-122"/>
            </a:endParaRPr>
          </a:p>
          <a:p>
            <a:pPr eaLnBrk="1" hangingPunct="1">
              <a:lnSpc>
                <a:spcPct val="150000"/>
              </a:lnSpc>
              <a:buFont typeface="Wingdings" panose="05000000000000000000" pitchFamily="2" charset="2"/>
            </a:pPr>
            <a:r>
              <a:rPr lang="zh-CN" altLang="en-US" dirty="0">
                <a:solidFill>
                  <a:srgbClr val="FF0000"/>
                </a:solidFill>
                <a:latin typeface="宋体" panose="02010600030101010101" pitchFamily="2" charset="-122"/>
              </a:rPr>
              <a:t>其他银行帐务管理系统</a:t>
            </a:r>
            <a:r>
              <a:rPr lang="zh-CN" altLang="en-US" dirty="0">
                <a:latin typeface="宋体" panose="02010600030101010101" pitchFamily="2" charset="-122"/>
              </a:rPr>
              <a:t>：与本行账户进行转帐</a:t>
            </a:r>
            <a:endParaRPr lang="zh-CN" altLang="en-US" dirty="0">
              <a:latin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455613" y="398463"/>
            <a:ext cx="8207375" cy="1139825"/>
          </a:xfrm>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确定用例</a:t>
            </a:r>
            <a:endParaRPr lang="en-US" altLang="zh-CN" b="1" dirty="0">
              <a:latin typeface="微软雅黑" panose="020B0503020204020204" pitchFamily="34" charset="-122"/>
              <a:ea typeface="微软雅黑" panose="020B0503020204020204" pitchFamily="34" charset="-122"/>
            </a:endParaRPr>
          </a:p>
        </p:txBody>
      </p:sp>
      <p:sp>
        <p:nvSpPr>
          <p:cNvPr id="7" name="矩形 6"/>
          <p:cNvSpPr/>
          <p:nvPr/>
        </p:nvSpPr>
        <p:spPr>
          <a:xfrm>
            <a:off x="166688" y="1838325"/>
            <a:ext cx="8640763" cy="4154488"/>
          </a:xfrm>
          <a:prstGeom prst="rect">
            <a:avLst/>
          </a:prstGeom>
        </p:spPr>
        <p:txBody>
          <a:bodyPr lIns="91430" tIns="45715" rIns="91430" bIns="45715">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从系统的需求陈述可知：</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银行职员</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需要系统提供</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开户</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存款</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取款</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注销账户</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等功能，这些功能都包含了</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校验密码</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的功能，而校验密码功能又需要客户的参与。</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系统管理员</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需要系统提供</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账户管理</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报表生成</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功能。</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转账功能可分为</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银行内转账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银行间转账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，因此银行内转账用例和银行间转账用例都可以继承基本转账用例。</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8" name="Picture 3"/>
          <p:cNvPicPr>
            <a:picLocks noChangeAspect="1"/>
          </p:cNvPicPr>
          <p:nvPr/>
        </p:nvPicPr>
        <p:blipFill>
          <a:blip r:embed="rId1"/>
          <a:stretch>
            <a:fillRect/>
          </a:stretch>
        </p:blipFill>
        <p:spPr>
          <a:xfrm>
            <a:off x="1174750" y="284163"/>
            <a:ext cx="6334125" cy="62230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455613" y="109538"/>
            <a:ext cx="8207375" cy="1139825"/>
          </a:xfrm>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开户用例描述</a:t>
            </a:r>
            <a:endParaRPr lang="zh-CN" altLang="en-US" b="1" dirty="0">
              <a:latin typeface="微软雅黑" panose="020B0503020204020204" pitchFamily="34" charset="-122"/>
              <a:ea typeface="微软雅黑" panose="020B0503020204020204" pitchFamily="34" charset="-122"/>
            </a:endParaRPr>
          </a:p>
        </p:txBody>
      </p:sp>
      <p:sp>
        <p:nvSpPr>
          <p:cNvPr id="31747" name="Rectangle 3"/>
          <p:cNvSpPr>
            <a:spLocks noGrp="1"/>
          </p:cNvSpPr>
          <p:nvPr>
            <p:ph idx="1"/>
          </p:nvPr>
        </p:nvSpPr>
        <p:spPr>
          <a:xfrm>
            <a:off x="311150" y="1128713"/>
            <a:ext cx="8662988" cy="4381500"/>
          </a:xfrm>
        </p:spPr>
        <p:txBody>
          <a:bodyPr vert="horz" wrap="square" lIns="91221" tIns="45610" rIns="91221" bIns="45610" anchor="t" anchorCtr="0"/>
          <a:p>
            <a:pPr marL="0" indent="0">
              <a:lnSpc>
                <a:spcPct val="90000"/>
              </a:lnSpc>
              <a:buNone/>
            </a:pPr>
            <a:r>
              <a:rPr lang="zh-CN" altLang="en-US" sz="2400" b="1" dirty="0">
                <a:solidFill>
                  <a:srgbClr val="FF0000"/>
                </a:solidFill>
                <a:latin typeface="楷体_GB2312" pitchFamily="49" charset="-122"/>
              </a:rPr>
              <a:t>用例名称</a:t>
            </a:r>
            <a:r>
              <a:rPr lang="zh-CN" altLang="en-US" sz="2400" b="1" dirty="0">
                <a:latin typeface="楷体_GB2312" pitchFamily="49" charset="-122"/>
              </a:rPr>
              <a:t>：开户</a:t>
            </a:r>
            <a:endParaRPr lang="en-US" altLang="zh-CN" sz="2400" b="1" dirty="0">
              <a:latin typeface="楷体_GB2312" pitchFamily="49" charset="-122"/>
            </a:endParaRPr>
          </a:p>
          <a:p>
            <a:pPr marL="0" indent="0">
              <a:lnSpc>
                <a:spcPct val="90000"/>
              </a:lnSpc>
              <a:buNone/>
            </a:pPr>
            <a:r>
              <a:rPr lang="zh-CN" altLang="en-US" sz="2400" b="1" dirty="0">
                <a:solidFill>
                  <a:srgbClr val="FF0000"/>
                </a:solidFill>
                <a:latin typeface="楷体_GB2312" pitchFamily="49" charset="-122"/>
              </a:rPr>
              <a:t>用例编号</a:t>
            </a:r>
            <a:r>
              <a:rPr lang="zh-CN" altLang="en-US" sz="2400" b="1" dirty="0">
                <a:latin typeface="楷体_GB2312" pitchFamily="49" charset="-122"/>
              </a:rPr>
              <a:t>：</a:t>
            </a:r>
            <a:r>
              <a:rPr lang="en-US" altLang="zh-CN" sz="2400" b="1" dirty="0">
                <a:latin typeface="楷体_GB2312" pitchFamily="49" charset="-122"/>
              </a:rPr>
              <a:t>UC-1</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参与者</a:t>
            </a:r>
            <a:r>
              <a:rPr lang="zh-CN" altLang="en-US" sz="2400" b="1" dirty="0">
                <a:latin typeface="楷体_GB2312" pitchFamily="49" charset="-122"/>
              </a:rPr>
              <a:t>：银行职员，客户</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前置条件</a:t>
            </a:r>
            <a:r>
              <a:rPr lang="zh-CN" altLang="en-US" sz="2400" b="1" dirty="0">
                <a:latin typeface="楷体_GB2312" pitchFamily="49" charset="-122"/>
              </a:rPr>
              <a:t>：一个合法的银行职员已登录到该系统</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事件流</a:t>
            </a:r>
            <a:r>
              <a:rPr lang="zh-CN" altLang="en-US" sz="2400" b="1" dirty="0">
                <a:latin typeface="楷体_GB2312" pitchFamily="49" charset="-122"/>
              </a:rPr>
              <a:t>：</a:t>
            </a:r>
            <a:endParaRPr lang="zh-CN" altLang="en-US" sz="24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a:t>
            </a:r>
            <a:r>
              <a:rPr lang="zh-CN" altLang="en-US" sz="2000" b="1" dirty="0">
                <a:latin typeface="楷体_GB2312" pitchFamily="49" charset="-122"/>
              </a:rPr>
              <a:t>银行职员在系统主页，点击开户按钮</a:t>
            </a:r>
            <a:r>
              <a:rPr lang="zh-CN" altLang="en-US" sz="2200" b="1" dirty="0">
                <a:latin typeface="楷体_GB2312" pitchFamily="49" charset="-122"/>
              </a:rPr>
              <a:t>；</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2.</a:t>
            </a:r>
            <a:r>
              <a:rPr lang="zh-CN" altLang="en-US" sz="2200" b="1" dirty="0">
                <a:latin typeface="楷体_GB2312" pitchFamily="49" charset="-122"/>
              </a:rPr>
              <a:t>系统弹出开户页面，并显示提示输入客户信息的消息；</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3.</a:t>
            </a:r>
            <a:r>
              <a:rPr lang="zh-CN" altLang="en-US" sz="2000" b="1" dirty="0">
                <a:latin typeface="楷体_GB2312" pitchFamily="49" charset="-122"/>
              </a:rPr>
              <a:t>银行职员</a:t>
            </a:r>
            <a:r>
              <a:rPr lang="zh-CN" altLang="en-US" sz="2200" b="1" dirty="0">
                <a:latin typeface="楷体_GB2312" pitchFamily="49" charset="-122"/>
              </a:rPr>
              <a:t>输入客户信息（姓名、地址、身份证号等）；</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4.</a:t>
            </a:r>
            <a:r>
              <a:rPr lang="zh-CN" altLang="en-US" sz="2200" b="1" dirty="0">
                <a:latin typeface="楷体_GB2312" pitchFamily="49" charset="-122"/>
              </a:rPr>
              <a:t>系统在开户页面显示给客户分配的账号；</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5.</a:t>
            </a:r>
            <a:r>
              <a:rPr lang="zh-CN" altLang="en-US" sz="2200" b="1" dirty="0">
                <a:latin typeface="楷体_GB2312" pitchFamily="49" charset="-122"/>
              </a:rPr>
              <a:t>系统提示客户输入密码；</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6.</a:t>
            </a:r>
            <a:r>
              <a:rPr lang="zh-CN" altLang="en-US" sz="2200" b="1" dirty="0">
                <a:latin typeface="楷体_GB2312" pitchFamily="49" charset="-122"/>
              </a:rPr>
              <a:t>客户输入密码；</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7.</a:t>
            </a:r>
            <a:r>
              <a:rPr lang="zh-CN" altLang="en-US" sz="2200" b="1" dirty="0">
                <a:latin typeface="楷体_GB2312" pitchFamily="49" charset="-122"/>
              </a:rPr>
              <a:t>系统提示客户再次输入密码；</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8.</a:t>
            </a:r>
            <a:r>
              <a:rPr lang="zh-CN" altLang="en-US" sz="2200" b="1" dirty="0">
                <a:latin typeface="楷体_GB2312" pitchFamily="49" charset="-122"/>
              </a:rPr>
              <a:t>客户再次输入密码；</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9.</a:t>
            </a:r>
            <a:r>
              <a:rPr lang="zh-CN" altLang="en-US" sz="2200" b="1" dirty="0">
                <a:latin typeface="楷体_GB2312" pitchFamily="49" charset="-122"/>
              </a:rPr>
              <a:t>系统检测客户输入的两次密码是否一致，如果不一致则回到第</a:t>
            </a:r>
            <a:r>
              <a:rPr lang="en-US" altLang="zh-CN" sz="2200" b="1" dirty="0">
                <a:latin typeface="楷体_GB2312" pitchFamily="49" charset="-122"/>
              </a:rPr>
              <a:t>4</a:t>
            </a:r>
            <a:r>
              <a:rPr lang="zh-CN" altLang="en-US" sz="2200" b="1" dirty="0">
                <a:latin typeface="楷体_GB2312" pitchFamily="49" charset="-122"/>
              </a:rPr>
              <a:t>步，否则继续；</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10.</a:t>
            </a:r>
            <a:r>
              <a:rPr lang="zh-CN" altLang="en-US" sz="2200" b="1" dirty="0">
                <a:latin typeface="楷体_GB2312" pitchFamily="49" charset="-122"/>
              </a:rPr>
              <a:t>系统在账户库中添加新账户；</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11.</a:t>
            </a:r>
            <a:r>
              <a:rPr lang="zh-CN" altLang="en-US" sz="2200" b="1" dirty="0">
                <a:latin typeface="楷体_GB2312" pitchFamily="49" charset="-122"/>
              </a:rPr>
              <a:t> 用例结束。</a:t>
            </a:r>
            <a:endParaRPr lang="zh-CN" altLang="en-US" sz="22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后置条件</a:t>
            </a:r>
            <a:r>
              <a:rPr lang="zh-CN" altLang="en-US" sz="2400" b="1" dirty="0">
                <a:latin typeface="楷体_GB2312" pitchFamily="49" charset="-122"/>
              </a:rPr>
              <a:t>：在账户库中增加了一个新账户，得到一张新存折 </a:t>
            </a:r>
            <a:endParaRPr lang="zh-CN" altLang="en-US" sz="2400" b="1" dirty="0">
              <a:latin typeface="楷体_GB2312"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455613" y="398463"/>
            <a:ext cx="8207375" cy="1139825"/>
          </a:xfrm>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取款用况描述</a:t>
            </a:r>
            <a:endParaRPr lang="zh-CN" altLang="en-US" b="1" dirty="0">
              <a:latin typeface="微软雅黑" panose="020B0503020204020204" pitchFamily="34" charset="-122"/>
              <a:ea typeface="微软雅黑" panose="020B0503020204020204" pitchFamily="34" charset="-122"/>
            </a:endParaRPr>
          </a:p>
        </p:txBody>
      </p:sp>
      <p:sp>
        <p:nvSpPr>
          <p:cNvPr id="33795" name="Rectangle 3"/>
          <p:cNvSpPr>
            <a:spLocks noGrp="1"/>
          </p:cNvSpPr>
          <p:nvPr>
            <p:ph idx="1"/>
          </p:nvPr>
        </p:nvSpPr>
        <p:spPr>
          <a:xfrm>
            <a:off x="455613" y="1550988"/>
            <a:ext cx="8662987" cy="4381500"/>
          </a:xfrm>
        </p:spPr>
        <p:txBody>
          <a:bodyPr vert="horz" wrap="square" lIns="91221" tIns="45610" rIns="91221" bIns="45610" anchor="t" anchorCtr="0"/>
          <a:p>
            <a:pPr marL="895350" indent="-895350">
              <a:buNone/>
            </a:pPr>
            <a:r>
              <a:rPr lang="zh-CN" altLang="en-US" sz="2400" b="1" dirty="0">
                <a:solidFill>
                  <a:srgbClr val="FF0000"/>
                </a:solidFill>
              </a:rPr>
              <a:t>用况名称</a:t>
            </a:r>
            <a:r>
              <a:rPr lang="zh-CN" altLang="en-US" sz="2400" b="1" dirty="0"/>
              <a:t>：取款</a:t>
            </a:r>
            <a:endParaRPr lang="en-US" altLang="zh-CN" sz="2400" b="1" dirty="0"/>
          </a:p>
          <a:p>
            <a:pPr marL="895350" indent="-895350">
              <a:buNone/>
            </a:pPr>
            <a:r>
              <a:rPr lang="zh-CN" altLang="en-US" sz="2400" b="1" dirty="0">
                <a:solidFill>
                  <a:srgbClr val="FF0000"/>
                </a:solidFill>
              </a:rPr>
              <a:t>用例编号</a:t>
            </a:r>
            <a:r>
              <a:rPr lang="zh-CN" altLang="en-US" sz="2400" b="1" dirty="0"/>
              <a:t>：</a:t>
            </a:r>
            <a:r>
              <a:rPr lang="en-US" altLang="zh-CN" sz="2400" b="1" dirty="0"/>
              <a:t>UC-2</a:t>
            </a:r>
            <a:endParaRPr lang="zh-CN" altLang="en-US" sz="2400" b="1" dirty="0"/>
          </a:p>
          <a:p>
            <a:pPr marL="895350" indent="-895350">
              <a:spcBef>
                <a:spcPct val="0"/>
              </a:spcBef>
              <a:buNone/>
            </a:pPr>
            <a:r>
              <a:rPr lang="zh-CN" altLang="en-US" sz="2400" b="1" dirty="0">
                <a:solidFill>
                  <a:srgbClr val="FF0000"/>
                </a:solidFill>
              </a:rPr>
              <a:t>参与者</a:t>
            </a:r>
            <a:r>
              <a:rPr lang="zh-CN" altLang="en-US" sz="2400" b="1" dirty="0"/>
              <a:t>：银行职员</a:t>
            </a:r>
            <a:endParaRPr lang="en-US" altLang="zh-CN" sz="2400" b="1" dirty="0"/>
          </a:p>
          <a:p>
            <a:pPr marL="895350" indent="-895350">
              <a:spcBef>
                <a:spcPct val="0"/>
              </a:spcBef>
              <a:buNone/>
            </a:pPr>
            <a:r>
              <a:rPr lang="zh-CN" altLang="en-US" sz="2400" b="1" dirty="0">
                <a:solidFill>
                  <a:srgbClr val="FF0000"/>
                </a:solidFill>
              </a:rPr>
              <a:t>前置条件</a:t>
            </a:r>
            <a:r>
              <a:rPr lang="zh-CN" altLang="en-US" sz="2400" b="1" dirty="0"/>
              <a:t>：一个合法的银行职员已登录到该系统</a:t>
            </a:r>
            <a:endParaRPr lang="zh-CN" altLang="en-US" sz="2400" b="1" dirty="0"/>
          </a:p>
          <a:p>
            <a:pPr marL="895350" indent="-895350">
              <a:spcBef>
                <a:spcPct val="0"/>
              </a:spcBef>
              <a:buNone/>
            </a:pPr>
            <a:r>
              <a:rPr lang="zh-CN" altLang="en-US" sz="2400" b="1" dirty="0">
                <a:solidFill>
                  <a:srgbClr val="FF0000"/>
                </a:solidFill>
              </a:rPr>
              <a:t>事件流</a:t>
            </a:r>
            <a:r>
              <a:rPr lang="zh-CN" altLang="en-US" sz="2400" b="1" dirty="0"/>
              <a:t>：</a:t>
            </a:r>
            <a:endParaRPr lang="zh-CN" altLang="en-US" sz="2400" b="1" dirty="0"/>
          </a:p>
          <a:p>
            <a:pPr marL="895350" indent="-895350">
              <a:spcBef>
                <a:spcPct val="0"/>
              </a:spcBef>
              <a:buNone/>
            </a:pPr>
            <a:r>
              <a:rPr lang="zh-CN" altLang="en-US" sz="2400" b="1" dirty="0"/>
              <a:t>   </a:t>
            </a:r>
            <a:r>
              <a:rPr lang="zh-CN" altLang="en-US" sz="2400" b="1" dirty="0">
                <a:solidFill>
                  <a:srgbClr val="FF0000"/>
                </a:solidFill>
              </a:rPr>
              <a:t>基本路径</a:t>
            </a:r>
            <a:r>
              <a:rPr lang="zh-CN" altLang="en-US" sz="2400" b="1" dirty="0"/>
              <a:t>：</a:t>
            </a:r>
            <a:endParaRPr lang="zh-CN" altLang="en-US" sz="2400" b="1" dirty="0"/>
          </a:p>
          <a:p>
            <a:pPr marL="1260475" lvl="1" indent="-895350">
              <a:spcBef>
                <a:spcPct val="0"/>
              </a:spcBef>
              <a:buNone/>
            </a:pPr>
            <a:r>
              <a:rPr lang="en-US" altLang="zh-CN" sz="2200" b="1" dirty="0"/>
              <a:t>1.</a:t>
            </a:r>
            <a:r>
              <a:rPr lang="zh-CN" altLang="en-US" sz="2200" b="1" dirty="0"/>
              <a:t>银行职员在系统主页选择取款功能；</a:t>
            </a:r>
            <a:endParaRPr lang="zh-CN" altLang="en-US" sz="2200" b="1" dirty="0"/>
          </a:p>
          <a:p>
            <a:pPr marL="1260475" lvl="1" indent="-895350">
              <a:spcBef>
                <a:spcPct val="0"/>
              </a:spcBef>
              <a:buNone/>
            </a:pPr>
            <a:r>
              <a:rPr lang="en-US" altLang="zh-CN" sz="2200" b="1" dirty="0"/>
              <a:t>2.</a:t>
            </a:r>
            <a:r>
              <a:rPr lang="zh-CN" altLang="en-US" sz="2200" b="1" dirty="0"/>
              <a:t>银行职员输入客户信息（姓名、账号等）；</a:t>
            </a:r>
            <a:endParaRPr lang="en-US" altLang="zh-CN" sz="2200" b="1" dirty="0"/>
          </a:p>
          <a:p>
            <a:pPr marL="1260475" lvl="1" indent="-895350">
              <a:spcBef>
                <a:spcPct val="0"/>
              </a:spcBef>
              <a:buNone/>
            </a:pPr>
            <a:r>
              <a:rPr lang="en-US" altLang="zh-CN" sz="2200" b="1" dirty="0"/>
              <a:t>3.</a:t>
            </a:r>
            <a:r>
              <a:rPr lang="zh-CN" altLang="en-US" sz="2200" b="1" dirty="0"/>
              <a:t>系统调取客户的账户信息；</a:t>
            </a:r>
            <a:endParaRPr lang="en-US" altLang="zh-CN" sz="2200" b="1" dirty="0"/>
          </a:p>
          <a:p>
            <a:pPr marL="1260475" lvl="1" indent="-895350">
              <a:spcBef>
                <a:spcPct val="0"/>
              </a:spcBef>
              <a:buNone/>
            </a:pPr>
            <a:r>
              <a:rPr lang="en-US" altLang="zh-CN" sz="2200" b="1" dirty="0"/>
              <a:t>4.</a:t>
            </a:r>
            <a:r>
              <a:rPr lang="zh-CN" altLang="en-US" sz="2200" b="1" dirty="0"/>
              <a:t>系统提示客户输入密码；</a:t>
            </a:r>
            <a:endParaRPr lang="en-US" altLang="zh-CN" sz="2200" b="1" dirty="0"/>
          </a:p>
          <a:p>
            <a:pPr marL="1260475" lvl="1" indent="-895350">
              <a:spcBef>
                <a:spcPct val="0"/>
              </a:spcBef>
              <a:buNone/>
            </a:pPr>
            <a:r>
              <a:rPr lang="en-US" altLang="zh-CN" sz="2200" b="1" dirty="0"/>
              <a:t>5. </a:t>
            </a:r>
            <a:r>
              <a:rPr lang="zh-CN" altLang="en-US" sz="2200" b="1" dirty="0"/>
              <a:t>系统校验客户密码；</a:t>
            </a:r>
            <a:endParaRPr lang="en-US" altLang="zh-CN" sz="2200" b="1" dirty="0"/>
          </a:p>
          <a:p>
            <a:pPr marL="1260475" lvl="1" indent="-895350">
              <a:spcBef>
                <a:spcPct val="0"/>
              </a:spcBef>
              <a:buNone/>
            </a:pPr>
            <a:r>
              <a:rPr lang="en-US" altLang="zh-CN" sz="2200" b="1" dirty="0"/>
              <a:t>6.</a:t>
            </a:r>
            <a:r>
              <a:rPr lang="zh-CN" altLang="en-US" sz="2200" b="1" dirty="0"/>
              <a:t>系统提示银行职员输入取款金额；</a:t>
            </a:r>
            <a:endParaRPr lang="en-US" altLang="zh-CN" sz="2200" b="1" dirty="0"/>
          </a:p>
          <a:p>
            <a:pPr marL="1260475" lvl="1" indent="-895350">
              <a:spcBef>
                <a:spcPct val="0"/>
              </a:spcBef>
              <a:buNone/>
            </a:pPr>
            <a:r>
              <a:rPr lang="en-US" altLang="zh-CN" sz="2200" b="1" dirty="0"/>
              <a:t>7.</a:t>
            </a:r>
            <a:r>
              <a:rPr lang="zh-CN" altLang="en-US" sz="2200" b="1" dirty="0"/>
              <a:t>银行职员输入金额；</a:t>
            </a:r>
            <a:endParaRPr lang="en-US" altLang="zh-CN" sz="2200" b="1" dirty="0"/>
          </a:p>
          <a:p>
            <a:pPr marL="1260475" lvl="1" indent="-895350">
              <a:spcBef>
                <a:spcPct val="0"/>
              </a:spcBef>
              <a:buNone/>
            </a:pPr>
            <a:r>
              <a:rPr lang="en-US" altLang="zh-CN" sz="2200" b="1" dirty="0"/>
              <a:t>8.</a:t>
            </a:r>
            <a:r>
              <a:rPr lang="zh-CN" altLang="en-US" sz="2200" b="1" dirty="0"/>
              <a:t>系统打印取款单，由银行职员交给客户签字</a:t>
            </a:r>
            <a:endParaRPr lang="zh-CN" altLang="en-US" sz="22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5" name="Rectangle 3"/>
          <p:cNvSpPr>
            <a:spLocks noGrp="1" noChangeArrowheads="1"/>
          </p:cNvSpPr>
          <p:nvPr>
            <p:ph idx="1"/>
          </p:nvPr>
        </p:nvSpPr>
        <p:spPr>
          <a:xfrm>
            <a:off x="527050" y="974725"/>
            <a:ext cx="8591550" cy="4381500"/>
          </a:xfrm>
        </p:spPr>
        <p:txBody>
          <a:bodyPr vert="horz" wrap="square" lIns="91221" tIns="45610" rIns="91221" bIns="45610" numCol="1" anchor="t" anchorCtr="0" compatLnSpc="1"/>
          <a:lstStyle/>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9.</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系统建立取款事件记录，并更新账户信息</a:t>
            </a:r>
            <a:endPar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10. </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系统打印存折，用例结束</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362585" marR="0" lvl="0" indent="-362585" algn="l" defTabSz="914400" rtl="0" eaLnBrk="0" fontAlgn="base" latinLnBrk="0" hangingPunct="0">
              <a:lnSpc>
                <a:spcPct val="100000"/>
              </a:lnSpc>
              <a:spcBef>
                <a:spcPct val="0"/>
              </a:spcBef>
              <a:spcAft>
                <a:spcPct val="0"/>
              </a:spcAft>
              <a:buClr>
                <a:srgbClr val="0BD0D9"/>
              </a:buClr>
              <a:buSzPct val="95000"/>
              <a:buFont typeface="Wingdings 2" panose="05020102010507070707" pitchFamily="18" charset="2"/>
              <a:buNone/>
              <a:defRPr/>
            </a:pPr>
            <a:r>
              <a:rPr kumimoji="0" lang="zh-CN" altLang="en-US" sz="2400" b="1" i="0" u="none" strike="noStrike" kern="1200" cap="none" spc="0" normalizeH="0" baseline="0" noProof="0" dirty="0">
                <a:ln>
                  <a:noFill/>
                </a:ln>
                <a:solidFill>
                  <a:srgbClr val="FF0000"/>
                </a:solidFill>
                <a:effectLst/>
                <a:uLnTx/>
                <a:uFillTx/>
                <a:latin typeface="楷体_GB2312" pitchFamily="49" charset="-122"/>
                <a:ea typeface="宋体" panose="02010600030101010101" pitchFamily="2" charset="-122"/>
                <a:cs typeface="+mn-cs"/>
              </a:rPr>
              <a:t>可选路径</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3a:</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客户信息与账户信息不一致</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3a1. </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系统显示错误信息，并提示可以重新输入或结束用例</a:t>
            </a:r>
            <a:r>
              <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3b: </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该账户被冻结（如因挂失而冻结）</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3b1.</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系统显示冻结信息并结束用例</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5a: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客户两次输入的密码不一致</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5a1.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系统提示客户重新输入密码，或结束当前用例</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7a: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账户的余款小于取款金额</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7a1.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系统显示账户的余款小于取款金额信息，要求重新输入金额</a:t>
            </a:r>
            <a:endPar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8a: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客户取消本次取款</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8a1: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客户拒绝签字</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8a2.</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系统结束当前用例</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362585" marR="0" lvl="1" indent="-362585" algn="l" defTabSz="914400" rtl="0" eaLnBrk="0" fontAlgn="base" latinLnBrk="0" hangingPunct="0">
              <a:lnSpc>
                <a:spcPct val="100000"/>
              </a:lnSpc>
              <a:spcBef>
                <a:spcPct val="0"/>
              </a:spcBef>
              <a:spcAft>
                <a:spcPct val="0"/>
              </a:spcAft>
              <a:buClr>
                <a:srgbClr val="0BD0D9"/>
              </a:buClr>
              <a:buSzPct val="95000"/>
              <a:buFont typeface="Wingdings 2" panose="05020102010507070707" pitchFamily="18" charset="2"/>
              <a:buNone/>
              <a:defRPr/>
            </a:pPr>
            <a:r>
              <a:rPr kumimoji="0" lang="zh-CN" altLang="en-US" sz="2400" b="1" i="0" u="none" strike="noStrike" kern="1200" cap="none" spc="0" normalizeH="0" baseline="0" noProof="0" dirty="0" smtClean="0">
                <a:ln>
                  <a:noFill/>
                </a:ln>
                <a:solidFill>
                  <a:srgbClr val="FF0000"/>
                </a:solidFill>
                <a:effectLst/>
                <a:uLnTx/>
                <a:uFillTx/>
                <a:latin typeface="楷体_GB2312" pitchFamily="49" charset="-122"/>
                <a:ea typeface="宋体" panose="02010600030101010101" pitchFamily="2" charset="-122"/>
                <a:cs typeface="+mn-cs"/>
              </a:rPr>
              <a:t>后置条件</a:t>
            </a:r>
            <a:endParaRPr kumimoji="0" lang="zh-CN" altLang="en-US" sz="2400" b="1" i="0" u="none" strike="noStrike" kern="1200" cap="none" spc="0" normalizeH="0" baseline="0" noProof="0" dirty="0" smtClean="0">
              <a:ln>
                <a:noFill/>
              </a:ln>
              <a:solidFill>
                <a:srgbClr val="FF0000"/>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如果取款成功，客户账户中的余额被减少，否则余额不变。</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endPar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a:xfrm>
            <a:off x="1519767" y="2206837"/>
            <a:ext cx="6686973" cy="1139825"/>
          </a:xfrm>
        </p:spPr>
        <p:txBody>
          <a:bodyPr vert="horz" wrap="square" lIns="0" tIns="45593" rIns="0" bIns="0" anchor="b" anchorCtr="0"/>
          <a:p>
            <a:pPr eaLnBrk="1" hangingPunct="1"/>
            <a:r>
              <a:rPr lang="zh-CN" altLang="en-US" b="1" dirty="0">
                <a:latin typeface="微软雅黑" panose="020B0503020204020204" pitchFamily="34" charset="-122"/>
                <a:ea typeface="微软雅黑" panose="020B0503020204020204" pitchFamily="34" charset="-122"/>
              </a:rPr>
              <a:t>第</a:t>
            </a:r>
            <a:r>
              <a:rPr lang="zh-CN" altLang="en-US" b="1" dirty="0">
                <a:latin typeface="微软雅黑" panose="020B0503020204020204" pitchFamily="34" charset="-122"/>
                <a:ea typeface="微软雅黑" panose="020B0503020204020204" pitchFamily="34" charset="-122"/>
              </a:rPr>
              <a:t>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393700" y="1123950"/>
            <a:ext cx="834072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面向过程（结构化）的软件开发方法</a:t>
            </a:r>
            <a:endParaRPr lang="zh-CN" altLang="en-US" b="1" dirty="0">
              <a:latin typeface="微软雅黑" panose="020B0503020204020204" pitchFamily="34" charset="-122"/>
              <a:ea typeface="微软雅黑" panose="020B0503020204020204" pitchFamily="34" charset="-122"/>
            </a:endParaRPr>
          </a:p>
        </p:txBody>
      </p:sp>
      <p:sp>
        <p:nvSpPr>
          <p:cNvPr id="8195" name="Rectangle 3"/>
          <p:cNvSpPr>
            <a:spLocks noGrp="1"/>
          </p:cNvSpPr>
          <p:nvPr>
            <p:ph idx="1"/>
          </p:nvPr>
        </p:nvSpPr>
        <p:spPr>
          <a:xfrm>
            <a:off x="455613" y="2635250"/>
            <a:ext cx="8207375" cy="3949700"/>
          </a:xfrm>
        </p:spPr>
        <p:txBody>
          <a:bodyPr vert="horz" wrap="square" lIns="91221" tIns="45610" rIns="91221" bIns="45610" anchor="t" anchorCtr="0"/>
          <a:p>
            <a:pPr eaLnBrk="1" hangingPunct="1">
              <a:buFont typeface="Wingdings" panose="05000000000000000000" pitchFamily="2" charset="2"/>
              <a:buChar char="p"/>
            </a:pPr>
            <a:r>
              <a:rPr lang="zh-CN" altLang="en-US" sz="3200" dirty="0"/>
              <a:t>一种</a:t>
            </a:r>
            <a:r>
              <a:rPr lang="zh-CN" altLang="en-US" sz="3200" b="1" dirty="0">
                <a:solidFill>
                  <a:srgbClr val="FF0000"/>
                </a:solidFill>
              </a:rPr>
              <a:t>面向数据流</a:t>
            </a:r>
            <a:r>
              <a:rPr lang="zh-CN" altLang="en-US" sz="3200" dirty="0"/>
              <a:t>的传统软件开发方法</a:t>
            </a:r>
            <a:endParaRPr lang="zh-CN" altLang="en-US" sz="3200" dirty="0"/>
          </a:p>
          <a:p>
            <a:pPr eaLnBrk="1" hangingPunct="1">
              <a:buFont typeface="Wingdings" panose="05000000000000000000" pitchFamily="2" charset="2"/>
              <a:buChar char="p"/>
            </a:pPr>
            <a:r>
              <a:rPr lang="zh-CN" altLang="en-US" sz="3200" dirty="0"/>
              <a:t>以</a:t>
            </a:r>
            <a:r>
              <a:rPr lang="zh-CN" altLang="en-US" sz="3200" b="1" dirty="0">
                <a:solidFill>
                  <a:srgbClr val="FF0000"/>
                </a:solidFill>
              </a:rPr>
              <a:t>数据流</a:t>
            </a:r>
            <a:r>
              <a:rPr lang="zh-CN" altLang="en-US" sz="3200" dirty="0"/>
              <a:t>为中心、构建软件的分析模型和设计模型</a:t>
            </a:r>
            <a:endParaRPr lang="zh-CN" altLang="en-US" sz="3200" dirty="0"/>
          </a:p>
          <a:p>
            <a:pPr eaLnBrk="1" hangingPunct="1">
              <a:buFont typeface="Wingdings" panose="05000000000000000000" pitchFamily="2" charset="2"/>
              <a:buChar char="p"/>
            </a:pPr>
            <a:r>
              <a:rPr lang="zh-CN" altLang="en-US" sz="3200" dirty="0"/>
              <a:t>分为：</a:t>
            </a:r>
            <a:endParaRPr lang="zh-CN" altLang="en-US" sz="3200" dirty="0"/>
          </a:p>
          <a:p>
            <a:pPr lvl="1" eaLnBrk="1" hangingPunct="1">
              <a:buFont typeface="Wingdings" panose="05000000000000000000" pitchFamily="2" charset="2"/>
              <a:buChar char="ü"/>
            </a:pPr>
            <a:r>
              <a:rPr lang="zh-CN" altLang="en-US" dirty="0"/>
              <a:t>结构化分析</a:t>
            </a:r>
            <a:r>
              <a:rPr lang="en-US" altLang="zh-CN" dirty="0"/>
              <a:t>(Structured Analysis </a:t>
            </a:r>
            <a:r>
              <a:rPr lang="zh-CN" altLang="en-US" dirty="0"/>
              <a:t>简称</a:t>
            </a:r>
            <a:r>
              <a:rPr lang="en-US" altLang="zh-CN" dirty="0"/>
              <a:t>SA)</a:t>
            </a:r>
            <a:endParaRPr lang="en-US" altLang="zh-CN" dirty="0"/>
          </a:p>
          <a:p>
            <a:pPr lvl="1" eaLnBrk="1" hangingPunct="1">
              <a:buFont typeface="Wingdings" panose="05000000000000000000" pitchFamily="2" charset="2"/>
              <a:buChar char="ü"/>
            </a:pPr>
            <a:r>
              <a:rPr lang="zh-CN" altLang="en-US" dirty="0"/>
              <a:t>结构化设计</a:t>
            </a:r>
            <a:r>
              <a:rPr lang="en-US" altLang="zh-CN" dirty="0"/>
              <a:t>(Structuresd Design </a:t>
            </a:r>
            <a:r>
              <a:rPr lang="zh-CN" altLang="en-US" dirty="0"/>
              <a:t>简称</a:t>
            </a:r>
            <a:r>
              <a:rPr lang="en-US" altLang="zh-CN" dirty="0"/>
              <a:t>SD)</a:t>
            </a:r>
            <a:endParaRPr lang="en-US" altLang="zh-CN" dirty="0"/>
          </a:p>
          <a:p>
            <a:pPr lvl="1" eaLnBrk="1" hangingPunct="1">
              <a:buFont typeface="Wingdings" panose="05000000000000000000" pitchFamily="2" charset="2"/>
              <a:buChar char="ü"/>
            </a:pPr>
            <a:r>
              <a:rPr lang="zh-CN" altLang="en-US" dirty="0"/>
              <a:t>结构化程序设计</a:t>
            </a:r>
            <a:r>
              <a:rPr lang="en-US" altLang="zh-CN" dirty="0"/>
              <a:t>(Structured Programmin </a:t>
            </a:r>
            <a:r>
              <a:rPr lang="zh-CN" altLang="en-US" dirty="0"/>
              <a:t>简称</a:t>
            </a:r>
            <a:r>
              <a:rPr lang="en-US" altLang="zh-CN" dirty="0"/>
              <a:t>SP)</a:t>
            </a:r>
            <a:endParaRPr lang="en-US" altLang="zh-CN"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0" tIns="45610" rIns="0" bIns="0" anchor="b" anchorCtr="0"/>
          <a:p>
            <a:pPr eaLnBrk="1" hangingPunct="1"/>
            <a:r>
              <a:rPr lang="zh-CN" altLang="zh-CN" b="1" dirty="0">
                <a:latin typeface="微软雅黑" panose="020B0503020204020204" pitchFamily="34" charset="-122"/>
                <a:ea typeface="微软雅黑" panose="020B0503020204020204" pitchFamily="34" charset="-122"/>
              </a:rPr>
              <a:t>结构化分析</a:t>
            </a:r>
            <a:r>
              <a:rPr lang="zh-CN" altLang="en-US" b="1" dirty="0">
                <a:latin typeface="微软雅黑" panose="020B0503020204020204" pitchFamily="34" charset="-122"/>
                <a:ea typeface="微软雅黑" panose="020B0503020204020204" pitchFamily="34" charset="-122"/>
              </a:rPr>
              <a:t>概述</a:t>
            </a:r>
            <a:endParaRPr lang="zh-CN" altLang="en-US" b="1" dirty="0">
              <a:latin typeface="微软雅黑" panose="020B0503020204020204" pitchFamily="34" charset="-122"/>
              <a:ea typeface="微软雅黑" panose="020B0503020204020204" pitchFamily="34" charset="-122"/>
            </a:endParaRPr>
          </a:p>
        </p:txBody>
      </p:sp>
      <p:sp>
        <p:nvSpPr>
          <p:cNvPr id="10243" name="Rectangle 3"/>
          <p:cNvSpPr>
            <a:spLocks noGrp="1"/>
          </p:cNvSpPr>
          <p:nvPr>
            <p:ph idx="1"/>
          </p:nvPr>
        </p:nvSpPr>
        <p:spPr>
          <a:xfrm>
            <a:off x="466725" y="2130425"/>
            <a:ext cx="8207375" cy="4379913"/>
          </a:xfrm>
        </p:spPr>
        <p:txBody>
          <a:bodyPr vert="horz" wrap="square" lIns="91221" tIns="45610" rIns="91221" bIns="45610" anchor="t" anchorCtr="0"/>
          <a:p>
            <a:pPr marL="392430" lvl="1" indent="-635" eaLnBrk="1" hangingPunct="1">
              <a:buNone/>
            </a:pPr>
            <a:r>
              <a:rPr lang="zh-CN" altLang="en-US" sz="4000" b="1" dirty="0"/>
              <a:t>主要任务：</a:t>
            </a:r>
            <a:endParaRPr lang="en-US" altLang="zh-CN" sz="4000" b="1" dirty="0"/>
          </a:p>
          <a:p>
            <a:pPr marL="392430" lvl="1" indent="-635" eaLnBrk="1" hangingPunct="1">
              <a:buNone/>
            </a:pPr>
            <a:r>
              <a:rPr lang="en-US" altLang="zh-CN" sz="2800" dirty="0"/>
              <a:t>         </a:t>
            </a:r>
            <a:r>
              <a:rPr lang="zh-CN" altLang="en-US" sz="2800" dirty="0"/>
              <a:t>以</a:t>
            </a:r>
            <a:r>
              <a:rPr lang="zh-CN" altLang="en-US" sz="2800" b="1" dirty="0">
                <a:solidFill>
                  <a:srgbClr val="FF0000"/>
                </a:solidFill>
              </a:rPr>
              <a:t>抽象和分解</a:t>
            </a:r>
            <a:r>
              <a:rPr lang="zh-CN" altLang="en-US" sz="2800" dirty="0"/>
              <a:t>为主要手段，建立描述软件系统运行过程的</a:t>
            </a:r>
            <a:r>
              <a:rPr lang="zh-CN" altLang="en-US" sz="2800" b="1" dirty="0">
                <a:solidFill>
                  <a:srgbClr val="FF0000"/>
                </a:solidFill>
              </a:rPr>
              <a:t>分层数据流图</a:t>
            </a:r>
            <a:endParaRPr lang="zh-CN" altLang="en-US" sz="2800" b="1" dirty="0">
              <a:solidFill>
                <a:srgbClr val="FF0000"/>
              </a:solidFill>
            </a:endParaRPr>
          </a:p>
        </p:txBody>
      </p:sp>
      <p:grpSp>
        <p:nvGrpSpPr>
          <p:cNvPr id="10244" name="Group 7"/>
          <p:cNvGrpSpPr/>
          <p:nvPr/>
        </p:nvGrpSpPr>
        <p:grpSpPr>
          <a:xfrm>
            <a:off x="4116388" y="5997575"/>
            <a:ext cx="1876425" cy="731838"/>
            <a:chOff x="4696" y="7395"/>
            <a:chExt cx="2964" cy="1155"/>
          </a:xfrm>
        </p:grpSpPr>
        <p:sp>
          <p:nvSpPr>
            <p:cNvPr id="10298"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99" name="Group 9"/>
            <p:cNvGrpSpPr/>
            <p:nvPr/>
          </p:nvGrpSpPr>
          <p:grpSpPr>
            <a:xfrm>
              <a:off x="5349" y="7455"/>
              <a:ext cx="1667" cy="1050"/>
              <a:chOff x="5349" y="7455"/>
              <a:chExt cx="1667" cy="1050"/>
            </a:xfrm>
          </p:grpSpPr>
          <p:grpSp>
            <p:nvGrpSpPr>
              <p:cNvPr id="10300" name="Group 10"/>
              <p:cNvGrpSpPr/>
              <p:nvPr/>
            </p:nvGrpSpPr>
            <p:grpSpPr>
              <a:xfrm>
                <a:off x="5349" y="8025"/>
                <a:ext cx="1549" cy="480"/>
                <a:chOff x="5349" y="8025"/>
                <a:chExt cx="1549" cy="480"/>
              </a:xfrm>
            </p:grpSpPr>
            <p:grpSp>
              <p:nvGrpSpPr>
                <p:cNvPr id="10312" name="Group 11"/>
                <p:cNvGrpSpPr/>
                <p:nvPr/>
              </p:nvGrpSpPr>
              <p:grpSpPr>
                <a:xfrm>
                  <a:off x="6115" y="8025"/>
                  <a:ext cx="540" cy="465"/>
                  <a:chOff x="7872" y="5655"/>
                  <a:chExt cx="540" cy="465"/>
                </a:xfrm>
              </p:grpSpPr>
              <p:sp>
                <p:nvSpPr>
                  <p:cNvPr id="10318"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2.4</a:t>
                    </a:r>
                    <a:endParaRPr lang="en-US" altLang="zh-CN" sz="1600" b="1" dirty="0">
                      <a:latin typeface="Comic Sans MS" panose="030F0702030302020204" pitchFamily="66" charset="0"/>
                      <a:ea typeface="黑体" panose="02010609060101010101" pitchFamily="49" charset="-122"/>
                    </a:endParaRPr>
                  </a:p>
                </p:txBody>
              </p:sp>
              <p:sp>
                <p:nvSpPr>
                  <p:cNvPr id="10319"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313" name="Group 14"/>
                <p:cNvGrpSpPr/>
                <p:nvPr/>
              </p:nvGrpSpPr>
              <p:grpSpPr>
                <a:xfrm>
                  <a:off x="5349" y="8040"/>
                  <a:ext cx="540" cy="465"/>
                  <a:chOff x="6972" y="5640"/>
                  <a:chExt cx="540" cy="465"/>
                </a:xfrm>
              </p:grpSpPr>
              <p:sp>
                <p:nvSpPr>
                  <p:cNvPr id="10316"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2.3</a:t>
                    </a:r>
                    <a:endParaRPr lang="en-US" altLang="zh-CN" sz="1600" b="1" dirty="0">
                      <a:latin typeface="Comic Sans MS" panose="030F0702030302020204" pitchFamily="66" charset="0"/>
                      <a:ea typeface="黑体" panose="02010609060101010101" pitchFamily="49" charset="-122"/>
                    </a:endParaRPr>
                  </a:p>
                </p:txBody>
              </p:sp>
              <p:sp>
                <p:nvSpPr>
                  <p:cNvPr id="10317"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314"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10315"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10301" name="Group 19"/>
              <p:cNvGrpSpPr/>
              <p:nvPr/>
            </p:nvGrpSpPr>
            <p:grpSpPr>
              <a:xfrm>
                <a:off x="5426" y="7455"/>
                <a:ext cx="1590" cy="480"/>
                <a:chOff x="5382" y="7440"/>
                <a:chExt cx="1590" cy="480"/>
              </a:xfrm>
            </p:grpSpPr>
            <p:grpSp>
              <p:nvGrpSpPr>
                <p:cNvPr id="10304" name="Group 20"/>
                <p:cNvGrpSpPr/>
                <p:nvPr/>
              </p:nvGrpSpPr>
              <p:grpSpPr>
                <a:xfrm>
                  <a:off x="6432" y="7440"/>
                  <a:ext cx="540" cy="465"/>
                  <a:chOff x="7872" y="5655"/>
                  <a:chExt cx="540" cy="465"/>
                </a:xfrm>
              </p:grpSpPr>
              <p:sp>
                <p:nvSpPr>
                  <p:cNvPr id="10310"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2.2</a:t>
                    </a:r>
                    <a:endParaRPr lang="en-US" altLang="zh-CN" sz="1600" b="1" dirty="0">
                      <a:latin typeface="Comic Sans MS" panose="030F0702030302020204" pitchFamily="66" charset="0"/>
                      <a:ea typeface="黑体" panose="02010609060101010101" pitchFamily="49" charset="-122"/>
                    </a:endParaRPr>
                  </a:p>
                </p:txBody>
              </p:sp>
              <p:sp>
                <p:nvSpPr>
                  <p:cNvPr id="10311"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305" name="Group 23"/>
                <p:cNvGrpSpPr/>
                <p:nvPr/>
              </p:nvGrpSpPr>
              <p:grpSpPr>
                <a:xfrm>
                  <a:off x="5666" y="7455"/>
                  <a:ext cx="540" cy="465"/>
                  <a:chOff x="6972" y="5640"/>
                  <a:chExt cx="540" cy="465"/>
                </a:xfrm>
              </p:grpSpPr>
              <p:sp>
                <p:nvSpPr>
                  <p:cNvPr id="10308"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2.1</a:t>
                    </a:r>
                    <a:endParaRPr lang="en-US" altLang="zh-CN" sz="1600" b="1" dirty="0">
                      <a:latin typeface="Comic Sans MS" panose="030F0702030302020204" pitchFamily="66" charset="0"/>
                      <a:ea typeface="黑体" panose="02010609060101010101" pitchFamily="49" charset="-122"/>
                    </a:endParaRPr>
                  </a:p>
                </p:txBody>
              </p:sp>
              <p:sp>
                <p:nvSpPr>
                  <p:cNvPr id="10309"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306"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10307"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10302"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10303"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10245" name="Group 30"/>
          <p:cNvGrpSpPr/>
          <p:nvPr/>
        </p:nvGrpSpPr>
        <p:grpSpPr>
          <a:xfrm>
            <a:off x="3652838" y="4951413"/>
            <a:ext cx="1874837" cy="731837"/>
            <a:chOff x="1756" y="7515"/>
            <a:chExt cx="2964" cy="1155"/>
          </a:xfrm>
        </p:grpSpPr>
        <p:sp>
          <p:nvSpPr>
            <p:cNvPr id="10278"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79" name="Group 32"/>
            <p:cNvGrpSpPr/>
            <p:nvPr/>
          </p:nvGrpSpPr>
          <p:grpSpPr>
            <a:xfrm>
              <a:off x="2409" y="7575"/>
              <a:ext cx="1953" cy="1050"/>
              <a:chOff x="2409" y="7575"/>
              <a:chExt cx="1953" cy="1050"/>
            </a:xfrm>
          </p:grpSpPr>
          <p:grpSp>
            <p:nvGrpSpPr>
              <p:cNvPr id="10280" name="Group 33"/>
              <p:cNvGrpSpPr/>
              <p:nvPr/>
            </p:nvGrpSpPr>
            <p:grpSpPr>
              <a:xfrm>
                <a:off x="3175" y="8145"/>
                <a:ext cx="540" cy="465"/>
                <a:chOff x="7872" y="5655"/>
                <a:chExt cx="540" cy="465"/>
              </a:xfrm>
            </p:grpSpPr>
            <p:sp>
              <p:nvSpPr>
                <p:cNvPr id="10296"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a:t>
                  </a:r>
                  <a:endParaRPr lang="en-US" altLang="zh-CN" sz="1600" b="1" dirty="0">
                    <a:latin typeface="Comic Sans MS" panose="030F0702030302020204" pitchFamily="66" charset="0"/>
                    <a:ea typeface="黑体" panose="02010609060101010101" pitchFamily="49" charset="-122"/>
                  </a:endParaRPr>
                </a:p>
              </p:txBody>
            </p:sp>
            <p:sp>
              <p:nvSpPr>
                <p:cNvPr id="10297"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81" name="Group 36"/>
              <p:cNvGrpSpPr/>
              <p:nvPr/>
            </p:nvGrpSpPr>
            <p:grpSpPr>
              <a:xfrm>
                <a:off x="2409" y="8160"/>
                <a:ext cx="540" cy="465"/>
                <a:chOff x="6972" y="5640"/>
                <a:chExt cx="540" cy="465"/>
              </a:xfrm>
            </p:grpSpPr>
            <p:sp>
              <p:nvSpPr>
                <p:cNvPr id="10294"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a:t>
                  </a:r>
                  <a:endParaRPr lang="en-US" altLang="zh-CN" sz="1600" b="1" dirty="0">
                    <a:latin typeface="Comic Sans MS" panose="030F0702030302020204" pitchFamily="66" charset="0"/>
                    <a:ea typeface="黑体" panose="02010609060101010101" pitchFamily="49" charset="-122"/>
                  </a:endParaRPr>
                </a:p>
              </p:txBody>
            </p:sp>
            <p:sp>
              <p:nvSpPr>
                <p:cNvPr id="10295"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82"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10283"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10284" name="Group 41"/>
              <p:cNvGrpSpPr/>
              <p:nvPr/>
            </p:nvGrpSpPr>
            <p:grpSpPr>
              <a:xfrm>
                <a:off x="3536" y="7575"/>
                <a:ext cx="540" cy="465"/>
                <a:chOff x="7872" y="5655"/>
                <a:chExt cx="540" cy="465"/>
              </a:xfrm>
            </p:grpSpPr>
            <p:sp>
              <p:nvSpPr>
                <p:cNvPr id="10292"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4</a:t>
                  </a:r>
                  <a:endParaRPr lang="en-US" altLang="zh-CN" sz="1600" b="1" dirty="0">
                    <a:latin typeface="Comic Sans MS" panose="030F0702030302020204" pitchFamily="66" charset="0"/>
                    <a:ea typeface="黑体" panose="02010609060101010101" pitchFamily="49" charset="-122"/>
                  </a:endParaRPr>
                </a:p>
              </p:txBody>
            </p:sp>
            <p:sp>
              <p:nvSpPr>
                <p:cNvPr id="10293"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85" name="Group 44"/>
              <p:cNvGrpSpPr/>
              <p:nvPr/>
            </p:nvGrpSpPr>
            <p:grpSpPr>
              <a:xfrm>
                <a:off x="2770" y="7590"/>
                <a:ext cx="540" cy="465"/>
                <a:chOff x="6972" y="5640"/>
                <a:chExt cx="540" cy="465"/>
              </a:xfrm>
            </p:grpSpPr>
            <p:sp>
              <p:nvSpPr>
                <p:cNvPr id="10290"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3</a:t>
                  </a:r>
                  <a:endParaRPr lang="en-US" altLang="zh-CN" sz="1600" b="1" dirty="0">
                    <a:latin typeface="Comic Sans MS" panose="030F0702030302020204" pitchFamily="66" charset="0"/>
                    <a:ea typeface="黑体" panose="02010609060101010101" pitchFamily="49" charset="-122"/>
                  </a:endParaRPr>
                </a:p>
              </p:txBody>
            </p:sp>
            <p:sp>
              <p:nvSpPr>
                <p:cNvPr id="10291"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86"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10287"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10288"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10289"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10246" name="Group 51"/>
          <p:cNvGrpSpPr/>
          <p:nvPr/>
        </p:nvGrpSpPr>
        <p:grpSpPr>
          <a:xfrm>
            <a:off x="2273300" y="5997575"/>
            <a:ext cx="1878013" cy="731838"/>
            <a:chOff x="1966" y="9000"/>
            <a:chExt cx="2964" cy="1155"/>
          </a:xfrm>
        </p:grpSpPr>
        <p:sp>
          <p:nvSpPr>
            <p:cNvPr id="10262"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63" name="Group 53"/>
            <p:cNvGrpSpPr/>
            <p:nvPr/>
          </p:nvGrpSpPr>
          <p:grpSpPr>
            <a:xfrm>
              <a:off x="2619" y="9075"/>
              <a:ext cx="1789" cy="1035"/>
              <a:chOff x="2619" y="9075"/>
              <a:chExt cx="1789" cy="1035"/>
            </a:xfrm>
          </p:grpSpPr>
          <p:grpSp>
            <p:nvGrpSpPr>
              <p:cNvPr id="10264" name="Group 54"/>
              <p:cNvGrpSpPr/>
              <p:nvPr/>
            </p:nvGrpSpPr>
            <p:grpSpPr>
              <a:xfrm>
                <a:off x="3385" y="9630"/>
                <a:ext cx="540" cy="465"/>
                <a:chOff x="7872" y="5655"/>
                <a:chExt cx="540" cy="465"/>
              </a:xfrm>
            </p:grpSpPr>
            <p:sp>
              <p:nvSpPr>
                <p:cNvPr id="10276"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1.3</a:t>
                  </a:r>
                  <a:endParaRPr lang="en-US" altLang="zh-CN" sz="1600" b="1" dirty="0">
                    <a:latin typeface="Comic Sans MS" panose="030F0702030302020204" pitchFamily="66" charset="0"/>
                    <a:ea typeface="黑体" panose="02010609060101010101" pitchFamily="49" charset="-122"/>
                  </a:endParaRPr>
                </a:p>
              </p:txBody>
            </p:sp>
            <p:sp>
              <p:nvSpPr>
                <p:cNvPr id="10277"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65" name="Group 57"/>
              <p:cNvGrpSpPr/>
              <p:nvPr/>
            </p:nvGrpSpPr>
            <p:grpSpPr>
              <a:xfrm>
                <a:off x="2619" y="9645"/>
                <a:ext cx="540" cy="465"/>
                <a:chOff x="6972" y="5640"/>
                <a:chExt cx="540" cy="465"/>
              </a:xfrm>
            </p:grpSpPr>
            <p:sp>
              <p:nvSpPr>
                <p:cNvPr id="10274"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1.2</a:t>
                  </a:r>
                  <a:endParaRPr lang="en-US" altLang="zh-CN" sz="1600" b="1" dirty="0">
                    <a:latin typeface="Comic Sans MS" panose="030F0702030302020204" pitchFamily="66" charset="0"/>
                    <a:ea typeface="黑体" panose="02010609060101010101" pitchFamily="49" charset="-122"/>
                  </a:endParaRPr>
                </a:p>
              </p:txBody>
            </p:sp>
            <p:sp>
              <p:nvSpPr>
                <p:cNvPr id="10275"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66"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10267"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10268" name="Group 62"/>
              <p:cNvGrpSpPr/>
              <p:nvPr/>
            </p:nvGrpSpPr>
            <p:grpSpPr>
              <a:xfrm>
                <a:off x="2980" y="9075"/>
                <a:ext cx="540" cy="465"/>
                <a:chOff x="6972" y="5640"/>
                <a:chExt cx="540" cy="465"/>
              </a:xfrm>
            </p:grpSpPr>
            <p:sp>
              <p:nvSpPr>
                <p:cNvPr id="10272"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1.1</a:t>
                  </a:r>
                  <a:endParaRPr lang="en-US" altLang="zh-CN" sz="1600" b="1" dirty="0">
                    <a:latin typeface="Comic Sans MS" panose="030F0702030302020204" pitchFamily="66" charset="0"/>
                    <a:ea typeface="黑体" panose="02010609060101010101" pitchFamily="49" charset="-122"/>
                  </a:endParaRPr>
                </a:p>
              </p:txBody>
            </p:sp>
            <p:sp>
              <p:nvSpPr>
                <p:cNvPr id="10273"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69"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10270"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10271"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10247" name="Group 68"/>
          <p:cNvGrpSpPr/>
          <p:nvPr/>
        </p:nvGrpSpPr>
        <p:grpSpPr>
          <a:xfrm>
            <a:off x="3660775" y="3943350"/>
            <a:ext cx="1876425" cy="733425"/>
            <a:chOff x="5236" y="8460"/>
            <a:chExt cx="2964" cy="1155"/>
          </a:xfrm>
        </p:grpSpPr>
        <p:sp>
          <p:nvSpPr>
            <p:cNvPr id="10254"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55" name="Group 70"/>
            <p:cNvGrpSpPr/>
            <p:nvPr/>
          </p:nvGrpSpPr>
          <p:grpSpPr>
            <a:xfrm>
              <a:off x="5934" y="8850"/>
              <a:ext cx="1356" cy="555"/>
              <a:chOff x="5934" y="8850"/>
              <a:chExt cx="1356" cy="555"/>
            </a:xfrm>
          </p:grpSpPr>
          <p:grpSp>
            <p:nvGrpSpPr>
              <p:cNvPr id="10256" name="Group 71"/>
              <p:cNvGrpSpPr/>
              <p:nvPr/>
            </p:nvGrpSpPr>
            <p:grpSpPr>
              <a:xfrm>
                <a:off x="6354" y="8850"/>
                <a:ext cx="540" cy="465"/>
                <a:chOff x="6354" y="8850"/>
                <a:chExt cx="540" cy="465"/>
              </a:xfrm>
            </p:grpSpPr>
            <p:sp>
              <p:nvSpPr>
                <p:cNvPr id="10260"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X</a:t>
                  </a:r>
                  <a:endParaRPr lang="en-US" altLang="zh-CN" sz="1600" b="1" dirty="0">
                    <a:latin typeface="Comic Sans MS" panose="030F0702030302020204" pitchFamily="66" charset="0"/>
                    <a:ea typeface="黑体" panose="02010609060101010101" pitchFamily="49" charset="-122"/>
                  </a:endParaRPr>
                </a:p>
              </p:txBody>
            </p:sp>
            <p:sp>
              <p:nvSpPr>
                <p:cNvPr id="10261"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57"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10258"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10259"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10248" name="Line 78"/>
          <p:cNvSpPr/>
          <p:nvPr/>
        </p:nvSpPr>
        <p:spPr>
          <a:xfrm flipH="1">
            <a:off x="4133850" y="4419600"/>
            <a:ext cx="314325" cy="522288"/>
          </a:xfrm>
          <a:prstGeom prst="line">
            <a:avLst/>
          </a:prstGeom>
          <a:ln w="9525" cap="flat" cmpd="sng">
            <a:solidFill>
              <a:srgbClr val="000000"/>
            </a:solidFill>
            <a:prstDash val="dash"/>
            <a:headEnd type="none" w="med" len="med"/>
            <a:tailEnd type="none" w="med" len="med"/>
          </a:ln>
        </p:spPr>
      </p:sp>
      <p:sp>
        <p:nvSpPr>
          <p:cNvPr id="10249" name="Line 79"/>
          <p:cNvSpPr/>
          <p:nvPr/>
        </p:nvSpPr>
        <p:spPr>
          <a:xfrm>
            <a:off x="4608513" y="4438650"/>
            <a:ext cx="912812" cy="503238"/>
          </a:xfrm>
          <a:prstGeom prst="line">
            <a:avLst/>
          </a:prstGeom>
          <a:ln w="9525" cap="flat" cmpd="sng">
            <a:solidFill>
              <a:srgbClr val="000000"/>
            </a:solidFill>
            <a:prstDash val="dash"/>
            <a:headEnd type="none" w="med" len="med"/>
            <a:tailEnd type="none" w="med" len="med"/>
          </a:ln>
        </p:spPr>
      </p:sp>
      <p:sp>
        <p:nvSpPr>
          <p:cNvPr id="10250" name="Line 80"/>
          <p:cNvSpPr/>
          <p:nvPr/>
        </p:nvSpPr>
        <p:spPr>
          <a:xfrm flipH="1">
            <a:off x="2727325" y="5551488"/>
            <a:ext cx="1379538" cy="455612"/>
          </a:xfrm>
          <a:prstGeom prst="line">
            <a:avLst/>
          </a:prstGeom>
          <a:ln w="9525" cap="flat" cmpd="sng">
            <a:solidFill>
              <a:srgbClr val="000000"/>
            </a:solidFill>
            <a:prstDash val="dash"/>
            <a:headEnd type="none" w="med" len="med"/>
            <a:tailEnd type="none" w="med" len="med"/>
          </a:ln>
        </p:spPr>
      </p:sp>
      <p:sp>
        <p:nvSpPr>
          <p:cNvPr id="10251" name="Line 81"/>
          <p:cNvSpPr/>
          <p:nvPr/>
        </p:nvSpPr>
        <p:spPr>
          <a:xfrm flipH="1">
            <a:off x="4152900" y="5635625"/>
            <a:ext cx="68263" cy="352425"/>
          </a:xfrm>
          <a:prstGeom prst="line">
            <a:avLst/>
          </a:prstGeom>
          <a:ln w="9525" cap="flat" cmpd="sng">
            <a:solidFill>
              <a:srgbClr val="000000"/>
            </a:solidFill>
            <a:prstDash val="dash"/>
            <a:headEnd type="none" w="med" len="med"/>
            <a:tailEnd type="none" w="med" len="med"/>
          </a:ln>
        </p:spPr>
      </p:sp>
      <p:sp>
        <p:nvSpPr>
          <p:cNvPr id="10252" name="Line 82"/>
          <p:cNvSpPr/>
          <p:nvPr/>
        </p:nvSpPr>
        <p:spPr>
          <a:xfrm flipH="1">
            <a:off x="4581525" y="5616575"/>
            <a:ext cx="84138" cy="371475"/>
          </a:xfrm>
          <a:prstGeom prst="line">
            <a:avLst/>
          </a:prstGeom>
          <a:ln w="9525" cap="flat" cmpd="sng">
            <a:solidFill>
              <a:srgbClr val="000000"/>
            </a:solidFill>
            <a:prstDash val="dash"/>
            <a:headEnd type="none" w="med" len="med"/>
            <a:tailEnd type="none" w="med" len="med"/>
          </a:ln>
        </p:spPr>
      </p:sp>
      <p:sp>
        <p:nvSpPr>
          <p:cNvPr id="10253" name="Line 83"/>
          <p:cNvSpPr/>
          <p:nvPr/>
        </p:nvSpPr>
        <p:spPr>
          <a:xfrm>
            <a:off x="4799013" y="5597525"/>
            <a:ext cx="1187450" cy="400050"/>
          </a:xfrm>
          <a:prstGeom prst="line">
            <a:avLst/>
          </a:prstGeom>
          <a:ln w="9525" cap="flat" cmpd="sng">
            <a:solidFill>
              <a:srgbClr val="000000"/>
            </a:solidFill>
            <a:prstDash val="dash"/>
            <a:headEnd type="none" w="med" len="med"/>
            <a:tailEnd type="none" w="med" len="med"/>
          </a:ln>
        </p:spPr>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455613" y="703263"/>
            <a:ext cx="8662987"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数据流图：图书订购系统</a:t>
            </a:r>
            <a:endParaRPr lang="en-US" altLang="zh-CN" b="1" dirty="0">
              <a:latin typeface="微软雅黑" panose="020B0503020204020204" pitchFamily="34" charset="-122"/>
              <a:ea typeface="微软雅黑" panose="020B0503020204020204" pitchFamily="34" charset="-122"/>
            </a:endParaRPr>
          </a:p>
        </p:txBody>
      </p:sp>
      <p:grpSp>
        <p:nvGrpSpPr>
          <p:cNvPr id="12291" name="Group 8"/>
          <p:cNvGrpSpPr/>
          <p:nvPr/>
        </p:nvGrpSpPr>
        <p:grpSpPr>
          <a:xfrm>
            <a:off x="4586288" y="4279900"/>
            <a:ext cx="1243012" cy="501650"/>
            <a:chOff x="5010" y="11520"/>
            <a:chExt cx="1228" cy="450"/>
          </a:xfrm>
        </p:grpSpPr>
        <p:grpSp>
          <p:nvGrpSpPr>
            <p:cNvPr id="12346" name="Group 9"/>
            <p:cNvGrpSpPr/>
            <p:nvPr/>
          </p:nvGrpSpPr>
          <p:grpSpPr>
            <a:xfrm>
              <a:off x="5170" y="11580"/>
              <a:ext cx="886" cy="360"/>
              <a:chOff x="1884" y="6360"/>
              <a:chExt cx="1306" cy="360"/>
            </a:xfrm>
          </p:grpSpPr>
          <p:sp>
            <p:nvSpPr>
              <p:cNvPr id="12348" name="Line 1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12349" name="Line 1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12347" name="Rectangle 12"/>
            <p:cNvSpPr/>
            <p:nvPr/>
          </p:nvSpPr>
          <p:spPr>
            <a:xfrm>
              <a:off x="5010" y="11520"/>
              <a:ext cx="1228" cy="45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图书库存</a:t>
              </a:r>
              <a:endParaRPr lang="zh-CN" altLang="en-US" sz="1800" b="1" dirty="0">
                <a:latin typeface="Comic Sans MS" panose="030F0702030302020204" pitchFamily="66" charset="0"/>
                <a:ea typeface="黑体" panose="02010609060101010101" pitchFamily="49" charset="-122"/>
              </a:endParaRPr>
            </a:p>
          </p:txBody>
        </p:sp>
      </p:grpSp>
      <p:grpSp>
        <p:nvGrpSpPr>
          <p:cNvPr id="12292" name="Group 14"/>
          <p:cNvGrpSpPr/>
          <p:nvPr/>
        </p:nvGrpSpPr>
        <p:grpSpPr>
          <a:xfrm>
            <a:off x="6383338" y="5184775"/>
            <a:ext cx="2009775" cy="669925"/>
            <a:chOff x="7926" y="12435"/>
            <a:chExt cx="1988" cy="600"/>
          </a:xfrm>
        </p:grpSpPr>
        <p:grpSp>
          <p:nvGrpSpPr>
            <p:cNvPr id="12340" name="Group 15"/>
            <p:cNvGrpSpPr/>
            <p:nvPr/>
          </p:nvGrpSpPr>
          <p:grpSpPr>
            <a:xfrm>
              <a:off x="7926" y="12435"/>
              <a:ext cx="984" cy="465"/>
              <a:chOff x="9126" y="13845"/>
              <a:chExt cx="984" cy="465"/>
            </a:xfrm>
          </p:grpSpPr>
          <p:sp>
            <p:nvSpPr>
              <p:cNvPr id="12344" name="Line 16"/>
              <p:cNvSpPr/>
              <p:nvPr/>
            </p:nvSpPr>
            <p:spPr>
              <a:xfrm flipV="1">
                <a:off x="9148" y="14238"/>
                <a:ext cx="962" cy="0"/>
              </a:xfrm>
              <a:prstGeom prst="line">
                <a:avLst/>
              </a:prstGeom>
              <a:ln w="9525" cap="flat" cmpd="sng">
                <a:solidFill>
                  <a:srgbClr val="000000"/>
                </a:solidFill>
                <a:prstDash val="solid"/>
                <a:headEnd type="triangle" w="sm" len="med"/>
                <a:tailEnd type="none" w="sm" len="med"/>
              </a:ln>
            </p:spPr>
          </p:sp>
          <p:sp>
            <p:nvSpPr>
              <p:cNvPr id="12345" name="Rectangle 17"/>
              <p:cNvSpPr/>
              <p:nvPr/>
            </p:nvSpPr>
            <p:spPr>
              <a:xfrm>
                <a:off x="9126" y="13845"/>
                <a:ext cx="95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入库单</a:t>
                </a:r>
                <a:endParaRPr lang="zh-CN" altLang="en-US" sz="1800" b="1" dirty="0">
                  <a:latin typeface="Comic Sans MS" panose="030F0702030302020204" pitchFamily="66" charset="0"/>
                  <a:ea typeface="黑体" panose="02010609060101010101" pitchFamily="49" charset="-122"/>
                </a:endParaRPr>
              </a:p>
            </p:txBody>
          </p:sp>
        </p:grpSp>
        <p:grpSp>
          <p:nvGrpSpPr>
            <p:cNvPr id="12341" name="Group 18"/>
            <p:cNvGrpSpPr/>
            <p:nvPr/>
          </p:nvGrpSpPr>
          <p:grpSpPr>
            <a:xfrm>
              <a:off x="8804" y="12552"/>
              <a:ext cx="1110" cy="483"/>
              <a:chOff x="7574" y="11367"/>
              <a:chExt cx="1110" cy="483"/>
            </a:xfrm>
          </p:grpSpPr>
          <p:sp>
            <p:nvSpPr>
              <p:cNvPr id="12342" name="Rectangle 19"/>
              <p:cNvSpPr/>
              <p:nvPr/>
            </p:nvSpPr>
            <p:spPr>
              <a:xfrm>
                <a:off x="7574" y="11370"/>
                <a:ext cx="1110" cy="4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图书代理商</a:t>
                </a:r>
                <a:endParaRPr lang="zh-CN" altLang="en-US" sz="1800" b="1" dirty="0">
                  <a:latin typeface="Comic Sans MS" panose="030F0702030302020204" pitchFamily="66" charset="0"/>
                  <a:ea typeface="黑体" panose="02010609060101010101" pitchFamily="49" charset="-122"/>
                </a:endParaRPr>
              </a:p>
            </p:txBody>
          </p:sp>
          <p:sp>
            <p:nvSpPr>
              <p:cNvPr id="12343" name="Rectangle 20"/>
              <p:cNvSpPr/>
              <p:nvPr/>
            </p:nvSpPr>
            <p:spPr>
              <a:xfrm>
                <a:off x="7664" y="1136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10000"/>
                  </a:lnSpc>
                  <a:spcBef>
                    <a:spcPct val="0"/>
                  </a:spcBef>
                  <a:buClrTx/>
                  <a:buSzTx/>
                  <a:buFontTx/>
                  <a:buNone/>
                </a:pPr>
                <a:endParaRPr lang="zh-CN" altLang="zh-CN" sz="1800" b="1" dirty="0">
                  <a:latin typeface="Comic Sans MS" panose="030F0702030302020204" pitchFamily="66" charset="0"/>
                  <a:ea typeface="黑体" panose="02010609060101010101" pitchFamily="49" charset="-122"/>
                </a:endParaRPr>
              </a:p>
            </p:txBody>
          </p:sp>
        </p:grpSp>
      </p:grpSp>
      <p:grpSp>
        <p:nvGrpSpPr>
          <p:cNvPr id="12293" name="Group 21"/>
          <p:cNvGrpSpPr/>
          <p:nvPr/>
        </p:nvGrpSpPr>
        <p:grpSpPr>
          <a:xfrm>
            <a:off x="5276850" y="4772025"/>
            <a:ext cx="1200150" cy="1312863"/>
            <a:chOff x="6682" y="12066"/>
            <a:chExt cx="1186" cy="1174"/>
          </a:xfrm>
        </p:grpSpPr>
        <p:grpSp>
          <p:nvGrpSpPr>
            <p:cNvPr id="12336" name="Group 22"/>
            <p:cNvGrpSpPr/>
            <p:nvPr/>
          </p:nvGrpSpPr>
          <p:grpSpPr>
            <a:xfrm>
              <a:off x="6894" y="12390"/>
              <a:ext cx="974" cy="850"/>
              <a:chOff x="4154" y="12570"/>
              <a:chExt cx="974" cy="850"/>
            </a:xfrm>
          </p:grpSpPr>
          <p:sp>
            <p:nvSpPr>
              <p:cNvPr id="12338" name="Oval 2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39" name="Rectangle 24"/>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书库</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管理</a:t>
                </a:r>
                <a:endParaRPr lang="zh-CN" altLang="en-US" sz="1800" b="1" dirty="0">
                  <a:latin typeface="Comic Sans MS" panose="030F0702030302020204" pitchFamily="66" charset="0"/>
                  <a:ea typeface="黑体" panose="02010609060101010101" pitchFamily="49" charset="-122"/>
                </a:endParaRPr>
              </a:p>
            </p:txBody>
          </p:sp>
        </p:grpSp>
        <p:sp>
          <p:nvSpPr>
            <p:cNvPr id="12337" name="Arc 25"/>
            <p:cNvSpPr/>
            <p:nvPr/>
          </p:nvSpPr>
          <p:spPr>
            <a:xfrm rot="-5400000" flipH="1">
              <a:off x="6590" y="12157"/>
              <a:ext cx="536" cy="353"/>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12294" name="Group 27"/>
          <p:cNvGrpSpPr/>
          <p:nvPr/>
        </p:nvGrpSpPr>
        <p:grpSpPr>
          <a:xfrm>
            <a:off x="3295650" y="4060825"/>
            <a:ext cx="984250" cy="950913"/>
            <a:chOff x="4154" y="12570"/>
            <a:chExt cx="974" cy="850"/>
          </a:xfrm>
        </p:grpSpPr>
        <p:sp>
          <p:nvSpPr>
            <p:cNvPr id="12334"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35" name="Rectangle 2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收费</a:t>
              </a:r>
              <a:endParaRPr lang="zh-CN" altLang="en-US" sz="1800" b="1" dirty="0">
                <a:latin typeface="Comic Sans MS" panose="030F0702030302020204" pitchFamily="66" charset="0"/>
                <a:ea typeface="黑体" panose="02010609060101010101" pitchFamily="49" charset="-122"/>
              </a:endParaRPr>
            </a:p>
          </p:txBody>
        </p:sp>
      </p:grpSp>
      <p:grpSp>
        <p:nvGrpSpPr>
          <p:cNvPr id="12295" name="Group 30"/>
          <p:cNvGrpSpPr/>
          <p:nvPr/>
        </p:nvGrpSpPr>
        <p:grpSpPr>
          <a:xfrm>
            <a:off x="2051050" y="4060825"/>
            <a:ext cx="985838" cy="950913"/>
            <a:chOff x="4154" y="12570"/>
            <a:chExt cx="974" cy="850"/>
          </a:xfrm>
        </p:grpSpPr>
        <p:sp>
          <p:nvSpPr>
            <p:cNvPr id="12332"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33" name="Rectangle 3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制作</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财务报表</a:t>
              </a:r>
              <a:endParaRPr lang="zh-CN" altLang="en-US" sz="1800" b="1" dirty="0">
                <a:latin typeface="Comic Sans MS" panose="030F0702030302020204" pitchFamily="66" charset="0"/>
                <a:ea typeface="黑体" panose="02010609060101010101" pitchFamily="49" charset="-122"/>
              </a:endParaRPr>
            </a:p>
          </p:txBody>
        </p:sp>
      </p:grpSp>
      <p:sp>
        <p:nvSpPr>
          <p:cNvPr id="12296" name="Line 34"/>
          <p:cNvSpPr/>
          <p:nvPr/>
        </p:nvSpPr>
        <p:spPr>
          <a:xfrm flipV="1">
            <a:off x="1158875" y="4565650"/>
            <a:ext cx="941388" cy="0"/>
          </a:xfrm>
          <a:prstGeom prst="line">
            <a:avLst/>
          </a:prstGeom>
          <a:ln w="9525" cap="flat" cmpd="sng">
            <a:solidFill>
              <a:srgbClr val="000000"/>
            </a:solidFill>
            <a:prstDash val="solid"/>
            <a:headEnd type="triangle" w="sm" len="med"/>
            <a:tailEnd type="none" w="sm" len="med"/>
          </a:ln>
        </p:spPr>
      </p:sp>
      <p:sp>
        <p:nvSpPr>
          <p:cNvPr id="12297" name="Rectangle 35"/>
          <p:cNvSpPr/>
          <p:nvPr/>
        </p:nvSpPr>
        <p:spPr>
          <a:xfrm>
            <a:off x="1055688" y="4124325"/>
            <a:ext cx="1223962" cy="520700"/>
          </a:xfrm>
          <a:prstGeom prst="rect">
            <a:avLst/>
          </a:prstGeom>
          <a:noFill/>
          <a:ln w="9525">
            <a:noFill/>
          </a:ln>
        </p:spPr>
        <p:txBody>
          <a:bodyPr lIns="91221" tIns="45610" rIns="91221" bIns="45610"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财务报表</a:t>
            </a:r>
            <a:endParaRPr lang="zh-CN" altLang="en-US" sz="1800" b="1" dirty="0">
              <a:latin typeface="Comic Sans MS" panose="030F0702030302020204" pitchFamily="66" charset="0"/>
              <a:ea typeface="黑体" panose="02010609060101010101" pitchFamily="49" charset="-122"/>
            </a:endParaRPr>
          </a:p>
        </p:txBody>
      </p:sp>
      <p:sp>
        <p:nvSpPr>
          <p:cNvPr id="12298" name="Rectangle 36"/>
          <p:cNvSpPr/>
          <p:nvPr/>
        </p:nvSpPr>
        <p:spPr>
          <a:xfrm>
            <a:off x="228600" y="4292600"/>
            <a:ext cx="925513" cy="536575"/>
          </a:xfrm>
          <a:prstGeom prst="rect">
            <a:avLst/>
          </a:prstGeom>
          <a:noFill/>
          <a:ln w="9525" cap="flat" cmpd="sng">
            <a:solidFill>
              <a:srgbClr val="000000"/>
            </a:solidFill>
            <a:prstDash val="solid"/>
            <a:miter/>
            <a:headEnd type="none" w="med" len="med"/>
            <a:tailEnd type="none" w="med" len="med"/>
          </a:ln>
        </p:spPr>
        <p:txBody>
          <a:bodyPr lIns="91221" tIns="45610" rIns="91221" bIns="45610"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经理</a:t>
            </a:r>
            <a:endParaRPr lang="zh-CN" altLang="en-US" sz="1800" b="1" dirty="0">
              <a:latin typeface="Comic Sans MS" panose="030F0702030302020204" pitchFamily="66" charset="0"/>
              <a:ea typeface="黑体" panose="02010609060101010101" pitchFamily="49" charset="-122"/>
            </a:endParaRPr>
          </a:p>
        </p:txBody>
      </p:sp>
      <p:grpSp>
        <p:nvGrpSpPr>
          <p:cNvPr id="12299" name="Group 39"/>
          <p:cNvGrpSpPr/>
          <p:nvPr/>
        </p:nvGrpSpPr>
        <p:grpSpPr>
          <a:xfrm>
            <a:off x="2652713" y="5603875"/>
            <a:ext cx="898525" cy="403225"/>
            <a:chOff x="1884" y="6360"/>
            <a:chExt cx="1306" cy="360"/>
          </a:xfrm>
        </p:grpSpPr>
        <p:sp>
          <p:nvSpPr>
            <p:cNvPr id="12330" name="Line 4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12331" name="Line 4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12300" name="Rectangle 42"/>
          <p:cNvSpPr/>
          <p:nvPr/>
        </p:nvSpPr>
        <p:spPr>
          <a:xfrm>
            <a:off x="2355850" y="5538788"/>
            <a:ext cx="1611313" cy="501650"/>
          </a:xfrm>
          <a:prstGeom prst="rect">
            <a:avLst/>
          </a:prstGeom>
          <a:noFill/>
          <a:ln w="9525">
            <a:noFill/>
          </a:ln>
        </p:spPr>
        <p:txBody>
          <a:bodyPr lIns="91221" tIns="45610" rIns="91221" bIns="45610"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帐务数据库</a:t>
            </a:r>
            <a:endParaRPr lang="zh-CN" altLang="en-US" sz="1800" b="1" dirty="0">
              <a:latin typeface="Comic Sans MS" panose="030F0702030302020204" pitchFamily="66" charset="0"/>
              <a:ea typeface="黑体" panose="02010609060101010101" pitchFamily="49" charset="-122"/>
            </a:endParaRPr>
          </a:p>
        </p:txBody>
      </p:sp>
      <p:sp>
        <p:nvSpPr>
          <p:cNvPr id="12301" name="Arc 43"/>
          <p:cNvSpPr/>
          <p:nvPr/>
        </p:nvSpPr>
        <p:spPr>
          <a:xfrm rot="5400000" flipH="1">
            <a:off x="2544763" y="5143500"/>
            <a:ext cx="598487" cy="358775"/>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2302" name="Arc 44"/>
          <p:cNvSpPr/>
          <p:nvPr/>
        </p:nvSpPr>
        <p:spPr>
          <a:xfrm rot="5400000" flipH="1" flipV="1">
            <a:off x="3152775" y="5145088"/>
            <a:ext cx="598488" cy="357187"/>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nvGrpSpPr>
          <p:cNvPr id="12303" name="Group 45"/>
          <p:cNvGrpSpPr/>
          <p:nvPr/>
        </p:nvGrpSpPr>
        <p:grpSpPr>
          <a:xfrm>
            <a:off x="1719263" y="2370138"/>
            <a:ext cx="6542087" cy="1974850"/>
            <a:chOff x="3234" y="10968"/>
            <a:chExt cx="6466" cy="1766"/>
          </a:xfrm>
        </p:grpSpPr>
        <p:grpSp>
          <p:nvGrpSpPr>
            <p:cNvPr id="12304" name="Group 46"/>
            <p:cNvGrpSpPr/>
            <p:nvPr/>
          </p:nvGrpSpPr>
          <p:grpSpPr>
            <a:xfrm>
              <a:off x="3234" y="10968"/>
              <a:ext cx="6466" cy="937"/>
              <a:chOff x="3016" y="9948"/>
              <a:chExt cx="6466" cy="937"/>
            </a:xfrm>
          </p:grpSpPr>
          <p:grpSp>
            <p:nvGrpSpPr>
              <p:cNvPr id="12313" name="Group 47"/>
              <p:cNvGrpSpPr/>
              <p:nvPr/>
            </p:nvGrpSpPr>
            <p:grpSpPr>
              <a:xfrm>
                <a:off x="6850" y="10020"/>
                <a:ext cx="974" cy="850"/>
                <a:chOff x="4154" y="12570"/>
                <a:chExt cx="974" cy="850"/>
              </a:xfrm>
            </p:grpSpPr>
            <p:sp>
              <p:nvSpPr>
                <p:cNvPr id="12328" name="Oval 4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29" name="Rectangle 4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制作</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发书单</a:t>
                  </a:r>
                  <a:endParaRPr lang="zh-CN" altLang="en-US" sz="1800" b="1" dirty="0">
                    <a:latin typeface="Comic Sans MS" panose="030F0702030302020204" pitchFamily="66" charset="0"/>
                    <a:ea typeface="黑体" panose="02010609060101010101" pitchFamily="49" charset="-122"/>
                  </a:endParaRPr>
                </a:p>
              </p:txBody>
            </p:sp>
          </p:grpSp>
          <p:grpSp>
            <p:nvGrpSpPr>
              <p:cNvPr id="12314" name="Group 50"/>
              <p:cNvGrpSpPr/>
              <p:nvPr/>
            </p:nvGrpSpPr>
            <p:grpSpPr>
              <a:xfrm>
                <a:off x="4704" y="10035"/>
                <a:ext cx="974" cy="850"/>
                <a:chOff x="4154" y="12570"/>
                <a:chExt cx="974" cy="850"/>
              </a:xfrm>
            </p:grpSpPr>
            <p:sp>
              <p:nvSpPr>
                <p:cNvPr id="12326" name="Oval 5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27" name="Rectangle 5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图书</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订购</a:t>
                  </a:r>
                  <a:endParaRPr lang="zh-CN" altLang="en-US" sz="1800" b="1" dirty="0">
                    <a:latin typeface="Comic Sans MS" panose="030F0702030302020204" pitchFamily="66" charset="0"/>
                    <a:ea typeface="黑体" panose="02010609060101010101" pitchFamily="49" charset="-122"/>
                  </a:endParaRPr>
                </a:p>
              </p:txBody>
            </p:sp>
          </p:grpSp>
          <p:grpSp>
            <p:nvGrpSpPr>
              <p:cNvPr id="12315" name="Group 53"/>
              <p:cNvGrpSpPr/>
              <p:nvPr/>
            </p:nvGrpSpPr>
            <p:grpSpPr>
              <a:xfrm>
                <a:off x="5620" y="9948"/>
                <a:ext cx="1290" cy="507"/>
                <a:chOff x="5620" y="9948"/>
                <a:chExt cx="1290" cy="507"/>
              </a:xfrm>
            </p:grpSpPr>
            <p:sp>
              <p:nvSpPr>
                <p:cNvPr id="12324" name="Line 54"/>
                <p:cNvSpPr/>
                <p:nvPr/>
              </p:nvSpPr>
              <p:spPr>
                <a:xfrm>
                  <a:off x="5634" y="10455"/>
                  <a:ext cx="1276" cy="0"/>
                </a:xfrm>
                <a:prstGeom prst="line">
                  <a:avLst/>
                </a:prstGeom>
                <a:ln w="9525" cap="flat" cmpd="sng">
                  <a:solidFill>
                    <a:srgbClr val="000000"/>
                  </a:solidFill>
                  <a:prstDash val="solid"/>
                  <a:headEnd type="none" w="sm" len="med"/>
                  <a:tailEnd type="triangle" w="sm" len="med"/>
                </a:ln>
              </p:spPr>
            </p:sp>
            <p:sp>
              <p:nvSpPr>
                <p:cNvPr id="12325" name="Rectangle 55"/>
                <p:cNvSpPr/>
                <p:nvPr/>
              </p:nvSpPr>
              <p:spPr>
                <a:xfrm>
                  <a:off x="5620" y="9948"/>
                  <a:ext cx="1214"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核准的订购单</a:t>
                  </a:r>
                  <a:endParaRPr lang="zh-CN" altLang="en-US" sz="1800" b="1" dirty="0">
                    <a:latin typeface="Comic Sans MS" panose="030F0702030302020204" pitchFamily="66" charset="0"/>
                    <a:ea typeface="黑体" panose="02010609060101010101" pitchFamily="49" charset="-122"/>
                  </a:endParaRPr>
                </a:p>
              </p:txBody>
            </p:sp>
          </p:grpSp>
          <p:grpSp>
            <p:nvGrpSpPr>
              <p:cNvPr id="12316" name="Group 56"/>
              <p:cNvGrpSpPr/>
              <p:nvPr/>
            </p:nvGrpSpPr>
            <p:grpSpPr>
              <a:xfrm>
                <a:off x="7660" y="10095"/>
                <a:ext cx="1038" cy="465"/>
                <a:chOff x="7944" y="10095"/>
                <a:chExt cx="1038" cy="465"/>
              </a:xfrm>
            </p:grpSpPr>
            <p:sp>
              <p:nvSpPr>
                <p:cNvPr id="12322" name="Line 57"/>
                <p:cNvSpPr/>
                <p:nvPr/>
              </p:nvSpPr>
              <p:spPr>
                <a:xfrm flipV="1">
                  <a:off x="8034" y="10455"/>
                  <a:ext cx="810" cy="0"/>
                </a:xfrm>
                <a:prstGeom prst="line">
                  <a:avLst/>
                </a:prstGeom>
                <a:ln w="9525" cap="flat" cmpd="sng">
                  <a:solidFill>
                    <a:srgbClr val="000000"/>
                  </a:solidFill>
                  <a:prstDash val="solid"/>
                  <a:headEnd type="none" w="sm" len="med"/>
                  <a:tailEnd type="triangle" w="sm" len="med"/>
                </a:ln>
              </p:spPr>
            </p:sp>
            <p:sp>
              <p:nvSpPr>
                <p:cNvPr id="12323" name="Rectangle 58"/>
                <p:cNvSpPr/>
                <p:nvPr/>
              </p:nvSpPr>
              <p:spPr>
                <a:xfrm>
                  <a:off x="7944" y="10095"/>
                  <a:ext cx="103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发书单</a:t>
                  </a:r>
                  <a:endParaRPr lang="zh-CN" altLang="en-US" sz="1800" b="1" dirty="0">
                    <a:latin typeface="Comic Sans MS" panose="030F0702030302020204" pitchFamily="66" charset="0"/>
                    <a:ea typeface="黑体" panose="02010609060101010101" pitchFamily="49" charset="-122"/>
                  </a:endParaRPr>
                </a:p>
              </p:txBody>
            </p:sp>
          </p:grpSp>
          <p:grpSp>
            <p:nvGrpSpPr>
              <p:cNvPr id="12317" name="Group 59"/>
              <p:cNvGrpSpPr/>
              <p:nvPr/>
            </p:nvGrpSpPr>
            <p:grpSpPr>
              <a:xfrm>
                <a:off x="3884" y="10080"/>
                <a:ext cx="983" cy="465"/>
                <a:chOff x="3884" y="10080"/>
                <a:chExt cx="983" cy="465"/>
              </a:xfrm>
            </p:grpSpPr>
            <p:sp>
              <p:nvSpPr>
                <p:cNvPr id="12320" name="Line 60"/>
                <p:cNvSpPr/>
                <p:nvPr/>
              </p:nvSpPr>
              <p:spPr>
                <a:xfrm>
                  <a:off x="3924" y="10455"/>
                  <a:ext cx="872" cy="0"/>
                </a:xfrm>
                <a:prstGeom prst="line">
                  <a:avLst/>
                </a:prstGeom>
                <a:ln w="9525" cap="flat" cmpd="sng">
                  <a:solidFill>
                    <a:srgbClr val="000000"/>
                  </a:solidFill>
                  <a:prstDash val="solid"/>
                  <a:headEnd type="none" w="sm" len="med"/>
                  <a:tailEnd type="triangle" w="sm" len="med"/>
                </a:ln>
              </p:spPr>
            </p:sp>
            <p:sp>
              <p:nvSpPr>
                <p:cNvPr id="12321" name="Rectangle 61"/>
                <p:cNvSpPr/>
                <p:nvPr/>
              </p:nvSpPr>
              <p:spPr>
                <a:xfrm>
                  <a:off x="3884" y="10080"/>
                  <a:ext cx="983"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订购单</a:t>
                  </a:r>
                  <a:endParaRPr lang="zh-CN" altLang="en-US" sz="1800" b="1" dirty="0">
                    <a:latin typeface="Comic Sans MS" panose="030F0702030302020204" pitchFamily="66" charset="0"/>
                    <a:ea typeface="黑体" panose="02010609060101010101" pitchFamily="49" charset="-122"/>
                  </a:endParaRPr>
                </a:p>
              </p:txBody>
            </p:sp>
          </p:grpSp>
          <p:sp>
            <p:nvSpPr>
              <p:cNvPr id="12318" name="Rectangle 62"/>
              <p:cNvSpPr/>
              <p:nvPr/>
            </p:nvSpPr>
            <p:spPr>
              <a:xfrm>
                <a:off x="8566" y="10212"/>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顾客</a:t>
                </a:r>
                <a:endParaRPr lang="zh-CN" altLang="en-US" sz="1800" b="1" dirty="0">
                  <a:latin typeface="Comic Sans MS" panose="030F0702030302020204" pitchFamily="66" charset="0"/>
                  <a:ea typeface="黑体" panose="02010609060101010101" pitchFamily="49" charset="-122"/>
                </a:endParaRPr>
              </a:p>
            </p:txBody>
          </p:sp>
          <p:sp>
            <p:nvSpPr>
              <p:cNvPr id="12319" name="Rectangle 63"/>
              <p:cNvSpPr/>
              <p:nvPr/>
            </p:nvSpPr>
            <p:spPr>
              <a:xfrm>
                <a:off x="3016" y="1022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顾客</a:t>
                </a:r>
                <a:endParaRPr lang="zh-CN" altLang="en-US" sz="1800" b="1" dirty="0">
                  <a:latin typeface="Comic Sans MS" panose="030F0702030302020204" pitchFamily="66" charset="0"/>
                  <a:ea typeface="黑体" panose="02010609060101010101" pitchFamily="49" charset="-122"/>
                </a:endParaRPr>
              </a:p>
            </p:txBody>
          </p:sp>
        </p:grpSp>
        <p:grpSp>
          <p:nvGrpSpPr>
            <p:cNvPr id="12305" name="Group 64"/>
            <p:cNvGrpSpPr/>
            <p:nvPr/>
          </p:nvGrpSpPr>
          <p:grpSpPr>
            <a:xfrm>
              <a:off x="3966" y="11655"/>
              <a:ext cx="2472" cy="1079"/>
              <a:chOff x="3966" y="11655"/>
              <a:chExt cx="2472" cy="1079"/>
            </a:xfrm>
          </p:grpSpPr>
          <p:sp>
            <p:nvSpPr>
              <p:cNvPr id="12306" name="Arc 65"/>
              <p:cNvSpPr/>
              <p:nvPr/>
            </p:nvSpPr>
            <p:spPr>
              <a:xfrm>
                <a:off x="5506" y="11766"/>
                <a:ext cx="932"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triangle" w="sm" len="med"/>
              </a:ln>
            </p:spPr>
            <p:txBody>
              <a:bodyPr/>
              <a:p>
                <a:endParaRPr lang="zh-CN" altLang="en-US"/>
              </a:p>
            </p:txBody>
          </p:sp>
          <p:grpSp>
            <p:nvGrpSpPr>
              <p:cNvPr id="12307" name="Group 66"/>
              <p:cNvGrpSpPr/>
              <p:nvPr/>
            </p:nvGrpSpPr>
            <p:grpSpPr>
              <a:xfrm>
                <a:off x="4908" y="11850"/>
                <a:ext cx="720" cy="666"/>
                <a:chOff x="4908" y="11850"/>
                <a:chExt cx="720" cy="666"/>
              </a:xfrm>
            </p:grpSpPr>
            <p:sp>
              <p:nvSpPr>
                <p:cNvPr id="12311" name="Rectangle 67"/>
                <p:cNvSpPr/>
                <p:nvPr/>
              </p:nvSpPr>
              <p:spPr>
                <a:xfrm>
                  <a:off x="4915" y="11928"/>
                  <a:ext cx="713" cy="52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收费数据</a:t>
                  </a:r>
                  <a:endParaRPr lang="zh-CN" altLang="en-US" sz="1800" b="1" dirty="0">
                    <a:latin typeface="Comic Sans MS" panose="030F0702030302020204" pitchFamily="66" charset="0"/>
                    <a:ea typeface="黑体" panose="02010609060101010101" pitchFamily="49" charset="-122"/>
                  </a:endParaRPr>
                </a:p>
              </p:txBody>
            </p:sp>
            <p:sp>
              <p:nvSpPr>
                <p:cNvPr id="12312" name="Arc 68"/>
                <p:cNvSpPr/>
                <p:nvPr/>
              </p:nvSpPr>
              <p:spPr>
                <a:xfrm rot="4158750" flipH="1" flipV="1">
                  <a:off x="4752" y="12006"/>
                  <a:ext cx="666" cy="354"/>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12308" name="Group 69"/>
              <p:cNvGrpSpPr/>
              <p:nvPr/>
            </p:nvGrpSpPr>
            <p:grpSpPr>
              <a:xfrm>
                <a:off x="3966" y="11655"/>
                <a:ext cx="492" cy="817"/>
                <a:chOff x="3966" y="11655"/>
                <a:chExt cx="492" cy="817"/>
              </a:xfrm>
            </p:grpSpPr>
            <p:sp>
              <p:nvSpPr>
                <p:cNvPr id="12309" name="Arc 70"/>
                <p:cNvSpPr/>
                <p:nvPr/>
              </p:nvSpPr>
              <p:spPr>
                <a:xfrm rot="6771294" flipH="1">
                  <a:off x="3770" y="11850"/>
                  <a:ext cx="817" cy="426"/>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2310" name="Rectangle 71"/>
                <p:cNvSpPr/>
                <p:nvPr/>
              </p:nvSpPr>
              <p:spPr>
                <a:xfrm>
                  <a:off x="3980" y="11760"/>
                  <a:ext cx="478" cy="615"/>
                </a:xfrm>
                <a:prstGeom prst="rect">
                  <a:avLst/>
                </a:prstGeom>
                <a:noFill/>
                <a:ln w="9525">
                  <a:noFill/>
                </a:ln>
              </p:spPr>
              <p:txBody>
                <a:bodyPr vert="eaVert"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帐单</a:t>
                  </a:r>
                  <a:endParaRPr lang="zh-CN" altLang="en-US" sz="1800" b="1" dirty="0">
                    <a:latin typeface="Comic Sans MS" panose="030F0702030302020204" pitchFamily="66" charset="0"/>
                    <a:ea typeface="黑体" panose="02010609060101010101" pitchFamily="49" charset="-122"/>
                  </a:endParaRPr>
                </a:p>
              </p:txBody>
            </p:sp>
          </p:grpSp>
        </p:grpSp>
      </p:gr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数据流图的各个层次</a:t>
            </a:r>
            <a:endParaRPr lang="zh-CN" altLang="en-US" b="1" dirty="0">
              <a:latin typeface="微软雅黑" panose="020B0503020204020204" pitchFamily="34" charset="-122"/>
              <a:ea typeface="微软雅黑" panose="020B0503020204020204" pitchFamily="34" charset="-122"/>
            </a:endParaRPr>
          </a:p>
        </p:txBody>
      </p:sp>
      <p:grpSp>
        <p:nvGrpSpPr>
          <p:cNvPr id="14339" name="Group 7"/>
          <p:cNvGrpSpPr/>
          <p:nvPr/>
        </p:nvGrpSpPr>
        <p:grpSpPr>
          <a:xfrm>
            <a:off x="4405313" y="4714875"/>
            <a:ext cx="1878012" cy="733425"/>
            <a:chOff x="4696" y="7395"/>
            <a:chExt cx="2964" cy="1155"/>
          </a:xfrm>
        </p:grpSpPr>
        <p:sp>
          <p:nvSpPr>
            <p:cNvPr id="14396"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97" name="Group 9"/>
            <p:cNvGrpSpPr/>
            <p:nvPr/>
          </p:nvGrpSpPr>
          <p:grpSpPr>
            <a:xfrm>
              <a:off x="5349" y="7455"/>
              <a:ext cx="1667" cy="1050"/>
              <a:chOff x="5349" y="7455"/>
              <a:chExt cx="1667" cy="1050"/>
            </a:xfrm>
          </p:grpSpPr>
          <p:grpSp>
            <p:nvGrpSpPr>
              <p:cNvPr id="14398" name="Group 10"/>
              <p:cNvGrpSpPr/>
              <p:nvPr/>
            </p:nvGrpSpPr>
            <p:grpSpPr>
              <a:xfrm>
                <a:off x="5349" y="8025"/>
                <a:ext cx="1549" cy="480"/>
                <a:chOff x="5349" y="8025"/>
                <a:chExt cx="1549" cy="480"/>
              </a:xfrm>
            </p:grpSpPr>
            <p:grpSp>
              <p:nvGrpSpPr>
                <p:cNvPr id="14410" name="Group 11"/>
                <p:cNvGrpSpPr/>
                <p:nvPr/>
              </p:nvGrpSpPr>
              <p:grpSpPr>
                <a:xfrm>
                  <a:off x="6115" y="8025"/>
                  <a:ext cx="540" cy="465"/>
                  <a:chOff x="7872" y="5655"/>
                  <a:chExt cx="540" cy="465"/>
                </a:xfrm>
              </p:grpSpPr>
              <p:sp>
                <p:nvSpPr>
                  <p:cNvPr id="14416"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2.4</a:t>
                    </a:r>
                    <a:endParaRPr lang="en-US" altLang="zh-CN" sz="1600" b="1" dirty="0">
                      <a:latin typeface="Comic Sans MS" panose="030F0702030302020204" pitchFamily="66" charset="0"/>
                      <a:ea typeface="黑体" panose="02010609060101010101" pitchFamily="49" charset="-122"/>
                    </a:endParaRPr>
                  </a:p>
                </p:txBody>
              </p:sp>
              <p:sp>
                <p:nvSpPr>
                  <p:cNvPr id="14417"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411" name="Group 14"/>
                <p:cNvGrpSpPr/>
                <p:nvPr/>
              </p:nvGrpSpPr>
              <p:grpSpPr>
                <a:xfrm>
                  <a:off x="5349" y="8040"/>
                  <a:ext cx="540" cy="465"/>
                  <a:chOff x="6972" y="5640"/>
                  <a:chExt cx="540" cy="465"/>
                </a:xfrm>
              </p:grpSpPr>
              <p:sp>
                <p:nvSpPr>
                  <p:cNvPr id="14414"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2.3</a:t>
                    </a:r>
                    <a:endParaRPr lang="en-US" altLang="zh-CN" sz="1600" b="1" dirty="0">
                      <a:latin typeface="Comic Sans MS" panose="030F0702030302020204" pitchFamily="66" charset="0"/>
                      <a:ea typeface="黑体" panose="02010609060101010101" pitchFamily="49" charset="-122"/>
                    </a:endParaRPr>
                  </a:p>
                </p:txBody>
              </p:sp>
              <p:sp>
                <p:nvSpPr>
                  <p:cNvPr id="14415"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412"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14413"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14399" name="Group 19"/>
              <p:cNvGrpSpPr/>
              <p:nvPr/>
            </p:nvGrpSpPr>
            <p:grpSpPr>
              <a:xfrm>
                <a:off x="5426" y="7455"/>
                <a:ext cx="1590" cy="480"/>
                <a:chOff x="5382" y="7440"/>
                <a:chExt cx="1590" cy="480"/>
              </a:xfrm>
            </p:grpSpPr>
            <p:grpSp>
              <p:nvGrpSpPr>
                <p:cNvPr id="14402" name="Group 20"/>
                <p:cNvGrpSpPr/>
                <p:nvPr/>
              </p:nvGrpSpPr>
              <p:grpSpPr>
                <a:xfrm>
                  <a:off x="6432" y="7440"/>
                  <a:ext cx="540" cy="465"/>
                  <a:chOff x="7872" y="5655"/>
                  <a:chExt cx="540" cy="465"/>
                </a:xfrm>
              </p:grpSpPr>
              <p:sp>
                <p:nvSpPr>
                  <p:cNvPr id="14408"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2.2</a:t>
                    </a:r>
                    <a:endParaRPr lang="en-US" altLang="zh-CN" sz="1600" b="1" dirty="0">
                      <a:latin typeface="Comic Sans MS" panose="030F0702030302020204" pitchFamily="66" charset="0"/>
                      <a:ea typeface="黑体" panose="02010609060101010101" pitchFamily="49" charset="-122"/>
                    </a:endParaRPr>
                  </a:p>
                </p:txBody>
              </p:sp>
              <p:sp>
                <p:nvSpPr>
                  <p:cNvPr id="14409"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403" name="Group 23"/>
                <p:cNvGrpSpPr/>
                <p:nvPr/>
              </p:nvGrpSpPr>
              <p:grpSpPr>
                <a:xfrm>
                  <a:off x="5666" y="7455"/>
                  <a:ext cx="540" cy="465"/>
                  <a:chOff x="6972" y="5640"/>
                  <a:chExt cx="540" cy="465"/>
                </a:xfrm>
              </p:grpSpPr>
              <p:sp>
                <p:nvSpPr>
                  <p:cNvPr id="14406"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2.1</a:t>
                    </a:r>
                    <a:endParaRPr lang="en-US" altLang="zh-CN" sz="1600" b="1" dirty="0">
                      <a:latin typeface="Comic Sans MS" panose="030F0702030302020204" pitchFamily="66" charset="0"/>
                      <a:ea typeface="黑体" panose="02010609060101010101" pitchFamily="49" charset="-122"/>
                    </a:endParaRPr>
                  </a:p>
                </p:txBody>
              </p:sp>
              <p:sp>
                <p:nvSpPr>
                  <p:cNvPr id="14407"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404"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14405"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14400"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14401"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14340" name="Group 30"/>
          <p:cNvGrpSpPr/>
          <p:nvPr/>
        </p:nvGrpSpPr>
        <p:grpSpPr>
          <a:xfrm>
            <a:off x="3941763" y="3670300"/>
            <a:ext cx="1876425" cy="731838"/>
            <a:chOff x="1756" y="7515"/>
            <a:chExt cx="2964" cy="1155"/>
          </a:xfrm>
        </p:grpSpPr>
        <p:sp>
          <p:nvSpPr>
            <p:cNvPr id="14376"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77" name="Group 32"/>
            <p:cNvGrpSpPr/>
            <p:nvPr/>
          </p:nvGrpSpPr>
          <p:grpSpPr>
            <a:xfrm>
              <a:off x="2409" y="7575"/>
              <a:ext cx="1953" cy="1050"/>
              <a:chOff x="2409" y="7575"/>
              <a:chExt cx="1953" cy="1050"/>
            </a:xfrm>
          </p:grpSpPr>
          <p:grpSp>
            <p:nvGrpSpPr>
              <p:cNvPr id="14378" name="Group 33"/>
              <p:cNvGrpSpPr/>
              <p:nvPr/>
            </p:nvGrpSpPr>
            <p:grpSpPr>
              <a:xfrm>
                <a:off x="3175" y="8145"/>
                <a:ext cx="540" cy="465"/>
                <a:chOff x="7872" y="5655"/>
                <a:chExt cx="540" cy="465"/>
              </a:xfrm>
            </p:grpSpPr>
            <p:sp>
              <p:nvSpPr>
                <p:cNvPr id="14394"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a:t>
                  </a:r>
                  <a:endParaRPr lang="en-US" altLang="zh-CN" sz="1600" b="1" dirty="0">
                    <a:latin typeface="Comic Sans MS" panose="030F0702030302020204" pitchFamily="66" charset="0"/>
                    <a:ea typeface="黑体" panose="02010609060101010101" pitchFamily="49" charset="-122"/>
                  </a:endParaRPr>
                </a:p>
              </p:txBody>
            </p:sp>
            <p:sp>
              <p:nvSpPr>
                <p:cNvPr id="14395"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79" name="Group 36"/>
              <p:cNvGrpSpPr/>
              <p:nvPr/>
            </p:nvGrpSpPr>
            <p:grpSpPr>
              <a:xfrm>
                <a:off x="2409" y="8160"/>
                <a:ext cx="540" cy="465"/>
                <a:chOff x="6972" y="5640"/>
                <a:chExt cx="540" cy="465"/>
              </a:xfrm>
            </p:grpSpPr>
            <p:sp>
              <p:nvSpPr>
                <p:cNvPr id="14392"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a:t>
                  </a:r>
                  <a:endParaRPr lang="en-US" altLang="zh-CN" sz="1600" b="1" dirty="0">
                    <a:latin typeface="Comic Sans MS" panose="030F0702030302020204" pitchFamily="66" charset="0"/>
                    <a:ea typeface="黑体" panose="02010609060101010101" pitchFamily="49" charset="-122"/>
                  </a:endParaRPr>
                </a:p>
              </p:txBody>
            </p:sp>
            <p:sp>
              <p:nvSpPr>
                <p:cNvPr id="14393"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80"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14381"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14382" name="Group 41"/>
              <p:cNvGrpSpPr/>
              <p:nvPr/>
            </p:nvGrpSpPr>
            <p:grpSpPr>
              <a:xfrm>
                <a:off x="3536" y="7575"/>
                <a:ext cx="540" cy="465"/>
                <a:chOff x="7872" y="5655"/>
                <a:chExt cx="540" cy="465"/>
              </a:xfrm>
            </p:grpSpPr>
            <p:sp>
              <p:nvSpPr>
                <p:cNvPr id="14390"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4</a:t>
                  </a:r>
                  <a:endParaRPr lang="en-US" altLang="zh-CN" sz="1600" b="1" dirty="0">
                    <a:latin typeface="Comic Sans MS" panose="030F0702030302020204" pitchFamily="66" charset="0"/>
                    <a:ea typeface="黑体" panose="02010609060101010101" pitchFamily="49" charset="-122"/>
                  </a:endParaRPr>
                </a:p>
              </p:txBody>
            </p:sp>
            <p:sp>
              <p:nvSpPr>
                <p:cNvPr id="14391"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83" name="Group 44"/>
              <p:cNvGrpSpPr/>
              <p:nvPr/>
            </p:nvGrpSpPr>
            <p:grpSpPr>
              <a:xfrm>
                <a:off x="2770" y="7590"/>
                <a:ext cx="540" cy="465"/>
                <a:chOff x="6972" y="5640"/>
                <a:chExt cx="540" cy="465"/>
              </a:xfrm>
            </p:grpSpPr>
            <p:sp>
              <p:nvSpPr>
                <p:cNvPr id="14388"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3</a:t>
                  </a:r>
                  <a:endParaRPr lang="en-US" altLang="zh-CN" sz="1600" b="1" dirty="0">
                    <a:latin typeface="Comic Sans MS" panose="030F0702030302020204" pitchFamily="66" charset="0"/>
                    <a:ea typeface="黑体" panose="02010609060101010101" pitchFamily="49" charset="-122"/>
                  </a:endParaRPr>
                </a:p>
              </p:txBody>
            </p:sp>
            <p:sp>
              <p:nvSpPr>
                <p:cNvPr id="14389"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84"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14385"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14386"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14387"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14341" name="Group 51"/>
          <p:cNvGrpSpPr/>
          <p:nvPr/>
        </p:nvGrpSpPr>
        <p:grpSpPr>
          <a:xfrm>
            <a:off x="2563813" y="4714875"/>
            <a:ext cx="1876425" cy="733425"/>
            <a:chOff x="1966" y="9000"/>
            <a:chExt cx="2964" cy="1155"/>
          </a:xfrm>
        </p:grpSpPr>
        <p:sp>
          <p:nvSpPr>
            <p:cNvPr id="14360"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61" name="Group 53"/>
            <p:cNvGrpSpPr/>
            <p:nvPr/>
          </p:nvGrpSpPr>
          <p:grpSpPr>
            <a:xfrm>
              <a:off x="2619" y="9075"/>
              <a:ext cx="1789" cy="1035"/>
              <a:chOff x="2619" y="9075"/>
              <a:chExt cx="1789" cy="1035"/>
            </a:xfrm>
          </p:grpSpPr>
          <p:grpSp>
            <p:nvGrpSpPr>
              <p:cNvPr id="14362" name="Group 54"/>
              <p:cNvGrpSpPr/>
              <p:nvPr/>
            </p:nvGrpSpPr>
            <p:grpSpPr>
              <a:xfrm>
                <a:off x="3385" y="9630"/>
                <a:ext cx="540" cy="465"/>
                <a:chOff x="7872" y="5655"/>
                <a:chExt cx="540" cy="465"/>
              </a:xfrm>
            </p:grpSpPr>
            <p:sp>
              <p:nvSpPr>
                <p:cNvPr id="14374"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1.3</a:t>
                  </a:r>
                  <a:endParaRPr lang="en-US" altLang="zh-CN" sz="1600" b="1" dirty="0">
                    <a:latin typeface="Comic Sans MS" panose="030F0702030302020204" pitchFamily="66" charset="0"/>
                    <a:ea typeface="黑体" panose="02010609060101010101" pitchFamily="49" charset="-122"/>
                  </a:endParaRPr>
                </a:p>
              </p:txBody>
            </p:sp>
            <p:sp>
              <p:nvSpPr>
                <p:cNvPr id="14375"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63" name="Group 57"/>
              <p:cNvGrpSpPr/>
              <p:nvPr/>
            </p:nvGrpSpPr>
            <p:grpSpPr>
              <a:xfrm>
                <a:off x="2619" y="9645"/>
                <a:ext cx="540" cy="465"/>
                <a:chOff x="6972" y="5640"/>
                <a:chExt cx="540" cy="465"/>
              </a:xfrm>
            </p:grpSpPr>
            <p:sp>
              <p:nvSpPr>
                <p:cNvPr id="14372"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1.2</a:t>
                  </a:r>
                  <a:endParaRPr lang="en-US" altLang="zh-CN" sz="1600" b="1" dirty="0">
                    <a:latin typeface="Comic Sans MS" panose="030F0702030302020204" pitchFamily="66" charset="0"/>
                    <a:ea typeface="黑体" panose="02010609060101010101" pitchFamily="49" charset="-122"/>
                  </a:endParaRPr>
                </a:p>
              </p:txBody>
            </p:sp>
            <p:sp>
              <p:nvSpPr>
                <p:cNvPr id="14373"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64"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14365"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14366" name="Group 62"/>
              <p:cNvGrpSpPr/>
              <p:nvPr/>
            </p:nvGrpSpPr>
            <p:grpSpPr>
              <a:xfrm>
                <a:off x="2980" y="9075"/>
                <a:ext cx="540" cy="465"/>
                <a:chOff x="6972" y="5640"/>
                <a:chExt cx="540" cy="465"/>
              </a:xfrm>
            </p:grpSpPr>
            <p:sp>
              <p:nvSpPr>
                <p:cNvPr id="14370"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1.1</a:t>
                  </a:r>
                  <a:endParaRPr lang="en-US" altLang="zh-CN" sz="1600" b="1" dirty="0">
                    <a:latin typeface="Comic Sans MS" panose="030F0702030302020204" pitchFamily="66" charset="0"/>
                    <a:ea typeface="黑体" panose="02010609060101010101" pitchFamily="49" charset="-122"/>
                  </a:endParaRPr>
                </a:p>
              </p:txBody>
            </p:sp>
            <p:sp>
              <p:nvSpPr>
                <p:cNvPr id="14371"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67"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14368"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14369"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14342" name="Group 68"/>
          <p:cNvGrpSpPr/>
          <p:nvPr/>
        </p:nvGrpSpPr>
        <p:grpSpPr>
          <a:xfrm>
            <a:off x="3949700" y="2662238"/>
            <a:ext cx="1878013" cy="731837"/>
            <a:chOff x="5236" y="8460"/>
            <a:chExt cx="2964" cy="1155"/>
          </a:xfrm>
        </p:grpSpPr>
        <p:sp>
          <p:nvSpPr>
            <p:cNvPr id="14352"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53" name="Group 70"/>
            <p:cNvGrpSpPr/>
            <p:nvPr/>
          </p:nvGrpSpPr>
          <p:grpSpPr>
            <a:xfrm>
              <a:off x="5934" y="8850"/>
              <a:ext cx="1356" cy="555"/>
              <a:chOff x="5934" y="8850"/>
              <a:chExt cx="1356" cy="555"/>
            </a:xfrm>
          </p:grpSpPr>
          <p:grpSp>
            <p:nvGrpSpPr>
              <p:cNvPr id="14354" name="Group 71"/>
              <p:cNvGrpSpPr/>
              <p:nvPr/>
            </p:nvGrpSpPr>
            <p:grpSpPr>
              <a:xfrm>
                <a:off x="6354" y="8850"/>
                <a:ext cx="540" cy="465"/>
                <a:chOff x="6354" y="8850"/>
                <a:chExt cx="540" cy="465"/>
              </a:xfrm>
            </p:grpSpPr>
            <p:sp>
              <p:nvSpPr>
                <p:cNvPr id="14358"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X</a:t>
                  </a:r>
                  <a:endParaRPr lang="en-US" altLang="zh-CN" sz="1600" b="1" dirty="0">
                    <a:latin typeface="Comic Sans MS" panose="030F0702030302020204" pitchFamily="66" charset="0"/>
                    <a:ea typeface="黑体" panose="02010609060101010101" pitchFamily="49" charset="-122"/>
                  </a:endParaRPr>
                </a:p>
              </p:txBody>
            </p:sp>
            <p:sp>
              <p:nvSpPr>
                <p:cNvPr id="14359"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55"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14356"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14357"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14343" name="Line 78"/>
          <p:cNvSpPr/>
          <p:nvPr/>
        </p:nvSpPr>
        <p:spPr>
          <a:xfrm flipH="1">
            <a:off x="4422775" y="3136900"/>
            <a:ext cx="315913" cy="523875"/>
          </a:xfrm>
          <a:prstGeom prst="line">
            <a:avLst/>
          </a:prstGeom>
          <a:ln w="9525" cap="flat" cmpd="sng">
            <a:solidFill>
              <a:srgbClr val="000000"/>
            </a:solidFill>
            <a:prstDash val="dash"/>
            <a:headEnd type="none" w="med" len="med"/>
            <a:tailEnd type="none" w="med" len="med"/>
          </a:ln>
        </p:spPr>
      </p:sp>
      <p:sp>
        <p:nvSpPr>
          <p:cNvPr id="14344" name="Line 79"/>
          <p:cNvSpPr/>
          <p:nvPr/>
        </p:nvSpPr>
        <p:spPr>
          <a:xfrm>
            <a:off x="4897438" y="3155950"/>
            <a:ext cx="914400" cy="504825"/>
          </a:xfrm>
          <a:prstGeom prst="line">
            <a:avLst/>
          </a:prstGeom>
          <a:ln w="9525" cap="flat" cmpd="sng">
            <a:solidFill>
              <a:srgbClr val="000000"/>
            </a:solidFill>
            <a:prstDash val="dash"/>
            <a:headEnd type="none" w="med" len="med"/>
            <a:tailEnd type="none" w="med" len="med"/>
          </a:ln>
        </p:spPr>
      </p:sp>
      <p:sp>
        <p:nvSpPr>
          <p:cNvPr id="14345" name="Line 80"/>
          <p:cNvSpPr/>
          <p:nvPr/>
        </p:nvSpPr>
        <p:spPr>
          <a:xfrm flipH="1">
            <a:off x="3017838" y="4268788"/>
            <a:ext cx="1377950" cy="455612"/>
          </a:xfrm>
          <a:prstGeom prst="line">
            <a:avLst/>
          </a:prstGeom>
          <a:ln w="9525" cap="flat" cmpd="sng">
            <a:solidFill>
              <a:srgbClr val="000000"/>
            </a:solidFill>
            <a:prstDash val="dash"/>
            <a:headEnd type="none" w="med" len="med"/>
            <a:tailEnd type="none" w="med" len="med"/>
          </a:ln>
        </p:spPr>
      </p:sp>
      <p:sp>
        <p:nvSpPr>
          <p:cNvPr id="14346" name="Line 81"/>
          <p:cNvSpPr/>
          <p:nvPr/>
        </p:nvSpPr>
        <p:spPr>
          <a:xfrm flipH="1">
            <a:off x="4441825" y="4354513"/>
            <a:ext cx="68263" cy="352425"/>
          </a:xfrm>
          <a:prstGeom prst="line">
            <a:avLst/>
          </a:prstGeom>
          <a:ln w="9525" cap="flat" cmpd="sng">
            <a:solidFill>
              <a:srgbClr val="000000"/>
            </a:solidFill>
            <a:prstDash val="dash"/>
            <a:headEnd type="none" w="med" len="med"/>
            <a:tailEnd type="none" w="med" len="med"/>
          </a:ln>
        </p:spPr>
      </p:sp>
      <p:sp>
        <p:nvSpPr>
          <p:cNvPr id="14347" name="Line 82"/>
          <p:cNvSpPr/>
          <p:nvPr/>
        </p:nvSpPr>
        <p:spPr>
          <a:xfrm flipH="1">
            <a:off x="4870450" y="4335463"/>
            <a:ext cx="84138" cy="371475"/>
          </a:xfrm>
          <a:prstGeom prst="line">
            <a:avLst/>
          </a:prstGeom>
          <a:ln w="9525" cap="flat" cmpd="sng">
            <a:solidFill>
              <a:srgbClr val="000000"/>
            </a:solidFill>
            <a:prstDash val="dash"/>
            <a:headEnd type="none" w="med" len="med"/>
            <a:tailEnd type="none" w="med" len="med"/>
          </a:ln>
        </p:spPr>
      </p:sp>
      <p:sp>
        <p:nvSpPr>
          <p:cNvPr id="14348" name="Line 83"/>
          <p:cNvSpPr/>
          <p:nvPr/>
        </p:nvSpPr>
        <p:spPr>
          <a:xfrm>
            <a:off x="5087938" y="4316413"/>
            <a:ext cx="1189037" cy="398462"/>
          </a:xfrm>
          <a:prstGeom prst="line">
            <a:avLst/>
          </a:prstGeom>
          <a:ln w="9525" cap="flat" cmpd="sng">
            <a:solidFill>
              <a:srgbClr val="000000"/>
            </a:solidFill>
            <a:prstDash val="dash"/>
            <a:headEnd type="none" w="med" len="med"/>
            <a:tailEnd type="none" w="med" len="med"/>
          </a:ln>
        </p:spPr>
      </p:sp>
      <p:sp>
        <p:nvSpPr>
          <p:cNvPr id="14349" name="TextBox 2"/>
          <p:cNvSpPr txBox="1"/>
          <p:nvPr/>
        </p:nvSpPr>
        <p:spPr>
          <a:xfrm>
            <a:off x="608013" y="2662238"/>
            <a:ext cx="2060575" cy="5222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800" b="1" dirty="0">
                <a:solidFill>
                  <a:srgbClr val="FF0000"/>
                </a:solidFill>
                <a:latin typeface="Comic Sans MS" panose="030F0702030302020204" pitchFamily="66" charset="0"/>
                <a:ea typeface="黑体" panose="02010609060101010101" pitchFamily="49" charset="-122"/>
              </a:rPr>
              <a:t>0</a:t>
            </a:r>
            <a:r>
              <a:rPr lang="zh-CN" altLang="en-US" sz="2800" b="1" dirty="0">
                <a:solidFill>
                  <a:srgbClr val="FF0000"/>
                </a:solidFill>
                <a:latin typeface="Comic Sans MS" panose="030F0702030302020204" pitchFamily="66" charset="0"/>
                <a:ea typeface="黑体" panose="02010609060101010101" pitchFamily="49" charset="-122"/>
              </a:rPr>
              <a:t>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
        <p:nvSpPr>
          <p:cNvPr id="14350" name="TextBox 81"/>
          <p:cNvSpPr txBox="1"/>
          <p:nvPr/>
        </p:nvSpPr>
        <p:spPr>
          <a:xfrm>
            <a:off x="684213" y="3722688"/>
            <a:ext cx="2060575" cy="5222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800" b="1" dirty="0">
                <a:solidFill>
                  <a:srgbClr val="FF0000"/>
                </a:solidFill>
                <a:latin typeface="Comic Sans MS" panose="030F0702030302020204" pitchFamily="66" charset="0"/>
                <a:ea typeface="黑体" panose="02010609060101010101" pitchFamily="49" charset="-122"/>
              </a:rPr>
              <a:t>1</a:t>
            </a:r>
            <a:r>
              <a:rPr lang="zh-CN" altLang="en-US" sz="2800" b="1" dirty="0">
                <a:solidFill>
                  <a:srgbClr val="FF0000"/>
                </a:solidFill>
                <a:latin typeface="Comic Sans MS" panose="030F0702030302020204" pitchFamily="66" charset="0"/>
                <a:ea typeface="黑体" panose="02010609060101010101" pitchFamily="49" charset="-122"/>
              </a:rPr>
              <a:t>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
        <p:nvSpPr>
          <p:cNvPr id="14351" name="TextBox 82"/>
          <p:cNvSpPr txBox="1"/>
          <p:nvPr/>
        </p:nvSpPr>
        <p:spPr>
          <a:xfrm>
            <a:off x="684213" y="4714875"/>
            <a:ext cx="2060575" cy="5238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zh-CN" altLang="en-US" sz="2800" b="1" dirty="0">
                <a:solidFill>
                  <a:srgbClr val="FF0000"/>
                </a:solidFill>
                <a:latin typeface="Comic Sans MS" panose="030F0702030302020204" pitchFamily="66" charset="0"/>
                <a:ea typeface="黑体" panose="02010609060101010101" pitchFamily="49" charset="-122"/>
              </a:rPr>
              <a:t>中间层图：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55613" y="381000"/>
            <a:ext cx="8207375" cy="1139825"/>
          </a:xfrm>
        </p:spPr>
        <p:txBody>
          <a:bodyPr vert="horz" wrap="square" lIns="0" tIns="45610" rIns="0" bIns="0" anchor="b" anchorCtr="0"/>
          <a:p>
            <a:pPr marL="758825" indent="-758825"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16387" name="Group 7"/>
          <p:cNvGrpSpPr/>
          <p:nvPr/>
        </p:nvGrpSpPr>
        <p:grpSpPr>
          <a:xfrm>
            <a:off x="3851275" y="2924175"/>
            <a:ext cx="1143000" cy="1101725"/>
            <a:chOff x="4154" y="12570"/>
            <a:chExt cx="974" cy="850"/>
          </a:xfrm>
        </p:grpSpPr>
        <p:sp>
          <p:nvSpPr>
            <p:cNvPr id="16415" name="Oval 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6416" name="Rectangle 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考务</a:t>
              </a:r>
              <a:endParaRPr lang="zh-CN" altLang="en-US" sz="2000" b="1" dirty="0">
                <a:latin typeface="Times New Roman" panose="02020603050405020304" pitchFamily="18" charset="0"/>
                <a:ea typeface="黑体" panose="02010609060101010101" pitchFamily="49" charset="-122"/>
              </a:endParaRPr>
            </a:p>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处理系统</a:t>
              </a:r>
              <a:endParaRPr lang="zh-CN" altLang="en-US" sz="2000" b="1" dirty="0">
                <a:latin typeface="Comic Sans MS" panose="030F0702030302020204" pitchFamily="66" charset="0"/>
                <a:ea typeface="黑体" panose="02010609060101010101" pitchFamily="49" charset="-122"/>
              </a:endParaRPr>
            </a:p>
          </p:txBody>
        </p:sp>
      </p:grpSp>
      <p:sp>
        <p:nvSpPr>
          <p:cNvPr id="16388" name="Rectangle 10"/>
          <p:cNvSpPr/>
          <p:nvPr/>
        </p:nvSpPr>
        <p:spPr>
          <a:xfrm>
            <a:off x="6610350" y="3246438"/>
            <a:ext cx="1531938" cy="449262"/>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考试中心</a:t>
            </a:r>
            <a:endParaRPr lang="zh-CN" altLang="en-US" sz="2000" b="1" dirty="0">
              <a:latin typeface="Comic Sans MS" panose="030F0702030302020204" pitchFamily="66" charset="0"/>
              <a:ea typeface="黑体" panose="02010609060101010101" pitchFamily="49" charset="-122"/>
            </a:endParaRPr>
          </a:p>
        </p:txBody>
      </p:sp>
      <p:sp>
        <p:nvSpPr>
          <p:cNvPr id="16389" name="Rectangle 11"/>
          <p:cNvSpPr/>
          <p:nvPr/>
        </p:nvSpPr>
        <p:spPr>
          <a:xfrm>
            <a:off x="904875" y="3155950"/>
            <a:ext cx="1076325" cy="635000"/>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a:t>
            </a:r>
            <a:endParaRPr lang="zh-CN" altLang="en-US" sz="2000" b="1" dirty="0">
              <a:latin typeface="Comic Sans MS" panose="030F0702030302020204" pitchFamily="66" charset="0"/>
              <a:ea typeface="黑体" panose="02010609060101010101" pitchFamily="49" charset="-122"/>
            </a:endParaRPr>
          </a:p>
        </p:txBody>
      </p:sp>
      <p:sp>
        <p:nvSpPr>
          <p:cNvPr id="16390" name="Rectangle 13"/>
          <p:cNvSpPr/>
          <p:nvPr/>
        </p:nvSpPr>
        <p:spPr>
          <a:xfrm>
            <a:off x="1824038" y="2181225"/>
            <a:ext cx="1951037" cy="6143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不合格报名单</a:t>
            </a:r>
            <a:endParaRPr lang="zh-CN" altLang="en-US" sz="2000" b="1" dirty="0">
              <a:latin typeface="Comic Sans MS" panose="030F0702030302020204" pitchFamily="66" charset="0"/>
              <a:ea typeface="黑体" panose="02010609060101010101" pitchFamily="49" charset="-122"/>
            </a:endParaRPr>
          </a:p>
        </p:txBody>
      </p:sp>
      <p:sp>
        <p:nvSpPr>
          <p:cNvPr id="16391" name="Arc 14"/>
          <p:cNvSpPr/>
          <p:nvPr/>
        </p:nvSpPr>
        <p:spPr>
          <a:xfrm rot="-2689286">
            <a:off x="1854200" y="2257425"/>
            <a:ext cx="1717675" cy="1901825"/>
          </a:xfrm>
          <a:custGeom>
            <a:avLst/>
            <a:gdLst/>
            <a:ahLst/>
            <a:cxnLst>
              <a:cxn ang="0">
                <a:pos x="0" y="0"/>
              </a:cxn>
              <a:cxn ang="0">
                <a:pos x="2147483646" y="2147483646"/>
              </a:cxn>
              <a:cxn ang="0">
                <a:pos x="0" y="2147483646"/>
              </a:cxn>
            </a:cxnLst>
            <a:pathLst>
              <a:path w="21599" h="21600" fill="none">
                <a:moveTo>
                  <a:pt x="-1" y="0"/>
                </a:moveTo>
                <a:cubicBezTo>
                  <a:pt x="11855" y="0"/>
                  <a:pt x="21495" y="9555"/>
                  <a:pt x="21599" y="21410"/>
                </a:cubicBezTo>
              </a:path>
              <a:path w="21599" h="21600" stroke="0">
                <a:moveTo>
                  <a:pt x="-1" y="0"/>
                </a:moveTo>
                <a:cubicBezTo>
                  <a:pt x="11855" y="0"/>
                  <a:pt x="21495" y="9555"/>
                  <a:pt x="21599" y="2141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392" name="Rectangle 15"/>
          <p:cNvSpPr/>
          <p:nvPr/>
        </p:nvSpPr>
        <p:spPr>
          <a:xfrm>
            <a:off x="3876675" y="5830888"/>
            <a:ext cx="1074738" cy="633412"/>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阅卷站</a:t>
            </a:r>
            <a:endParaRPr lang="zh-CN" altLang="en-US" sz="2000" b="1" dirty="0">
              <a:latin typeface="Comic Sans MS" panose="030F0702030302020204" pitchFamily="66" charset="0"/>
              <a:ea typeface="黑体" panose="02010609060101010101" pitchFamily="49" charset="-122"/>
            </a:endParaRPr>
          </a:p>
        </p:txBody>
      </p:sp>
      <p:grpSp>
        <p:nvGrpSpPr>
          <p:cNvPr id="16393" name="Group 16"/>
          <p:cNvGrpSpPr/>
          <p:nvPr/>
        </p:nvGrpSpPr>
        <p:grpSpPr>
          <a:xfrm>
            <a:off x="4171950" y="4130675"/>
            <a:ext cx="1300163" cy="1822450"/>
            <a:chOff x="6552" y="2505"/>
            <a:chExt cx="1110" cy="1380"/>
          </a:xfrm>
        </p:grpSpPr>
        <p:sp>
          <p:nvSpPr>
            <p:cNvPr id="16413" name="Rectangle 17"/>
            <p:cNvSpPr/>
            <p:nvPr/>
          </p:nvSpPr>
          <p:spPr>
            <a:xfrm>
              <a:off x="7168" y="2505"/>
              <a:ext cx="494" cy="138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错误成绩清单</a:t>
              </a:r>
              <a:endParaRPr lang="zh-CN" altLang="en-US" sz="2000" b="1" dirty="0">
                <a:latin typeface="Comic Sans MS" panose="030F0702030302020204" pitchFamily="66" charset="0"/>
                <a:ea typeface="黑体" panose="02010609060101010101" pitchFamily="49" charset="-122"/>
              </a:endParaRPr>
            </a:p>
          </p:txBody>
        </p:sp>
        <p:sp>
          <p:nvSpPr>
            <p:cNvPr id="16414" name="Arc 18"/>
            <p:cNvSpPr/>
            <p:nvPr/>
          </p:nvSpPr>
          <p:spPr>
            <a:xfrm rot="2285899">
              <a:off x="6552"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grpSp>
      <p:grpSp>
        <p:nvGrpSpPr>
          <p:cNvPr id="16394" name="Group 19"/>
          <p:cNvGrpSpPr/>
          <p:nvPr/>
        </p:nvGrpSpPr>
        <p:grpSpPr>
          <a:xfrm>
            <a:off x="4278313" y="4032250"/>
            <a:ext cx="579437" cy="1801813"/>
            <a:chOff x="6644" y="2430"/>
            <a:chExt cx="494" cy="1365"/>
          </a:xfrm>
        </p:grpSpPr>
        <p:sp>
          <p:nvSpPr>
            <p:cNvPr id="16411" name="Line 20"/>
            <p:cNvSpPr/>
            <p:nvPr/>
          </p:nvSpPr>
          <p:spPr>
            <a:xfrm flipH="1" flipV="1">
              <a:off x="6760" y="2430"/>
              <a:ext cx="2" cy="1365"/>
            </a:xfrm>
            <a:prstGeom prst="line">
              <a:avLst/>
            </a:prstGeom>
            <a:ln w="9525" cap="flat" cmpd="sng">
              <a:solidFill>
                <a:srgbClr val="000000"/>
              </a:solidFill>
              <a:prstDash val="solid"/>
              <a:headEnd type="none" w="med" len="med"/>
              <a:tailEnd type="triangle" w="sm" len="med"/>
            </a:ln>
          </p:spPr>
        </p:sp>
        <p:sp>
          <p:nvSpPr>
            <p:cNvPr id="16412" name="Rectangle 21"/>
            <p:cNvSpPr/>
            <p:nvPr/>
          </p:nvSpPr>
          <p:spPr>
            <a:xfrm>
              <a:off x="6644" y="2610"/>
              <a:ext cx="494" cy="90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成绩清单</a:t>
              </a:r>
              <a:endParaRPr lang="zh-CN" altLang="en-US" sz="2000" b="1" dirty="0">
                <a:latin typeface="Comic Sans MS" panose="030F0702030302020204" pitchFamily="66" charset="0"/>
                <a:ea typeface="黑体" panose="02010609060101010101" pitchFamily="49" charset="-122"/>
              </a:endParaRPr>
            </a:p>
          </p:txBody>
        </p:sp>
      </p:grpSp>
      <p:grpSp>
        <p:nvGrpSpPr>
          <p:cNvPr id="16395" name="Group 22"/>
          <p:cNvGrpSpPr/>
          <p:nvPr/>
        </p:nvGrpSpPr>
        <p:grpSpPr>
          <a:xfrm>
            <a:off x="3611563" y="4167188"/>
            <a:ext cx="1054100" cy="1452562"/>
            <a:chOff x="6074" y="2532"/>
            <a:chExt cx="900" cy="1101"/>
          </a:xfrm>
        </p:grpSpPr>
        <p:sp>
          <p:nvSpPr>
            <p:cNvPr id="16409" name="Arc 23"/>
            <p:cNvSpPr/>
            <p:nvPr/>
          </p:nvSpPr>
          <p:spPr>
            <a:xfrm rot="-2285899" flipH="1">
              <a:off x="6074"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6410" name="Rectangle 24"/>
            <p:cNvSpPr/>
            <p:nvPr/>
          </p:nvSpPr>
          <p:spPr>
            <a:xfrm>
              <a:off x="6148" y="2595"/>
              <a:ext cx="494" cy="93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考生名单</a:t>
              </a:r>
              <a:endParaRPr lang="zh-CN" altLang="en-US" sz="2000" b="1" dirty="0">
                <a:latin typeface="Comic Sans MS" panose="030F0702030302020204" pitchFamily="66" charset="0"/>
                <a:ea typeface="黑体" panose="02010609060101010101" pitchFamily="49" charset="-122"/>
              </a:endParaRPr>
            </a:p>
          </p:txBody>
        </p:sp>
      </p:grpSp>
      <p:grpSp>
        <p:nvGrpSpPr>
          <p:cNvPr id="16396" name="Group 25"/>
          <p:cNvGrpSpPr/>
          <p:nvPr/>
        </p:nvGrpSpPr>
        <p:grpSpPr>
          <a:xfrm>
            <a:off x="5170488" y="2800350"/>
            <a:ext cx="1755775" cy="1901825"/>
            <a:chOff x="7404" y="1497"/>
            <a:chExt cx="1497" cy="1440"/>
          </a:xfrm>
        </p:grpSpPr>
        <p:sp>
          <p:nvSpPr>
            <p:cNvPr id="16407" name="Arc 26"/>
            <p:cNvSpPr/>
            <p:nvPr/>
          </p:nvSpPr>
          <p:spPr>
            <a:xfrm rot="2689286" flipV="1">
              <a:off x="7404" y="1497"/>
              <a:ext cx="1497" cy="1440"/>
            </a:xfrm>
            <a:custGeom>
              <a:avLst/>
              <a:gdLst/>
              <a:ahLst/>
              <a:cxnLst>
                <a:cxn ang="0">
                  <a:pos x="0" y="0"/>
                </a:cxn>
                <a:cxn ang="0">
                  <a:pos x="0" y="0"/>
                </a:cxn>
                <a:cxn ang="0">
                  <a:pos x="0" y="0"/>
                </a:cxn>
              </a:cxnLst>
              <a:pathLst>
                <a:path w="22094" h="21600" fill="none">
                  <a:moveTo>
                    <a:pt x="-1" y="5"/>
                  </a:moveTo>
                  <a:cubicBezTo>
                    <a:pt x="164" y="1"/>
                    <a:pt x="329" y="-1"/>
                    <a:pt x="494" y="0"/>
                  </a:cubicBezTo>
                  <a:cubicBezTo>
                    <a:pt x="12423" y="0"/>
                    <a:pt x="22094" y="9670"/>
                    <a:pt x="22094" y="21600"/>
                  </a:cubicBezTo>
                </a:path>
                <a:path w="22094" h="21600" stroke="0">
                  <a:moveTo>
                    <a:pt x="-1" y="5"/>
                  </a:moveTo>
                  <a:cubicBezTo>
                    <a:pt x="164" y="1"/>
                    <a:pt x="329" y="-1"/>
                    <a:pt x="494" y="0"/>
                  </a:cubicBezTo>
                  <a:cubicBezTo>
                    <a:pt x="12423" y="0"/>
                    <a:pt x="22094" y="9670"/>
                    <a:pt x="22094" y="21600"/>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408" name="Rectangle 27"/>
            <p:cNvSpPr/>
            <p:nvPr/>
          </p:nvSpPr>
          <p:spPr>
            <a:xfrm>
              <a:off x="7588" y="225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合格标准</a:t>
              </a:r>
              <a:endParaRPr lang="zh-CN" altLang="en-US" sz="2000" b="1" dirty="0">
                <a:latin typeface="Comic Sans MS" panose="030F0702030302020204" pitchFamily="66" charset="0"/>
                <a:ea typeface="黑体" panose="02010609060101010101" pitchFamily="49" charset="-122"/>
              </a:endParaRPr>
            </a:p>
          </p:txBody>
        </p:sp>
      </p:grpSp>
      <p:grpSp>
        <p:nvGrpSpPr>
          <p:cNvPr id="16397" name="Group 28"/>
          <p:cNvGrpSpPr/>
          <p:nvPr/>
        </p:nvGrpSpPr>
        <p:grpSpPr>
          <a:xfrm>
            <a:off x="2039938" y="2936875"/>
            <a:ext cx="1824037" cy="1069975"/>
            <a:chOff x="4736" y="1572"/>
            <a:chExt cx="1555" cy="811"/>
          </a:xfrm>
        </p:grpSpPr>
        <p:sp>
          <p:nvSpPr>
            <p:cNvPr id="16405" name="Arc 29"/>
            <p:cNvSpPr/>
            <p:nvPr/>
          </p:nvSpPr>
          <p:spPr>
            <a:xfrm rot="-4022007">
              <a:off x="5108" y="120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6406" name="Rectangle 30"/>
            <p:cNvSpPr/>
            <p:nvPr/>
          </p:nvSpPr>
          <p:spPr>
            <a:xfrm>
              <a:off x="4962" y="1590"/>
              <a:ext cx="9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报名单</a:t>
              </a:r>
              <a:endParaRPr lang="zh-CN" altLang="en-US" sz="2000" b="1" dirty="0">
                <a:latin typeface="Comic Sans MS" panose="030F0702030302020204" pitchFamily="66" charset="0"/>
                <a:ea typeface="黑体" panose="02010609060101010101" pitchFamily="49" charset="-122"/>
              </a:endParaRPr>
            </a:p>
          </p:txBody>
        </p:sp>
      </p:grpSp>
      <p:grpSp>
        <p:nvGrpSpPr>
          <p:cNvPr id="16398" name="Group 31"/>
          <p:cNvGrpSpPr/>
          <p:nvPr/>
        </p:nvGrpSpPr>
        <p:grpSpPr>
          <a:xfrm>
            <a:off x="2005013" y="3017838"/>
            <a:ext cx="1824037" cy="1071562"/>
            <a:chOff x="4706" y="1662"/>
            <a:chExt cx="1555" cy="811"/>
          </a:xfrm>
        </p:grpSpPr>
        <p:sp>
          <p:nvSpPr>
            <p:cNvPr id="16403" name="Arc 32"/>
            <p:cNvSpPr/>
            <p:nvPr/>
          </p:nvSpPr>
          <p:spPr>
            <a:xfrm rot="4022007" flipV="1">
              <a:off x="5078" y="129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16404" name="Rectangle 33"/>
            <p:cNvSpPr/>
            <p:nvPr/>
          </p:nvSpPr>
          <p:spPr>
            <a:xfrm>
              <a:off x="4828" y="198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准考证</a:t>
              </a:r>
              <a:endParaRPr lang="zh-CN" altLang="en-US" sz="2000" b="1" dirty="0">
                <a:latin typeface="Comic Sans MS" panose="030F0702030302020204" pitchFamily="66" charset="0"/>
                <a:ea typeface="黑体" panose="02010609060101010101" pitchFamily="49" charset="-122"/>
              </a:endParaRPr>
            </a:p>
          </p:txBody>
        </p:sp>
      </p:grpSp>
      <p:sp>
        <p:nvSpPr>
          <p:cNvPr id="16399" name="Arc 35"/>
          <p:cNvSpPr/>
          <p:nvPr/>
        </p:nvSpPr>
        <p:spPr>
          <a:xfrm rot="2689286" flipV="1">
            <a:off x="1933575" y="2860675"/>
            <a:ext cx="1755775" cy="1901825"/>
          </a:xfrm>
          <a:custGeom>
            <a:avLst/>
            <a:gdLst/>
            <a:ahLst/>
            <a:cxnLst>
              <a:cxn ang="0">
                <a:pos x="0" y="2147483646"/>
              </a:cxn>
              <a:cxn ang="0">
                <a:pos x="2147483646" y="2147483646"/>
              </a:cxn>
              <a:cxn ang="0">
                <a:pos x="2147483646" y="2147483646"/>
              </a:cxn>
            </a:cxnLst>
            <a:pathLst>
              <a:path w="22086" h="21600" fill="none">
                <a:moveTo>
                  <a:pt x="-1" y="5"/>
                </a:moveTo>
                <a:cubicBezTo>
                  <a:pt x="164" y="1"/>
                  <a:pt x="329" y="-1"/>
                  <a:pt x="494" y="0"/>
                </a:cubicBezTo>
                <a:cubicBezTo>
                  <a:pt x="12191" y="0"/>
                  <a:pt x="21763" y="9311"/>
                  <a:pt x="22085" y="21004"/>
                </a:cubicBezTo>
              </a:path>
              <a:path w="22086" h="21600" stroke="0">
                <a:moveTo>
                  <a:pt x="-1" y="5"/>
                </a:moveTo>
                <a:cubicBezTo>
                  <a:pt x="164" y="1"/>
                  <a:pt x="329" y="-1"/>
                  <a:pt x="494" y="0"/>
                </a:cubicBezTo>
                <a:cubicBezTo>
                  <a:pt x="12191" y="0"/>
                  <a:pt x="21763" y="9311"/>
                  <a:pt x="22085" y="21004"/>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400" name="Rectangle 36"/>
          <p:cNvSpPr/>
          <p:nvPr/>
        </p:nvSpPr>
        <p:spPr>
          <a:xfrm>
            <a:off x="1824038" y="3924300"/>
            <a:ext cx="1749425" cy="6159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考生通知单</a:t>
            </a:r>
            <a:endParaRPr lang="zh-CN" altLang="en-US" sz="2000" b="1" dirty="0">
              <a:latin typeface="Comic Sans MS" panose="030F0702030302020204" pitchFamily="66" charset="0"/>
              <a:ea typeface="黑体" panose="02010609060101010101" pitchFamily="49" charset="-122"/>
            </a:endParaRPr>
          </a:p>
        </p:txBody>
      </p:sp>
      <p:sp>
        <p:nvSpPr>
          <p:cNvPr id="16401" name="Arc 38"/>
          <p:cNvSpPr/>
          <p:nvPr/>
        </p:nvSpPr>
        <p:spPr>
          <a:xfrm rot="-2689286">
            <a:off x="5151438" y="2201863"/>
            <a:ext cx="1717675" cy="190182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6402" name="Rectangle 39"/>
          <p:cNvSpPr/>
          <p:nvPr/>
        </p:nvSpPr>
        <p:spPr>
          <a:xfrm>
            <a:off x="5167313" y="2181225"/>
            <a:ext cx="1866900" cy="6143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统计分析表</a:t>
            </a:r>
            <a:endParaRPr lang="zh-CN" altLang="en-US" sz="2000" b="1" dirty="0">
              <a:latin typeface="Comic Sans MS" panose="030F0702030302020204" pitchFamily="66" charset="0"/>
              <a:ea typeface="黑体" panose="02010609060101010101" pitchFamily="49"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455613" y="304800"/>
            <a:ext cx="820737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18435" name="Group 9"/>
          <p:cNvGrpSpPr/>
          <p:nvPr/>
        </p:nvGrpSpPr>
        <p:grpSpPr>
          <a:xfrm>
            <a:off x="3627438" y="5005388"/>
            <a:ext cx="1196975" cy="574675"/>
            <a:chOff x="4596" y="3735"/>
            <a:chExt cx="1306" cy="360"/>
          </a:xfrm>
        </p:grpSpPr>
        <p:sp>
          <p:nvSpPr>
            <p:cNvPr id="18470" name="Line 10"/>
            <p:cNvSpPr/>
            <p:nvPr/>
          </p:nvSpPr>
          <p:spPr>
            <a:xfrm>
              <a:off x="4596" y="3735"/>
              <a:ext cx="1290" cy="0"/>
            </a:xfrm>
            <a:prstGeom prst="line">
              <a:avLst/>
            </a:prstGeom>
            <a:ln w="9525" cap="flat" cmpd="sng">
              <a:solidFill>
                <a:srgbClr val="000000"/>
              </a:solidFill>
              <a:prstDash val="solid"/>
              <a:headEnd type="none" w="med" len="med"/>
              <a:tailEnd type="none" w="med" len="med"/>
            </a:ln>
          </p:spPr>
        </p:sp>
        <p:sp>
          <p:nvSpPr>
            <p:cNvPr id="18471" name="Line 11"/>
            <p:cNvSpPr/>
            <p:nvPr/>
          </p:nvSpPr>
          <p:spPr>
            <a:xfrm>
              <a:off x="4612" y="4095"/>
              <a:ext cx="1290" cy="0"/>
            </a:xfrm>
            <a:prstGeom prst="line">
              <a:avLst/>
            </a:prstGeom>
            <a:ln w="9525" cap="flat" cmpd="sng">
              <a:solidFill>
                <a:srgbClr val="000000"/>
              </a:solidFill>
              <a:prstDash val="solid"/>
              <a:headEnd type="none" w="med" len="med"/>
              <a:tailEnd type="none" w="med" len="med"/>
            </a:ln>
          </p:spPr>
        </p:sp>
      </p:grpSp>
      <p:sp>
        <p:nvSpPr>
          <p:cNvPr id="18436" name="Rectangle 12"/>
          <p:cNvSpPr/>
          <p:nvPr/>
        </p:nvSpPr>
        <p:spPr>
          <a:xfrm>
            <a:off x="3611563" y="5060950"/>
            <a:ext cx="1212850" cy="7191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18437" name="Arc 13"/>
          <p:cNvSpPr/>
          <p:nvPr/>
        </p:nvSpPr>
        <p:spPr>
          <a:xfrm rot="10800000" flipH="1" flipV="1">
            <a:off x="3354388" y="3949700"/>
            <a:ext cx="623887" cy="1055688"/>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8438" name="Arc 14"/>
          <p:cNvSpPr/>
          <p:nvPr/>
        </p:nvSpPr>
        <p:spPr>
          <a:xfrm rot="-10800000" flipV="1">
            <a:off x="4532313" y="3954463"/>
            <a:ext cx="623887" cy="1055687"/>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grpSp>
        <p:nvGrpSpPr>
          <p:cNvPr id="18439" name="Group 16"/>
          <p:cNvGrpSpPr/>
          <p:nvPr/>
        </p:nvGrpSpPr>
        <p:grpSpPr>
          <a:xfrm>
            <a:off x="2355850" y="2813050"/>
            <a:ext cx="1235075" cy="1358900"/>
            <a:chOff x="4154" y="12570"/>
            <a:chExt cx="974" cy="850"/>
          </a:xfrm>
        </p:grpSpPr>
        <p:sp>
          <p:nvSpPr>
            <p:cNvPr id="18468"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8469"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考试</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a:t>
              </a:r>
              <a:endParaRPr lang="zh-CN" altLang="en-US" sz="1800" b="1" dirty="0">
                <a:latin typeface="黑体" panose="02010609060101010101" pitchFamily="49" charset="-122"/>
                <a:ea typeface="黑体" panose="02010609060101010101" pitchFamily="49" charset="-122"/>
              </a:endParaRPr>
            </a:p>
          </p:txBody>
        </p:sp>
      </p:grpSp>
      <p:grpSp>
        <p:nvGrpSpPr>
          <p:cNvPr id="18440" name="Group 19"/>
          <p:cNvGrpSpPr/>
          <p:nvPr/>
        </p:nvGrpSpPr>
        <p:grpSpPr>
          <a:xfrm>
            <a:off x="776288" y="2890838"/>
            <a:ext cx="1655762" cy="744537"/>
            <a:chOff x="3292" y="10215"/>
            <a:chExt cx="1308" cy="465"/>
          </a:xfrm>
        </p:grpSpPr>
        <p:sp>
          <p:nvSpPr>
            <p:cNvPr id="18466" name="Line 20"/>
            <p:cNvSpPr/>
            <p:nvPr/>
          </p:nvSpPr>
          <p:spPr>
            <a:xfrm flipV="1">
              <a:off x="3292" y="10575"/>
              <a:ext cx="1308" cy="0"/>
            </a:xfrm>
            <a:prstGeom prst="line">
              <a:avLst/>
            </a:prstGeom>
            <a:ln w="9525" cap="flat" cmpd="sng">
              <a:solidFill>
                <a:srgbClr val="000000"/>
              </a:solidFill>
              <a:prstDash val="solid"/>
              <a:headEnd type="none" w="sm" len="med"/>
              <a:tailEnd type="triangle" w="sm" len="med"/>
            </a:ln>
          </p:spPr>
        </p:sp>
        <p:sp>
          <p:nvSpPr>
            <p:cNvPr id="18467" name="Rectangle 21"/>
            <p:cNvSpPr/>
            <p:nvPr/>
          </p:nvSpPr>
          <p:spPr>
            <a:xfrm>
              <a:off x="3444" y="102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18441" name="Group 22"/>
          <p:cNvGrpSpPr/>
          <p:nvPr/>
        </p:nvGrpSpPr>
        <p:grpSpPr>
          <a:xfrm>
            <a:off x="2733675" y="4179888"/>
            <a:ext cx="763588" cy="1679575"/>
            <a:chOff x="2454" y="2850"/>
            <a:chExt cx="602" cy="1050"/>
          </a:xfrm>
        </p:grpSpPr>
        <p:sp>
          <p:nvSpPr>
            <p:cNvPr id="18464" name="Line 23"/>
            <p:cNvSpPr/>
            <p:nvPr/>
          </p:nvSpPr>
          <p:spPr>
            <a:xfrm flipH="1">
              <a:off x="2636" y="2850"/>
              <a:ext cx="2" cy="1050"/>
            </a:xfrm>
            <a:prstGeom prst="line">
              <a:avLst/>
            </a:prstGeom>
            <a:ln w="9525" cap="flat" cmpd="sng">
              <a:solidFill>
                <a:srgbClr val="000000"/>
              </a:solidFill>
              <a:prstDash val="solid"/>
              <a:headEnd type="none" w="sm" len="med"/>
              <a:tailEnd type="triangle" w="sm" len="med"/>
            </a:ln>
          </p:spPr>
        </p:sp>
        <p:sp>
          <p:nvSpPr>
            <p:cNvPr id="18465" name="Rectangle 24"/>
            <p:cNvSpPr/>
            <p:nvPr/>
          </p:nvSpPr>
          <p:spPr>
            <a:xfrm>
              <a:off x="2454" y="285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sp>
        <p:nvSpPr>
          <p:cNvPr id="18442" name="Rectangle 26"/>
          <p:cNvSpPr/>
          <p:nvPr/>
        </p:nvSpPr>
        <p:spPr>
          <a:xfrm>
            <a:off x="608013" y="2054225"/>
            <a:ext cx="2051050" cy="7429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sp>
        <p:nvSpPr>
          <p:cNvPr id="18443" name="Arc 27"/>
          <p:cNvSpPr/>
          <p:nvPr/>
        </p:nvSpPr>
        <p:spPr>
          <a:xfrm rot="-5688898" flipV="1">
            <a:off x="1182688" y="1930400"/>
            <a:ext cx="906462" cy="170815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18444" name="Group 28"/>
          <p:cNvGrpSpPr/>
          <p:nvPr/>
        </p:nvGrpSpPr>
        <p:grpSpPr>
          <a:xfrm>
            <a:off x="744538" y="3700463"/>
            <a:ext cx="1706562" cy="908050"/>
            <a:chOff x="3268" y="10725"/>
            <a:chExt cx="1347" cy="567"/>
          </a:xfrm>
        </p:grpSpPr>
        <p:sp>
          <p:nvSpPr>
            <p:cNvPr id="18462" name="Arc 29"/>
            <p:cNvSpPr/>
            <p:nvPr/>
          </p:nvSpPr>
          <p:spPr>
            <a:xfrm rot="5912274">
              <a:off x="3658" y="103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8463" name="Rectangle 30"/>
            <p:cNvSpPr/>
            <p:nvPr/>
          </p:nvSpPr>
          <p:spPr>
            <a:xfrm>
              <a:off x="3384" y="108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nvGrpSpPr>
          <p:cNvPr id="18445" name="Group 32"/>
          <p:cNvGrpSpPr/>
          <p:nvPr/>
        </p:nvGrpSpPr>
        <p:grpSpPr>
          <a:xfrm>
            <a:off x="4843463" y="2789238"/>
            <a:ext cx="1235075" cy="1358900"/>
            <a:chOff x="4154" y="12570"/>
            <a:chExt cx="974" cy="850"/>
          </a:xfrm>
        </p:grpSpPr>
        <p:sp>
          <p:nvSpPr>
            <p:cNvPr id="18460" name="Oval 3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8461" name="Rectangle 34"/>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统计</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成绩</a:t>
              </a:r>
              <a:endParaRPr lang="zh-CN" altLang="en-US" sz="1800" b="1" dirty="0">
                <a:latin typeface="黑体" panose="02010609060101010101" pitchFamily="49" charset="-122"/>
                <a:ea typeface="黑体" panose="02010609060101010101" pitchFamily="49" charset="-122"/>
              </a:endParaRPr>
            </a:p>
          </p:txBody>
        </p:sp>
      </p:grpSp>
      <p:grpSp>
        <p:nvGrpSpPr>
          <p:cNvPr id="18446" name="Group 35"/>
          <p:cNvGrpSpPr/>
          <p:nvPr/>
        </p:nvGrpSpPr>
        <p:grpSpPr>
          <a:xfrm>
            <a:off x="5984875" y="2909888"/>
            <a:ext cx="1617663" cy="742950"/>
            <a:chOff x="7918" y="3720"/>
            <a:chExt cx="1276" cy="465"/>
          </a:xfrm>
        </p:grpSpPr>
        <p:sp>
          <p:nvSpPr>
            <p:cNvPr id="18458" name="Line 36"/>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18459" name="Rectangle 37"/>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统计分析表</a:t>
              </a:r>
              <a:endParaRPr lang="zh-CN" altLang="en-US" sz="1800" b="1" dirty="0">
                <a:latin typeface="黑体" panose="02010609060101010101" pitchFamily="49" charset="-122"/>
                <a:ea typeface="黑体" panose="02010609060101010101" pitchFamily="49" charset="-122"/>
              </a:endParaRPr>
            </a:p>
          </p:txBody>
        </p:sp>
      </p:grpSp>
      <p:grpSp>
        <p:nvGrpSpPr>
          <p:cNvPr id="18447" name="Group 38"/>
          <p:cNvGrpSpPr/>
          <p:nvPr/>
        </p:nvGrpSpPr>
        <p:grpSpPr>
          <a:xfrm>
            <a:off x="5262563" y="4156075"/>
            <a:ext cx="762000" cy="1852613"/>
            <a:chOff x="6834" y="11010"/>
            <a:chExt cx="602" cy="1158"/>
          </a:xfrm>
        </p:grpSpPr>
        <p:sp>
          <p:nvSpPr>
            <p:cNvPr id="18456" name="Line 39"/>
            <p:cNvSpPr/>
            <p:nvPr/>
          </p:nvSpPr>
          <p:spPr>
            <a:xfrm flipH="1">
              <a:off x="7016" y="11010"/>
              <a:ext cx="2" cy="1050"/>
            </a:xfrm>
            <a:prstGeom prst="line">
              <a:avLst/>
            </a:prstGeom>
            <a:ln w="9525" cap="flat" cmpd="sng">
              <a:solidFill>
                <a:srgbClr val="000000"/>
              </a:solidFill>
              <a:prstDash val="solid"/>
              <a:headEnd type="triangle" w="sm" len="med"/>
              <a:tailEnd type="none" w="med" len="med"/>
            </a:ln>
          </p:spPr>
        </p:sp>
        <p:sp>
          <p:nvSpPr>
            <p:cNvPr id="18457" name="Rectangle 40"/>
            <p:cNvSpPr/>
            <p:nvPr/>
          </p:nvSpPr>
          <p:spPr>
            <a:xfrm>
              <a:off x="6834" y="1116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sp>
        <p:nvSpPr>
          <p:cNvPr id="18448" name="Rectangle 42"/>
          <p:cNvSpPr/>
          <p:nvPr/>
        </p:nvSpPr>
        <p:spPr>
          <a:xfrm>
            <a:off x="6329363" y="2054225"/>
            <a:ext cx="1538287" cy="7445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sp>
        <p:nvSpPr>
          <p:cNvPr id="18449" name="Arc 43"/>
          <p:cNvSpPr/>
          <p:nvPr/>
        </p:nvSpPr>
        <p:spPr>
          <a:xfrm rot="5688898" flipH="1" flipV="1">
            <a:off x="6351588" y="1928813"/>
            <a:ext cx="908050" cy="170815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18450" name="Group 44"/>
          <p:cNvGrpSpPr/>
          <p:nvPr/>
        </p:nvGrpSpPr>
        <p:grpSpPr>
          <a:xfrm>
            <a:off x="5972175" y="3629025"/>
            <a:ext cx="2006600" cy="906463"/>
            <a:chOff x="7394" y="10680"/>
            <a:chExt cx="1584" cy="567"/>
          </a:xfrm>
        </p:grpSpPr>
        <p:sp>
          <p:nvSpPr>
            <p:cNvPr id="18454" name="Arc 45"/>
            <p:cNvSpPr/>
            <p:nvPr/>
          </p:nvSpPr>
          <p:spPr>
            <a:xfrm rot="-5912274" flipH="1">
              <a:off x="7784" y="10290"/>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8455" name="Rectangle 46"/>
            <p:cNvSpPr/>
            <p:nvPr/>
          </p:nvSpPr>
          <p:spPr>
            <a:xfrm>
              <a:off x="7524" y="10830"/>
              <a:ext cx="145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64000"/>
                </a:lnSpc>
                <a:spcBef>
                  <a:spcPct val="0"/>
                </a:spcBef>
                <a:buClrTx/>
                <a:buSzTx/>
                <a:buFontTx/>
                <a:buNone/>
              </a:pPr>
              <a:r>
                <a:rPr lang="zh-CN" altLang="en-US" sz="1800" b="1"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grpSp>
      <p:grpSp>
        <p:nvGrpSpPr>
          <p:cNvPr id="18451" name="Group 47"/>
          <p:cNvGrpSpPr/>
          <p:nvPr/>
        </p:nvGrpSpPr>
        <p:grpSpPr>
          <a:xfrm>
            <a:off x="5745163" y="4100513"/>
            <a:ext cx="2136775" cy="1111250"/>
            <a:chOff x="7215" y="10975"/>
            <a:chExt cx="1687" cy="695"/>
          </a:xfrm>
        </p:grpSpPr>
        <p:sp>
          <p:nvSpPr>
            <p:cNvPr id="18452" name="Arc 48"/>
            <p:cNvSpPr/>
            <p:nvPr/>
          </p:nvSpPr>
          <p:spPr>
            <a:xfrm rot="-5227353" flipH="1">
              <a:off x="7631" y="10559"/>
              <a:ext cx="637" cy="1469"/>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8453" name="Rectangle 49"/>
            <p:cNvSpPr/>
            <p:nvPr/>
          </p:nvSpPr>
          <p:spPr>
            <a:xfrm>
              <a:off x="7778" y="11280"/>
              <a:ext cx="112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64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41325" y="304800"/>
            <a:ext cx="820737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20483" name="Group 8"/>
          <p:cNvGrpSpPr/>
          <p:nvPr/>
        </p:nvGrpSpPr>
        <p:grpSpPr>
          <a:xfrm>
            <a:off x="5121275" y="4559300"/>
            <a:ext cx="2781300" cy="942975"/>
            <a:chOff x="5516" y="6465"/>
            <a:chExt cx="2206" cy="850"/>
          </a:xfrm>
        </p:grpSpPr>
        <p:grpSp>
          <p:nvGrpSpPr>
            <p:cNvPr id="20513" name="Group 9"/>
            <p:cNvGrpSpPr/>
            <p:nvPr/>
          </p:nvGrpSpPr>
          <p:grpSpPr>
            <a:xfrm>
              <a:off x="5516" y="6465"/>
              <a:ext cx="974" cy="850"/>
              <a:chOff x="4154" y="12570"/>
              <a:chExt cx="974" cy="850"/>
            </a:xfrm>
          </p:grpSpPr>
          <p:sp>
            <p:nvSpPr>
              <p:cNvPr id="20517" name="Oval 10"/>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18" name="Rectangle 11"/>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1.3</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登记</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a:t>
                </a:r>
                <a:endParaRPr lang="zh-CN" altLang="en-US" sz="1800" b="1" dirty="0">
                  <a:latin typeface="黑体" panose="02010609060101010101" pitchFamily="49" charset="-122"/>
                  <a:ea typeface="黑体" panose="02010609060101010101" pitchFamily="49" charset="-122"/>
                </a:endParaRPr>
              </a:p>
            </p:txBody>
          </p:sp>
        </p:grpSp>
        <p:grpSp>
          <p:nvGrpSpPr>
            <p:cNvPr id="20514" name="Group 12"/>
            <p:cNvGrpSpPr/>
            <p:nvPr/>
          </p:nvGrpSpPr>
          <p:grpSpPr>
            <a:xfrm>
              <a:off x="6446" y="6540"/>
              <a:ext cx="1276" cy="465"/>
              <a:chOff x="7918" y="3720"/>
              <a:chExt cx="1276" cy="465"/>
            </a:xfrm>
          </p:grpSpPr>
          <p:sp>
            <p:nvSpPr>
              <p:cNvPr id="20515" name="Line 13"/>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0516" name="Rectangle 14"/>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grpSp>
      <p:grpSp>
        <p:nvGrpSpPr>
          <p:cNvPr id="20484" name="Group 15"/>
          <p:cNvGrpSpPr/>
          <p:nvPr/>
        </p:nvGrpSpPr>
        <p:grpSpPr>
          <a:xfrm>
            <a:off x="5118100" y="2444750"/>
            <a:ext cx="2781300" cy="942975"/>
            <a:chOff x="5680" y="9405"/>
            <a:chExt cx="2206" cy="850"/>
          </a:xfrm>
        </p:grpSpPr>
        <p:grpSp>
          <p:nvGrpSpPr>
            <p:cNvPr id="20507" name="Group 16"/>
            <p:cNvGrpSpPr/>
            <p:nvPr/>
          </p:nvGrpSpPr>
          <p:grpSpPr>
            <a:xfrm>
              <a:off x="5680" y="9405"/>
              <a:ext cx="974" cy="850"/>
              <a:chOff x="4154" y="12570"/>
              <a:chExt cx="974" cy="850"/>
            </a:xfrm>
          </p:grpSpPr>
          <p:sp>
            <p:nvSpPr>
              <p:cNvPr id="20511"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12"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1.2</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编准考证号</a:t>
                </a:r>
                <a:endParaRPr lang="zh-CN" altLang="en-US" sz="1800" b="1" dirty="0">
                  <a:latin typeface="黑体" panose="02010609060101010101" pitchFamily="49" charset="-122"/>
                  <a:ea typeface="黑体" panose="02010609060101010101" pitchFamily="49" charset="-122"/>
                </a:endParaRPr>
              </a:p>
            </p:txBody>
          </p:sp>
        </p:grpSp>
        <p:grpSp>
          <p:nvGrpSpPr>
            <p:cNvPr id="20508" name="Group 19"/>
            <p:cNvGrpSpPr/>
            <p:nvPr/>
          </p:nvGrpSpPr>
          <p:grpSpPr>
            <a:xfrm>
              <a:off x="6610" y="9480"/>
              <a:ext cx="1276" cy="465"/>
              <a:chOff x="7918" y="3720"/>
              <a:chExt cx="1276" cy="465"/>
            </a:xfrm>
          </p:grpSpPr>
          <p:sp>
            <p:nvSpPr>
              <p:cNvPr id="20509" name="Line 20"/>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0510" name="Rectangle 21"/>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sp>
        <p:nvSpPr>
          <p:cNvPr id="20485" name="Line 23"/>
          <p:cNvSpPr/>
          <p:nvPr/>
        </p:nvSpPr>
        <p:spPr>
          <a:xfrm flipH="1">
            <a:off x="5772150" y="3376613"/>
            <a:ext cx="3175" cy="1165225"/>
          </a:xfrm>
          <a:prstGeom prst="line">
            <a:avLst/>
          </a:prstGeom>
          <a:ln w="9525" cap="flat" cmpd="sng">
            <a:solidFill>
              <a:srgbClr val="000000"/>
            </a:solidFill>
            <a:prstDash val="solid"/>
            <a:headEnd type="none" w="sm" len="med"/>
            <a:tailEnd type="triangle" w="sm" len="med"/>
          </a:ln>
        </p:spPr>
      </p:sp>
      <p:sp>
        <p:nvSpPr>
          <p:cNvPr id="20486" name="Rectangle 24"/>
          <p:cNvSpPr/>
          <p:nvPr/>
        </p:nvSpPr>
        <p:spPr>
          <a:xfrm>
            <a:off x="5495925" y="3224213"/>
            <a:ext cx="760413" cy="1446212"/>
          </a:xfrm>
          <a:prstGeom prst="rect">
            <a:avLst/>
          </a:prstGeom>
          <a:noFill/>
          <a:ln w="9525">
            <a:noFill/>
          </a:ln>
        </p:spPr>
        <p:txBody>
          <a:bodyPr vert="eaVert"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正式报名单</a:t>
            </a:r>
            <a:endParaRPr lang="zh-CN" altLang="en-US" sz="1800" b="1" dirty="0">
              <a:latin typeface="黑体" panose="02010609060101010101" pitchFamily="49" charset="-122"/>
              <a:ea typeface="黑体" panose="02010609060101010101" pitchFamily="49" charset="-122"/>
            </a:endParaRPr>
          </a:p>
        </p:txBody>
      </p:sp>
      <p:grpSp>
        <p:nvGrpSpPr>
          <p:cNvPr id="20487" name="Group 26"/>
          <p:cNvGrpSpPr/>
          <p:nvPr/>
        </p:nvGrpSpPr>
        <p:grpSpPr>
          <a:xfrm>
            <a:off x="1128713" y="2462213"/>
            <a:ext cx="4068762" cy="942975"/>
            <a:chOff x="2530" y="9420"/>
            <a:chExt cx="3226" cy="850"/>
          </a:xfrm>
        </p:grpSpPr>
        <p:grpSp>
          <p:nvGrpSpPr>
            <p:cNvPr id="20498" name="Group 27"/>
            <p:cNvGrpSpPr/>
            <p:nvPr/>
          </p:nvGrpSpPr>
          <p:grpSpPr>
            <a:xfrm>
              <a:off x="3460" y="9420"/>
              <a:ext cx="974" cy="850"/>
              <a:chOff x="4154" y="12570"/>
              <a:chExt cx="974" cy="850"/>
            </a:xfrm>
          </p:grpSpPr>
          <p:sp>
            <p:nvSpPr>
              <p:cNvPr id="20505"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06" name="Rectangle 2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1.1</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20499" name="Group 30"/>
            <p:cNvGrpSpPr/>
            <p:nvPr/>
          </p:nvGrpSpPr>
          <p:grpSpPr>
            <a:xfrm>
              <a:off x="4360" y="9495"/>
              <a:ext cx="1396" cy="465"/>
              <a:chOff x="4318" y="5310"/>
              <a:chExt cx="1396" cy="465"/>
            </a:xfrm>
          </p:grpSpPr>
          <p:sp>
            <p:nvSpPr>
              <p:cNvPr id="20503" name="Line 3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0504" name="Rectangle 32"/>
              <p:cNvSpPr/>
              <p:nvPr/>
            </p:nvSpPr>
            <p:spPr>
              <a:xfrm>
                <a:off x="4350" y="531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合格报名单</a:t>
                </a:r>
                <a:endParaRPr lang="zh-CN" altLang="en-US" sz="1800" b="1" dirty="0">
                  <a:latin typeface="黑体" panose="02010609060101010101" pitchFamily="49" charset="-122"/>
                  <a:ea typeface="黑体" panose="02010609060101010101" pitchFamily="49" charset="-122"/>
                </a:endParaRPr>
              </a:p>
            </p:txBody>
          </p:sp>
        </p:grpSp>
        <p:grpSp>
          <p:nvGrpSpPr>
            <p:cNvPr id="20500" name="Group 33"/>
            <p:cNvGrpSpPr/>
            <p:nvPr/>
          </p:nvGrpSpPr>
          <p:grpSpPr>
            <a:xfrm>
              <a:off x="2530" y="9480"/>
              <a:ext cx="990" cy="465"/>
              <a:chOff x="2488" y="3600"/>
              <a:chExt cx="990" cy="465"/>
            </a:xfrm>
          </p:grpSpPr>
          <p:sp>
            <p:nvSpPr>
              <p:cNvPr id="20501" name="Line 3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0502" name="Rectangle 35"/>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grpSp>
        <p:nvGrpSpPr>
          <p:cNvPr id="20488" name="Group 36"/>
          <p:cNvGrpSpPr/>
          <p:nvPr/>
        </p:nvGrpSpPr>
        <p:grpSpPr>
          <a:xfrm>
            <a:off x="987425" y="3376613"/>
            <a:ext cx="2043113" cy="628650"/>
            <a:chOff x="3416" y="2625"/>
            <a:chExt cx="1379" cy="567"/>
          </a:xfrm>
        </p:grpSpPr>
        <p:sp>
          <p:nvSpPr>
            <p:cNvPr id="20496" name="Arc 37"/>
            <p:cNvSpPr/>
            <p:nvPr/>
          </p:nvSpPr>
          <p:spPr>
            <a:xfrm rot="5400000">
              <a:off x="3838" y="22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0497" name="Rectangle 38"/>
            <p:cNvSpPr/>
            <p:nvPr/>
          </p:nvSpPr>
          <p:spPr>
            <a:xfrm>
              <a:off x="3416" y="2655"/>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grpSp>
      <p:grpSp>
        <p:nvGrpSpPr>
          <p:cNvPr id="20489" name="Group 39"/>
          <p:cNvGrpSpPr/>
          <p:nvPr/>
        </p:nvGrpSpPr>
        <p:grpSpPr>
          <a:xfrm>
            <a:off x="3643313" y="4773613"/>
            <a:ext cx="1662112" cy="733425"/>
            <a:chOff x="5394" y="3825"/>
            <a:chExt cx="1318" cy="660"/>
          </a:xfrm>
        </p:grpSpPr>
        <p:grpSp>
          <p:nvGrpSpPr>
            <p:cNvPr id="20490" name="Group 40"/>
            <p:cNvGrpSpPr/>
            <p:nvPr/>
          </p:nvGrpSpPr>
          <p:grpSpPr>
            <a:xfrm>
              <a:off x="5394" y="4035"/>
              <a:ext cx="958" cy="450"/>
              <a:chOff x="3234" y="4065"/>
              <a:chExt cx="958" cy="450"/>
            </a:xfrm>
          </p:grpSpPr>
          <p:grpSp>
            <p:nvGrpSpPr>
              <p:cNvPr id="20492" name="Group 41"/>
              <p:cNvGrpSpPr/>
              <p:nvPr/>
            </p:nvGrpSpPr>
            <p:grpSpPr>
              <a:xfrm>
                <a:off x="3246" y="4125"/>
                <a:ext cx="946" cy="360"/>
                <a:chOff x="4596" y="3735"/>
                <a:chExt cx="1306" cy="360"/>
              </a:xfrm>
            </p:grpSpPr>
            <p:sp>
              <p:nvSpPr>
                <p:cNvPr id="20494" name="Line 42"/>
                <p:cNvSpPr/>
                <p:nvPr/>
              </p:nvSpPr>
              <p:spPr>
                <a:xfrm>
                  <a:off x="4596" y="3735"/>
                  <a:ext cx="1290" cy="0"/>
                </a:xfrm>
                <a:prstGeom prst="line">
                  <a:avLst/>
                </a:prstGeom>
                <a:ln w="9525" cap="flat" cmpd="sng">
                  <a:solidFill>
                    <a:srgbClr val="000000"/>
                  </a:solidFill>
                  <a:prstDash val="solid"/>
                  <a:headEnd type="none" w="sm" len="med"/>
                  <a:tailEnd type="none" w="sm" len="med"/>
                </a:ln>
              </p:spPr>
            </p:sp>
            <p:sp>
              <p:nvSpPr>
                <p:cNvPr id="20495" name="Line 43"/>
                <p:cNvSpPr/>
                <p:nvPr/>
              </p:nvSpPr>
              <p:spPr>
                <a:xfrm>
                  <a:off x="4612" y="4095"/>
                  <a:ext cx="1290" cy="0"/>
                </a:xfrm>
                <a:prstGeom prst="line">
                  <a:avLst/>
                </a:prstGeom>
                <a:ln w="9525" cap="flat" cmpd="sng">
                  <a:solidFill>
                    <a:srgbClr val="000000"/>
                  </a:solidFill>
                  <a:prstDash val="solid"/>
                  <a:headEnd type="none" w="sm" len="med"/>
                  <a:tailEnd type="none" w="sm" len="med"/>
                </a:ln>
              </p:spPr>
            </p:sp>
          </p:grpSp>
          <p:sp>
            <p:nvSpPr>
              <p:cNvPr id="20493" name="Rectangle 44"/>
              <p:cNvSpPr/>
              <p:nvPr/>
            </p:nvSpPr>
            <p:spPr>
              <a:xfrm>
                <a:off x="3234" y="4065"/>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0491" name="Arc 45"/>
            <p:cNvSpPr/>
            <p:nvPr/>
          </p:nvSpPr>
          <p:spPr>
            <a:xfrm rot="5400000" flipH="1" flipV="1">
              <a:off x="6241" y="3621"/>
              <a:ext cx="267" cy="6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455613" y="381000"/>
            <a:ext cx="820737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22531" name="Group 6"/>
          <p:cNvGrpSpPr/>
          <p:nvPr/>
        </p:nvGrpSpPr>
        <p:grpSpPr>
          <a:xfrm>
            <a:off x="684213" y="2166938"/>
            <a:ext cx="7370762" cy="4297362"/>
            <a:chOff x="3778" y="6720"/>
            <a:chExt cx="5548" cy="3820"/>
          </a:xfrm>
        </p:grpSpPr>
        <p:grpSp>
          <p:nvGrpSpPr>
            <p:cNvPr id="22532" name="Group 7"/>
            <p:cNvGrpSpPr/>
            <p:nvPr/>
          </p:nvGrpSpPr>
          <p:grpSpPr>
            <a:xfrm>
              <a:off x="6806" y="6735"/>
              <a:ext cx="2206" cy="850"/>
              <a:chOff x="5516" y="6465"/>
              <a:chExt cx="2206" cy="850"/>
            </a:xfrm>
          </p:grpSpPr>
          <p:grpSp>
            <p:nvGrpSpPr>
              <p:cNvPr id="22587" name="Group 8"/>
              <p:cNvGrpSpPr/>
              <p:nvPr/>
            </p:nvGrpSpPr>
            <p:grpSpPr>
              <a:xfrm>
                <a:off x="5516" y="6465"/>
                <a:ext cx="974" cy="850"/>
                <a:chOff x="4154" y="12570"/>
                <a:chExt cx="974" cy="850"/>
              </a:xfrm>
            </p:grpSpPr>
            <p:sp>
              <p:nvSpPr>
                <p:cNvPr id="22591" name="Oval 9"/>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92" name="Rectangle 10"/>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2.5</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分析</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试题难度</a:t>
                  </a:r>
                  <a:endParaRPr lang="zh-CN" altLang="en-US" sz="1800" b="1" dirty="0">
                    <a:latin typeface="黑体" panose="02010609060101010101" pitchFamily="49" charset="-122"/>
                    <a:ea typeface="黑体" panose="02010609060101010101" pitchFamily="49" charset="-122"/>
                  </a:endParaRPr>
                </a:p>
              </p:txBody>
            </p:sp>
          </p:grpSp>
          <p:grpSp>
            <p:nvGrpSpPr>
              <p:cNvPr id="22588" name="Group 11"/>
              <p:cNvGrpSpPr/>
              <p:nvPr/>
            </p:nvGrpSpPr>
            <p:grpSpPr>
              <a:xfrm>
                <a:off x="6446" y="6627"/>
                <a:ext cx="1276" cy="465"/>
                <a:chOff x="7918" y="3807"/>
                <a:chExt cx="1276" cy="465"/>
              </a:xfrm>
            </p:grpSpPr>
            <p:sp>
              <p:nvSpPr>
                <p:cNvPr id="22589" name="Line 12"/>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90" name="Rectangle 13"/>
                <p:cNvSpPr/>
                <p:nvPr/>
              </p:nvSpPr>
              <p:spPr>
                <a:xfrm>
                  <a:off x="7934" y="380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难度分析表</a:t>
                  </a:r>
                  <a:endParaRPr lang="zh-CN" altLang="en-US" sz="1800" b="1" dirty="0">
                    <a:latin typeface="黑体" panose="02010609060101010101" pitchFamily="49" charset="-122"/>
                    <a:ea typeface="黑体" panose="02010609060101010101" pitchFamily="49" charset="-122"/>
                  </a:endParaRPr>
                </a:p>
              </p:txBody>
            </p:sp>
          </p:grpSp>
        </p:grpSp>
        <p:grpSp>
          <p:nvGrpSpPr>
            <p:cNvPr id="22533" name="Group 14"/>
            <p:cNvGrpSpPr/>
            <p:nvPr/>
          </p:nvGrpSpPr>
          <p:grpSpPr>
            <a:xfrm>
              <a:off x="7120" y="7710"/>
              <a:ext cx="2206" cy="850"/>
              <a:chOff x="7120" y="7710"/>
              <a:chExt cx="2206" cy="850"/>
            </a:xfrm>
          </p:grpSpPr>
          <p:grpSp>
            <p:nvGrpSpPr>
              <p:cNvPr id="22581" name="Group 15"/>
              <p:cNvGrpSpPr/>
              <p:nvPr/>
            </p:nvGrpSpPr>
            <p:grpSpPr>
              <a:xfrm>
                <a:off x="7120" y="7710"/>
                <a:ext cx="974" cy="850"/>
                <a:chOff x="4154" y="12570"/>
                <a:chExt cx="974" cy="850"/>
              </a:xfrm>
            </p:grpSpPr>
            <p:sp>
              <p:nvSpPr>
                <p:cNvPr id="22585" name="Oval 16"/>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86" name="Rectangle 17"/>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2.4</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统计成绩</a:t>
                  </a:r>
                  <a:endParaRPr lang="zh-CN" altLang="en-US" sz="1800" b="1" dirty="0">
                    <a:latin typeface="黑体" panose="02010609060101010101" pitchFamily="49" charset="-122"/>
                    <a:ea typeface="黑体" panose="02010609060101010101" pitchFamily="49" charset="-122"/>
                  </a:endParaRPr>
                </a:p>
              </p:txBody>
            </p:sp>
          </p:grpSp>
          <p:grpSp>
            <p:nvGrpSpPr>
              <p:cNvPr id="22582" name="Group 18"/>
              <p:cNvGrpSpPr/>
              <p:nvPr/>
            </p:nvGrpSpPr>
            <p:grpSpPr>
              <a:xfrm>
                <a:off x="8050" y="7911"/>
                <a:ext cx="1276" cy="465"/>
                <a:chOff x="7918" y="3846"/>
                <a:chExt cx="1276" cy="465"/>
              </a:xfrm>
            </p:grpSpPr>
            <p:sp>
              <p:nvSpPr>
                <p:cNvPr id="22583" name="Line 19"/>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84" name="Rectangle 20"/>
                <p:cNvSpPr/>
                <p:nvPr/>
              </p:nvSpPr>
              <p:spPr>
                <a:xfrm>
                  <a:off x="7934" y="3846"/>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分类统计表</a:t>
                  </a:r>
                  <a:endParaRPr lang="zh-CN" altLang="en-US" sz="1800" b="1" dirty="0">
                    <a:latin typeface="黑体" panose="02010609060101010101" pitchFamily="49" charset="-122"/>
                    <a:ea typeface="黑体" panose="02010609060101010101" pitchFamily="49" charset="-122"/>
                  </a:endParaRPr>
                </a:p>
              </p:txBody>
            </p:sp>
          </p:grpSp>
        </p:grpSp>
        <p:grpSp>
          <p:nvGrpSpPr>
            <p:cNvPr id="22534" name="Group 21"/>
            <p:cNvGrpSpPr/>
            <p:nvPr/>
          </p:nvGrpSpPr>
          <p:grpSpPr>
            <a:xfrm>
              <a:off x="5708" y="8385"/>
              <a:ext cx="1575" cy="1482"/>
              <a:chOff x="4390" y="3795"/>
              <a:chExt cx="1575" cy="1482"/>
            </a:xfrm>
          </p:grpSpPr>
          <p:grpSp>
            <p:nvGrpSpPr>
              <p:cNvPr id="22575" name="Group 22"/>
              <p:cNvGrpSpPr/>
              <p:nvPr/>
            </p:nvGrpSpPr>
            <p:grpSpPr>
              <a:xfrm>
                <a:off x="4390" y="4365"/>
                <a:ext cx="1306" cy="503"/>
                <a:chOff x="5038" y="9270"/>
                <a:chExt cx="1306" cy="503"/>
              </a:xfrm>
            </p:grpSpPr>
            <p:sp>
              <p:nvSpPr>
                <p:cNvPr id="22578" name="Line 23"/>
                <p:cNvSpPr/>
                <p:nvPr/>
              </p:nvSpPr>
              <p:spPr>
                <a:xfrm>
                  <a:off x="5038" y="9270"/>
                  <a:ext cx="1290" cy="0"/>
                </a:xfrm>
                <a:prstGeom prst="line">
                  <a:avLst/>
                </a:prstGeom>
                <a:ln w="9525" cap="flat" cmpd="sng">
                  <a:solidFill>
                    <a:srgbClr val="000000"/>
                  </a:solidFill>
                  <a:prstDash val="solid"/>
                  <a:headEnd type="none" w="sm" len="med"/>
                  <a:tailEnd type="none" w="sm" len="med"/>
                </a:ln>
              </p:spPr>
            </p:sp>
            <p:sp>
              <p:nvSpPr>
                <p:cNvPr id="22579" name="Line 24"/>
                <p:cNvSpPr/>
                <p:nvPr/>
              </p:nvSpPr>
              <p:spPr>
                <a:xfrm>
                  <a:off x="5054" y="9630"/>
                  <a:ext cx="1290" cy="0"/>
                </a:xfrm>
                <a:prstGeom prst="line">
                  <a:avLst/>
                </a:prstGeom>
                <a:ln w="9525" cap="flat" cmpd="sng">
                  <a:solidFill>
                    <a:srgbClr val="000000"/>
                  </a:solidFill>
                  <a:prstDash val="solid"/>
                  <a:headEnd type="none" w="sm" len="med"/>
                  <a:tailEnd type="none" w="sm" len="med"/>
                </a:ln>
              </p:spPr>
            </p:sp>
            <p:sp>
              <p:nvSpPr>
                <p:cNvPr id="22580" name="Rectangle 25"/>
                <p:cNvSpPr/>
                <p:nvPr/>
              </p:nvSpPr>
              <p:spPr>
                <a:xfrm>
                  <a:off x="5206" y="9323"/>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2576" name="Arc 26"/>
              <p:cNvSpPr/>
              <p:nvPr/>
            </p:nvSpPr>
            <p:spPr>
              <a:xfrm rot="-5400000" flipH="1">
                <a:off x="5250" y="4710"/>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2577" name="Arc 27"/>
              <p:cNvSpPr/>
              <p:nvPr/>
            </p:nvSpPr>
            <p:spPr>
              <a:xfrm flipH="1">
                <a:off x="5398" y="379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22535" name="Group 28"/>
            <p:cNvGrpSpPr/>
            <p:nvPr/>
          </p:nvGrpSpPr>
          <p:grpSpPr>
            <a:xfrm>
              <a:off x="3820" y="9675"/>
              <a:ext cx="5356" cy="865"/>
              <a:chOff x="2530" y="9405"/>
              <a:chExt cx="5356" cy="865"/>
            </a:xfrm>
          </p:grpSpPr>
          <p:grpSp>
            <p:nvGrpSpPr>
              <p:cNvPr id="22558" name="Group 29"/>
              <p:cNvGrpSpPr/>
              <p:nvPr/>
            </p:nvGrpSpPr>
            <p:grpSpPr>
              <a:xfrm>
                <a:off x="5680" y="9405"/>
                <a:ext cx="2206" cy="850"/>
                <a:chOff x="5680" y="9405"/>
                <a:chExt cx="2206" cy="850"/>
              </a:xfrm>
            </p:grpSpPr>
            <p:grpSp>
              <p:nvGrpSpPr>
                <p:cNvPr id="22569" name="Group 30"/>
                <p:cNvGrpSpPr/>
                <p:nvPr/>
              </p:nvGrpSpPr>
              <p:grpSpPr>
                <a:xfrm>
                  <a:off x="5680" y="9405"/>
                  <a:ext cx="974" cy="850"/>
                  <a:chOff x="4154" y="12570"/>
                  <a:chExt cx="974" cy="850"/>
                </a:xfrm>
              </p:grpSpPr>
              <p:sp>
                <p:nvSpPr>
                  <p:cNvPr id="22573"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74" name="Rectangle 32"/>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2.3</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制作</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通知单</a:t>
                    </a:r>
                    <a:endParaRPr lang="zh-CN" altLang="en-US" sz="1800" b="1" dirty="0">
                      <a:latin typeface="黑体" panose="02010609060101010101" pitchFamily="49" charset="-122"/>
                      <a:ea typeface="黑体" panose="02010609060101010101" pitchFamily="49" charset="-122"/>
                    </a:endParaRPr>
                  </a:p>
                </p:txBody>
              </p:sp>
            </p:grpSp>
            <p:grpSp>
              <p:nvGrpSpPr>
                <p:cNvPr id="22570" name="Group 33"/>
                <p:cNvGrpSpPr/>
                <p:nvPr/>
              </p:nvGrpSpPr>
              <p:grpSpPr>
                <a:xfrm>
                  <a:off x="6610" y="9602"/>
                  <a:ext cx="1276" cy="465"/>
                  <a:chOff x="7918" y="3842"/>
                  <a:chExt cx="1276" cy="465"/>
                </a:xfrm>
              </p:grpSpPr>
              <p:sp>
                <p:nvSpPr>
                  <p:cNvPr id="22571" name="Line 34"/>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72" name="Rectangle 35"/>
                  <p:cNvSpPr/>
                  <p:nvPr/>
                </p:nvSpPr>
                <p:spPr>
                  <a:xfrm>
                    <a:off x="7934" y="3842"/>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grpSp>
          </p:grpSp>
          <p:grpSp>
            <p:nvGrpSpPr>
              <p:cNvPr id="22559" name="Group 36"/>
              <p:cNvGrpSpPr/>
              <p:nvPr/>
            </p:nvGrpSpPr>
            <p:grpSpPr>
              <a:xfrm>
                <a:off x="2530" y="9420"/>
                <a:ext cx="3226" cy="850"/>
                <a:chOff x="2530" y="9420"/>
                <a:chExt cx="3226" cy="850"/>
              </a:xfrm>
            </p:grpSpPr>
            <p:grpSp>
              <p:nvGrpSpPr>
                <p:cNvPr id="22560" name="Group 37"/>
                <p:cNvGrpSpPr/>
                <p:nvPr/>
              </p:nvGrpSpPr>
              <p:grpSpPr>
                <a:xfrm>
                  <a:off x="3460" y="9420"/>
                  <a:ext cx="974" cy="850"/>
                  <a:chOff x="4154" y="12570"/>
                  <a:chExt cx="974" cy="850"/>
                </a:xfrm>
              </p:grpSpPr>
              <p:sp>
                <p:nvSpPr>
                  <p:cNvPr id="22567" name="Oval 3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68" name="Rectangle 3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2.2</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审定</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合格者</a:t>
                    </a:r>
                    <a:endParaRPr lang="zh-CN" altLang="en-US" sz="1800" b="1" dirty="0">
                      <a:latin typeface="黑体" panose="02010609060101010101" pitchFamily="49" charset="-122"/>
                      <a:ea typeface="黑体" panose="02010609060101010101" pitchFamily="49" charset="-122"/>
                    </a:endParaRPr>
                  </a:p>
                </p:txBody>
              </p:sp>
            </p:grpSp>
            <p:grpSp>
              <p:nvGrpSpPr>
                <p:cNvPr id="22561" name="Group 40"/>
                <p:cNvGrpSpPr/>
                <p:nvPr/>
              </p:nvGrpSpPr>
              <p:grpSpPr>
                <a:xfrm>
                  <a:off x="4360" y="9602"/>
                  <a:ext cx="1396" cy="465"/>
                  <a:chOff x="4318" y="5417"/>
                  <a:chExt cx="1396" cy="465"/>
                </a:xfrm>
              </p:grpSpPr>
              <p:sp>
                <p:nvSpPr>
                  <p:cNvPr id="22565" name="Line 4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2566" name="Rectangle 42"/>
                  <p:cNvSpPr/>
                  <p:nvPr/>
                </p:nvSpPr>
                <p:spPr>
                  <a:xfrm>
                    <a:off x="4350" y="541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正式成绩清单</a:t>
                    </a:r>
                    <a:endParaRPr lang="zh-CN" altLang="en-US" sz="1800" b="1" dirty="0">
                      <a:latin typeface="黑体" panose="02010609060101010101" pitchFamily="49" charset="-122"/>
                      <a:ea typeface="黑体" panose="02010609060101010101" pitchFamily="49" charset="-122"/>
                    </a:endParaRPr>
                  </a:p>
                </p:txBody>
              </p:sp>
            </p:grpSp>
            <p:grpSp>
              <p:nvGrpSpPr>
                <p:cNvPr id="22562" name="Group 43"/>
                <p:cNvGrpSpPr/>
                <p:nvPr/>
              </p:nvGrpSpPr>
              <p:grpSpPr>
                <a:xfrm>
                  <a:off x="2530" y="9602"/>
                  <a:ext cx="990" cy="465"/>
                  <a:chOff x="2488" y="3722"/>
                  <a:chExt cx="990" cy="465"/>
                </a:xfrm>
              </p:grpSpPr>
              <p:sp>
                <p:nvSpPr>
                  <p:cNvPr id="22563" name="Line 4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2564" name="Rectangle 45"/>
                  <p:cNvSpPr/>
                  <p:nvPr/>
                </p:nvSpPr>
                <p:spPr>
                  <a:xfrm>
                    <a:off x="2488" y="372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grpSp>
        </p:grpSp>
        <p:grpSp>
          <p:nvGrpSpPr>
            <p:cNvPr id="22536" name="Group 46"/>
            <p:cNvGrpSpPr/>
            <p:nvPr/>
          </p:nvGrpSpPr>
          <p:grpSpPr>
            <a:xfrm>
              <a:off x="5424" y="7237"/>
              <a:ext cx="1920" cy="1478"/>
              <a:chOff x="4106" y="2647"/>
              <a:chExt cx="1920" cy="1478"/>
            </a:xfrm>
          </p:grpSpPr>
          <p:grpSp>
            <p:nvGrpSpPr>
              <p:cNvPr id="22550" name="Group 47"/>
              <p:cNvGrpSpPr/>
              <p:nvPr/>
            </p:nvGrpSpPr>
            <p:grpSpPr>
              <a:xfrm>
                <a:off x="4106" y="3630"/>
                <a:ext cx="1306" cy="495"/>
                <a:chOff x="1884" y="6360"/>
                <a:chExt cx="1306" cy="495"/>
              </a:xfrm>
            </p:grpSpPr>
            <p:grpSp>
              <p:nvGrpSpPr>
                <p:cNvPr id="22554" name="Group 48"/>
                <p:cNvGrpSpPr/>
                <p:nvPr/>
              </p:nvGrpSpPr>
              <p:grpSpPr>
                <a:xfrm>
                  <a:off x="1884" y="6360"/>
                  <a:ext cx="1306" cy="360"/>
                  <a:chOff x="1884" y="6360"/>
                  <a:chExt cx="1306" cy="360"/>
                </a:xfrm>
              </p:grpSpPr>
              <p:sp>
                <p:nvSpPr>
                  <p:cNvPr id="22556" name="Line 49"/>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22557" name="Line 50"/>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22555" name="Rectangle 51"/>
                <p:cNvSpPr/>
                <p:nvPr/>
              </p:nvSpPr>
              <p:spPr>
                <a:xfrm>
                  <a:off x="1916" y="6405"/>
                  <a:ext cx="122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sp>
            <p:nvSpPr>
              <p:cNvPr id="22551" name="Arc 52"/>
              <p:cNvSpPr/>
              <p:nvPr/>
            </p:nvSpPr>
            <p:spPr>
              <a:xfrm flipH="1">
                <a:off x="4928" y="2655"/>
                <a:ext cx="633"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2552" name="Arc 53"/>
              <p:cNvSpPr/>
              <p:nvPr/>
            </p:nvSpPr>
            <p:spPr>
              <a:xfrm flipH="1">
                <a:off x="5186" y="3373"/>
                <a:ext cx="840" cy="284"/>
              </a:xfrm>
              <a:custGeom>
                <a:avLst/>
                <a:gdLst/>
                <a:ahLst/>
                <a:cxnLst>
                  <a:cxn ang="0">
                    <a:pos x="0" y="0"/>
                  </a:cxn>
                  <a:cxn ang="0">
                    <a:pos x="0" y="0"/>
                  </a:cxn>
                  <a:cxn ang="0">
                    <a:pos x="0" y="0"/>
                  </a:cxn>
                </a:cxnLst>
                <a:pathLst>
                  <a:path w="21314" h="21402" fill="none">
                    <a:moveTo>
                      <a:pt x="2919" y="0"/>
                    </a:moveTo>
                    <a:cubicBezTo>
                      <a:pt x="12316" y="1282"/>
                      <a:pt x="19777" y="8543"/>
                      <a:pt x="21314" y="17900"/>
                    </a:cubicBezTo>
                  </a:path>
                  <a:path w="21314" h="21402" stroke="0">
                    <a:moveTo>
                      <a:pt x="2919" y="0"/>
                    </a:moveTo>
                    <a:cubicBezTo>
                      <a:pt x="12316" y="1282"/>
                      <a:pt x="19777" y="8543"/>
                      <a:pt x="21314" y="17900"/>
                    </a:cubicBezTo>
                    <a:lnTo>
                      <a:pt x="0" y="21402"/>
                    </a:lnTo>
                    <a:lnTo>
                      <a:pt x="291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2553" name="Arc 54"/>
              <p:cNvSpPr/>
              <p:nvPr/>
            </p:nvSpPr>
            <p:spPr>
              <a:xfrm>
                <a:off x="4181" y="2647"/>
                <a:ext cx="556"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grpSp>
          <p:nvGrpSpPr>
            <p:cNvPr id="22537" name="Group 55"/>
            <p:cNvGrpSpPr/>
            <p:nvPr/>
          </p:nvGrpSpPr>
          <p:grpSpPr>
            <a:xfrm>
              <a:off x="3778" y="6720"/>
              <a:ext cx="1902" cy="3000"/>
              <a:chOff x="3778" y="6720"/>
              <a:chExt cx="1902" cy="3000"/>
            </a:xfrm>
          </p:grpSpPr>
          <p:grpSp>
            <p:nvGrpSpPr>
              <p:cNvPr id="22538" name="Group 56"/>
              <p:cNvGrpSpPr/>
              <p:nvPr/>
            </p:nvGrpSpPr>
            <p:grpSpPr>
              <a:xfrm>
                <a:off x="4706" y="6720"/>
                <a:ext cx="974" cy="850"/>
                <a:chOff x="4154" y="12570"/>
                <a:chExt cx="974" cy="850"/>
              </a:xfrm>
            </p:grpSpPr>
            <p:sp>
              <p:nvSpPr>
                <p:cNvPr id="22548" name="Oval 5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49" name="Rectangle 5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2.1</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2539" name="Group 59"/>
              <p:cNvGrpSpPr/>
              <p:nvPr/>
            </p:nvGrpSpPr>
            <p:grpSpPr>
              <a:xfrm>
                <a:off x="3806" y="6897"/>
                <a:ext cx="990" cy="465"/>
                <a:chOff x="2488" y="3702"/>
                <a:chExt cx="990" cy="465"/>
              </a:xfrm>
            </p:grpSpPr>
            <p:sp>
              <p:nvSpPr>
                <p:cNvPr id="22546" name="Line 60"/>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2547" name="Rectangle 61"/>
                <p:cNvSpPr/>
                <p:nvPr/>
              </p:nvSpPr>
              <p:spPr>
                <a:xfrm>
                  <a:off x="2488" y="370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2540" name="Group 62"/>
              <p:cNvGrpSpPr/>
              <p:nvPr/>
            </p:nvGrpSpPr>
            <p:grpSpPr>
              <a:xfrm>
                <a:off x="4522" y="7575"/>
                <a:ext cx="680" cy="2145"/>
                <a:chOff x="3204" y="2985"/>
                <a:chExt cx="680" cy="2145"/>
              </a:xfrm>
            </p:grpSpPr>
            <p:sp>
              <p:nvSpPr>
                <p:cNvPr id="22544" name="Line 63"/>
                <p:cNvSpPr/>
                <p:nvPr/>
              </p:nvSpPr>
              <p:spPr>
                <a:xfrm>
                  <a:off x="3884" y="2985"/>
                  <a:ext cx="0" cy="2145"/>
                </a:xfrm>
                <a:prstGeom prst="line">
                  <a:avLst/>
                </a:prstGeom>
                <a:ln w="9525" cap="flat" cmpd="sng">
                  <a:solidFill>
                    <a:srgbClr val="000000"/>
                  </a:solidFill>
                  <a:prstDash val="solid"/>
                  <a:headEnd type="none" w="sm" len="med"/>
                  <a:tailEnd type="triangle" w="sm" len="med"/>
                </a:ln>
              </p:spPr>
            </p:sp>
            <p:sp>
              <p:nvSpPr>
                <p:cNvPr id="22545" name="Rectangle 64"/>
                <p:cNvSpPr/>
                <p:nvPr/>
              </p:nvSpPr>
              <p:spPr>
                <a:xfrm>
                  <a:off x="3204" y="3660"/>
                  <a:ext cx="659"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正确成绩清单</a:t>
                  </a:r>
                  <a:endParaRPr lang="zh-CN" altLang="en-US" sz="1800" b="1" dirty="0">
                    <a:latin typeface="黑体" panose="02010609060101010101" pitchFamily="49" charset="-122"/>
                    <a:ea typeface="黑体" panose="02010609060101010101" pitchFamily="49" charset="-122"/>
                  </a:endParaRPr>
                </a:p>
              </p:txBody>
            </p:sp>
          </p:grpSp>
          <p:grpSp>
            <p:nvGrpSpPr>
              <p:cNvPr id="22541" name="Group 65"/>
              <p:cNvGrpSpPr/>
              <p:nvPr/>
            </p:nvGrpSpPr>
            <p:grpSpPr>
              <a:xfrm>
                <a:off x="3778" y="7365"/>
                <a:ext cx="1064" cy="613"/>
                <a:chOff x="3778" y="7365"/>
                <a:chExt cx="1064" cy="613"/>
              </a:xfrm>
            </p:grpSpPr>
            <p:sp>
              <p:nvSpPr>
                <p:cNvPr id="22542" name="Rectangle 66"/>
                <p:cNvSpPr/>
                <p:nvPr/>
              </p:nvSpPr>
              <p:spPr>
                <a:xfrm>
                  <a:off x="4017" y="7498"/>
                  <a:ext cx="676" cy="4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sp>
              <p:nvSpPr>
                <p:cNvPr id="22543" name="Line 67"/>
                <p:cNvSpPr/>
                <p:nvPr/>
              </p:nvSpPr>
              <p:spPr>
                <a:xfrm flipH="1">
                  <a:off x="3778" y="7365"/>
                  <a:ext cx="1064" cy="255"/>
                </a:xfrm>
                <a:prstGeom prst="line">
                  <a:avLst/>
                </a:prstGeom>
                <a:ln w="9525" cap="flat" cmpd="sng">
                  <a:solidFill>
                    <a:srgbClr val="000000"/>
                  </a:solidFill>
                  <a:prstDash val="solid"/>
                  <a:headEnd type="none" w="sm" len="med"/>
                  <a:tailEnd type="triangle" w="sm" len="med"/>
                </a:ln>
              </p:spPr>
            </p:sp>
          </p:grpSp>
        </p:grpSp>
      </p:gr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分层数据流图的一致性</a:t>
            </a:r>
            <a:endParaRPr lang="zh-CN" altLang="en-US" b="1" dirty="0">
              <a:latin typeface="微软雅黑" panose="020B0503020204020204" pitchFamily="34" charset="-122"/>
              <a:ea typeface="微软雅黑" panose="020B0503020204020204" pitchFamily="34" charset="-122"/>
            </a:endParaRPr>
          </a:p>
        </p:txBody>
      </p:sp>
      <p:sp>
        <p:nvSpPr>
          <p:cNvPr id="24579" name="Rectangle 3"/>
          <p:cNvSpPr>
            <a:spLocks noGrp="1"/>
          </p:cNvSpPr>
          <p:nvPr>
            <p:ph idx="1"/>
          </p:nvPr>
        </p:nvSpPr>
        <p:spPr>
          <a:xfrm>
            <a:off x="379413" y="2130425"/>
            <a:ext cx="7902575" cy="3878263"/>
          </a:xfrm>
        </p:spPr>
        <p:txBody>
          <a:bodyPr vert="horz" wrap="square" lIns="91221" tIns="45610" rIns="91221" bIns="45610" anchor="t" anchorCtr="0"/>
          <a:p>
            <a:pPr eaLnBrk="1" hangingPunct="1">
              <a:buFont typeface="Wingdings" panose="05000000000000000000" pitchFamily="2" charset="2"/>
              <a:buChar char="p"/>
            </a:pPr>
            <a:r>
              <a:rPr lang="zh-CN" altLang="en-US" dirty="0"/>
              <a:t>父图与子图平衡</a:t>
            </a:r>
            <a:endParaRPr lang="zh-CN" altLang="en-US" dirty="0"/>
          </a:p>
          <a:p>
            <a:pPr lvl="1" eaLnBrk="1" hangingPunct="1">
              <a:buFont typeface="Wingdings" panose="05000000000000000000" pitchFamily="2" charset="2"/>
              <a:buChar char="ü"/>
            </a:pPr>
            <a:r>
              <a:rPr lang="zh-CN" altLang="en-US" sz="2000" dirty="0"/>
              <a:t>任何一张</a:t>
            </a:r>
            <a:r>
              <a:rPr lang="en-US" altLang="zh-CN" sz="2000" dirty="0"/>
              <a:t>DFD</a:t>
            </a:r>
            <a:r>
              <a:rPr lang="zh-CN" altLang="en-US" sz="2000" dirty="0"/>
              <a:t>子图边界上的输入</a:t>
            </a:r>
            <a:r>
              <a:rPr lang="en-US" altLang="zh-CN" sz="2000" dirty="0"/>
              <a:t>/</a:t>
            </a:r>
            <a:r>
              <a:rPr lang="zh-CN" altLang="en-US" sz="2000" dirty="0"/>
              <a:t>输出数据流必须与其父图中对应的加工的输入</a:t>
            </a:r>
            <a:r>
              <a:rPr lang="en-US" altLang="zh-CN" sz="2000" dirty="0"/>
              <a:t>/</a:t>
            </a:r>
            <a:r>
              <a:rPr lang="zh-CN" altLang="en-US" sz="2000" dirty="0"/>
              <a:t>输出数据流保持一致</a:t>
            </a:r>
            <a:endParaRPr lang="zh-CN" altLang="en-US" sz="2000" dirty="0"/>
          </a:p>
          <a:p>
            <a:pPr eaLnBrk="1" hangingPunct="1">
              <a:buFont typeface="Wingdings" panose="05000000000000000000" pitchFamily="2" charset="2"/>
              <a:buChar char="p"/>
            </a:pPr>
            <a:r>
              <a:rPr lang="zh-CN" altLang="en-US" dirty="0"/>
              <a:t>数据守恒</a:t>
            </a:r>
            <a:endParaRPr lang="zh-CN" altLang="en-US" dirty="0"/>
          </a:p>
          <a:p>
            <a:pPr lvl="1" eaLnBrk="1" hangingPunct="1">
              <a:buFont typeface="Wingdings" panose="05000000000000000000" pitchFamily="2" charset="2"/>
              <a:buChar char="ü"/>
            </a:pPr>
            <a:r>
              <a:rPr lang="zh-CN" altLang="en-US" sz="2000" dirty="0"/>
              <a:t>一个加工所有输出数据流中的数据，必须能从该加工的输入数据流中直接获得，或者能通过该加工的处理而产生</a:t>
            </a:r>
            <a:endParaRPr lang="zh-CN" altLang="en-US" sz="2000" dirty="0"/>
          </a:p>
          <a:p>
            <a:pPr eaLnBrk="1" hangingPunct="1">
              <a:buFont typeface="Wingdings" panose="05000000000000000000" pitchFamily="2" charset="2"/>
              <a:buChar char="p"/>
            </a:pPr>
            <a:r>
              <a:rPr lang="zh-CN" altLang="en-US" dirty="0"/>
              <a:t>局部文件</a:t>
            </a:r>
            <a:endParaRPr lang="zh-CN" altLang="en-US" dirty="0"/>
          </a:p>
          <a:p>
            <a:pPr lvl="1" eaLnBrk="1" hangingPunct="1">
              <a:buFont typeface="Wingdings" panose="05000000000000000000" pitchFamily="2" charset="2"/>
              <a:buChar char="ü"/>
            </a:pPr>
            <a:r>
              <a:rPr lang="zh-CN" altLang="en-US" sz="2000" dirty="0"/>
              <a:t>考虑分层数据流中一个文件应画在哪些</a:t>
            </a:r>
            <a:r>
              <a:rPr lang="en-US" altLang="zh-CN" sz="2000" dirty="0"/>
              <a:t>DFD</a:t>
            </a:r>
            <a:r>
              <a:rPr lang="zh-CN" altLang="en-US" sz="2000" dirty="0"/>
              <a:t>中，而不该画在哪些</a:t>
            </a:r>
            <a:r>
              <a:rPr lang="en-US" altLang="zh-CN" sz="2000" dirty="0"/>
              <a:t>DFD</a:t>
            </a:r>
            <a:r>
              <a:rPr lang="zh-CN" altLang="en-US" sz="2000" dirty="0"/>
              <a:t>中</a:t>
            </a:r>
            <a:endParaRPr lang="zh-CN" altLang="en-US" sz="2000" dirty="0"/>
          </a:p>
          <a:p>
            <a:pPr lvl="1" eaLnBrk="1" hangingPunct="1">
              <a:buFont typeface="Wingdings" panose="05000000000000000000" pitchFamily="2" charset="2"/>
              <a:buChar char="ü"/>
            </a:pPr>
            <a:endParaRPr lang="zh-CN" altLang="en-US" sz="2000" dirty="0"/>
          </a:p>
          <a:p>
            <a:pPr eaLnBrk="1" hangingPunct="1">
              <a:buFont typeface="Wingdings 2" panose="05020102010507070707" pitchFamily="18" charset="2"/>
              <a:buChar char=""/>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455613" y="531813"/>
            <a:ext cx="8207375"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父图与子图不平衡的实例</a:t>
            </a:r>
            <a:endParaRPr lang="zh-CN" altLang="en-US" b="1" dirty="0">
              <a:latin typeface="微软雅黑" panose="020B0503020204020204" pitchFamily="34" charset="-122"/>
              <a:ea typeface="微软雅黑" panose="020B0503020204020204" pitchFamily="34" charset="-122"/>
            </a:endParaRPr>
          </a:p>
        </p:txBody>
      </p:sp>
      <p:sp>
        <p:nvSpPr>
          <p:cNvPr id="26627" name="Rectangle 3"/>
          <p:cNvSpPr>
            <a:spLocks noGrp="1"/>
          </p:cNvSpPr>
          <p:nvPr>
            <p:ph idx="1"/>
          </p:nvPr>
        </p:nvSpPr>
        <p:spPr>
          <a:xfrm>
            <a:off x="379413" y="1978025"/>
            <a:ext cx="7902575" cy="2281238"/>
          </a:xfrm>
        </p:spPr>
        <p:txBody>
          <a:bodyPr vert="horz" wrap="square" lIns="91221" tIns="45610" rIns="91221" bIns="45610" anchor="t" anchorCtr="0"/>
          <a:p>
            <a:pPr eaLnBrk="1" hangingPunct="1">
              <a:buFont typeface="Wingdings" panose="05000000000000000000" pitchFamily="2" charset="2"/>
              <a:buChar char="p"/>
            </a:pPr>
            <a:r>
              <a:rPr lang="zh-CN" altLang="en-US" dirty="0"/>
              <a:t>加工</a:t>
            </a:r>
            <a:r>
              <a:rPr lang="en-US" altLang="zh-CN" dirty="0"/>
              <a:t>2</a:t>
            </a:r>
            <a:r>
              <a:rPr lang="zh-CN" altLang="en-US" dirty="0"/>
              <a:t>的输入数据流有</a:t>
            </a:r>
            <a:r>
              <a:rPr lang="en-US" altLang="zh-CN" dirty="0"/>
              <a:t>M</a:t>
            </a:r>
            <a:r>
              <a:rPr lang="zh-CN" altLang="en-US" dirty="0"/>
              <a:t>和</a:t>
            </a:r>
            <a:r>
              <a:rPr lang="en-US" altLang="zh-CN" dirty="0"/>
              <a:t>N</a:t>
            </a:r>
            <a:r>
              <a:rPr lang="zh-CN" altLang="en-US" dirty="0"/>
              <a:t>，输出数据流是</a:t>
            </a:r>
            <a:r>
              <a:rPr lang="en-US" altLang="zh-CN" dirty="0"/>
              <a:t>T</a:t>
            </a:r>
            <a:endParaRPr lang="en-US" altLang="zh-CN" dirty="0"/>
          </a:p>
          <a:p>
            <a:pPr eaLnBrk="1" hangingPunct="1">
              <a:buFont typeface="Wingdings" panose="05000000000000000000" pitchFamily="2" charset="2"/>
              <a:buChar char="p"/>
            </a:pPr>
            <a:r>
              <a:rPr lang="zh-CN" altLang="en-US" dirty="0"/>
              <a:t>而子图</a:t>
            </a:r>
            <a:r>
              <a:rPr lang="en-US" altLang="zh-CN" dirty="0"/>
              <a:t>(</a:t>
            </a:r>
            <a:r>
              <a:rPr lang="zh-CN" altLang="en-US" dirty="0"/>
              <a:t>右图</a:t>
            </a:r>
            <a:r>
              <a:rPr lang="en-US" altLang="zh-CN" dirty="0"/>
              <a:t>)</a:t>
            </a:r>
            <a:r>
              <a:rPr lang="zh-CN" altLang="en-US" dirty="0"/>
              <a:t>边界上的输入数据流是</a:t>
            </a:r>
            <a:r>
              <a:rPr lang="en-US" altLang="zh-CN" dirty="0"/>
              <a:t>N</a:t>
            </a:r>
            <a:r>
              <a:rPr lang="zh-CN" altLang="en-US" dirty="0"/>
              <a:t>，输出数据流是</a:t>
            </a:r>
            <a:r>
              <a:rPr lang="en-US" altLang="zh-CN" dirty="0"/>
              <a:t>S</a:t>
            </a:r>
            <a:r>
              <a:rPr lang="zh-CN" altLang="en-US" dirty="0"/>
              <a:t>和</a:t>
            </a:r>
            <a:r>
              <a:rPr lang="en-US" altLang="zh-CN" dirty="0"/>
              <a:t>T</a:t>
            </a:r>
            <a:endParaRPr lang="en-US" altLang="zh-CN" dirty="0"/>
          </a:p>
        </p:txBody>
      </p:sp>
      <p:grpSp>
        <p:nvGrpSpPr>
          <p:cNvPr id="26628" name="Group 54"/>
          <p:cNvGrpSpPr/>
          <p:nvPr/>
        </p:nvGrpSpPr>
        <p:grpSpPr>
          <a:xfrm>
            <a:off x="836613" y="3651250"/>
            <a:ext cx="6959600" cy="2014538"/>
            <a:chOff x="883" y="2304"/>
            <a:chExt cx="4397" cy="1272"/>
          </a:xfrm>
        </p:grpSpPr>
        <p:grpSp>
          <p:nvGrpSpPr>
            <p:cNvPr id="26629" name="Group 9"/>
            <p:cNvGrpSpPr/>
            <p:nvPr/>
          </p:nvGrpSpPr>
          <p:grpSpPr>
            <a:xfrm>
              <a:off x="883" y="2384"/>
              <a:ext cx="2039" cy="1192"/>
              <a:chOff x="2370" y="10278"/>
              <a:chExt cx="3346" cy="1842"/>
            </a:xfrm>
          </p:grpSpPr>
          <p:grpSp>
            <p:nvGrpSpPr>
              <p:cNvPr id="26657" name="Group 10"/>
              <p:cNvGrpSpPr/>
              <p:nvPr/>
            </p:nvGrpSpPr>
            <p:grpSpPr>
              <a:xfrm>
                <a:off x="3088" y="10833"/>
                <a:ext cx="544" cy="543"/>
                <a:chOff x="4048" y="11718"/>
                <a:chExt cx="544" cy="543"/>
              </a:xfrm>
            </p:grpSpPr>
            <p:sp>
              <p:nvSpPr>
                <p:cNvPr id="26670" name="Rectangle 11"/>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1</a:t>
                  </a:r>
                  <a:endParaRPr lang="en-US" altLang="zh-CN" sz="1800" b="1" dirty="0">
                    <a:latin typeface="Times New Roman" panose="02020603050405020304" pitchFamily="18" charset="0"/>
                    <a:ea typeface="黑体" panose="02010609060101010101" pitchFamily="49" charset="-122"/>
                  </a:endParaRPr>
                </a:p>
              </p:txBody>
            </p:sp>
            <p:sp>
              <p:nvSpPr>
                <p:cNvPr id="26671" name="Oval 12"/>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pSp>
          <p:grpSp>
            <p:nvGrpSpPr>
              <p:cNvPr id="26658" name="Group 13"/>
              <p:cNvGrpSpPr/>
              <p:nvPr/>
            </p:nvGrpSpPr>
            <p:grpSpPr>
              <a:xfrm>
                <a:off x="4544" y="11433"/>
                <a:ext cx="544" cy="543"/>
                <a:chOff x="4048" y="11718"/>
                <a:chExt cx="544" cy="543"/>
              </a:xfrm>
            </p:grpSpPr>
            <p:sp>
              <p:nvSpPr>
                <p:cNvPr id="26668" name="Rectangle 14"/>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2</a:t>
                  </a:r>
                  <a:endParaRPr lang="en-US" altLang="zh-CN" sz="1800" b="1" dirty="0">
                    <a:latin typeface="Times New Roman" panose="02020603050405020304" pitchFamily="18" charset="0"/>
                    <a:ea typeface="黑体" panose="02010609060101010101" pitchFamily="49" charset="-122"/>
                  </a:endParaRPr>
                </a:p>
              </p:txBody>
            </p:sp>
            <p:sp>
              <p:nvSpPr>
                <p:cNvPr id="26669" name="Oval 15"/>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pSp>
          <p:grpSp>
            <p:nvGrpSpPr>
              <p:cNvPr id="26659" name="Group 16"/>
              <p:cNvGrpSpPr/>
              <p:nvPr/>
            </p:nvGrpSpPr>
            <p:grpSpPr>
              <a:xfrm>
                <a:off x="4544" y="10278"/>
                <a:ext cx="544" cy="543"/>
                <a:chOff x="4048" y="11718"/>
                <a:chExt cx="544" cy="543"/>
              </a:xfrm>
            </p:grpSpPr>
            <p:sp>
              <p:nvSpPr>
                <p:cNvPr id="26666" name="Rectangle 17"/>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3</a:t>
                  </a:r>
                  <a:endParaRPr lang="en-US" altLang="zh-CN" sz="1800" b="1" dirty="0">
                    <a:latin typeface="Times New Roman" panose="02020603050405020304" pitchFamily="18" charset="0"/>
                    <a:ea typeface="黑体" panose="02010609060101010101" pitchFamily="49" charset="-122"/>
                  </a:endParaRPr>
                </a:p>
              </p:txBody>
            </p:sp>
            <p:sp>
              <p:nvSpPr>
                <p:cNvPr id="26667" name="Oval 18"/>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pSp>
          <p:sp>
            <p:nvSpPr>
              <p:cNvPr id="26660" name="Arc 19"/>
              <p:cNvSpPr/>
              <p:nvPr/>
            </p:nvSpPr>
            <p:spPr>
              <a:xfrm rot="-2782748">
                <a:off x="3942" y="10395"/>
                <a:ext cx="1003" cy="1440"/>
              </a:xfrm>
              <a:custGeom>
                <a:avLst/>
                <a:gdLst/>
                <a:ahLst/>
                <a:cxnLst>
                  <a:cxn ang="0">
                    <a:pos x="0" y="0"/>
                  </a:cxn>
                  <a:cxn ang="0">
                    <a:pos x="0" y="0"/>
                  </a:cxn>
                  <a:cxn ang="0">
                    <a:pos x="0" y="0"/>
                  </a:cxn>
                </a:cxnLst>
                <a:pathLst>
                  <a:path w="15044" h="21600" fill="none">
                    <a:moveTo>
                      <a:pt x="-1" y="0"/>
                    </a:moveTo>
                    <a:cubicBezTo>
                      <a:pt x="5617" y="0"/>
                      <a:pt x="11013" y="2188"/>
                      <a:pt x="15043" y="6100"/>
                    </a:cubicBezTo>
                  </a:path>
                  <a:path w="15044" h="21600" stroke="0">
                    <a:moveTo>
                      <a:pt x="-1" y="0"/>
                    </a:moveTo>
                    <a:cubicBezTo>
                      <a:pt x="5617" y="0"/>
                      <a:pt x="11013" y="2188"/>
                      <a:pt x="15043" y="61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6661" name="Arc 20"/>
              <p:cNvSpPr/>
              <p:nvPr/>
            </p:nvSpPr>
            <p:spPr>
              <a:xfrm rot="2782748" flipV="1">
                <a:off x="3928" y="10410"/>
                <a:ext cx="1003" cy="1440"/>
              </a:xfrm>
              <a:custGeom>
                <a:avLst/>
                <a:gdLst/>
                <a:ahLst/>
                <a:cxnLst>
                  <a:cxn ang="0">
                    <a:pos x="0" y="0"/>
                  </a:cxn>
                  <a:cxn ang="0">
                    <a:pos x="0" y="0"/>
                  </a:cxn>
                  <a:cxn ang="0">
                    <a:pos x="0" y="0"/>
                  </a:cxn>
                </a:cxnLst>
                <a:pathLst>
                  <a:path w="15044" h="21600" fill="none">
                    <a:moveTo>
                      <a:pt x="-1" y="0"/>
                    </a:moveTo>
                    <a:cubicBezTo>
                      <a:pt x="5617" y="0"/>
                      <a:pt x="11013" y="2188"/>
                      <a:pt x="15043" y="6100"/>
                    </a:cubicBezTo>
                  </a:path>
                  <a:path w="15044" h="21600" stroke="0">
                    <a:moveTo>
                      <a:pt x="-1" y="0"/>
                    </a:moveTo>
                    <a:cubicBezTo>
                      <a:pt x="5617" y="0"/>
                      <a:pt x="11013" y="2188"/>
                      <a:pt x="15043" y="61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6662" name="Line 21"/>
              <p:cNvSpPr/>
              <p:nvPr/>
            </p:nvSpPr>
            <p:spPr>
              <a:xfrm>
                <a:off x="2370" y="11085"/>
                <a:ext cx="706" cy="0"/>
              </a:xfrm>
              <a:prstGeom prst="line">
                <a:avLst/>
              </a:prstGeom>
              <a:ln w="9525" cap="flat" cmpd="sng">
                <a:solidFill>
                  <a:srgbClr val="000000"/>
                </a:solidFill>
                <a:prstDash val="solid"/>
                <a:headEnd type="none" w="sm" len="med"/>
                <a:tailEnd type="triangle" w="sm" len="med"/>
              </a:ln>
            </p:spPr>
          </p:sp>
          <p:sp>
            <p:nvSpPr>
              <p:cNvPr id="26663" name="Line 22"/>
              <p:cNvSpPr/>
              <p:nvPr/>
            </p:nvSpPr>
            <p:spPr>
              <a:xfrm flipV="1">
                <a:off x="4004" y="11880"/>
                <a:ext cx="586" cy="240"/>
              </a:xfrm>
              <a:prstGeom prst="line">
                <a:avLst/>
              </a:prstGeom>
              <a:ln w="9525" cap="flat" cmpd="sng">
                <a:solidFill>
                  <a:srgbClr val="000000"/>
                </a:solidFill>
                <a:prstDash val="solid"/>
                <a:headEnd type="none" w="sm" len="med"/>
                <a:tailEnd type="triangle" w="sm" len="med"/>
              </a:ln>
            </p:spPr>
          </p:sp>
          <p:sp>
            <p:nvSpPr>
              <p:cNvPr id="26664" name="Line 23"/>
              <p:cNvSpPr/>
              <p:nvPr/>
            </p:nvSpPr>
            <p:spPr>
              <a:xfrm>
                <a:off x="5084" y="11685"/>
                <a:ext cx="630" cy="0"/>
              </a:xfrm>
              <a:prstGeom prst="line">
                <a:avLst/>
              </a:prstGeom>
              <a:ln w="9525" cap="flat" cmpd="sng">
                <a:solidFill>
                  <a:srgbClr val="000000"/>
                </a:solidFill>
                <a:prstDash val="solid"/>
                <a:headEnd type="none" w="sm" len="med"/>
                <a:tailEnd type="triangle" w="sm" len="med"/>
              </a:ln>
            </p:spPr>
          </p:sp>
          <p:sp>
            <p:nvSpPr>
              <p:cNvPr id="26665" name="Line 24"/>
              <p:cNvSpPr/>
              <p:nvPr/>
            </p:nvSpPr>
            <p:spPr>
              <a:xfrm>
                <a:off x="5084" y="10545"/>
                <a:ext cx="632" cy="0"/>
              </a:xfrm>
              <a:prstGeom prst="line">
                <a:avLst/>
              </a:prstGeom>
              <a:ln w="9525" cap="flat" cmpd="sng">
                <a:solidFill>
                  <a:srgbClr val="000000"/>
                </a:solidFill>
                <a:prstDash val="solid"/>
                <a:headEnd type="none" w="sm" len="med"/>
                <a:tailEnd type="triangle" w="sm" len="med"/>
              </a:ln>
            </p:spPr>
          </p:sp>
        </p:grpSp>
        <p:grpSp>
          <p:nvGrpSpPr>
            <p:cNvPr id="26630" name="Group 25"/>
            <p:cNvGrpSpPr/>
            <p:nvPr/>
          </p:nvGrpSpPr>
          <p:grpSpPr>
            <a:xfrm>
              <a:off x="929" y="2304"/>
              <a:ext cx="1910" cy="1253"/>
              <a:chOff x="2446" y="10155"/>
              <a:chExt cx="3134" cy="1935"/>
            </a:xfrm>
          </p:grpSpPr>
          <p:sp>
            <p:nvSpPr>
              <p:cNvPr id="26651" name="Rectangle 26"/>
              <p:cNvSpPr/>
              <p:nvPr/>
            </p:nvSpPr>
            <p:spPr>
              <a:xfrm>
                <a:off x="2446" y="1071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A</a:t>
                </a:r>
                <a:endParaRPr lang="en-US" altLang="zh-CN" sz="1800" b="1" dirty="0">
                  <a:latin typeface="Times New Roman" panose="02020603050405020304" pitchFamily="18" charset="0"/>
                  <a:ea typeface="黑体" panose="02010609060101010101" pitchFamily="49" charset="-122"/>
                </a:endParaRPr>
              </a:p>
            </p:txBody>
          </p:sp>
          <p:sp>
            <p:nvSpPr>
              <p:cNvPr id="26652" name="Rectangle 27"/>
              <p:cNvSpPr/>
              <p:nvPr/>
            </p:nvSpPr>
            <p:spPr>
              <a:xfrm>
                <a:off x="3600" y="1032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B</a:t>
                </a:r>
                <a:endParaRPr lang="en-US" altLang="zh-CN" sz="1800" b="1" dirty="0">
                  <a:latin typeface="Times New Roman" panose="02020603050405020304" pitchFamily="18" charset="0"/>
                  <a:ea typeface="黑体" panose="02010609060101010101" pitchFamily="49" charset="-122"/>
                </a:endParaRPr>
              </a:p>
            </p:txBody>
          </p:sp>
          <p:sp>
            <p:nvSpPr>
              <p:cNvPr id="26653" name="Rectangle 28"/>
              <p:cNvSpPr/>
              <p:nvPr/>
            </p:nvSpPr>
            <p:spPr>
              <a:xfrm>
                <a:off x="5116" y="1015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C</a:t>
                </a:r>
                <a:endParaRPr lang="en-US" altLang="zh-CN" sz="1800" b="1" dirty="0">
                  <a:latin typeface="Times New Roman" panose="02020603050405020304" pitchFamily="18" charset="0"/>
                  <a:ea typeface="黑体" panose="02010609060101010101" pitchFamily="49" charset="-122"/>
                </a:endParaRPr>
              </a:p>
            </p:txBody>
          </p:sp>
          <p:sp>
            <p:nvSpPr>
              <p:cNvPr id="26654" name="Rectangle 29"/>
              <p:cNvSpPr/>
              <p:nvPr/>
            </p:nvSpPr>
            <p:spPr>
              <a:xfrm>
                <a:off x="3810" y="1119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M</a:t>
                </a:r>
                <a:endParaRPr lang="en-US" altLang="zh-CN" sz="1800" b="1" dirty="0">
                  <a:latin typeface="Times New Roman" panose="02020603050405020304" pitchFamily="18" charset="0"/>
                  <a:ea typeface="黑体" panose="02010609060101010101" pitchFamily="49" charset="-122"/>
                </a:endParaRPr>
              </a:p>
            </p:txBody>
          </p:sp>
          <p:sp>
            <p:nvSpPr>
              <p:cNvPr id="26655" name="Rectangle 30"/>
              <p:cNvSpPr/>
              <p:nvPr/>
            </p:nvSpPr>
            <p:spPr>
              <a:xfrm>
                <a:off x="3826" y="1165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N</a:t>
                </a:r>
                <a:endParaRPr lang="en-US" altLang="zh-CN" sz="1800" b="1" dirty="0">
                  <a:latin typeface="Times New Roman" panose="02020603050405020304" pitchFamily="18" charset="0"/>
                  <a:ea typeface="黑体" panose="02010609060101010101" pitchFamily="49" charset="-122"/>
                </a:endParaRPr>
              </a:p>
            </p:txBody>
          </p:sp>
          <p:sp>
            <p:nvSpPr>
              <p:cNvPr id="26656" name="Rectangle 31"/>
              <p:cNvSpPr/>
              <p:nvPr/>
            </p:nvSpPr>
            <p:spPr>
              <a:xfrm>
                <a:off x="5102" y="1132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T</a:t>
                </a:r>
                <a:endParaRPr lang="en-US" altLang="zh-CN" sz="1800" b="1" dirty="0">
                  <a:latin typeface="Times New Roman" panose="02020603050405020304" pitchFamily="18" charset="0"/>
                  <a:ea typeface="黑体" panose="02010609060101010101" pitchFamily="49" charset="-122"/>
                </a:endParaRPr>
              </a:p>
            </p:txBody>
          </p:sp>
        </p:grpSp>
        <p:sp>
          <p:nvSpPr>
            <p:cNvPr id="26631" name="Arc 34"/>
            <p:cNvSpPr/>
            <p:nvPr/>
          </p:nvSpPr>
          <p:spPr>
            <a:xfrm rot="6632236" flipH="1">
              <a:off x="4175" y="2487"/>
              <a:ext cx="629" cy="860"/>
            </a:xfrm>
            <a:custGeom>
              <a:avLst/>
              <a:gdLst/>
              <a:ahLst/>
              <a:cxnLst>
                <a:cxn ang="0">
                  <a:pos x="0" y="0"/>
                </a:cxn>
                <a:cxn ang="0">
                  <a:pos x="0" y="0"/>
                </a:cxn>
                <a:cxn ang="0">
                  <a:pos x="0" y="0"/>
                </a:cxn>
              </a:cxnLst>
              <a:pathLst>
                <a:path w="14591" h="21184" fill="none">
                  <a:moveTo>
                    <a:pt x="4216" y="-1"/>
                  </a:moveTo>
                  <a:cubicBezTo>
                    <a:pt x="8090" y="770"/>
                    <a:pt x="11678" y="2588"/>
                    <a:pt x="14590" y="5257"/>
                  </a:cubicBezTo>
                </a:path>
                <a:path w="14591" h="21184" stroke="0">
                  <a:moveTo>
                    <a:pt x="4216" y="-1"/>
                  </a:moveTo>
                  <a:cubicBezTo>
                    <a:pt x="8090" y="770"/>
                    <a:pt x="11678" y="2588"/>
                    <a:pt x="14590" y="5257"/>
                  </a:cubicBezTo>
                  <a:lnTo>
                    <a:pt x="0" y="21184"/>
                  </a:lnTo>
                  <a:lnTo>
                    <a:pt x="4216" y="-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26632" name="Group 35"/>
            <p:cNvGrpSpPr/>
            <p:nvPr/>
          </p:nvGrpSpPr>
          <p:grpSpPr>
            <a:xfrm>
              <a:off x="3679" y="2752"/>
              <a:ext cx="331" cy="352"/>
              <a:chOff x="4048" y="11718"/>
              <a:chExt cx="544" cy="543"/>
            </a:xfrm>
          </p:grpSpPr>
          <p:sp>
            <p:nvSpPr>
              <p:cNvPr id="26649" name="Rectangle 36"/>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2.1</a:t>
                </a:r>
                <a:endParaRPr lang="en-US" altLang="zh-CN" sz="1800" b="1" dirty="0">
                  <a:latin typeface="Times New Roman" panose="02020603050405020304" pitchFamily="18" charset="0"/>
                  <a:ea typeface="黑体" panose="02010609060101010101" pitchFamily="49" charset="-122"/>
                </a:endParaRPr>
              </a:p>
            </p:txBody>
          </p:sp>
          <p:sp>
            <p:nvSpPr>
              <p:cNvPr id="26650" name="Oval 37"/>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pSp>
        <p:grpSp>
          <p:nvGrpSpPr>
            <p:cNvPr id="26633" name="Group 38"/>
            <p:cNvGrpSpPr/>
            <p:nvPr/>
          </p:nvGrpSpPr>
          <p:grpSpPr>
            <a:xfrm>
              <a:off x="4566" y="3141"/>
              <a:ext cx="331" cy="351"/>
              <a:chOff x="4048" y="11718"/>
              <a:chExt cx="544" cy="543"/>
            </a:xfrm>
          </p:grpSpPr>
          <p:sp>
            <p:nvSpPr>
              <p:cNvPr id="26647" name="Rectangle 39"/>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2.2</a:t>
                </a:r>
                <a:endParaRPr lang="en-US" altLang="zh-CN" sz="1800" b="1" dirty="0">
                  <a:latin typeface="Times New Roman" panose="02020603050405020304" pitchFamily="18" charset="0"/>
                  <a:ea typeface="黑体" panose="02010609060101010101" pitchFamily="49" charset="-122"/>
                </a:endParaRPr>
              </a:p>
            </p:txBody>
          </p:sp>
          <p:sp>
            <p:nvSpPr>
              <p:cNvPr id="26648" name="Oval 40"/>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pSp>
        <p:grpSp>
          <p:nvGrpSpPr>
            <p:cNvPr id="26634" name="Group 41"/>
            <p:cNvGrpSpPr/>
            <p:nvPr/>
          </p:nvGrpSpPr>
          <p:grpSpPr>
            <a:xfrm>
              <a:off x="4566" y="2393"/>
              <a:ext cx="331" cy="351"/>
              <a:chOff x="4048" y="11718"/>
              <a:chExt cx="544" cy="543"/>
            </a:xfrm>
          </p:grpSpPr>
          <p:sp>
            <p:nvSpPr>
              <p:cNvPr id="26645" name="Rectangle 42"/>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2.3</a:t>
                </a:r>
                <a:endParaRPr lang="en-US" altLang="zh-CN" sz="1800" b="1" dirty="0">
                  <a:latin typeface="Times New Roman" panose="02020603050405020304" pitchFamily="18" charset="0"/>
                  <a:ea typeface="黑体" panose="02010609060101010101" pitchFamily="49" charset="-122"/>
                </a:endParaRPr>
              </a:p>
            </p:txBody>
          </p:sp>
          <p:sp>
            <p:nvSpPr>
              <p:cNvPr id="26646" name="Oval 43"/>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pSp>
        <p:sp>
          <p:nvSpPr>
            <p:cNvPr id="26635" name="Arc 44"/>
            <p:cNvSpPr/>
            <p:nvPr/>
          </p:nvSpPr>
          <p:spPr>
            <a:xfrm rot="2782748" flipV="1">
              <a:off x="4172" y="2506"/>
              <a:ext cx="649" cy="877"/>
            </a:xfrm>
            <a:custGeom>
              <a:avLst/>
              <a:gdLst/>
              <a:ahLst/>
              <a:cxnLst>
                <a:cxn ang="0">
                  <a:pos x="0" y="0"/>
                </a:cxn>
                <a:cxn ang="0">
                  <a:pos x="0" y="0"/>
                </a:cxn>
                <a:cxn ang="0">
                  <a:pos x="0" y="0"/>
                </a:cxn>
              </a:cxnLst>
              <a:pathLst>
                <a:path w="15044" h="21600" fill="none">
                  <a:moveTo>
                    <a:pt x="-1" y="0"/>
                  </a:moveTo>
                  <a:cubicBezTo>
                    <a:pt x="5617" y="0"/>
                    <a:pt x="11013" y="2188"/>
                    <a:pt x="15043" y="6100"/>
                  </a:cubicBezTo>
                </a:path>
                <a:path w="15044" h="21600" stroke="0">
                  <a:moveTo>
                    <a:pt x="-1" y="0"/>
                  </a:moveTo>
                  <a:cubicBezTo>
                    <a:pt x="5617" y="0"/>
                    <a:pt x="11013" y="2188"/>
                    <a:pt x="15043" y="61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6636" name="Line 45"/>
            <p:cNvSpPr/>
            <p:nvPr/>
          </p:nvSpPr>
          <p:spPr>
            <a:xfrm>
              <a:off x="3241" y="2915"/>
              <a:ext cx="430" cy="0"/>
            </a:xfrm>
            <a:prstGeom prst="line">
              <a:avLst/>
            </a:prstGeom>
            <a:ln w="9525" cap="flat" cmpd="sng">
              <a:solidFill>
                <a:srgbClr val="000000"/>
              </a:solidFill>
              <a:prstDash val="solid"/>
              <a:headEnd type="none" w="sm" len="med"/>
              <a:tailEnd type="triangle" w="sm" len="med"/>
            </a:ln>
          </p:spPr>
        </p:sp>
        <p:sp>
          <p:nvSpPr>
            <p:cNvPr id="26637" name="Line 46"/>
            <p:cNvSpPr/>
            <p:nvPr/>
          </p:nvSpPr>
          <p:spPr>
            <a:xfrm>
              <a:off x="4895" y="3304"/>
              <a:ext cx="384" cy="0"/>
            </a:xfrm>
            <a:prstGeom prst="line">
              <a:avLst/>
            </a:prstGeom>
            <a:ln w="9525" cap="flat" cmpd="sng">
              <a:solidFill>
                <a:srgbClr val="000000"/>
              </a:solidFill>
              <a:prstDash val="solid"/>
              <a:headEnd type="none" w="sm" len="med"/>
              <a:tailEnd type="triangle" w="sm" len="med"/>
            </a:ln>
          </p:spPr>
        </p:sp>
        <p:sp>
          <p:nvSpPr>
            <p:cNvPr id="26638" name="Line 47"/>
            <p:cNvSpPr/>
            <p:nvPr/>
          </p:nvSpPr>
          <p:spPr>
            <a:xfrm>
              <a:off x="4895" y="2566"/>
              <a:ext cx="385" cy="0"/>
            </a:xfrm>
            <a:prstGeom prst="line">
              <a:avLst/>
            </a:prstGeom>
            <a:ln w="9525" cap="flat" cmpd="sng">
              <a:solidFill>
                <a:srgbClr val="000000"/>
              </a:solidFill>
              <a:prstDash val="solid"/>
              <a:headEnd type="none" w="sm" len="med"/>
              <a:tailEnd type="triangle" w="sm" len="med"/>
            </a:ln>
          </p:spPr>
        </p:sp>
        <p:grpSp>
          <p:nvGrpSpPr>
            <p:cNvPr id="26639" name="Group 48"/>
            <p:cNvGrpSpPr/>
            <p:nvPr/>
          </p:nvGrpSpPr>
          <p:grpSpPr>
            <a:xfrm>
              <a:off x="3296" y="2323"/>
              <a:ext cx="1901" cy="1019"/>
              <a:chOff x="6330" y="10185"/>
              <a:chExt cx="3120" cy="1575"/>
            </a:xfrm>
          </p:grpSpPr>
          <p:sp>
            <p:nvSpPr>
              <p:cNvPr id="26640" name="Rectangle 49"/>
              <p:cNvSpPr/>
              <p:nvPr/>
            </p:nvSpPr>
            <p:spPr>
              <a:xfrm>
                <a:off x="6330" y="1072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N</a:t>
                </a:r>
                <a:endParaRPr lang="en-US" altLang="zh-CN" sz="1800" b="1" dirty="0">
                  <a:latin typeface="Times New Roman" panose="02020603050405020304" pitchFamily="18" charset="0"/>
                  <a:ea typeface="黑体" panose="02010609060101010101" pitchFamily="49" charset="-122"/>
                </a:endParaRPr>
              </a:p>
            </p:txBody>
          </p:sp>
          <p:sp>
            <p:nvSpPr>
              <p:cNvPr id="26641" name="Rectangle 50"/>
              <p:cNvSpPr/>
              <p:nvPr/>
            </p:nvSpPr>
            <p:spPr>
              <a:xfrm>
                <a:off x="7666" y="1116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P</a:t>
                </a:r>
                <a:endParaRPr lang="en-US" altLang="zh-CN" sz="1800" b="1" dirty="0">
                  <a:latin typeface="Times New Roman" panose="02020603050405020304" pitchFamily="18" charset="0"/>
                  <a:ea typeface="黑体" panose="02010609060101010101" pitchFamily="49" charset="-122"/>
                </a:endParaRPr>
              </a:p>
            </p:txBody>
          </p:sp>
          <p:sp>
            <p:nvSpPr>
              <p:cNvPr id="26642" name="Rectangle 51"/>
              <p:cNvSpPr/>
              <p:nvPr/>
            </p:nvSpPr>
            <p:spPr>
              <a:xfrm>
                <a:off x="8986" y="1132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S</a:t>
                </a:r>
                <a:endParaRPr lang="en-US" altLang="zh-CN" sz="1800" b="1" dirty="0">
                  <a:latin typeface="Times New Roman" panose="02020603050405020304" pitchFamily="18" charset="0"/>
                  <a:ea typeface="黑体" panose="02010609060101010101" pitchFamily="49" charset="-122"/>
                </a:endParaRPr>
              </a:p>
            </p:txBody>
          </p:sp>
          <p:sp>
            <p:nvSpPr>
              <p:cNvPr id="26643" name="Rectangle 52"/>
              <p:cNvSpPr/>
              <p:nvPr/>
            </p:nvSpPr>
            <p:spPr>
              <a:xfrm>
                <a:off x="8972" y="1018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T</a:t>
                </a:r>
                <a:endParaRPr lang="en-US" altLang="zh-CN" sz="1800" b="1" dirty="0">
                  <a:latin typeface="Times New Roman" panose="02020603050405020304" pitchFamily="18" charset="0"/>
                  <a:ea typeface="黑体" panose="02010609060101010101" pitchFamily="49" charset="-122"/>
                </a:endParaRPr>
              </a:p>
            </p:txBody>
          </p:sp>
          <p:sp>
            <p:nvSpPr>
              <p:cNvPr id="26644" name="Rectangle 53"/>
              <p:cNvSpPr/>
              <p:nvPr/>
            </p:nvSpPr>
            <p:spPr>
              <a:xfrm>
                <a:off x="8536" y="1090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800" dirty="0">
                    <a:latin typeface="Times New Roman" panose="02020603050405020304" pitchFamily="18" charset="0"/>
                    <a:ea typeface="黑体" panose="02010609060101010101" pitchFamily="49" charset="-122"/>
                  </a:rPr>
                  <a:t>Q</a:t>
                </a:r>
                <a:endParaRPr lang="en-US" altLang="zh-CN" sz="1800" b="1" dirty="0">
                  <a:latin typeface="Times New Roman" panose="02020603050405020304" pitchFamily="18" charset="0"/>
                  <a:ea typeface="黑体" panose="02010609060101010101" pitchFamily="49" charset="-122"/>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455613" y="228600"/>
            <a:ext cx="820737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数据不守恒的实例</a:t>
            </a:r>
            <a:endParaRPr lang="zh-CN" altLang="en-US" b="1" dirty="0">
              <a:latin typeface="微软雅黑" panose="020B0503020204020204" pitchFamily="34" charset="-122"/>
              <a:ea typeface="微软雅黑" panose="020B0503020204020204" pitchFamily="34" charset="-122"/>
            </a:endParaRPr>
          </a:p>
        </p:txBody>
      </p:sp>
      <p:grpSp>
        <p:nvGrpSpPr>
          <p:cNvPr id="28675" name="Group 7"/>
          <p:cNvGrpSpPr/>
          <p:nvPr/>
        </p:nvGrpSpPr>
        <p:grpSpPr>
          <a:xfrm>
            <a:off x="3556000" y="3351213"/>
            <a:ext cx="2033588" cy="1065212"/>
            <a:chOff x="5586" y="11595"/>
            <a:chExt cx="1575" cy="975"/>
          </a:xfrm>
        </p:grpSpPr>
        <p:grpSp>
          <p:nvGrpSpPr>
            <p:cNvPr id="28728" name="Group 8"/>
            <p:cNvGrpSpPr/>
            <p:nvPr/>
          </p:nvGrpSpPr>
          <p:grpSpPr>
            <a:xfrm>
              <a:off x="5586" y="12120"/>
              <a:ext cx="1306" cy="450"/>
              <a:chOff x="5038" y="9225"/>
              <a:chExt cx="1306" cy="450"/>
            </a:xfrm>
          </p:grpSpPr>
          <p:sp>
            <p:nvSpPr>
              <p:cNvPr id="28730" name="Line 9"/>
              <p:cNvSpPr/>
              <p:nvPr/>
            </p:nvSpPr>
            <p:spPr>
              <a:xfrm>
                <a:off x="5038" y="9270"/>
                <a:ext cx="1290" cy="0"/>
              </a:xfrm>
              <a:prstGeom prst="line">
                <a:avLst/>
              </a:prstGeom>
              <a:ln w="9525" cap="flat" cmpd="sng">
                <a:solidFill>
                  <a:srgbClr val="000000"/>
                </a:solidFill>
                <a:prstDash val="solid"/>
                <a:headEnd type="none" w="sm" len="med"/>
                <a:tailEnd type="none" w="sm" len="med"/>
              </a:ln>
            </p:spPr>
          </p:sp>
          <p:sp>
            <p:nvSpPr>
              <p:cNvPr id="28731" name="Line 10"/>
              <p:cNvSpPr/>
              <p:nvPr/>
            </p:nvSpPr>
            <p:spPr>
              <a:xfrm>
                <a:off x="5054" y="9630"/>
                <a:ext cx="1290" cy="0"/>
              </a:xfrm>
              <a:prstGeom prst="line">
                <a:avLst/>
              </a:prstGeom>
              <a:ln w="9525" cap="flat" cmpd="sng">
                <a:solidFill>
                  <a:srgbClr val="000000"/>
                </a:solidFill>
                <a:prstDash val="solid"/>
                <a:headEnd type="none" w="sm" len="med"/>
                <a:tailEnd type="none" w="sm" len="med"/>
              </a:ln>
            </p:spPr>
          </p:sp>
          <p:sp>
            <p:nvSpPr>
              <p:cNvPr id="28732" name="Rectangle 11"/>
              <p:cNvSpPr/>
              <p:nvPr/>
            </p:nvSpPr>
            <p:spPr>
              <a:xfrm>
                <a:off x="5206" y="9225"/>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8729" name="Arc 12"/>
            <p:cNvSpPr/>
            <p:nvPr/>
          </p:nvSpPr>
          <p:spPr>
            <a:xfrm flipH="1">
              <a:off x="6594" y="1159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28676" name="Group 13"/>
          <p:cNvGrpSpPr/>
          <p:nvPr/>
        </p:nvGrpSpPr>
        <p:grpSpPr>
          <a:xfrm>
            <a:off x="4973638" y="1549400"/>
            <a:ext cx="2849562" cy="928688"/>
            <a:chOff x="5516" y="6465"/>
            <a:chExt cx="2206" cy="850"/>
          </a:xfrm>
        </p:grpSpPr>
        <p:grpSp>
          <p:nvGrpSpPr>
            <p:cNvPr id="28722" name="Group 14"/>
            <p:cNvGrpSpPr/>
            <p:nvPr/>
          </p:nvGrpSpPr>
          <p:grpSpPr>
            <a:xfrm>
              <a:off x="5516" y="6465"/>
              <a:ext cx="974" cy="850"/>
              <a:chOff x="4154" y="12570"/>
              <a:chExt cx="974" cy="850"/>
            </a:xfrm>
          </p:grpSpPr>
          <p:sp>
            <p:nvSpPr>
              <p:cNvPr id="28726" name="Oval 15"/>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28727" name="Rectangle 16"/>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2.5</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分析</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试题难度</a:t>
                </a:r>
                <a:endParaRPr lang="zh-CN" altLang="en-US" sz="1800" b="1" dirty="0">
                  <a:latin typeface="黑体" panose="02010609060101010101" pitchFamily="49" charset="-122"/>
                  <a:ea typeface="黑体" panose="02010609060101010101" pitchFamily="49" charset="-122"/>
                </a:endParaRPr>
              </a:p>
            </p:txBody>
          </p:sp>
        </p:grpSp>
        <p:grpSp>
          <p:nvGrpSpPr>
            <p:cNvPr id="28723" name="Group 17"/>
            <p:cNvGrpSpPr/>
            <p:nvPr/>
          </p:nvGrpSpPr>
          <p:grpSpPr>
            <a:xfrm>
              <a:off x="6446" y="6540"/>
              <a:ext cx="1276" cy="465"/>
              <a:chOff x="7918" y="3720"/>
              <a:chExt cx="1276" cy="465"/>
            </a:xfrm>
          </p:grpSpPr>
          <p:sp>
            <p:nvSpPr>
              <p:cNvPr id="28724" name="Line 18"/>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8725" name="Rectangle 19"/>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难度分析表</a:t>
                </a:r>
                <a:endParaRPr lang="zh-CN" altLang="en-US" sz="1800" b="1" dirty="0">
                  <a:latin typeface="黑体" panose="02010609060101010101" pitchFamily="49" charset="-122"/>
                  <a:ea typeface="黑体" panose="02010609060101010101" pitchFamily="49" charset="-122"/>
                </a:endParaRPr>
              </a:p>
            </p:txBody>
          </p:sp>
        </p:grpSp>
      </p:grpSp>
      <p:grpSp>
        <p:nvGrpSpPr>
          <p:cNvPr id="28677" name="Group 20"/>
          <p:cNvGrpSpPr/>
          <p:nvPr/>
        </p:nvGrpSpPr>
        <p:grpSpPr>
          <a:xfrm>
            <a:off x="5380038" y="2614613"/>
            <a:ext cx="2849562" cy="928687"/>
            <a:chOff x="7120" y="7710"/>
            <a:chExt cx="2206" cy="850"/>
          </a:xfrm>
        </p:grpSpPr>
        <p:grpSp>
          <p:nvGrpSpPr>
            <p:cNvPr id="28716" name="Group 21"/>
            <p:cNvGrpSpPr/>
            <p:nvPr/>
          </p:nvGrpSpPr>
          <p:grpSpPr>
            <a:xfrm>
              <a:off x="7120" y="7710"/>
              <a:ext cx="974" cy="850"/>
              <a:chOff x="4154" y="12570"/>
              <a:chExt cx="974" cy="850"/>
            </a:xfrm>
          </p:grpSpPr>
          <p:sp>
            <p:nvSpPr>
              <p:cNvPr id="28720" name="Oval 22"/>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28721" name="Rectangle 23"/>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2.4</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分类</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统计成绩</a:t>
                </a:r>
                <a:endParaRPr lang="zh-CN" altLang="en-US" sz="1800" b="1" dirty="0">
                  <a:latin typeface="黑体" panose="02010609060101010101" pitchFamily="49" charset="-122"/>
                  <a:ea typeface="黑体" panose="02010609060101010101" pitchFamily="49" charset="-122"/>
                </a:endParaRPr>
              </a:p>
            </p:txBody>
          </p:sp>
        </p:grpSp>
        <p:grpSp>
          <p:nvGrpSpPr>
            <p:cNvPr id="28717" name="Group 24"/>
            <p:cNvGrpSpPr/>
            <p:nvPr/>
          </p:nvGrpSpPr>
          <p:grpSpPr>
            <a:xfrm>
              <a:off x="8050" y="7785"/>
              <a:ext cx="1276" cy="465"/>
              <a:chOff x="7918" y="3720"/>
              <a:chExt cx="1276" cy="465"/>
            </a:xfrm>
          </p:grpSpPr>
          <p:sp>
            <p:nvSpPr>
              <p:cNvPr id="28718" name="Line 25"/>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8719" name="Rectangle 26"/>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分类统计表</a:t>
                </a:r>
                <a:endParaRPr lang="zh-CN" altLang="en-US" sz="1800" b="1" dirty="0">
                  <a:latin typeface="黑体" panose="02010609060101010101" pitchFamily="49" charset="-122"/>
                  <a:ea typeface="黑体" panose="02010609060101010101" pitchFamily="49" charset="-122"/>
                </a:endParaRPr>
              </a:p>
            </p:txBody>
          </p:sp>
        </p:grpSp>
      </p:grpSp>
      <p:grpSp>
        <p:nvGrpSpPr>
          <p:cNvPr id="28678" name="Group 27"/>
          <p:cNvGrpSpPr/>
          <p:nvPr/>
        </p:nvGrpSpPr>
        <p:grpSpPr>
          <a:xfrm>
            <a:off x="1117600" y="4759325"/>
            <a:ext cx="6918325" cy="944563"/>
            <a:chOff x="2530" y="9405"/>
            <a:chExt cx="5356" cy="865"/>
          </a:xfrm>
        </p:grpSpPr>
        <p:grpSp>
          <p:nvGrpSpPr>
            <p:cNvPr id="28699" name="Group 28"/>
            <p:cNvGrpSpPr/>
            <p:nvPr/>
          </p:nvGrpSpPr>
          <p:grpSpPr>
            <a:xfrm>
              <a:off x="5680" y="9405"/>
              <a:ext cx="2206" cy="850"/>
              <a:chOff x="5680" y="9405"/>
              <a:chExt cx="2206" cy="850"/>
            </a:xfrm>
          </p:grpSpPr>
          <p:grpSp>
            <p:nvGrpSpPr>
              <p:cNvPr id="28710" name="Group 29"/>
              <p:cNvGrpSpPr/>
              <p:nvPr/>
            </p:nvGrpSpPr>
            <p:grpSpPr>
              <a:xfrm>
                <a:off x="5680" y="9405"/>
                <a:ext cx="974" cy="850"/>
                <a:chOff x="4154" y="12570"/>
                <a:chExt cx="974" cy="850"/>
              </a:xfrm>
            </p:grpSpPr>
            <p:sp>
              <p:nvSpPr>
                <p:cNvPr id="28714" name="Oval 30"/>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28715" name="Rectangle 31"/>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2.3</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制作</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通知单</a:t>
                  </a:r>
                  <a:endParaRPr lang="zh-CN" altLang="en-US" sz="1800" b="1" dirty="0">
                    <a:latin typeface="黑体" panose="02010609060101010101" pitchFamily="49" charset="-122"/>
                    <a:ea typeface="黑体" panose="02010609060101010101" pitchFamily="49" charset="-122"/>
                  </a:endParaRPr>
                </a:p>
              </p:txBody>
            </p:sp>
          </p:grpSp>
          <p:grpSp>
            <p:nvGrpSpPr>
              <p:cNvPr id="28711" name="Group 32"/>
              <p:cNvGrpSpPr/>
              <p:nvPr/>
            </p:nvGrpSpPr>
            <p:grpSpPr>
              <a:xfrm>
                <a:off x="6610" y="9480"/>
                <a:ext cx="1276" cy="465"/>
                <a:chOff x="7918" y="3720"/>
                <a:chExt cx="1276" cy="465"/>
              </a:xfrm>
            </p:grpSpPr>
            <p:sp>
              <p:nvSpPr>
                <p:cNvPr id="28712" name="Line 33"/>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8713" name="Rectangle 34"/>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grpSp>
        </p:grpSp>
        <p:grpSp>
          <p:nvGrpSpPr>
            <p:cNvPr id="28700" name="Group 35"/>
            <p:cNvGrpSpPr/>
            <p:nvPr/>
          </p:nvGrpSpPr>
          <p:grpSpPr>
            <a:xfrm>
              <a:off x="2530" y="9420"/>
              <a:ext cx="3226" cy="850"/>
              <a:chOff x="2530" y="9420"/>
              <a:chExt cx="3226" cy="850"/>
            </a:xfrm>
          </p:grpSpPr>
          <p:grpSp>
            <p:nvGrpSpPr>
              <p:cNvPr id="28701" name="Group 36"/>
              <p:cNvGrpSpPr/>
              <p:nvPr/>
            </p:nvGrpSpPr>
            <p:grpSpPr>
              <a:xfrm>
                <a:off x="3460" y="9420"/>
                <a:ext cx="974" cy="850"/>
                <a:chOff x="4154" y="12570"/>
                <a:chExt cx="974" cy="850"/>
              </a:xfrm>
            </p:grpSpPr>
            <p:sp>
              <p:nvSpPr>
                <p:cNvPr id="28708" name="Oval 3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28709" name="Rectangle 3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2.2</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审定</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合格者</a:t>
                  </a:r>
                  <a:endParaRPr lang="zh-CN" altLang="en-US" sz="1800" b="1" dirty="0">
                    <a:latin typeface="黑体" panose="02010609060101010101" pitchFamily="49" charset="-122"/>
                    <a:ea typeface="黑体" panose="02010609060101010101" pitchFamily="49" charset="-122"/>
                  </a:endParaRPr>
                </a:p>
              </p:txBody>
            </p:sp>
          </p:grpSp>
          <p:grpSp>
            <p:nvGrpSpPr>
              <p:cNvPr id="28702" name="Group 39"/>
              <p:cNvGrpSpPr/>
              <p:nvPr/>
            </p:nvGrpSpPr>
            <p:grpSpPr>
              <a:xfrm>
                <a:off x="4360" y="9495"/>
                <a:ext cx="1396" cy="465"/>
                <a:chOff x="4318" y="5310"/>
                <a:chExt cx="1396" cy="465"/>
              </a:xfrm>
            </p:grpSpPr>
            <p:sp>
              <p:nvSpPr>
                <p:cNvPr id="28706" name="Line 40"/>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8707" name="Rectangle 41"/>
                <p:cNvSpPr/>
                <p:nvPr/>
              </p:nvSpPr>
              <p:spPr>
                <a:xfrm>
                  <a:off x="4350" y="531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正式成绩清单</a:t>
                  </a:r>
                  <a:endParaRPr lang="zh-CN" altLang="en-US" sz="1800" b="1" dirty="0">
                    <a:latin typeface="黑体" panose="02010609060101010101" pitchFamily="49" charset="-122"/>
                    <a:ea typeface="黑体" panose="02010609060101010101" pitchFamily="49" charset="-122"/>
                  </a:endParaRPr>
                </a:p>
              </p:txBody>
            </p:sp>
          </p:grpSp>
          <p:grpSp>
            <p:nvGrpSpPr>
              <p:cNvPr id="28703" name="Group 42"/>
              <p:cNvGrpSpPr/>
              <p:nvPr/>
            </p:nvGrpSpPr>
            <p:grpSpPr>
              <a:xfrm>
                <a:off x="2530" y="9480"/>
                <a:ext cx="990" cy="465"/>
                <a:chOff x="2488" y="3600"/>
                <a:chExt cx="990" cy="465"/>
              </a:xfrm>
            </p:grpSpPr>
            <p:sp>
              <p:nvSpPr>
                <p:cNvPr id="28704" name="Line 43"/>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8705" name="Rectangle 44"/>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grpSp>
      </p:grpSp>
      <p:grpSp>
        <p:nvGrpSpPr>
          <p:cNvPr id="28679" name="Group 45"/>
          <p:cNvGrpSpPr/>
          <p:nvPr/>
        </p:nvGrpSpPr>
        <p:grpSpPr>
          <a:xfrm>
            <a:off x="3189288" y="2098675"/>
            <a:ext cx="2479675" cy="1516063"/>
            <a:chOff x="4106" y="2647"/>
            <a:chExt cx="1920" cy="1388"/>
          </a:xfrm>
        </p:grpSpPr>
        <p:grpSp>
          <p:nvGrpSpPr>
            <p:cNvPr id="28691" name="Group 46"/>
            <p:cNvGrpSpPr/>
            <p:nvPr/>
          </p:nvGrpSpPr>
          <p:grpSpPr>
            <a:xfrm>
              <a:off x="4106" y="3585"/>
              <a:ext cx="1306" cy="450"/>
              <a:chOff x="1884" y="6315"/>
              <a:chExt cx="1306" cy="450"/>
            </a:xfrm>
          </p:grpSpPr>
          <p:grpSp>
            <p:nvGrpSpPr>
              <p:cNvPr id="28695" name="Group 47"/>
              <p:cNvGrpSpPr/>
              <p:nvPr/>
            </p:nvGrpSpPr>
            <p:grpSpPr>
              <a:xfrm>
                <a:off x="1884" y="6360"/>
                <a:ext cx="1306" cy="360"/>
                <a:chOff x="1884" y="6360"/>
                <a:chExt cx="1306" cy="360"/>
              </a:xfrm>
            </p:grpSpPr>
            <p:sp>
              <p:nvSpPr>
                <p:cNvPr id="28697" name="Line 48"/>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28698" name="Line 49"/>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28696" name="Rectangle 50"/>
              <p:cNvSpPr/>
              <p:nvPr/>
            </p:nvSpPr>
            <p:spPr>
              <a:xfrm>
                <a:off x="1916" y="6315"/>
                <a:ext cx="122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sp>
          <p:nvSpPr>
            <p:cNvPr id="28692" name="Arc 51"/>
            <p:cNvSpPr/>
            <p:nvPr/>
          </p:nvSpPr>
          <p:spPr>
            <a:xfrm flipH="1">
              <a:off x="4928" y="2655"/>
              <a:ext cx="633"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8693" name="Arc 52"/>
            <p:cNvSpPr/>
            <p:nvPr/>
          </p:nvSpPr>
          <p:spPr>
            <a:xfrm flipH="1">
              <a:off x="5186" y="3373"/>
              <a:ext cx="840" cy="284"/>
            </a:xfrm>
            <a:custGeom>
              <a:avLst/>
              <a:gdLst/>
              <a:ahLst/>
              <a:cxnLst>
                <a:cxn ang="0">
                  <a:pos x="0" y="0"/>
                </a:cxn>
                <a:cxn ang="0">
                  <a:pos x="0" y="0"/>
                </a:cxn>
                <a:cxn ang="0">
                  <a:pos x="0" y="0"/>
                </a:cxn>
              </a:cxnLst>
              <a:pathLst>
                <a:path w="21314" h="21402" fill="none">
                  <a:moveTo>
                    <a:pt x="2919" y="0"/>
                  </a:moveTo>
                  <a:cubicBezTo>
                    <a:pt x="12316" y="1282"/>
                    <a:pt x="19777" y="8543"/>
                    <a:pt x="21314" y="17900"/>
                  </a:cubicBezTo>
                </a:path>
                <a:path w="21314" h="21402" stroke="0">
                  <a:moveTo>
                    <a:pt x="2919" y="0"/>
                  </a:moveTo>
                  <a:cubicBezTo>
                    <a:pt x="12316" y="1282"/>
                    <a:pt x="19777" y="8543"/>
                    <a:pt x="21314" y="17900"/>
                  </a:cubicBezTo>
                  <a:lnTo>
                    <a:pt x="0" y="21402"/>
                  </a:lnTo>
                  <a:lnTo>
                    <a:pt x="291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8694" name="Arc 53"/>
            <p:cNvSpPr/>
            <p:nvPr/>
          </p:nvSpPr>
          <p:spPr>
            <a:xfrm>
              <a:off x="4181" y="2647"/>
              <a:ext cx="556"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grpSp>
        <p:nvGrpSpPr>
          <p:cNvPr id="28680" name="Group 55"/>
          <p:cNvGrpSpPr/>
          <p:nvPr/>
        </p:nvGrpSpPr>
        <p:grpSpPr>
          <a:xfrm>
            <a:off x="2262188" y="1533525"/>
            <a:ext cx="1258887" cy="928688"/>
            <a:chOff x="4154" y="12570"/>
            <a:chExt cx="974" cy="850"/>
          </a:xfrm>
        </p:grpSpPr>
        <p:sp>
          <p:nvSpPr>
            <p:cNvPr id="28689" name="Oval 56"/>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28690" name="Rectangle 57"/>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2.1</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检查</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8681" name="Group 58"/>
          <p:cNvGrpSpPr/>
          <p:nvPr/>
        </p:nvGrpSpPr>
        <p:grpSpPr>
          <a:xfrm>
            <a:off x="1100138" y="1616075"/>
            <a:ext cx="1279525" cy="508000"/>
            <a:chOff x="2488" y="3600"/>
            <a:chExt cx="990" cy="465"/>
          </a:xfrm>
        </p:grpSpPr>
        <p:sp>
          <p:nvSpPr>
            <p:cNvPr id="28687" name="Line 59"/>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8688" name="Rectangle 60"/>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
        <p:nvSpPr>
          <p:cNvPr id="28682" name="Line 62"/>
          <p:cNvSpPr/>
          <p:nvPr/>
        </p:nvSpPr>
        <p:spPr>
          <a:xfrm>
            <a:off x="2884488" y="2466975"/>
            <a:ext cx="3175" cy="2324100"/>
          </a:xfrm>
          <a:prstGeom prst="line">
            <a:avLst/>
          </a:prstGeom>
          <a:ln w="9525" cap="flat" cmpd="sng">
            <a:solidFill>
              <a:srgbClr val="000000"/>
            </a:solidFill>
            <a:prstDash val="solid"/>
            <a:headEnd type="none" w="sm" len="med"/>
            <a:tailEnd type="triangle" w="sm" len="med"/>
          </a:ln>
        </p:spPr>
      </p:sp>
      <p:sp>
        <p:nvSpPr>
          <p:cNvPr id="28683" name="Rectangle 63"/>
          <p:cNvSpPr/>
          <p:nvPr/>
        </p:nvSpPr>
        <p:spPr>
          <a:xfrm>
            <a:off x="2109788" y="2844800"/>
            <a:ext cx="777875" cy="1490663"/>
          </a:xfrm>
          <a:prstGeom prst="rect">
            <a:avLst/>
          </a:prstGeom>
          <a:noFill/>
          <a:ln w="9525">
            <a:noFill/>
          </a:ln>
        </p:spPr>
        <p:txBody>
          <a:bodyPr vert="eaVert"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正确成绩清单</a:t>
            </a:r>
            <a:endParaRPr lang="zh-CN" altLang="en-US" sz="1800" b="1" dirty="0">
              <a:latin typeface="黑体" panose="02010609060101010101" pitchFamily="49" charset="-122"/>
              <a:ea typeface="黑体" panose="02010609060101010101" pitchFamily="49" charset="-122"/>
            </a:endParaRPr>
          </a:p>
        </p:txBody>
      </p:sp>
      <p:sp>
        <p:nvSpPr>
          <p:cNvPr id="28684" name="Rectangle 65"/>
          <p:cNvSpPr/>
          <p:nvPr/>
        </p:nvSpPr>
        <p:spPr>
          <a:xfrm>
            <a:off x="1298575" y="2441575"/>
            <a:ext cx="1589088" cy="5254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sp>
        <p:nvSpPr>
          <p:cNvPr id="28685" name="Line 66"/>
          <p:cNvSpPr/>
          <p:nvPr/>
        </p:nvSpPr>
        <p:spPr>
          <a:xfrm flipH="1">
            <a:off x="1063625" y="2236788"/>
            <a:ext cx="1374775" cy="279400"/>
          </a:xfrm>
          <a:prstGeom prst="line">
            <a:avLst/>
          </a:prstGeom>
          <a:ln w="9525" cap="flat" cmpd="sng">
            <a:solidFill>
              <a:srgbClr val="000000"/>
            </a:solidFill>
            <a:prstDash val="solid"/>
            <a:headEnd type="none" w="sm" len="med"/>
            <a:tailEnd type="triangle" w="sm" len="med"/>
          </a:ln>
        </p:spPr>
      </p:sp>
      <p:sp>
        <p:nvSpPr>
          <p:cNvPr id="28686" name="Rectangle 3"/>
          <p:cNvSpPr>
            <a:spLocks noGrp="1"/>
          </p:cNvSpPr>
          <p:nvPr>
            <p:ph idx="1"/>
          </p:nvPr>
        </p:nvSpPr>
        <p:spPr>
          <a:xfrm>
            <a:off x="709613" y="5856288"/>
            <a:ext cx="7902575" cy="912812"/>
          </a:xfrm>
        </p:spPr>
        <p:txBody>
          <a:bodyPr vert="horz" wrap="square" lIns="91221" tIns="45610" rIns="91221" bIns="45610" anchor="t" anchorCtr="0"/>
          <a:p>
            <a:pPr marL="0" indent="0" eaLnBrk="1" hangingPunct="1">
              <a:lnSpc>
                <a:spcPct val="90000"/>
              </a:lnSpc>
              <a:buNone/>
            </a:pPr>
            <a:r>
              <a:rPr lang="zh-CN" altLang="en-US" sz="2000" b="1" dirty="0">
                <a:solidFill>
                  <a:srgbClr val="FF0000"/>
                </a:solidFill>
              </a:rPr>
              <a:t>     由于</a:t>
            </a:r>
            <a:r>
              <a:rPr lang="zh-CN" altLang="en-US" sz="2000" b="1" dirty="0">
                <a:solidFill>
                  <a:srgbClr val="FF0000"/>
                </a:solidFill>
                <a:latin typeface="Arial" panose="020B0604020202020204" pitchFamily="34" charset="0"/>
              </a:rPr>
              <a:t>“</a:t>
            </a:r>
            <a:r>
              <a:rPr lang="zh-CN" altLang="en-US" sz="2000" b="1" dirty="0">
                <a:solidFill>
                  <a:srgbClr val="FF0000"/>
                </a:solidFill>
              </a:rPr>
              <a:t>正式成绩清单</a:t>
            </a:r>
            <a:r>
              <a:rPr lang="zh-CN" altLang="en-US" sz="2000" b="1" dirty="0">
                <a:solidFill>
                  <a:srgbClr val="FF0000"/>
                </a:solidFill>
                <a:latin typeface="Arial" panose="020B0604020202020204" pitchFamily="34" charset="0"/>
              </a:rPr>
              <a:t>”</a:t>
            </a:r>
            <a:r>
              <a:rPr lang="zh-CN" altLang="en-US" sz="2000" b="1" dirty="0">
                <a:solidFill>
                  <a:srgbClr val="FF0000"/>
                </a:solidFill>
              </a:rPr>
              <a:t>中缺少</a:t>
            </a:r>
            <a:r>
              <a:rPr lang="zh-CN" altLang="en-US" sz="2000" b="1" dirty="0">
                <a:solidFill>
                  <a:srgbClr val="FF0000"/>
                </a:solidFill>
                <a:latin typeface="Arial" panose="020B0604020202020204" pitchFamily="34" charset="0"/>
              </a:rPr>
              <a:t>“</a:t>
            </a:r>
            <a:r>
              <a:rPr lang="zh-CN" altLang="en-US" sz="2000" b="1" dirty="0">
                <a:solidFill>
                  <a:srgbClr val="FF0000"/>
                </a:solidFill>
              </a:rPr>
              <a:t>考生通知单</a:t>
            </a:r>
            <a:r>
              <a:rPr lang="zh-CN" altLang="en-US" sz="2000" b="1" dirty="0">
                <a:solidFill>
                  <a:srgbClr val="FF0000"/>
                </a:solidFill>
                <a:latin typeface="Arial" panose="020B0604020202020204" pitchFamily="34" charset="0"/>
              </a:rPr>
              <a:t>”</a:t>
            </a:r>
            <a:r>
              <a:rPr lang="zh-CN" altLang="en-US" sz="2000" b="1" dirty="0">
                <a:solidFill>
                  <a:srgbClr val="FF0000"/>
                </a:solidFill>
              </a:rPr>
              <a:t>中的姓名、通信地址等数据，这些数据也无法由加工</a:t>
            </a:r>
            <a:r>
              <a:rPr lang="en-US" altLang="zh-CN" sz="2000" b="1" dirty="0">
                <a:solidFill>
                  <a:srgbClr val="FF0000"/>
                </a:solidFill>
              </a:rPr>
              <a:t>2.3</a:t>
            </a:r>
            <a:r>
              <a:rPr lang="zh-CN" altLang="en-US" sz="2000" b="1" dirty="0">
                <a:solidFill>
                  <a:srgbClr val="FF0000"/>
                </a:solidFill>
              </a:rPr>
              <a:t>自己产生，因此，加工</a:t>
            </a:r>
            <a:r>
              <a:rPr lang="en-US" altLang="zh-CN" sz="2000" b="1" dirty="0">
                <a:solidFill>
                  <a:srgbClr val="FF0000"/>
                </a:solidFill>
              </a:rPr>
              <a:t>2.3</a:t>
            </a:r>
            <a:r>
              <a:rPr lang="zh-CN" altLang="en-US" sz="2000" b="1" dirty="0">
                <a:solidFill>
                  <a:srgbClr val="FF0000"/>
                </a:solidFill>
              </a:rPr>
              <a:t>不满足数据守恒的条件</a:t>
            </a:r>
            <a:endParaRPr lang="zh-CN" altLang="en-US" sz="2000" b="1"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455613" y="228600"/>
            <a:ext cx="820737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局部文件示例</a:t>
            </a:r>
            <a:endParaRPr lang="zh-CN" altLang="en-US" b="1" dirty="0">
              <a:latin typeface="微软雅黑" panose="020B0503020204020204" pitchFamily="34" charset="-122"/>
              <a:ea typeface="微软雅黑" panose="020B0503020204020204" pitchFamily="34" charset="-122"/>
            </a:endParaRPr>
          </a:p>
        </p:txBody>
      </p:sp>
      <p:sp>
        <p:nvSpPr>
          <p:cNvPr id="30723" name="Rectangle 3"/>
          <p:cNvSpPr>
            <a:spLocks noGrp="1"/>
          </p:cNvSpPr>
          <p:nvPr>
            <p:ph idx="1"/>
          </p:nvPr>
        </p:nvSpPr>
        <p:spPr>
          <a:xfrm>
            <a:off x="379413" y="1520825"/>
            <a:ext cx="7902575" cy="989013"/>
          </a:xfrm>
        </p:spPr>
        <p:txBody>
          <a:bodyPr vert="horz" wrap="square" lIns="91221" tIns="45610" rIns="91221" bIns="45610" anchor="t" anchorCtr="0"/>
          <a:p>
            <a:pPr marL="0" indent="0" eaLnBrk="1" hangingPunct="1">
              <a:lnSpc>
                <a:spcPct val="80000"/>
              </a:lnSpc>
              <a:buNone/>
            </a:pPr>
            <a:r>
              <a:rPr lang="en-US" altLang="zh-CN" sz="2400" dirty="0">
                <a:latin typeface="Arial" panose="020B0604020202020204" pitchFamily="34" charset="0"/>
              </a:rPr>
              <a:t>“</a:t>
            </a:r>
            <a:r>
              <a:rPr lang="zh-CN" altLang="en-US" sz="2400" dirty="0"/>
              <a:t>试题得分清单</a:t>
            </a:r>
            <a:r>
              <a:rPr lang="zh-CN" altLang="en-US" sz="2400" dirty="0">
                <a:latin typeface="Arial" panose="020B0604020202020204" pitchFamily="34" charset="0"/>
              </a:rPr>
              <a:t>”</a:t>
            </a:r>
            <a:r>
              <a:rPr lang="zh-CN" altLang="en-US" sz="2400" dirty="0"/>
              <a:t>文件是加工</a:t>
            </a:r>
            <a:r>
              <a:rPr lang="en-US" altLang="zh-CN" sz="2400" dirty="0"/>
              <a:t>2</a:t>
            </a:r>
            <a:r>
              <a:rPr lang="zh-CN" altLang="en-US" sz="2400" dirty="0"/>
              <a:t>的局部文件，根据抽象原则不应该将这类表示加工细节的局部文件画在其父图</a:t>
            </a:r>
            <a:r>
              <a:rPr lang="en-US" altLang="zh-CN" sz="2400" dirty="0"/>
              <a:t>(</a:t>
            </a:r>
            <a:r>
              <a:rPr lang="zh-CN" altLang="en-US" sz="2400" dirty="0"/>
              <a:t>如图</a:t>
            </a:r>
            <a:r>
              <a:rPr lang="en-US" altLang="zh-CN" sz="2400" dirty="0"/>
              <a:t>c)</a:t>
            </a:r>
            <a:r>
              <a:rPr lang="zh-CN" altLang="en-US" sz="2400" dirty="0"/>
              <a:t>中，正确的画法是图</a:t>
            </a:r>
            <a:r>
              <a:rPr lang="en-US" altLang="zh-CN" sz="2400" dirty="0"/>
              <a:t>a</a:t>
            </a:r>
            <a:r>
              <a:rPr lang="zh-CN" altLang="en-US" sz="2400" dirty="0"/>
              <a:t>和</a:t>
            </a:r>
            <a:r>
              <a:rPr lang="en-US" altLang="zh-CN" sz="2400" dirty="0"/>
              <a:t>b</a:t>
            </a:r>
            <a:endParaRPr lang="en-US" altLang="zh-CN" sz="2400" dirty="0"/>
          </a:p>
        </p:txBody>
      </p:sp>
      <p:grpSp>
        <p:nvGrpSpPr>
          <p:cNvPr id="30724" name="Group 8"/>
          <p:cNvGrpSpPr/>
          <p:nvPr/>
        </p:nvGrpSpPr>
        <p:grpSpPr>
          <a:xfrm>
            <a:off x="2339975" y="2746375"/>
            <a:ext cx="1730375" cy="552450"/>
            <a:chOff x="3179" y="1710"/>
            <a:chExt cx="1756" cy="480"/>
          </a:xfrm>
        </p:grpSpPr>
        <p:sp>
          <p:nvSpPr>
            <p:cNvPr id="30806" name="Rectangle 9"/>
            <p:cNvSpPr/>
            <p:nvPr/>
          </p:nvSpPr>
          <p:spPr>
            <a:xfrm>
              <a:off x="4395" y="172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p:txBody>
        </p:sp>
        <p:sp>
          <p:nvSpPr>
            <p:cNvPr id="30807" name="Rectangle 10"/>
            <p:cNvSpPr/>
            <p:nvPr/>
          </p:nvSpPr>
          <p:spPr>
            <a:xfrm>
              <a:off x="3179" y="17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p:txBody>
        </p:sp>
      </p:grpSp>
      <p:grpSp>
        <p:nvGrpSpPr>
          <p:cNvPr id="30725" name="Group 12"/>
          <p:cNvGrpSpPr/>
          <p:nvPr/>
        </p:nvGrpSpPr>
        <p:grpSpPr>
          <a:xfrm>
            <a:off x="1443038" y="2573338"/>
            <a:ext cx="3387725" cy="2044700"/>
            <a:chOff x="2269" y="1560"/>
            <a:chExt cx="3438" cy="1773"/>
          </a:xfrm>
        </p:grpSpPr>
        <p:sp>
          <p:nvSpPr>
            <p:cNvPr id="30791" name="Rectangle 13"/>
            <p:cNvSpPr/>
            <p:nvPr/>
          </p:nvSpPr>
          <p:spPr>
            <a:xfrm>
              <a:off x="3304" y="2838"/>
              <a:ext cx="1440" cy="49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(a)  </a:t>
              </a:r>
              <a:r>
                <a:rPr lang="zh-CN" altLang="en-US" sz="1800" dirty="0">
                  <a:latin typeface="黑体" panose="02010609060101010101" pitchFamily="49" charset="-122"/>
                  <a:ea typeface="黑体" panose="02010609060101010101" pitchFamily="49" charset="-122"/>
                </a:rPr>
                <a:t>父图</a:t>
              </a:r>
              <a:endParaRPr lang="zh-CN" altLang="en-US" sz="1800" b="1" dirty="0">
                <a:latin typeface="黑体" panose="02010609060101010101" pitchFamily="49" charset="-122"/>
                <a:ea typeface="黑体" panose="02010609060101010101" pitchFamily="49" charset="-122"/>
              </a:endParaRPr>
            </a:p>
          </p:txBody>
        </p:sp>
        <p:grpSp>
          <p:nvGrpSpPr>
            <p:cNvPr id="30792" name="Group 14"/>
            <p:cNvGrpSpPr/>
            <p:nvPr/>
          </p:nvGrpSpPr>
          <p:grpSpPr>
            <a:xfrm>
              <a:off x="2269" y="1560"/>
              <a:ext cx="3438" cy="1275"/>
              <a:chOff x="2269" y="1560"/>
              <a:chExt cx="3438" cy="1275"/>
            </a:xfrm>
          </p:grpSpPr>
          <p:sp>
            <p:nvSpPr>
              <p:cNvPr id="30793" name="Oval 15"/>
              <p:cNvSpPr/>
              <p:nvPr/>
            </p:nvSpPr>
            <p:spPr>
              <a:xfrm>
                <a:off x="3105" y="167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94" name="Oval 16"/>
              <p:cNvSpPr/>
              <p:nvPr/>
            </p:nvSpPr>
            <p:spPr>
              <a:xfrm>
                <a:off x="4320" y="167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95" name="Arc 17"/>
              <p:cNvSpPr/>
              <p:nvPr/>
            </p:nvSpPr>
            <p:spPr>
              <a:xfrm>
                <a:off x="3652" y="1944"/>
                <a:ext cx="267"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30796" name="Arc 18"/>
              <p:cNvSpPr/>
              <p:nvPr/>
            </p:nvSpPr>
            <p:spPr>
              <a:xfrm flipH="1">
                <a:off x="4048" y="1944"/>
                <a:ext cx="268"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30797" name="Line 19"/>
              <p:cNvSpPr/>
              <p:nvPr/>
            </p:nvSpPr>
            <p:spPr>
              <a:xfrm>
                <a:off x="3375" y="2226"/>
                <a:ext cx="0" cy="609"/>
              </a:xfrm>
              <a:prstGeom prst="line">
                <a:avLst/>
              </a:prstGeom>
              <a:ln w="9525" cap="flat" cmpd="sng">
                <a:solidFill>
                  <a:srgbClr val="000000"/>
                </a:solidFill>
                <a:prstDash val="solid"/>
                <a:headEnd type="none" w="sm" len="med"/>
                <a:tailEnd type="triangle" w="sm" len="med"/>
              </a:ln>
            </p:spPr>
          </p:sp>
          <p:sp>
            <p:nvSpPr>
              <p:cNvPr id="30798" name="Line 20"/>
              <p:cNvSpPr/>
              <p:nvPr/>
            </p:nvSpPr>
            <p:spPr>
              <a:xfrm flipH="1">
                <a:off x="2269" y="1937"/>
                <a:ext cx="836" cy="0"/>
              </a:xfrm>
              <a:prstGeom prst="line">
                <a:avLst/>
              </a:prstGeom>
              <a:ln w="9525" cap="flat" cmpd="sng">
                <a:solidFill>
                  <a:srgbClr val="000000"/>
                </a:solidFill>
                <a:prstDash val="solid"/>
                <a:headEnd type="none" w="sm" len="med"/>
                <a:tailEnd type="triangle" w="sm" len="med"/>
              </a:ln>
            </p:spPr>
          </p:sp>
          <p:sp>
            <p:nvSpPr>
              <p:cNvPr id="30799" name="Line 21"/>
              <p:cNvSpPr/>
              <p:nvPr/>
            </p:nvSpPr>
            <p:spPr>
              <a:xfrm>
                <a:off x="4615" y="2212"/>
                <a:ext cx="0" cy="609"/>
              </a:xfrm>
              <a:prstGeom prst="line">
                <a:avLst/>
              </a:prstGeom>
              <a:ln w="9525" cap="flat" cmpd="sng">
                <a:solidFill>
                  <a:srgbClr val="000000"/>
                </a:solidFill>
                <a:prstDash val="solid"/>
                <a:headEnd type="triangle" w="sm" len="med"/>
                <a:tailEnd type="none" w="sm" len="med"/>
              </a:ln>
            </p:spPr>
          </p:sp>
          <p:sp>
            <p:nvSpPr>
              <p:cNvPr id="30800" name="Line 22"/>
              <p:cNvSpPr/>
              <p:nvPr/>
            </p:nvSpPr>
            <p:spPr>
              <a:xfrm flipH="1">
                <a:off x="4849" y="1944"/>
                <a:ext cx="836" cy="0"/>
              </a:xfrm>
              <a:prstGeom prst="line">
                <a:avLst/>
              </a:prstGeom>
              <a:ln w="9525" cap="flat" cmpd="sng">
                <a:solidFill>
                  <a:srgbClr val="000000"/>
                </a:solidFill>
                <a:prstDash val="solid"/>
                <a:headEnd type="triangle" w="sm" len="med"/>
                <a:tailEnd type="none" w="sm" len="med"/>
              </a:ln>
            </p:spPr>
          </p:sp>
          <p:sp>
            <p:nvSpPr>
              <p:cNvPr id="30801" name="Line 23"/>
              <p:cNvSpPr/>
              <p:nvPr/>
            </p:nvSpPr>
            <p:spPr>
              <a:xfrm flipH="1" flipV="1">
                <a:off x="4743" y="2169"/>
                <a:ext cx="233" cy="586"/>
              </a:xfrm>
              <a:prstGeom prst="line">
                <a:avLst/>
              </a:prstGeom>
              <a:ln w="9525" cap="flat" cmpd="sng">
                <a:solidFill>
                  <a:srgbClr val="000000"/>
                </a:solidFill>
                <a:prstDash val="solid"/>
                <a:headEnd type="none" w="sm" len="med"/>
                <a:tailEnd type="triangle" w="sm" len="med"/>
              </a:ln>
            </p:spPr>
          </p:sp>
          <p:sp>
            <p:nvSpPr>
              <p:cNvPr id="30802" name="Line 24"/>
              <p:cNvSpPr/>
              <p:nvPr/>
            </p:nvSpPr>
            <p:spPr>
              <a:xfrm>
                <a:off x="2411" y="1560"/>
                <a:ext cx="779" cy="188"/>
              </a:xfrm>
              <a:prstGeom prst="line">
                <a:avLst/>
              </a:prstGeom>
              <a:ln w="9525" cap="flat" cmpd="sng">
                <a:solidFill>
                  <a:srgbClr val="000000"/>
                </a:solidFill>
                <a:prstDash val="solid"/>
                <a:headEnd type="none" w="sm" len="med"/>
                <a:tailEnd type="triangle" w="sm" len="med"/>
              </a:ln>
            </p:spPr>
          </p:sp>
          <p:sp>
            <p:nvSpPr>
              <p:cNvPr id="30803" name="Line 25"/>
              <p:cNvSpPr/>
              <p:nvPr/>
            </p:nvSpPr>
            <p:spPr>
              <a:xfrm flipH="1">
                <a:off x="2397" y="2125"/>
                <a:ext cx="773" cy="319"/>
              </a:xfrm>
              <a:prstGeom prst="line">
                <a:avLst/>
              </a:prstGeom>
              <a:ln w="9525" cap="flat" cmpd="sng">
                <a:solidFill>
                  <a:srgbClr val="000000"/>
                </a:solidFill>
                <a:prstDash val="solid"/>
                <a:headEnd type="none" w="sm" len="med"/>
                <a:tailEnd type="triangle" w="sm" len="med"/>
              </a:ln>
            </p:spPr>
          </p:sp>
          <p:sp>
            <p:nvSpPr>
              <p:cNvPr id="30804" name="Line 26"/>
              <p:cNvSpPr/>
              <p:nvPr/>
            </p:nvSpPr>
            <p:spPr>
              <a:xfrm flipV="1">
                <a:off x="4792" y="1654"/>
                <a:ext cx="851" cy="116"/>
              </a:xfrm>
              <a:prstGeom prst="line">
                <a:avLst/>
              </a:prstGeom>
              <a:ln w="9525" cap="flat" cmpd="sng">
                <a:solidFill>
                  <a:srgbClr val="000000"/>
                </a:solidFill>
                <a:prstDash val="solid"/>
                <a:headEnd type="none" w="sm" len="med"/>
                <a:tailEnd type="triangle" w="sm" len="med"/>
              </a:ln>
            </p:spPr>
          </p:sp>
          <p:sp>
            <p:nvSpPr>
              <p:cNvPr id="30805" name="Line 27"/>
              <p:cNvSpPr/>
              <p:nvPr/>
            </p:nvSpPr>
            <p:spPr>
              <a:xfrm>
                <a:off x="4814" y="2096"/>
                <a:ext cx="893" cy="268"/>
              </a:xfrm>
              <a:prstGeom prst="line">
                <a:avLst/>
              </a:prstGeom>
              <a:ln w="9525" cap="flat" cmpd="sng">
                <a:solidFill>
                  <a:srgbClr val="000000"/>
                </a:solidFill>
                <a:prstDash val="solid"/>
                <a:headEnd type="none" w="sm" len="med"/>
                <a:tailEnd type="triangle" w="sm" len="med"/>
              </a:ln>
            </p:spPr>
          </p:sp>
        </p:grpSp>
      </p:grpSp>
      <p:grpSp>
        <p:nvGrpSpPr>
          <p:cNvPr id="30726" name="Group 29"/>
          <p:cNvGrpSpPr/>
          <p:nvPr/>
        </p:nvGrpSpPr>
        <p:grpSpPr>
          <a:xfrm>
            <a:off x="2740025" y="3324225"/>
            <a:ext cx="773113" cy="269875"/>
            <a:chOff x="5980" y="8610"/>
            <a:chExt cx="1306" cy="360"/>
          </a:xfrm>
        </p:grpSpPr>
        <p:sp>
          <p:nvSpPr>
            <p:cNvPr id="30789" name="Line 30"/>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30790" name="Line 31"/>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30727" name="Rectangle 32"/>
          <p:cNvSpPr/>
          <p:nvPr/>
        </p:nvSpPr>
        <p:spPr>
          <a:xfrm>
            <a:off x="2474913" y="3257550"/>
            <a:ext cx="1300162" cy="5016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30728" name="Rectangle 34"/>
          <p:cNvSpPr/>
          <p:nvPr/>
        </p:nvSpPr>
        <p:spPr>
          <a:xfrm>
            <a:off x="6142038" y="5464175"/>
            <a:ext cx="1419225" cy="56991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(b)  </a:t>
            </a:r>
            <a:r>
              <a:rPr lang="zh-CN" altLang="en-US" sz="1800" dirty="0">
                <a:latin typeface="黑体" panose="02010609060101010101" pitchFamily="49" charset="-122"/>
                <a:ea typeface="黑体" panose="02010609060101010101" pitchFamily="49" charset="-122"/>
              </a:rPr>
              <a:t>子图</a:t>
            </a:r>
            <a:endParaRPr lang="zh-CN" altLang="en-US" sz="1800" b="1" dirty="0">
              <a:latin typeface="黑体" panose="02010609060101010101" pitchFamily="49" charset="-122"/>
              <a:ea typeface="黑体" panose="02010609060101010101" pitchFamily="49" charset="-122"/>
            </a:endParaRPr>
          </a:p>
        </p:txBody>
      </p:sp>
      <p:grpSp>
        <p:nvGrpSpPr>
          <p:cNvPr id="30729" name="Group 36"/>
          <p:cNvGrpSpPr/>
          <p:nvPr/>
        </p:nvGrpSpPr>
        <p:grpSpPr>
          <a:xfrm>
            <a:off x="5815013" y="3040063"/>
            <a:ext cx="2200275" cy="2336800"/>
            <a:chOff x="6676" y="1335"/>
            <a:chExt cx="2234" cy="2025"/>
          </a:xfrm>
        </p:grpSpPr>
        <p:sp>
          <p:nvSpPr>
            <p:cNvPr id="30784" name="Rectangle 37"/>
            <p:cNvSpPr/>
            <p:nvPr/>
          </p:nvSpPr>
          <p:spPr>
            <a:xfrm>
              <a:off x="7978" y="133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2.5</a:t>
              </a:r>
              <a:endParaRPr lang="en-US" altLang="zh-CN" sz="1800" b="1" dirty="0">
                <a:latin typeface="黑体" panose="02010609060101010101" pitchFamily="49" charset="-122"/>
                <a:ea typeface="黑体" panose="02010609060101010101" pitchFamily="49" charset="-122"/>
              </a:endParaRPr>
            </a:p>
          </p:txBody>
        </p:sp>
        <p:sp>
          <p:nvSpPr>
            <p:cNvPr id="30785" name="Rectangle 38"/>
            <p:cNvSpPr/>
            <p:nvPr/>
          </p:nvSpPr>
          <p:spPr>
            <a:xfrm>
              <a:off x="8370" y="19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2.4</a:t>
              </a:r>
              <a:endParaRPr lang="en-US" altLang="zh-CN" sz="1800" b="1" dirty="0">
                <a:latin typeface="黑体" panose="02010609060101010101" pitchFamily="49" charset="-122"/>
                <a:ea typeface="黑体" panose="02010609060101010101" pitchFamily="49" charset="-122"/>
              </a:endParaRPr>
            </a:p>
          </p:txBody>
        </p:sp>
        <p:sp>
          <p:nvSpPr>
            <p:cNvPr id="30786" name="Rectangle 39"/>
            <p:cNvSpPr/>
            <p:nvPr/>
          </p:nvSpPr>
          <p:spPr>
            <a:xfrm>
              <a:off x="8100" y="289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2.3</a:t>
              </a:r>
              <a:endParaRPr lang="en-US" altLang="zh-CN" sz="1800" b="1" dirty="0">
                <a:latin typeface="黑体" panose="02010609060101010101" pitchFamily="49" charset="-122"/>
                <a:ea typeface="黑体" panose="02010609060101010101" pitchFamily="49" charset="-122"/>
              </a:endParaRPr>
            </a:p>
          </p:txBody>
        </p:sp>
        <p:sp>
          <p:nvSpPr>
            <p:cNvPr id="30787" name="Rectangle 40"/>
            <p:cNvSpPr/>
            <p:nvPr/>
          </p:nvSpPr>
          <p:spPr>
            <a:xfrm>
              <a:off x="6688" y="286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2.2</a:t>
              </a:r>
              <a:endParaRPr lang="en-US" altLang="zh-CN" sz="1800" b="1" dirty="0">
                <a:latin typeface="黑体" panose="02010609060101010101" pitchFamily="49" charset="-122"/>
                <a:ea typeface="黑体" panose="02010609060101010101" pitchFamily="49" charset="-122"/>
              </a:endParaRPr>
            </a:p>
          </p:txBody>
        </p:sp>
        <p:sp>
          <p:nvSpPr>
            <p:cNvPr id="30788" name="Rectangle 41"/>
            <p:cNvSpPr/>
            <p:nvPr/>
          </p:nvSpPr>
          <p:spPr>
            <a:xfrm>
              <a:off x="6676" y="133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2.1</a:t>
              </a:r>
              <a:endParaRPr lang="en-US" altLang="zh-CN" sz="1800" b="1" dirty="0">
                <a:latin typeface="黑体" panose="02010609060101010101" pitchFamily="49" charset="-122"/>
                <a:ea typeface="黑体" panose="02010609060101010101" pitchFamily="49" charset="-122"/>
              </a:endParaRPr>
            </a:p>
          </p:txBody>
        </p:sp>
      </p:grpSp>
      <p:grpSp>
        <p:nvGrpSpPr>
          <p:cNvPr id="30730" name="Group 43"/>
          <p:cNvGrpSpPr/>
          <p:nvPr/>
        </p:nvGrpSpPr>
        <p:grpSpPr>
          <a:xfrm>
            <a:off x="5332413" y="2930525"/>
            <a:ext cx="3232150" cy="2414588"/>
            <a:chOff x="6185" y="1305"/>
            <a:chExt cx="3282" cy="2094"/>
          </a:xfrm>
        </p:grpSpPr>
        <p:sp>
          <p:nvSpPr>
            <p:cNvPr id="30766" name="Arc 44"/>
            <p:cNvSpPr/>
            <p:nvPr/>
          </p:nvSpPr>
          <p:spPr>
            <a:xfrm rot="-5400000" flipH="1">
              <a:off x="7986" y="2752"/>
              <a:ext cx="229" cy="185"/>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30767" name="Arc 45"/>
            <p:cNvSpPr/>
            <p:nvPr/>
          </p:nvSpPr>
          <p:spPr>
            <a:xfrm flipH="1">
              <a:off x="7416" y="1731"/>
              <a:ext cx="594" cy="460"/>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30768" name="Arc 46"/>
            <p:cNvSpPr/>
            <p:nvPr/>
          </p:nvSpPr>
          <p:spPr>
            <a:xfrm flipH="1">
              <a:off x="7535" y="2022"/>
              <a:ext cx="877" cy="197"/>
            </a:xfrm>
            <a:custGeom>
              <a:avLst/>
              <a:gdLst/>
              <a:ahLst/>
              <a:cxnLst>
                <a:cxn ang="0">
                  <a:pos x="0" y="0"/>
                </a:cxn>
                <a:cxn ang="0">
                  <a:pos x="0" y="0"/>
                </a:cxn>
                <a:cxn ang="0">
                  <a:pos x="0" y="0"/>
                </a:cxn>
              </a:cxnLst>
              <a:pathLst>
                <a:path w="21854" h="21600" fill="none">
                  <a:moveTo>
                    <a:pt x="-1" y="6"/>
                  </a:moveTo>
                  <a:cubicBezTo>
                    <a:pt x="179" y="2"/>
                    <a:pt x="359" y="-1"/>
                    <a:pt x="540" y="0"/>
                  </a:cubicBezTo>
                  <a:cubicBezTo>
                    <a:pt x="11118" y="0"/>
                    <a:pt x="20139" y="7660"/>
                    <a:pt x="21854" y="18098"/>
                  </a:cubicBezTo>
                </a:path>
                <a:path w="21854" h="21600" stroke="0">
                  <a:moveTo>
                    <a:pt x="-1" y="6"/>
                  </a:moveTo>
                  <a:cubicBezTo>
                    <a:pt x="179" y="2"/>
                    <a:pt x="359" y="-1"/>
                    <a:pt x="540" y="0"/>
                  </a:cubicBezTo>
                  <a:cubicBezTo>
                    <a:pt x="11118" y="0"/>
                    <a:pt x="20139" y="7660"/>
                    <a:pt x="21854" y="18098"/>
                  </a:cubicBezTo>
                  <a:lnTo>
                    <a:pt x="540" y="21600"/>
                  </a:lnTo>
                  <a:lnTo>
                    <a:pt x="-1" y="6"/>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30769" name="Arc 47"/>
            <p:cNvSpPr/>
            <p:nvPr/>
          </p:nvSpPr>
          <p:spPr>
            <a:xfrm>
              <a:off x="7073" y="1727"/>
              <a:ext cx="256" cy="466"/>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30770" name="Line 48"/>
            <p:cNvSpPr/>
            <p:nvPr/>
          </p:nvSpPr>
          <p:spPr>
            <a:xfrm>
              <a:off x="8880" y="2158"/>
              <a:ext cx="587" cy="0"/>
            </a:xfrm>
            <a:prstGeom prst="line">
              <a:avLst/>
            </a:prstGeom>
            <a:ln w="9525" cap="flat" cmpd="sng">
              <a:solidFill>
                <a:srgbClr val="000000"/>
              </a:solidFill>
              <a:prstDash val="solid"/>
              <a:headEnd type="none" w="sm" len="med"/>
              <a:tailEnd type="triangle" w="sm" len="med"/>
            </a:ln>
          </p:spPr>
        </p:sp>
        <p:sp>
          <p:nvSpPr>
            <p:cNvPr id="30771" name="Oval 49"/>
            <p:cNvSpPr/>
            <p:nvPr/>
          </p:nvSpPr>
          <p:spPr>
            <a:xfrm>
              <a:off x="8360" y="191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72" name="Line 50"/>
            <p:cNvSpPr/>
            <p:nvPr/>
          </p:nvSpPr>
          <p:spPr>
            <a:xfrm>
              <a:off x="8489" y="1564"/>
              <a:ext cx="586" cy="0"/>
            </a:xfrm>
            <a:prstGeom prst="line">
              <a:avLst/>
            </a:prstGeom>
            <a:ln w="9525" cap="flat" cmpd="sng">
              <a:solidFill>
                <a:srgbClr val="000000"/>
              </a:solidFill>
              <a:prstDash val="solid"/>
              <a:headEnd type="none" w="sm" len="med"/>
              <a:tailEnd type="triangle" w="sm" len="med"/>
            </a:ln>
          </p:spPr>
        </p:sp>
        <p:sp>
          <p:nvSpPr>
            <p:cNvPr id="30773" name="Oval 51"/>
            <p:cNvSpPr/>
            <p:nvPr/>
          </p:nvSpPr>
          <p:spPr>
            <a:xfrm>
              <a:off x="7967" y="1305"/>
              <a:ext cx="522"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74" name="Line 52"/>
            <p:cNvSpPr/>
            <p:nvPr/>
          </p:nvSpPr>
          <p:spPr>
            <a:xfrm>
              <a:off x="7197" y="3108"/>
              <a:ext cx="898" cy="0"/>
            </a:xfrm>
            <a:prstGeom prst="line">
              <a:avLst/>
            </a:prstGeom>
            <a:ln w="9525" cap="flat" cmpd="sng">
              <a:solidFill>
                <a:srgbClr val="000000"/>
              </a:solidFill>
              <a:prstDash val="solid"/>
              <a:headEnd type="none" w="sm" len="med"/>
              <a:tailEnd type="triangle" w="sm" len="med"/>
            </a:ln>
          </p:spPr>
        </p:sp>
        <p:sp>
          <p:nvSpPr>
            <p:cNvPr id="30775" name="Line 53"/>
            <p:cNvSpPr/>
            <p:nvPr/>
          </p:nvSpPr>
          <p:spPr>
            <a:xfrm flipV="1">
              <a:off x="6259" y="3108"/>
              <a:ext cx="428" cy="0"/>
            </a:xfrm>
            <a:prstGeom prst="line">
              <a:avLst/>
            </a:prstGeom>
            <a:ln w="9525" cap="flat" cmpd="sng">
              <a:solidFill>
                <a:srgbClr val="000000"/>
              </a:solidFill>
              <a:prstDash val="solid"/>
              <a:headEnd type="none" w="sm" len="med"/>
              <a:tailEnd type="triangle" w="sm" len="med"/>
            </a:ln>
          </p:spPr>
        </p:sp>
        <p:sp>
          <p:nvSpPr>
            <p:cNvPr id="30776" name="Line 54"/>
            <p:cNvSpPr/>
            <p:nvPr/>
          </p:nvSpPr>
          <p:spPr>
            <a:xfrm>
              <a:off x="8618" y="3108"/>
              <a:ext cx="587" cy="0"/>
            </a:xfrm>
            <a:prstGeom prst="line">
              <a:avLst/>
            </a:prstGeom>
            <a:ln w="9525" cap="flat" cmpd="sng">
              <a:solidFill>
                <a:srgbClr val="000000"/>
              </a:solidFill>
              <a:prstDash val="solid"/>
              <a:headEnd type="none" w="sm" len="med"/>
              <a:tailEnd type="triangle" w="sm" len="med"/>
            </a:ln>
          </p:spPr>
        </p:sp>
        <p:sp>
          <p:nvSpPr>
            <p:cNvPr id="30777" name="Oval 55"/>
            <p:cNvSpPr/>
            <p:nvPr/>
          </p:nvSpPr>
          <p:spPr>
            <a:xfrm>
              <a:off x="8090" y="2871"/>
              <a:ext cx="522"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78" name="Oval 56"/>
            <p:cNvSpPr/>
            <p:nvPr/>
          </p:nvSpPr>
          <p:spPr>
            <a:xfrm>
              <a:off x="6677" y="284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79" name="Arc 57"/>
            <p:cNvSpPr/>
            <p:nvPr/>
          </p:nvSpPr>
          <p:spPr>
            <a:xfrm flipH="1">
              <a:off x="8192" y="2270"/>
              <a:ext cx="182" cy="185"/>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30780" name="Line 58"/>
            <p:cNvSpPr/>
            <p:nvPr/>
          </p:nvSpPr>
          <p:spPr>
            <a:xfrm flipV="1">
              <a:off x="6217" y="1557"/>
              <a:ext cx="429" cy="0"/>
            </a:xfrm>
            <a:prstGeom prst="line">
              <a:avLst/>
            </a:prstGeom>
            <a:ln w="9525" cap="flat" cmpd="sng">
              <a:solidFill>
                <a:srgbClr val="000000"/>
              </a:solidFill>
              <a:prstDash val="solid"/>
              <a:headEnd type="none" w="sm" len="med"/>
              <a:tailEnd type="triangle" w="sm" len="med"/>
            </a:ln>
          </p:spPr>
        </p:sp>
        <p:sp>
          <p:nvSpPr>
            <p:cNvPr id="30781" name="Line 59"/>
            <p:cNvSpPr/>
            <p:nvPr/>
          </p:nvSpPr>
          <p:spPr>
            <a:xfrm>
              <a:off x="6909" y="1836"/>
              <a:ext cx="0" cy="1000"/>
            </a:xfrm>
            <a:prstGeom prst="line">
              <a:avLst/>
            </a:prstGeom>
            <a:ln w="9525" cap="flat" cmpd="sng">
              <a:solidFill>
                <a:srgbClr val="000000"/>
              </a:solidFill>
              <a:prstDash val="solid"/>
              <a:headEnd type="none" w="sm" len="med"/>
              <a:tailEnd type="triangle" w="sm" len="med"/>
            </a:ln>
          </p:spPr>
        </p:sp>
        <p:sp>
          <p:nvSpPr>
            <p:cNvPr id="30782" name="Oval 60"/>
            <p:cNvSpPr/>
            <p:nvPr/>
          </p:nvSpPr>
          <p:spPr>
            <a:xfrm>
              <a:off x="6643" y="1305"/>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83" name="Line 61"/>
            <p:cNvSpPr/>
            <p:nvPr/>
          </p:nvSpPr>
          <p:spPr>
            <a:xfrm flipH="1">
              <a:off x="6185" y="1731"/>
              <a:ext cx="510" cy="112"/>
            </a:xfrm>
            <a:prstGeom prst="line">
              <a:avLst/>
            </a:prstGeom>
            <a:ln w="9525" cap="flat" cmpd="sng">
              <a:solidFill>
                <a:srgbClr val="000000"/>
              </a:solidFill>
              <a:prstDash val="solid"/>
              <a:headEnd type="none" w="sm" len="med"/>
              <a:tailEnd type="triangle" w="sm" len="med"/>
            </a:ln>
          </p:spPr>
        </p:sp>
      </p:grpSp>
      <p:grpSp>
        <p:nvGrpSpPr>
          <p:cNvPr id="30731" name="Group 63"/>
          <p:cNvGrpSpPr/>
          <p:nvPr/>
        </p:nvGrpSpPr>
        <p:grpSpPr>
          <a:xfrm>
            <a:off x="6213475" y="4016375"/>
            <a:ext cx="933450" cy="269875"/>
            <a:chOff x="5980" y="8610"/>
            <a:chExt cx="1306" cy="360"/>
          </a:xfrm>
        </p:grpSpPr>
        <p:sp>
          <p:nvSpPr>
            <p:cNvPr id="30764" name="Line 64"/>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30765" name="Line 65"/>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30732" name="Rectangle 66"/>
          <p:cNvSpPr/>
          <p:nvPr/>
        </p:nvSpPr>
        <p:spPr>
          <a:xfrm>
            <a:off x="5851525" y="3973513"/>
            <a:ext cx="1730375" cy="5016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nvGrpSpPr>
          <p:cNvPr id="30733" name="Group 68"/>
          <p:cNvGrpSpPr/>
          <p:nvPr/>
        </p:nvGrpSpPr>
        <p:grpSpPr>
          <a:xfrm>
            <a:off x="6688138" y="4362450"/>
            <a:ext cx="773112" cy="269875"/>
            <a:chOff x="5980" y="8610"/>
            <a:chExt cx="1306" cy="360"/>
          </a:xfrm>
        </p:grpSpPr>
        <p:sp>
          <p:nvSpPr>
            <p:cNvPr id="30762" name="Line 69"/>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30763" name="Line 70"/>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30734" name="Rectangle 71"/>
          <p:cNvSpPr/>
          <p:nvPr/>
        </p:nvSpPr>
        <p:spPr>
          <a:xfrm>
            <a:off x="6423025" y="4276725"/>
            <a:ext cx="1298575" cy="1349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30735" name="Rectangle 73"/>
          <p:cNvSpPr/>
          <p:nvPr/>
        </p:nvSpPr>
        <p:spPr>
          <a:xfrm>
            <a:off x="2093913" y="6426200"/>
            <a:ext cx="3225800" cy="57150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b="1" dirty="0">
                <a:solidFill>
                  <a:srgbClr val="FF0000"/>
                </a:solidFill>
                <a:latin typeface="黑体" panose="02010609060101010101" pitchFamily="49" charset="-122"/>
                <a:ea typeface="黑体" panose="02010609060101010101" pitchFamily="49" charset="-122"/>
              </a:rPr>
              <a:t>(c)  </a:t>
            </a:r>
            <a:r>
              <a:rPr lang="zh-CN" altLang="en-US" sz="1800" b="1" dirty="0">
                <a:solidFill>
                  <a:srgbClr val="FF0000"/>
                </a:solidFill>
                <a:latin typeface="黑体" panose="02010609060101010101" pitchFamily="49" charset="-122"/>
                <a:ea typeface="黑体" panose="02010609060101010101" pitchFamily="49" charset="-122"/>
              </a:rPr>
              <a:t>含局部文件的父图</a:t>
            </a:r>
            <a:endParaRPr lang="zh-CN" altLang="en-US" sz="1800" b="1" dirty="0">
              <a:solidFill>
                <a:srgbClr val="FF0000"/>
              </a:solidFill>
              <a:latin typeface="黑体" panose="02010609060101010101" pitchFamily="49" charset="-122"/>
              <a:ea typeface="黑体" panose="02010609060101010101" pitchFamily="49" charset="-122"/>
            </a:endParaRPr>
          </a:p>
        </p:txBody>
      </p:sp>
      <p:grpSp>
        <p:nvGrpSpPr>
          <p:cNvPr id="30736" name="Group 75"/>
          <p:cNvGrpSpPr/>
          <p:nvPr/>
        </p:nvGrpSpPr>
        <p:grpSpPr>
          <a:xfrm>
            <a:off x="2444750" y="5168900"/>
            <a:ext cx="1730375" cy="552450"/>
            <a:chOff x="3179" y="1710"/>
            <a:chExt cx="1756" cy="480"/>
          </a:xfrm>
        </p:grpSpPr>
        <p:sp>
          <p:nvSpPr>
            <p:cNvPr id="30760" name="Rectangle 76"/>
            <p:cNvSpPr/>
            <p:nvPr/>
          </p:nvSpPr>
          <p:spPr>
            <a:xfrm>
              <a:off x="4395" y="172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p:txBody>
        </p:sp>
        <p:sp>
          <p:nvSpPr>
            <p:cNvPr id="30761" name="Rectangle 77"/>
            <p:cNvSpPr/>
            <p:nvPr/>
          </p:nvSpPr>
          <p:spPr>
            <a:xfrm>
              <a:off x="3179" y="17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800"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p:txBody>
        </p:sp>
      </p:grpSp>
      <p:grpSp>
        <p:nvGrpSpPr>
          <p:cNvPr id="30737" name="Group 80"/>
          <p:cNvGrpSpPr/>
          <p:nvPr/>
        </p:nvGrpSpPr>
        <p:grpSpPr>
          <a:xfrm>
            <a:off x="3579813" y="4603750"/>
            <a:ext cx="1273175" cy="268288"/>
            <a:chOff x="5980" y="8610"/>
            <a:chExt cx="1306" cy="360"/>
          </a:xfrm>
        </p:grpSpPr>
        <p:sp>
          <p:nvSpPr>
            <p:cNvPr id="30758" name="Line 81"/>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30759" name="Line 82"/>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30738" name="Rectangle 83"/>
          <p:cNvSpPr/>
          <p:nvPr/>
        </p:nvSpPr>
        <p:spPr>
          <a:xfrm>
            <a:off x="3314700" y="4551363"/>
            <a:ext cx="1776413" cy="500062"/>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nvGrpSpPr>
          <p:cNvPr id="30739" name="Group 85"/>
          <p:cNvGrpSpPr/>
          <p:nvPr/>
        </p:nvGrpSpPr>
        <p:grpSpPr>
          <a:xfrm>
            <a:off x="2844800" y="5745163"/>
            <a:ext cx="773113" cy="269875"/>
            <a:chOff x="5980" y="8610"/>
            <a:chExt cx="1306" cy="360"/>
          </a:xfrm>
        </p:grpSpPr>
        <p:sp>
          <p:nvSpPr>
            <p:cNvPr id="30756" name="Line 86"/>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30757" name="Line 87"/>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30740" name="Rectangle 88"/>
          <p:cNvSpPr/>
          <p:nvPr/>
        </p:nvSpPr>
        <p:spPr>
          <a:xfrm>
            <a:off x="2578100" y="5691188"/>
            <a:ext cx="1301750" cy="503237"/>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nvGrpSpPr>
          <p:cNvPr id="30741" name="Group 89"/>
          <p:cNvGrpSpPr/>
          <p:nvPr/>
        </p:nvGrpSpPr>
        <p:grpSpPr>
          <a:xfrm>
            <a:off x="1547813" y="4862513"/>
            <a:ext cx="3386137" cy="1601787"/>
            <a:chOff x="2328" y="3396"/>
            <a:chExt cx="3438" cy="1389"/>
          </a:xfrm>
        </p:grpSpPr>
        <p:sp>
          <p:nvSpPr>
            <p:cNvPr id="30742" name="Arc 90"/>
            <p:cNvSpPr/>
            <p:nvPr/>
          </p:nvSpPr>
          <p:spPr>
            <a:xfrm flipH="1">
              <a:off x="4107" y="3894"/>
              <a:ext cx="268"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30743" name="Oval 91"/>
            <p:cNvSpPr/>
            <p:nvPr/>
          </p:nvSpPr>
          <p:spPr>
            <a:xfrm>
              <a:off x="3164" y="362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44" name="Oval 92"/>
            <p:cNvSpPr/>
            <p:nvPr/>
          </p:nvSpPr>
          <p:spPr>
            <a:xfrm>
              <a:off x="4379" y="362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45" name="Arc 93"/>
            <p:cNvSpPr/>
            <p:nvPr/>
          </p:nvSpPr>
          <p:spPr>
            <a:xfrm>
              <a:off x="3711" y="3894"/>
              <a:ext cx="267"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30746" name="Line 94"/>
            <p:cNvSpPr/>
            <p:nvPr/>
          </p:nvSpPr>
          <p:spPr>
            <a:xfrm>
              <a:off x="3434" y="4176"/>
              <a:ext cx="0" cy="609"/>
            </a:xfrm>
            <a:prstGeom prst="line">
              <a:avLst/>
            </a:prstGeom>
            <a:ln w="9525" cap="flat" cmpd="sng">
              <a:solidFill>
                <a:srgbClr val="000000"/>
              </a:solidFill>
              <a:prstDash val="solid"/>
              <a:headEnd type="none" w="sm" len="med"/>
              <a:tailEnd type="triangle" w="sm" len="med"/>
            </a:ln>
          </p:spPr>
        </p:sp>
        <p:sp>
          <p:nvSpPr>
            <p:cNvPr id="30747" name="Line 95"/>
            <p:cNvSpPr/>
            <p:nvPr/>
          </p:nvSpPr>
          <p:spPr>
            <a:xfrm flipH="1">
              <a:off x="2328" y="3887"/>
              <a:ext cx="836" cy="0"/>
            </a:xfrm>
            <a:prstGeom prst="line">
              <a:avLst/>
            </a:prstGeom>
            <a:ln w="9525" cap="flat" cmpd="sng">
              <a:solidFill>
                <a:srgbClr val="000000"/>
              </a:solidFill>
              <a:prstDash val="solid"/>
              <a:headEnd type="none" w="sm" len="med"/>
              <a:tailEnd type="triangle" w="sm" len="med"/>
            </a:ln>
          </p:spPr>
        </p:sp>
        <p:sp>
          <p:nvSpPr>
            <p:cNvPr id="30748" name="Line 96"/>
            <p:cNvSpPr/>
            <p:nvPr/>
          </p:nvSpPr>
          <p:spPr>
            <a:xfrm>
              <a:off x="4674" y="4162"/>
              <a:ext cx="0" cy="609"/>
            </a:xfrm>
            <a:prstGeom prst="line">
              <a:avLst/>
            </a:prstGeom>
            <a:ln w="9525" cap="flat" cmpd="sng">
              <a:solidFill>
                <a:srgbClr val="000000"/>
              </a:solidFill>
              <a:prstDash val="solid"/>
              <a:headEnd type="triangle" w="sm" len="med"/>
              <a:tailEnd type="none" w="sm" len="med"/>
            </a:ln>
          </p:spPr>
        </p:sp>
        <p:sp>
          <p:nvSpPr>
            <p:cNvPr id="30749" name="Line 97"/>
            <p:cNvSpPr/>
            <p:nvPr/>
          </p:nvSpPr>
          <p:spPr>
            <a:xfrm flipH="1">
              <a:off x="4908" y="3894"/>
              <a:ext cx="836" cy="0"/>
            </a:xfrm>
            <a:prstGeom prst="line">
              <a:avLst/>
            </a:prstGeom>
            <a:ln w="9525" cap="flat" cmpd="sng">
              <a:solidFill>
                <a:srgbClr val="000000"/>
              </a:solidFill>
              <a:prstDash val="solid"/>
              <a:headEnd type="triangle" w="sm" len="med"/>
              <a:tailEnd type="none" w="sm" len="med"/>
            </a:ln>
          </p:spPr>
        </p:sp>
        <p:sp>
          <p:nvSpPr>
            <p:cNvPr id="30750" name="Line 98"/>
            <p:cNvSpPr/>
            <p:nvPr/>
          </p:nvSpPr>
          <p:spPr>
            <a:xfrm flipH="1" flipV="1">
              <a:off x="4802" y="4119"/>
              <a:ext cx="233" cy="586"/>
            </a:xfrm>
            <a:prstGeom prst="line">
              <a:avLst/>
            </a:prstGeom>
            <a:ln w="9525" cap="flat" cmpd="sng">
              <a:solidFill>
                <a:srgbClr val="000000"/>
              </a:solidFill>
              <a:prstDash val="solid"/>
              <a:headEnd type="none" w="sm" len="med"/>
              <a:tailEnd type="triangle" w="sm" len="med"/>
            </a:ln>
          </p:spPr>
        </p:sp>
        <p:sp>
          <p:nvSpPr>
            <p:cNvPr id="30751" name="Line 99"/>
            <p:cNvSpPr/>
            <p:nvPr/>
          </p:nvSpPr>
          <p:spPr>
            <a:xfrm>
              <a:off x="2470" y="3510"/>
              <a:ext cx="779" cy="188"/>
            </a:xfrm>
            <a:prstGeom prst="line">
              <a:avLst/>
            </a:prstGeom>
            <a:ln w="9525" cap="flat" cmpd="sng">
              <a:solidFill>
                <a:srgbClr val="000000"/>
              </a:solidFill>
              <a:prstDash val="solid"/>
              <a:headEnd type="none" w="sm" len="med"/>
              <a:tailEnd type="triangle" w="sm" len="med"/>
            </a:ln>
          </p:spPr>
        </p:sp>
        <p:sp>
          <p:nvSpPr>
            <p:cNvPr id="30752" name="Line 100"/>
            <p:cNvSpPr/>
            <p:nvPr/>
          </p:nvSpPr>
          <p:spPr>
            <a:xfrm flipH="1">
              <a:off x="2456" y="4075"/>
              <a:ext cx="773" cy="319"/>
            </a:xfrm>
            <a:prstGeom prst="line">
              <a:avLst/>
            </a:prstGeom>
            <a:ln w="9525" cap="flat" cmpd="sng">
              <a:solidFill>
                <a:srgbClr val="000000"/>
              </a:solidFill>
              <a:prstDash val="solid"/>
              <a:headEnd type="none" w="sm" len="med"/>
              <a:tailEnd type="triangle" w="sm" len="med"/>
            </a:ln>
          </p:spPr>
        </p:sp>
        <p:sp>
          <p:nvSpPr>
            <p:cNvPr id="30753" name="Line 101"/>
            <p:cNvSpPr/>
            <p:nvPr/>
          </p:nvSpPr>
          <p:spPr>
            <a:xfrm flipV="1">
              <a:off x="4851" y="3604"/>
              <a:ext cx="851" cy="116"/>
            </a:xfrm>
            <a:prstGeom prst="line">
              <a:avLst/>
            </a:prstGeom>
            <a:ln w="9525" cap="flat" cmpd="sng">
              <a:solidFill>
                <a:srgbClr val="000000"/>
              </a:solidFill>
              <a:prstDash val="solid"/>
              <a:headEnd type="none" w="sm" len="med"/>
              <a:tailEnd type="triangle" w="sm" len="med"/>
            </a:ln>
          </p:spPr>
        </p:sp>
        <p:sp>
          <p:nvSpPr>
            <p:cNvPr id="30754" name="Line 102"/>
            <p:cNvSpPr/>
            <p:nvPr/>
          </p:nvSpPr>
          <p:spPr>
            <a:xfrm>
              <a:off x="4873" y="4046"/>
              <a:ext cx="893" cy="268"/>
            </a:xfrm>
            <a:prstGeom prst="line">
              <a:avLst/>
            </a:prstGeom>
            <a:ln w="9525" cap="flat" cmpd="sng">
              <a:solidFill>
                <a:srgbClr val="000000"/>
              </a:solidFill>
              <a:prstDash val="solid"/>
              <a:headEnd type="none" w="sm" len="med"/>
              <a:tailEnd type="triangle" w="sm" len="med"/>
            </a:ln>
          </p:spPr>
        </p:sp>
        <p:sp>
          <p:nvSpPr>
            <p:cNvPr id="30755" name="Arc 103"/>
            <p:cNvSpPr/>
            <p:nvPr/>
          </p:nvSpPr>
          <p:spPr>
            <a:xfrm flipH="1">
              <a:off x="4680" y="3396"/>
              <a:ext cx="358" cy="247"/>
            </a:xfrm>
            <a:custGeom>
              <a:avLst/>
              <a:gdLst/>
              <a:ahLst/>
              <a:cxnLst>
                <a:cxn ang="0">
                  <a:pos x="0" y="0"/>
                </a:cxn>
                <a:cxn ang="0">
                  <a:pos x="0" y="0"/>
                </a:cxn>
                <a:cxn ang="0">
                  <a:pos x="0" y="0"/>
                </a:cxn>
              </a:cxnLst>
              <a:pathLst>
                <a:path w="21600" h="18290" fill="none">
                  <a:moveTo>
                    <a:pt x="11490" y="0"/>
                  </a:moveTo>
                  <a:cubicBezTo>
                    <a:pt x="17781" y="3952"/>
                    <a:pt x="21600" y="10860"/>
                    <a:pt x="21600" y="18290"/>
                  </a:cubicBezTo>
                </a:path>
                <a:path w="21600" h="18290" stroke="0">
                  <a:moveTo>
                    <a:pt x="11490" y="0"/>
                  </a:moveTo>
                  <a:cubicBezTo>
                    <a:pt x="17781" y="3952"/>
                    <a:pt x="21600" y="10860"/>
                    <a:pt x="21600" y="18290"/>
                  </a:cubicBezTo>
                  <a:lnTo>
                    <a:pt x="0" y="18290"/>
                  </a:lnTo>
                  <a:lnTo>
                    <a:pt x="11490"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数据字典</a:t>
            </a:r>
            <a:endParaRPr lang="zh-CN" altLang="en-US" b="1" dirty="0">
              <a:latin typeface="微软雅黑" panose="020B0503020204020204" pitchFamily="34" charset="-122"/>
              <a:ea typeface="微软雅黑" panose="020B0503020204020204" pitchFamily="34" charset="-122"/>
            </a:endParaRPr>
          </a:p>
        </p:txBody>
      </p:sp>
      <p:sp>
        <p:nvSpPr>
          <p:cNvPr id="32771" name="Rectangle 3"/>
          <p:cNvSpPr>
            <a:spLocks noGrp="1"/>
          </p:cNvSpPr>
          <p:nvPr>
            <p:ph idx="1"/>
          </p:nvPr>
        </p:nvSpPr>
        <p:spPr/>
        <p:txBody>
          <a:bodyPr vert="horz" wrap="square" lIns="91221" tIns="45610" rIns="91221" bIns="45610" anchor="t" anchorCtr="0"/>
          <a:p>
            <a:pPr eaLnBrk="1" hangingPunct="1">
              <a:buFont typeface="Wingdings" panose="05000000000000000000" pitchFamily="2" charset="2"/>
              <a:buChar char="p"/>
            </a:pPr>
            <a:r>
              <a:rPr lang="zh-CN" altLang="en-US" dirty="0"/>
              <a:t>数据流图与数据字典是密不可分的，两者结合起来构成软件的逻辑模型</a:t>
            </a:r>
            <a:r>
              <a:rPr lang="en-US" altLang="zh-CN" dirty="0"/>
              <a:t>(</a:t>
            </a:r>
            <a:r>
              <a:rPr lang="zh-CN" altLang="en-US" dirty="0"/>
              <a:t>分析模型</a:t>
            </a:r>
            <a:r>
              <a:rPr lang="en-US" altLang="zh-CN" dirty="0"/>
              <a:t>)</a:t>
            </a:r>
            <a:endParaRPr lang="en-US" altLang="zh-CN" dirty="0"/>
          </a:p>
          <a:p>
            <a:pPr eaLnBrk="1" hangingPunct="1">
              <a:buFont typeface="Wingdings" panose="05000000000000000000" pitchFamily="2" charset="2"/>
              <a:buChar char="p"/>
            </a:pPr>
            <a:r>
              <a:rPr lang="zh-CN" altLang="en-US" dirty="0"/>
              <a:t>数据字典由字典条目组成，每个条目描述</a:t>
            </a:r>
            <a:r>
              <a:rPr lang="en-US" altLang="zh-CN" dirty="0"/>
              <a:t>DFD</a:t>
            </a:r>
            <a:r>
              <a:rPr lang="zh-CN" altLang="en-US" dirty="0"/>
              <a:t>中的一个元素</a:t>
            </a:r>
            <a:endParaRPr lang="zh-CN" altLang="en-US" dirty="0"/>
          </a:p>
          <a:p>
            <a:pPr eaLnBrk="1" hangingPunct="1">
              <a:buFont typeface="Wingdings" panose="05000000000000000000" pitchFamily="2" charset="2"/>
              <a:buChar char="p"/>
            </a:pPr>
            <a:r>
              <a:rPr lang="zh-CN" altLang="en-US" dirty="0"/>
              <a:t>数据字典条目包括：数据流、文件、数据项</a:t>
            </a:r>
            <a:r>
              <a:rPr lang="en-US" altLang="zh-CN" dirty="0"/>
              <a:t>(</a:t>
            </a:r>
            <a:r>
              <a:rPr lang="zh-CN" altLang="en-US" dirty="0"/>
              <a:t>组成数据流和文件的数据</a:t>
            </a:r>
            <a:r>
              <a:rPr lang="en-US" altLang="zh-CN" dirty="0"/>
              <a:t>)</a:t>
            </a:r>
            <a:r>
              <a:rPr lang="zh-CN" altLang="en-US" dirty="0"/>
              <a:t>、加工、源或宿</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455613" y="531813"/>
            <a:ext cx="8207375"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数据流条目的描述内容</a:t>
            </a:r>
            <a:endParaRPr lang="zh-CN" altLang="en-US" b="1" dirty="0">
              <a:latin typeface="微软雅黑" panose="020B0503020204020204" pitchFamily="34" charset="-122"/>
              <a:ea typeface="微软雅黑" panose="020B0503020204020204" pitchFamily="34" charset="-122"/>
            </a:endParaRPr>
          </a:p>
        </p:txBody>
      </p:sp>
      <p:sp>
        <p:nvSpPr>
          <p:cNvPr id="34819" name="Rectangle 3"/>
          <p:cNvSpPr>
            <a:spLocks noGrp="1"/>
          </p:cNvSpPr>
          <p:nvPr>
            <p:ph idx="1"/>
          </p:nvPr>
        </p:nvSpPr>
        <p:spPr>
          <a:xfrm>
            <a:off x="379413" y="1901825"/>
            <a:ext cx="7902575" cy="4714875"/>
          </a:xfrm>
        </p:spPr>
        <p:txBody>
          <a:bodyPr vert="horz" wrap="square" lIns="91221" tIns="45610" rIns="91221" bIns="45610" anchor="t" anchorCtr="0"/>
          <a:p>
            <a:pPr eaLnBrk="1" hangingPunct="1">
              <a:lnSpc>
                <a:spcPct val="90000"/>
              </a:lnSpc>
              <a:buFont typeface="Wingdings" panose="05000000000000000000" pitchFamily="2" charset="2"/>
              <a:buChar char="p"/>
            </a:pPr>
            <a:r>
              <a:rPr lang="zh-CN" altLang="en-US" sz="2400" b="1" dirty="0"/>
              <a:t>名称</a:t>
            </a:r>
            <a:r>
              <a:rPr lang="zh-CN" altLang="en-US" sz="2400" dirty="0"/>
              <a:t>：数据流名</a:t>
            </a:r>
            <a:r>
              <a:rPr lang="en-US" altLang="zh-CN" sz="2400" dirty="0"/>
              <a:t>(</a:t>
            </a:r>
            <a:r>
              <a:rPr lang="zh-CN" altLang="en-US" sz="2400" dirty="0"/>
              <a:t>可以是中文名或英文名</a:t>
            </a:r>
            <a:r>
              <a:rPr lang="en-US" altLang="zh-CN" sz="2400" dirty="0"/>
              <a:t>)</a:t>
            </a:r>
            <a:endParaRPr lang="en-US" altLang="zh-CN" sz="2400" dirty="0"/>
          </a:p>
          <a:p>
            <a:pPr eaLnBrk="1" hangingPunct="1">
              <a:lnSpc>
                <a:spcPct val="90000"/>
              </a:lnSpc>
              <a:buFont typeface="Wingdings" panose="05000000000000000000" pitchFamily="2" charset="2"/>
              <a:buChar char="p"/>
            </a:pPr>
            <a:r>
              <a:rPr lang="zh-CN" altLang="en-US" sz="2400" b="1" dirty="0"/>
              <a:t>别名</a:t>
            </a:r>
            <a:r>
              <a:rPr lang="zh-CN" altLang="en-US" sz="2400" dirty="0"/>
              <a:t>：名称的另一个名字</a:t>
            </a:r>
            <a:endParaRPr lang="zh-CN" altLang="en-US" sz="2400" dirty="0"/>
          </a:p>
          <a:p>
            <a:pPr eaLnBrk="1" hangingPunct="1">
              <a:lnSpc>
                <a:spcPct val="90000"/>
              </a:lnSpc>
              <a:buFont typeface="Wingdings" panose="05000000000000000000" pitchFamily="2" charset="2"/>
              <a:buChar char="p"/>
            </a:pPr>
            <a:r>
              <a:rPr lang="zh-CN" altLang="en-US" sz="2400" b="1" dirty="0"/>
              <a:t>简述</a:t>
            </a:r>
            <a:r>
              <a:rPr lang="zh-CN" altLang="en-US" sz="2400" dirty="0"/>
              <a:t>：对数据流的简单说明</a:t>
            </a:r>
            <a:endParaRPr lang="zh-CN" altLang="en-US" sz="2400" dirty="0"/>
          </a:p>
          <a:p>
            <a:pPr eaLnBrk="1" hangingPunct="1">
              <a:lnSpc>
                <a:spcPct val="90000"/>
              </a:lnSpc>
              <a:buFont typeface="Wingdings" panose="05000000000000000000" pitchFamily="2" charset="2"/>
              <a:buChar char="p"/>
            </a:pPr>
            <a:r>
              <a:rPr lang="zh-CN" altLang="en-US" sz="2400" b="1" dirty="0">
                <a:solidFill>
                  <a:schemeClr val="tx2"/>
                </a:solidFill>
              </a:rPr>
              <a:t>数据流组成</a:t>
            </a:r>
            <a:r>
              <a:rPr lang="zh-CN" altLang="en-US" sz="2400" dirty="0"/>
              <a:t>：描述数据流由哪些数据项组成</a:t>
            </a:r>
            <a:endParaRPr lang="zh-CN" altLang="en-US" sz="2400" dirty="0"/>
          </a:p>
          <a:p>
            <a:pPr eaLnBrk="1" hangingPunct="1">
              <a:lnSpc>
                <a:spcPct val="90000"/>
              </a:lnSpc>
              <a:buFont typeface="Wingdings" panose="05000000000000000000" pitchFamily="2" charset="2"/>
              <a:buChar char="p"/>
            </a:pPr>
            <a:r>
              <a:rPr lang="zh-CN" altLang="en-US" sz="2400" b="1" dirty="0"/>
              <a:t>数据流来源</a:t>
            </a:r>
            <a:r>
              <a:rPr lang="zh-CN" altLang="en-US" sz="2400" dirty="0"/>
              <a:t>：描述数据流从哪个加工或源流出</a:t>
            </a:r>
            <a:endParaRPr lang="zh-CN" altLang="en-US" sz="2400" dirty="0"/>
          </a:p>
          <a:p>
            <a:pPr eaLnBrk="1" hangingPunct="1">
              <a:lnSpc>
                <a:spcPct val="90000"/>
              </a:lnSpc>
              <a:buFont typeface="Wingdings" panose="05000000000000000000" pitchFamily="2" charset="2"/>
              <a:buChar char="p"/>
            </a:pPr>
            <a:r>
              <a:rPr lang="zh-CN" altLang="en-US" sz="2400" b="1" dirty="0"/>
              <a:t>数据流去向</a:t>
            </a:r>
            <a:r>
              <a:rPr lang="zh-CN" altLang="en-US" sz="2400" dirty="0"/>
              <a:t>：描述数据流流入哪个加工或宿</a:t>
            </a:r>
            <a:endParaRPr lang="zh-CN" altLang="en-US" sz="2400" dirty="0"/>
          </a:p>
          <a:p>
            <a:pPr eaLnBrk="1" hangingPunct="1">
              <a:lnSpc>
                <a:spcPct val="90000"/>
              </a:lnSpc>
              <a:buFont typeface="Wingdings" panose="05000000000000000000" pitchFamily="2" charset="2"/>
              <a:buChar char="p"/>
            </a:pPr>
            <a:r>
              <a:rPr lang="zh-CN" altLang="en-US" sz="2400" b="1" dirty="0"/>
              <a:t>数据量</a:t>
            </a:r>
            <a:r>
              <a:rPr lang="zh-CN" altLang="en-US" sz="2400" dirty="0"/>
              <a:t>：系统中该数据流的总量</a:t>
            </a:r>
            <a:endParaRPr lang="zh-CN" altLang="en-US" sz="2400" dirty="0"/>
          </a:p>
          <a:p>
            <a:pPr lvl="1" eaLnBrk="1" hangingPunct="1">
              <a:lnSpc>
                <a:spcPct val="90000"/>
              </a:lnSpc>
              <a:buFont typeface="Wingdings" panose="05000000000000000000" pitchFamily="2" charset="2"/>
              <a:buChar char="ü"/>
            </a:pPr>
            <a:r>
              <a:rPr lang="zh-CN" altLang="en-US" sz="1800" dirty="0"/>
              <a:t>如考务处理系统中</a:t>
            </a:r>
            <a:r>
              <a:rPr lang="zh-CN" altLang="en-US" sz="1800" dirty="0">
                <a:latin typeface="Arial" panose="020B0604020202020204" pitchFamily="34" charset="0"/>
              </a:rPr>
              <a:t>“</a:t>
            </a:r>
            <a:r>
              <a:rPr lang="zh-CN" altLang="en-US" sz="1800" dirty="0"/>
              <a:t>报名单</a:t>
            </a:r>
            <a:r>
              <a:rPr lang="zh-CN" altLang="en-US" sz="1800" dirty="0">
                <a:latin typeface="Arial" panose="020B0604020202020204" pitchFamily="34" charset="0"/>
              </a:rPr>
              <a:t>”</a:t>
            </a:r>
            <a:r>
              <a:rPr lang="zh-CN" altLang="en-US" sz="1800" dirty="0"/>
              <a:t>的总量是</a:t>
            </a:r>
            <a:r>
              <a:rPr lang="en-US" altLang="zh-CN" sz="1800" dirty="0"/>
              <a:t>100000</a:t>
            </a:r>
            <a:r>
              <a:rPr lang="zh-CN" altLang="en-US" sz="1800" dirty="0"/>
              <a:t>张</a:t>
            </a:r>
            <a:endParaRPr lang="zh-CN" altLang="en-US" sz="1800" dirty="0"/>
          </a:p>
          <a:p>
            <a:pPr lvl="1" eaLnBrk="1" hangingPunct="1">
              <a:lnSpc>
                <a:spcPct val="90000"/>
              </a:lnSpc>
              <a:buFont typeface="Wingdings" panose="05000000000000000000" pitchFamily="2" charset="2"/>
              <a:buChar char="ü"/>
            </a:pPr>
            <a:r>
              <a:rPr lang="zh-CN" altLang="en-US" sz="1800" dirty="0"/>
              <a:t>或者单位时间处理的数据流数量，如</a:t>
            </a:r>
            <a:r>
              <a:rPr lang="en-US" altLang="zh-CN" sz="1800" dirty="0"/>
              <a:t>80000</a:t>
            </a:r>
            <a:r>
              <a:rPr lang="zh-CN" altLang="en-US" sz="1800" dirty="0"/>
              <a:t>张</a:t>
            </a:r>
            <a:r>
              <a:rPr lang="en-US" altLang="zh-CN" sz="1800" dirty="0"/>
              <a:t>/</a:t>
            </a:r>
            <a:r>
              <a:rPr lang="zh-CN" altLang="en-US" sz="1800" dirty="0"/>
              <a:t>天</a:t>
            </a:r>
            <a:endParaRPr lang="zh-CN" altLang="en-US" sz="1800" dirty="0"/>
          </a:p>
          <a:p>
            <a:pPr eaLnBrk="1" hangingPunct="1">
              <a:lnSpc>
                <a:spcPct val="90000"/>
              </a:lnSpc>
              <a:buFont typeface="Wingdings" panose="05000000000000000000" pitchFamily="2" charset="2"/>
              <a:buChar char="p"/>
            </a:pPr>
            <a:r>
              <a:rPr lang="zh-CN" altLang="en-US" sz="2400" b="1" dirty="0"/>
              <a:t>峰值</a:t>
            </a:r>
            <a:r>
              <a:rPr lang="zh-CN" altLang="en-US" sz="2400" dirty="0"/>
              <a:t>：某时段处理的最大数量</a:t>
            </a:r>
            <a:endParaRPr lang="zh-CN" altLang="en-US" sz="2400" dirty="0"/>
          </a:p>
          <a:p>
            <a:pPr lvl="1" eaLnBrk="1" hangingPunct="1">
              <a:lnSpc>
                <a:spcPct val="90000"/>
              </a:lnSpc>
              <a:buFont typeface="Wingdings" panose="05000000000000000000" pitchFamily="2" charset="2"/>
              <a:buChar char="ü"/>
            </a:pPr>
            <a:r>
              <a:rPr lang="zh-CN" altLang="en-US" sz="1800" dirty="0"/>
              <a:t>如每天上午</a:t>
            </a:r>
            <a:r>
              <a:rPr lang="en-US" altLang="zh-CN" sz="1800" dirty="0"/>
              <a:t>9</a:t>
            </a:r>
            <a:r>
              <a:rPr lang="zh-CN" altLang="en-US" sz="1800" dirty="0"/>
              <a:t>：</a:t>
            </a:r>
            <a:r>
              <a:rPr lang="en-US" altLang="zh-CN" sz="1800" dirty="0"/>
              <a:t>00</a:t>
            </a:r>
            <a:r>
              <a:rPr lang="zh-CN" altLang="en-US" sz="1800" dirty="0"/>
              <a:t>至</a:t>
            </a:r>
            <a:r>
              <a:rPr lang="en-US" altLang="zh-CN" sz="1800" dirty="0"/>
              <a:t>11</a:t>
            </a:r>
            <a:r>
              <a:rPr lang="zh-CN" altLang="en-US" sz="1800" dirty="0"/>
              <a:t>：</a:t>
            </a:r>
            <a:r>
              <a:rPr lang="en-US" altLang="zh-CN" sz="1800" dirty="0"/>
              <a:t>00</a:t>
            </a:r>
            <a:r>
              <a:rPr lang="zh-CN" altLang="en-US" sz="1800" dirty="0"/>
              <a:t>处理</a:t>
            </a:r>
            <a:r>
              <a:rPr lang="en-US" altLang="zh-CN" sz="1800" dirty="0"/>
              <a:t>60000</a:t>
            </a:r>
            <a:r>
              <a:rPr lang="zh-CN" altLang="en-US" sz="1800" dirty="0"/>
              <a:t>张表单</a:t>
            </a:r>
            <a:endParaRPr lang="zh-CN" altLang="en-US" sz="1800" dirty="0"/>
          </a:p>
          <a:p>
            <a:pPr eaLnBrk="1" hangingPunct="1">
              <a:lnSpc>
                <a:spcPct val="90000"/>
              </a:lnSpc>
              <a:buFont typeface="Wingdings" panose="05000000000000000000" pitchFamily="2" charset="2"/>
              <a:buChar char="p"/>
            </a:pPr>
            <a:r>
              <a:rPr lang="zh-CN" altLang="en-US" sz="2400" b="1" dirty="0"/>
              <a:t>注解</a:t>
            </a:r>
            <a:r>
              <a:rPr lang="zh-CN" altLang="en-US" sz="2400" dirty="0"/>
              <a:t>：对该数据流的其它补充说明</a:t>
            </a:r>
            <a:endParaRPr lang="zh-CN" altLang="en-US" sz="2400" dirty="0"/>
          </a:p>
          <a:p>
            <a:pPr eaLnBrk="1" hangingPunct="1">
              <a:lnSpc>
                <a:spcPct val="90000"/>
              </a:lnSpc>
              <a:buFont typeface="Wingdings 2" panose="05020102010507070707" pitchFamily="18" charset="2"/>
              <a:buChar char=""/>
            </a:pPr>
            <a:endParaRPr lang="en-US" altLang="zh-CN"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数据流组成</a:t>
            </a:r>
            <a:endParaRPr lang="zh-CN" altLang="en-US" b="1" dirty="0">
              <a:latin typeface="微软雅黑" panose="020B0503020204020204" pitchFamily="34" charset="-122"/>
              <a:ea typeface="微软雅黑" panose="020B0503020204020204" pitchFamily="34" charset="-122"/>
            </a:endParaRPr>
          </a:p>
        </p:txBody>
      </p:sp>
      <p:sp>
        <p:nvSpPr>
          <p:cNvPr id="36867" name="Rectangle 3"/>
          <p:cNvSpPr>
            <a:spLocks noGrp="1"/>
          </p:cNvSpPr>
          <p:nvPr>
            <p:ph idx="1"/>
          </p:nvPr>
        </p:nvSpPr>
        <p:spPr/>
        <p:txBody>
          <a:bodyPr vert="horz" wrap="square" lIns="91221" tIns="45610" rIns="91221" bIns="45610" anchor="t" anchorCtr="0"/>
          <a:p>
            <a:pPr eaLnBrk="1" hangingPunct="1">
              <a:buFont typeface="Wingdings" panose="05000000000000000000" pitchFamily="2" charset="2"/>
              <a:buChar char="p"/>
            </a:pPr>
            <a:r>
              <a:rPr lang="zh-CN" altLang="en-US" dirty="0"/>
              <a:t>数据流组成是数据流条目的核心，它列出组成该数据流的各数据项，例如：</a:t>
            </a:r>
            <a:endParaRPr lang="zh-CN" altLang="en-US" dirty="0"/>
          </a:p>
          <a:p>
            <a:pPr lvl="1" eaLnBrk="1" hangingPunct="1">
              <a:buFont typeface="Wingdings 2" panose="05020102010507070707" pitchFamily="18" charset="2"/>
              <a:buChar char=""/>
            </a:pPr>
            <a:r>
              <a:rPr lang="zh-CN" altLang="en-US" dirty="0"/>
              <a:t>培训报名单＝姓名＋单位＋课程</a:t>
            </a:r>
            <a:endParaRPr lang="zh-CN" altLang="en-US" dirty="0"/>
          </a:p>
          <a:p>
            <a:pPr lvl="1" eaLnBrk="1" hangingPunct="1">
              <a:buFont typeface="Wingdings 2" panose="05020102010507070707" pitchFamily="18" charset="2"/>
              <a:buChar char=""/>
            </a:pPr>
            <a:r>
              <a:rPr lang="zh-CN" altLang="en-US" dirty="0"/>
              <a:t>运动员报名单＝队名＋姓名＋性别＋｛参赛项目｝</a:t>
            </a:r>
            <a:endParaRPr lang="zh-CN" altLang="en-US" dirty="0"/>
          </a:p>
          <a:p>
            <a:pPr eaLnBrk="1" hangingPunct="1">
              <a:buFont typeface="Wingdings" panose="05000000000000000000" pitchFamily="2" charset="2"/>
              <a:buChar char="p"/>
            </a:pPr>
            <a:r>
              <a:rPr lang="zh-CN" altLang="en-US" dirty="0"/>
              <a:t>当一个数据流的组成比较复杂时，可以将其分解成几个数据流，例如：</a:t>
            </a:r>
            <a:endParaRPr lang="zh-CN" altLang="en-US" dirty="0"/>
          </a:p>
          <a:p>
            <a:pPr lvl="1" eaLnBrk="1" hangingPunct="1"/>
            <a:r>
              <a:rPr lang="zh-CN" altLang="en-US" dirty="0"/>
              <a:t>课程＝课程名＋任课教师＋教材＋时间地点</a:t>
            </a:r>
            <a:endParaRPr lang="zh-CN" altLang="en-US" dirty="0"/>
          </a:p>
          <a:p>
            <a:pPr lvl="1" eaLnBrk="1" hangingPunct="1"/>
            <a:r>
              <a:rPr lang="zh-CN" altLang="en-US" dirty="0"/>
              <a:t>时间地点＝｛星期几＋第几节＋教室｝</a:t>
            </a:r>
            <a:endParaRPr lang="zh-CN" altLang="en-US" dirty="0"/>
          </a:p>
        </p:txBody>
      </p:sp>
      <p:sp>
        <p:nvSpPr>
          <p:cNvPr id="36868" name="Rectangle 5"/>
          <p:cNvSpPr/>
          <p:nvPr/>
        </p:nvSpPr>
        <p:spPr>
          <a:xfrm>
            <a:off x="0" y="-230187"/>
            <a:ext cx="184150" cy="460375"/>
          </a:xfrm>
          <a:prstGeom prst="rect">
            <a:avLst/>
          </a:prstGeom>
          <a:noFill/>
          <a:ln w="9525">
            <a:noFill/>
          </a:ln>
        </p:spPr>
        <p:txBody>
          <a:bodyPr wrap="none" lIns="91221" tIns="45610" rIns="91221" bIns="4561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36869" name="Object 4"/>
          <p:cNvGraphicFramePr>
            <a:graphicFrameLocks noChangeAspect="1"/>
          </p:cNvGraphicFramePr>
          <p:nvPr/>
        </p:nvGraphicFramePr>
        <p:xfrm>
          <a:off x="0" y="0"/>
          <a:ext cx="85725" cy="228600"/>
        </p:xfrm>
        <a:graphic>
          <a:graphicData uri="http://schemas.openxmlformats.org/presentationml/2006/ole">
            <mc:AlternateContent xmlns:mc="http://schemas.openxmlformats.org/markup-compatibility/2006">
              <mc:Choice xmlns:v="urn:schemas-microsoft-com:vml" Requires="v">
                <p:oleObj spid="_x0000_s3079" name="" r:id="rId1" imgW="88900" imgH="228600" progId="Equation.3">
                  <p:embed/>
                </p:oleObj>
              </mc:Choice>
              <mc:Fallback>
                <p:oleObj name="" r:id="rId1" imgW="88900" imgH="228600" progId="Equation.3">
                  <p:embed/>
                  <p:pic>
                    <p:nvPicPr>
                      <p:cNvPr id="0" name="图片 3078"/>
                      <p:cNvPicPr/>
                      <p:nvPr/>
                    </p:nvPicPr>
                    <p:blipFill>
                      <a:blip r:embed="rId2"/>
                      <a:stretch>
                        <a:fillRect/>
                      </a:stretch>
                    </p:blipFill>
                    <p:spPr>
                      <a:xfrm>
                        <a:off x="0" y="0"/>
                        <a:ext cx="85725" cy="228600"/>
                      </a:xfrm>
                      <a:prstGeom prst="rect">
                        <a:avLst/>
                      </a:prstGeom>
                      <a:noFill/>
                      <a:ln w="38100">
                        <a:noFill/>
                        <a:miter/>
                      </a:ln>
                    </p:spPr>
                  </p:pic>
                </p:oleObj>
              </mc:Fallback>
            </mc:AlternateContent>
          </a:graphicData>
        </a:graphic>
      </p:graphicFrame>
      <p:sp>
        <p:nvSpPr>
          <p:cNvPr id="36870" name="Text Box 7"/>
          <p:cNvSpPr txBox="1"/>
          <p:nvPr/>
        </p:nvSpPr>
        <p:spPr>
          <a:xfrm>
            <a:off x="7632700" y="3194050"/>
            <a:ext cx="303213" cy="5810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50000"/>
              </a:spcBef>
              <a:buClrTx/>
              <a:buSzTx/>
              <a:buFont typeface="Wingdings" panose="05000000000000000000" pitchFamily="2" charset="2"/>
              <a:buNone/>
            </a:pPr>
            <a:r>
              <a:rPr lang="en-US" altLang="zh-CN" sz="1600" b="1" dirty="0">
                <a:latin typeface="Comic Sans MS" panose="030F0702030302020204" pitchFamily="66" charset="0"/>
              </a:rPr>
              <a:t>31</a:t>
            </a:r>
            <a:endParaRPr lang="en-US" altLang="zh-CN" sz="1600" b="1" dirty="0">
              <a:latin typeface="Comic Sans MS" panose="030F0702030302020204" pitchFamily="66"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455613" y="455613"/>
            <a:ext cx="8207375"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文件条目的描述内容</a:t>
            </a:r>
            <a:endParaRPr lang="zh-CN" altLang="en-US" b="1" dirty="0">
              <a:latin typeface="微软雅黑" panose="020B0503020204020204" pitchFamily="34" charset="-122"/>
              <a:ea typeface="微软雅黑" panose="020B0503020204020204" pitchFamily="34" charset="-122"/>
            </a:endParaRPr>
          </a:p>
        </p:txBody>
      </p:sp>
      <p:sp>
        <p:nvSpPr>
          <p:cNvPr id="38915" name="Rectangle 3"/>
          <p:cNvSpPr>
            <a:spLocks noGrp="1"/>
          </p:cNvSpPr>
          <p:nvPr>
            <p:ph idx="1"/>
          </p:nvPr>
        </p:nvSpPr>
        <p:spPr/>
        <p:txBody>
          <a:bodyPr vert="horz" wrap="square" lIns="91221" tIns="45610" rIns="91221" bIns="45610" anchor="t" anchorCtr="0"/>
          <a:p>
            <a:pPr eaLnBrk="1" hangingPunct="1">
              <a:lnSpc>
                <a:spcPct val="80000"/>
              </a:lnSpc>
              <a:buFont typeface="Wingdings" panose="05000000000000000000" pitchFamily="2" charset="2"/>
              <a:buChar char="p"/>
            </a:pPr>
            <a:r>
              <a:rPr lang="zh-CN" altLang="en-US" sz="2200" b="1" dirty="0"/>
              <a:t>名称</a:t>
            </a:r>
            <a:r>
              <a:rPr lang="zh-CN" altLang="en-US" sz="2200" dirty="0"/>
              <a:t>：文件名</a:t>
            </a:r>
            <a:endParaRPr lang="zh-CN" altLang="en-US" sz="2200" dirty="0"/>
          </a:p>
          <a:p>
            <a:pPr eaLnBrk="1" hangingPunct="1">
              <a:lnSpc>
                <a:spcPct val="80000"/>
              </a:lnSpc>
              <a:buFont typeface="Wingdings" panose="05000000000000000000" pitchFamily="2" charset="2"/>
              <a:buChar char="p"/>
            </a:pPr>
            <a:r>
              <a:rPr lang="zh-CN" altLang="en-US" sz="2200" b="1" dirty="0"/>
              <a:t>别名</a:t>
            </a:r>
            <a:r>
              <a:rPr lang="zh-CN" altLang="en-US" sz="2200" dirty="0"/>
              <a:t>：同数据流条目</a:t>
            </a:r>
            <a:endParaRPr lang="zh-CN" altLang="en-US" sz="2200" dirty="0"/>
          </a:p>
          <a:p>
            <a:pPr eaLnBrk="1" hangingPunct="1">
              <a:lnSpc>
                <a:spcPct val="80000"/>
              </a:lnSpc>
              <a:buFont typeface="Wingdings" panose="05000000000000000000" pitchFamily="2" charset="2"/>
              <a:buChar char="p"/>
            </a:pPr>
            <a:r>
              <a:rPr lang="zh-CN" altLang="en-US" sz="2200" b="1" dirty="0"/>
              <a:t>简述</a:t>
            </a:r>
            <a:r>
              <a:rPr lang="zh-CN" altLang="en-US" sz="2200" dirty="0"/>
              <a:t>：对文件的简单说明</a:t>
            </a:r>
            <a:endParaRPr lang="zh-CN" altLang="en-US" sz="2200" dirty="0"/>
          </a:p>
          <a:p>
            <a:pPr eaLnBrk="1" hangingPunct="1">
              <a:lnSpc>
                <a:spcPct val="80000"/>
              </a:lnSpc>
              <a:buFont typeface="Wingdings" panose="05000000000000000000" pitchFamily="2" charset="2"/>
              <a:buChar char="p"/>
            </a:pPr>
            <a:r>
              <a:rPr lang="zh-CN" altLang="en-US" sz="2200" b="1" dirty="0">
                <a:solidFill>
                  <a:srgbClr val="FF0000"/>
                </a:solidFill>
              </a:rPr>
              <a:t>文件组成</a:t>
            </a:r>
            <a:r>
              <a:rPr lang="zh-CN" altLang="en-US" sz="2200" dirty="0"/>
              <a:t>：描述文件的记录由哪些数据项组成</a:t>
            </a:r>
            <a:r>
              <a:rPr lang="en-US" altLang="zh-CN" sz="2200" dirty="0"/>
              <a:t>(</a:t>
            </a:r>
            <a:r>
              <a:rPr lang="zh-CN" altLang="en-US" sz="2200" dirty="0"/>
              <a:t>与数据流条目中的文件组成描述方法相同</a:t>
            </a:r>
            <a:r>
              <a:rPr lang="en-US" altLang="zh-CN" sz="2200" dirty="0"/>
              <a:t>)</a:t>
            </a:r>
            <a:endParaRPr lang="en-US" altLang="zh-CN" sz="2200" dirty="0"/>
          </a:p>
          <a:p>
            <a:pPr eaLnBrk="1" hangingPunct="1">
              <a:lnSpc>
                <a:spcPct val="80000"/>
              </a:lnSpc>
              <a:buFont typeface="Wingdings" panose="05000000000000000000" pitchFamily="2" charset="2"/>
              <a:buChar char="p"/>
            </a:pPr>
            <a:r>
              <a:rPr lang="zh-CN" altLang="en-US" sz="2200" b="1" dirty="0"/>
              <a:t>写文件的加工</a:t>
            </a:r>
            <a:r>
              <a:rPr lang="zh-CN" altLang="en-US" sz="2200" dirty="0"/>
              <a:t>：描述哪些加工写文件</a:t>
            </a:r>
            <a:endParaRPr lang="zh-CN" altLang="en-US" sz="2200" dirty="0"/>
          </a:p>
          <a:p>
            <a:pPr eaLnBrk="1" hangingPunct="1">
              <a:lnSpc>
                <a:spcPct val="80000"/>
              </a:lnSpc>
              <a:buFont typeface="Wingdings" panose="05000000000000000000" pitchFamily="2" charset="2"/>
              <a:buChar char="p"/>
            </a:pPr>
            <a:r>
              <a:rPr lang="zh-CN" altLang="en-US" sz="2200" b="1" dirty="0"/>
              <a:t>读文件的加工</a:t>
            </a:r>
            <a:r>
              <a:rPr lang="zh-CN" altLang="en-US" sz="2200" dirty="0"/>
              <a:t>：描述哪些加工读文件</a:t>
            </a:r>
            <a:endParaRPr lang="zh-CN" altLang="en-US" sz="2200" dirty="0"/>
          </a:p>
          <a:p>
            <a:pPr eaLnBrk="1" hangingPunct="1">
              <a:lnSpc>
                <a:spcPct val="80000"/>
              </a:lnSpc>
              <a:buFont typeface="Wingdings" panose="05000000000000000000" pitchFamily="2" charset="2"/>
              <a:buChar char="p"/>
            </a:pPr>
            <a:r>
              <a:rPr lang="zh-CN" altLang="en-US" sz="2200" b="1" dirty="0"/>
              <a:t>文件组织</a:t>
            </a:r>
            <a:r>
              <a:rPr lang="zh-CN" altLang="en-US" sz="2200" dirty="0"/>
              <a:t>：描述文件的存储方式</a:t>
            </a:r>
            <a:r>
              <a:rPr lang="en-US" altLang="zh-CN" sz="2200" dirty="0"/>
              <a:t>(</a:t>
            </a:r>
            <a:r>
              <a:rPr lang="zh-CN" altLang="en-US" sz="2200" dirty="0"/>
              <a:t>顺序、索引</a:t>
            </a:r>
            <a:r>
              <a:rPr lang="en-US" altLang="zh-CN" sz="2200" dirty="0"/>
              <a:t>)</a:t>
            </a:r>
            <a:r>
              <a:rPr lang="zh-CN" altLang="en-US" sz="2200" dirty="0"/>
              <a:t>，排序的关键字</a:t>
            </a:r>
            <a:endParaRPr lang="zh-CN" altLang="en-US" sz="2200" dirty="0"/>
          </a:p>
          <a:p>
            <a:pPr eaLnBrk="1" hangingPunct="1">
              <a:lnSpc>
                <a:spcPct val="80000"/>
              </a:lnSpc>
              <a:buFont typeface="Wingdings" panose="05000000000000000000" pitchFamily="2" charset="2"/>
              <a:buChar char="p"/>
            </a:pPr>
            <a:r>
              <a:rPr lang="zh-CN" altLang="en-US" sz="2200" b="1" dirty="0"/>
              <a:t>使用权限</a:t>
            </a:r>
            <a:r>
              <a:rPr lang="zh-CN" altLang="en-US" sz="2200" dirty="0"/>
              <a:t>：描述各类用户对文件读、写、修改的使用权限</a:t>
            </a:r>
            <a:endParaRPr lang="zh-CN" altLang="en-US" sz="2200" dirty="0"/>
          </a:p>
          <a:p>
            <a:pPr eaLnBrk="1" hangingPunct="1">
              <a:lnSpc>
                <a:spcPct val="80000"/>
              </a:lnSpc>
              <a:buFont typeface="Wingdings" panose="05000000000000000000" pitchFamily="2" charset="2"/>
              <a:buChar char="p"/>
            </a:pPr>
            <a:r>
              <a:rPr lang="zh-CN" altLang="en-US" sz="2200" b="1" dirty="0"/>
              <a:t>数据量</a:t>
            </a:r>
            <a:r>
              <a:rPr lang="zh-CN" altLang="en-US" sz="2200" dirty="0"/>
              <a:t>：文件的最大记录个数</a:t>
            </a:r>
            <a:endParaRPr lang="zh-CN" altLang="en-US" sz="2200" dirty="0"/>
          </a:p>
          <a:p>
            <a:pPr eaLnBrk="1" hangingPunct="1">
              <a:lnSpc>
                <a:spcPct val="80000"/>
              </a:lnSpc>
              <a:buFont typeface="Wingdings" panose="05000000000000000000" pitchFamily="2" charset="2"/>
              <a:buChar char="p"/>
            </a:pPr>
            <a:r>
              <a:rPr lang="zh-CN" altLang="en-US" sz="2200" b="1" dirty="0"/>
              <a:t>存取频率</a:t>
            </a:r>
            <a:r>
              <a:rPr lang="zh-CN" altLang="en-US" sz="2200" dirty="0"/>
              <a:t>：描述对该文件的读写频率</a:t>
            </a:r>
            <a:endParaRPr lang="zh-CN" altLang="en-US" sz="2200" dirty="0"/>
          </a:p>
          <a:p>
            <a:pPr eaLnBrk="1" hangingPunct="1">
              <a:lnSpc>
                <a:spcPct val="80000"/>
              </a:lnSpc>
              <a:buFont typeface="Wingdings" panose="05000000000000000000" pitchFamily="2" charset="2"/>
              <a:buChar char="p"/>
            </a:pPr>
            <a:r>
              <a:rPr lang="zh-CN" altLang="en-US" sz="2200" b="1" dirty="0"/>
              <a:t>注解</a:t>
            </a:r>
            <a:r>
              <a:rPr lang="zh-CN" altLang="en-US" sz="2200" dirty="0"/>
              <a:t>：对该文件的其它补充说明</a:t>
            </a:r>
            <a:endParaRPr lang="zh-CN" altLang="en-US" sz="2200" dirty="0"/>
          </a:p>
          <a:p>
            <a:pPr eaLnBrk="1" hangingPunct="1">
              <a:lnSpc>
                <a:spcPct val="80000"/>
              </a:lnSpc>
              <a:buFont typeface="Wingdings 2" panose="05020102010507070707" pitchFamily="18" charset="2"/>
              <a:buChar char=""/>
            </a:pPr>
            <a:endParaRPr lang="en-US" altLang="zh-CN"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数据项条目的描述内容</a:t>
            </a:r>
            <a:endParaRPr lang="zh-CN" altLang="en-US" b="1" dirty="0">
              <a:latin typeface="微软雅黑" panose="020B0503020204020204" pitchFamily="34" charset="-122"/>
              <a:ea typeface="微软雅黑" panose="020B0503020204020204" pitchFamily="34" charset="-122"/>
            </a:endParaRPr>
          </a:p>
        </p:txBody>
      </p:sp>
      <p:sp>
        <p:nvSpPr>
          <p:cNvPr id="40963" name="Rectangle 3"/>
          <p:cNvSpPr>
            <a:spLocks noGrp="1"/>
          </p:cNvSpPr>
          <p:nvPr>
            <p:ph idx="1"/>
          </p:nvPr>
        </p:nvSpPr>
        <p:spPr>
          <a:xfrm>
            <a:off x="455613" y="2235200"/>
            <a:ext cx="8207375" cy="4381500"/>
          </a:xfrm>
        </p:spPr>
        <p:txBody>
          <a:bodyPr vert="horz" wrap="square" lIns="91221" tIns="45610" rIns="91221" bIns="45610" anchor="t" anchorCtr="0"/>
          <a:p>
            <a:pPr eaLnBrk="1" hangingPunct="1">
              <a:lnSpc>
                <a:spcPct val="90000"/>
              </a:lnSpc>
              <a:buFont typeface="Wingdings" panose="05000000000000000000" pitchFamily="2" charset="2"/>
              <a:buChar char="p"/>
            </a:pPr>
            <a:r>
              <a:rPr lang="zh-CN" altLang="en-US" sz="2200" b="1" dirty="0"/>
              <a:t>名称</a:t>
            </a:r>
            <a:r>
              <a:rPr lang="zh-CN" altLang="en-US" sz="2200" dirty="0"/>
              <a:t>：数据项名</a:t>
            </a:r>
            <a:endParaRPr lang="zh-CN" altLang="en-US" sz="2200" dirty="0"/>
          </a:p>
          <a:p>
            <a:pPr eaLnBrk="1" hangingPunct="1">
              <a:lnSpc>
                <a:spcPct val="90000"/>
              </a:lnSpc>
              <a:buFont typeface="Wingdings" panose="05000000000000000000" pitchFamily="2" charset="2"/>
              <a:buChar char="p"/>
            </a:pPr>
            <a:r>
              <a:rPr lang="zh-CN" altLang="en-US" sz="2200" b="1" dirty="0"/>
              <a:t>别名</a:t>
            </a:r>
            <a:r>
              <a:rPr lang="zh-CN" altLang="en-US" sz="2200" dirty="0"/>
              <a:t>：同数据流条目</a:t>
            </a:r>
            <a:endParaRPr lang="zh-CN" altLang="en-US" sz="2200" dirty="0"/>
          </a:p>
          <a:p>
            <a:pPr eaLnBrk="1" hangingPunct="1">
              <a:lnSpc>
                <a:spcPct val="90000"/>
              </a:lnSpc>
              <a:buFont typeface="Wingdings" panose="05000000000000000000" pitchFamily="2" charset="2"/>
              <a:buChar char="p"/>
            </a:pPr>
            <a:r>
              <a:rPr lang="zh-CN" altLang="en-US" sz="2200" b="1" dirty="0"/>
              <a:t>简述</a:t>
            </a:r>
            <a:r>
              <a:rPr lang="zh-CN" altLang="en-US" sz="2200" dirty="0"/>
              <a:t>：对数据项的简单描述</a:t>
            </a:r>
            <a:endParaRPr lang="zh-CN" altLang="en-US" sz="2200" dirty="0"/>
          </a:p>
          <a:p>
            <a:pPr eaLnBrk="1" hangingPunct="1">
              <a:lnSpc>
                <a:spcPct val="90000"/>
              </a:lnSpc>
              <a:buFont typeface="Wingdings" panose="05000000000000000000" pitchFamily="2" charset="2"/>
              <a:buChar char="p"/>
            </a:pPr>
            <a:r>
              <a:rPr lang="zh-CN" altLang="en-US" sz="2200" b="1" dirty="0"/>
              <a:t>数据类型</a:t>
            </a:r>
            <a:r>
              <a:rPr lang="zh-CN" altLang="en-US" sz="2200" dirty="0"/>
              <a:t>：描述数据项的类型，如整型、实型、字符串等</a:t>
            </a:r>
            <a:endParaRPr lang="zh-CN" altLang="en-US" sz="2200" dirty="0"/>
          </a:p>
          <a:p>
            <a:pPr eaLnBrk="1" hangingPunct="1">
              <a:lnSpc>
                <a:spcPct val="90000"/>
              </a:lnSpc>
              <a:buFont typeface="Wingdings" panose="05000000000000000000" pitchFamily="2" charset="2"/>
              <a:buChar char="p"/>
            </a:pPr>
            <a:r>
              <a:rPr lang="zh-CN" altLang="en-US" sz="2200" b="1" dirty="0"/>
              <a:t>计量单位</a:t>
            </a:r>
            <a:r>
              <a:rPr lang="zh-CN" altLang="en-US" sz="2200" dirty="0"/>
              <a:t>：指明数据项值的计量单位，如公斤、吨等</a:t>
            </a:r>
            <a:endParaRPr lang="zh-CN" altLang="en-US" sz="2200" dirty="0"/>
          </a:p>
          <a:p>
            <a:pPr eaLnBrk="1" hangingPunct="1">
              <a:lnSpc>
                <a:spcPct val="90000"/>
              </a:lnSpc>
              <a:buFont typeface="Wingdings" panose="05000000000000000000" pitchFamily="2" charset="2"/>
              <a:buChar char="p"/>
            </a:pPr>
            <a:r>
              <a:rPr lang="zh-CN" altLang="en-US" sz="2200" b="1" dirty="0"/>
              <a:t>取值范围</a:t>
            </a:r>
            <a:r>
              <a:rPr lang="zh-CN" altLang="en-US" sz="2200" dirty="0"/>
              <a:t>：描述数据项允许的值域，如</a:t>
            </a:r>
            <a:r>
              <a:rPr lang="en-US" altLang="zh-CN" sz="2200" dirty="0"/>
              <a:t>1</a:t>
            </a:r>
            <a:r>
              <a:rPr lang="en-US" altLang="zh-CN" sz="2200" dirty="0">
                <a:latin typeface="Arial" panose="020B0604020202020204" pitchFamily="34" charset="0"/>
              </a:rPr>
              <a:t>…</a:t>
            </a:r>
            <a:r>
              <a:rPr lang="en-US" altLang="zh-CN" sz="2200" dirty="0"/>
              <a:t>100</a:t>
            </a:r>
            <a:endParaRPr lang="en-US" altLang="zh-CN" sz="2200" dirty="0"/>
          </a:p>
          <a:p>
            <a:pPr eaLnBrk="1" hangingPunct="1">
              <a:lnSpc>
                <a:spcPct val="90000"/>
              </a:lnSpc>
              <a:buFont typeface="Wingdings" panose="05000000000000000000" pitchFamily="2" charset="2"/>
              <a:buChar char="p"/>
            </a:pPr>
            <a:r>
              <a:rPr lang="zh-CN" altLang="en-US" sz="2200" b="1" dirty="0"/>
              <a:t>编辑方式</a:t>
            </a:r>
            <a:r>
              <a:rPr lang="zh-CN" altLang="en-US" sz="2200" dirty="0"/>
              <a:t>：描述该数据项外部表示的编辑方式，如</a:t>
            </a:r>
            <a:r>
              <a:rPr lang="en-US" altLang="zh-CN" sz="2200" dirty="0"/>
              <a:t>23,345.67</a:t>
            </a:r>
            <a:endParaRPr lang="en-US" altLang="zh-CN" sz="2200" dirty="0"/>
          </a:p>
          <a:p>
            <a:pPr eaLnBrk="1" hangingPunct="1">
              <a:lnSpc>
                <a:spcPct val="90000"/>
              </a:lnSpc>
              <a:buFont typeface="Wingdings" panose="05000000000000000000" pitchFamily="2" charset="2"/>
              <a:buChar char="p"/>
            </a:pPr>
            <a:r>
              <a:rPr lang="zh-CN" altLang="en-US" sz="2200" b="1" dirty="0"/>
              <a:t>与其它数据项的关系</a:t>
            </a:r>
            <a:r>
              <a:rPr lang="zh-CN" altLang="en-US" sz="2200" dirty="0"/>
              <a:t>：描述该数据项与数据字典中其它数据项的关系</a:t>
            </a:r>
            <a:endParaRPr lang="zh-CN" altLang="en-US" sz="2200" dirty="0"/>
          </a:p>
          <a:p>
            <a:pPr eaLnBrk="1" hangingPunct="1">
              <a:lnSpc>
                <a:spcPct val="90000"/>
              </a:lnSpc>
              <a:buFont typeface="Wingdings" panose="05000000000000000000" pitchFamily="2" charset="2"/>
              <a:buChar char="p"/>
            </a:pPr>
            <a:r>
              <a:rPr lang="zh-CN" altLang="en-US" sz="2200" b="1" dirty="0"/>
              <a:t>注解</a:t>
            </a:r>
            <a:r>
              <a:rPr lang="zh-CN" altLang="en-US" sz="2200" dirty="0"/>
              <a:t>：对数据项的其它补充说明</a:t>
            </a:r>
            <a:endParaRPr lang="zh-CN" altLang="en-US" sz="2200" dirty="0"/>
          </a:p>
          <a:p>
            <a:pPr eaLnBrk="1" hangingPunct="1">
              <a:lnSpc>
                <a:spcPct val="90000"/>
              </a:lnSpc>
              <a:buFont typeface="Wingdings 2" panose="05020102010507070707" pitchFamily="18" charset="2"/>
              <a:buChar char=""/>
            </a:pPr>
            <a:endParaRPr lang="en-US" altLang="zh-CN"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455613" y="455613"/>
            <a:ext cx="8207375"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加工条目的描述内容</a:t>
            </a:r>
            <a:endParaRPr lang="zh-CN" altLang="en-US" b="1" dirty="0">
              <a:latin typeface="微软雅黑" panose="020B0503020204020204" pitchFamily="34" charset="-122"/>
              <a:ea typeface="微软雅黑" panose="020B0503020204020204" pitchFamily="34" charset="-122"/>
            </a:endParaRPr>
          </a:p>
        </p:txBody>
      </p:sp>
      <p:sp>
        <p:nvSpPr>
          <p:cNvPr id="43011" name="Rectangle 3"/>
          <p:cNvSpPr>
            <a:spLocks noGrp="1"/>
          </p:cNvSpPr>
          <p:nvPr>
            <p:ph idx="1"/>
          </p:nvPr>
        </p:nvSpPr>
        <p:spPr>
          <a:xfrm>
            <a:off x="379413" y="1901825"/>
            <a:ext cx="8131175" cy="4714875"/>
          </a:xfrm>
        </p:spPr>
        <p:txBody>
          <a:bodyPr vert="horz" wrap="square" lIns="91221" tIns="45610" rIns="91221" bIns="45610" anchor="t" anchorCtr="0"/>
          <a:p>
            <a:pPr eaLnBrk="1" hangingPunct="1">
              <a:lnSpc>
                <a:spcPct val="80000"/>
              </a:lnSpc>
              <a:buFont typeface="Wingdings" panose="05000000000000000000" pitchFamily="2" charset="2"/>
              <a:buChar char="p"/>
            </a:pPr>
            <a:r>
              <a:rPr lang="zh-CN" altLang="en-US" sz="2000" b="1" dirty="0"/>
              <a:t>名称</a:t>
            </a:r>
            <a:r>
              <a:rPr lang="zh-CN" altLang="en-US" sz="2000" dirty="0"/>
              <a:t>：加工名</a:t>
            </a:r>
            <a:endParaRPr lang="zh-CN" altLang="en-US" sz="2000" dirty="0"/>
          </a:p>
          <a:p>
            <a:pPr eaLnBrk="1" hangingPunct="1">
              <a:lnSpc>
                <a:spcPct val="80000"/>
              </a:lnSpc>
              <a:buFont typeface="Wingdings" panose="05000000000000000000" pitchFamily="2" charset="2"/>
              <a:buChar char="p"/>
            </a:pPr>
            <a:r>
              <a:rPr lang="zh-CN" altLang="en-US" sz="2000" b="1" dirty="0"/>
              <a:t>别名</a:t>
            </a:r>
            <a:r>
              <a:rPr lang="zh-CN" altLang="en-US" sz="2000" dirty="0"/>
              <a:t>：同数据流条目</a:t>
            </a:r>
            <a:endParaRPr lang="zh-CN" altLang="en-US" sz="2000" dirty="0"/>
          </a:p>
          <a:p>
            <a:pPr eaLnBrk="1" hangingPunct="1">
              <a:lnSpc>
                <a:spcPct val="80000"/>
              </a:lnSpc>
              <a:buFont typeface="Wingdings" panose="05000000000000000000" pitchFamily="2" charset="2"/>
              <a:buChar char="p"/>
            </a:pPr>
            <a:r>
              <a:rPr lang="zh-CN" altLang="en-US" sz="2000" b="1" dirty="0"/>
              <a:t>加工号</a:t>
            </a:r>
            <a:r>
              <a:rPr lang="en-US" altLang="zh-CN" sz="2000" dirty="0"/>
              <a:t>: </a:t>
            </a:r>
            <a:r>
              <a:rPr lang="zh-CN" altLang="en-US" sz="2000" dirty="0"/>
              <a:t>加工在</a:t>
            </a:r>
            <a:r>
              <a:rPr lang="en-US" altLang="zh-CN" sz="2000" dirty="0"/>
              <a:t>DFD</a:t>
            </a:r>
            <a:r>
              <a:rPr lang="zh-CN" altLang="en-US" sz="2000" dirty="0"/>
              <a:t>中的编号</a:t>
            </a:r>
            <a:endParaRPr lang="zh-CN" altLang="en-US" sz="2000" dirty="0"/>
          </a:p>
          <a:p>
            <a:pPr eaLnBrk="1" hangingPunct="1">
              <a:lnSpc>
                <a:spcPct val="80000"/>
              </a:lnSpc>
              <a:buFont typeface="Wingdings" panose="05000000000000000000" pitchFamily="2" charset="2"/>
              <a:buChar char="p"/>
            </a:pPr>
            <a:r>
              <a:rPr lang="zh-CN" altLang="en-US" sz="2000" b="1" dirty="0"/>
              <a:t>简述</a:t>
            </a:r>
            <a:r>
              <a:rPr lang="zh-CN" altLang="en-US" sz="2000" dirty="0"/>
              <a:t>：对加工的功能的简要说明</a:t>
            </a:r>
            <a:endParaRPr lang="zh-CN" altLang="en-US" sz="2000" dirty="0"/>
          </a:p>
          <a:p>
            <a:pPr eaLnBrk="1" hangingPunct="1">
              <a:lnSpc>
                <a:spcPct val="80000"/>
              </a:lnSpc>
              <a:buFont typeface="Wingdings" panose="05000000000000000000" pitchFamily="2" charset="2"/>
              <a:buChar char="p"/>
            </a:pPr>
            <a:r>
              <a:rPr lang="zh-CN" altLang="en-US" sz="2000" b="1" dirty="0"/>
              <a:t>输入数据流</a:t>
            </a:r>
            <a:r>
              <a:rPr lang="zh-CN" altLang="en-US" sz="2000" dirty="0"/>
              <a:t>：描述加工的输入数据流，包括读哪些文件名</a:t>
            </a:r>
            <a:endParaRPr lang="zh-CN" altLang="en-US" sz="2000" dirty="0"/>
          </a:p>
          <a:p>
            <a:pPr eaLnBrk="1" hangingPunct="1">
              <a:lnSpc>
                <a:spcPct val="80000"/>
              </a:lnSpc>
              <a:buFont typeface="Wingdings" panose="05000000000000000000" pitchFamily="2" charset="2"/>
              <a:buChar char="p"/>
            </a:pPr>
            <a:r>
              <a:rPr lang="zh-CN" altLang="en-US" sz="2000" b="1" dirty="0"/>
              <a:t>输出数据流</a:t>
            </a:r>
            <a:r>
              <a:rPr lang="zh-CN" altLang="en-US" sz="2000" dirty="0"/>
              <a:t>：描述加工的输出数据流，包括写哪些文件名</a:t>
            </a:r>
            <a:endParaRPr lang="zh-CN" altLang="en-US" sz="2000" dirty="0"/>
          </a:p>
          <a:p>
            <a:pPr eaLnBrk="1" hangingPunct="1">
              <a:lnSpc>
                <a:spcPct val="80000"/>
              </a:lnSpc>
              <a:buFont typeface="Wingdings" panose="05000000000000000000" pitchFamily="2" charset="2"/>
              <a:buChar char="p"/>
            </a:pPr>
            <a:r>
              <a:rPr lang="zh-CN" altLang="en-US" sz="2000" b="1" dirty="0">
                <a:solidFill>
                  <a:srgbClr val="FF0000"/>
                </a:solidFill>
              </a:rPr>
              <a:t>加工逻辑</a:t>
            </a:r>
            <a:r>
              <a:rPr lang="zh-CN" altLang="en-US" sz="2000" dirty="0"/>
              <a:t>：简要描述加工逻辑，或者对加工规约的索引</a:t>
            </a:r>
            <a:endParaRPr lang="zh-CN" altLang="en-US" sz="2000" dirty="0"/>
          </a:p>
          <a:p>
            <a:pPr lvl="1" eaLnBrk="1" hangingPunct="1">
              <a:lnSpc>
                <a:spcPct val="80000"/>
              </a:lnSpc>
              <a:buFont typeface="Wingdings" panose="05000000000000000000" pitchFamily="2" charset="2"/>
              <a:buChar char="ü"/>
            </a:pPr>
            <a:r>
              <a:rPr lang="zh-CN" altLang="en-US" sz="1600" dirty="0"/>
              <a:t>基本加工的加工逻辑用小说明描述，在加工条目中可填写对加工规约的索引</a:t>
            </a:r>
            <a:endParaRPr lang="zh-CN" altLang="en-US" sz="1600" dirty="0"/>
          </a:p>
          <a:p>
            <a:pPr lvl="1" eaLnBrk="1" hangingPunct="1">
              <a:lnSpc>
                <a:spcPct val="80000"/>
              </a:lnSpc>
              <a:buFont typeface="Wingdings" panose="05000000000000000000" pitchFamily="2" charset="2"/>
              <a:buChar char="ü"/>
            </a:pPr>
            <a:r>
              <a:rPr lang="zh-CN" altLang="en-US" sz="1600" dirty="0"/>
              <a:t>非基本加工分解而成的</a:t>
            </a:r>
            <a:r>
              <a:rPr lang="en-US" altLang="zh-CN" sz="1600" dirty="0"/>
              <a:t>DFD</a:t>
            </a:r>
            <a:r>
              <a:rPr lang="zh-CN" altLang="en-US" sz="1600" dirty="0"/>
              <a:t>子图已反映了它的加工逻辑，不必书写小说明</a:t>
            </a:r>
            <a:endParaRPr lang="zh-CN" altLang="en-US" sz="1600" dirty="0"/>
          </a:p>
          <a:p>
            <a:pPr eaLnBrk="1" hangingPunct="1">
              <a:lnSpc>
                <a:spcPct val="80000"/>
              </a:lnSpc>
              <a:buFont typeface="Wingdings" panose="05000000000000000000" pitchFamily="2" charset="2"/>
              <a:buChar char="p"/>
            </a:pPr>
            <a:r>
              <a:rPr lang="zh-CN" altLang="en-US" sz="2000" b="1" dirty="0"/>
              <a:t>异常处理</a:t>
            </a:r>
            <a:r>
              <a:rPr lang="zh-CN" altLang="en-US" sz="2000" dirty="0"/>
              <a:t>：描述加工处理过程中可能出现的异常情况，及其处理方式</a:t>
            </a:r>
            <a:endParaRPr lang="zh-CN" altLang="en-US" sz="2000" dirty="0"/>
          </a:p>
          <a:p>
            <a:pPr eaLnBrk="1" hangingPunct="1">
              <a:lnSpc>
                <a:spcPct val="80000"/>
              </a:lnSpc>
              <a:buFont typeface="Wingdings" panose="05000000000000000000" pitchFamily="2" charset="2"/>
              <a:buChar char="p"/>
            </a:pPr>
            <a:r>
              <a:rPr lang="zh-CN" altLang="en-US" sz="2000" b="1" dirty="0"/>
              <a:t>加工激发条件</a:t>
            </a:r>
            <a:r>
              <a:rPr lang="zh-CN" altLang="en-US" sz="2000" dirty="0"/>
              <a:t>：描述执行加工的条件，如，</a:t>
            </a:r>
            <a:r>
              <a:rPr lang="zh-CN" altLang="en-US" sz="2000" dirty="0">
                <a:latin typeface="Arial" panose="020B0604020202020204" pitchFamily="34" charset="0"/>
              </a:rPr>
              <a:t>“</a:t>
            </a:r>
            <a:r>
              <a:rPr lang="zh-CN" altLang="en-US" sz="2000" dirty="0"/>
              <a:t>身份认证正确</a:t>
            </a:r>
            <a:r>
              <a:rPr lang="zh-CN" altLang="en-US" sz="2000" dirty="0">
                <a:latin typeface="Arial" panose="020B0604020202020204" pitchFamily="34" charset="0"/>
              </a:rPr>
              <a:t>”</a:t>
            </a:r>
            <a:r>
              <a:rPr lang="zh-CN" altLang="en-US" sz="2000" dirty="0"/>
              <a:t>，</a:t>
            </a:r>
            <a:r>
              <a:rPr lang="zh-CN" altLang="en-US" sz="2000" dirty="0">
                <a:latin typeface="Arial" panose="020B0604020202020204" pitchFamily="34" charset="0"/>
              </a:rPr>
              <a:t>“</a:t>
            </a:r>
            <a:r>
              <a:rPr lang="zh-CN" altLang="en-US" sz="2000" dirty="0"/>
              <a:t>收到报名单</a:t>
            </a:r>
            <a:r>
              <a:rPr lang="zh-CN" altLang="en-US" sz="2000" dirty="0">
                <a:latin typeface="Arial" panose="020B0604020202020204" pitchFamily="34" charset="0"/>
              </a:rPr>
              <a:t>”</a:t>
            </a:r>
            <a:endParaRPr lang="zh-CN" altLang="en-US" sz="2000" dirty="0"/>
          </a:p>
          <a:p>
            <a:pPr eaLnBrk="1" hangingPunct="1">
              <a:lnSpc>
                <a:spcPct val="80000"/>
              </a:lnSpc>
              <a:buFont typeface="Wingdings" panose="05000000000000000000" pitchFamily="2" charset="2"/>
              <a:buChar char="p"/>
            </a:pPr>
            <a:r>
              <a:rPr lang="zh-CN" altLang="en-US" sz="2000" b="1" dirty="0"/>
              <a:t>执行频率</a:t>
            </a:r>
            <a:r>
              <a:rPr lang="zh-CN" altLang="en-US" sz="2000" dirty="0"/>
              <a:t>：描述加工的执行频率，如，每月执行一次，每天</a:t>
            </a:r>
            <a:r>
              <a:rPr lang="en-US" altLang="zh-CN" sz="2000" dirty="0"/>
              <a:t>0</a:t>
            </a:r>
            <a:r>
              <a:rPr lang="zh-CN" altLang="en-US" sz="2000" dirty="0"/>
              <a:t>点执行</a:t>
            </a:r>
            <a:endParaRPr lang="zh-CN" altLang="en-US" sz="2000" dirty="0"/>
          </a:p>
          <a:p>
            <a:pPr eaLnBrk="1" hangingPunct="1">
              <a:lnSpc>
                <a:spcPct val="80000"/>
              </a:lnSpc>
              <a:buFont typeface="Wingdings" panose="05000000000000000000" pitchFamily="2" charset="2"/>
              <a:buChar char="p"/>
            </a:pPr>
            <a:r>
              <a:rPr lang="zh-CN" altLang="en-US" sz="2000" b="1" dirty="0"/>
              <a:t>注解</a:t>
            </a:r>
            <a:r>
              <a:rPr lang="zh-CN" altLang="en-US" sz="2000" dirty="0"/>
              <a:t>：对加工的其它补充说明</a:t>
            </a:r>
            <a:endParaRPr lang="zh-CN" altLang="en-US" sz="2000" dirty="0"/>
          </a:p>
          <a:p>
            <a:pPr eaLnBrk="1" hangingPunct="1">
              <a:lnSpc>
                <a:spcPct val="80000"/>
              </a:lnSpc>
              <a:buFont typeface="Wingdings 2" panose="05020102010507070707" pitchFamily="18" charset="2"/>
              <a:buChar char=""/>
            </a:pPr>
            <a:endParaRPr lang="en-US" altLang="zh-CN"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455613" y="381000"/>
            <a:ext cx="8207375" cy="1139825"/>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源或宿条目的描述内容</a:t>
            </a:r>
            <a:endParaRPr lang="zh-CN" altLang="en-US" b="1" dirty="0">
              <a:latin typeface="微软雅黑" panose="020B0503020204020204" pitchFamily="34" charset="-122"/>
              <a:ea typeface="微软雅黑" panose="020B0503020204020204" pitchFamily="34" charset="-122"/>
            </a:endParaRPr>
          </a:p>
        </p:txBody>
      </p:sp>
      <p:sp>
        <p:nvSpPr>
          <p:cNvPr id="45059" name="Rectangle 3"/>
          <p:cNvSpPr>
            <a:spLocks noGrp="1"/>
          </p:cNvSpPr>
          <p:nvPr>
            <p:ph idx="1"/>
          </p:nvPr>
        </p:nvSpPr>
        <p:spPr>
          <a:xfrm>
            <a:off x="379413" y="1749425"/>
            <a:ext cx="8054975" cy="4714875"/>
          </a:xfrm>
        </p:spPr>
        <p:txBody>
          <a:bodyPr vert="horz" wrap="square" lIns="91221" tIns="45610" rIns="91221" bIns="45610" anchor="t" anchorCtr="0"/>
          <a:p>
            <a:pPr eaLnBrk="1" hangingPunct="1">
              <a:buFont typeface="Wingdings" panose="05000000000000000000" pitchFamily="2" charset="2"/>
              <a:buChar char="p"/>
            </a:pPr>
            <a:r>
              <a:rPr lang="zh-CN" altLang="en-US" sz="2800" b="1" dirty="0"/>
              <a:t>名称</a:t>
            </a:r>
            <a:r>
              <a:rPr lang="zh-CN" altLang="en-US" sz="2800" dirty="0"/>
              <a:t>：源或宿的名</a:t>
            </a:r>
            <a:r>
              <a:rPr lang="en-US" altLang="zh-CN" sz="2800" dirty="0"/>
              <a:t>(</a:t>
            </a:r>
            <a:r>
              <a:rPr lang="zh-CN" altLang="en-US" sz="2800" dirty="0"/>
              <a:t>外部实体名</a:t>
            </a:r>
            <a:r>
              <a:rPr lang="en-US" altLang="zh-CN" sz="2800" dirty="0"/>
              <a:t>)</a:t>
            </a:r>
            <a:endParaRPr lang="en-US" altLang="zh-CN" sz="2800" dirty="0"/>
          </a:p>
          <a:p>
            <a:pPr eaLnBrk="1" hangingPunct="1">
              <a:buFont typeface="Wingdings" panose="05000000000000000000" pitchFamily="2" charset="2"/>
              <a:buChar char="p"/>
            </a:pPr>
            <a:r>
              <a:rPr lang="zh-CN" altLang="en-US" sz="2800" b="1" dirty="0"/>
              <a:t>别名</a:t>
            </a:r>
            <a:r>
              <a:rPr lang="zh-CN" altLang="en-US" sz="2800" dirty="0"/>
              <a:t>：同数据流条目</a:t>
            </a:r>
            <a:endParaRPr lang="zh-CN" altLang="en-US" sz="2800" dirty="0"/>
          </a:p>
          <a:p>
            <a:pPr eaLnBrk="1" hangingPunct="1">
              <a:buFont typeface="Wingdings" panose="05000000000000000000" pitchFamily="2" charset="2"/>
              <a:buChar char="p"/>
            </a:pPr>
            <a:r>
              <a:rPr lang="zh-CN" altLang="en-US" sz="2800" b="1" dirty="0"/>
              <a:t>简要描述</a:t>
            </a:r>
            <a:r>
              <a:rPr lang="zh-CN" altLang="en-US" sz="2800" dirty="0"/>
              <a:t>：对源或宿的简要描述</a:t>
            </a:r>
            <a:r>
              <a:rPr lang="en-US" altLang="zh-CN" sz="2800" dirty="0"/>
              <a:t>(</a:t>
            </a:r>
            <a:r>
              <a:rPr lang="zh-CN" altLang="en-US" sz="2800" dirty="0"/>
              <a:t>包括指明该外部实体在</a:t>
            </a:r>
            <a:r>
              <a:rPr lang="en-US" altLang="zh-CN" sz="2800" dirty="0"/>
              <a:t>DFD</a:t>
            </a:r>
            <a:r>
              <a:rPr lang="zh-CN" altLang="en-US" sz="2800" dirty="0"/>
              <a:t>中是用作</a:t>
            </a:r>
            <a:r>
              <a:rPr lang="zh-CN" altLang="en-US" sz="2800" dirty="0">
                <a:latin typeface="Arial" panose="020B0604020202020204" pitchFamily="34" charset="0"/>
              </a:rPr>
              <a:t>“</a:t>
            </a:r>
            <a:r>
              <a:rPr lang="zh-CN" altLang="en-US" sz="2800" dirty="0"/>
              <a:t>源</a:t>
            </a:r>
            <a:r>
              <a:rPr lang="zh-CN" altLang="en-US" sz="2800" dirty="0">
                <a:latin typeface="Arial" panose="020B0604020202020204" pitchFamily="34" charset="0"/>
              </a:rPr>
              <a:t>”</a:t>
            </a:r>
            <a:r>
              <a:rPr lang="zh-CN" altLang="en-US" sz="2800" dirty="0"/>
              <a:t>，还是</a:t>
            </a:r>
            <a:r>
              <a:rPr lang="zh-CN" altLang="en-US" sz="2800" dirty="0">
                <a:latin typeface="Arial" panose="020B0604020202020204" pitchFamily="34" charset="0"/>
              </a:rPr>
              <a:t>“</a:t>
            </a:r>
            <a:r>
              <a:rPr lang="zh-CN" altLang="en-US" sz="2800" dirty="0"/>
              <a:t>宿</a:t>
            </a:r>
            <a:r>
              <a:rPr lang="zh-CN" altLang="en-US" sz="2800" dirty="0">
                <a:latin typeface="Arial" panose="020B0604020202020204" pitchFamily="34" charset="0"/>
              </a:rPr>
              <a:t>”</a:t>
            </a:r>
            <a:r>
              <a:rPr lang="zh-CN" altLang="en-US" sz="2800" dirty="0"/>
              <a:t>，还是</a:t>
            </a:r>
            <a:r>
              <a:rPr lang="zh-CN" altLang="en-US" sz="2800" dirty="0">
                <a:latin typeface="Arial" panose="020B0604020202020204" pitchFamily="34" charset="0"/>
              </a:rPr>
              <a:t>“</a:t>
            </a:r>
            <a:r>
              <a:rPr lang="zh-CN" altLang="en-US" sz="2800" dirty="0"/>
              <a:t>既是源又是宿</a:t>
            </a:r>
            <a:r>
              <a:rPr lang="zh-CN" altLang="en-US" sz="2800" dirty="0">
                <a:latin typeface="Arial" panose="020B0604020202020204" pitchFamily="34" charset="0"/>
              </a:rPr>
              <a:t>”</a:t>
            </a:r>
            <a:r>
              <a:rPr lang="en-US" altLang="zh-CN" sz="2800" dirty="0"/>
              <a:t>)</a:t>
            </a:r>
            <a:endParaRPr lang="en-US" altLang="zh-CN" sz="2800" dirty="0"/>
          </a:p>
          <a:p>
            <a:pPr eaLnBrk="1" hangingPunct="1">
              <a:buFont typeface="Wingdings" panose="05000000000000000000" pitchFamily="2" charset="2"/>
              <a:buChar char="p"/>
            </a:pPr>
            <a:r>
              <a:rPr lang="zh-CN" altLang="en-US" sz="2800" b="1" dirty="0"/>
              <a:t>输入数据流</a:t>
            </a:r>
            <a:r>
              <a:rPr lang="zh-CN" altLang="en-US" sz="2800" dirty="0"/>
              <a:t>：描述源向系统提供哪些输入数据流</a:t>
            </a:r>
            <a:endParaRPr lang="zh-CN" altLang="en-US" sz="2800" dirty="0"/>
          </a:p>
          <a:p>
            <a:pPr eaLnBrk="1" hangingPunct="1">
              <a:buFont typeface="Wingdings" panose="05000000000000000000" pitchFamily="2" charset="2"/>
              <a:buChar char="p"/>
            </a:pPr>
            <a:r>
              <a:rPr lang="zh-CN" altLang="en-US" sz="2800" b="1" dirty="0"/>
              <a:t>输出数据流</a:t>
            </a:r>
            <a:r>
              <a:rPr lang="zh-CN" altLang="en-US" sz="2800" dirty="0"/>
              <a:t>：描述系统向宿提供哪些输出数据流</a:t>
            </a:r>
            <a:endParaRPr lang="zh-CN" altLang="en-US" sz="2800" dirty="0"/>
          </a:p>
          <a:p>
            <a:pPr eaLnBrk="1" hangingPunct="1">
              <a:buFont typeface="Wingdings" panose="05000000000000000000" pitchFamily="2" charset="2"/>
              <a:buChar char="p"/>
            </a:pPr>
            <a:r>
              <a:rPr lang="zh-CN" altLang="en-US" sz="2800" b="1" dirty="0"/>
              <a:t>注解</a:t>
            </a:r>
            <a:r>
              <a:rPr lang="zh-CN" altLang="en-US" sz="2800" dirty="0"/>
              <a:t>：对源或宿的其它补充说明</a:t>
            </a:r>
            <a:endParaRPr lang="zh-CN" altLang="en-US" sz="2800" dirty="0"/>
          </a:p>
          <a:p>
            <a:pPr eaLnBrk="1" hangingPunct="1">
              <a:buFont typeface="Wingdings 2" panose="05020102010507070707" pitchFamily="18" charset="2"/>
              <a:buChar char=""/>
            </a:pPr>
            <a:endParaRPr lang="en-US" altLang="zh-CN"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455613" y="531813"/>
            <a:ext cx="8207375"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加工逻辑的描述方法</a:t>
            </a:r>
            <a:endParaRPr lang="zh-CN" altLang="en-US" b="1" dirty="0">
              <a:latin typeface="微软雅黑" panose="020B0503020204020204" pitchFamily="34" charset="-122"/>
              <a:ea typeface="微软雅黑" panose="020B0503020204020204" pitchFamily="34" charset="-122"/>
            </a:endParaRPr>
          </a:p>
        </p:txBody>
      </p:sp>
      <p:sp>
        <p:nvSpPr>
          <p:cNvPr id="47107" name="Rectangle 3"/>
          <p:cNvSpPr>
            <a:spLocks noGrp="1"/>
          </p:cNvSpPr>
          <p:nvPr>
            <p:ph idx="1"/>
          </p:nvPr>
        </p:nvSpPr>
        <p:spPr/>
        <p:txBody>
          <a:bodyPr vert="horz" wrap="square" lIns="91221" tIns="45610" rIns="91221" bIns="45610" anchor="t" anchorCtr="0"/>
          <a:p>
            <a:pPr eaLnBrk="1" hangingPunct="1">
              <a:buFont typeface="Wingdings" panose="05000000000000000000" pitchFamily="2" charset="2"/>
              <a:buChar char="p"/>
            </a:pPr>
            <a:r>
              <a:rPr lang="zh-CN" altLang="en-US" b="1" dirty="0"/>
              <a:t>结构化语言</a:t>
            </a:r>
            <a:r>
              <a:rPr lang="zh-CN" altLang="en-US" dirty="0"/>
              <a:t>：介于自然语言和形式语言之间的一种半形式语言</a:t>
            </a:r>
            <a:endParaRPr lang="zh-CN" altLang="en-US" dirty="0"/>
          </a:p>
          <a:p>
            <a:pPr eaLnBrk="1" hangingPunct="1">
              <a:buFont typeface="Wingdings" panose="05000000000000000000" pitchFamily="2" charset="2"/>
              <a:buChar char="p"/>
            </a:pPr>
            <a:r>
              <a:rPr lang="zh-CN" altLang="en-US" b="1" dirty="0"/>
              <a:t>判定表</a:t>
            </a:r>
            <a:r>
              <a:rPr lang="zh-CN" altLang="en-US" dirty="0"/>
              <a:t>：适用于加工逻辑包含多个条件，而不同的条件组合需做不同的动作</a:t>
            </a:r>
            <a:endParaRPr lang="zh-CN" altLang="en-US" dirty="0"/>
          </a:p>
          <a:p>
            <a:pPr eaLnBrk="1" hangingPunct="1">
              <a:buFont typeface="Wingdings" panose="05000000000000000000" pitchFamily="2" charset="2"/>
              <a:buChar char="p"/>
            </a:pPr>
            <a:r>
              <a:rPr lang="zh-CN" altLang="en-US" b="1" dirty="0"/>
              <a:t>判定树</a:t>
            </a:r>
            <a:r>
              <a:rPr lang="zh-CN" altLang="en-US" dirty="0"/>
              <a:t>：判定表的变种，它本质上与判定表是相同的，只是表示形式不同</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455613" y="455613"/>
            <a:ext cx="8207375" cy="1141412"/>
          </a:xfrm>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结构化语言</a:t>
            </a:r>
            <a:endParaRPr lang="zh-CN" altLang="en-US" b="1" dirty="0">
              <a:latin typeface="微软雅黑" panose="020B0503020204020204" pitchFamily="34" charset="-122"/>
              <a:ea typeface="微软雅黑" panose="020B0503020204020204" pitchFamily="34" charset="-122"/>
            </a:endParaRPr>
          </a:p>
        </p:txBody>
      </p:sp>
      <p:sp>
        <p:nvSpPr>
          <p:cNvPr id="49155" name="Rectangle 3"/>
          <p:cNvSpPr>
            <a:spLocks noGrp="1"/>
          </p:cNvSpPr>
          <p:nvPr>
            <p:ph idx="1"/>
          </p:nvPr>
        </p:nvSpPr>
        <p:spPr/>
        <p:txBody>
          <a:bodyPr vert="horz" wrap="square" lIns="91221" tIns="45610" rIns="91221" bIns="45610" anchor="t" anchorCtr="0"/>
          <a:p>
            <a:pPr eaLnBrk="1" hangingPunct="1">
              <a:buFont typeface="Wingdings" panose="05000000000000000000" pitchFamily="2" charset="2"/>
              <a:buChar char="p"/>
            </a:pPr>
            <a:r>
              <a:rPr lang="zh-CN" altLang="en-US" dirty="0"/>
              <a:t>没有严格的语法</a:t>
            </a:r>
            <a:endParaRPr lang="zh-CN" altLang="en-US" dirty="0"/>
          </a:p>
          <a:p>
            <a:pPr eaLnBrk="1" hangingPunct="1">
              <a:buFont typeface="Wingdings" panose="05000000000000000000" pitchFamily="2" charset="2"/>
              <a:buChar char="p"/>
            </a:pPr>
            <a:r>
              <a:rPr lang="zh-CN" altLang="en-US" dirty="0"/>
              <a:t>加工规约分为若干个段落，每个段落可分为内外两层：</a:t>
            </a:r>
            <a:endParaRPr lang="zh-CN" altLang="en-US" dirty="0"/>
          </a:p>
          <a:p>
            <a:pPr lvl="1" eaLnBrk="1" hangingPunct="1">
              <a:buFont typeface="Wingdings" panose="05000000000000000000" pitchFamily="2" charset="2"/>
              <a:buChar char="ü"/>
            </a:pPr>
            <a:r>
              <a:rPr lang="zh-CN" altLang="en-US" dirty="0"/>
              <a:t>外层有严格的语法来描述它的控制结构</a:t>
            </a:r>
            <a:endParaRPr lang="zh-CN" altLang="en-US" dirty="0"/>
          </a:p>
          <a:p>
            <a:pPr lvl="2" eaLnBrk="1" hangingPunct="1">
              <a:buFont typeface="Wingdings" panose="05000000000000000000" pitchFamily="2" charset="2"/>
              <a:buChar char="l"/>
            </a:pPr>
            <a:r>
              <a:rPr lang="zh-CN" altLang="en-US" dirty="0"/>
              <a:t>如结构化英语中可使用</a:t>
            </a:r>
            <a:r>
              <a:rPr lang="en-US" altLang="zh-CN" dirty="0"/>
              <a:t>if_then_else</a:t>
            </a:r>
            <a:r>
              <a:rPr lang="zh-CN" altLang="en-US" dirty="0"/>
              <a:t>、</a:t>
            </a:r>
            <a:r>
              <a:rPr lang="en-US" altLang="zh-CN" dirty="0"/>
              <a:t>while_do</a:t>
            </a:r>
            <a:r>
              <a:rPr lang="zh-CN" altLang="en-US" dirty="0"/>
              <a:t>、</a:t>
            </a:r>
            <a:r>
              <a:rPr lang="en-US" altLang="zh-CN" dirty="0"/>
              <a:t>repeat_until</a:t>
            </a:r>
            <a:r>
              <a:rPr lang="zh-CN" altLang="en-US" dirty="0"/>
              <a:t>、</a:t>
            </a:r>
            <a:r>
              <a:rPr lang="en-US" altLang="zh-CN" dirty="0"/>
              <a:t>for_do</a:t>
            </a:r>
            <a:r>
              <a:rPr lang="zh-CN" altLang="en-US" dirty="0"/>
              <a:t>、</a:t>
            </a:r>
            <a:r>
              <a:rPr lang="en-US" altLang="zh-CN" dirty="0"/>
              <a:t>case</a:t>
            </a:r>
            <a:r>
              <a:rPr lang="zh-CN" altLang="en-US" dirty="0"/>
              <a:t>等结构</a:t>
            </a:r>
            <a:endParaRPr lang="zh-CN" altLang="en-US" dirty="0"/>
          </a:p>
          <a:p>
            <a:pPr lvl="1" eaLnBrk="1" hangingPunct="1">
              <a:buFont typeface="Wingdings" panose="05000000000000000000" pitchFamily="2" charset="2"/>
              <a:buChar char="ü"/>
            </a:pPr>
            <a:r>
              <a:rPr lang="zh-CN" altLang="en-US" dirty="0"/>
              <a:t>内层可以用自然语言来描述</a:t>
            </a:r>
            <a:endParaRPr lang="zh-CN" altLang="en-US" dirty="0"/>
          </a:p>
          <a:p>
            <a:pPr eaLnBrk="1" hangingPunct="1">
              <a:buFont typeface="Wingdings" panose="05000000000000000000" pitchFamily="2" charset="2"/>
              <a:buChar char="p"/>
            </a:pPr>
            <a:r>
              <a:rPr lang="zh-CN" altLang="en-US" dirty="0"/>
              <a:t>允许使用嵌套结构</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455613" y="912813"/>
            <a:ext cx="8207375" cy="1141412"/>
          </a:xfrm>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计算信用度”的结构化英语描述</a:t>
            </a:r>
            <a:endParaRPr lang="zh-CN" altLang="en-US" b="1" dirty="0">
              <a:latin typeface="微软雅黑" panose="020B0503020204020204" pitchFamily="34" charset="-122"/>
              <a:ea typeface="微软雅黑" panose="020B0503020204020204" pitchFamily="34" charset="-122"/>
            </a:endParaRPr>
          </a:p>
        </p:txBody>
      </p:sp>
      <p:sp>
        <p:nvSpPr>
          <p:cNvPr id="51203" name="Rectangle 4"/>
          <p:cNvSpPr/>
          <p:nvPr/>
        </p:nvSpPr>
        <p:spPr>
          <a:xfrm>
            <a:off x="0" y="2198688"/>
            <a:ext cx="9301163" cy="4092575"/>
          </a:xfrm>
          <a:prstGeom prst="rect">
            <a:avLst/>
          </a:prstGeom>
          <a:noFill/>
          <a:ln w="9525">
            <a:noFill/>
          </a:ln>
        </p:spPr>
        <p:txBody>
          <a:bodyPr wrap="none" lIns="91221" tIns="45610" rIns="91221" bIns="4561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Case 1 </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No Bounced</a:t>
            </a:r>
            <a:r>
              <a:rPr lang="zh-CN" altLang="en-CA"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Checks in Customer Record</a:t>
            </a:r>
            <a:r>
              <a:rPr lang="en-CA" altLang="zh-CN" sz="2000" dirty="0">
                <a:latin typeface="黑体" panose="02010609060101010101" pitchFamily="49" charset="-122"/>
                <a:ea typeface="黑体" panose="02010609060101010101" pitchFamily="49" charset="-122"/>
              </a:rPr>
              <a:t>)</a:t>
            </a:r>
            <a:r>
              <a:rPr lang="zh-CN" altLang="en-CA" sz="2000" dirty="0">
                <a:latin typeface="黑体" panose="02010609060101010101" pitchFamily="49" charset="-122"/>
                <a:ea typeface="黑体" panose="02010609060101010101" pitchFamily="49" charset="-122"/>
              </a:rPr>
              <a:t>：</a:t>
            </a:r>
            <a:endParaRPr lang="zh-CN" altLang="en-CA"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Write Exemplary</a:t>
            </a:r>
            <a:r>
              <a:rPr lang="zh-CN" altLang="en-CA"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Customer</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Citation to Annual</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Summary.</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Case 2 </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One Bounced</a:t>
            </a:r>
            <a:r>
              <a:rPr lang="zh-CN" altLang="en-CA"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check</a:t>
            </a:r>
            <a:r>
              <a:rPr lang="en-CA" altLang="zh-CN" sz="2000" dirty="0">
                <a:latin typeface="黑体" panose="02010609060101010101" pitchFamily="49" charset="-122"/>
                <a:ea typeface="黑体" panose="02010609060101010101" pitchFamily="49" charset="-122"/>
              </a:rPr>
              <a:t>)</a:t>
            </a:r>
            <a:r>
              <a:rPr lang="zh-CN" altLang="en-CA" sz="2000" dirty="0">
                <a:latin typeface="黑体" panose="02010609060101010101" pitchFamily="49" charset="-122"/>
                <a:ea typeface="黑体" panose="02010609060101010101" pitchFamily="49" charset="-122"/>
              </a:rPr>
              <a:t>：</a:t>
            </a:r>
            <a:endParaRPr lang="zh-CN" altLang="en-CA"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If Yearly</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Average</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Balance exceeds $ 1000.</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Remove Bounced</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Check from Customer</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Record.</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Otherwise.</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Recuce Credit</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Limit by 10%.</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Case 3 </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Multiple Bounced</a:t>
            </a:r>
            <a:r>
              <a:rPr lang="zh-CN" altLang="en-CA"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Checks</a:t>
            </a:r>
            <a:r>
              <a:rPr lang="en-CA" altLang="zh-CN" sz="2000" dirty="0">
                <a:latin typeface="黑体" panose="02010609060101010101" pitchFamily="49" charset="-122"/>
                <a:ea typeface="黑体" panose="02010609060101010101" pitchFamily="49" charset="-122"/>
              </a:rPr>
              <a:t>)</a:t>
            </a:r>
            <a:r>
              <a:rPr lang="zh-CN" altLang="en-CA" sz="2000" dirty="0">
                <a:latin typeface="黑体" panose="02010609060101010101" pitchFamily="49" charset="-122"/>
                <a:ea typeface="黑体" panose="02010609060101010101" pitchFamily="49" charset="-122"/>
              </a:rPr>
              <a:t>：</a:t>
            </a:r>
            <a:endParaRPr lang="zh-CN" altLang="en-CA"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For each Bounced</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Check.</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Recuce Credit</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Limit by 15%.</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Set Credit</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Rating to Deadbeat.</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Write Scathing</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Comment to Annual</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Summary.</a:t>
            </a:r>
            <a:endParaRPr lang="en-US" altLang="zh-CN" sz="2000" dirty="0">
              <a:latin typeface="黑体" panose="02010609060101010101" pitchFamily="49" charset="-122"/>
              <a:ea typeface="黑体" panose="02010609060101010101" pitchFamily="49" charset="-122"/>
            </a:endParaRPr>
          </a:p>
          <a:p>
            <a:pPr marL="0" lvl="0" indent="265430" eaLnBrk="1" hangingPunct="1">
              <a:spcBef>
                <a:spcPct val="0"/>
              </a:spcBef>
              <a:buClrTx/>
              <a:buSzTx/>
              <a:buFont typeface="Wingdings" panose="05000000000000000000" pitchFamily="2" charset="2"/>
              <a:buNone/>
            </a:pPr>
            <a:r>
              <a:rPr lang="en-US" altLang="zh-CN" sz="2000" dirty="0">
                <a:latin typeface="黑体" panose="02010609060101010101" pitchFamily="49" charset="-122"/>
                <a:ea typeface="黑体" panose="02010609060101010101" pitchFamily="49" charset="-122"/>
              </a:rPr>
              <a:t>            Write Customer</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Name</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and</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Address to IRS</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Enemies</a:t>
            </a:r>
            <a:r>
              <a:rPr lang="en-CA" altLang="zh-CN"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List.</a:t>
            </a:r>
            <a:endParaRPr lang="en-US" altLang="zh-CN" sz="2000" dirty="0">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4818" name="对象 1"/>
          <p:cNvGraphicFramePr>
            <a:graphicFrameLocks noChangeAspect="1"/>
          </p:cNvGraphicFramePr>
          <p:nvPr/>
        </p:nvGraphicFramePr>
        <p:xfrm>
          <a:off x="682312" y="1268065"/>
          <a:ext cx="7826798" cy="5463244"/>
        </p:xfrm>
        <a:graphic>
          <a:graphicData uri="http://schemas.openxmlformats.org/presentationml/2006/ole">
            <mc:AlternateContent xmlns:mc="http://schemas.openxmlformats.org/markup-compatibility/2006">
              <mc:Choice xmlns:v="urn:schemas-microsoft-com:vml" Requires="v">
                <p:oleObj spid="_x0000_s3079" name="" r:id="rId1" imgW="9652000" imgH="6261100" progId="Visio.Drawing.11">
                  <p:embed/>
                </p:oleObj>
              </mc:Choice>
              <mc:Fallback>
                <p:oleObj name="" r:id="rId1" imgW="9652000" imgH="6261100" progId="Visio.Drawing.11">
                  <p:embed/>
                  <p:pic>
                    <p:nvPicPr>
                      <p:cNvPr id="0" name="图片 3078"/>
                      <p:cNvPicPr/>
                      <p:nvPr/>
                    </p:nvPicPr>
                    <p:blipFill>
                      <a:blip r:embed="rId2"/>
                      <a:stretch>
                        <a:fillRect/>
                      </a:stretch>
                    </p:blipFill>
                    <p:spPr>
                      <a:xfrm>
                        <a:off x="682312" y="1268065"/>
                        <a:ext cx="7826798" cy="5463244"/>
                      </a:xfrm>
                      <a:prstGeom prst="rect">
                        <a:avLst/>
                      </a:prstGeom>
                      <a:noFill/>
                      <a:ln w="38100">
                        <a:noFill/>
                        <a:miter/>
                      </a:ln>
                    </p:spPr>
                  </p:pic>
                </p:oleObj>
              </mc:Fallback>
            </mc:AlternateContent>
          </a:graphicData>
        </a:graphic>
      </p:graphicFrame>
      <p:sp>
        <p:nvSpPr>
          <p:cNvPr id="34819" name="标题 1"/>
          <p:cNvSpPr>
            <a:spLocks noGrp="1"/>
          </p:cNvSpPr>
          <p:nvPr>
            <p:ph type="title"/>
          </p:nvPr>
        </p:nvSpPr>
        <p:spPr>
          <a:xfrm>
            <a:off x="394190" y="118741"/>
            <a:ext cx="8206740" cy="1139825"/>
          </a:xfrm>
        </p:spPr>
        <p:txBody>
          <a:bodyPr vert="horz" wrap="square" lIns="0" tIns="45593"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34820" name="Rectangle 2"/>
          <p:cNvSpPr/>
          <p:nvPr/>
        </p:nvSpPr>
        <p:spPr>
          <a:xfrm>
            <a:off x="0" y="-227012"/>
            <a:ext cx="309880" cy="460375"/>
          </a:xfrm>
          <a:prstGeom prst="rect">
            <a:avLst/>
          </a:prstGeom>
          <a:noFill/>
          <a:ln w="9525">
            <a:noFill/>
          </a:ln>
        </p:spPr>
        <p:txBody>
          <a:bodyPr wrap="none" anchor="ctr" anchorCtr="0">
            <a:spAutoFit/>
          </a:bodyPr>
          <a:p>
            <a:endParaRPr lang="zh-CN" altLang="en-US" sz="2395" dirty="0">
              <a:solidFill>
                <a:srgbClr val="000000"/>
              </a:solidFill>
              <a:latin typeface="Arial" panose="020B0604020202020204" pitchFamily="34" charset="0"/>
            </a:endParaRPr>
          </a:p>
        </p:txBody>
      </p:sp>
      <p:cxnSp>
        <p:nvCxnSpPr>
          <p:cNvPr id="3" name="直接箭头连接符 2"/>
          <p:cNvCxnSpPr/>
          <p:nvPr/>
        </p:nvCxnSpPr>
        <p:spPr>
          <a:xfrm>
            <a:off x="4671700" y="1777820"/>
            <a:ext cx="2811568" cy="4483312"/>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471160" y="1521359"/>
            <a:ext cx="2811568" cy="4483312"/>
          </a:xfrm>
          <a:prstGeom prst="straightConnector1">
            <a:avLst/>
          </a:prstGeom>
          <a:ln w="349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4824" name="文本框 3"/>
          <p:cNvSpPr txBox="1"/>
          <p:nvPr/>
        </p:nvSpPr>
        <p:spPr>
          <a:xfrm>
            <a:off x="5965084" y="4000478"/>
            <a:ext cx="1443778" cy="829945"/>
          </a:xfrm>
          <a:prstGeom prst="rect">
            <a:avLst/>
          </a:prstGeom>
          <a:noFill/>
          <a:ln w="9525">
            <a:noFill/>
          </a:ln>
        </p:spPr>
        <p:txBody>
          <a:bodyPr>
            <a:spAutoFit/>
          </a:bodyPr>
          <a:p>
            <a:r>
              <a:rPr lang="zh-CN" altLang="en-US" sz="2395" dirty="0">
                <a:solidFill>
                  <a:srgbClr val="FF0000"/>
                </a:solidFill>
                <a:latin typeface="微软雅黑" panose="020B0503020204020204" pitchFamily="34" charset="-122"/>
                <a:ea typeface="微软雅黑" panose="020B0503020204020204" pitchFamily="34" charset="-122"/>
              </a:rPr>
              <a:t>面向过程的方法</a:t>
            </a:r>
            <a:endParaRPr lang="zh-CN" altLang="en-US" sz="2395" dirty="0">
              <a:solidFill>
                <a:srgbClr val="FF0000"/>
              </a:solidFill>
              <a:latin typeface="微软雅黑" panose="020B0503020204020204" pitchFamily="34" charset="-122"/>
              <a:ea typeface="微软雅黑" panose="020B0503020204020204" pitchFamily="34" charset="-122"/>
            </a:endParaRPr>
          </a:p>
        </p:txBody>
      </p:sp>
      <p:sp>
        <p:nvSpPr>
          <p:cNvPr id="34825" name="文本框 11"/>
          <p:cNvSpPr txBox="1"/>
          <p:nvPr/>
        </p:nvSpPr>
        <p:spPr>
          <a:xfrm>
            <a:off x="6079067" y="2130848"/>
            <a:ext cx="1404202" cy="829945"/>
          </a:xfrm>
          <a:prstGeom prst="rect">
            <a:avLst/>
          </a:prstGeom>
          <a:noFill/>
          <a:ln w="9525">
            <a:noFill/>
          </a:ln>
        </p:spPr>
        <p:txBody>
          <a:bodyPr>
            <a:spAutoFit/>
          </a:bodyPr>
          <a:p>
            <a:r>
              <a:rPr lang="zh-CN" altLang="en-US" sz="2395" dirty="0">
                <a:solidFill>
                  <a:srgbClr val="00B050"/>
                </a:solidFill>
                <a:latin typeface="微软雅黑" panose="020B0503020204020204" pitchFamily="34" charset="-122"/>
                <a:ea typeface="微软雅黑" panose="020B0503020204020204" pitchFamily="34" charset="-122"/>
              </a:rPr>
              <a:t>面向对象的方法</a:t>
            </a:r>
            <a:endParaRPr lang="zh-CN" altLang="en-US" sz="2395" dirty="0">
              <a:solidFill>
                <a:srgbClr val="00B050"/>
              </a:solidFill>
              <a:latin typeface="微软雅黑" panose="020B0503020204020204" pitchFamily="34" charset="-122"/>
              <a:ea typeface="微软雅黑" panose="020B0503020204020204" pitchFamily="34" charset="-122"/>
            </a:endParaRPr>
          </a:p>
        </p:txBody>
      </p:sp>
      <p:sp>
        <p:nvSpPr>
          <p:cNvPr id="9" name="矩形标注 8"/>
          <p:cNvSpPr/>
          <p:nvPr/>
        </p:nvSpPr>
        <p:spPr>
          <a:xfrm>
            <a:off x="5965825" y="2543175"/>
            <a:ext cx="1624013" cy="484188"/>
          </a:xfrm>
          <a:prstGeom prst="wedgeRectCallout">
            <a:avLst>
              <a:gd name="adj1" fmla="val -104674"/>
              <a:gd name="adj2" fmla="val 98699"/>
            </a:avLst>
          </a:prstGeom>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190" b="1" i="0" u="none" strike="noStrike" kern="1200" cap="none" spc="0" normalizeH="0" baseline="0" noProof="0" dirty="0" smtClean="0">
                <a:ln>
                  <a:noFill/>
                </a:ln>
                <a:solidFill>
                  <a:srgbClr val="FFFF00"/>
                </a:solidFill>
                <a:effectLst/>
                <a:uLnTx/>
                <a:uFillTx/>
                <a:latin typeface="+mn-lt"/>
                <a:ea typeface="+mn-ea"/>
                <a:cs typeface="+mn-cs"/>
              </a:rPr>
              <a:t>如何做？</a:t>
            </a:r>
            <a:endParaRPr kumimoji="1" lang="zh-CN" altLang="en-US" sz="319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2164" name="Text Box 4"/>
          <p:cNvSpPr txBox="1">
            <a:spLocks noChangeArrowheads="1"/>
          </p:cNvSpPr>
          <p:nvPr/>
        </p:nvSpPr>
        <p:spPr bwMode="auto">
          <a:xfrm>
            <a:off x="1606550" y="1684338"/>
            <a:ext cx="5867400" cy="2615565"/>
          </a:xfrm>
          <a:prstGeom prst="rect">
            <a:avLst/>
          </a:prstGeom>
          <a:noFill/>
          <a:ln w="9525">
            <a:noFill/>
            <a:miter lim="800000"/>
          </a:ln>
          <a:effectLst/>
        </p:spPr>
        <p:txBody>
          <a:bodyPr lIns="0" tIns="0" rIns="0" bIns="0">
            <a:spAutoFit/>
          </a:bodyPr>
          <a:lstStyle/>
          <a:p>
            <a:pPr marR="0" algn="ctr" defTabSz="914400" eaLnBrk="1" hangingPunct="1">
              <a:lnSpc>
                <a:spcPct val="120000"/>
              </a:lnSpc>
              <a:buClrTx/>
              <a:buSzTx/>
              <a:buFont typeface="Wingdings" panose="05000000000000000000" pitchFamily="2" charset="2"/>
              <a:buNone/>
              <a:defRPr/>
            </a:pPr>
            <a:r>
              <a:rPr kumimoji="0" lang="zh-CN" altLang="en-US" sz="50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第六次</a:t>
            </a: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课</a:t>
            </a:r>
            <a:endParaRPr kumimoji="0"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algn="ctr" defTabSz="914400" eaLnBrk="1" hangingPunct="1">
              <a:lnSpc>
                <a:spcPct val="120000"/>
              </a:lnSpc>
              <a:buClrTx/>
              <a:buSzTx/>
              <a:buFont typeface="Wingdings" panose="05000000000000000000" pitchFamily="2" charset="2"/>
              <a:buNone/>
              <a:defRPr/>
            </a:pPr>
            <a:r>
              <a:rPr kumimoji="0" lang="zh-CN" altLang="en-US" sz="50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（书本</a:t>
            </a:r>
            <a:r>
              <a:rPr kumimoji="0" lang="zh-CN" altLang="en-US" sz="50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n-cs"/>
              </a:rPr>
              <a:t>第六</a:t>
            </a: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n-cs"/>
              </a:rPr>
              <a:t>章</a:t>
            </a: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a:t>
            </a:r>
            <a:endPar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algn="ctr" defTabSz="914400" eaLnBrk="1" hangingPunct="1">
              <a:buClrTx/>
              <a:buSzTx/>
              <a:buFont typeface="Wingdings" panose="05000000000000000000" pitchFamily="2" charset="2"/>
              <a:buNone/>
              <a:defRPr/>
            </a:pP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面向对象基础</a:t>
            </a:r>
            <a:endPar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7891" name="Rectangle 2"/>
          <p:cNvSpPr>
            <a:spLocks noGrp="1"/>
          </p:cNvSpPr>
          <p:nvPr>
            <p:ph type="title"/>
          </p:nvPr>
        </p:nvSpPr>
        <p:spPr>
          <a:xfrm>
            <a:off x="454025" y="398463"/>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面向对象的建模语言</a:t>
            </a:r>
            <a:r>
              <a:rPr lang="en-US" altLang="zh-CN" b="1" dirty="0">
                <a:latin typeface="微软雅黑" panose="020B0503020204020204" pitchFamily="34" charset="-122"/>
                <a:ea typeface="微软雅黑" panose="020B0503020204020204" pitchFamily="34" charset="-122"/>
              </a:rPr>
              <a:t>UML</a:t>
            </a:r>
            <a:endParaRPr lang="en-US" altLang="zh-CN" b="1" dirty="0">
              <a:latin typeface="微软雅黑" panose="020B0503020204020204" pitchFamily="34" charset="-122"/>
              <a:ea typeface="微软雅黑" panose="020B0503020204020204" pitchFamily="34" charset="-122"/>
            </a:endParaRPr>
          </a:p>
        </p:txBody>
      </p:sp>
      <p:sp>
        <p:nvSpPr>
          <p:cNvPr id="37892" name="Rectangle 3"/>
          <p:cNvSpPr>
            <a:spLocks noGrp="1"/>
          </p:cNvSpPr>
          <p:nvPr>
            <p:ph idx="1"/>
          </p:nvPr>
        </p:nvSpPr>
        <p:spPr>
          <a:xfrm>
            <a:off x="455613" y="2054225"/>
            <a:ext cx="8662987" cy="4105275"/>
          </a:xfrm>
        </p:spPr>
        <p:txBody>
          <a:bodyPr vert="horz" wrap="square" lIns="91221" tIns="45610" rIns="91221" bIns="45610" anchor="t" anchorCtr="0"/>
          <a:p>
            <a:pPr defTabSz="914400" eaLnBrk="1" hangingPunct="1">
              <a:lnSpc>
                <a:spcPct val="90000"/>
              </a:lnSpc>
              <a:buFont typeface="Wingdings" panose="05000000000000000000" pitchFamily="2" charset="2"/>
              <a:buChar char="p"/>
              <a:tabLst>
                <a:tab pos="457200" algn="l"/>
              </a:tabLst>
            </a:pPr>
            <a:r>
              <a:rPr lang="en-US" altLang="zh-CN" sz="3300" b="1" dirty="0"/>
              <a:t>UML</a:t>
            </a:r>
            <a:r>
              <a:rPr lang="zh-CN" altLang="en-US" sz="3300" b="1" dirty="0"/>
              <a:t>（ </a:t>
            </a:r>
            <a:r>
              <a:rPr lang="en-US" altLang="zh-CN" sz="3300" b="1" dirty="0"/>
              <a:t>Unified Modeling Language </a:t>
            </a:r>
            <a:r>
              <a:rPr lang="zh-CN" altLang="en-US" sz="3300" b="1" dirty="0"/>
              <a:t>）</a:t>
            </a:r>
            <a:endParaRPr lang="zh-CN" altLang="en-US" sz="3300" b="1" dirty="0"/>
          </a:p>
          <a:p>
            <a:pPr lvl="1" defTabSz="914400">
              <a:lnSpc>
                <a:spcPct val="90000"/>
              </a:lnSpc>
              <a:buFont typeface="Wingdings" panose="05000000000000000000" pitchFamily="2" charset="2"/>
              <a:buChar char="ü"/>
              <a:tabLst>
                <a:tab pos="457200" algn="l"/>
              </a:tabLst>
            </a:pPr>
            <a:r>
              <a:rPr lang="zh-CN" altLang="en-US" dirty="0">
                <a:solidFill>
                  <a:srgbClr val="000000"/>
                </a:solidFill>
              </a:rPr>
              <a:t>是一种面向对象的软件系统的通用可视化建模语言</a:t>
            </a:r>
            <a:endParaRPr lang="zh-CN" altLang="en-US" dirty="0">
              <a:solidFill>
                <a:srgbClr val="0000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不是一种可视化的</a:t>
            </a:r>
            <a:r>
              <a:rPr lang="zh-CN" altLang="en-US" u="sng" dirty="0">
                <a:solidFill>
                  <a:srgbClr val="000000"/>
                </a:solidFill>
              </a:rPr>
              <a:t>程序设计语</a:t>
            </a:r>
            <a:r>
              <a:rPr lang="zh-CN" altLang="en-US" dirty="0">
                <a:solidFill>
                  <a:srgbClr val="000000"/>
                </a:solidFill>
              </a:rPr>
              <a:t>言，而是</a:t>
            </a:r>
            <a:r>
              <a:rPr lang="zh-CN" altLang="en-US" dirty="0">
                <a:solidFill>
                  <a:srgbClr val="FF3300"/>
                </a:solidFill>
              </a:rPr>
              <a:t>一种</a:t>
            </a:r>
            <a:r>
              <a:rPr lang="zh-CN" altLang="en-US" b="1" u="sng" dirty="0">
                <a:solidFill>
                  <a:srgbClr val="FF0000"/>
                </a:solidFill>
              </a:rPr>
              <a:t>可视化</a:t>
            </a:r>
            <a:r>
              <a:rPr lang="zh-CN" altLang="en-US" u="sng" dirty="0">
                <a:solidFill>
                  <a:srgbClr val="FF3300"/>
                </a:solidFill>
              </a:rPr>
              <a:t>的建模语言</a:t>
            </a:r>
            <a:endParaRPr lang="zh-CN" altLang="en-US" u="sng" dirty="0">
              <a:solidFill>
                <a:srgbClr val="FF33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不是过程，也不是方法，但允许任何一种过程和方法使用</a:t>
            </a:r>
            <a:endParaRPr lang="zh-CN" altLang="en-US" dirty="0">
              <a:solidFill>
                <a:srgbClr val="000000"/>
              </a:solidFill>
            </a:endParaRPr>
          </a:p>
        </p:txBody>
      </p:sp>
      <p:sp>
        <p:nvSpPr>
          <p:cNvPr id="37893" name="矩形 4"/>
          <p:cNvSpPr/>
          <p:nvPr/>
        </p:nvSpPr>
        <p:spPr>
          <a:xfrm>
            <a:off x="814388" y="5006975"/>
            <a:ext cx="7705725"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可视化</a:t>
            </a:r>
            <a:r>
              <a:rPr lang="zh-CN" altLang="en-US" sz="2400" b="1" dirty="0">
                <a:solidFill>
                  <a:srgbClr val="000000"/>
                </a:solidFill>
                <a:latin typeface="黑体" panose="02010609060101010101" pitchFamily="49" charset="-122"/>
                <a:ea typeface="黑体" panose="02010609060101010101" pitchFamily="49" charset="-122"/>
              </a:rPr>
              <a:t>：</a:t>
            </a:r>
            <a:r>
              <a:rPr lang="en-US" altLang="zh-CN" sz="2400" b="1" dirty="0">
                <a:solidFill>
                  <a:srgbClr val="000000"/>
                </a:solidFill>
                <a:latin typeface="黑体" panose="02010609060101010101" pitchFamily="49" charset="-122"/>
                <a:ea typeface="黑体" panose="02010609060101010101" pitchFamily="49" charset="-122"/>
              </a:rPr>
              <a:t>UML </a:t>
            </a:r>
            <a:r>
              <a:rPr lang="zh-CN" altLang="en-US" sz="2400" b="1" dirty="0">
                <a:solidFill>
                  <a:srgbClr val="000000"/>
                </a:solidFill>
                <a:latin typeface="黑体" panose="02010609060101010101" pitchFamily="49" charset="-122"/>
                <a:ea typeface="黑体" panose="02010609060101010101" pitchFamily="49" charset="-122"/>
              </a:rPr>
              <a:t>提供一组具有明确语义的</a:t>
            </a:r>
            <a:r>
              <a:rPr lang="zh-CN" altLang="en-US" sz="2400" b="1" dirty="0">
                <a:solidFill>
                  <a:srgbClr val="FF0000"/>
                </a:solidFill>
                <a:latin typeface="黑体" panose="02010609060101010101" pitchFamily="49" charset="-122"/>
                <a:ea typeface="黑体" panose="02010609060101010101" pitchFamily="49" charset="-122"/>
              </a:rPr>
              <a:t>图形符号</a:t>
            </a:r>
            <a:r>
              <a:rPr lang="zh-CN" altLang="en-US" sz="2400" b="1" dirty="0">
                <a:solidFill>
                  <a:srgbClr val="000000"/>
                </a:solidFill>
                <a:latin typeface="黑体" panose="02010609060101010101" pitchFamily="49" charset="-122"/>
                <a:ea typeface="黑体" panose="02010609060101010101" pitchFamily="49" charset="-122"/>
              </a:rPr>
              <a:t>，来建立清晰的模型以便于交流</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455613" y="398463"/>
            <a:ext cx="8207375" cy="1139825"/>
          </a:xfrm>
        </p:spPr>
        <p:txBody>
          <a:bodyPr vert="horz" wrap="square" lIns="0" tIns="45610"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图</a:t>
            </a:r>
            <a:endParaRPr lang="zh-CN" altLang="en-US" b="1" dirty="0">
              <a:latin typeface="微软雅黑" panose="020B0503020204020204" pitchFamily="34" charset="-122"/>
              <a:ea typeface="微软雅黑" panose="020B0503020204020204" pitchFamily="34" charset="-122"/>
            </a:endParaRPr>
          </a:p>
        </p:txBody>
      </p:sp>
      <p:sp>
        <p:nvSpPr>
          <p:cNvPr id="38915" name="Line 4"/>
          <p:cNvSpPr/>
          <p:nvPr/>
        </p:nvSpPr>
        <p:spPr>
          <a:xfrm flipH="1">
            <a:off x="4394200" y="2181225"/>
            <a:ext cx="0" cy="1312863"/>
          </a:xfrm>
          <a:prstGeom prst="line">
            <a:avLst/>
          </a:prstGeom>
          <a:ln w="9525" cap="flat" cmpd="sng">
            <a:solidFill>
              <a:schemeClr val="tx1"/>
            </a:solidFill>
            <a:prstDash val="solid"/>
            <a:headEnd type="none" w="sm" len="sm"/>
            <a:tailEnd type="none" w="sm" len="sm"/>
          </a:ln>
        </p:spPr>
      </p:sp>
      <p:sp>
        <p:nvSpPr>
          <p:cNvPr id="38916" name="Line 5"/>
          <p:cNvSpPr/>
          <p:nvPr/>
        </p:nvSpPr>
        <p:spPr>
          <a:xfrm flipV="1">
            <a:off x="4697413" y="3433763"/>
            <a:ext cx="1611312" cy="392112"/>
          </a:xfrm>
          <a:prstGeom prst="line">
            <a:avLst/>
          </a:prstGeom>
          <a:ln w="9525" cap="flat" cmpd="sng">
            <a:solidFill>
              <a:schemeClr val="tx1"/>
            </a:solidFill>
            <a:prstDash val="solid"/>
            <a:headEnd type="none" w="sm" len="sm"/>
            <a:tailEnd type="none" w="sm" len="sm"/>
          </a:ln>
        </p:spPr>
      </p:sp>
      <p:sp>
        <p:nvSpPr>
          <p:cNvPr id="38917" name="Line 6"/>
          <p:cNvSpPr/>
          <p:nvPr/>
        </p:nvSpPr>
        <p:spPr>
          <a:xfrm>
            <a:off x="4841875" y="4024313"/>
            <a:ext cx="1301750" cy="1458912"/>
          </a:xfrm>
          <a:prstGeom prst="line">
            <a:avLst/>
          </a:prstGeom>
          <a:ln w="9525" cap="flat" cmpd="sng">
            <a:solidFill>
              <a:schemeClr val="tx1"/>
            </a:solidFill>
            <a:prstDash val="solid"/>
            <a:headEnd type="none" w="sm" len="sm"/>
            <a:tailEnd type="none" w="sm" len="sm"/>
          </a:ln>
        </p:spPr>
      </p:sp>
      <p:sp>
        <p:nvSpPr>
          <p:cNvPr id="38918" name="Line 7"/>
          <p:cNvSpPr/>
          <p:nvPr/>
        </p:nvSpPr>
        <p:spPr>
          <a:xfrm>
            <a:off x="2533650" y="2568575"/>
            <a:ext cx="1673225" cy="1257300"/>
          </a:xfrm>
          <a:prstGeom prst="line">
            <a:avLst/>
          </a:prstGeom>
          <a:ln w="9525" cap="flat" cmpd="sng">
            <a:solidFill>
              <a:schemeClr val="tx1"/>
            </a:solidFill>
            <a:prstDash val="solid"/>
            <a:headEnd type="none" w="sm" len="sm"/>
            <a:tailEnd type="none" w="sm" len="sm"/>
          </a:ln>
        </p:spPr>
      </p:sp>
      <p:sp>
        <p:nvSpPr>
          <p:cNvPr id="38919" name="Line 8"/>
          <p:cNvSpPr/>
          <p:nvPr/>
        </p:nvSpPr>
        <p:spPr>
          <a:xfrm flipV="1">
            <a:off x="2528888" y="4403725"/>
            <a:ext cx="1258887" cy="458788"/>
          </a:xfrm>
          <a:prstGeom prst="line">
            <a:avLst/>
          </a:prstGeom>
          <a:ln w="9525" cap="flat" cmpd="sng">
            <a:solidFill>
              <a:schemeClr val="tx1"/>
            </a:solidFill>
            <a:prstDash val="solid"/>
            <a:headEnd type="none" w="sm" len="sm"/>
            <a:tailEnd type="none" w="sm" len="sm"/>
          </a:ln>
        </p:spPr>
      </p:sp>
      <p:sp>
        <p:nvSpPr>
          <p:cNvPr id="38920" name="Line 9"/>
          <p:cNvSpPr/>
          <p:nvPr/>
        </p:nvSpPr>
        <p:spPr>
          <a:xfrm>
            <a:off x="2027238" y="4024313"/>
            <a:ext cx="2035175" cy="0"/>
          </a:xfrm>
          <a:prstGeom prst="line">
            <a:avLst/>
          </a:prstGeom>
          <a:ln w="9525" cap="flat" cmpd="sng">
            <a:solidFill>
              <a:schemeClr val="tx1"/>
            </a:solidFill>
            <a:prstDash val="solid"/>
            <a:headEnd type="none" w="sm" len="sm"/>
            <a:tailEnd type="none" w="sm" len="sm"/>
          </a:ln>
        </p:spPr>
      </p:sp>
      <p:sp>
        <p:nvSpPr>
          <p:cNvPr id="38921" name="Line 10"/>
          <p:cNvSpPr/>
          <p:nvPr/>
        </p:nvSpPr>
        <p:spPr>
          <a:xfrm flipH="1">
            <a:off x="4548188" y="2060575"/>
            <a:ext cx="1714500" cy="1587500"/>
          </a:xfrm>
          <a:prstGeom prst="line">
            <a:avLst/>
          </a:prstGeom>
          <a:ln w="9525" cap="flat" cmpd="sng">
            <a:solidFill>
              <a:schemeClr val="tx1"/>
            </a:solidFill>
            <a:prstDash val="solid"/>
            <a:headEnd type="none" w="sm" len="sm"/>
            <a:tailEnd type="none" w="sm" len="sm"/>
          </a:ln>
        </p:spPr>
      </p:sp>
      <p:sp>
        <p:nvSpPr>
          <p:cNvPr id="38922" name="Line 11"/>
          <p:cNvSpPr/>
          <p:nvPr/>
        </p:nvSpPr>
        <p:spPr>
          <a:xfrm flipH="1" flipV="1">
            <a:off x="4394200" y="4633913"/>
            <a:ext cx="0" cy="849312"/>
          </a:xfrm>
          <a:prstGeom prst="line">
            <a:avLst/>
          </a:prstGeom>
          <a:ln w="9525" cap="flat" cmpd="sng">
            <a:solidFill>
              <a:schemeClr val="tx1"/>
            </a:solidFill>
            <a:prstDash val="solid"/>
            <a:headEnd type="none" w="sm" len="sm"/>
            <a:tailEnd type="none" w="sm" len="sm"/>
          </a:ln>
        </p:spPr>
      </p:sp>
      <p:sp>
        <p:nvSpPr>
          <p:cNvPr id="53" name="Rectangle 15"/>
          <p:cNvSpPr>
            <a:spLocks noChangeArrowheads="1"/>
          </p:cNvSpPr>
          <p:nvPr/>
        </p:nvSpPr>
        <p:spPr bwMode="auto">
          <a:xfrm>
            <a:off x="3719513" y="1566863"/>
            <a:ext cx="1301750" cy="776288"/>
          </a:xfrm>
          <a:prstGeom prst="rect">
            <a:avLst/>
          </a:prstGeom>
          <a:solidFill>
            <a:schemeClr val="accent1"/>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用例图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50" name="Rectangle 19"/>
          <p:cNvSpPr>
            <a:spLocks noChangeArrowheads="1"/>
          </p:cNvSpPr>
          <p:nvPr/>
        </p:nvSpPr>
        <p:spPr bwMode="auto">
          <a:xfrm>
            <a:off x="1177925" y="3233738"/>
            <a:ext cx="1350963" cy="830263"/>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协作图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7" name="Rectangle 23"/>
          <p:cNvSpPr>
            <a:spLocks noChangeArrowheads="1"/>
          </p:cNvSpPr>
          <p:nvPr/>
        </p:nvSpPr>
        <p:spPr bwMode="auto">
          <a:xfrm>
            <a:off x="5657850" y="5451475"/>
            <a:ext cx="1301750" cy="855663"/>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构件图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4" name="Rectangle 27"/>
          <p:cNvSpPr>
            <a:spLocks noChangeArrowheads="1"/>
          </p:cNvSpPr>
          <p:nvPr/>
        </p:nvSpPr>
        <p:spPr bwMode="auto">
          <a:xfrm>
            <a:off x="3719513" y="5483225"/>
            <a:ext cx="1349375" cy="819150"/>
          </a:xfrm>
          <a:prstGeom prst="rect">
            <a:avLst/>
          </a:prstGeom>
          <a:solidFill>
            <a:srgbClr val="990099"/>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部署图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1" name="Rectangle 31"/>
          <p:cNvSpPr>
            <a:spLocks noChangeArrowheads="1"/>
          </p:cNvSpPr>
          <p:nvPr/>
        </p:nvSpPr>
        <p:spPr bwMode="auto">
          <a:xfrm>
            <a:off x="6307138" y="3127375"/>
            <a:ext cx="1252538" cy="844550"/>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uLnTx/>
                <a:uFillTx/>
                <a:latin typeface="Comic Sans MS" panose="030F0702030302020204" pitchFamily="66" charset="0"/>
                <a:ea typeface="仿宋_GB2312" pitchFamily="49" charset="-122"/>
                <a:cs typeface="+mn-cs"/>
              </a:rPr>
              <a:t>对象图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 name="Rectangle 35"/>
          <p:cNvSpPr>
            <a:spLocks noChangeArrowheads="1"/>
          </p:cNvSpPr>
          <p:nvPr/>
        </p:nvSpPr>
        <p:spPr bwMode="auto">
          <a:xfrm>
            <a:off x="1196975" y="4403725"/>
            <a:ext cx="1385888" cy="8207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状态图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5" name="Rectangle 39"/>
          <p:cNvSpPr>
            <a:spLocks noChangeArrowheads="1"/>
          </p:cNvSpPr>
          <p:nvPr/>
        </p:nvSpPr>
        <p:spPr bwMode="auto">
          <a:xfrm>
            <a:off x="1220788" y="2060575"/>
            <a:ext cx="1312863" cy="842963"/>
          </a:xfrm>
          <a:prstGeom prst="rect">
            <a:avLst/>
          </a:prstGeom>
          <a:solidFill>
            <a:srgbClr val="008000"/>
          </a:solidFill>
          <a:ln w="9525">
            <a:solidFill>
              <a:srgbClr val="FFFF00"/>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序列图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 name="Rectangle 43"/>
          <p:cNvSpPr>
            <a:spLocks noChangeArrowheads="1"/>
          </p:cNvSpPr>
          <p:nvPr/>
        </p:nvSpPr>
        <p:spPr bwMode="auto">
          <a:xfrm>
            <a:off x="6281738" y="1677988"/>
            <a:ext cx="1303338" cy="765175"/>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类图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931" name="Line 44"/>
          <p:cNvSpPr/>
          <p:nvPr/>
        </p:nvSpPr>
        <p:spPr>
          <a:xfrm flipH="1">
            <a:off x="2552700" y="4560888"/>
            <a:ext cx="1358900" cy="1166812"/>
          </a:xfrm>
          <a:prstGeom prst="line">
            <a:avLst/>
          </a:prstGeom>
          <a:ln w="12700" cap="flat" cmpd="sng">
            <a:solidFill>
              <a:schemeClr val="tx1"/>
            </a:solidFill>
            <a:prstDash val="solid"/>
            <a:headEnd type="none" w="sm" len="sm"/>
            <a:tailEnd type="none" w="lg" len="lg"/>
          </a:ln>
        </p:spPr>
      </p:sp>
      <p:sp>
        <p:nvSpPr>
          <p:cNvPr id="29" name="Rectangle 48"/>
          <p:cNvSpPr>
            <a:spLocks noChangeArrowheads="1"/>
          </p:cNvSpPr>
          <p:nvPr/>
        </p:nvSpPr>
        <p:spPr bwMode="auto">
          <a:xfrm>
            <a:off x="1227138" y="5456238"/>
            <a:ext cx="1325563" cy="8461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活动图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933" name="AutoShape 49"/>
          <p:cNvSpPr/>
          <p:nvPr/>
        </p:nvSpPr>
        <p:spPr>
          <a:xfrm>
            <a:off x="3787775" y="3433763"/>
            <a:ext cx="1281113" cy="1195387"/>
          </a:xfrm>
          <a:prstGeom prst="can">
            <a:avLst>
              <a:gd name="adj" fmla="val 39255"/>
            </a:avLst>
          </a:prstGeom>
          <a:solidFill>
            <a:srgbClr val="FF6600"/>
          </a:solidFill>
          <a:ln w="9525" cap="flat" cmpd="sng">
            <a:solidFill>
              <a:srgbClr val="FFFF00"/>
            </a:solidFill>
            <a:prstDash val="solid"/>
            <a:headEnd type="none" w="med" len="med"/>
            <a:tailEnd type="none" w="med" len="med"/>
          </a:ln>
        </p:spPr>
        <p:txBody>
          <a:bodyPr wrap="none" lIns="107950" tIns="53975" rIns="107950" bIns="53975"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8934" name="Rectangle 50"/>
          <p:cNvSpPr/>
          <p:nvPr/>
        </p:nvSpPr>
        <p:spPr>
          <a:xfrm>
            <a:off x="4013200" y="3971925"/>
            <a:ext cx="879475" cy="465138"/>
          </a:xfrm>
          <a:prstGeom prst="rect">
            <a:avLst/>
          </a:prstGeom>
          <a:noFill/>
          <a:ln w="9525">
            <a:noFill/>
          </a:ln>
        </p:spPr>
        <p:txBody>
          <a:bodyPr wrap="none" lIns="107950" tIns="53975" rIns="107950" bIns="5397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90000"/>
              </a:lnSpc>
              <a:spcBef>
                <a:spcPct val="0"/>
              </a:spcBef>
              <a:buClr>
                <a:srgbClr val="F6BF69"/>
              </a:buClr>
              <a:buSzTx/>
              <a:buFont typeface="Monotype Sorts" pitchFamily="2" charset="2"/>
              <a:buNone/>
            </a:pPr>
            <a:r>
              <a:rPr lang="zh-CN" altLang="en-US" b="1" dirty="0">
                <a:solidFill>
                  <a:srgbClr val="CCFFCC"/>
                </a:solidFill>
                <a:latin typeface="Comic Sans MS" panose="030F0702030302020204" pitchFamily="66" charset="0"/>
                <a:ea typeface="仿宋_GB2312" pitchFamily="49" charset="-122"/>
              </a:rPr>
              <a:t>模型</a:t>
            </a:r>
            <a:endParaRPr lang="zh-CN" altLang="en-US" b="1" dirty="0">
              <a:solidFill>
                <a:srgbClr val="CCFFCC"/>
              </a:solidFill>
              <a:latin typeface="Comic Sans MS" panose="030F0702030302020204" pitchFamily="66" charset="0"/>
              <a:ea typeface="仿宋_GB2312" pitchFamily="49" charset="-122"/>
            </a:endParaRPr>
          </a:p>
        </p:txBody>
      </p:sp>
      <p:sp>
        <p:nvSpPr>
          <p:cNvPr id="3" name="矩形 2"/>
          <p:cNvSpPr/>
          <p:nvPr/>
        </p:nvSpPr>
        <p:spPr>
          <a:xfrm>
            <a:off x="527050" y="1792288"/>
            <a:ext cx="2517775" cy="46545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 name="TextBox 4"/>
          <p:cNvSpPr txBox="1"/>
          <p:nvPr/>
        </p:nvSpPr>
        <p:spPr>
          <a:xfrm>
            <a:off x="527050" y="2154238"/>
            <a:ext cx="506413" cy="20621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动态行为</a:t>
            </a:r>
            <a:endParaRPr lang="zh-CN" altLang="en-US" sz="3200" b="1" dirty="0">
              <a:latin typeface="黑体" panose="02010609060101010101" pitchFamily="49" charset="-122"/>
              <a:ea typeface="黑体" panose="02010609060101010101" pitchFamily="49" charset="-122"/>
            </a:endParaRPr>
          </a:p>
        </p:txBody>
      </p:sp>
      <p:sp>
        <p:nvSpPr>
          <p:cNvPr id="56" name="矩形 55"/>
          <p:cNvSpPr/>
          <p:nvPr/>
        </p:nvSpPr>
        <p:spPr>
          <a:xfrm>
            <a:off x="3159125" y="974725"/>
            <a:ext cx="2517775" cy="14684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7" name="TextBox 56"/>
          <p:cNvSpPr txBox="1"/>
          <p:nvPr/>
        </p:nvSpPr>
        <p:spPr>
          <a:xfrm>
            <a:off x="3190875" y="981075"/>
            <a:ext cx="1744663" cy="5857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功能</a:t>
            </a:r>
            <a:endParaRPr lang="zh-CN" altLang="en-US" sz="3200" b="1" dirty="0">
              <a:latin typeface="黑体" panose="02010609060101010101" pitchFamily="49" charset="-122"/>
              <a:ea typeface="黑体" panose="02010609060101010101" pitchFamily="49" charset="-122"/>
            </a:endParaRPr>
          </a:p>
        </p:txBody>
      </p:sp>
      <p:sp>
        <p:nvSpPr>
          <p:cNvPr id="58" name="矩形 57"/>
          <p:cNvSpPr/>
          <p:nvPr/>
        </p:nvSpPr>
        <p:spPr>
          <a:xfrm>
            <a:off x="6072188" y="1381125"/>
            <a:ext cx="2517775" cy="29051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9" name="TextBox 58"/>
          <p:cNvSpPr txBox="1"/>
          <p:nvPr/>
        </p:nvSpPr>
        <p:spPr>
          <a:xfrm>
            <a:off x="7861300" y="1801813"/>
            <a:ext cx="730250" cy="20621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静态结构</a:t>
            </a:r>
            <a:endParaRPr lang="zh-CN" altLang="en-US" sz="3200" b="1" dirty="0">
              <a:latin typeface="黑体" panose="02010609060101010101" pitchFamily="49" charset="-122"/>
              <a:ea typeface="黑体" panose="02010609060101010101" pitchFamily="49" charset="-122"/>
            </a:endParaRPr>
          </a:p>
        </p:txBody>
      </p:sp>
      <p:sp>
        <p:nvSpPr>
          <p:cNvPr id="60" name="矩形 59"/>
          <p:cNvSpPr/>
          <p:nvPr/>
        </p:nvSpPr>
        <p:spPr>
          <a:xfrm>
            <a:off x="3438525" y="4994275"/>
            <a:ext cx="4937125" cy="14525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1" name="TextBox 60"/>
          <p:cNvSpPr txBox="1"/>
          <p:nvPr/>
        </p:nvSpPr>
        <p:spPr>
          <a:xfrm>
            <a:off x="7194550" y="5203825"/>
            <a:ext cx="1181100" cy="10779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物理架构</a:t>
            </a:r>
            <a:endParaRPr lang="zh-CN" altLang="en-US" sz="3200" b="1" dirty="0">
              <a:latin typeface="黑体" panose="02010609060101010101" pitchFamily="49" charset="-122"/>
              <a:ea typeface="黑体" panose="02010609060101010101" pitchFamily="49" charset="-122"/>
            </a:endParaRPr>
          </a:p>
        </p:txBody>
      </p:sp>
      <p:sp>
        <p:nvSpPr>
          <p:cNvPr id="2" name="矩形 1"/>
          <p:cNvSpPr/>
          <p:nvPr/>
        </p:nvSpPr>
        <p:spPr>
          <a:xfrm>
            <a:off x="382588" y="1485900"/>
            <a:ext cx="8569325" cy="1504950"/>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additive="base">
                                        <p:cTn id="18" dur="500" fill="hold"/>
                                        <p:tgtEl>
                                          <p:spTgt spid="56"/>
                                        </p:tgtEl>
                                        <p:attrNameLst>
                                          <p:attrName>ppt_x</p:attrName>
                                        </p:attrNameLst>
                                      </p:cBhvr>
                                      <p:tavLst>
                                        <p:tav tm="0">
                                          <p:val>
                                            <p:strVal val="#ppt_x"/>
                                          </p:val>
                                        </p:tav>
                                        <p:tav tm="100000">
                                          <p:val>
                                            <p:strVal val="#ppt_x"/>
                                          </p:val>
                                        </p:tav>
                                      </p:tavLst>
                                    </p:anim>
                                    <p:anim calcmode="lin" valueType="num">
                                      <p:cBhvr additive="base">
                                        <p:cTn id="19" dur="500" fill="hold"/>
                                        <p:tgtEl>
                                          <p:spTgt spid="5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ppt_x"/>
                                          </p:val>
                                        </p:tav>
                                        <p:tav tm="100000">
                                          <p:val>
                                            <p:strVal val="#ppt_x"/>
                                          </p:val>
                                        </p:tav>
                                      </p:tavLst>
                                    </p:anim>
                                    <p:anim calcmode="lin" valueType="num">
                                      <p:cBhvr additive="base">
                                        <p:cTn id="30" dur="500" fill="hold"/>
                                        <p:tgtEl>
                                          <p:spTgt spid="5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ppt_x"/>
                                          </p:val>
                                        </p:tav>
                                        <p:tav tm="100000">
                                          <p:val>
                                            <p:strVal val="#ppt_x"/>
                                          </p:val>
                                        </p:tav>
                                      </p:tavLst>
                                    </p:anim>
                                    <p:anim calcmode="lin" valueType="num">
                                      <p:cBhvr additive="base">
                                        <p:cTn id="3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additive="base">
                                        <p:cTn id="39" dur="500" fill="hold"/>
                                        <p:tgtEl>
                                          <p:spTgt spid="60"/>
                                        </p:tgtEl>
                                        <p:attrNameLst>
                                          <p:attrName>ppt_x</p:attrName>
                                        </p:attrNameLst>
                                      </p:cBhvr>
                                      <p:tavLst>
                                        <p:tav tm="0">
                                          <p:val>
                                            <p:strVal val="#ppt_x"/>
                                          </p:val>
                                        </p:tav>
                                        <p:tav tm="100000">
                                          <p:val>
                                            <p:strVal val="#ppt_x"/>
                                          </p:val>
                                        </p:tav>
                                      </p:tavLst>
                                    </p:anim>
                                    <p:anim calcmode="lin" valueType="num">
                                      <p:cBhvr additive="base">
                                        <p:cTn id="40" dur="500" fill="hold"/>
                                        <p:tgtEl>
                                          <p:spTgt spid="6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additive="base">
                                        <p:cTn id="43" dur="500" fill="hold"/>
                                        <p:tgtEl>
                                          <p:spTgt spid="61"/>
                                        </p:tgtEl>
                                        <p:attrNameLst>
                                          <p:attrName>ppt_x</p:attrName>
                                        </p:attrNameLst>
                                      </p:cBhvr>
                                      <p:tavLst>
                                        <p:tav tm="0">
                                          <p:val>
                                            <p:strVal val="#ppt_x"/>
                                          </p:val>
                                        </p:tav>
                                        <p:tav tm="100000">
                                          <p:val>
                                            <p:strVal val="#ppt_x"/>
                                          </p:val>
                                        </p:tav>
                                      </p:tavLst>
                                    </p:anim>
                                    <p:anim calcmode="lin" valueType="num">
                                      <p:cBhvr additive="base">
                                        <p:cTn id="4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ppt_x"/>
                                          </p:val>
                                        </p:tav>
                                        <p:tav tm="100000">
                                          <p:val>
                                            <p:strVal val="#ppt_x"/>
                                          </p:val>
                                        </p:tav>
                                      </p:tavLst>
                                    </p:anim>
                                    <p:anim calcmode="lin" valueType="num">
                                      <p:cBhvr additive="base">
                                        <p:cTn id="5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56" grpId="0" animBg="1"/>
      <p:bldP spid="57" grpId="0"/>
      <p:bldP spid="58" grpId="0" animBg="1"/>
      <p:bldP spid="59" grpId="0"/>
      <p:bldP spid="60" grpId="0" animBg="1"/>
      <p:bldP spid="61" grpId="0"/>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2164" name="Text Box 4"/>
          <p:cNvSpPr txBox="1">
            <a:spLocks noChangeArrowheads="1"/>
          </p:cNvSpPr>
          <p:nvPr/>
        </p:nvSpPr>
        <p:spPr bwMode="auto">
          <a:xfrm>
            <a:off x="1606550" y="1684338"/>
            <a:ext cx="5867400" cy="1846580"/>
          </a:xfrm>
          <a:prstGeom prst="rect">
            <a:avLst/>
          </a:prstGeom>
          <a:noFill/>
          <a:ln w="9525">
            <a:noFill/>
            <a:miter lim="800000"/>
          </a:ln>
          <a:effectLst/>
        </p:spPr>
        <p:txBody>
          <a:bodyPr lIns="0" tIns="0" rIns="0" bIns="0">
            <a:spAutoFit/>
          </a:bodyPr>
          <a:lstStyle/>
          <a:p>
            <a:pPr marR="0" algn="ctr" defTabSz="914400" eaLnBrk="1" hangingPunct="1">
              <a:lnSpc>
                <a:spcPct val="120000"/>
              </a:lnSpc>
              <a:buClrTx/>
              <a:buSzTx/>
              <a:buFont typeface="Wingdings" panose="05000000000000000000" pitchFamily="2" charset="2"/>
              <a:buNone/>
              <a:defRPr/>
            </a:pPr>
            <a:r>
              <a:rPr kumimoji="0" lang="zh-CN" altLang="en-US" sz="5000" kern="1200" cap="none" spc="0" normalizeH="0" baseline="0" noProof="0" dirty="0" smtClean="0">
                <a:solidFill>
                  <a:schemeClr val="tx2"/>
                </a:solidFill>
                <a:latin typeface="微软雅黑" panose="020B0503020204020204" pitchFamily="34" charset="-122"/>
                <a:ea typeface="微软雅黑" panose="020B0503020204020204" pitchFamily="34" charset="-122"/>
                <a:cs typeface="+mj-cs"/>
              </a:rPr>
              <a:t>第七次</a:t>
            </a: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课</a:t>
            </a:r>
            <a:endParaRPr kumimoji="0"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algn="ctr" defTabSz="914400" eaLnBrk="1" hangingPunct="1">
              <a:lnSpc>
                <a:spcPct val="120000"/>
              </a:lnSpc>
              <a:buClrTx/>
              <a:buSzTx/>
              <a:buFont typeface="Wingdings" panose="05000000000000000000" pitchFamily="2" charset="2"/>
              <a:buNone/>
              <a:defRPr/>
            </a:pP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面向对象设计</a:t>
            </a:r>
            <a:endPar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4"/>
          <p:cNvSpPr txBox="1">
            <a:spLocks noGrp="1"/>
          </p:cNvSpPr>
          <p:nvPr>
            <p:ph type="sldNum" sz="quarter" idx="12"/>
          </p:nvPr>
        </p:nvSpPr>
        <p:spPr>
          <a:xfrm>
            <a:off x="7902575" y="6345238"/>
            <a:ext cx="760413" cy="363537"/>
          </a:xfrm>
          <a:noFill/>
          <a:ln>
            <a:noFill/>
          </a:ln>
        </p:spPr>
        <p:txBody>
          <a:bodyPr lIns="0" tIns="0" rIns="0" bIns="0" anchor="b" anchorCtr="0"/>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stStyle>
          <a:p>
            <a:pPr lvl="0" algn="r" eaLnBrk="1" hangingPunct="1">
              <a:buFont typeface="Wingdings" panose="05000000000000000000" pitchFamily="2" charset="2"/>
            </a:pPr>
            <a:fld id="{9A0DB2DC-4C9A-4742-B13C-FB6460FD3503}" type="slidenum">
              <a:rPr lang="en-US" altLang="zh-CN" sz="1200" dirty="0">
                <a:solidFill>
                  <a:srgbClr val="045C75"/>
                </a:solidFill>
              </a:rPr>
            </a:fld>
            <a:endParaRPr lang="en-US" altLang="zh-CN" sz="1200" dirty="0">
              <a:solidFill>
                <a:srgbClr val="045C75"/>
              </a:solidFill>
            </a:endParaRPr>
          </a:p>
        </p:txBody>
      </p:sp>
      <p:sp>
        <p:nvSpPr>
          <p:cNvPr id="96260" name="Text Box 4"/>
          <p:cNvSpPr txBox="1">
            <a:spLocks noChangeArrowheads="1"/>
          </p:cNvSpPr>
          <p:nvPr/>
        </p:nvSpPr>
        <p:spPr bwMode="auto">
          <a:xfrm>
            <a:off x="763588" y="665163"/>
            <a:ext cx="1895475" cy="1139825"/>
          </a:xfrm>
          <a:prstGeom prst="rect">
            <a:avLst/>
          </a:prstGeom>
          <a:noFill/>
          <a:ln w="9525">
            <a:noFill/>
            <a:miter lim="800000"/>
          </a:ln>
          <a:effectLst/>
        </p:spPr>
        <p:txBody>
          <a:bodyPr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面向对象的分析</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3" name="TextBox 2"/>
          <p:cNvSpPr txBox="1"/>
          <p:nvPr/>
        </p:nvSpPr>
        <p:spPr>
          <a:xfrm>
            <a:off x="61913" y="3814763"/>
            <a:ext cx="865187" cy="460375"/>
          </a:xfrm>
          <a:prstGeom prst="rect">
            <a:avLst/>
          </a:prstGeom>
          <a:noFill/>
          <a:ln w="9525">
            <a:noFill/>
          </a:ln>
        </p:spPr>
        <p:txBody>
          <a:bodyPr>
            <a:spAutoFit/>
          </a:bodyPr>
          <a:p>
            <a:pPr eaLnBrk="1" hangingPunct="1">
              <a:buFont typeface="Wingdings" panose="05000000000000000000" pitchFamily="2" charset="2"/>
            </a:pPr>
            <a:r>
              <a:rPr lang="zh-CN" altLang="en-US" dirty="0">
                <a:latin typeface="黑体" panose="02010609060101010101" pitchFamily="49" charset="-122"/>
              </a:rPr>
              <a:t>用例</a:t>
            </a:r>
            <a:endParaRPr lang="zh-CN" altLang="en-US" dirty="0">
              <a:latin typeface="黑体" panose="02010609060101010101" pitchFamily="49" charset="-122"/>
            </a:endParaRPr>
          </a:p>
        </p:txBody>
      </p:sp>
      <p:pic>
        <p:nvPicPr>
          <p:cNvPr id="8" name="Picture 4"/>
          <p:cNvPicPr>
            <a:picLocks noChangeAspect="1"/>
          </p:cNvPicPr>
          <p:nvPr/>
        </p:nvPicPr>
        <p:blipFill>
          <a:blip r:embed="rId1"/>
          <a:stretch>
            <a:fillRect/>
          </a:stretch>
        </p:blipFill>
        <p:spPr>
          <a:xfrm>
            <a:off x="495300" y="3336925"/>
            <a:ext cx="2484438" cy="1416050"/>
          </a:xfrm>
          <a:prstGeom prst="rect">
            <a:avLst/>
          </a:prstGeom>
          <a:noFill/>
          <a:ln w="9525">
            <a:noFill/>
          </a:ln>
        </p:spPr>
      </p:pic>
      <p:pic>
        <p:nvPicPr>
          <p:cNvPr id="9" name="Picture 4"/>
          <p:cNvPicPr>
            <a:picLocks noChangeAspect="1"/>
          </p:cNvPicPr>
          <p:nvPr/>
        </p:nvPicPr>
        <p:blipFill>
          <a:blip r:embed="rId2"/>
          <a:stretch>
            <a:fillRect/>
          </a:stretch>
        </p:blipFill>
        <p:spPr>
          <a:xfrm>
            <a:off x="3876675" y="3643313"/>
            <a:ext cx="2032000" cy="1789112"/>
          </a:xfrm>
          <a:prstGeom prst="rect">
            <a:avLst/>
          </a:prstGeom>
          <a:noFill/>
          <a:ln w="9525">
            <a:noFill/>
          </a:ln>
        </p:spPr>
      </p:pic>
      <p:sp>
        <p:nvSpPr>
          <p:cNvPr id="10" name="TextBox 9"/>
          <p:cNvSpPr txBox="1"/>
          <p:nvPr/>
        </p:nvSpPr>
        <p:spPr>
          <a:xfrm>
            <a:off x="7134225" y="3814763"/>
            <a:ext cx="1860550" cy="1322387"/>
          </a:xfrm>
          <a:prstGeom prst="rect">
            <a:avLst/>
          </a:prstGeom>
          <a:noFill/>
          <a:ln w="9525">
            <a:noFill/>
          </a:ln>
        </p:spPr>
        <p:txBody>
          <a:bodyPr>
            <a:spAutoFit/>
          </a:bodyPr>
          <a:p>
            <a:pPr eaLnBrk="1" hangingPunct="1"/>
            <a:r>
              <a:rPr lang="zh-CN" altLang="en-US" sz="2000" dirty="0">
                <a:solidFill>
                  <a:srgbClr val="FF0000"/>
                </a:solidFill>
                <a:latin typeface="黑体" panose="02010609060101010101" pitchFamily="49" charset="-122"/>
              </a:rPr>
              <a:t>   各种类</a:t>
            </a:r>
            <a:endParaRPr lang="en-US" altLang="zh-CN" sz="2000" dirty="0">
              <a:solidFill>
                <a:srgbClr val="FF0000"/>
              </a:solidFill>
              <a:latin typeface="黑体" panose="02010609060101010101" pitchFamily="49" charset="-122"/>
            </a:endParaRPr>
          </a:p>
          <a:p>
            <a:pPr eaLnBrk="1" hangingPunct="1"/>
            <a:r>
              <a:rPr lang="zh-CN" altLang="en-US" sz="2000" dirty="0">
                <a:solidFill>
                  <a:srgbClr val="FF0000"/>
                </a:solidFill>
                <a:latin typeface="黑体" panose="02010609060101010101" pitchFamily="49" charset="-122"/>
              </a:rPr>
              <a:t>类是面向对象程序最基本的组成单元</a:t>
            </a:r>
            <a:endParaRPr lang="zh-CN" altLang="en-US" sz="2000" dirty="0">
              <a:solidFill>
                <a:srgbClr val="FF0000"/>
              </a:solidFill>
              <a:latin typeface="黑体" panose="02010609060101010101" pitchFamily="49" charset="-122"/>
            </a:endParaRPr>
          </a:p>
        </p:txBody>
      </p:sp>
      <p:sp>
        <p:nvSpPr>
          <p:cNvPr id="4" name="右箭头 3"/>
          <p:cNvSpPr/>
          <p:nvPr/>
        </p:nvSpPr>
        <p:spPr>
          <a:xfrm>
            <a:off x="2905125" y="4306888"/>
            <a:ext cx="715963"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 name="TextBox 11"/>
          <p:cNvSpPr txBox="1"/>
          <p:nvPr/>
        </p:nvSpPr>
        <p:spPr>
          <a:xfrm>
            <a:off x="4811713" y="1830388"/>
            <a:ext cx="1504950" cy="1200150"/>
          </a:xfrm>
          <a:prstGeom prst="rect">
            <a:avLst/>
          </a:prstGeom>
          <a:noFill/>
          <a:ln w="9525">
            <a:noFill/>
          </a:ln>
        </p:spPr>
        <p:txBody>
          <a:bodyPr>
            <a:spAutoFit/>
          </a:bodyPr>
          <a:p>
            <a:pPr eaLnBrk="1" hangingPunct="1">
              <a:buFont typeface="Wingdings" panose="05000000000000000000" pitchFamily="2" charset="2"/>
            </a:pPr>
            <a:r>
              <a:rPr lang="zh-CN" altLang="en-US" sz="7200" dirty="0">
                <a:solidFill>
                  <a:srgbClr val="FF0000"/>
                </a:solidFill>
                <a:latin typeface="黑体" panose="02010609060101010101" pitchFamily="49" charset="-122"/>
              </a:rPr>
              <a:t>？</a:t>
            </a:r>
            <a:endParaRPr lang="zh-CN" altLang="en-US" sz="7200" dirty="0">
              <a:solidFill>
                <a:srgbClr val="FF0000"/>
              </a:solidFill>
              <a:latin typeface="黑体" panose="02010609060101010101" pitchFamily="49" charset="-122"/>
            </a:endParaRPr>
          </a:p>
        </p:txBody>
      </p:sp>
      <p:sp>
        <p:nvSpPr>
          <p:cNvPr id="11" name="Text Box 4"/>
          <p:cNvSpPr txBox="1">
            <a:spLocks noChangeArrowheads="1"/>
          </p:cNvSpPr>
          <p:nvPr/>
        </p:nvSpPr>
        <p:spPr bwMode="auto">
          <a:xfrm>
            <a:off x="4092575" y="665163"/>
            <a:ext cx="1878013" cy="1139825"/>
          </a:xfrm>
          <a:prstGeom prst="rect">
            <a:avLst/>
          </a:prstGeom>
          <a:noFill/>
          <a:ln w="9525">
            <a:noFill/>
            <a:miter lim="800000"/>
          </a:ln>
          <a:effectLst/>
        </p:spPr>
        <p:txBody>
          <a:bodyPr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面向对象的设计</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3" name="右箭头 12"/>
          <p:cNvSpPr/>
          <p:nvPr/>
        </p:nvSpPr>
        <p:spPr>
          <a:xfrm>
            <a:off x="2759075" y="1003300"/>
            <a:ext cx="1231900" cy="4635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p:cNvPicPr>
            <a:picLocks noChangeAspect="1"/>
          </p:cNvPicPr>
          <p:nvPr/>
        </p:nvPicPr>
        <p:blipFill>
          <a:blip r:embed="rId3"/>
          <a:stretch>
            <a:fillRect/>
          </a:stretch>
        </p:blipFill>
        <p:spPr>
          <a:xfrm>
            <a:off x="958850" y="4989513"/>
            <a:ext cx="1700213" cy="1508125"/>
          </a:xfrm>
          <a:prstGeom prst="rect">
            <a:avLst/>
          </a:prstGeom>
          <a:noFill/>
          <a:ln w="9525">
            <a:noFill/>
          </a:ln>
        </p:spPr>
      </p:pic>
      <p:sp>
        <p:nvSpPr>
          <p:cNvPr id="5" name="下箭头 4"/>
          <p:cNvSpPr/>
          <p:nvPr/>
        </p:nvSpPr>
        <p:spPr>
          <a:xfrm>
            <a:off x="1319213" y="1938338"/>
            <a:ext cx="417513"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4" name="右箭头 13"/>
          <p:cNvSpPr/>
          <p:nvPr/>
        </p:nvSpPr>
        <p:spPr>
          <a:xfrm>
            <a:off x="5681663" y="1119188"/>
            <a:ext cx="1231900" cy="4635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Text Box 4"/>
          <p:cNvSpPr txBox="1">
            <a:spLocks noChangeArrowheads="1"/>
          </p:cNvSpPr>
          <p:nvPr/>
        </p:nvSpPr>
        <p:spPr bwMode="auto">
          <a:xfrm>
            <a:off x="6962775" y="747713"/>
            <a:ext cx="1879600" cy="1139825"/>
          </a:xfrm>
          <a:prstGeom prst="rect">
            <a:avLst/>
          </a:prstGeom>
          <a:noFill/>
          <a:ln w="9525">
            <a:noFill/>
            <a:miter lim="800000"/>
          </a:ln>
          <a:effectLst/>
        </p:spPr>
        <p:txBody>
          <a:bodyPr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面向对象的实现</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6" name="下箭头 15"/>
          <p:cNvSpPr/>
          <p:nvPr/>
        </p:nvSpPr>
        <p:spPr>
          <a:xfrm>
            <a:off x="4429125" y="1909763"/>
            <a:ext cx="419100"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7" name="下箭头 16"/>
          <p:cNvSpPr/>
          <p:nvPr/>
        </p:nvSpPr>
        <p:spPr>
          <a:xfrm>
            <a:off x="7605713" y="1925638"/>
            <a:ext cx="417513"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8" name="右箭头 17"/>
          <p:cNvSpPr/>
          <p:nvPr/>
        </p:nvSpPr>
        <p:spPr>
          <a:xfrm rot="10800000">
            <a:off x="6316663" y="4214813"/>
            <a:ext cx="715963"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078288" y="5432425"/>
            <a:ext cx="1416050" cy="461963"/>
          </a:xfrm>
          <a:prstGeom prst="rect">
            <a:avLst/>
          </a:prstGeom>
          <a:noFill/>
          <a:ln w="9525">
            <a:noFill/>
          </a:ln>
        </p:spPr>
        <p:txBody>
          <a:bodyPr wrap="none">
            <a:spAutoFit/>
          </a:bodyPr>
          <a:p>
            <a:r>
              <a:rPr lang="zh-CN" altLang="en-US" dirty="0">
                <a:latin typeface="微软雅黑" panose="020B0503020204020204" pitchFamily="34" charset="-122"/>
                <a:ea typeface="微软雅黑" panose="020B0503020204020204" pitchFamily="34" charset="-122"/>
              </a:rPr>
              <a:t>对象建模</a:t>
            </a:r>
            <a:endParaRPr lang="zh-CN" altLang="en-US" dirty="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ppt_x"/>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4" grpId="0" animBg="1"/>
      <p:bldP spid="12" grpId="0"/>
      <p:bldP spid="5" grpId="0" animBg="1"/>
      <p:bldP spid="16" grpId="0" animBg="1"/>
      <p:bldP spid="17" grpId="0" animBg="1"/>
      <p:bldP spid="18" grpId="0" animBg="1"/>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xfrm>
            <a:off x="455613" y="469900"/>
            <a:ext cx="8207375" cy="1139825"/>
          </a:xfrm>
        </p:spPr>
        <p:txBody>
          <a:bodyPr vert="horz" wrap="square" lIns="0" tIns="45610" rIns="0" bIns="0" anchor="b" anchorCtr="0"/>
          <a:p>
            <a:pPr marL="606425" indent="-606425" eaLnBrk="1" hangingPunct="1">
              <a:spcBef>
                <a:spcPts val="1200"/>
              </a:spcBef>
            </a:pPr>
            <a:r>
              <a:rPr lang="zh-CN" altLang="en-US" sz="4800" b="1" dirty="0">
                <a:latin typeface="微软雅黑" panose="020B0503020204020204" pitchFamily="34" charset="-122"/>
                <a:ea typeface="微软雅黑" panose="020B0503020204020204" pitchFamily="34" charset="-122"/>
              </a:rPr>
              <a:t>分析类的识别示例</a:t>
            </a:r>
            <a:endParaRPr lang="zh-CN" altLang="en-US" sz="4800" b="1" dirty="0">
              <a:latin typeface="微软雅黑" panose="020B0503020204020204" pitchFamily="34" charset="-122"/>
              <a:ea typeface="微软雅黑" panose="020B0503020204020204" pitchFamily="34" charset="-122"/>
            </a:endParaRPr>
          </a:p>
        </p:txBody>
      </p:sp>
      <p:sp>
        <p:nvSpPr>
          <p:cNvPr id="40963" name="Rectangle 3"/>
          <p:cNvSpPr txBox="1"/>
          <p:nvPr/>
        </p:nvSpPr>
        <p:spPr>
          <a:xfrm>
            <a:off x="238125" y="1912938"/>
            <a:ext cx="8880475" cy="4383087"/>
          </a:xfrm>
          <a:prstGeom prst="rect">
            <a:avLst/>
          </a:prstGeom>
          <a:noFill/>
          <a:ln w="9525">
            <a:noFill/>
          </a:ln>
        </p:spPr>
        <p:txBody>
          <a:bodyPr lIns="91212" tIns="45605" rIns="91212" bIns="45605"/>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nSpc>
                <a:spcPct val="90000"/>
              </a:lnSpc>
              <a:buNone/>
            </a:pPr>
            <a:r>
              <a:rPr lang="zh-CN" altLang="en-US" sz="2400" b="1" dirty="0">
                <a:solidFill>
                  <a:srgbClr val="FF0000"/>
                </a:solidFill>
                <a:latin typeface="楷体_GB2312" pitchFamily="49" charset="-122"/>
              </a:rPr>
              <a:t>用例名称</a:t>
            </a:r>
            <a:r>
              <a:rPr lang="zh-CN" altLang="en-US" sz="2400" b="1" dirty="0">
                <a:solidFill>
                  <a:srgbClr val="000000"/>
                </a:solidFill>
                <a:latin typeface="楷体_GB2312" pitchFamily="49" charset="-122"/>
              </a:rPr>
              <a:t>：开户</a:t>
            </a:r>
            <a:endParaRPr lang="en-US" altLang="zh-CN" sz="2400" b="1" dirty="0">
              <a:solidFill>
                <a:srgbClr val="000000"/>
              </a:solidFill>
              <a:latin typeface="楷体_GB2312" pitchFamily="49" charset="-122"/>
            </a:endParaRPr>
          </a:p>
          <a:p>
            <a:pPr marL="0" lvl="0" indent="0">
              <a:lnSpc>
                <a:spcPct val="90000"/>
              </a:lnSpc>
              <a:buNone/>
            </a:pPr>
            <a:r>
              <a:rPr lang="en-US" altLang="zh-CN" sz="2400" b="1" dirty="0">
                <a:solidFill>
                  <a:srgbClr val="000000"/>
                </a:solidFill>
                <a:latin typeface="楷体_GB2312" pitchFamily="49" charset="-122"/>
              </a:rPr>
              <a:t> </a:t>
            </a:r>
            <a:r>
              <a:rPr lang="en-US" altLang="zh-CN" sz="2400" b="1" dirty="0">
                <a:solidFill>
                  <a:srgbClr val="FF0000"/>
                </a:solidFill>
                <a:latin typeface="楷体_GB2312" pitchFamily="49" charset="-122"/>
              </a:rPr>
              <a:t>……</a:t>
            </a:r>
            <a:endParaRPr lang="en-US" altLang="zh-CN" sz="2400" b="1" dirty="0">
              <a:solidFill>
                <a:srgbClr val="FF0000"/>
              </a:solidFill>
              <a:latin typeface="楷体_GB2312" pitchFamily="49" charset="-122"/>
            </a:endParaRPr>
          </a:p>
          <a:p>
            <a:pPr marL="0" lvl="0" indent="0">
              <a:lnSpc>
                <a:spcPct val="90000"/>
              </a:lnSpc>
              <a:spcBef>
                <a:spcPct val="0"/>
              </a:spcBef>
              <a:buNone/>
            </a:pPr>
            <a:r>
              <a:rPr lang="zh-CN" altLang="en-US" sz="2400" b="1" dirty="0">
                <a:solidFill>
                  <a:srgbClr val="FF0000"/>
                </a:solidFill>
                <a:latin typeface="楷体_GB2312" pitchFamily="49" charset="-122"/>
              </a:rPr>
              <a:t>事件流</a:t>
            </a:r>
            <a:r>
              <a:rPr lang="zh-CN" altLang="en-US" sz="2400" b="1" dirty="0">
                <a:solidFill>
                  <a:srgbClr val="000000"/>
                </a:solidFill>
                <a:latin typeface="楷体_GB2312" pitchFamily="49" charset="-122"/>
              </a:rPr>
              <a:t>：</a:t>
            </a:r>
            <a:endParaRPr lang="zh-CN" altLang="en-US" sz="24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1.</a:t>
            </a:r>
            <a:r>
              <a:rPr lang="zh-CN" altLang="en-US" sz="2000" b="1" dirty="0">
                <a:solidFill>
                  <a:srgbClr val="000000"/>
                </a:solidFill>
                <a:latin typeface="楷体_GB2312" pitchFamily="49" charset="-122"/>
              </a:rPr>
              <a:t>银行职员在</a:t>
            </a:r>
            <a:r>
              <a:rPr lang="zh-CN" altLang="en-US" sz="2000" b="1" u="sng" dirty="0">
                <a:solidFill>
                  <a:srgbClr val="0070C0"/>
                </a:solidFill>
                <a:latin typeface="楷体_GB2312" pitchFamily="49" charset="-122"/>
              </a:rPr>
              <a:t>系统主页</a:t>
            </a:r>
            <a:r>
              <a:rPr lang="zh-CN" altLang="en-US" sz="2000" b="1" dirty="0">
                <a:solidFill>
                  <a:srgbClr val="000000"/>
                </a:solidFill>
                <a:latin typeface="楷体_GB2312" pitchFamily="49" charset="-122"/>
              </a:rPr>
              <a:t>，点击开户按钮</a:t>
            </a:r>
            <a:r>
              <a:rPr lang="zh-CN" altLang="en-US" sz="2200" b="1" dirty="0">
                <a:solidFill>
                  <a:srgbClr val="000000"/>
                </a:solidFill>
                <a:latin typeface="楷体_GB2312" pitchFamily="49" charset="-122"/>
              </a:rPr>
              <a:t>；</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2.</a:t>
            </a:r>
            <a:r>
              <a:rPr lang="zh-CN" altLang="en-US" sz="2200" b="1" dirty="0">
                <a:solidFill>
                  <a:srgbClr val="000000"/>
                </a:solidFill>
                <a:latin typeface="楷体_GB2312" pitchFamily="49" charset="-122"/>
              </a:rPr>
              <a:t>系统</a:t>
            </a:r>
            <a:r>
              <a:rPr lang="zh-CN" altLang="en-US" sz="2200" b="1" u="sng" dirty="0">
                <a:solidFill>
                  <a:srgbClr val="7030A0"/>
                </a:solidFill>
                <a:latin typeface="楷体_GB2312" pitchFamily="49" charset="-122"/>
              </a:rPr>
              <a:t>弹出</a:t>
            </a:r>
            <a:r>
              <a:rPr lang="zh-CN" altLang="en-US" sz="2200" b="1" u="sng" dirty="0">
                <a:solidFill>
                  <a:srgbClr val="0070C0"/>
                </a:solidFill>
                <a:latin typeface="楷体_GB2312" pitchFamily="49" charset="-122"/>
              </a:rPr>
              <a:t>开户页面</a:t>
            </a:r>
            <a:r>
              <a:rPr lang="zh-CN" altLang="en-US" sz="2200" b="1" dirty="0">
                <a:solidFill>
                  <a:srgbClr val="000000"/>
                </a:solidFill>
                <a:latin typeface="楷体_GB2312" pitchFamily="49" charset="-122"/>
              </a:rPr>
              <a:t>，并</a:t>
            </a:r>
            <a:r>
              <a:rPr lang="zh-CN" altLang="en-US" sz="2200" b="1" u="sng" dirty="0">
                <a:solidFill>
                  <a:srgbClr val="7030A0"/>
                </a:solidFill>
                <a:latin typeface="楷体_GB2312" pitchFamily="49" charset="-122"/>
              </a:rPr>
              <a:t>显示</a:t>
            </a:r>
            <a:r>
              <a:rPr lang="zh-CN" altLang="en-US" sz="2200" b="1" dirty="0">
                <a:solidFill>
                  <a:srgbClr val="000000"/>
                </a:solidFill>
                <a:latin typeface="楷体_GB2312" pitchFamily="49" charset="-122"/>
              </a:rPr>
              <a:t>提示输入客户信息的消息；</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2.</a:t>
            </a:r>
            <a:r>
              <a:rPr lang="zh-CN" altLang="en-US" sz="2000" b="1" dirty="0">
                <a:solidFill>
                  <a:srgbClr val="000000"/>
                </a:solidFill>
                <a:latin typeface="楷体_GB2312" pitchFamily="49" charset="-122"/>
              </a:rPr>
              <a:t>银行职员在开户页面</a:t>
            </a:r>
            <a:r>
              <a:rPr lang="zh-CN" altLang="en-US" sz="2200" b="1" dirty="0">
                <a:solidFill>
                  <a:srgbClr val="000000"/>
                </a:solidFill>
                <a:latin typeface="楷体_GB2312" pitchFamily="49" charset="-122"/>
              </a:rPr>
              <a:t>输入</a:t>
            </a:r>
            <a:r>
              <a:rPr lang="zh-CN" altLang="en-US" sz="2200" b="1" dirty="0">
                <a:solidFill>
                  <a:srgbClr val="387026"/>
                </a:solidFill>
                <a:latin typeface="楷体_GB2312" pitchFamily="49" charset="-122"/>
              </a:rPr>
              <a:t>客户信息</a:t>
            </a:r>
            <a:r>
              <a:rPr lang="zh-CN" altLang="en-US" sz="2200" b="1" dirty="0">
                <a:solidFill>
                  <a:srgbClr val="000000"/>
                </a:solidFill>
                <a:latin typeface="楷体_GB2312" pitchFamily="49" charset="-122"/>
              </a:rPr>
              <a:t>（姓名、地址、身份证号等）；</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3.</a:t>
            </a:r>
            <a:r>
              <a:rPr lang="zh-CN" altLang="en-US" sz="2200" b="1" dirty="0">
                <a:solidFill>
                  <a:srgbClr val="000000"/>
                </a:solidFill>
                <a:latin typeface="楷体_GB2312" pitchFamily="49" charset="-122"/>
              </a:rPr>
              <a:t>系统在开户页面显示给客户</a:t>
            </a:r>
            <a:r>
              <a:rPr lang="zh-CN" altLang="en-US" sz="2200" b="1" u="sng" dirty="0">
                <a:solidFill>
                  <a:srgbClr val="7030A0"/>
                </a:solidFill>
                <a:latin typeface="楷体_GB2312" pitchFamily="49" charset="-122"/>
              </a:rPr>
              <a:t>分配</a:t>
            </a:r>
            <a:r>
              <a:rPr lang="zh-CN" altLang="en-US" sz="2200" b="1" dirty="0">
                <a:solidFill>
                  <a:srgbClr val="000000"/>
                </a:solidFill>
                <a:latin typeface="楷体_GB2312" pitchFamily="49" charset="-122"/>
              </a:rPr>
              <a:t>的</a:t>
            </a:r>
            <a:r>
              <a:rPr lang="zh-CN" altLang="en-US" sz="2200" b="1" dirty="0">
                <a:solidFill>
                  <a:srgbClr val="387026"/>
                </a:solidFill>
                <a:latin typeface="楷体_GB2312" pitchFamily="49" charset="-122"/>
              </a:rPr>
              <a:t>账号</a:t>
            </a:r>
            <a:r>
              <a:rPr lang="zh-CN" altLang="en-US" sz="2200" b="1" dirty="0">
                <a:solidFill>
                  <a:srgbClr val="000000"/>
                </a:solidFill>
                <a:latin typeface="楷体_GB2312" pitchFamily="49" charset="-122"/>
              </a:rPr>
              <a:t>；</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4.</a:t>
            </a:r>
            <a:r>
              <a:rPr lang="zh-CN" altLang="en-US" sz="2200" b="1" dirty="0">
                <a:solidFill>
                  <a:srgbClr val="000000"/>
                </a:solidFill>
                <a:latin typeface="楷体_GB2312" pitchFamily="49" charset="-122"/>
              </a:rPr>
              <a:t>系统</a:t>
            </a:r>
            <a:r>
              <a:rPr lang="zh-CN" altLang="en-US" sz="2200" b="1" u="sng" dirty="0">
                <a:solidFill>
                  <a:srgbClr val="7030A0"/>
                </a:solidFill>
                <a:latin typeface="楷体_GB2312" pitchFamily="49" charset="-122"/>
              </a:rPr>
              <a:t>提示</a:t>
            </a:r>
            <a:r>
              <a:rPr lang="zh-CN" altLang="en-US" sz="2200" b="1" dirty="0">
                <a:solidFill>
                  <a:srgbClr val="000000"/>
                </a:solidFill>
                <a:latin typeface="楷体_GB2312" pitchFamily="49" charset="-122"/>
              </a:rPr>
              <a:t>客户输入</a:t>
            </a:r>
            <a:r>
              <a:rPr lang="zh-CN" altLang="en-US" sz="2200" b="1" dirty="0">
                <a:solidFill>
                  <a:srgbClr val="387026"/>
                </a:solidFill>
                <a:latin typeface="楷体_GB2312" pitchFamily="49" charset="-122"/>
              </a:rPr>
              <a:t>密码</a:t>
            </a:r>
            <a:r>
              <a:rPr lang="zh-CN" altLang="en-US" sz="2200" b="1" dirty="0">
                <a:solidFill>
                  <a:srgbClr val="000000"/>
                </a:solidFill>
                <a:latin typeface="楷体_GB2312" pitchFamily="49" charset="-122"/>
              </a:rPr>
              <a:t>；</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5.</a:t>
            </a:r>
            <a:r>
              <a:rPr lang="zh-CN" altLang="en-US" sz="2200" b="1" dirty="0">
                <a:solidFill>
                  <a:srgbClr val="000000"/>
                </a:solidFill>
                <a:latin typeface="楷体_GB2312" pitchFamily="49" charset="-122"/>
              </a:rPr>
              <a:t>客户输入密码；</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6.</a:t>
            </a:r>
            <a:r>
              <a:rPr lang="zh-CN" altLang="en-US" sz="2200" b="1" dirty="0">
                <a:solidFill>
                  <a:srgbClr val="000000"/>
                </a:solidFill>
                <a:latin typeface="楷体_GB2312" pitchFamily="49" charset="-122"/>
              </a:rPr>
              <a:t>系统再次提示客户再次输入密码；</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7.</a:t>
            </a:r>
            <a:r>
              <a:rPr lang="zh-CN" altLang="en-US" sz="2200" b="1" dirty="0">
                <a:solidFill>
                  <a:srgbClr val="000000"/>
                </a:solidFill>
                <a:latin typeface="楷体_GB2312" pitchFamily="49" charset="-122"/>
              </a:rPr>
              <a:t>客户再次输入密码；</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8.</a:t>
            </a:r>
            <a:r>
              <a:rPr lang="zh-CN" altLang="en-US" sz="2200" b="1" dirty="0">
                <a:solidFill>
                  <a:srgbClr val="000000"/>
                </a:solidFill>
                <a:latin typeface="楷体_GB2312" pitchFamily="49" charset="-122"/>
              </a:rPr>
              <a:t>系统</a:t>
            </a:r>
            <a:r>
              <a:rPr lang="zh-CN" altLang="en-US" sz="2200" b="1" u="sng" dirty="0">
                <a:solidFill>
                  <a:srgbClr val="7030A0"/>
                </a:solidFill>
                <a:latin typeface="楷体_GB2312" pitchFamily="49" charset="-122"/>
              </a:rPr>
              <a:t>检测</a:t>
            </a:r>
            <a:r>
              <a:rPr lang="zh-CN" altLang="en-US" sz="2200" b="1" dirty="0">
                <a:solidFill>
                  <a:srgbClr val="000000"/>
                </a:solidFill>
                <a:latin typeface="楷体_GB2312" pitchFamily="49" charset="-122"/>
              </a:rPr>
              <a:t>客户输入的两次密码是否一致，如果不一致则回到第</a:t>
            </a:r>
            <a:r>
              <a:rPr lang="en-US" altLang="zh-CN" sz="2200" b="1" dirty="0">
                <a:solidFill>
                  <a:srgbClr val="000000"/>
                </a:solidFill>
                <a:latin typeface="楷体_GB2312" pitchFamily="49" charset="-122"/>
              </a:rPr>
              <a:t>4</a:t>
            </a:r>
            <a:r>
              <a:rPr lang="zh-CN" altLang="en-US" sz="2200" b="1" dirty="0">
                <a:solidFill>
                  <a:srgbClr val="000000"/>
                </a:solidFill>
                <a:latin typeface="楷体_GB2312" pitchFamily="49" charset="-122"/>
              </a:rPr>
              <a:t>步，否则继续；</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9.</a:t>
            </a:r>
            <a:r>
              <a:rPr lang="zh-CN" altLang="en-US" sz="2200" b="1" dirty="0">
                <a:solidFill>
                  <a:srgbClr val="000000"/>
                </a:solidFill>
                <a:latin typeface="楷体_GB2312" pitchFamily="49" charset="-122"/>
              </a:rPr>
              <a:t>系统在账户库中</a:t>
            </a:r>
            <a:r>
              <a:rPr lang="zh-CN" altLang="en-US" sz="2200" b="1" u="sng" dirty="0">
                <a:solidFill>
                  <a:srgbClr val="7030A0"/>
                </a:solidFill>
                <a:latin typeface="楷体_GB2312" pitchFamily="49" charset="-122"/>
              </a:rPr>
              <a:t>添加</a:t>
            </a:r>
            <a:r>
              <a:rPr lang="zh-CN" altLang="en-US" sz="2200" b="1" u="sng" dirty="0">
                <a:solidFill>
                  <a:srgbClr val="000000"/>
                </a:solidFill>
                <a:latin typeface="楷体_GB2312" pitchFamily="49" charset="-122"/>
              </a:rPr>
              <a:t>新</a:t>
            </a:r>
            <a:r>
              <a:rPr lang="zh-CN" altLang="en-US" sz="2200" b="1" u="sng" dirty="0">
                <a:solidFill>
                  <a:srgbClr val="387026"/>
                </a:solidFill>
                <a:latin typeface="楷体_GB2312" pitchFamily="49" charset="-122"/>
              </a:rPr>
              <a:t>账户</a:t>
            </a:r>
            <a:r>
              <a:rPr lang="zh-CN" altLang="en-US" sz="2200" b="1" dirty="0">
                <a:solidFill>
                  <a:srgbClr val="000000"/>
                </a:solidFill>
                <a:latin typeface="楷体_GB2312" pitchFamily="49" charset="-122"/>
              </a:rPr>
              <a:t>；</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10.</a:t>
            </a:r>
            <a:r>
              <a:rPr lang="zh-CN" altLang="en-US" sz="2200" b="1" dirty="0">
                <a:solidFill>
                  <a:srgbClr val="000000"/>
                </a:solidFill>
                <a:latin typeface="楷体_GB2312" pitchFamily="49" charset="-122"/>
              </a:rPr>
              <a:t>用例结束。</a:t>
            </a:r>
            <a:endParaRPr lang="zh-CN" altLang="en-US" sz="2200" b="1" dirty="0">
              <a:solidFill>
                <a:srgbClr val="000000"/>
              </a:solidFill>
              <a:latin typeface="楷体_GB2312" pitchFamily="49" charset="-122"/>
            </a:endParaRPr>
          </a:p>
        </p:txBody>
      </p:sp>
      <p:grpSp>
        <p:nvGrpSpPr>
          <p:cNvPr id="40964" name="组合 5"/>
          <p:cNvGrpSpPr/>
          <p:nvPr/>
        </p:nvGrpSpPr>
        <p:grpSpPr>
          <a:xfrm>
            <a:off x="3983038" y="1976438"/>
            <a:ext cx="1944687" cy="574675"/>
            <a:chOff x="3983236" y="2198514"/>
            <a:chExt cx="1944216" cy="576064"/>
          </a:xfrm>
        </p:grpSpPr>
        <p:sp>
          <p:nvSpPr>
            <p:cNvPr id="2" name="圆角矩形标注 1"/>
            <p:cNvSpPr/>
            <p:nvPr/>
          </p:nvSpPr>
          <p:spPr>
            <a:xfrm>
              <a:off x="3983236" y="2198514"/>
              <a:ext cx="1944216" cy="576064"/>
            </a:xfrm>
            <a:prstGeom prst="wedgeRoundRectCallout">
              <a:avLst>
                <a:gd name="adj1" fmla="val -95143"/>
                <a:gd name="adj2" fmla="val 1386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边界类</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sp>
          <p:nvSpPr>
            <p:cNvPr id="7" name="圆角矩形标注 6"/>
            <p:cNvSpPr/>
            <p:nvPr/>
          </p:nvSpPr>
          <p:spPr>
            <a:xfrm>
              <a:off x="3983236" y="2198514"/>
              <a:ext cx="1944216" cy="576064"/>
            </a:xfrm>
            <a:prstGeom prst="wedgeRoundRectCallout">
              <a:avLst>
                <a:gd name="adj1" fmla="val -91380"/>
                <a:gd name="adj2" fmla="val 2053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边界类对象</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grpSp>
      <p:sp>
        <p:nvSpPr>
          <p:cNvPr id="10" name="圆角矩形标注 9"/>
          <p:cNvSpPr/>
          <p:nvPr/>
        </p:nvSpPr>
        <p:spPr>
          <a:xfrm>
            <a:off x="6288088" y="4351338"/>
            <a:ext cx="1943100" cy="576263"/>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实体类对象</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grpSp>
        <p:nvGrpSpPr>
          <p:cNvPr id="40966" name="组合 7"/>
          <p:cNvGrpSpPr/>
          <p:nvPr/>
        </p:nvGrpSpPr>
        <p:grpSpPr>
          <a:xfrm>
            <a:off x="6645275" y="2262188"/>
            <a:ext cx="1952625" cy="577850"/>
            <a:chOff x="6645072" y="2486546"/>
            <a:chExt cx="1953352" cy="576064"/>
          </a:xfrm>
        </p:grpSpPr>
        <p:sp>
          <p:nvSpPr>
            <p:cNvPr id="12" name="圆角矩形标注 11"/>
            <p:cNvSpPr/>
            <p:nvPr/>
          </p:nvSpPr>
          <p:spPr>
            <a:xfrm>
              <a:off x="6648248" y="2486546"/>
              <a:ext cx="1943823" cy="576064"/>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sp>
          <p:nvSpPr>
            <p:cNvPr id="13" name="圆角矩形标注 12"/>
            <p:cNvSpPr/>
            <p:nvPr/>
          </p:nvSpPr>
          <p:spPr>
            <a:xfrm>
              <a:off x="6645072" y="2486546"/>
              <a:ext cx="1943823" cy="576064"/>
            </a:xfrm>
            <a:prstGeom prst="wedgeRoundRectCallout">
              <a:avLst>
                <a:gd name="adj1" fmla="val -170395"/>
                <a:gd name="adj2" fmla="val 1482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sp>
          <p:nvSpPr>
            <p:cNvPr id="14" name="圆角矩形标注 13"/>
            <p:cNvSpPr/>
            <p:nvPr/>
          </p:nvSpPr>
          <p:spPr>
            <a:xfrm>
              <a:off x="6654601" y="2486546"/>
              <a:ext cx="1943823" cy="576064"/>
            </a:xfrm>
            <a:prstGeom prst="wedgeRoundRectCallout">
              <a:avLst>
                <a:gd name="adj1" fmla="val -280919"/>
                <a:gd name="adj2" fmla="val 5212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控制类对象</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gr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xfrm>
            <a:off x="466725" y="1347788"/>
            <a:ext cx="8207375" cy="1139825"/>
          </a:xfrm>
        </p:spPr>
        <p:txBody>
          <a:bodyPr vert="horz" wrap="square" lIns="0" tIns="45610" rIns="0" bIns="0" anchor="b" anchorCtr="0"/>
          <a:p>
            <a:pPr marL="271780" indent="-271780" defTabSz="914400">
              <a:spcBef>
                <a:spcPct val="20000"/>
              </a:spcBef>
              <a:tabLst>
                <a:tab pos="455930" algn="l"/>
              </a:tabLst>
            </a:pPr>
            <a:r>
              <a:rPr lang="zh-CN" altLang="en-US" b="1" dirty="0">
                <a:latin typeface="微软雅黑" panose="020B0503020204020204" pitchFamily="34" charset="-122"/>
                <a:ea typeface="微软雅黑" panose="020B0503020204020204" pitchFamily="34" charset="-122"/>
              </a:rPr>
              <a:t>对“开户”用例分析之后所得到的系统应实现的类</a:t>
            </a:r>
            <a:endParaRPr lang="en-US" altLang="zh-CN" sz="5400" dirty="0"/>
          </a:p>
        </p:txBody>
      </p:sp>
      <p:pic>
        <p:nvPicPr>
          <p:cNvPr id="41987" name="Picture 4"/>
          <p:cNvPicPr>
            <a:picLocks noChangeAspect="1"/>
          </p:cNvPicPr>
          <p:nvPr/>
        </p:nvPicPr>
        <p:blipFill>
          <a:blip r:embed="rId1"/>
          <a:stretch>
            <a:fillRect/>
          </a:stretch>
        </p:blipFill>
        <p:spPr>
          <a:xfrm>
            <a:off x="2471738" y="3457575"/>
            <a:ext cx="3197225" cy="2481263"/>
          </a:xfrm>
          <a:prstGeom prst="rect">
            <a:avLst/>
          </a:prstGeom>
          <a:noFill/>
          <a:ln w="9525">
            <a:noFill/>
          </a:ln>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10" name="Picture 3"/>
          <p:cNvPicPr>
            <a:picLocks noChangeAspect="1"/>
          </p:cNvPicPr>
          <p:nvPr/>
        </p:nvPicPr>
        <p:blipFill>
          <a:blip r:embed="rId1"/>
          <a:stretch>
            <a:fillRect/>
          </a:stretch>
        </p:blipFill>
        <p:spPr>
          <a:xfrm>
            <a:off x="254000" y="-177800"/>
            <a:ext cx="8431213" cy="7272338"/>
          </a:xfrm>
          <a:prstGeom prst="rect">
            <a:avLst/>
          </a:prstGeom>
          <a:noFill/>
          <a:ln w="9525">
            <a:noFill/>
          </a:ln>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1"/>
          <p:cNvSpPr>
            <a:spLocks noChangeArrowheads="1"/>
          </p:cNvSpPr>
          <p:nvPr/>
        </p:nvSpPr>
        <p:spPr bwMode="auto">
          <a:xfrm>
            <a:off x="393700" y="614363"/>
            <a:ext cx="84740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marL="273050" indent="-273050" eaLnBrk="0" hangingPunct="0">
              <a:spcBef>
                <a:spcPct val="20000"/>
              </a:spcBef>
              <a:buClr>
                <a:srgbClr val="0BD0D9"/>
              </a:buClr>
              <a:buSzPct val="95000"/>
              <a:buFont typeface="Wingdings 2" panose="05020102010507070707" pitchFamily="18" charset="2"/>
              <a:buChar char=""/>
              <a:tabLst>
                <a:tab pos="457200" algn="l"/>
              </a:tabLst>
              <a:defRPr sz="2600">
                <a:solidFill>
                  <a:schemeClr val="tx1"/>
                </a:solidFill>
                <a:latin typeface="Constantia" panose="02030602050306030303" charset="0"/>
                <a:ea typeface="宋体" panose="02010600030101010101" pitchFamily="2" charset="-122"/>
              </a:defRPr>
            </a:lvl1pPr>
            <a:lvl2pPr marL="742950" indent="-285750" eaLnBrk="0" hangingPunct="0">
              <a:spcBef>
                <a:spcPct val="20000"/>
              </a:spcBef>
              <a:buClr>
                <a:schemeClr val="accent1"/>
              </a:buClr>
              <a:buSzPct val="85000"/>
              <a:buFont typeface="Wingdings 2" panose="05020102010507070707" pitchFamily="18" charset="2"/>
              <a:buChar char=""/>
              <a:tabLst>
                <a:tab pos="457200" algn="l"/>
              </a:tabLst>
              <a:defRPr sz="2400">
                <a:solidFill>
                  <a:schemeClr val="tx1"/>
                </a:solidFill>
                <a:latin typeface="Constantia" panose="02030602050306030303" charset="0"/>
                <a:ea typeface="宋体" panose="02010600030101010101" pitchFamily="2" charset="-122"/>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l"/>
              </a:tabLst>
              <a:defRPr sz="2100">
                <a:solidFill>
                  <a:schemeClr val="tx1"/>
                </a:solidFill>
                <a:latin typeface="Constantia" panose="02030602050306030303" charset="0"/>
                <a:ea typeface="宋体" panose="02010600030101010101" pitchFamily="2" charset="-122"/>
              </a:defRPr>
            </a:lvl3pPr>
            <a:lvl4pPr marL="1600200" indent="-228600" eaLnBrk="0" hangingPunct="0">
              <a:spcBef>
                <a:spcPct val="20000"/>
              </a:spcBef>
              <a:buClr>
                <a:srgbClr val="0BD0D9"/>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4pPr>
            <a:lvl5pPr marL="2057400" indent="-228600" eaLnBrk="0" hangingPunct="0">
              <a:spcBef>
                <a:spcPct val="20000"/>
              </a:spcBef>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zh-CN" altLang="en-US"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rPr>
              <a:t>对用例“开户”进行分析之后得到的类图</a:t>
            </a:r>
            <a:endParaRPr kumimoji="1" lang="en-US" altLang="zh-CN"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endParaRPr>
          </a:p>
        </p:txBody>
      </p:sp>
      <p:pic>
        <p:nvPicPr>
          <p:cNvPr id="44035" name="Picture 4"/>
          <p:cNvPicPr>
            <a:picLocks noChangeAspect="1"/>
          </p:cNvPicPr>
          <p:nvPr/>
        </p:nvPicPr>
        <p:blipFill>
          <a:blip r:embed="rId1"/>
          <a:stretch>
            <a:fillRect/>
          </a:stretch>
        </p:blipFill>
        <p:spPr>
          <a:xfrm>
            <a:off x="1671638" y="2271713"/>
            <a:ext cx="5029200" cy="4432300"/>
          </a:xfrm>
          <a:prstGeom prst="rect">
            <a:avLst/>
          </a:prstGeom>
          <a:noFill/>
          <a:ln w="9525">
            <a:noFill/>
          </a:ln>
        </p:spPr>
      </p:pic>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311150" y="658813"/>
            <a:ext cx="8712200" cy="1538605"/>
          </a:xfrm>
          <a:prstGeom prst="rect">
            <a:avLst/>
          </a:prstGeom>
          <a:noFill/>
          <a:ln w="9525">
            <a:noFill/>
            <a:miter lim="800000"/>
          </a:ln>
          <a:effectLst/>
        </p:spPr>
        <p:txBody>
          <a:bodyPr lIns="0" tIns="0" rIns="0" bIns="0">
            <a:spAutoFit/>
          </a:bodyPr>
          <a:lstStyle/>
          <a:p>
            <a:pPr marR="0" defTabSz="914400" eaLnBrk="1" hangingPunct="1">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第八次课：面向对象设计的进一步介绍</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4340" name="Text Box 5"/>
          <p:cNvSpPr txBox="1">
            <a:spLocks noChangeArrowheads="1"/>
          </p:cNvSpPr>
          <p:nvPr/>
        </p:nvSpPr>
        <p:spPr bwMode="auto">
          <a:xfrm>
            <a:off x="384175" y="2554288"/>
            <a:ext cx="7897813"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1pPr>
            <a:lvl2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2pPr>
            <a:lvl3pPr indent="-4572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9p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44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回答三个问题</a:t>
            </a:r>
            <a:r>
              <a:rPr kumimoji="1" lang="zh-CN" altLang="en-US" sz="44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a:t>
            </a:r>
            <a:endParaRPr kumimoji="1" lang="en-US" altLang="zh-CN" sz="44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1</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）对于大型系统如何进行设计？</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2</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）概要设计完了之后，系统的详细设计做什么？</a:t>
            </a:r>
            <a:endParaRPr kumimoji="1" lang="en-US" altLang="zh-CN" sz="32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3</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）在确定类与类之间关系的过程中，有没有更好的指导方法？</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内容占位符 2"/>
          <p:cNvSpPr>
            <a:spLocks noGrp="1"/>
          </p:cNvSpPr>
          <p:nvPr>
            <p:ph idx="1"/>
          </p:nvPr>
        </p:nvSpPr>
        <p:spPr>
          <a:xfrm>
            <a:off x="322263" y="1770063"/>
            <a:ext cx="8132762" cy="3878262"/>
          </a:xfrm>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概要设计：</a:t>
            </a:r>
            <a:endParaRPr lang="en-US" altLang="zh-CN" sz="3200" b="1" dirty="0">
              <a:solidFill>
                <a:srgbClr val="FF0000"/>
              </a:solidFill>
            </a:endParaRPr>
          </a:p>
          <a:p>
            <a:pPr marL="615950" lvl="2" indent="-342900" defTabSz="914400" eaLnBrk="1" hangingPunct="1">
              <a:lnSpc>
                <a:spcPct val="120000"/>
              </a:lnSpc>
              <a:buClr>
                <a:srgbClr val="0BD0D9"/>
              </a:buClr>
              <a:buSzPct val="95000"/>
              <a:buFont typeface="Wingdings" panose="05000000000000000000" pitchFamily="2" charset="2"/>
              <a:buChar char="Ø"/>
              <a:tabLst>
                <a:tab pos="457200" algn="l"/>
              </a:tabLst>
            </a:pPr>
            <a:r>
              <a:rPr lang="zh-CN" altLang="en-US" dirty="0"/>
              <a:t>包括如何把整个系统分解为子系统、子系统的软硬件布局等策略性决策</a:t>
            </a:r>
            <a:endParaRPr lang="en-US" altLang="zh-CN"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详细设计：</a:t>
            </a:r>
            <a:endParaRPr lang="en-US" altLang="zh-CN" sz="3200" b="1" dirty="0">
              <a:solidFill>
                <a:srgbClr val="FF0000"/>
              </a:solidFill>
            </a:endParaRPr>
          </a:p>
          <a:p>
            <a:pPr marL="615950" lvl="2" indent="-342900" defTabSz="914400" eaLnBrk="1" hangingPunct="1">
              <a:lnSpc>
                <a:spcPct val="120000"/>
              </a:lnSpc>
              <a:buClr>
                <a:srgbClr val="0BD0D9"/>
              </a:buClr>
              <a:buSzPct val="95000"/>
              <a:buFont typeface="Wingdings" panose="05000000000000000000" pitchFamily="2" charset="2"/>
              <a:buChar char="Ø"/>
              <a:tabLst>
                <a:tab pos="457200" algn="l"/>
              </a:tabLst>
            </a:pPr>
            <a:r>
              <a:rPr lang="zh-CN" altLang="en-US" dirty="0"/>
              <a:t>根据具体的实现策略，对分析模型进行扩充，包括了对象设计和对象持久化设计</a:t>
            </a:r>
            <a:endParaRPr lang="en-US" altLang="zh-CN"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设计评审：</a:t>
            </a:r>
            <a:endParaRPr lang="en-US" altLang="zh-CN" sz="3200" b="1" dirty="0">
              <a:solidFill>
                <a:srgbClr val="FF0000"/>
              </a:solidFill>
            </a:endParaRPr>
          </a:p>
          <a:p>
            <a:pPr marL="615950" lvl="2" indent="-342900" defTabSz="914400" eaLnBrk="1" hangingPunct="1">
              <a:lnSpc>
                <a:spcPct val="120000"/>
              </a:lnSpc>
              <a:buClr>
                <a:srgbClr val="0BD0D9"/>
              </a:buClr>
              <a:buSzPct val="95000"/>
              <a:buFont typeface="Wingdings" panose="05000000000000000000" pitchFamily="2" charset="2"/>
              <a:buChar char="Ø"/>
              <a:tabLst>
                <a:tab pos="457200" algn="l"/>
              </a:tabLst>
            </a:pPr>
            <a:r>
              <a:rPr lang="zh-CN" altLang="en-US" dirty="0"/>
              <a:t>对所设计的系统和系统设计规格说明报告逐一进行严格审查，检查是否达到系统设计功能要求</a:t>
            </a:r>
            <a:endParaRPr lang="en-US" altLang="zh-CN" dirty="0"/>
          </a:p>
        </p:txBody>
      </p:sp>
      <p:sp>
        <p:nvSpPr>
          <p:cNvPr id="46083" name="标题 1"/>
          <p:cNvSpPr>
            <a:spLocks noGrp="1"/>
          </p:cNvSpPr>
          <p:nvPr>
            <p:ph type="title"/>
          </p:nvPr>
        </p:nvSpPr>
        <p:spPr>
          <a:xfrm>
            <a:off x="455613" y="469900"/>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系统设计一般包括两步</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内容占位符 2"/>
          <p:cNvSpPr>
            <a:spLocks noGrp="1"/>
          </p:cNvSpPr>
          <p:nvPr>
            <p:ph idx="1"/>
          </p:nvPr>
        </p:nvSpPr>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t>概要设计主要是对</a:t>
            </a:r>
            <a:r>
              <a:rPr lang="zh-CN" altLang="en-US" b="1" dirty="0">
                <a:solidFill>
                  <a:srgbClr val="FF0000"/>
                </a:solidFill>
              </a:rPr>
              <a:t>系统的体系结构</a:t>
            </a:r>
            <a:r>
              <a:rPr lang="zh-CN" altLang="en-US" b="1" dirty="0"/>
              <a:t>进行设计</a:t>
            </a:r>
            <a:endParaRPr lang="en-US" altLang="zh-CN"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t>系统体系结构也称为</a:t>
            </a:r>
            <a:r>
              <a:rPr lang="zh-CN" altLang="en-US" b="1" dirty="0">
                <a:solidFill>
                  <a:srgbClr val="FF0000"/>
                </a:solidFill>
              </a:rPr>
              <a:t>系统架构</a:t>
            </a:r>
            <a:r>
              <a:rPr lang="zh-CN" altLang="en-US" b="1" dirty="0"/>
              <a:t>，是指</a:t>
            </a:r>
            <a:r>
              <a:rPr lang="zh-CN" altLang="en-US" b="1" u="sng" dirty="0"/>
              <a:t>一个或一组结构</a:t>
            </a:r>
            <a:r>
              <a:rPr lang="zh-CN" altLang="en-US" b="1" dirty="0"/>
              <a:t>，它包含组成系统的软件元素、这些元素对外可见的性质以及它们之间的关系</a:t>
            </a:r>
            <a:endParaRPr lang="en-US" altLang="zh-CN" b="1" dirty="0">
              <a:solidFill>
                <a:srgbClr val="FF0000"/>
              </a:solidFill>
            </a:endParaRPr>
          </a:p>
        </p:txBody>
      </p:sp>
      <p:sp>
        <p:nvSpPr>
          <p:cNvPr id="47107" name="标题 1"/>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概要设计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内容占位符 2"/>
          <p:cNvSpPr>
            <a:spLocks noGrp="1"/>
          </p:cNvSpPr>
          <p:nvPr>
            <p:ph idx="1"/>
          </p:nvPr>
        </p:nvSpPr>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系统架构是</a:t>
            </a:r>
            <a:r>
              <a:rPr lang="zh-CN" altLang="en-US" b="1" u="sng" dirty="0">
                <a:solidFill>
                  <a:srgbClr val="FF0000"/>
                </a:solidFill>
              </a:rPr>
              <a:t>最高层次的系统分解</a:t>
            </a:r>
            <a:r>
              <a:rPr lang="zh-CN" altLang="en-US" b="1" dirty="0"/>
              <a:t>，包括</a:t>
            </a:r>
            <a:r>
              <a:rPr lang="zh-CN" altLang="en-US" b="1" dirty="0">
                <a:solidFill>
                  <a:srgbClr val="FF0000"/>
                </a:solidFill>
              </a:rPr>
              <a:t>软件体系结构设计</a:t>
            </a:r>
            <a:r>
              <a:rPr lang="zh-CN" altLang="en-US" b="1" dirty="0"/>
              <a:t>和</a:t>
            </a:r>
            <a:r>
              <a:rPr lang="zh-CN" altLang="en-US" b="1" dirty="0">
                <a:solidFill>
                  <a:srgbClr val="FF0000"/>
                </a:solidFill>
              </a:rPr>
              <a:t>硬件体系结构设计</a:t>
            </a:r>
            <a:r>
              <a:rPr lang="zh-CN" altLang="en-US" b="1" dirty="0"/>
              <a:t>两部分；</a:t>
            </a:r>
            <a:endParaRPr lang="en-US" altLang="zh-CN"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u="sng" dirty="0"/>
              <a:t>软件系统体系结构设计</a:t>
            </a:r>
            <a:r>
              <a:rPr lang="zh-CN" altLang="en-US" b="1" dirty="0"/>
              <a:t>通过系统的</a:t>
            </a:r>
            <a:r>
              <a:rPr lang="zh-CN" altLang="en-US" b="1" dirty="0">
                <a:solidFill>
                  <a:srgbClr val="FF0000"/>
                </a:solidFill>
              </a:rPr>
              <a:t>层、包、主要框架、类、接口和子系统</a:t>
            </a:r>
            <a:r>
              <a:rPr lang="zh-CN" altLang="en-US" b="1" dirty="0"/>
              <a:t>的组织方式来描述。</a:t>
            </a:r>
            <a:endParaRPr lang="en-US" altLang="zh-CN"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u="sng" dirty="0"/>
              <a:t>硬件系统体系结构设计</a:t>
            </a:r>
            <a:r>
              <a:rPr lang="zh-CN" altLang="en-US" b="1" dirty="0"/>
              <a:t>描述了</a:t>
            </a:r>
            <a:r>
              <a:rPr lang="zh-CN" altLang="en-US" b="1" dirty="0">
                <a:solidFill>
                  <a:srgbClr val="FF0000"/>
                </a:solidFill>
              </a:rPr>
              <a:t>进程分配和网络配置</a:t>
            </a:r>
            <a:r>
              <a:rPr lang="zh-CN" altLang="en-US" b="1" dirty="0"/>
              <a:t>。</a:t>
            </a:r>
            <a:endParaRPr lang="zh-CN" altLang="en-US" b="1" dirty="0"/>
          </a:p>
        </p:txBody>
      </p:sp>
      <p:sp>
        <p:nvSpPr>
          <p:cNvPr id="48131" name="标题 1"/>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体系结构设计的两部分</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484188" y="469900"/>
            <a:ext cx="91455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体系结构设计</a:t>
            </a:r>
            <a:endParaRPr lang="en-US" altLang="zh-CN" b="1" dirty="0">
              <a:solidFill>
                <a:srgbClr val="FF0000"/>
              </a:solidFill>
              <a:latin typeface="微软雅黑" panose="020B0503020204020204" pitchFamily="34" charset="-122"/>
              <a:ea typeface="微软雅黑" panose="020B0503020204020204" pitchFamily="34" charset="-122"/>
            </a:endParaRPr>
          </a:p>
        </p:txBody>
      </p:sp>
      <p:sp>
        <p:nvSpPr>
          <p:cNvPr id="56323" name="Rectangle 3"/>
          <p:cNvSpPr>
            <a:spLocks noGrp="1" noChangeArrowheads="1"/>
          </p:cNvSpPr>
          <p:nvPr>
            <p:ph idx="1"/>
          </p:nvPr>
        </p:nvSpPr>
        <p:spPr>
          <a:xfrm>
            <a:off x="455613" y="1931988"/>
            <a:ext cx="7488238" cy="4381500"/>
          </a:xfrm>
        </p:spPr>
        <p:txBody>
          <a:bodyPr vert="horz" wrap="square" lIns="91221" tIns="45610" rIns="91221" bIns="45610" numCol="1" anchor="t" anchorCtr="0" compatLnSpc="1"/>
          <a:lstStyle/>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对于一般的软件系统：</a:t>
            </a:r>
            <a:endParaRPr kumimoji="1"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ü"/>
              <a:tabLst>
                <a:tab pos="457200" algn="l"/>
              </a:tabLst>
              <a:defRPr/>
            </a:pP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1"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1</a:t>
            </a: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）先进行用例建模与对象建模，</a:t>
            </a:r>
            <a:r>
              <a:rPr kumimoji="1" lang="zh-CN" altLang="en-US"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分析系统的需求，识别构成程序的对象与类</a:t>
            </a:r>
            <a:endParaRPr kumimoji="1" lang="en-US" altLang="zh-CN"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342900" marR="0" lvl="1" indent="-34290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ü"/>
              <a:tabLst>
                <a:tab pos="457200" algn="l"/>
              </a:tabLst>
              <a:defRPr/>
            </a:pP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1"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2</a:t>
            </a: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）基于分层的策略，</a:t>
            </a:r>
            <a:r>
              <a:rPr kumimoji="1" lang="zh-CN" altLang="en-US"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将系统的各个对象与类也就是系统的构成，进一步分组成各个包</a:t>
            </a:r>
            <a:endParaRPr kumimoji="1" lang="en-US" altLang="zh-CN"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对于大型的软件系统：</a:t>
            </a:r>
            <a:endParaRPr kumimoji="1"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1" indent="-34290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ü"/>
              <a:tabLst>
                <a:tab pos="457200" algn="l"/>
              </a:tabLst>
              <a:defRPr/>
            </a:pP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1"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1</a:t>
            </a: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）先分解成</a:t>
            </a:r>
            <a:r>
              <a:rPr kumimoji="1" lang="zh-CN" altLang="en-US"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各个子系统</a:t>
            </a:r>
            <a:endParaRPr kumimoji="1" lang="en-US" altLang="zh-CN"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342900" marR="0" lvl="1" indent="-34290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ü"/>
              <a:tabLst>
                <a:tab pos="457200" algn="l"/>
              </a:tabLst>
              <a:defRPr/>
            </a:pP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1"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2</a:t>
            </a: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）然后</a:t>
            </a:r>
            <a:r>
              <a:rPr kumimoji="1" lang="zh-CN" altLang="en-US"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针对每个子系统，进行用例建模与对象建模</a:t>
            </a:r>
            <a:endParaRPr kumimoji="1" lang="en-US" altLang="zh-CN"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342900" marR="0" lvl="1" indent="-34290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ü"/>
              <a:tabLst>
                <a:tab pos="457200" algn="l"/>
              </a:tabLst>
              <a:defRPr/>
            </a:pP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1"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3</a:t>
            </a:r>
            <a:r>
              <a:rPr kumimoji="1"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）最后，针对每个子系统，进一步按照分层策略将系统构成元素分成各个包</a:t>
            </a:r>
            <a:endParaRPr kumimoji="1"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0" marR="0" lvl="1" indent="0" algn="l" defTabSz="914400" rtl="0" eaLnBrk="1" fontAlgn="base" latinLnBrk="0" hangingPunct="1">
              <a:lnSpc>
                <a:spcPct val="120000"/>
              </a:lnSpc>
              <a:spcBef>
                <a:spcPct val="20000"/>
              </a:spcBef>
              <a:spcAft>
                <a:spcPct val="0"/>
              </a:spcAft>
              <a:buClr>
                <a:srgbClr val="0BD0D9"/>
              </a:buClr>
              <a:buSzPct val="95000"/>
              <a:buFont typeface="Wingdings 2" panose="05020102010507070707" pitchFamily="18" charset="2"/>
              <a:buNone/>
              <a:tabLst>
                <a:tab pos="457200" algn="l"/>
              </a:tabLst>
              <a:defRPr/>
            </a:pP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内容占位符 1"/>
          <p:cNvSpPr>
            <a:spLocks noGrp="1"/>
          </p:cNvSpPr>
          <p:nvPr>
            <p:ph idx="1"/>
          </p:nvPr>
        </p:nvSpPr>
        <p:spPr/>
        <p:txBody>
          <a:bodyPr vert="horz" wrap="square" lIns="91221" tIns="45610" rIns="91221" bIns="45610" anchor="t" anchorCtr="0"/>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包（</a:t>
            </a:r>
            <a:r>
              <a:rPr lang="en-US" altLang="zh-CN" b="1" dirty="0">
                <a:solidFill>
                  <a:srgbClr val="FF0000"/>
                </a:solidFill>
              </a:rPr>
              <a:t>package</a:t>
            </a:r>
            <a:r>
              <a:rPr lang="zh-CN" altLang="en-US" b="1" dirty="0">
                <a:solidFill>
                  <a:srgbClr val="FF0000"/>
                </a:solidFill>
              </a:rPr>
              <a:t>）</a:t>
            </a:r>
            <a:r>
              <a:rPr lang="zh-CN" altLang="en-US" b="1" dirty="0"/>
              <a:t>是一种</a:t>
            </a:r>
            <a:r>
              <a:rPr lang="zh-CN" altLang="en-US" b="1" dirty="0">
                <a:solidFill>
                  <a:srgbClr val="FF0000"/>
                </a:solidFill>
              </a:rPr>
              <a:t>逻辑分组手段</a:t>
            </a:r>
            <a:r>
              <a:rPr lang="zh-CN" altLang="en-US" b="1" dirty="0"/>
              <a:t>，可以取</a:t>
            </a:r>
            <a:r>
              <a:rPr lang="en-US" altLang="zh-CN" b="1" dirty="0"/>
              <a:t>UML</a:t>
            </a:r>
            <a:r>
              <a:rPr lang="zh-CN" altLang="en-US" b="1" dirty="0"/>
              <a:t>模型中的任何一种事物，将相关成分聚在一起，以构成更高层的组织单元</a:t>
            </a:r>
            <a:endParaRPr lang="en-US" altLang="zh-CN" b="1" dirty="0"/>
          </a:p>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最常用的方法是</a:t>
            </a:r>
            <a:r>
              <a:rPr lang="zh-CN" altLang="en-US" b="1" dirty="0">
                <a:solidFill>
                  <a:srgbClr val="FF0000"/>
                </a:solidFill>
              </a:rPr>
              <a:t>将类以包为单位进行分组</a:t>
            </a:r>
            <a:r>
              <a:rPr lang="zh-CN" altLang="en-US" b="1" dirty="0"/>
              <a:t>，比如三层结构中的每一层中的所有类组成一个包</a:t>
            </a:r>
            <a:endParaRPr lang="zh-CN" altLang="en-US" b="1" dirty="0"/>
          </a:p>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一个包可以包含其它的包，高层包被分成若干子包，子包又可以在分成更小的包</a:t>
            </a:r>
            <a:endParaRPr lang="zh-CN" altLang="en-US" b="1" dirty="0"/>
          </a:p>
          <a:p>
            <a:pPr defTabSz="914400" eaLnBrk="1" hangingPunct="1">
              <a:buFont typeface="Wingdings 2" panose="05020102010507070707" pitchFamily="18" charset="2"/>
              <a:buChar char=""/>
              <a:tabLst>
                <a:tab pos="457200" algn="l"/>
              </a:tabLst>
            </a:pPr>
            <a:endParaRPr lang="zh-CN" altLang="en-US" dirty="0"/>
          </a:p>
        </p:txBody>
      </p:sp>
      <p:sp>
        <p:nvSpPr>
          <p:cNvPr id="4" name="标题 1"/>
          <p:cNvSpPr>
            <a:spLocks noGrp="1"/>
          </p:cNvSpPr>
          <p:nvPr>
            <p:ph type="title"/>
          </p:nvPr>
        </p:nvSpPr>
        <p:spPr>
          <a:xfrm>
            <a:off x="238125" y="469900"/>
            <a:ext cx="8516938" cy="1141413"/>
          </a:xfrm>
        </p:spPr>
        <p:txBody>
          <a:bodyPr vert="horz" wrap="square" lIns="0" tIns="45610" rIns="0" bIns="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50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软件体系结构的</a:t>
            </a: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建模</a:t>
            </a:r>
            <a:r>
              <a:rPr kumimoji="1" lang="zh-CN" altLang="en-US" sz="50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工具：</a:t>
            </a:r>
            <a:r>
              <a:rPr kumimoji="1" lang="zh-CN" altLang="en-US" sz="5000" b="1" i="0" u="none" strike="noStrike" kern="1200" cap="none" spc="0" normalizeH="0" baseline="0" noProof="0" dirty="0">
                <a:ln>
                  <a:noFill/>
                </a:ln>
                <a:solidFill>
                  <a:srgbClr val="FF0000"/>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包</a:t>
            </a:r>
            <a:endParaRPr kumimoji="1" lang="zh-CN" altLang="en-US" sz="5000" b="1" i="0" u="none" strike="noStrike" kern="1200" cap="none" spc="0" normalizeH="0" baseline="0" noProof="0" dirty="0">
              <a:ln>
                <a:noFill/>
              </a:ln>
              <a:solidFill>
                <a:srgbClr val="FF0000"/>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noRot="1" noChangeArrowheads="1"/>
          </p:cNvSpPr>
          <p:nvPr>
            <p:ph type="title"/>
          </p:nvPr>
        </p:nvSpPr>
        <p:spPr>
          <a:xfrm>
            <a:off x="322263" y="254000"/>
            <a:ext cx="8516938" cy="1141413"/>
          </a:xfrm>
        </p:spPr>
        <p:txBody>
          <a:bodyPr vert="horz" wrap="square" lIns="0" tIns="45610" rIns="0" bIns="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包图</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graphicFrame>
        <p:nvGraphicFramePr>
          <p:cNvPr id="61443" name="Object 3"/>
          <p:cNvGraphicFramePr>
            <a:graphicFrameLocks noGrp="1" noChangeAspect="1"/>
          </p:cNvGraphicFramePr>
          <p:nvPr>
            <p:ph idx="1"/>
          </p:nvPr>
        </p:nvGraphicFramePr>
        <p:xfrm>
          <a:off x="1766888" y="4575175"/>
          <a:ext cx="5727700" cy="2112963"/>
        </p:xfrm>
        <a:graphic>
          <a:graphicData uri="http://schemas.openxmlformats.org/presentationml/2006/ole">
            <mc:AlternateContent xmlns:mc="http://schemas.openxmlformats.org/markup-compatibility/2006">
              <mc:Choice xmlns:v="urn:schemas-microsoft-com:vml" Requires="v">
                <p:oleObj spid="_x0000_s3077" name="" r:id="rId1" imgW="4086225" imgH="1762125" progId="Paint.Picture">
                  <p:embed/>
                </p:oleObj>
              </mc:Choice>
              <mc:Fallback>
                <p:oleObj name="" r:id="rId1" imgW="4086225" imgH="1762125" progId="Paint.Picture">
                  <p:embed/>
                  <p:pic>
                    <p:nvPicPr>
                      <p:cNvPr id="0" name="图片 3076"/>
                      <p:cNvPicPr/>
                      <p:nvPr/>
                    </p:nvPicPr>
                    <p:blipFill>
                      <a:blip r:embed="rId2"/>
                      <a:srcRect/>
                      <a:stretch>
                        <a:fillRect/>
                      </a:stretch>
                    </p:blipFill>
                    <p:spPr>
                      <a:xfrm>
                        <a:off x="1766888" y="4575175"/>
                        <a:ext cx="5727700" cy="2112963"/>
                      </a:xfrm>
                      <a:prstGeom prst="rect">
                        <a:avLst/>
                      </a:prstGeom>
                      <a:noFill/>
                      <a:ln w="38100">
                        <a:miter/>
                      </a:ln>
                    </p:spPr>
                  </p:pic>
                </p:oleObj>
              </mc:Fallback>
            </mc:AlternateContent>
          </a:graphicData>
        </a:graphic>
      </p:graphicFrame>
      <p:sp>
        <p:nvSpPr>
          <p:cNvPr id="17412" name="Rectangle 4"/>
          <p:cNvSpPr>
            <a:spLocks noChangeArrowheads="1"/>
          </p:cNvSpPr>
          <p:nvPr/>
        </p:nvSpPr>
        <p:spPr bwMode="auto">
          <a:xfrm>
            <a:off x="322263" y="1454150"/>
            <a:ext cx="8616950" cy="49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21" tIns="45610" rIns="91221" bIns="45610"/>
          <a:lstStyle/>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包图用来描述包及其依赖关系，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用来标识一个完整系统的主要部分</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在包图中只使用两个符号：一个</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包的标识符</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，一个</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虚线箭头</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虚线箭头表示依赖关系</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，箭头的尾部表示被依赖的包，头部是独立的包。</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包依赖关系可以是直接的，也可以间接的，依赖关系可以传递</a:t>
            </a:r>
            <a:r>
              <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Rectangle 3"/>
          <p:cNvSpPr>
            <a:spLocks noChangeArrowheads="1"/>
          </p:cNvSpPr>
          <p:nvPr/>
        </p:nvSpPr>
        <p:spPr bwMode="auto">
          <a:xfrm>
            <a:off x="122238" y="1838325"/>
            <a:ext cx="8829675"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5959" tIns="164652" rIns="91221" bIns="164652">
            <a:spAutoFit/>
          </a:bodyPr>
          <a:lstStyle/>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每层对应一个包：</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用户界面包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业务处理包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数据访问包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再把各层中的一些公共部分提出来：</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权限管理包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异常处理包</a:t>
            </a: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2467" name="Rectangle 5"/>
          <p:cNvSpPr/>
          <p:nvPr/>
        </p:nvSpPr>
        <p:spPr>
          <a:xfrm>
            <a:off x="2103438" y="2205038"/>
            <a:ext cx="9118600" cy="461962"/>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2468" name="Picture 4"/>
          <p:cNvPicPr>
            <a:picLocks noChangeAspect="1"/>
          </p:cNvPicPr>
          <p:nvPr/>
        </p:nvPicPr>
        <p:blipFill>
          <a:blip r:embed="rId1"/>
          <a:stretch>
            <a:fillRect/>
          </a:stretch>
        </p:blipFill>
        <p:spPr>
          <a:xfrm>
            <a:off x="1743075" y="3709988"/>
            <a:ext cx="5222875" cy="2589212"/>
          </a:xfrm>
          <a:prstGeom prst="rect">
            <a:avLst/>
          </a:prstGeom>
          <a:noFill/>
          <a:ln w="9525">
            <a:noFill/>
          </a:ln>
        </p:spPr>
      </p:pic>
      <p:sp>
        <p:nvSpPr>
          <p:cNvPr id="6" name="Rectangle 2"/>
          <p:cNvSpPr txBox="1">
            <a:spLocks noRot="1" noChangeArrowheads="1"/>
          </p:cNvSpPr>
          <p:nvPr/>
        </p:nvSpPr>
        <p:spPr>
          <a:xfrm>
            <a:off x="277813" y="830263"/>
            <a:ext cx="8516938" cy="1141413"/>
          </a:xfrm>
          <a:prstGeom prst="rect">
            <a:avLst/>
          </a:prstGeom>
        </p:spPr>
        <p:txBody>
          <a:bodyPr/>
          <a:lst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三层架构的包图</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3490" name="Picture 2"/>
          <p:cNvPicPr>
            <a:picLocks noChangeAspect="1"/>
          </p:cNvPicPr>
          <p:nvPr/>
        </p:nvPicPr>
        <p:blipFill>
          <a:blip r:embed="rId1"/>
          <a:stretch>
            <a:fillRect/>
          </a:stretch>
        </p:blipFill>
        <p:spPr>
          <a:xfrm>
            <a:off x="1174750" y="1679575"/>
            <a:ext cx="5622925" cy="1666875"/>
          </a:xfrm>
          <a:prstGeom prst="rect">
            <a:avLst/>
          </a:prstGeom>
          <a:noFill/>
          <a:ln w="9525">
            <a:noFill/>
          </a:ln>
        </p:spPr>
      </p:pic>
      <p:sp>
        <p:nvSpPr>
          <p:cNvPr id="48133" name="Rectangle 6"/>
          <p:cNvSpPr>
            <a:spLocks noChangeArrowheads="1"/>
          </p:cNvSpPr>
          <p:nvPr/>
        </p:nvSpPr>
        <p:spPr bwMode="auto">
          <a:xfrm>
            <a:off x="974725" y="614363"/>
            <a:ext cx="3389313"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用户界面包</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63492" name="Rectangle 8"/>
          <p:cNvSpPr/>
          <p:nvPr/>
        </p:nvSpPr>
        <p:spPr>
          <a:xfrm>
            <a:off x="3044825" y="28860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3493" name="Picture 7"/>
          <p:cNvPicPr>
            <a:picLocks noChangeAspect="1"/>
          </p:cNvPicPr>
          <p:nvPr/>
        </p:nvPicPr>
        <p:blipFill>
          <a:blip r:embed="rId2"/>
          <a:stretch>
            <a:fillRect/>
          </a:stretch>
        </p:blipFill>
        <p:spPr>
          <a:xfrm>
            <a:off x="1744663" y="3746500"/>
            <a:ext cx="4483100" cy="1589088"/>
          </a:xfrm>
          <a:prstGeom prst="rect">
            <a:avLst/>
          </a:prstGeom>
          <a:noFill/>
          <a:ln w="9525">
            <a:noFill/>
          </a:ln>
        </p:spPr>
      </p:pic>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p:nvPr/>
        </p:nvSpPr>
        <p:spPr>
          <a:xfrm>
            <a:off x="3044825" y="28860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49155" name="Rectangle 4"/>
          <p:cNvSpPr>
            <a:spLocks noChangeArrowheads="1"/>
          </p:cNvSpPr>
          <p:nvPr/>
        </p:nvSpPr>
        <p:spPr bwMode="auto">
          <a:xfrm>
            <a:off x="360363" y="474663"/>
            <a:ext cx="5173663"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业务处理包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64516" name="Rectangle 6"/>
          <p:cNvSpPr/>
          <p:nvPr/>
        </p:nvSpPr>
        <p:spPr>
          <a:xfrm>
            <a:off x="2298700" y="29622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4517" name="Picture 5"/>
          <p:cNvPicPr>
            <a:picLocks noChangeAspect="1"/>
          </p:cNvPicPr>
          <p:nvPr/>
        </p:nvPicPr>
        <p:blipFill>
          <a:blip r:embed="rId1"/>
          <a:stretch>
            <a:fillRect/>
          </a:stretch>
        </p:blipFill>
        <p:spPr>
          <a:xfrm>
            <a:off x="887413" y="1712913"/>
            <a:ext cx="6230937" cy="1270000"/>
          </a:xfrm>
          <a:prstGeom prst="rect">
            <a:avLst/>
          </a:prstGeom>
          <a:noFill/>
          <a:ln w="9525">
            <a:noFill/>
          </a:ln>
        </p:spPr>
      </p:pic>
      <p:sp>
        <p:nvSpPr>
          <p:cNvPr id="64518" name="Rectangle 9"/>
          <p:cNvSpPr/>
          <p:nvPr/>
        </p:nvSpPr>
        <p:spPr>
          <a:xfrm>
            <a:off x="2405063" y="1625600"/>
            <a:ext cx="9118600" cy="461963"/>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4519" name="Picture 8"/>
          <p:cNvPicPr>
            <a:picLocks noChangeAspect="1"/>
          </p:cNvPicPr>
          <p:nvPr/>
        </p:nvPicPr>
        <p:blipFill>
          <a:blip r:embed="rId2"/>
          <a:stretch>
            <a:fillRect/>
          </a:stretch>
        </p:blipFill>
        <p:spPr>
          <a:xfrm>
            <a:off x="1798638" y="3327400"/>
            <a:ext cx="4406900" cy="1422400"/>
          </a:xfrm>
          <a:prstGeom prst="rect">
            <a:avLst/>
          </a:prstGeom>
          <a:noFill/>
          <a:ln w="9525">
            <a:noFill/>
          </a:ln>
        </p:spPr>
      </p:pic>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ChangeArrowheads="1"/>
          </p:cNvSpPr>
          <p:nvPr/>
        </p:nvSpPr>
        <p:spPr bwMode="auto">
          <a:xfrm>
            <a:off x="538163" y="404813"/>
            <a:ext cx="445293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数据访问包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pic>
        <p:nvPicPr>
          <p:cNvPr id="65539" name="Picture 3"/>
          <p:cNvPicPr>
            <a:picLocks noChangeAspect="1"/>
          </p:cNvPicPr>
          <p:nvPr/>
        </p:nvPicPr>
        <p:blipFill>
          <a:blip r:embed="rId1"/>
          <a:stretch>
            <a:fillRect/>
          </a:stretch>
        </p:blipFill>
        <p:spPr>
          <a:xfrm>
            <a:off x="1338263" y="1622425"/>
            <a:ext cx="5091112" cy="1160463"/>
          </a:xfrm>
          <a:prstGeom prst="rect">
            <a:avLst/>
          </a:prstGeom>
          <a:noFill/>
          <a:ln w="9525">
            <a:noFill/>
          </a:ln>
        </p:spPr>
      </p:pic>
      <p:pic>
        <p:nvPicPr>
          <p:cNvPr id="65540" name="Picture 6"/>
          <p:cNvPicPr>
            <a:picLocks noChangeAspect="1"/>
          </p:cNvPicPr>
          <p:nvPr/>
        </p:nvPicPr>
        <p:blipFill>
          <a:blip r:embed="rId2"/>
          <a:stretch>
            <a:fillRect/>
          </a:stretch>
        </p:blipFill>
        <p:spPr>
          <a:xfrm>
            <a:off x="1223963" y="3206750"/>
            <a:ext cx="5319712" cy="1631950"/>
          </a:xfrm>
          <a:prstGeom prst="rect">
            <a:avLst/>
          </a:prstGeom>
          <a:noFill/>
          <a:ln w="9525">
            <a:noFill/>
          </a:ln>
        </p:spPr>
      </p:pic>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4"/>
          <p:cNvSpPr/>
          <p:nvPr/>
        </p:nvSpPr>
        <p:spPr>
          <a:xfrm>
            <a:off x="2522538" y="29622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6563" name="Picture 3"/>
          <p:cNvPicPr>
            <a:picLocks noChangeAspect="1"/>
          </p:cNvPicPr>
          <p:nvPr/>
        </p:nvPicPr>
        <p:blipFill>
          <a:blip r:embed="rId1"/>
          <a:stretch>
            <a:fillRect/>
          </a:stretch>
        </p:blipFill>
        <p:spPr>
          <a:xfrm>
            <a:off x="1606550" y="1457325"/>
            <a:ext cx="5608638" cy="1268413"/>
          </a:xfrm>
          <a:prstGeom prst="rect">
            <a:avLst/>
          </a:prstGeom>
          <a:noFill/>
          <a:ln w="9525">
            <a:noFill/>
          </a:ln>
        </p:spPr>
      </p:pic>
      <p:sp>
        <p:nvSpPr>
          <p:cNvPr id="66564" name="Rectangle 7"/>
          <p:cNvSpPr/>
          <p:nvPr/>
        </p:nvSpPr>
        <p:spPr>
          <a:xfrm>
            <a:off x="2117725" y="1195388"/>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6565" name="Picture 6"/>
          <p:cNvPicPr>
            <a:picLocks noChangeAspect="1"/>
          </p:cNvPicPr>
          <p:nvPr/>
        </p:nvPicPr>
        <p:blipFill>
          <a:blip r:embed="rId2"/>
          <a:stretch>
            <a:fillRect/>
          </a:stretch>
        </p:blipFill>
        <p:spPr>
          <a:xfrm>
            <a:off x="2017713" y="2962275"/>
            <a:ext cx="4787900" cy="3251200"/>
          </a:xfrm>
          <a:prstGeom prst="rect">
            <a:avLst/>
          </a:prstGeom>
          <a:noFill/>
          <a:ln w="9525">
            <a:noFill/>
          </a:ln>
        </p:spPr>
      </p:pic>
      <p:sp>
        <p:nvSpPr>
          <p:cNvPr id="9" name="Rectangle 2"/>
          <p:cNvSpPr>
            <a:spLocks noChangeArrowheads="1"/>
          </p:cNvSpPr>
          <p:nvPr/>
        </p:nvSpPr>
        <p:spPr bwMode="auto">
          <a:xfrm>
            <a:off x="671513" y="419100"/>
            <a:ext cx="4452938"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权限管理包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ChangeArrowheads="1"/>
          </p:cNvSpPr>
          <p:nvPr/>
        </p:nvSpPr>
        <p:spPr bwMode="auto">
          <a:xfrm>
            <a:off x="682625" y="547688"/>
            <a:ext cx="49561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异常处理包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67587" name="Rectangle 4"/>
          <p:cNvSpPr/>
          <p:nvPr/>
        </p:nvSpPr>
        <p:spPr>
          <a:xfrm>
            <a:off x="2365375" y="29622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7588" name="Picture 3"/>
          <p:cNvPicPr>
            <a:picLocks noChangeAspect="1"/>
          </p:cNvPicPr>
          <p:nvPr/>
        </p:nvPicPr>
        <p:blipFill>
          <a:blip r:embed="rId1"/>
          <a:stretch>
            <a:fillRect/>
          </a:stretch>
        </p:blipFill>
        <p:spPr>
          <a:xfrm>
            <a:off x="1289050" y="1581150"/>
            <a:ext cx="5635625" cy="1185863"/>
          </a:xfrm>
          <a:prstGeom prst="rect">
            <a:avLst/>
          </a:prstGeom>
          <a:noFill/>
          <a:ln w="9525">
            <a:noFill/>
          </a:ln>
        </p:spPr>
      </p:pic>
      <p:sp>
        <p:nvSpPr>
          <p:cNvPr id="67589" name="Rectangle 7"/>
          <p:cNvSpPr/>
          <p:nvPr/>
        </p:nvSpPr>
        <p:spPr>
          <a:xfrm>
            <a:off x="1985963" y="2519363"/>
            <a:ext cx="9118600" cy="461962"/>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7590" name="Picture 6"/>
          <p:cNvPicPr>
            <a:picLocks noChangeAspect="1"/>
          </p:cNvPicPr>
          <p:nvPr/>
        </p:nvPicPr>
        <p:blipFill>
          <a:blip r:embed="rId2"/>
          <a:stretch>
            <a:fillRect/>
          </a:stretch>
        </p:blipFill>
        <p:spPr>
          <a:xfrm>
            <a:off x="95250" y="2962275"/>
            <a:ext cx="8189913" cy="3379788"/>
          </a:xfrm>
          <a:prstGeom prst="rect">
            <a:avLst/>
          </a:prstGeom>
          <a:noFill/>
          <a:ln w="9525">
            <a:noFill/>
          </a:ln>
        </p:spPr>
      </p:pic>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内容占位符 3"/>
          <p:cNvPicPr>
            <a:picLocks noGrp="1" noChangeAspect="1"/>
          </p:cNvPicPr>
          <p:nvPr>
            <p:ph idx="1"/>
          </p:nvPr>
        </p:nvPicPr>
        <p:blipFill>
          <a:blip r:embed="rId1"/>
          <a:srcRect/>
          <a:stretch>
            <a:fillRect/>
          </a:stretch>
        </p:blipFill>
        <p:spPr>
          <a:xfrm>
            <a:off x="814388" y="2054225"/>
            <a:ext cx="8029575" cy="4024313"/>
          </a:xfrm>
        </p:spPr>
      </p:pic>
      <p:sp>
        <p:nvSpPr>
          <p:cNvPr id="69635" name="标题 2"/>
          <p:cNvSpPr>
            <a:spLocks noGrp="1"/>
          </p:cNvSpPr>
          <p:nvPr>
            <p:ph type="title"/>
          </p:nvPr>
        </p:nvSpPr>
        <p:spPr>
          <a:xfrm>
            <a:off x="455613" y="542925"/>
            <a:ext cx="79914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硬件体系结构设计：部署图</a:t>
            </a:r>
            <a:endParaRPr lang="zh-CN" altLang="en-US" b="1" dirty="0">
              <a:latin typeface="微软雅黑" panose="020B0503020204020204" pitchFamily="34" charset="-122"/>
              <a:ea typeface="微软雅黑" panose="020B0503020204020204" pitchFamily="34" charset="-122"/>
            </a:endParaRPr>
          </a:p>
        </p:txBody>
      </p:sp>
      <p:sp>
        <p:nvSpPr>
          <p:cNvPr id="2" name="矩形 1"/>
          <p:cNvSpPr/>
          <p:nvPr/>
        </p:nvSpPr>
        <p:spPr>
          <a:xfrm>
            <a:off x="958850" y="5726113"/>
            <a:ext cx="7777163" cy="9556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800" b="1" dirty="0">
                <a:solidFill>
                  <a:srgbClr val="FF0000"/>
                </a:solidFill>
                <a:latin typeface="黑体" panose="02010609060101010101" pitchFamily="49" charset="-122"/>
                <a:ea typeface="楷体_GB2312" pitchFamily="49" charset="-122"/>
              </a:rPr>
              <a:t>并不是所有的系统都需要建立配置图，一个单机系统只需建立包图或构件图</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2830513" y="658813"/>
            <a:ext cx="2808288" cy="53657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内容提纲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4340" name="Text Box 5"/>
          <p:cNvSpPr txBox="1">
            <a:spLocks noChangeArrowheads="1"/>
          </p:cNvSpPr>
          <p:nvPr/>
        </p:nvSpPr>
        <p:spPr bwMode="auto">
          <a:xfrm>
            <a:off x="765175" y="1406525"/>
            <a:ext cx="7897813" cy="324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1pPr>
            <a:lvl2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2pPr>
            <a:lvl3pPr indent="-4572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9p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回答两个问题</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1</a:t>
            </a: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）对于大型系统如何进行设计？</a:t>
            </a:r>
            <a:endParaRPr kumimoji="1" lang="en-US" altLang="zh-CN"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2</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）概要设计完了之后，系统的详细设计做什么？</a:t>
            </a:r>
            <a:endParaRPr kumimoji="1" lang="en-US" altLang="zh-CN" sz="32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3</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）在确定类与类之间关系的过程中，有没有更好的指导方法？</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内容占位符 2"/>
          <p:cNvSpPr>
            <a:spLocks noGrp="1"/>
          </p:cNvSpPr>
          <p:nvPr>
            <p:ph idx="1"/>
          </p:nvPr>
        </p:nvSpPr>
        <p:spPr/>
        <p:txBody>
          <a:bodyPr vert="horz" wrap="square" lIns="91221" tIns="45610" rIns="91221" bIns="45610" numCol="1" anchor="t" anchorCtr="0" compatLnSpc="1"/>
          <a:lstStyle/>
          <a:p>
            <a:pPr marL="273050" marR="0" lvl="0"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主要包括</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对象设计</a:t>
            </a:r>
            <a:r>
              <a:rPr kumimoji="1"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和</a:t>
            </a:r>
            <a:r>
              <a:rPr kumimoji="1"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对象持久化设计（数据库设计）</a:t>
            </a:r>
            <a:endPar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对象设计：</a:t>
            </a:r>
            <a:endPar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en-US" altLang="zh-CN"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 </a:t>
            </a:r>
            <a:r>
              <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概要</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设计相当于大楼的建筑平面图，规定了每个房间的用途，以及房间与房间之间、房间与外部环境之间的连接机制。</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对象设计着重于每个房间的内部细节</a:t>
            </a:r>
            <a:endParaRPr kumimoji="0"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对象持久化设计：</a:t>
            </a:r>
            <a:endParaRPr kumimoji="1" lang="en-US" altLang="zh-CN"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解决对象数据的存储和检索</a:t>
            </a: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1683" name="标题 1"/>
          <p:cNvSpPr>
            <a:spLocks noGrp="1"/>
          </p:cNvSpPr>
          <p:nvPr>
            <p:ph type="title"/>
          </p:nvPr>
        </p:nvSpPr>
        <p:spPr>
          <a:xfrm>
            <a:off x="455613" y="469900"/>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详细设计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内容占位符 2"/>
          <p:cNvSpPr>
            <a:spLocks noGrp="1"/>
          </p:cNvSpPr>
          <p:nvPr>
            <p:ph idx="1"/>
          </p:nvPr>
        </p:nvSpPr>
        <p:spPr>
          <a:xfrm>
            <a:off x="455613" y="1766888"/>
            <a:ext cx="8207375" cy="4381500"/>
          </a:xfrm>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t>对</a:t>
            </a:r>
            <a:r>
              <a:rPr lang="zh-CN" altLang="en-US" sz="2400" b="1" dirty="0">
                <a:solidFill>
                  <a:srgbClr val="FF0000"/>
                </a:solidFill>
              </a:rPr>
              <a:t>属性</a:t>
            </a:r>
            <a:r>
              <a:rPr lang="zh-CN" altLang="en-US" sz="2400" b="1" dirty="0"/>
              <a:t>和</a:t>
            </a:r>
            <a:r>
              <a:rPr lang="zh-CN" altLang="en-US" sz="2400" b="1" dirty="0">
                <a:solidFill>
                  <a:srgbClr val="FF0000"/>
                </a:solidFill>
              </a:rPr>
              <a:t>操作</a:t>
            </a:r>
            <a:r>
              <a:rPr lang="zh-CN" altLang="en-US" sz="2400" b="1" dirty="0"/>
              <a:t>进行建模</a:t>
            </a:r>
            <a:endParaRPr lang="en-US" altLang="zh-CN" sz="2400" b="1" dirty="0"/>
          </a:p>
          <a:p>
            <a:pPr defTabSz="914400" eaLnBrk="1" hangingPunct="1">
              <a:buFont typeface="Wingdings" panose="05000000000000000000" pitchFamily="2" charset="2"/>
              <a:buChar char="p"/>
              <a:tabLst>
                <a:tab pos="457200" algn="l"/>
              </a:tabLst>
            </a:pPr>
            <a:r>
              <a:rPr lang="zh-CN" altLang="en-US" sz="2400" b="1" dirty="0"/>
              <a:t>属性建模：确定属性的</a:t>
            </a:r>
            <a:r>
              <a:rPr lang="zh-CN" altLang="en-US" sz="2400" b="1" dirty="0">
                <a:solidFill>
                  <a:srgbClr val="FF0000"/>
                </a:solidFill>
              </a:rPr>
              <a:t>类型</a:t>
            </a:r>
            <a:r>
              <a:rPr lang="zh-CN" altLang="en-US" sz="2400" b="1" dirty="0"/>
              <a:t>和</a:t>
            </a:r>
            <a:r>
              <a:rPr lang="zh-CN" altLang="en-US" sz="2400" b="1" dirty="0">
                <a:solidFill>
                  <a:srgbClr val="FF0000"/>
                </a:solidFill>
              </a:rPr>
              <a:t>数据结构</a:t>
            </a:r>
            <a:r>
              <a:rPr lang="zh-CN" altLang="en-US" sz="2400" b="1" dirty="0"/>
              <a:t>、</a:t>
            </a:r>
            <a:r>
              <a:rPr lang="zh-CN" altLang="en-US" sz="2400" b="1" dirty="0">
                <a:solidFill>
                  <a:srgbClr val="FF0000"/>
                </a:solidFill>
              </a:rPr>
              <a:t>可见性等</a:t>
            </a:r>
            <a:endParaRPr lang="en-US" altLang="zh-CN" sz="2400" b="1" dirty="0">
              <a:solidFill>
                <a:srgbClr val="FF0000"/>
              </a:solidFill>
            </a:endParaRPr>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将所有属性的</a:t>
            </a:r>
            <a:r>
              <a:rPr lang="zh-CN" altLang="en-US" sz="2000" dirty="0">
                <a:solidFill>
                  <a:srgbClr val="FF0000"/>
                </a:solidFill>
              </a:rPr>
              <a:t>可见性设置为</a:t>
            </a:r>
            <a:r>
              <a:rPr lang="en-US" altLang="zh-CN" sz="2000" dirty="0">
                <a:solidFill>
                  <a:srgbClr val="FF0000"/>
                </a:solidFill>
              </a:rPr>
              <a:t>private</a:t>
            </a:r>
            <a:endParaRPr lang="zh-CN" altLang="en-US" sz="2000" dirty="0">
              <a:solidFill>
                <a:srgbClr val="FF0000"/>
              </a:solidFill>
            </a:endParaRPr>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仅通过</a:t>
            </a:r>
            <a:r>
              <a:rPr lang="en-US" altLang="zh-CN" sz="2000" dirty="0">
                <a:solidFill>
                  <a:srgbClr val="FF0000"/>
                </a:solidFill>
              </a:rPr>
              <a:t>set </a:t>
            </a:r>
            <a:r>
              <a:rPr lang="zh-CN" altLang="en-US" sz="2000" dirty="0">
                <a:solidFill>
                  <a:srgbClr val="FF0000"/>
                </a:solidFill>
              </a:rPr>
              <a:t>方法更新</a:t>
            </a:r>
            <a:r>
              <a:rPr lang="zh-CN" altLang="en-US" sz="2000" dirty="0"/>
              <a:t>属性</a:t>
            </a:r>
            <a:endParaRPr lang="zh-CN" altLang="en-US" sz="2000" dirty="0"/>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仅通过</a:t>
            </a:r>
            <a:r>
              <a:rPr lang="en-US" altLang="zh-CN" sz="2000" dirty="0">
                <a:solidFill>
                  <a:srgbClr val="FF0000"/>
                </a:solidFill>
              </a:rPr>
              <a:t>get </a:t>
            </a:r>
            <a:r>
              <a:rPr lang="zh-CN" altLang="en-US" sz="2000" dirty="0">
                <a:solidFill>
                  <a:srgbClr val="FF0000"/>
                </a:solidFill>
              </a:rPr>
              <a:t>方法访问</a:t>
            </a:r>
            <a:r>
              <a:rPr lang="zh-CN" altLang="en-US" sz="2000" dirty="0"/>
              <a:t>属性</a:t>
            </a:r>
            <a:endParaRPr lang="zh-CN" altLang="en-US" sz="2000" dirty="0"/>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在属性的</a:t>
            </a:r>
            <a:r>
              <a:rPr lang="en-US" altLang="zh-CN" sz="2000" dirty="0"/>
              <a:t>set </a:t>
            </a:r>
            <a:r>
              <a:rPr lang="zh-CN" altLang="en-US" sz="2000" dirty="0"/>
              <a:t>方法中，实现</a:t>
            </a:r>
            <a:r>
              <a:rPr lang="zh-CN" altLang="en-US" sz="2000" dirty="0">
                <a:solidFill>
                  <a:srgbClr val="FF0000"/>
                </a:solidFill>
              </a:rPr>
              <a:t>简单的有效性验证</a:t>
            </a:r>
            <a:r>
              <a:rPr lang="zh-CN" altLang="en-US" sz="2000" dirty="0"/>
              <a:t>，而 在独立的验证方法中实现复杂的逻辑验证</a:t>
            </a:r>
            <a:endParaRPr lang="en-US" altLang="zh-CN" sz="2000" dirty="0">
              <a:solidFill>
                <a:srgbClr val="FF0000"/>
              </a:solidFill>
            </a:endParaRPr>
          </a:p>
          <a:p>
            <a:pPr defTabSz="914400" eaLnBrk="1" hangingPunct="1">
              <a:buFont typeface="Wingdings" panose="05000000000000000000" pitchFamily="2" charset="2"/>
              <a:buChar char="p"/>
              <a:tabLst>
                <a:tab pos="457200" algn="l"/>
              </a:tabLst>
            </a:pPr>
            <a:r>
              <a:rPr lang="zh-CN" altLang="en-US" sz="2400" b="1" dirty="0"/>
              <a:t>操作建模：确定操作的</a:t>
            </a:r>
            <a:r>
              <a:rPr lang="zh-CN" altLang="en-US" sz="2400" b="1" dirty="0">
                <a:solidFill>
                  <a:srgbClr val="FF0000"/>
                </a:solidFill>
              </a:rPr>
              <a:t>可见性</a:t>
            </a:r>
            <a:r>
              <a:rPr lang="zh-CN" altLang="en-US" sz="2400" b="1" dirty="0"/>
              <a:t>、</a:t>
            </a:r>
            <a:r>
              <a:rPr lang="zh-CN" altLang="en-US" sz="2400" b="1" dirty="0">
                <a:solidFill>
                  <a:srgbClr val="FF0000"/>
                </a:solidFill>
              </a:rPr>
              <a:t>参数</a:t>
            </a:r>
            <a:r>
              <a:rPr lang="zh-CN" altLang="en-US" sz="2400" b="1" dirty="0"/>
              <a:t>、</a:t>
            </a:r>
            <a:r>
              <a:rPr lang="zh-CN" altLang="en-US" sz="2400" b="1" dirty="0">
                <a:solidFill>
                  <a:srgbClr val="FF0000"/>
                </a:solidFill>
              </a:rPr>
              <a:t>返回值、算法等</a:t>
            </a:r>
            <a:endParaRPr lang="en-US" altLang="zh-CN" sz="2400" b="1" dirty="0">
              <a:solidFill>
                <a:srgbClr val="FF0000"/>
              </a:solidFill>
            </a:endParaRPr>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设计实现服务的算法。</a:t>
            </a:r>
            <a:endParaRPr lang="en-US" altLang="zh-CN" sz="2000" dirty="0"/>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定义内部类和内部操作</a:t>
            </a:r>
            <a:endParaRPr lang="en-US" altLang="zh-CN" sz="2000" dirty="0"/>
          </a:p>
          <a:p>
            <a:pPr defTabSz="914400" eaLnBrk="1" hangingPunct="1">
              <a:buFont typeface="Wingdings" panose="05000000000000000000" pitchFamily="2" charset="2"/>
              <a:buChar char="p"/>
              <a:tabLst>
                <a:tab pos="457200" algn="l"/>
              </a:tabLst>
            </a:pPr>
            <a:endParaRPr lang="en-US" altLang="zh-CN" sz="2400" b="1" dirty="0">
              <a:solidFill>
                <a:srgbClr val="FF0000"/>
              </a:solidFill>
            </a:endParaRPr>
          </a:p>
        </p:txBody>
      </p:sp>
      <p:sp>
        <p:nvSpPr>
          <p:cNvPr id="72707" name="标题 1"/>
          <p:cNvSpPr>
            <a:spLocks noGrp="1"/>
          </p:cNvSpPr>
          <p:nvPr>
            <p:ph type="title"/>
          </p:nvPr>
        </p:nvSpPr>
        <p:spPr>
          <a:xfrm>
            <a:off x="455613" y="469900"/>
            <a:ext cx="878363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详细设计：对象设计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内容占位符 2"/>
          <p:cNvSpPr>
            <a:spLocks noGrp="1"/>
          </p:cNvSpPr>
          <p:nvPr>
            <p:ph idx="1"/>
          </p:nvPr>
        </p:nvSpPr>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t>关注的是</a:t>
            </a:r>
            <a:r>
              <a:rPr lang="zh-CN" altLang="en-US" sz="2400" b="1" dirty="0">
                <a:solidFill>
                  <a:srgbClr val="FF0000"/>
                </a:solidFill>
              </a:rPr>
              <a:t>对象数据如何存储</a:t>
            </a:r>
            <a:endParaRPr lang="en-US" altLang="zh-CN" sz="2400" b="1" dirty="0">
              <a:solidFill>
                <a:srgbClr val="FF0000"/>
              </a:solidFill>
            </a:endParaRPr>
          </a:p>
          <a:p>
            <a:pPr defTabSz="914400" eaLnBrk="1" hangingPunct="1">
              <a:buFont typeface="Wingdings" panose="05000000000000000000" pitchFamily="2" charset="2"/>
              <a:buChar char="p"/>
              <a:tabLst>
                <a:tab pos="457200" algn="l"/>
              </a:tabLst>
            </a:pPr>
            <a:r>
              <a:rPr lang="zh-CN" altLang="en-US" sz="2400" b="1" dirty="0"/>
              <a:t>数据存储管理的一般模式</a:t>
            </a:r>
            <a:endParaRPr lang="en-US" altLang="zh-CN" sz="2400" b="1" dirty="0"/>
          </a:p>
          <a:p>
            <a:pPr lvl="1" defTabSz="914400" eaLnBrk="1" hangingPunct="1">
              <a:buFont typeface="Wingdings" panose="05000000000000000000" pitchFamily="2" charset="2"/>
              <a:buChar char="Ø"/>
              <a:tabLst>
                <a:tab pos="457200" algn="l"/>
              </a:tabLst>
            </a:pPr>
            <a:r>
              <a:rPr lang="zh-CN" altLang="en-US" sz="2200" dirty="0"/>
              <a:t>文件管理模式</a:t>
            </a:r>
            <a:endParaRPr lang="en-US" altLang="zh-CN" sz="2200" dirty="0"/>
          </a:p>
          <a:p>
            <a:pPr lvl="1" defTabSz="914400" eaLnBrk="1" hangingPunct="1">
              <a:buFont typeface="Wingdings" panose="05000000000000000000" pitchFamily="2" charset="2"/>
              <a:buChar char="Ø"/>
              <a:tabLst>
                <a:tab pos="457200" algn="l"/>
              </a:tabLst>
            </a:pPr>
            <a:r>
              <a:rPr lang="zh-CN" altLang="en-US" sz="2200" dirty="0"/>
              <a:t>关系数据库管理系统</a:t>
            </a:r>
            <a:endParaRPr lang="en-US" altLang="zh-CN" sz="2200" dirty="0"/>
          </a:p>
          <a:p>
            <a:pPr lvl="1" defTabSz="914400" eaLnBrk="1" hangingPunct="1">
              <a:buFont typeface="Wingdings" panose="05000000000000000000" pitchFamily="2" charset="2"/>
              <a:buChar char="Ø"/>
              <a:tabLst>
                <a:tab pos="457200" algn="l"/>
              </a:tabLst>
            </a:pPr>
            <a:r>
              <a:rPr lang="zh-CN" altLang="en-US" sz="2200" dirty="0"/>
              <a:t>面向对象数据库管理系统</a:t>
            </a:r>
            <a:endParaRPr lang="en-US" altLang="zh-CN" sz="2200" b="1" dirty="0"/>
          </a:p>
        </p:txBody>
      </p:sp>
      <p:sp>
        <p:nvSpPr>
          <p:cNvPr id="73731" name="标题 1"/>
          <p:cNvSpPr>
            <a:spLocks noGrp="1"/>
          </p:cNvSpPr>
          <p:nvPr>
            <p:ph type="title"/>
          </p:nvPr>
        </p:nvSpPr>
        <p:spPr>
          <a:xfrm>
            <a:off x="455613" y="469900"/>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详细设计：</a:t>
            </a:r>
            <a:r>
              <a:rPr lang="zh-CN" altLang="en-US" b="1" dirty="0">
                <a:solidFill>
                  <a:srgbClr val="FF0000"/>
                </a:solidFill>
                <a:latin typeface="微软雅黑" panose="020B0503020204020204" pitchFamily="34" charset="-122"/>
                <a:ea typeface="微软雅黑" panose="020B0503020204020204" pitchFamily="34" charset="-122"/>
              </a:rPr>
              <a:t>对象持久化设计</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内容占位符 2"/>
          <p:cNvSpPr>
            <a:spLocks noGrp="1"/>
          </p:cNvSpPr>
          <p:nvPr>
            <p:ph idx="1"/>
          </p:nvPr>
        </p:nvSpPr>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solidFill>
                  <a:srgbClr val="FF0000"/>
                </a:solidFill>
              </a:rPr>
              <a:t>关系数据库</a:t>
            </a:r>
            <a:r>
              <a:rPr lang="zh-CN" altLang="en-US" sz="2400" b="1" dirty="0"/>
              <a:t>与</a:t>
            </a:r>
            <a:r>
              <a:rPr lang="zh-CN" altLang="en-US" sz="2400" b="1" dirty="0">
                <a:solidFill>
                  <a:srgbClr val="FF0000"/>
                </a:solidFill>
              </a:rPr>
              <a:t>面向对象</a:t>
            </a:r>
            <a:r>
              <a:rPr lang="zh-CN" altLang="en-US" sz="2400" b="1" dirty="0"/>
              <a:t>中的概念存在一定的对应</a:t>
            </a:r>
            <a:endParaRPr lang="en-US" altLang="zh-CN" sz="2400" b="1" dirty="0"/>
          </a:p>
        </p:txBody>
      </p:sp>
      <p:sp>
        <p:nvSpPr>
          <p:cNvPr id="74755" name="标题 1"/>
          <p:cNvSpPr>
            <a:spLocks noGrp="1"/>
          </p:cNvSpPr>
          <p:nvPr>
            <p:ph type="title"/>
          </p:nvPr>
        </p:nvSpPr>
        <p:spPr>
          <a:xfrm>
            <a:off x="382588" y="685800"/>
            <a:ext cx="8207375" cy="1139825"/>
          </a:xfrm>
        </p:spPr>
        <p:txBody>
          <a:bodyPr vert="horz" wrap="square" lIns="0" tIns="45610" rIns="0" bIns="0" anchor="b" anchorCtr="0"/>
          <a:p>
            <a:pPr eaLnBrk="1" hangingPunct="1">
              <a:lnSpc>
                <a:spcPts val="6000"/>
              </a:lnSpc>
            </a:pPr>
            <a:r>
              <a:rPr lang="zh-CN" altLang="en-US" b="1" dirty="0">
                <a:latin typeface="微软雅黑" panose="020B0503020204020204" pitchFamily="34" charset="-122"/>
                <a:ea typeface="微软雅黑" panose="020B0503020204020204" pitchFamily="34" charset="-122"/>
              </a:rPr>
              <a:t>对象持久化设计的方法：基于关系数据库存储</a:t>
            </a:r>
            <a:endParaRPr lang="zh-CN" altLang="en-US" b="1" dirty="0">
              <a:latin typeface="微软雅黑" panose="020B0503020204020204" pitchFamily="34" charset="-122"/>
              <a:ea typeface="微软雅黑" panose="020B0503020204020204" pitchFamily="34" charset="-122"/>
            </a:endParaRPr>
          </a:p>
        </p:txBody>
      </p:sp>
      <p:pic>
        <p:nvPicPr>
          <p:cNvPr id="74756" name="Picture 2"/>
          <p:cNvPicPr>
            <a:picLocks noChangeAspect="1"/>
          </p:cNvPicPr>
          <p:nvPr/>
        </p:nvPicPr>
        <p:blipFill>
          <a:blip r:embed="rId1"/>
          <a:stretch>
            <a:fillRect/>
          </a:stretch>
        </p:blipFill>
        <p:spPr>
          <a:xfrm>
            <a:off x="95250" y="2774950"/>
            <a:ext cx="8904288" cy="2730500"/>
          </a:xfrm>
          <a:prstGeom prst="rect">
            <a:avLst/>
          </a:prstGeom>
          <a:noFill/>
          <a:ln w="9525">
            <a:noFill/>
          </a:ln>
        </p:spPr>
      </p:pic>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2830513" y="658813"/>
            <a:ext cx="2808288" cy="53657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内容提纲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4340" name="Text Box 5"/>
          <p:cNvSpPr txBox="1">
            <a:spLocks noChangeArrowheads="1"/>
          </p:cNvSpPr>
          <p:nvPr/>
        </p:nvSpPr>
        <p:spPr bwMode="auto">
          <a:xfrm>
            <a:off x="765175" y="1406525"/>
            <a:ext cx="7897813" cy="324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1pPr>
            <a:lvl2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2pPr>
            <a:lvl3pPr indent="-4572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9p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回答两个问题</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1</a:t>
            </a: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）对于大型系统如何进行设计？</a:t>
            </a:r>
            <a:endParaRPr kumimoji="1" lang="en-US" altLang="zh-CN"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2</a:t>
            </a: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charset="0"/>
                <a:ea typeface="宋体" panose="02010600030101010101" pitchFamily="2" charset="-122"/>
                <a:cs typeface="+mn-cs"/>
              </a:rPr>
              <a:t>）概要设计完了之后，系统的详细设计做什么？</a:t>
            </a:r>
            <a:endParaRPr kumimoji="1" lang="en-US" altLang="zh-CN" sz="3200" b="1" i="0" u="none"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3</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rPr>
              <a:t>）在确定类与类之间关系的过程中，有没有更好的指导方法？</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charset="0"/>
              <a:ea typeface="宋体" panose="02010600030101010101" pitchFamily="2" charset="-122"/>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1"/>
          <p:cNvSpPr>
            <a:spLocks noChangeArrowheads="1"/>
          </p:cNvSpPr>
          <p:nvPr/>
        </p:nvSpPr>
        <p:spPr bwMode="auto">
          <a:xfrm>
            <a:off x="393700" y="614363"/>
            <a:ext cx="84740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marL="273050" indent="-273050" eaLnBrk="0" hangingPunct="0">
              <a:spcBef>
                <a:spcPct val="20000"/>
              </a:spcBef>
              <a:buClr>
                <a:srgbClr val="0BD0D9"/>
              </a:buClr>
              <a:buSzPct val="95000"/>
              <a:buFont typeface="Wingdings 2" panose="05020102010507070707" pitchFamily="18" charset="2"/>
              <a:buChar char=""/>
              <a:tabLst>
                <a:tab pos="457200" algn="l"/>
              </a:tabLst>
              <a:defRPr sz="2600">
                <a:solidFill>
                  <a:schemeClr val="tx1"/>
                </a:solidFill>
                <a:latin typeface="Constantia" panose="02030602050306030303" charset="0"/>
                <a:ea typeface="宋体" panose="02010600030101010101" pitchFamily="2" charset="-122"/>
              </a:defRPr>
            </a:lvl1pPr>
            <a:lvl2pPr marL="742950" indent="-285750" eaLnBrk="0" hangingPunct="0">
              <a:spcBef>
                <a:spcPct val="20000"/>
              </a:spcBef>
              <a:buClr>
                <a:schemeClr val="accent1"/>
              </a:buClr>
              <a:buSzPct val="85000"/>
              <a:buFont typeface="Wingdings 2" panose="05020102010507070707" pitchFamily="18" charset="2"/>
              <a:buChar char=""/>
              <a:tabLst>
                <a:tab pos="457200" algn="l"/>
              </a:tabLst>
              <a:defRPr sz="2400">
                <a:solidFill>
                  <a:schemeClr val="tx1"/>
                </a:solidFill>
                <a:latin typeface="Constantia" panose="02030602050306030303" charset="0"/>
                <a:ea typeface="宋体" panose="02010600030101010101" pitchFamily="2" charset="-122"/>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l"/>
              </a:tabLst>
              <a:defRPr sz="2100">
                <a:solidFill>
                  <a:schemeClr val="tx1"/>
                </a:solidFill>
                <a:latin typeface="Constantia" panose="02030602050306030303" charset="0"/>
                <a:ea typeface="宋体" panose="02010600030101010101" pitchFamily="2" charset="-122"/>
              </a:defRPr>
            </a:lvl3pPr>
            <a:lvl4pPr marL="1600200" indent="-228600" eaLnBrk="0" hangingPunct="0">
              <a:spcBef>
                <a:spcPct val="20000"/>
              </a:spcBef>
              <a:buClr>
                <a:srgbClr val="0BD0D9"/>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4pPr>
            <a:lvl5pPr marL="2057400" indent="-228600" eaLnBrk="0" hangingPunct="0">
              <a:spcBef>
                <a:spcPct val="20000"/>
              </a:spcBef>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zh-CN" altLang="en-US"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rPr>
              <a:t>对用例“开户”进行分析之后得到的类图</a:t>
            </a:r>
            <a:endParaRPr kumimoji="1" lang="en-US" altLang="zh-CN"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endParaRPr>
          </a:p>
        </p:txBody>
      </p:sp>
      <p:pic>
        <p:nvPicPr>
          <p:cNvPr id="76803" name="Picture 4"/>
          <p:cNvPicPr>
            <a:picLocks noChangeAspect="1"/>
          </p:cNvPicPr>
          <p:nvPr/>
        </p:nvPicPr>
        <p:blipFill>
          <a:blip r:embed="rId1"/>
          <a:stretch>
            <a:fillRect/>
          </a:stretch>
        </p:blipFill>
        <p:spPr>
          <a:xfrm>
            <a:off x="1671638" y="2271713"/>
            <a:ext cx="5029200" cy="4432300"/>
          </a:xfrm>
          <a:prstGeom prst="rect">
            <a:avLst/>
          </a:prstGeom>
          <a:noFill/>
          <a:ln w="9525">
            <a:noFill/>
          </a:ln>
        </p:spPr>
      </p:pic>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4"/>
          <p:cNvSpPr/>
          <p:nvPr/>
        </p:nvSpPr>
        <p:spPr>
          <a:xfrm>
            <a:off x="1933575" y="1003300"/>
            <a:ext cx="9118600" cy="461963"/>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77827" name="Picture 3"/>
          <p:cNvPicPr>
            <a:picLocks noChangeAspect="1"/>
          </p:cNvPicPr>
          <p:nvPr/>
        </p:nvPicPr>
        <p:blipFill>
          <a:blip r:embed="rId1"/>
          <a:stretch>
            <a:fillRect/>
          </a:stretch>
        </p:blipFill>
        <p:spPr>
          <a:xfrm>
            <a:off x="1030288" y="98425"/>
            <a:ext cx="7446962" cy="6861175"/>
          </a:xfrm>
          <a:prstGeom prst="rect">
            <a:avLst/>
          </a:prstGeom>
          <a:noFill/>
          <a:ln w="9525">
            <a:noFill/>
          </a:ln>
        </p:spPr>
      </p:pic>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内容占位符 2"/>
          <p:cNvSpPr>
            <a:spLocks noGrp="1"/>
          </p:cNvSpPr>
          <p:nvPr>
            <p:ph idx="1"/>
          </p:nvPr>
        </p:nvSpPr>
        <p:spPr>
          <a:xfrm>
            <a:off x="527050" y="1909763"/>
            <a:ext cx="8207375" cy="4381500"/>
          </a:xfrm>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单一职责原则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开放</a:t>
            </a:r>
            <a:r>
              <a:rPr lang="en-US" altLang="zh-CN" sz="3200" b="1" dirty="0"/>
              <a:t>-</a:t>
            </a:r>
            <a:r>
              <a:rPr lang="zh-CN" altLang="en-US" sz="3200" b="1" dirty="0"/>
              <a:t>封闭原则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接口隔离原则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en-US" altLang="zh-CN" sz="3200" b="1" dirty="0"/>
              <a:t>Liskov</a:t>
            </a:r>
            <a:r>
              <a:rPr lang="zh-CN" altLang="en-US" sz="3200" b="1" dirty="0"/>
              <a:t>替换原则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依赖倒置原则</a:t>
            </a:r>
            <a:endParaRPr lang="zh-CN" altLang="en-US" sz="3200" b="1" dirty="0"/>
          </a:p>
        </p:txBody>
      </p:sp>
      <p:sp>
        <p:nvSpPr>
          <p:cNvPr id="78851" name="标题 1"/>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面向对象设计原则</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2"/>
          <p:cNvSpPr>
            <a:spLocks noGrp="1"/>
          </p:cNvSpPr>
          <p:nvPr>
            <p:ph idx="1"/>
          </p:nvPr>
        </p:nvSpPr>
        <p:spPr>
          <a:xfrm>
            <a:off x="311150" y="1406525"/>
            <a:ext cx="8616950" cy="4516438"/>
          </a:xfrm>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一个类只完成某一类功能</a:t>
            </a:r>
            <a:r>
              <a:rPr lang="en-US" altLang="zh-CN" b="1" dirty="0"/>
              <a:t>(</a:t>
            </a:r>
            <a:r>
              <a:rPr lang="zh-CN" altLang="en-US" b="1" dirty="0"/>
              <a:t>职责</a:t>
            </a:r>
            <a:r>
              <a:rPr lang="en-US" altLang="zh-CN" b="1" dirty="0"/>
              <a:t>)</a:t>
            </a:r>
            <a:endParaRPr lang="en-US" altLang="zh-CN"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尽可能避免出现一个“复合”功能的类</a:t>
            </a:r>
            <a:r>
              <a:rPr lang="en-US" altLang="zh-CN" b="1" dirty="0"/>
              <a:t>——</a:t>
            </a:r>
            <a:r>
              <a:rPr lang="zh-CN" altLang="en-US" b="1" dirty="0"/>
              <a:t>在同一个类中完成多个不同的功能</a:t>
            </a:r>
            <a:endParaRPr lang="zh-CN" altLang="en-US" dirty="0"/>
          </a:p>
        </p:txBody>
      </p:sp>
      <p:sp>
        <p:nvSpPr>
          <p:cNvPr id="79875" name="标题 1"/>
          <p:cNvSpPr>
            <a:spLocks noGrp="1"/>
          </p:cNvSpPr>
          <p:nvPr>
            <p:ph type="title"/>
          </p:nvPr>
        </p:nvSpPr>
        <p:spPr>
          <a:xfrm>
            <a:off x="455613" y="327025"/>
            <a:ext cx="8207375" cy="1139825"/>
          </a:xfrm>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、单一职责原则</a:t>
            </a:r>
            <a:endParaRPr lang="zh-CN" altLang="en-US" b="1" dirty="0">
              <a:latin typeface="微软雅黑" panose="020B0503020204020204" pitchFamily="34" charset="-122"/>
              <a:ea typeface="微软雅黑" panose="020B0503020204020204" pitchFamily="34" charset="-122"/>
            </a:endParaRPr>
          </a:p>
        </p:txBody>
      </p:sp>
      <p:pic>
        <p:nvPicPr>
          <p:cNvPr id="79876" name="Picture 4"/>
          <p:cNvPicPr>
            <a:picLocks noChangeAspect="1"/>
          </p:cNvPicPr>
          <p:nvPr/>
        </p:nvPicPr>
        <p:blipFill>
          <a:blip r:embed="rId1"/>
          <a:stretch>
            <a:fillRect/>
          </a:stretch>
        </p:blipFill>
        <p:spPr>
          <a:xfrm>
            <a:off x="2398713" y="3135313"/>
            <a:ext cx="4414837" cy="3841750"/>
          </a:xfrm>
          <a:prstGeom prst="rect">
            <a:avLst/>
          </a:prstGeom>
          <a:noFill/>
          <a:ln w="9525">
            <a:noFill/>
          </a:ln>
        </p:spPr>
      </p:pic>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内容占位符 1"/>
          <p:cNvSpPr>
            <a:spLocks noGrp="1"/>
          </p:cNvSpPr>
          <p:nvPr>
            <p:ph idx="1"/>
          </p:nvPr>
        </p:nvSpPr>
        <p:spPr/>
        <p:txBody>
          <a:bodyPr vert="horz" wrap="square" lIns="91221" tIns="45610" rIns="91221" bIns="45610" anchor="t" anchorCtr="0"/>
          <a:p>
            <a:endParaRPr lang="zh-CN" altLang="en-US" dirty="0"/>
          </a:p>
        </p:txBody>
      </p:sp>
      <p:sp>
        <p:nvSpPr>
          <p:cNvPr id="80899" name="标题 2"/>
          <p:cNvSpPr>
            <a:spLocks noGrp="1"/>
          </p:cNvSpPr>
          <p:nvPr>
            <p:ph type="title"/>
          </p:nvPr>
        </p:nvSpPr>
        <p:spPr/>
        <p:txBody>
          <a:bodyPr vert="horz" wrap="square" lIns="0" tIns="45610" rIns="0" bIns="0" anchor="b" anchorCtr="0"/>
          <a:p>
            <a:endParaRPr lang="zh-CN" altLang="en-US" dirty="0"/>
          </a:p>
        </p:txBody>
      </p:sp>
      <p:pic>
        <p:nvPicPr>
          <p:cNvPr id="80900" name="Picture 4"/>
          <p:cNvPicPr>
            <a:picLocks noChangeAspect="1"/>
          </p:cNvPicPr>
          <p:nvPr/>
        </p:nvPicPr>
        <p:blipFill>
          <a:blip r:embed="rId1"/>
          <a:stretch>
            <a:fillRect/>
          </a:stretch>
        </p:blipFill>
        <p:spPr>
          <a:xfrm>
            <a:off x="0" y="1982788"/>
            <a:ext cx="9118600" cy="3690937"/>
          </a:xfrm>
          <a:prstGeom prst="rect">
            <a:avLst/>
          </a:prstGeom>
          <a:noFill/>
          <a:ln w="9525">
            <a:noFill/>
          </a:ln>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内容占位符 2"/>
          <p:cNvSpPr>
            <a:spLocks noGrp="1"/>
          </p:cNvSpPr>
          <p:nvPr>
            <p:ph idx="1"/>
          </p:nvPr>
        </p:nvSpPr>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开放−封闭原则：</a:t>
            </a:r>
            <a:r>
              <a:rPr lang="zh-CN" altLang="en-US" dirty="0"/>
              <a:t>软件实体类</a:t>
            </a:r>
            <a:r>
              <a:rPr lang="en-US" altLang="zh-CN" dirty="0"/>
              <a:t>(</a:t>
            </a:r>
            <a:r>
              <a:rPr lang="zh-CN" altLang="en-US" dirty="0"/>
              <a:t>类、模块、函数等</a:t>
            </a:r>
            <a:r>
              <a:rPr lang="en-US" altLang="zh-CN" dirty="0"/>
              <a:t>)</a:t>
            </a:r>
            <a:r>
              <a:rPr lang="zh-CN" altLang="en-US" dirty="0"/>
              <a:t>应该是可以扩展、但是不可修改的</a:t>
            </a:r>
            <a:endParaRPr lang="zh-CN" altLang="en-US"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基本思想：</a:t>
            </a:r>
            <a:r>
              <a:rPr lang="zh-CN" altLang="en-US" dirty="0"/>
              <a:t>不用修改原有类就能扩展一个类的行为</a:t>
            </a:r>
            <a:endParaRPr lang="zh-CN" altLang="en-US" dirty="0"/>
          </a:p>
        </p:txBody>
      </p:sp>
      <p:sp>
        <p:nvSpPr>
          <p:cNvPr id="81923" name="标题 1"/>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、开放−封闭原则</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noRot="1"/>
          </p:cNvSpPr>
          <p:nvPr>
            <p:ph type="title"/>
          </p:nvPr>
        </p:nvSpPr>
        <p:spPr>
          <a:xfrm>
            <a:off x="296863" y="228600"/>
            <a:ext cx="851852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什么是不封闭、不开放</a:t>
            </a:r>
            <a:endParaRPr lang="zh-CN" altLang="en-US" b="1" dirty="0">
              <a:latin typeface="微软雅黑" panose="020B0503020204020204" pitchFamily="34" charset="-122"/>
              <a:ea typeface="微软雅黑" panose="020B0503020204020204" pitchFamily="34" charset="-122"/>
            </a:endParaRPr>
          </a:p>
        </p:txBody>
      </p:sp>
      <p:sp>
        <p:nvSpPr>
          <p:cNvPr id="83971" name="Rectangle 3"/>
          <p:cNvSpPr>
            <a:spLocks noGrp="1" noRot="1"/>
          </p:cNvSpPr>
          <p:nvPr>
            <p:ph type="body" sz="half" idx="1"/>
          </p:nvPr>
        </p:nvSpPr>
        <p:spPr>
          <a:xfrm>
            <a:off x="7938" y="1477963"/>
            <a:ext cx="9118600" cy="1581150"/>
          </a:xfrm>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如下的模型可以处理月薪制和时薪制职工工资，如果还要增加一种职工类型，其计酬方式不同（如提成制），则必定要修改</a:t>
            </a:r>
            <a:r>
              <a:rPr lang="en-US" altLang="zh-CN" b="1" dirty="0"/>
              <a:t>Employee</a:t>
            </a:r>
            <a:r>
              <a:rPr lang="zh-CN" altLang="en-US" b="1" dirty="0"/>
              <a:t>类</a:t>
            </a:r>
            <a:endParaRPr lang="zh-CN" altLang="en-US" b="1" dirty="0"/>
          </a:p>
        </p:txBody>
      </p:sp>
      <p:pic>
        <p:nvPicPr>
          <p:cNvPr id="96260" name="Picture 4"/>
          <p:cNvPicPr>
            <a:picLocks noGrp="1" noChangeAspect="1"/>
          </p:cNvPicPr>
          <p:nvPr>
            <p:ph sz="half" idx="2"/>
          </p:nvPr>
        </p:nvPicPr>
        <p:blipFill>
          <a:blip r:embed="rId1"/>
          <a:srcRect/>
          <a:stretch>
            <a:fillRect/>
          </a:stretch>
        </p:blipFill>
        <p:spPr>
          <a:xfrm>
            <a:off x="0" y="3206750"/>
            <a:ext cx="9118600" cy="3063875"/>
          </a:xfr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dissolve">
                                      <p:cBhvr>
                                        <p:cTn id="7" dur="5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Rot="1"/>
          </p:cNvSpPr>
          <p:nvPr>
            <p:ph type="title"/>
          </p:nvPr>
        </p:nvSpPr>
        <p:spPr>
          <a:xfrm>
            <a:off x="296863" y="228600"/>
            <a:ext cx="851852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如何改进</a:t>
            </a:r>
            <a:endParaRPr lang="zh-CN" altLang="en-US" b="1" dirty="0">
              <a:latin typeface="微软雅黑" panose="020B0503020204020204" pitchFamily="34" charset="-122"/>
              <a:ea typeface="微软雅黑" panose="020B0503020204020204" pitchFamily="34" charset="-122"/>
            </a:endParaRPr>
          </a:p>
        </p:txBody>
      </p:sp>
      <p:sp>
        <p:nvSpPr>
          <p:cNvPr id="23555" name="Rectangle 3"/>
          <p:cNvSpPr>
            <a:spLocks noGrp="1" noRot="1" noChangeArrowheads="1"/>
          </p:cNvSpPr>
          <p:nvPr>
            <p:ph type="body" sz="half" idx="1"/>
          </p:nvPr>
        </p:nvSpPr>
        <p:spPr>
          <a:xfrm>
            <a:off x="382588" y="1477963"/>
            <a:ext cx="8054975" cy="1154113"/>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利用抽象机制</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封闭</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Employee</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及其子类是封闭的</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开放</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：可以派生新的子类，实现新的需求</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pic>
        <p:nvPicPr>
          <p:cNvPr id="97284" name="Picture 4"/>
          <p:cNvPicPr>
            <a:picLocks noGrp="1" noChangeAspect="1"/>
          </p:cNvPicPr>
          <p:nvPr>
            <p:ph sz="half" idx="2"/>
          </p:nvPr>
        </p:nvPicPr>
        <p:blipFill>
          <a:blip r:embed="rId1"/>
          <a:srcRect/>
          <a:stretch>
            <a:fillRect/>
          </a:stretch>
        </p:blipFill>
        <p:spPr>
          <a:xfrm>
            <a:off x="671513" y="3206750"/>
            <a:ext cx="7781925" cy="3490913"/>
          </a:xfr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7284"/>
                                        </p:tgtEl>
                                        <p:attrNameLst>
                                          <p:attrName>style.visibility</p:attrName>
                                        </p:attrNameLst>
                                      </p:cBhvr>
                                      <p:to>
                                        <p:strVal val="visible"/>
                                      </p:to>
                                    </p:set>
                                    <p:animEffect transition="in" filter="dissolve">
                                      <p:cBhvr>
                                        <p:cTn id="7" dur="500"/>
                                        <p:tgtEl>
                                          <p:spTgt spid="97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内容占位符 2"/>
          <p:cNvSpPr>
            <a:spLocks noGrp="1"/>
          </p:cNvSpPr>
          <p:nvPr>
            <p:ph idx="1"/>
          </p:nvPr>
        </p:nvSpPr>
        <p:spPr>
          <a:xfrm>
            <a:off x="455613" y="1931988"/>
            <a:ext cx="8496300" cy="4381500"/>
          </a:xfrm>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en-US" altLang="zh-CN" sz="2800" b="1" dirty="0"/>
              <a:t>Liskov </a:t>
            </a:r>
            <a:r>
              <a:rPr lang="zh-CN" altLang="en-US" sz="2800" b="1" dirty="0"/>
              <a:t>替换原则：</a:t>
            </a:r>
            <a:r>
              <a:rPr lang="zh-CN" altLang="en-US" sz="2800" dirty="0"/>
              <a:t>子类应当可以替换父类并出现在父类能够出现的任何地方</a:t>
            </a:r>
            <a:endParaRPr lang="en-US" altLang="zh-CN" sz="2800"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核心思想：</a:t>
            </a:r>
            <a:r>
              <a:rPr lang="zh-CN" altLang="en-US" sz="2800" dirty="0"/>
              <a:t>子类型必须能够替换它们的基类型，该原则能够知道设计人员正确地进行类的继承与派生</a:t>
            </a:r>
            <a:endParaRPr lang="en-US" altLang="zh-CN" sz="2800" dirty="0"/>
          </a:p>
        </p:txBody>
      </p:sp>
      <p:sp>
        <p:nvSpPr>
          <p:cNvPr id="86019" name="标题 1"/>
          <p:cNvSpPr>
            <a:spLocks noGrp="1"/>
          </p:cNvSpPr>
          <p:nvPr>
            <p:ph type="title"/>
          </p:nvPr>
        </p:nvSpPr>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Liskov </a:t>
            </a:r>
            <a:r>
              <a:rPr lang="zh-CN" altLang="en-US" b="1" dirty="0">
                <a:latin typeface="微软雅黑" panose="020B0503020204020204" pitchFamily="34" charset="-122"/>
                <a:ea typeface="微软雅黑" panose="020B0503020204020204" pitchFamily="34" charset="-122"/>
              </a:rPr>
              <a:t>替换原则</a:t>
            </a:r>
            <a:endParaRPr lang="zh-CN" altLang="en-US" b="1" dirty="0">
              <a:latin typeface="微软雅黑" panose="020B0503020204020204" pitchFamily="34" charset="-122"/>
              <a:ea typeface="微软雅黑" panose="020B0503020204020204" pitchFamily="34" charset="-122"/>
            </a:endParaRPr>
          </a:p>
        </p:txBody>
      </p:sp>
      <p:pic>
        <p:nvPicPr>
          <p:cNvPr id="86020" name="Picture 2"/>
          <p:cNvPicPr>
            <a:picLocks noChangeAspect="1"/>
          </p:cNvPicPr>
          <p:nvPr/>
        </p:nvPicPr>
        <p:blipFill>
          <a:blip r:embed="rId1"/>
          <a:stretch>
            <a:fillRect/>
          </a:stretch>
        </p:blipFill>
        <p:spPr>
          <a:xfrm>
            <a:off x="455613" y="4862513"/>
            <a:ext cx="8456612" cy="1831975"/>
          </a:xfrm>
          <a:prstGeom prst="rect">
            <a:avLst/>
          </a:prstGeom>
          <a:noFill/>
          <a:ln w="9525">
            <a:noFill/>
          </a:ln>
        </p:spPr>
      </p:pic>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noRot="1"/>
          </p:cNvSpPr>
          <p:nvPr>
            <p:ph type="title"/>
          </p:nvPr>
        </p:nvSpPr>
        <p:spPr>
          <a:xfrm>
            <a:off x="311150" y="398463"/>
            <a:ext cx="8516938" cy="1141412"/>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一个违反</a:t>
            </a:r>
            <a:r>
              <a:rPr lang="en-US" altLang="zh-CN" b="1" dirty="0">
                <a:latin typeface="微软雅黑" panose="020B0503020204020204" pitchFamily="34" charset="-122"/>
                <a:ea typeface="微软雅黑" panose="020B0503020204020204" pitchFamily="34" charset="-122"/>
              </a:rPr>
              <a:t>Liskov</a:t>
            </a:r>
            <a:r>
              <a:rPr lang="zh-CN" altLang="en-US" b="1" dirty="0">
                <a:latin typeface="微软雅黑" panose="020B0503020204020204" pitchFamily="34" charset="-122"/>
                <a:ea typeface="微软雅黑" panose="020B0503020204020204" pitchFamily="34" charset="-122"/>
              </a:rPr>
              <a:t>原则的例子</a:t>
            </a:r>
            <a:endParaRPr lang="zh-CN" altLang="en-US" b="1" dirty="0">
              <a:latin typeface="微软雅黑" panose="020B0503020204020204" pitchFamily="34" charset="-122"/>
              <a:ea typeface="微软雅黑" panose="020B0503020204020204" pitchFamily="34" charset="-122"/>
            </a:endParaRPr>
          </a:p>
        </p:txBody>
      </p:sp>
      <p:sp>
        <p:nvSpPr>
          <p:cNvPr id="87043" name="Rectangle 3"/>
          <p:cNvSpPr>
            <a:spLocks noGrp="1" noRot="1"/>
          </p:cNvSpPr>
          <p:nvPr>
            <p:ph type="body" sz="half" idx="1"/>
          </p:nvPr>
        </p:nvSpPr>
        <p:spPr>
          <a:xfrm>
            <a:off x="393700" y="1643063"/>
            <a:ext cx="7985125" cy="1274762"/>
          </a:xfrm>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正方形是长方形的一种特例</a:t>
            </a:r>
            <a:endParaRPr lang="zh-CN" altLang="en-US" sz="2800" b="1" dirty="0"/>
          </a:p>
        </p:txBody>
      </p:sp>
      <p:pic>
        <p:nvPicPr>
          <p:cNvPr id="99332" name="Picture 4"/>
          <p:cNvPicPr>
            <a:picLocks noGrp="1" noChangeAspect="1"/>
          </p:cNvPicPr>
          <p:nvPr>
            <p:ph sz="half" idx="2"/>
          </p:nvPr>
        </p:nvPicPr>
        <p:blipFill>
          <a:blip r:embed="rId1"/>
          <a:srcRect/>
          <a:stretch>
            <a:fillRect/>
          </a:stretch>
        </p:blipFill>
        <p:spPr>
          <a:xfrm>
            <a:off x="0" y="2486025"/>
            <a:ext cx="9118600" cy="3025775"/>
          </a:xfr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dissolve">
                                      <p:cBhvr>
                                        <p:cTn id="7" dur="500"/>
                                        <p:tgtEl>
                                          <p:spTgt spid="99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3"/>
          <p:cNvSpPr>
            <a:spLocks noGrp="1" noRot="1"/>
          </p:cNvSpPr>
          <p:nvPr>
            <p:ph type="body" sz="half" idx="1"/>
          </p:nvPr>
        </p:nvSpPr>
        <p:spPr>
          <a:xfrm>
            <a:off x="382588" y="1046163"/>
            <a:ext cx="8193087" cy="971550"/>
          </a:xfrm>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正方形有独特的行为方式</a:t>
            </a:r>
            <a:endParaRPr lang="zh-CN" altLang="en-US" sz="28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通过覆盖父类的有关方法来实现子类行为</a:t>
            </a:r>
            <a:endParaRPr lang="zh-CN" altLang="en-US" sz="2800" b="1" dirty="0"/>
          </a:p>
        </p:txBody>
      </p:sp>
      <p:pic>
        <p:nvPicPr>
          <p:cNvPr id="100356" name="Picture 4"/>
          <p:cNvPicPr>
            <a:picLocks noGrp="1" noChangeAspect="1"/>
          </p:cNvPicPr>
          <p:nvPr>
            <p:ph sz="half" idx="2"/>
          </p:nvPr>
        </p:nvPicPr>
        <p:blipFill>
          <a:blip r:embed="rId1"/>
          <a:srcRect/>
          <a:stretch>
            <a:fillRect/>
          </a:stretch>
        </p:blipFill>
        <p:spPr>
          <a:xfrm>
            <a:off x="527050" y="2559050"/>
            <a:ext cx="7799388" cy="3709988"/>
          </a:xfr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dissolve">
                                      <p:cBhvr>
                                        <p:cTn id="7"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noRot="1"/>
          </p:cNvSpPr>
          <p:nvPr>
            <p:ph type="title"/>
          </p:nvPr>
        </p:nvSpPr>
        <p:spPr>
          <a:xfrm>
            <a:off x="455613" y="254000"/>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实际中的使用情况</a:t>
            </a:r>
            <a:endParaRPr lang="zh-CN" altLang="en-US" b="1" dirty="0">
              <a:latin typeface="微软雅黑" panose="020B0503020204020204" pitchFamily="34" charset="-122"/>
              <a:ea typeface="微软雅黑" panose="020B0503020204020204" pitchFamily="34" charset="-122"/>
            </a:endParaRPr>
          </a:p>
        </p:txBody>
      </p:sp>
      <p:sp>
        <p:nvSpPr>
          <p:cNvPr id="101379" name="Rectangle 3"/>
          <p:cNvSpPr>
            <a:spLocks noGrp="1" noRot="1" noChangeArrowheads="1"/>
          </p:cNvSpPr>
          <p:nvPr>
            <p:ph idx="1"/>
          </p:nvPr>
        </p:nvSpPr>
        <p:spPr>
          <a:xfrm>
            <a:off x="188913" y="1335088"/>
            <a:ext cx="8929688" cy="5318125"/>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长方形的使用者按照长方形的特点来调用</a:t>
            </a:r>
            <a:r>
              <a:rPr kumimoji="1" lang="en-US" altLang="zh-CN" sz="24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SetWidth</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和</a:t>
            </a:r>
            <a:r>
              <a:rPr kumimoji="1" lang="en-US" altLang="zh-CN" sz="24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SetHeight</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两个函数，并测试面积，代码如下：</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void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testArea</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(Rectangle&amp; r) {</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r.SetWidth</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(5);</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r.SetHeight</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(4);</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assert(</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r.Area</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20);</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如果传递进来的是</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Square</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对象又会如何呢？显然会出现断言错误，测试失败。</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对于客户程序来说，模型中的层次结构是脆弱的，因为违反了</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LSP</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替换原则，</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Square</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对象和</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Rectangle</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对象的行为方式不相容</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79">
                                            <p:txEl>
                                              <p:charRg st="0" end="5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79">
                                            <p:txEl>
                                              <p:charRg st="53" end="8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379">
                                            <p:txEl>
                                              <p:charRg st="83" end="9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79">
                                            <p:txEl>
                                              <p:charRg st="99" end="11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379">
                                            <p:txEl>
                                              <p:charRg st="116" end="14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379">
                                            <p:txEl>
                                              <p:charRg st="141" end="14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379">
                                            <p:txEl>
                                              <p:charRg st="143" end="18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379">
                                            <p:txEl>
                                              <p:charRg st="181" end="24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Rot="1"/>
          </p:cNvSpPr>
          <p:nvPr>
            <p:ph type="title"/>
          </p:nvPr>
        </p:nvSpPr>
        <p:spPr>
          <a:xfrm>
            <a:off x="455613" y="469900"/>
            <a:ext cx="8207375" cy="1139825"/>
          </a:xfrm>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、接口隔离原则</a:t>
            </a:r>
            <a:endParaRPr lang="zh-CN" altLang="en-US" b="1" dirty="0">
              <a:latin typeface="微软雅黑" panose="020B0503020204020204" pitchFamily="34" charset="-122"/>
              <a:ea typeface="微软雅黑" panose="020B0503020204020204" pitchFamily="34" charset="-122"/>
            </a:endParaRPr>
          </a:p>
        </p:txBody>
      </p:sp>
      <p:sp>
        <p:nvSpPr>
          <p:cNvPr id="30723" name="Rectangle 3"/>
          <p:cNvSpPr>
            <a:spLocks noGrp="1" noRot="1" noChangeArrowheads="1"/>
          </p:cNvSpPr>
          <p:nvPr>
            <p:ph idx="1"/>
          </p:nvPr>
        </p:nvSpPr>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接口隔离原则：</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采用多个与特定客户类有关的接口比采用一个通用的涵盖多个业务方法的接口更好。</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对接口的污染</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设计人员为了节省接口数目，而经常将一些功能相近或功能相关的接口合并成一个总的接口</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臃肿的大</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接口</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内容占位符 1"/>
          <p:cNvSpPr>
            <a:spLocks noGrp="1"/>
          </p:cNvSpPr>
          <p:nvPr>
            <p:ph idx="1"/>
          </p:nvPr>
        </p:nvSpPr>
        <p:spPr/>
        <p:txBody>
          <a:bodyPr vert="horz" wrap="square" lIns="91221" tIns="45610" rIns="91221" bIns="45610" anchor="t" anchorCtr="0"/>
          <a:p>
            <a:pPr eaLnBrk="1" hangingPunct="1"/>
            <a:endParaRPr lang="zh-CN" altLang="en-US" dirty="0"/>
          </a:p>
        </p:txBody>
      </p:sp>
      <p:sp>
        <p:nvSpPr>
          <p:cNvPr id="91139" name="标题 2"/>
          <p:cNvSpPr>
            <a:spLocks noGrp="1"/>
          </p:cNvSpPr>
          <p:nvPr>
            <p:ph type="title"/>
          </p:nvPr>
        </p:nvSpPr>
        <p:spPr/>
        <p:txBody>
          <a:bodyPr vert="horz" wrap="square" lIns="0" tIns="45610" rIns="0" bIns="0" anchor="b" anchorCtr="0"/>
          <a:p>
            <a:pPr eaLnBrk="1" hangingPunct="1"/>
            <a:endParaRPr lang="zh-CN" altLang="en-US" dirty="0"/>
          </a:p>
        </p:txBody>
      </p:sp>
      <p:pic>
        <p:nvPicPr>
          <p:cNvPr id="6" name="Picture 4"/>
          <p:cNvPicPr>
            <a:picLocks noChangeAspect="1"/>
          </p:cNvPicPr>
          <p:nvPr/>
        </p:nvPicPr>
        <p:blipFill>
          <a:blip r:embed="rId1"/>
          <a:stretch>
            <a:fillRect/>
          </a:stretch>
        </p:blipFill>
        <p:spPr>
          <a:xfrm>
            <a:off x="-34925" y="398463"/>
            <a:ext cx="4287838" cy="5260975"/>
          </a:xfrm>
          <a:prstGeom prst="rect">
            <a:avLst/>
          </a:prstGeom>
          <a:noFill/>
          <a:ln w="9525">
            <a:noFill/>
          </a:ln>
        </p:spPr>
      </p:pic>
      <p:pic>
        <p:nvPicPr>
          <p:cNvPr id="7" name="Picture 5"/>
          <p:cNvPicPr>
            <a:picLocks noChangeAspect="1"/>
          </p:cNvPicPr>
          <p:nvPr/>
        </p:nvPicPr>
        <p:blipFill>
          <a:blip r:embed="rId2"/>
          <a:stretch>
            <a:fillRect/>
          </a:stretch>
        </p:blipFill>
        <p:spPr>
          <a:xfrm>
            <a:off x="4198938" y="1693863"/>
            <a:ext cx="5056187" cy="52546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内容占位符 1"/>
          <p:cNvSpPr>
            <a:spLocks noGrp="1"/>
          </p:cNvSpPr>
          <p:nvPr>
            <p:ph idx="1"/>
          </p:nvPr>
        </p:nvSpPr>
        <p:spPr>
          <a:xfrm>
            <a:off x="455613" y="1700213"/>
            <a:ext cx="8496300" cy="5035550"/>
          </a:xfrm>
          <a:solidFill>
            <a:schemeClr val="bg1">
              <a:alpha val="100000"/>
            </a:schemeClr>
          </a:solidFill>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面向过程</a:t>
            </a:r>
            <a:r>
              <a:rPr lang="en-US" altLang="zh-CN" b="1" dirty="0"/>
              <a:t>——</a:t>
            </a:r>
            <a:r>
              <a:rPr lang="zh-CN" altLang="en-US" dirty="0"/>
              <a:t>自顶向下，逐步求精，形成上对下依赖</a:t>
            </a:r>
            <a:endParaRPr lang="en-US" altLang="zh-CN"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依赖倒置原则：</a:t>
            </a:r>
            <a:r>
              <a:rPr lang="zh-CN" altLang="en-US" dirty="0"/>
              <a:t>应用系统中的高层模块不应依赖于底层模块；抽象不应该依赖于细节实现，实现细节应该依赖于抽象。</a:t>
            </a:r>
            <a:endParaRPr lang="zh-CN" altLang="en-US"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优点：</a:t>
            </a:r>
            <a:r>
              <a:rPr lang="zh-CN" altLang="en-US" dirty="0"/>
              <a:t>复用、灵活性、易维护</a:t>
            </a:r>
            <a:endParaRPr lang="zh-CN" altLang="en-US" dirty="0"/>
          </a:p>
          <a:p>
            <a:pPr marL="363855" indent="-254000" defTabSz="914400" eaLnBrk="1" hangingPunct="1">
              <a:buFont typeface="Wingdings 3" panose="05040102010807070707" pitchFamily="18" charset="2"/>
              <a:buChar char=""/>
              <a:tabLst>
                <a:tab pos="457200" algn="l"/>
              </a:tabLst>
            </a:pPr>
            <a:endParaRPr lang="zh-CN" altLang="en-US" sz="2000" dirty="0"/>
          </a:p>
          <a:p>
            <a:pPr marL="363855" indent="-254000" defTabSz="914400" eaLnBrk="1" hangingPunct="1">
              <a:buFont typeface="Wingdings 3" panose="05040102010807070707" pitchFamily="18" charset="2"/>
              <a:buChar char=""/>
              <a:tabLst>
                <a:tab pos="457200" algn="l"/>
              </a:tabLst>
            </a:pPr>
            <a:endParaRPr lang="zh-CN" altLang="en-US" sz="2000" dirty="0"/>
          </a:p>
        </p:txBody>
      </p:sp>
      <p:sp>
        <p:nvSpPr>
          <p:cNvPr id="92163" name="标题 2"/>
          <p:cNvSpPr>
            <a:spLocks noGrp="1"/>
          </p:cNvSpPr>
          <p:nvPr>
            <p:ph type="title"/>
          </p:nvPr>
        </p:nvSpPr>
        <p:spPr>
          <a:xfrm>
            <a:off x="455613" y="469900"/>
            <a:ext cx="8207375" cy="1139825"/>
          </a:xfrm>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、依赖倒置原则</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内容占位符 2"/>
          <p:cNvSpPr>
            <a:spLocks noGrp="1"/>
          </p:cNvSpPr>
          <p:nvPr>
            <p:ph idx="1"/>
          </p:nvPr>
        </p:nvSpPr>
        <p:spPr/>
        <p:txBody>
          <a:bodyPr vert="horz" wrap="square" lIns="91221" tIns="45610" rIns="91221" bIns="45610" anchor="t" anchorCtr="0"/>
          <a:p>
            <a:pPr eaLnBrk="1" hangingPunct="1"/>
            <a:endParaRPr lang="zh-CN" altLang="en-US" dirty="0"/>
          </a:p>
        </p:txBody>
      </p:sp>
      <p:pic>
        <p:nvPicPr>
          <p:cNvPr id="12292" name="Picture 4"/>
          <p:cNvPicPr>
            <a:picLocks noChangeAspect="1"/>
          </p:cNvPicPr>
          <p:nvPr/>
        </p:nvPicPr>
        <p:blipFill>
          <a:blip r:embed="rId1"/>
          <a:stretch>
            <a:fillRect/>
          </a:stretch>
        </p:blipFill>
        <p:spPr>
          <a:xfrm>
            <a:off x="671513" y="1479550"/>
            <a:ext cx="7569200" cy="3308350"/>
          </a:xfrm>
          <a:prstGeom prst="rect">
            <a:avLst/>
          </a:prstGeom>
          <a:noFill/>
          <a:ln w="9525">
            <a:noFill/>
          </a:ln>
        </p:spPr>
      </p:pic>
      <p:pic>
        <p:nvPicPr>
          <p:cNvPr id="12293" name="Picture 5"/>
          <p:cNvPicPr>
            <a:picLocks noChangeAspect="1"/>
          </p:cNvPicPr>
          <p:nvPr/>
        </p:nvPicPr>
        <p:blipFill>
          <a:blip r:embed="rId2"/>
          <a:stretch>
            <a:fillRect/>
          </a:stretch>
        </p:blipFill>
        <p:spPr>
          <a:xfrm>
            <a:off x="382588" y="1468438"/>
            <a:ext cx="8424862" cy="3449637"/>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29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22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Rot="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如何遵守设计原则</a:t>
            </a:r>
            <a:endParaRPr lang="zh-CN" altLang="en-US" b="1" dirty="0">
              <a:latin typeface="微软雅黑" panose="020B0503020204020204" pitchFamily="34" charset="-122"/>
              <a:ea typeface="微软雅黑" panose="020B0503020204020204" pitchFamily="34" charset="-122"/>
            </a:endParaRPr>
          </a:p>
        </p:txBody>
      </p:sp>
      <p:sp>
        <p:nvSpPr>
          <p:cNvPr id="94211" name="Rectangle 3"/>
          <p:cNvSpPr>
            <a:spLocks noGrp="1" noRot="1"/>
          </p:cNvSpPr>
          <p:nvPr>
            <p:ph idx="1"/>
          </p:nvPr>
        </p:nvSpPr>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设计原则不是死记硬背，而是要灵活运用</a:t>
            </a:r>
            <a:endParaRPr lang="zh-CN" altLang="en-US"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一些成熟的</a:t>
            </a:r>
            <a:r>
              <a:rPr lang="zh-CN" altLang="en-US" b="1" dirty="0">
                <a:solidFill>
                  <a:srgbClr val="FF0000"/>
                </a:solidFill>
              </a:rPr>
              <a:t>设计模式</a:t>
            </a:r>
            <a:r>
              <a:rPr lang="zh-CN" altLang="en-US" b="1" dirty="0"/>
              <a:t>可以帮助我们解决实际问题，并且符合设计原则</a:t>
            </a:r>
            <a:endParaRPr lang="zh-CN" altLang="en-US" b="1" dirty="0"/>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2830513" y="1693863"/>
            <a:ext cx="3889375" cy="51244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6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第九次课</a:t>
            </a:r>
            <a:endParaRPr kumimoji="1" lang="zh-CN" altLang="en-US" sz="6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95236" name="Text Box 5"/>
          <p:cNvSpPr txBox="1"/>
          <p:nvPr/>
        </p:nvSpPr>
        <p:spPr>
          <a:xfrm>
            <a:off x="671513" y="2701925"/>
            <a:ext cx="7897812" cy="1082675"/>
          </a:xfrm>
          <a:prstGeom prst="rect">
            <a:avLst/>
          </a:prstGeom>
          <a:noFill/>
          <a:ln w="9525">
            <a:noFill/>
          </a:ln>
        </p:spPr>
        <p:txBody>
          <a:bodyPr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0" indent="-273050" defTabSz="914400" eaLnBrk="1" hangingPunct="1">
              <a:buFont typeface="Wingdings" panose="05000000000000000000" pitchFamily="2" charset="2"/>
              <a:buChar char="p"/>
              <a:tabLst>
                <a:tab pos="457200" algn="l"/>
              </a:tabLst>
            </a:pPr>
            <a:r>
              <a:rPr lang="zh-CN" altLang="en-US" sz="3200" b="1" dirty="0"/>
              <a:t>设计模式概述</a:t>
            </a:r>
            <a:endParaRPr lang="zh-CN" altLang="en-US" sz="3200" b="1" dirty="0"/>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3200" b="1" dirty="0"/>
              <a:t>经典设计模式介绍</a:t>
            </a:r>
            <a:endParaRPr lang="en-US" altLang="zh-CN" sz="3200" b="1"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96258" name="Rectangle 3"/>
          <p:cNvSpPr>
            <a:spLocks noGrp="1"/>
          </p:cNvSpPr>
          <p:nvPr>
            <p:ph type="subTitle" idx="1"/>
          </p:nvPr>
        </p:nvSpPr>
        <p:spPr>
          <a:xfrm>
            <a:off x="598488" y="758825"/>
            <a:ext cx="5340350" cy="836613"/>
          </a:xfrm>
        </p:spPr>
        <p:txBody>
          <a:bodyPr vert="horz" wrap="square" lIns="0" tIns="45610" rIns="18244" bIns="45610" anchor="t" anchorCtr="0"/>
          <a:p>
            <a:pPr marR="0" algn="l" eaLnBrk="1" hangingPunct="1">
              <a:lnSpc>
                <a:spcPts val="4000"/>
              </a:lnSpc>
              <a:spcBef>
                <a:spcPct val="0"/>
              </a:spcBef>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什么是设计模式？ </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96259" name="Text Box 27"/>
          <p:cNvSpPr txBox="1"/>
          <p:nvPr/>
        </p:nvSpPr>
        <p:spPr>
          <a:xfrm>
            <a:off x="671513" y="1838325"/>
            <a:ext cx="7294562" cy="201295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30000"/>
              </a:lnSpc>
              <a:spcBef>
                <a:spcPct val="50000"/>
              </a:spcBef>
              <a:buClrTx/>
              <a:buSzTx/>
              <a:buFont typeface="Wingdings" panose="05000000000000000000" pitchFamily="2" charset="2"/>
              <a:buNone/>
            </a:pPr>
            <a:r>
              <a:rPr lang="en-US" altLang="zh-CN" sz="2400" dirty="0">
                <a:latin typeface="宋体" panose="02010600030101010101" pitchFamily="2" charset="-122"/>
              </a:rPr>
              <a:t>   </a:t>
            </a:r>
            <a:r>
              <a:rPr lang="zh-CN" altLang="en-US" sz="3200" b="1" dirty="0">
                <a:solidFill>
                  <a:srgbClr val="FF0000"/>
                </a:solidFill>
                <a:latin typeface="宋体" panose="02010600030101010101" pitchFamily="2" charset="-122"/>
              </a:rPr>
              <a:t>设计模式：</a:t>
            </a:r>
            <a:r>
              <a:rPr lang="zh-CN" altLang="en-US" sz="3200" b="1" dirty="0">
                <a:latin typeface="宋体" panose="02010600030101010101" pitchFamily="2" charset="-122"/>
              </a:rPr>
              <a:t>描述一个在我们周围不断重复发生的问题，以及该问题的解决方案。</a:t>
            </a:r>
            <a:endParaRPr lang="zh-CN" altLang="en-US" sz="3200" b="1" dirty="0">
              <a:latin typeface="宋体" panose="02010600030101010101" pitchFamily="2" charset="-122"/>
            </a:endParaRPr>
          </a:p>
        </p:txBody>
      </p:sp>
      <p:sp>
        <p:nvSpPr>
          <p:cNvPr id="96260" name="矩形 2"/>
          <p:cNvSpPr/>
          <p:nvPr/>
        </p:nvSpPr>
        <p:spPr>
          <a:xfrm>
            <a:off x="598488" y="4214813"/>
            <a:ext cx="7921625" cy="9842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30000"/>
              </a:lnSpc>
              <a:spcBef>
                <a:spcPct val="5000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使用设计模式，我们就能一次一次地利用已有方案而不必做重复劳动。</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97282" name="Rectangle 3"/>
          <p:cNvSpPr>
            <a:spLocks noGrp="1"/>
          </p:cNvSpPr>
          <p:nvPr>
            <p:ph type="subTitle" idx="1"/>
          </p:nvPr>
        </p:nvSpPr>
        <p:spPr>
          <a:xfrm>
            <a:off x="887413" y="614363"/>
            <a:ext cx="4710112" cy="531812"/>
          </a:xfrm>
        </p:spPr>
        <p:txBody>
          <a:bodyPr vert="horz" wrap="square" lIns="0" tIns="45610" rIns="18244" bIns="45610" anchor="t" anchorCtr="0"/>
          <a:p>
            <a:pPr marR="0" algn="l" eaLnBrk="1" hangingPunct="1">
              <a:lnSpc>
                <a:spcPts val="4000"/>
              </a:lnSpc>
              <a:spcBef>
                <a:spcPct val="0"/>
              </a:spcBef>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设计模式的起源 </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97283" name="Text Box 27"/>
          <p:cNvSpPr txBox="1"/>
          <p:nvPr/>
        </p:nvSpPr>
        <p:spPr>
          <a:xfrm>
            <a:off x="379413" y="1335088"/>
            <a:ext cx="8207375" cy="418465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0" indent="-273050" defTabSz="914400" eaLnBrk="1" hangingPunct="1">
              <a:lnSpc>
                <a:spcPct val="130000"/>
              </a:lnSpc>
              <a:buFont typeface="Wingdings" panose="05000000000000000000" pitchFamily="2" charset="2"/>
              <a:buChar char="p"/>
              <a:tabLst>
                <a:tab pos="457200" algn="l"/>
              </a:tabLst>
            </a:pPr>
            <a:r>
              <a:rPr lang="zh-CN" altLang="en-US" sz="2800" b="1" dirty="0"/>
              <a:t>软件设计模式起源于建筑学</a:t>
            </a:r>
            <a:endParaRPr lang="zh-CN" altLang="en-US" sz="2800" b="1" dirty="0"/>
          </a:p>
          <a:p>
            <a:pPr marL="273050" lvl="0" indent="-273050" defTabSz="914400" eaLnBrk="1" hangingPunct="1">
              <a:lnSpc>
                <a:spcPct val="130000"/>
              </a:lnSpc>
              <a:buFont typeface="Wingdings" panose="05000000000000000000" pitchFamily="2" charset="2"/>
              <a:buChar char="p"/>
              <a:tabLst>
                <a:tab pos="457200" algn="l"/>
              </a:tabLst>
            </a:pPr>
            <a:r>
              <a:rPr lang="en-US" altLang="zh-CN" sz="2800" b="1" dirty="0"/>
              <a:t>1977</a:t>
            </a:r>
            <a:r>
              <a:rPr lang="zh-CN" altLang="en-US" sz="2800" b="1" dirty="0"/>
              <a:t>年，建筑大师</a:t>
            </a:r>
            <a:r>
              <a:rPr lang="en-US" altLang="zh-CN" sz="2800" b="1" dirty="0"/>
              <a:t>Alexander</a:t>
            </a:r>
            <a:r>
              <a:rPr lang="zh-CN" altLang="en-US" sz="2800" b="1" dirty="0"/>
              <a:t>出版了</a:t>
            </a:r>
            <a:r>
              <a:rPr lang="en-US" altLang="zh-CN" sz="2800" b="1" dirty="0"/>
              <a:t>《A Pattern Language</a:t>
            </a:r>
            <a:r>
              <a:rPr lang="zh-CN" altLang="en-US" sz="2800" b="1" dirty="0"/>
              <a:t>：</a:t>
            </a:r>
            <a:r>
              <a:rPr lang="en-US" altLang="zh-CN" sz="2800" b="1" dirty="0"/>
              <a:t>Towns, Building, Construction》</a:t>
            </a:r>
            <a:r>
              <a:rPr lang="zh-CN" altLang="en-US" sz="2800" b="1" dirty="0"/>
              <a:t>一书</a:t>
            </a:r>
            <a:endParaRPr lang="en-US" altLang="zh-CN" sz="2800" b="1" dirty="0"/>
          </a:p>
          <a:p>
            <a:pPr marL="273050" lvl="0" indent="-273050" defTabSz="914400" eaLnBrk="1" hangingPunct="1">
              <a:lnSpc>
                <a:spcPct val="130000"/>
              </a:lnSpc>
              <a:buFont typeface="Wingdings" panose="05000000000000000000" pitchFamily="2" charset="2"/>
              <a:buChar char="p"/>
              <a:tabLst>
                <a:tab pos="457200" algn="l"/>
              </a:tabLst>
            </a:pPr>
            <a:r>
              <a:rPr lang="zh-CN" altLang="en-US" sz="2800" b="1" dirty="0"/>
              <a:t>受</a:t>
            </a:r>
            <a:r>
              <a:rPr lang="en-US" altLang="zh-CN" sz="2800" b="1" dirty="0"/>
              <a:t>Alexander</a:t>
            </a:r>
            <a:r>
              <a:rPr lang="zh-CN" altLang="en-US" sz="2800" b="1" dirty="0"/>
              <a:t>的影响 ，</a:t>
            </a:r>
            <a:r>
              <a:rPr lang="en-US" altLang="zh-CN" sz="2800" b="1" dirty="0"/>
              <a:t>Kent Beck</a:t>
            </a:r>
            <a:r>
              <a:rPr lang="zh-CN" altLang="en-US" sz="2800" b="1" dirty="0"/>
              <a:t>和</a:t>
            </a:r>
            <a:r>
              <a:rPr lang="en-US" altLang="zh-CN" sz="2800" b="1" dirty="0"/>
              <a:t>Ward Cunningham</a:t>
            </a:r>
            <a:r>
              <a:rPr lang="zh-CN" altLang="en-US" sz="2800" b="1" dirty="0"/>
              <a:t>在</a:t>
            </a:r>
            <a:r>
              <a:rPr lang="en-US" altLang="zh-CN" sz="2800" b="1" dirty="0"/>
              <a:t>1987</a:t>
            </a:r>
            <a:r>
              <a:rPr lang="zh-CN" altLang="en-US" sz="2800" b="1" dirty="0"/>
              <a:t>年举行的一次面向对象的会议上发表了论文：</a:t>
            </a:r>
            <a:r>
              <a:rPr lang="en-US" altLang="zh-CN" sz="2800" b="1" dirty="0"/>
              <a:t>《</a:t>
            </a:r>
            <a:r>
              <a:rPr lang="zh-CN" altLang="en-US" sz="2800" b="1" dirty="0">
                <a:solidFill>
                  <a:srgbClr val="FF0000"/>
                </a:solidFill>
              </a:rPr>
              <a:t>在面向对象编程中使用模式</a:t>
            </a:r>
            <a:r>
              <a:rPr lang="en-US" altLang="zh-CN" sz="2800" b="1" dirty="0">
                <a:solidFill>
                  <a:srgbClr val="FF0000"/>
                </a:solidFill>
              </a:rPr>
              <a:t>》</a:t>
            </a:r>
            <a:endParaRPr lang="zh-CN" altLang="en-US" sz="2800" b="1" dirty="0"/>
          </a:p>
        </p:txBody>
      </p:sp>
    </p:spTree>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矩形 2"/>
          <p:cNvSpPr/>
          <p:nvPr/>
        </p:nvSpPr>
        <p:spPr>
          <a:xfrm>
            <a:off x="393700" y="469900"/>
            <a:ext cx="8258175" cy="88265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ts val="4000"/>
              </a:lnSpc>
              <a:spcBef>
                <a:spcPct val="0"/>
              </a:spcBef>
              <a:buFont typeface="Wingdings" panose="05000000000000000000" pitchFamily="2" charset="2"/>
              <a:buNone/>
            </a:pPr>
            <a:r>
              <a:rPr lang="zh-CN" altLang="en-US" sz="5000" b="1" dirty="0">
                <a:solidFill>
                  <a:schemeClr val="tx2"/>
                </a:solidFill>
                <a:latin typeface="微软雅黑" panose="020B0503020204020204" pitchFamily="34" charset="-122"/>
                <a:ea typeface="微软雅黑" panose="020B0503020204020204" pitchFamily="34" charset="-122"/>
              </a:rPr>
              <a:t>设计模式的四个基本要素</a:t>
            </a:r>
            <a:endParaRPr lang="zh-CN" altLang="en-US" sz="5000" b="1" dirty="0">
              <a:solidFill>
                <a:schemeClr val="tx2"/>
              </a:solidFill>
              <a:latin typeface="微软雅黑" panose="020B0503020204020204" pitchFamily="34" charset="-122"/>
              <a:ea typeface="微软雅黑" panose="020B0503020204020204" pitchFamily="34" charset="-122"/>
            </a:endParaRPr>
          </a:p>
          <a:p>
            <a:pPr marL="0" lvl="0" indent="0" eaLnBrk="1" hangingPunct="1">
              <a:spcBef>
                <a:spcPct val="0"/>
              </a:spcBef>
              <a:buClrTx/>
              <a:buSzTx/>
              <a:buFont typeface="Wingdings" panose="05000000000000000000" pitchFamily="2" charset="2"/>
              <a:buNone/>
            </a:pPr>
            <a:endParaRPr lang="en-US" altLang="zh-CN" sz="1800" b="1" dirty="0">
              <a:latin typeface="黑体" panose="02010609060101010101" pitchFamily="49" charset="-122"/>
              <a:ea typeface="黑体" panose="02010609060101010101" pitchFamily="49" charset="-122"/>
            </a:endParaRPr>
          </a:p>
        </p:txBody>
      </p:sp>
      <p:sp>
        <p:nvSpPr>
          <p:cNvPr id="2" name="矩形 1"/>
          <p:cNvSpPr/>
          <p:nvPr/>
        </p:nvSpPr>
        <p:spPr>
          <a:xfrm>
            <a:off x="455613" y="1384300"/>
            <a:ext cx="8662988" cy="4881563"/>
          </a:xfrm>
          <a:prstGeom prst="rect">
            <a:avLst/>
          </a:prstGeom>
        </p:spPr>
        <p:txBody>
          <a:bodyPr>
            <a:spAutoFit/>
          </a:body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模式名称</a:t>
            </a:r>
            <a:endParaRPr kumimoji="1" lang="en-US" altLang="zh-CN" sz="24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tabLst>
                <a:tab pos="457200" algn="l"/>
              </a:tabLst>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18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一个助记名</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，用几个词来描述模式的问题、解决方案和效果。</a:t>
            </a:r>
            <a:endParaRPr kumimoji="1" lang="en-US" altLang="zh-CN" sz="2000" b="0"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问题</a:t>
            </a:r>
            <a:endParaRPr kumimoji="1" lang="en-US" altLang="zh-CN" sz="24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tabLst>
                <a:tab pos="457200" algn="l"/>
              </a:tabLst>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20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描述了应该在何时使用模式</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。它解释了设计问题和问题存在的前因后果。有时候，问题部分会包括使用模式必须满足的一系列先决条件。 </a:t>
            </a:r>
            <a:endParaRPr kumimoji="1" lang="en-US" altLang="zh-CN" sz="2000" b="0"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解决方案</a:t>
            </a:r>
            <a:endParaRPr kumimoji="1" lang="en-US" altLang="zh-CN" sz="24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tabLst>
                <a:tab pos="457200" algn="l"/>
              </a:tabLst>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1600" b="0" i="0" u="none" strike="noStrike" kern="1200" cap="none" spc="0" normalizeH="0" baseline="0" noProof="0" dirty="0">
                <a:ln>
                  <a:noFill/>
                </a:ln>
                <a:solidFill>
                  <a:schemeClr val="tx1"/>
                </a:solidFill>
                <a:effectLst/>
                <a:uLnTx/>
                <a:uFillTx/>
                <a:latin typeface="+mn-ea"/>
                <a:ea typeface="+mn-ea"/>
                <a:cs typeface="+mn-cs"/>
              </a:rPr>
              <a:t>　</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描述了设计的组成成分</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，它们之间的相互关系及各自的职责和协作方式。因为模式就像一个模板，可应用于多种不同场合，所以</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解决方案并不描述一个特定而具体的设计或实现</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，而是提供设计问题的抽象描述和怎样用一个具有一般意义的元素组合（</a:t>
            </a:r>
            <a:r>
              <a:rPr kumimoji="1" lang="zh-CN" altLang="en-US" sz="2000" b="1" i="0" u="sng" strike="noStrike" kern="1200" cap="none" spc="0" normalizeH="0" baseline="0" noProof="0" dirty="0">
                <a:ln>
                  <a:noFill/>
                </a:ln>
                <a:solidFill>
                  <a:schemeClr val="tx1"/>
                </a:solidFill>
                <a:effectLst/>
                <a:uLnTx/>
                <a:uFillTx/>
                <a:latin typeface="+mn-ea"/>
                <a:ea typeface="+mn-ea"/>
                <a:cs typeface="+mn-cs"/>
              </a:rPr>
              <a:t>类或对象组合</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）来解决这个问题。 </a:t>
            </a:r>
            <a:endParaRPr kumimoji="1" lang="en-US" altLang="zh-CN" sz="1800" b="0" i="0" u="none" strike="noStrike" kern="1200" cap="none" spc="0" normalizeH="0" baseline="0" noProof="0" dirty="0">
              <a:ln>
                <a:noFill/>
              </a:ln>
              <a:solidFill>
                <a:schemeClr val="tx1"/>
              </a:solidFill>
              <a:effectLst/>
              <a:uLnTx/>
              <a:uFillTx/>
              <a:latin typeface="+mn-ea"/>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效果</a:t>
            </a:r>
            <a:endParaRPr kumimoji="1" lang="en-US" altLang="zh-CN" sz="24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tabLst>
                <a:tab pos="457200" algn="l"/>
              </a:tabLst>
              <a:defRPr/>
            </a:pPr>
            <a:r>
              <a:rPr kumimoji="1" lang="zh-CN" altLang="en-US" sz="1600" b="1" i="0" u="none" strike="noStrike" kern="1200" cap="none" spc="0" normalizeH="0" baseline="0" noProof="0" dirty="0">
                <a:ln>
                  <a:noFill/>
                </a:ln>
                <a:solidFill>
                  <a:schemeClr val="tx1"/>
                </a:solidFill>
                <a:effectLst/>
                <a:uLnTx/>
                <a:uFillTx/>
                <a:latin typeface="+mn-ea"/>
                <a:ea typeface="+mn-ea"/>
                <a:cs typeface="+mn-cs"/>
              </a:rPr>
              <a:t>　　</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描述了模式应用的效果及使用模式应权衡的问题。比如模式的使用对系统的灵活性、扩充性或可移植性的影响。</a:t>
            </a:r>
            <a:endParaRPr kumimoji="1" lang="zh-CN" altLang="en-US" sz="20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99330" name="Rectangle 3"/>
          <p:cNvSpPr>
            <a:spLocks noGrp="1"/>
          </p:cNvSpPr>
          <p:nvPr>
            <p:ph type="subTitle" idx="1"/>
          </p:nvPr>
        </p:nvSpPr>
        <p:spPr>
          <a:xfrm>
            <a:off x="569913" y="542925"/>
            <a:ext cx="7978775" cy="760413"/>
          </a:xfrm>
        </p:spPr>
        <p:txBody>
          <a:bodyPr vert="horz" wrap="square" lIns="0" tIns="45610" rIns="18244" bIns="45610" anchor="t" anchorCtr="0"/>
          <a:p>
            <a:pPr marR="0" algn="l" eaLnBrk="1" hangingPunct="1">
              <a:lnSpc>
                <a:spcPts val="4000"/>
              </a:lnSpc>
              <a:spcBef>
                <a:spcPct val="0"/>
              </a:spcBef>
              <a:buClr>
                <a:srgbClr val="0BD0D9"/>
              </a:buClr>
              <a:buSzPct val="95000"/>
            </a:pPr>
            <a:r>
              <a:rPr lang="en-US" altLang="zh-CN" sz="5000" b="1" kern="1200" dirty="0">
                <a:solidFill>
                  <a:schemeClr val="tx2"/>
                </a:solidFill>
                <a:latin typeface="微软雅黑" panose="020B0503020204020204" pitchFamily="34" charset="-122"/>
                <a:ea typeface="微软雅黑" panose="020B0503020204020204" pitchFamily="34" charset="-122"/>
                <a:cs typeface="+mn-cs"/>
              </a:rPr>
              <a:t>GOF</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之书</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99331" name="Text Box 24"/>
          <p:cNvSpPr txBox="1"/>
          <p:nvPr/>
        </p:nvSpPr>
        <p:spPr>
          <a:xfrm>
            <a:off x="508000" y="1477963"/>
            <a:ext cx="8586788" cy="360045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0" indent="-273050" defTabSz="914400" eaLnBrk="1" hangingPunct="1">
              <a:lnSpc>
                <a:spcPct val="130000"/>
              </a:lnSpc>
              <a:buFont typeface="Wingdings" panose="05000000000000000000" pitchFamily="2" charset="2"/>
              <a:buChar char="p"/>
              <a:tabLst>
                <a:tab pos="457200" algn="l"/>
              </a:tabLst>
            </a:pPr>
            <a:r>
              <a:rPr lang="en-US" altLang="zh-CN" sz="2400" b="1" dirty="0">
                <a:solidFill>
                  <a:srgbClr val="FF0000"/>
                </a:solidFill>
              </a:rPr>
              <a:t>GOF</a:t>
            </a:r>
            <a:r>
              <a:rPr lang="zh-CN" altLang="en-US" sz="2400" b="1" dirty="0">
                <a:solidFill>
                  <a:srgbClr val="FF0000"/>
                </a:solidFill>
              </a:rPr>
              <a:t>之书</a:t>
            </a:r>
            <a:r>
              <a:rPr lang="zh-CN" altLang="en-US" sz="2400" b="1" dirty="0"/>
              <a:t>：</a:t>
            </a:r>
            <a:r>
              <a:rPr lang="en-US" altLang="zh-CN" sz="2400" b="1" dirty="0"/>
              <a:t>《Design Patterns</a:t>
            </a:r>
            <a:r>
              <a:rPr lang="zh-CN" altLang="en-US" sz="2400" b="1" dirty="0"/>
              <a:t>：</a:t>
            </a:r>
            <a:r>
              <a:rPr lang="en-US" altLang="zh-CN" sz="2400" b="1" dirty="0"/>
              <a:t>Elements of Reusable Object-Oriented Software》</a:t>
            </a:r>
            <a:r>
              <a:rPr lang="zh-CN" altLang="en-US" sz="2400" b="1" dirty="0"/>
              <a:t>（</a:t>
            </a:r>
            <a:r>
              <a:rPr lang="en-US" altLang="zh-CN" sz="2400" b="1" dirty="0"/>
              <a:t>《</a:t>
            </a:r>
            <a:r>
              <a:rPr lang="zh-CN" altLang="en-US" sz="2400" b="1" dirty="0"/>
              <a:t>设计模式：可复用的面向对象软件的基本原理</a:t>
            </a:r>
            <a:r>
              <a:rPr lang="en-US" altLang="zh-CN" sz="2400" b="1" dirty="0"/>
              <a:t>》</a:t>
            </a:r>
            <a:r>
              <a:rPr lang="zh-CN" altLang="en-US" sz="2400" b="1" dirty="0"/>
              <a:t>）。</a:t>
            </a:r>
            <a:endParaRPr lang="en-US" altLang="zh-CN" sz="2400" b="1" dirty="0"/>
          </a:p>
          <a:p>
            <a:pPr marL="273050" lvl="0" indent="-273050" defTabSz="914400" eaLnBrk="1" hangingPunct="1">
              <a:lnSpc>
                <a:spcPct val="130000"/>
              </a:lnSpc>
              <a:buFont typeface="Wingdings" panose="05000000000000000000" pitchFamily="2" charset="2"/>
              <a:buChar char="p"/>
              <a:tabLst>
                <a:tab pos="457200" algn="l"/>
              </a:tabLst>
            </a:pPr>
            <a:endParaRPr lang="en-US" altLang="zh-CN" sz="2400" b="1" dirty="0"/>
          </a:p>
          <a:p>
            <a:pPr marL="273050" lvl="0" indent="-273050" defTabSz="914400" eaLnBrk="1" hangingPunct="1">
              <a:lnSpc>
                <a:spcPct val="130000"/>
              </a:lnSpc>
              <a:buFont typeface="Wingdings" panose="05000000000000000000" pitchFamily="2" charset="2"/>
              <a:buChar char="p"/>
              <a:tabLst>
                <a:tab pos="457200" algn="l"/>
              </a:tabLst>
            </a:pPr>
            <a:r>
              <a:rPr lang="zh-CN" altLang="en-US" sz="2400" b="1" dirty="0"/>
              <a:t>该书被广大喜爱者昵称为</a:t>
            </a:r>
            <a:r>
              <a:rPr lang="en-US" altLang="zh-CN" sz="2400" b="1" dirty="0"/>
              <a:t>GOF</a:t>
            </a:r>
            <a:r>
              <a:rPr lang="zh-CN" altLang="en-US" sz="2400" b="1" dirty="0"/>
              <a:t>之书，被认为是学习设计模式的必读著作，</a:t>
            </a:r>
            <a:r>
              <a:rPr lang="en-US" altLang="zh-CN" sz="2400" b="1" dirty="0"/>
              <a:t>GOF</a:t>
            </a:r>
            <a:r>
              <a:rPr lang="zh-CN" altLang="en-US" sz="2400" b="1" dirty="0"/>
              <a:t>之书已经被公认为是</a:t>
            </a:r>
            <a:r>
              <a:rPr lang="zh-CN" altLang="en-US" sz="2400" b="1" dirty="0">
                <a:solidFill>
                  <a:srgbClr val="FF0000"/>
                </a:solidFill>
              </a:rPr>
              <a:t>设计模式领域的奠基之作</a:t>
            </a:r>
            <a:r>
              <a:rPr lang="zh-CN" altLang="en-US" sz="2400" b="1" dirty="0"/>
              <a:t>。</a:t>
            </a:r>
            <a:endParaRPr lang="zh-CN" altLang="en-US" sz="2400" b="1" dirty="0"/>
          </a:p>
        </p:txBody>
      </p:sp>
    </p:spTree>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标题 1"/>
          <p:cNvSpPr>
            <a:spLocks noGrp="1"/>
          </p:cNvSpPr>
          <p:nvPr>
            <p:ph type="title"/>
          </p:nvPr>
        </p:nvSpPr>
        <p:spPr>
          <a:xfrm>
            <a:off x="455613" y="469900"/>
            <a:ext cx="8207375" cy="1139825"/>
          </a:xfrm>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GOF</a:t>
            </a:r>
            <a:r>
              <a:rPr lang="zh-CN" altLang="en-US" b="1" dirty="0">
                <a:latin typeface="微软雅黑" panose="020B0503020204020204" pitchFamily="34" charset="-122"/>
                <a:ea typeface="微软雅黑" panose="020B0503020204020204" pitchFamily="34" charset="-122"/>
              </a:rPr>
              <a:t>之</a:t>
            </a:r>
            <a:r>
              <a:rPr lang="en-US" altLang="zh-CN" b="1" dirty="0">
                <a:latin typeface="微软雅黑" panose="020B0503020204020204" pitchFamily="34" charset="-122"/>
                <a:ea typeface="微软雅黑" panose="020B0503020204020204" pitchFamily="34" charset="-122"/>
              </a:rPr>
              <a:t>23</a:t>
            </a:r>
            <a:r>
              <a:rPr lang="zh-CN" altLang="en-US" b="1" dirty="0">
                <a:latin typeface="微软雅黑" panose="020B0503020204020204" pitchFamily="34" charset="-122"/>
                <a:ea typeface="微软雅黑" panose="020B0503020204020204" pitchFamily="34" charset="-122"/>
              </a:rPr>
              <a:t>种设计模式</a:t>
            </a:r>
            <a:endParaRPr lang="zh-CN" altLang="en-US" b="1" dirty="0">
              <a:latin typeface="微软雅黑" panose="020B0503020204020204" pitchFamily="34" charset="-122"/>
              <a:ea typeface="微软雅黑" panose="020B0503020204020204" pitchFamily="34" charset="-122"/>
            </a:endParaRPr>
          </a:p>
        </p:txBody>
      </p:sp>
      <p:sp>
        <p:nvSpPr>
          <p:cNvPr id="8" name="TextBox 7"/>
          <p:cNvSpPr txBox="1"/>
          <p:nvPr/>
        </p:nvSpPr>
        <p:spPr>
          <a:xfrm>
            <a:off x="598488" y="1693863"/>
            <a:ext cx="3455988" cy="4081463"/>
          </a:xfrm>
          <a:prstGeom prst="rect">
            <a:avLst/>
          </a:prstGeom>
          <a:noFill/>
        </p:spPr>
        <p:txBody>
          <a:bodyPr>
            <a:spAutoFit/>
          </a:bodyPr>
          <a:lstStyle/>
          <a:p>
            <a:pPr marL="273050" marR="0" indent="-273050" defTabSz="914400" eaLnBrk="1" hangingPunct="1">
              <a:lnSpc>
                <a:spcPct val="130000"/>
              </a:lnSpc>
              <a:spcBef>
                <a:spcPct val="20000"/>
              </a:spcBef>
              <a:buClr>
                <a:srgbClr val="0BD0D9"/>
              </a:buClr>
              <a:buSzPct val="95000"/>
              <a:buFont typeface="Wingdings" panose="05000000000000000000" pitchFamily="2" charset="2"/>
              <a:buChar char="p"/>
              <a:tabLst>
                <a:tab pos="457200" algn="l"/>
              </a:tabLst>
              <a:defRPr/>
            </a:pPr>
            <a:r>
              <a:rPr kumimoji="1" lang="zh-CN" altLang="en-US" kern="1200" cap="none" spc="0" normalizeH="0" baseline="0" noProof="0" dirty="0">
                <a:latin typeface="Constantia" panose="02030602050306030303" charset="0"/>
                <a:ea typeface="宋体" panose="02010600030101010101" pitchFamily="2" charset="-122"/>
                <a:cs typeface="+mn-cs"/>
              </a:rPr>
              <a:t>创建型模式</a:t>
            </a:r>
            <a:endParaRPr kumimoji="1" lang="en-US" altLang="zh-CN" kern="1200" cap="none" spc="0" normalizeH="0" baseline="0" noProof="0" dirty="0">
              <a:latin typeface="Constantia" panose="02030602050306030303"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1.</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抽象工厂模式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2.</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工厂方法模式</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3.</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单例模式</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4.</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建造者模式</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5.</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原型模式</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273050" marR="0" indent="-273050" defTabSz="914400" eaLnBrk="1" hangingPunct="1">
              <a:lnSpc>
                <a:spcPct val="130000"/>
              </a:lnSpc>
              <a:spcBef>
                <a:spcPct val="20000"/>
              </a:spcBef>
              <a:buClr>
                <a:srgbClr val="0BD0D9"/>
              </a:buClr>
              <a:buSzPct val="95000"/>
              <a:buFont typeface="Wingdings" panose="05000000000000000000" pitchFamily="2" charset="2"/>
              <a:buChar char="p"/>
              <a:tabLst>
                <a:tab pos="457200" algn="l"/>
              </a:tabLst>
              <a:defRPr/>
            </a:pPr>
            <a:r>
              <a:rPr kumimoji="1" lang="zh-CN" altLang="en-US" kern="1200" cap="none" spc="0" normalizeH="0" baseline="0" noProof="0" dirty="0">
                <a:latin typeface="Constantia" panose="02030602050306030303" charset="0"/>
                <a:ea typeface="宋体" panose="02010600030101010101" pitchFamily="2" charset="-122"/>
                <a:cs typeface="+mn-cs"/>
              </a:rPr>
              <a:t>结构型模式</a:t>
            </a:r>
            <a:endParaRPr kumimoji="1" lang="en-US" altLang="zh-CN" kern="1200" cap="none" spc="0" normalizeH="0" baseline="0" noProof="0" dirty="0">
              <a:latin typeface="Constantia" panose="02030602050306030303"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1.</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适配器模式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2.</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外观模式</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3.</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桥接模式</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4.</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组合模式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5.</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装饰模式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6.</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享元模式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7.</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代理模式</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p:txBody>
      </p:sp>
      <p:sp>
        <p:nvSpPr>
          <p:cNvPr id="9" name="矩形 8"/>
          <p:cNvSpPr/>
          <p:nvPr/>
        </p:nvSpPr>
        <p:spPr>
          <a:xfrm>
            <a:off x="4919663" y="1706563"/>
            <a:ext cx="3168650" cy="3281363"/>
          </a:xfrm>
          <a:prstGeom prst="rect">
            <a:avLst/>
          </a:prstGeom>
        </p:spPr>
        <p:txBody>
          <a:bodyPr>
            <a:spAutoFit/>
          </a:bodyPr>
          <a:lstStyle/>
          <a:p>
            <a:pPr marL="273050" marR="0" lvl="0" indent="-273050" algn="l" defTabSz="914400" rtl="0" eaLnBrk="1" fontAlgn="base" latinLnBrk="0" hangingPunct="1">
              <a:lnSpc>
                <a:spcPct val="13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行为型模式</a:t>
            </a:r>
            <a:endParaRPr kumimoji="1" lang="en-US" altLang="zh-CN" sz="24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1.</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迭代器模式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2.</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观察者模式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3.</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策略模式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4.</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职责链模式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5.</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命令模式</a:t>
            </a:r>
            <a:r>
              <a:rPr kumimoji="1" lang="en-US" altLang="zh-CN" sz="1600" b="1"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6.</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解释器模式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7.</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中介者模式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8.</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备忘录模式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9.</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状态模式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10.</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模板方法模式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en-US" altLang="zh-CN" sz="1600" b="1" i="0" u="none" strike="noStrike" kern="1200" cap="none" spc="0" normalizeH="0" baseline="0" noProof="0" dirty="0">
                <a:ln>
                  <a:noFill/>
                </a:ln>
                <a:solidFill>
                  <a:schemeClr val="tx1"/>
                </a:solidFill>
                <a:effectLst/>
                <a:uLnTx/>
                <a:uFillTx/>
                <a:latin typeface="+mn-ea"/>
                <a:ea typeface="+mn-ea"/>
                <a:cs typeface="+mn-cs"/>
              </a:rPr>
              <a:t>11.</a:t>
            </a:r>
            <a:r>
              <a:rPr kumimoji="1" lang="zh-CN" altLang="zh-CN" sz="1600" b="1" i="0" u="none" strike="noStrike" kern="1200" cap="none" spc="0" normalizeH="0" baseline="0" noProof="0" dirty="0">
                <a:ln>
                  <a:noFill/>
                </a:ln>
                <a:solidFill>
                  <a:schemeClr val="tx1"/>
                </a:solidFill>
                <a:effectLst/>
                <a:uLnTx/>
                <a:uFillTx/>
                <a:latin typeface="+mn-ea"/>
                <a:ea typeface="+mn-ea"/>
                <a:cs typeface="+mn-cs"/>
              </a:rPr>
              <a:t>访问者模式</a:t>
            </a:r>
            <a:endParaRPr kumimoji="1" lang="zh-CN" altLang="zh-CN" sz="16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标题 1"/>
          <p:cNvSpPr>
            <a:spLocks noGrp="1"/>
          </p:cNvSpPr>
          <p:nvPr>
            <p:ph type="title"/>
          </p:nvPr>
        </p:nvSpPr>
        <p:spPr>
          <a:xfrm>
            <a:off x="455613" y="398463"/>
            <a:ext cx="86629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经典设计模式：</a:t>
            </a:r>
            <a:r>
              <a:rPr lang="zh-CN" altLang="en-US" b="1" dirty="0">
                <a:solidFill>
                  <a:srgbClr val="FF0000"/>
                </a:solidFill>
                <a:latin typeface="微软雅黑" panose="020B0503020204020204" pitchFamily="34" charset="-122"/>
                <a:ea typeface="微软雅黑" panose="020B0503020204020204" pitchFamily="34" charset="-122"/>
              </a:rPr>
              <a:t>单例模式</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01379" name="矩形 5"/>
          <p:cNvSpPr/>
          <p:nvPr/>
        </p:nvSpPr>
        <p:spPr>
          <a:xfrm>
            <a:off x="598488" y="1866900"/>
            <a:ext cx="8281987" cy="21478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单例模式：</a:t>
            </a:r>
            <a:r>
              <a:rPr lang="zh-CN" altLang="en-US" dirty="0">
                <a:latin typeface="Times New Roman" panose="02020603050405020304" pitchFamily="18" charset="0"/>
                <a:ea typeface="楷体_GB2312" pitchFamily="49" charset="-122"/>
              </a:rPr>
              <a:t>保证</a:t>
            </a:r>
            <a:r>
              <a:rPr lang="zh-CN" altLang="en-US" b="1" dirty="0">
                <a:solidFill>
                  <a:srgbClr val="FF0000"/>
                </a:solidFill>
                <a:latin typeface="Times New Roman" panose="02020603050405020304" pitchFamily="18" charset="0"/>
                <a:ea typeface="楷体_GB2312" pitchFamily="49" charset="-122"/>
              </a:rPr>
              <a:t>一个类仅有一个实例（对象）</a:t>
            </a:r>
            <a:r>
              <a:rPr lang="zh-CN" altLang="en-US" dirty="0">
                <a:latin typeface="Times New Roman" panose="02020603050405020304" pitchFamily="18" charset="0"/>
                <a:ea typeface="楷体_GB2312" pitchFamily="49" charset="-122"/>
              </a:rPr>
              <a:t>，并提供一个访问它的全局访问点</a:t>
            </a:r>
            <a:endParaRPr lang="en-US" altLang="zh-CN" dirty="0">
              <a:latin typeface="Times New Roman" panose="02020603050405020304" pitchFamily="18" charset="0"/>
              <a:ea typeface="楷体_GB2312" pitchFamily="49" charset="-122"/>
            </a:endParaRPr>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应用背景：</a:t>
            </a:r>
            <a:r>
              <a:rPr lang="zh-CN" altLang="en-US" dirty="0">
                <a:latin typeface="黑体" panose="02010609060101010101" pitchFamily="49" charset="-122"/>
                <a:ea typeface="黑体" panose="02010609060101010101" pitchFamily="49" charset="-122"/>
              </a:rPr>
              <a:t>怎样设计一个类，并使得该类只有一个实例（也即对象）</a:t>
            </a:r>
            <a:endParaRPr lang="en-US" altLang="zh-CN" dirty="0">
              <a:latin typeface="黑体" panose="02010609060101010101" pitchFamily="49" charset="-122"/>
              <a:ea typeface="黑体" panose="02010609060101010101" pitchFamily="49" charset="-122"/>
            </a:endParaRPr>
          </a:p>
          <a:p>
            <a:pPr marL="0" lvl="0" indent="0" algn="just" defTabSz="914400" eaLnBrk="1" hangingPunct="1">
              <a:spcBef>
                <a:spcPct val="0"/>
              </a:spcBef>
              <a:buClrTx/>
              <a:buSzTx/>
              <a:buFont typeface="Wingdings" panose="05000000000000000000" pitchFamily="2" charset="2"/>
              <a:buNone/>
              <a:tabLst>
                <a:tab pos="457200" algn="l"/>
              </a:tabLst>
            </a:pPr>
            <a:endParaRPr lang="zh-CN" altLang="en-US" sz="2400" b="1" dirty="0">
              <a:latin typeface="Times New Roman" panose="02020603050405020304" pitchFamily="18" charset="0"/>
              <a:ea typeface="黑体" panose="02010609060101010101" pitchFamily="49" charset="-122"/>
            </a:endParaRPr>
          </a:p>
        </p:txBody>
      </p:sp>
      <p:sp>
        <p:nvSpPr>
          <p:cNvPr id="2" name="矩形 1"/>
          <p:cNvSpPr/>
          <p:nvPr/>
        </p:nvSpPr>
        <p:spPr>
          <a:xfrm>
            <a:off x="598488" y="3754438"/>
            <a:ext cx="8281988" cy="892175"/>
          </a:xfrm>
          <a:prstGeom prst="rect">
            <a:avLst/>
          </a:prstGeom>
        </p:spPr>
        <p:txBody>
          <a:bodyPr>
            <a:spAutoFit/>
          </a:body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单例模式的关键：</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是将</a:t>
            </a: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类的构造方法设置为</a:t>
            </a:r>
            <a:r>
              <a:rPr kumimoji="1" lang="en-US" altLang="zh-CN"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private</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，并提供一个</a:t>
            </a: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返回它的唯一实例的类方法</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1" lang="zh-CN" altLang="en-US" sz="2400" b="0" i="0" u="none" strike="noStrike" kern="1200" cap="none" spc="0" normalizeH="0" baseline="0" noProof="0" dirty="0">
              <a:ln>
                <a:noFill/>
              </a:ln>
              <a:solidFill>
                <a:srgbClr val="FF0000"/>
              </a:solidFill>
              <a:effectLst/>
              <a:uLnTx/>
              <a:uFillTx/>
              <a:latin typeface="+mn-ea"/>
              <a:ea typeface="黑体" panose="02010609060101010101" pitchFamily="49"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02402" name="Rectangle 2"/>
          <p:cNvSpPr>
            <a:spLocks noGrp="1"/>
          </p:cNvSpPr>
          <p:nvPr>
            <p:ph type="subTitle" idx="1"/>
          </p:nvPr>
        </p:nvSpPr>
        <p:spPr>
          <a:xfrm>
            <a:off x="887413" y="758825"/>
            <a:ext cx="7920037" cy="608013"/>
          </a:xfrm>
        </p:spPr>
        <p:txBody>
          <a:bodyPr vert="horz" wrap="square" lIns="0" tIns="45610" rIns="18244" bIns="45610" anchor="t" anchorCtr="0"/>
          <a:p>
            <a:pPr marR="0" algn="l" eaLnBrk="1" hangingPunct="1">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单例模式的应用实例（</a:t>
            </a:r>
            <a:r>
              <a:rPr lang="en-US" altLang="zh-CN" sz="5000" b="1" kern="1200" dirty="0">
                <a:solidFill>
                  <a:schemeClr val="tx2"/>
                </a:solidFill>
                <a:latin typeface="微软雅黑" panose="020B0503020204020204" pitchFamily="34" charset="-122"/>
                <a:ea typeface="微软雅黑" panose="020B0503020204020204" pitchFamily="34" charset="-122"/>
                <a:cs typeface="+mn-cs"/>
              </a:rPr>
              <a:t>1/2</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02403" name="Text Box 22"/>
          <p:cNvSpPr txBox="1"/>
          <p:nvPr/>
        </p:nvSpPr>
        <p:spPr>
          <a:xfrm>
            <a:off x="887413" y="1616075"/>
            <a:ext cx="6686550" cy="52228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50000"/>
              </a:spcBef>
              <a:buClrTx/>
              <a:buSzTx/>
              <a:buFont typeface="Wingdings" panose="05000000000000000000" pitchFamily="2" charset="2"/>
              <a:buNone/>
            </a:pPr>
            <a:r>
              <a:rPr lang="en-US" altLang="zh-CN" sz="2400" b="1" dirty="0">
                <a:latin typeface="宋体" panose="02010600030101010101" pitchFamily="2" charset="-122"/>
              </a:rPr>
              <a:t>1</a:t>
            </a:r>
            <a:r>
              <a:rPr lang="zh-CN" altLang="en-US" sz="2400" b="1" dirty="0">
                <a:latin typeface="宋体" panose="02010600030101010101" pitchFamily="2" charset="-122"/>
              </a:rPr>
              <a:t>．单例类（</a:t>
            </a:r>
            <a:r>
              <a:rPr lang="en-US" altLang="zh-CN" sz="2400" b="1" dirty="0">
                <a:latin typeface="宋体" panose="02010600030101010101" pitchFamily="2" charset="-122"/>
              </a:rPr>
              <a:t>Singleton</a:t>
            </a:r>
            <a:r>
              <a:rPr lang="zh-CN" altLang="en-US" sz="2400" b="1" dirty="0">
                <a:latin typeface="宋体" panose="02010600030101010101" pitchFamily="2" charset="-122"/>
              </a:rPr>
              <a:t>）</a:t>
            </a:r>
            <a:r>
              <a:rPr lang="en-US" altLang="zh-CN" sz="2400" b="1" dirty="0">
                <a:latin typeface="宋体" panose="02010600030101010101" pitchFamily="2" charset="-122"/>
              </a:rPr>
              <a:t>: </a:t>
            </a:r>
            <a:r>
              <a:rPr lang="en-US" altLang="zh-CN" sz="2400" b="1" dirty="0">
                <a:solidFill>
                  <a:srgbClr val="FF0000"/>
                </a:solidFill>
                <a:latin typeface="宋体" panose="02010600030101010101" pitchFamily="2" charset="-122"/>
              </a:rPr>
              <a:t>Moon.java </a:t>
            </a:r>
            <a:endParaRPr lang="en-US" altLang="zh-CN" sz="2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public class Moon{</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a:t>
            </a:r>
            <a:r>
              <a:rPr lang="en-US" altLang="zh-CN" sz="1400" b="1" u="sng" dirty="0">
                <a:solidFill>
                  <a:srgbClr val="FF0000"/>
                </a:solidFill>
                <a:latin typeface="宋体" panose="02010600030101010101" pitchFamily="2" charset="-122"/>
              </a:rPr>
              <a:t>private static Moon  uniqueMoon</a:t>
            </a:r>
            <a:r>
              <a:rPr lang="en-US" altLang="zh-CN" sz="1400" b="1" dirty="0">
                <a:latin typeface="宋体" panose="02010600030101010101" pitchFamily="2" charset="-122"/>
              </a:rPr>
              <a:t>;</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double radius;</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double distanceToEarth;</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a:t>
            </a:r>
            <a:r>
              <a:rPr lang="en-US" altLang="zh-CN" sz="1400" b="1" dirty="0">
                <a:solidFill>
                  <a:srgbClr val="FF0000"/>
                </a:solidFill>
                <a:latin typeface="宋体" panose="02010600030101010101" pitchFamily="2" charset="-122"/>
              </a:rPr>
              <a:t>private Moon(){</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uniqueMoon=this;</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radius=1738;</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distanceToEarth=363300;</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     </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a:t>
            </a:r>
            <a:r>
              <a:rPr lang="en-US" altLang="zh-CN" sz="1400" b="1" dirty="0">
                <a:solidFill>
                  <a:srgbClr val="FF0000"/>
                </a:solidFill>
                <a:latin typeface="宋体" panose="02010600030101010101" pitchFamily="2" charset="-122"/>
              </a:rPr>
              <a:t>public static Moon getMoon(){   </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a:t>
            </a:r>
            <a:r>
              <a:rPr lang="en-US" altLang="zh-CN" sz="1400" b="1" dirty="0">
                <a:solidFill>
                  <a:srgbClr val="FF0000"/>
                </a:solidFill>
                <a:latin typeface="宋体" panose="02010600030101010101" pitchFamily="2" charset="-122"/>
              </a:rPr>
              <a:t>if(uniqueMoon==null){</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solidFill>
                  <a:srgbClr val="FF0000"/>
                </a:solidFill>
                <a:latin typeface="宋体" panose="02010600030101010101" pitchFamily="2" charset="-122"/>
              </a:rPr>
              <a:t>                  uniqueMoon=new Moon();</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solidFill>
                  <a:srgbClr val="FF0000"/>
                </a:solidFill>
                <a:latin typeface="宋体" panose="02010600030101010101" pitchFamily="2" charset="-122"/>
              </a:rPr>
              <a:t>            }</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solidFill>
                  <a:srgbClr val="FF0000"/>
                </a:solidFill>
                <a:latin typeface="宋体" panose="02010600030101010101" pitchFamily="2" charset="-122"/>
              </a:rPr>
              <a:t>            return uniqueMoon;</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solidFill>
                  <a:srgbClr val="FF0000"/>
                </a:solidFill>
                <a:latin typeface="宋体" panose="02010600030101010101" pitchFamily="2" charset="-122"/>
              </a:rPr>
              <a:t>      }</a:t>
            </a:r>
            <a:endParaRPr lang="en-US" altLang="zh-CN" sz="1400" b="1" dirty="0">
              <a:solidFill>
                <a:srgbClr val="FF0000"/>
              </a:solidFill>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      ……</a:t>
            </a:r>
            <a:endParaRPr lang="en-US" altLang="zh-CN" sz="1400" b="1" dirty="0">
              <a:latin typeface="宋体" panose="02010600030101010101" pitchFamily="2" charset="-122"/>
            </a:endParaRPr>
          </a:p>
          <a:p>
            <a:pPr marL="0" lvl="0" indent="0" algn="just" eaLnBrk="1" hangingPunct="1">
              <a:lnSpc>
                <a:spcPct val="80000"/>
              </a:lnSpc>
              <a:spcBef>
                <a:spcPct val="50000"/>
              </a:spcBef>
              <a:buClrTx/>
              <a:buSzTx/>
              <a:buFont typeface="Wingdings" panose="05000000000000000000" pitchFamily="2" charset="2"/>
              <a:buNone/>
            </a:pPr>
            <a:r>
              <a:rPr lang="en-US" altLang="zh-CN" sz="1400" b="1" dirty="0">
                <a:latin typeface="宋体" panose="02010600030101010101" pitchFamily="2" charset="-122"/>
              </a:rPr>
              <a:t>}</a:t>
            </a:r>
            <a:endParaRPr lang="en-US" altLang="zh-CN" sz="1400" b="1" dirty="0">
              <a:latin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
          <p:cNvSpPr>
            <a:spLocks noGrp="1"/>
          </p:cNvSpPr>
          <p:nvPr>
            <p:ph type="title"/>
          </p:nvPr>
        </p:nvSpPr>
        <p:spPr>
          <a:xfrm>
            <a:off x="455613" y="398463"/>
            <a:ext cx="86629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经典设计模式：</a:t>
            </a:r>
            <a:r>
              <a:rPr lang="zh-CN" altLang="en-US" b="1" dirty="0">
                <a:solidFill>
                  <a:srgbClr val="FF0000"/>
                </a:solidFill>
                <a:latin typeface="微软雅黑" panose="020B0503020204020204" pitchFamily="34" charset="-122"/>
                <a:ea typeface="微软雅黑" panose="020B0503020204020204" pitchFamily="34" charset="-122"/>
              </a:rPr>
              <a:t>工厂方法模式</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598488" y="1866900"/>
            <a:ext cx="8281988" cy="4511675"/>
          </a:xfrm>
          <a:prstGeom prst="rect">
            <a:avLst/>
          </a:prstGeom>
        </p:spPr>
        <p:txBody>
          <a:bodyPr>
            <a:spAutoFit/>
          </a:body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工厂方法模式：</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定义一个用于创建对象的接口，让子类决定实例化哪一个类。工厂方法</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使一个类的实例化延迟到其子类</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应用背景：</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当系统准备为用户</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提供某个类的子类的实例</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，又</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不想让用户代码和该子类形成耦合时</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，就可以使用工厂方法模式来设计系统</a:t>
            </a:r>
            <a:endParaRPr kumimoji="1" lang="en-US" altLang="zh-CN" sz="2400" b="0" i="0" u="none" strike="noStrike" kern="1200" cap="none" spc="0" normalizeH="0" baseline="0" noProof="0" dirty="0">
              <a:ln>
                <a:noFill/>
              </a:ln>
              <a:solidFill>
                <a:schemeClr val="tx1"/>
              </a:solidFill>
              <a:effectLst/>
              <a:uLnTx/>
              <a:uFillTx/>
              <a:latin typeface="+mn-ea"/>
              <a:ea typeface="+mn-ea"/>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工厂模式的关键：</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是在一个接口或抽象类中定义一个</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抽象方法</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该方法返回某个类的子类的实例</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，该抽象类或接口让其子类或实现该接口的类通过重写这个抽象方法返回某个子类的实例</a:t>
            </a:r>
            <a:r>
              <a:rPr kumimoji="1" lang="zh-CN" altLang="en-US" sz="2400" b="0" i="0" u="none" strike="noStrike" kern="1200" cap="none" spc="0" normalizeH="0" baseline="0" noProof="0" dirty="0">
                <a:ln>
                  <a:noFill/>
                </a:ln>
                <a:solidFill>
                  <a:srgbClr val="FF0000"/>
                </a:solidFill>
                <a:effectLst/>
                <a:uLnTx/>
                <a:uFillTx/>
                <a:latin typeface="+mn-ea"/>
                <a:ea typeface="+mn-ea"/>
                <a:cs typeface="+mn-cs"/>
              </a:rPr>
              <a:t> </a:t>
            </a:r>
            <a:endParaRPr kumimoji="1" lang="zh-CN" altLang="en-US" sz="2400" b="0" i="0" u="none" strike="noStrike" kern="1200" cap="none" spc="0" normalizeH="0" baseline="0" noProof="0" dirty="0">
              <a:ln>
                <a:noFill/>
              </a:ln>
              <a:solidFill>
                <a:srgbClr val="FF0000"/>
              </a:solidFill>
              <a:effectLst/>
              <a:uLnTx/>
              <a:uFillTx/>
              <a:latin typeface="+mn-ea"/>
              <a:ea typeface="+mn-ea"/>
              <a:cs typeface="+mn-cs"/>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04450" name="Rectangle 2"/>
          <p:cNvSpPr>
            <a:spLocks noGrp="1"/>
          </p:cNvSpPr>
          <p:nvPr>
            <p:ph type="subTitle" idx="1"/>
          </p:nvPr>
        </p:nvSpPr>
        <p:spPr>
          <a:xfrm>
            <a:off x="887413" y="758825"/>
            <a:ext cx="7239000" cy="608013"/>
          </a:xfrm>
        </p:spPr>
        <p:txBody>
          <a:bodyPr vert="horz" wrap="square" lIns="0" tIns="45610" rIns="18244" bIns="45610" anchor="t" anchorCtr="0"/>
          <a:p>
            <a:pPr marR="0" algn="l" eaLnBrk="1" hangingPunct="1">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工厂方法模式的</a:t>
            </a:r>
            <a:r>
              <a:rPr lang="en-US" altLang="zh-CN" sz="5000" b="1" kern="1200" dirty="0">
                <a:solidFill>
                  <a:schemeClr val="tx2"/>
                </a:solidFill>
                <a:latin typeface="微软雅黑" panose="020B0503020204020204" pitchFamily="34" charset="-122"/>
                <a:ea typeface="微软雅黑" panose="020B0503020204020204" pitchFamily="34" charset="-122"/>
                <a:cs typeface="+mn-cs"/>
              </a:rPr>
              <a:t>UML</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图</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graphicFrame>
        <p:nvGraphicFramePr>
          <p:cNvPr id="104451" name="对象 2"/>
          <p:cNvGraphicFramePr>
            <a:graphicFrameLocks noChangeAspect="1"/>
          </p:cNvGraphicFramePr>
          <p:nvPr/>
        </p:nvGraphicFramePr>
        <p:xfrm>
          <a:off x="987425" y="1752600"/>
          <a:ext cx="6762750" cy="4138613"/>
        </p:xfrm>
        <a:graphic>
          <a:graphicData uri="http://schemas.openxmlformats.org/presentationml/2006/ole">
            <mc:AlternateContent xmlns:mc="http://schemas.openxmlformats.org/markup-compatibility/2006">
              <mc:Choice xmlns:v="urn:schemas-microsoft-com:vml" Requires="v">
                <p:oleObj spid="_x0000_s3078" name="" r:id="rId2" imgW="4572000" imgH="3048000" progId="Paint.Picture">
                  <p:embed/>
                </p:oleObj>
              </mc:Choice>
              <mc:Fallback>
                <p:oleObj name="" r:id="rId2" imgW="4572000" imgH="3048000" progId="Paint.Picture">
                  <p:embed/>
                  <p:pic>
                    <p:nvPicPr>
                      <p:cNvPr id="0" name="图片 3077"/>
                      <p:cNvPicPr/>
                      <p:nvPr/>
                    </p:nvPicPr>
                    <p:blipFill>
                      <a:blip r:embed="rId3"/>
                      <a:stretch>
                        <a:fillRect/>
                      </a:stretch>
                    </p:blipFill>
                    <p:spPr>
                      <a:xfrm>
                        <a:off x="987425" y="1752600"/>
                        <a:ext cx="6762750" cy="4138613"/>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05474" name="Rectangle 2"/>
          <p:cNvSpPr>
            <a:spLocks noGrp="1"/>
          </p:cNvSpPr>
          <p:nvPr>
            <p:ph type="subTitle" idx="1"/>
          </p:nvPr>
        </p:nvSpPr>
        <p:spPr>
          <a:xfrm>
            <a:off x="455613" y="758825"/>
            <a:ext cx="8567737" cy="608013"/>
          </a:xfrm>
        </p:spPr>
        <p:txBody>
          <a:bodyPr vert="horz" wrap="square" lIns="0" tIns="45610" rIns="18244" bIns="45610" anchor="t" anchorCtr="0"/>
          <a:p>
            <a:pPr marR="0" algn="l" eaLnBrk="1" hangingPunct="1">
              <a:buClr>
                <a:srgbClr val="0BD0D9"/>
              </a:buClr>
              <a:buSzPct val="95000"/>
            </a:pPr>
            <a:r>
              <a:rPr lang="zh-CN" altLang="en-US" sz="4800" b="1" kern="1200" dirty="0">
                <a:solidFill>
                  <a:schemeClr val="tx2"/>
                </a:solidFill>
                <a:latin typeface="微软雅黑" panose="020B0503020204020204" pitchFamily="34" charset="-122"/>
                <a:ea typeface="微软雅黑" panose="020B0503020204020204" pitchFamily="34" charset="-122"/>
                <a:cs typeface="+mn-cs"/>
              </a:rPr>
              <a:t>工厂方法的优点</a:t>
            </a:r>
            <a:endParaRPr lang="zh-CN" altLang="en-US" sz="48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05475" name="Rectangle 22"/>
          <p:cNvSpPr/>
          <p:nvPr/>
        </p:nvSpPr>
        <p:spPr>
          <a:xfrm>
            <a:off x="455613" y="1901825"/>
            <a:ext cx="8207375" cy="19018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使用工厂方法可以让用户的代码和某个特定类的子类的代码解耦。</a:t>
            </a:r>
            <a:endParaRPr lang="zh-CN" altLang="en-US" sz="2800" b="1" dirty="0"/>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工厂方法使用户不必知道它所使用的对象是怎样被创建的，只需知道该对象有哪些方法即可</a:t>
            </a:r>
            <a:endParaRPr lang="zh-CN" altLang="en-US" sz="2800" b="1" dirty="0"/>
          </a:p>
        </p:txBody>
      </p:sp>
    </p:spTree>
  </p:cSld>
  <p:clrMapOvr>
    <a:overrideClrMapping bg1="lt1" tx1="dk1" bg2="lt2" tx2="dk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标题 1"/>
          <p:cNvSpPr>
            <a:spLocks noGrp="1"/>
          </p:cNvSpPr>
          <p:nvPr>
            <p:ph type="title"/>
          </p:nvPr>
        </p:nvSpPr>
        <p:spPr>
          <a:xfrm>
            <a:off x="455613" y="398463"/>
            <a:ext cx="86629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经典设计模式：</a:t>
            </a:r>
            <a:r>
              <a:rPr lang="zh-CN" altLang="en-US" b="1" dirty="0">
                <a:solidFill>
                  <a:srgbClr val="FF0000"/>
                </a:solidFill>
                <a:latin typeface="微软雅黑" panose="020B0503020204020204" pitchFamily="34" charset="-122"/>
                <a:ea typeface="微软雅黑" panose="020B0503020204020204" pitchFamily="34" charset="-122"/>
              </a:rPr>
              <a:t>抽象工厂模式</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598488" y="1866900"/>
            <a:ext cx="8281988" cy="5029200"/>
          </a:xfrm>
          <a:prstGeom prst="rect">
            <a:avLst/>
          </a:prstGeom>
        </p:spPr>
        <p:txBody>
          <a:bodyPr>
            <a:spAutoFit/>
          </a:body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抽象工厂模式：</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提供一个创建</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一系列（相互依赖）对象</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的接口，而无需指定它们具体的类</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应用背景：</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当系统准备为用户提供一系列相关的对象，又</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不想让用户代码和创建这些对象的类形成耦合</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时，就可以使用抽象工厂方法模式来设计系统。</a:t>
            </a:r>
            <a:endParaRPr kumimoji="1" lang="en-US" altLang="zh-CN" sz="2400" b="0" i="0" u="none" strike="noStrike" kern="1200" cap="none" spc="0" normalizeH="0" baseline="0" noProof="0" dirty="0">
              <a:ln>
                <a:noFill/>
              </a:ln>
              <a:solidFill>
                <a:schemeClr val="tx1"/>
              </a:solidFill>
              <a:effectLst/>
              <a:uLnTx/>
              <a:uFillTx/>
              <a:latin typeface="+mn-ea"/>
              <a:ea typeface="+mn-ea"/>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en-US" altLang="zh-CN" sz="2400" b="1" i="0" u="none" strike="noStrike" kern="1200" cap="none" spc="0" normalizeH="0" baseline="0" noProof="0" dirty="0">
              <a:ln>
                <a:noFill/>
              </a:ln>
              <a:solidFill>
                <a:schemeClr val="tx1"/>
              </a:solidFill>
              <a:effectLst/>
              <a:uLnTx/>
              <a:uFillTx/>
              <a:latin typeface="+mn-ea"/>
              <a:ea typeface="+mn-ea"/>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抽象工厂模式的关键：</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是在一个</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抽象类</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或</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接口</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中定义若干个</a:t>
            </a:r>
            <a:r>
              <a:rPr kumimoji="1" lang="zh-CN" altLang="en-US" sz="2400" b="1" i="0" u="none" strike="noStrike" kern="1200" cap="none" spc="0" normalizeH="0" baseline="0" noProof="0" dirty="0">
                <a:ln>
                  <a:noFill/>
                </a:ln>
                <a:solidFill>
                  <a:srgbClr val="FF0000"/>
                </a:solidFill>
                <a:effectLst/>
                <a:uLnTx/>
                <a:uFillTx/>
                <a:latin typeface="+mn-ea"/>
                <a:ea typeface="+mn-ea"/>
                <a:cs typeface="+mn-cs"/>
              </a:rPr>
              <a:t>抽象方法</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，这些抽象方法分别返回某个类的实例，该抽象类或接口让其</a:t>
            </a:r>
            <a:r>
              <a:rPr kumimoji="1" lang="zh-CN" altLang="en-US" sz="2400" b="1" i="0" u="sng" strike="noStrike" kern="1200" cap="none" spc="0" normalizeH="0" baseline="0" noProof="0" dirty="0">
                <a:ln>
                  <a:noFill/>
                </a:ln>
                <a:solidFill>
                  <a:srgbClr val="FF0000"/>
                </a:solidFill>
                <a:effectLst/>
                <a:uLnTx/>
                <a:uFillTx/>
                <a:latin typeface="+mn-ea"/>
                <a:ea typeface="+mn-ea"/>
                <a:cs typeface="+mn-cs"/>
              </a:rPr>
              <a:t>子类</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或</a:t>
            </a:r>
            <a:r>
              <a:rPr kumimoji="1" lang="zh-CN" altLang="en-US" sz="2400" b="1" i="0" u="sng" strike="noStrike" kern="1200" cap="none" spc="0" normalizeH="0" baseline="0" noProof="0" dirty="0">
                <a:ln>
                  <a:noFill/>
                </a:ln>
                <a:solidFill>
                  <a:srgbClr val="FF0000"/>
                </a:solidFill>
                <a:effectLst/>
                <a:uLnTx/>
                <a:uFillTx/>
                <a:latin typeface="+mn-ea"/>
                <a:ea typeface="+mn-ea"/>
                <a:cs typeface="+mn-cs"/>
              </a:rPr>
              <a:t>实现该接口的类</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重写这些抽象方法，为用户提供一系列相关的对象。</a:t>
            </a:r>
            <a:r>
              <a:rPr kumimoji="1" lang="zh-CN" altLang="en-US" sz="2400" b="0" i="0" u="none" strike="noStrike" kern="1200" cap="none" spc="0" normalizeH="0" baseline="0" noProof="0" dirty="0">
                <a:ln>
                  <a:noFill/>
                </a:ln>
                <a:solidFill>
                  <a:srgbClr val="FF0000"/>
                </a:solidFill>
                <a:effectLst/>
                <a:uLnTx/>
                <a:uFillTx/>
                <a:latin typeface="+mn-ea"/>
                <a:ea typeface="+mn-ea"/>
                <a:cs typeface="+mn-cs"/>
              </a:rPr>
              <a:t> </a:t>
            </a:r>
            <a:endParaRPr kumimoji="1" lang="zh-CN" altLang="en-US" sz="2400" b="0" i="0" u="none" strike="noStrike" kern="1200" cap="none" spc="0" normalizeH="0" baseline="0" noProof="0" dirty="0">
              <a:ln>
                <a:noFill/>
              </a:ln>
              <a:solidFill>
                <a:srgbClr val="FF0000"/>
              </a:solidFill>
              <a:effectLst/>
              <a:uLnTx/>
              <a:uFillTx/>
              <a:latin typeface="+mn-ea"/>
              <a:ea typeface="+mn-ea"/>
              <a:cs typeface="+mn-cs"/>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07522" name="Rectangle 2"/>
          <p:cNvSpPr>
            <a:spLocks noGrp="1"/>
          </p:cNvSpPr>
          <p:nvPr>
            <p:ph type="subTitle" idx="1"/>
          </p:nvPr>
        </p:nvSpPr>
        <p:spPr>
          <a:xfrm>
            <a:off x="887413" y="758825"/>
            <a:ext cx="7239000" cy="608013"/>
          </a:xfrm>
        </p:spPr>
        <p:txBody>
          <a:bodyPr vert="horz" wrap="square" lIns="0" tIns="45610" rIns="18244" bIns="45610" anchor="t" anchorCtr="0"/>
          <a:p>
            <a:pPr marR="0" algn="l" eaLnBrk="1" hangingPunct="1">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抽象工厂模式的</a:t>
            </a:r>
            <a:r>
              <a:rPr lang="en-US" altLang="zh-CN" sz="5000" b="1" kern="1200" dirty="0">
                <a:solidFill>
                  <a:schemeClr val="tx2"/>
                </a:solidFill>
                <a:latin typeface="微软雅黑" panose="020B0503020204020204" pitchFamily="34" charset="-122"/>
                <a:ea typeface="微软雅黑" panose="020B0503020204020204" pitchFamily="34" charset="-122"/>
                <a:cs typeface="+mn-cs"/>
              </a:rPr>
              <a:t>UML</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图</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graphicFrame>
        <p:nvGraphicFramePr>
          <p:cNvPr id="107523" name="对象 1"/>
          <p:cNvGraphicFramePr>
            <a:graphicFrameLocks noChangeAspect="1"/>
          </p:cNvGraphicFramePr>
          <p:nvPr/>
        </p:nvGraphicFramePr>
        <p:xfrm>
          <a:off x="527050" y="1982788"/>
          <a:ext cx="7710488" cy="4024312"/>
        </p:xfrm>
        <a:graphic>
          <a:graphicData uri="http://schemas.openxmlformats.org/presentationml/2006/ole">
            <mc:AlternateContent xmlns:mc="http://schemas.openxmlformats.org/markup-compatibility/2006">
              <mc:Choice xmlns:v="urn:schemas-microsoft-com:vml" Requires="v">
                <p:oleObj spid="_x0000_s3079" name="" r:id="rId2" imgW="5114925" imgH="2752725" progId="PBrush">
                  <p:embed/>
                </p:oleObj>
              </mc:Choice>
              <mc:Fallback>
                <p:oleObj name="" r:id="rId2" imgW="5114925" imgH="2752725" progId="PBrush">
                  <p:embed/>
                  <p:pic>
                    <p:nvPicPr>
                      <p:cNvPr id="0" name="图片 3078"/>
                      <p:cNvPicPr/>
                      <p:nvPr/>
                    </p:nvPicPr>
                    <p:blipFill>
                      <a:blip r:embed="rId3"/>
                      <a:stretch>
                        <a:fillRect/>
                      </a:stretch>
                    </p:blipFill>
                    <p:spPr>
                      <a:xfrm>
                        <a:off x="527050" y="1982788"/>
                        <a:ext cx="7710488" cy="4024312"/>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08546" name="Rectangle 2"/>
          <p:cNvSpPr>
            <a:spLocks noGrp="1"/>
          </p:cNvSpPr>
          <p:nvPr>
            <p:ph type="subTitle" idx="1"/>
          </p:nvPr>
        </p:nvSpPr>
        <p:spPr>
          <a:xfrm>
            <a:off x="455613" y="758825"/>
            <a:ext cx="8567737" cy="608013"/>
          </a:xfrm>
        </p:spPr>
        <p:txBody>
          <a:bodyPr vert="horz" wrap="square" lIns="0" tIns="45610" rIns="18244" bIns="45610" anchor="t" anchorCtr="0"/>
          <a:p>
            <a:pPr marR="0" algn="l" eaLnBrk="1" hangingPunct="1">
              <a:buClr>
                <a:srgbClr val="0BD0D9"/>
              </a:buClr>
              <a:buSzPct val="95000"/>
            </a:pPr>
            <a:r>
              <a:rPr lang="zh-CN" altLang="en-US" sz="4800" b="1" kern="1200" dirty="0">
                <a:solidFill>
                  <a:schemeClr val="tx2"/>
                </a:solidFill>
                <a:latin typeface="微软雅黑" panose="020B0503020204020204" pitchFamily="34" charset="-122"/>
                <a:ea typeface="微软雅黑" panose="020B0503020204020204" pitchFamily="34" charset="-122"/>
                <a:cs typeface="+mn-cs"/>
              </a:rPr>
              <a:t>抽象工厂的优点</a:t>
            </a:r>
            <a:endParaRPr lang="zh-CN" altLang="en-US" sz="48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08547" name="Rectangle 22"/>
          <p:cNvSpPr/>
          <p:nvPr/>
        </p:nvSpPr>
        <p:spPr>
          <a:xfrm>
            <a:off x="455613" y="1901825"/>
            <a:ext cx="8207375" cy="19018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抽象工厂模式可以为用户创建</a:t>
            </a:r>
            <a:r>
              <a:rPr lang="zh-CN" altLang="en-US" sz="2800" b="1" dirty="0">
                <a:solidFill>
                  <a:srgbClr val="FF0000"/>
                </a:solidFill>
              </a:rPr>
              <a:t>一系列相关的对象</a:t>
            </a:r>
            <a:r>
              <a:rPr lang="zh-CN" altLang="en-US" sz="2800" b="1" dirty="0"/>
              <a:t>，使得</a:t>
            </a:r>
            <a:r>
              <a:rPr lang="zh-CN" altLang="en-US" sz="2800" b="1" dirty="0">
                <a:solidFill>
                  <a:srgbClr val="FF0000"/>
                </a:solidFill>
              </a:rPr>
              <a:t>用户代码</a:t>
            </a:r>
            <a:r>
              <a:rPr lang="zh-CN" altLang="en-US" sz="2800" b="1" dirty="0"/>
              <a:t>和</a:t>
            </a:r>
            <a:r>
              <a:rPr lang="zh-CN" altLang="en-US" sz="2800" b="1" dirty="0">
                <a:solidFill>
                  <a:srgbClr val="FF0000"/>
                </a:solidFill>
              </a:rPr>
              <a:t>创建这些对象的类</a:t>
            </a:r>
            <a:r>
              <a:rPr lang="zh-CN" altLang="en-US" sz="2800" b="1" dirty="0"/>
              <a:t>脱耦。</a:t>
            </a:r>
            <a:endParaRPr lang="zh-CN" altLang="en-US" sz="2800" b="1" dirty="0"/>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在抽象工厂模式中，可以随时增加“</a:t>
            </a:r>
            <a:r>
              <a:rPr lang="zh-CN" altLang="en-US" sz="2800" b="1" dirty="0">
                <a:solidFill>
                  <a:srgbClr val="FF0000"/>
                </a:solidFill>
              </a:rPr>
              <a:t>具体工厂</a:t>
            </a:r>
            <a:r>
              <a:rPr lang="zh-CN" altLang="en-US" sz="2800" b="1" dirty="0"/>
              <a:t>”为用户提供一组相关的对象。</a:t>
            </a:r>
            <a:endParaRPr lang="zh-CN" altLang="en-US" sz="2800" b="1" dirty="0"/>
          </a:p>
        </p:txBody>
      </p:sp>
    </p:spTree>
  </p:cSld>
  <p:clrMapOvr>
    <a:overrideClrMapping bg1="lt1" tx1="dk1" bg2="lt2" tx2="dk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标题 1"/>
          <p:cNvSpPr>
            <a:spLocks noGrp="1"/>
          </p:cNvSpPr>
          <p:nvPr>
            <p:ph type="title"/>
          </p:nvPr>
        </p:nvSpPr>
        <p:spPr>
          <a:xfrm>
            <a:off x="455613" y="398463"/>
            <a:ext cx="86629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经典设计模式：</a:t>
            </a:r>
            <a:r>
              <a:rPr lang="zh-CN" altLang="en-US" b="1" dirty="0">
                <a:solidFill>
                  <a:srgbClr val="FF0000"/>
                </a:solidFill>
                <a:latin typeface="微软雅黑" panose="020B0503020204020204" pitchFamily="34" charset="-122"/>
                <a:ea typeface="微软雅黑" panose="020B0503020204020204" pitchFamily="34" charset="-122"/>
              </a:rPr>
              <a:t>适配器模式</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598488" y="1866900"/>
            <a:ext cx="8281988" cy="3465513"/>
          </a:xfrm>
          <a:prstGeom prst="rect">
            <a:avLst/>
          </a:prstGeom>
        </p:spPr>
        <p:txBody>
          <a:bodyPr>
            <a:spAutoFit/>
          </a:body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适配器模式：</a:t>
            </a:r>
            <a:r>
              <a:rPr kumimoji="0" lang="zh-CN" altLang="en-US" sz="2400" b="0" i="0" u="none" strike="noStrike" kern="1200" cap="none" spc="0" normalizeH="0" baseline="0" noProof="0" dirty="0">
                <a:ln>
                  <a:noFill/>
                </a:ln>
                <a:solidFill>
                  <a:schemeClr val="tx1"/>
                </a:solidFill>
                <a:effectLst/>
                <a:uLnTx/>
                <a:uFillTx/>
                <a:latin typeface="+mn-ea"/>
                <a:ea typeface="+mn-ea"/>
                <a:cs typeface="+mn-cs"/>
              </a:rPr>
              <a:t>将一个类的接口转换成客户希望的另外一个接口。适配器模式</a:t>
            </a:r>
            <a:r>
              <a:rPr kumimoji="0" lang="zh-CN" altLang="en-US" sz="2400" b="1" i="0" u="none" strike="noStrike" kern="1200" cap="none" spc="0" normalizeH="0" baseline="0" noProof="0" dirty="0">
                <a:ln>
                  <a:noFill/>
                </a:ln>
                <a:solidFill>
                  <a:srgbClr val="FF0000"/>
                </a:solidFill>
                <a:effectLst/>
                <a:uLnTx/>
                <a:uFillTx/>
                <a:latin typeface="+mn-ea"/>
                <a:ea typeface="+mn-ea"/>
                <a:cs typeface="+mn-cs"/>
              </a:rPr>
              <a:t>使得原本由于接口不兼容而不能一起工作的那些类可以一起工作</a:t>
            </a:r>
            <a:r>
              <a:rPr kumimoji="0" lang="zh-CN" altLang="en-US" sz="2400" b="0"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2400" b="0" i="0" u="none" strike="noStrike" kern="1200" cap="none" spc="0" normalizeH="0" baseline="0" noProof="0" dirty="0">
              <a:ln>
                <a:noFill/>
              </a:ln>
              <a:solidFill>
                <a:schemeClr val="tx1"/>
              </a:solidFill>
              <a:effectLst/>
              <a:uLnTx/>
              <a:uFillTx/>
              <a:latin typeface="+mn-ea"/>
              <a:ea typeface="+mn-ea"/>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应用背景：</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如何在不修改代码的情况下，将一个</a:t>
            </a:r>
            <a:r>
              <a:rPr kumimoji="1" lang="zh-CN" altLang="en-US" sz="2400" b="1" i="0" u="none"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rPr>
              <a:t>接口修改为另外一个接口</a:t>
            </a:r>
            <a:endParaRPr kumimoji="1" lang="en-US" altLang="zh-CN" sz="2400" b="1" i="0" u="none"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适配器模式的关键：</a:t>
            </a: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是建立一个适配器，这个适配器实现了目标接口并包含有被适配者的引用</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1" lang="zh-CN" altLang="en-US" sz="2400" b="0" i="0" u="none" strike="noStrike" kern="1200" cap="none" spc="0" normalizeH="0" baseline="0" noProof="0" dirty="0">
              <a:ln>
                <a:noFill/>
              </a:ln>
              <a:solidFill>
                <a:srgbClr val="FF0000"/>
              </a:solidFill>
              <a:effectLst/>
              <a:uLnTx/>
              <a:uFillTx/>
              <a:latin typeface="+mn-ea"/>
              <a:ea typeface="+mn-ea"/>
              <a:cs typeface="+mn-cs"/>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10594" name="Rectangle 2"/>
          <p:cNvSpPr>
            <a:spLocks noGrp="1"/>
          </p:cNvSpPr>
          <p:nvPr>
            <p:ph type="subTitle" idx="1"/>
          </p:nvPr>
        </p:nvSpPr>
        <p:spPr>
          <a:xfrm>
            <a:off x="887413" y="758825"/>
            <a:ext cx="7239000" cy="608013"/>
          </a:xfrm>
        </p:spPr>
        <p:txBody>
          <a:bodyPr vert="horz" wrap="square" lIns="0" tIns="45610" rIns="18244" bIns="45610" anchor="t" anchorCtr="0"/>
          <a:p>
            <a:pPr marR="0" algn="l" eaLnBrk="1" hangingPunct="1">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适配器模式的</a:t>
            </a:r>
            <a:r>
              <a:rPr lang="en-US" altLang="zh-CN" sz="5000" b="1" kern="1200" dirty="0">
                <a:solidFill>
                  <a:schemeClr val="tx2"/>
                </a:solidFill>
                <a:latin typeface="微软雅黑" panose="020B0503020204020204" pitchFamily="34" charset="-122"/>
                <a:ea typeface="微软雅黑" panose="020B0503020204020204" pitchFamily="34" charset="-122"/>
                <a:cs typeface="+mn-cs"/>
              </a:rPr>
              <a:t>UML</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图</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graphicFrame>
        <p:nvGraphicFramePr>
          <p:cNvPr id="110595" name="对象 1"/>
          <p:cNvGraphicFramePr>
            <a:graphicFrameLocks noChangeAspect="1"/>
          </p:cNvGraphicFramePr>
          <p:nvPr/>
        </p:nvGraphicFramePr>
        <p:xfrm>
          <a:off x="836613" y="1825625"/>
          <a:ext cx="7597775" cy="4183063"/>
        </p:xfrm>
        <a:graphic>
          <a:graphicData uri="http://schemas.openxmlformats.org/presentationml/2006/ole">
            <mc:AlternateContent xmlns:mc="http://schemas.openxmlformats.org/markup-compatibility/2006">
              <mc:Choice xmlns:v="urn:schemas-microsoft-com:vml" Requires="v">
                <p:oleObj spid="_x0000_s3080" name="" r:id="rId2" imgW="4486275" imgH="2295525" progId="PBrush">
                  <p:embed/>
                </p:oleObj>
              </mc:Choice>
              <mc:Fallback>
                <p:oleObj name="" r:id="rId2" imgW="4486275" imgH="2295525" progId="PBrush">
                  <p:embed/>
                  <p:pic>
                    <p:nvPicPr>
                      <p:cNvPr id="0" name="图片 3079"/>
                      <p:cNvPicPr/>
                      <p:nvPr/>
                    </p:nvPicPr>
                    <p:blipFill>
                      <a:blip r:embed="rId3"/>
                      <a:stretch>
                        <a:fillRect/>
                      </a:stretch>
                    </p:blipFill>
                    <p:spPr>
                      <a:xfrm>
                        <a:off x="836613" y="1825625"/>
                        <a:ext cx="7597775" cy="4183063"/>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标题 1"/>
          <p:cNvSpPr>
            <a:spLocks noGrp="1"/>
          </p:cNvSpPr>
          <p:nvPr>
            <p:ph type="title"/>
          </p:nvPr>
        </p:nvSpPr>
        <p:spPr>
          <a:xfrm>
            <a:off x="455613" y="398463"/>
            <a:ext cx="86629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经典设计模式：</a:t>
            </a:r>
            <a:r>
              <a:rPr lang="zh-CN" altLang="en-US" b="1" dirty="0">
                <a:solidFill>
                  <a:srgbClr val="FF0000"/>
                </a:solidFill>
                <a:latin typeface="微软雅黑" panose="020B0503020204020204" pitchFamily="34" charset="-122"/>
                <a:ea typeface="微软雅黑" panose="020B0503020204020204" pitchFamily="34" charset="-122"/>
              </a:rPr>
              <a:t>外观模式</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598488" y="1866900"/>
            <a:ext cx="8281988" cy="3033713"/>
          </a:xfrm>
          <a:prstGeom prst="rect">
            <a:avLst/>
          </a:prstGeom>
        </p:spPr>
        <p:txBody>
          <a:bodyPr>
            <a:spAutoFit/>
          </a:body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外观模式：</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为系统中的</a:t>
            </a:r>
            <a:r>
              <a:rPr kumimoji="1" lang="zh-CN" altLang="en-US" sz="2400" b="1" i="0" u="sng"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rPr>
              <a:t>一组接口</a:t>
            </a:r>
            <a:r>
              <a:rPr kumimoji="1" lang="zh-CN" altLang="en-US" sz="2400" b="1" i="0" u="none"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rPr>
              <a:t>提供一个一致的界面</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，外观模式</a:t>
            </a:r>
            <a:r>
              <a:rPr kumimoji="1" lang="zh-CN" altLang="en-US" sz="2400" b="1" i="0" u="none"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rPr>
              <a:t>定义了一个高层接口</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，这个接口使得这一子系统更加容易使用。</a:t>
            </a:r>
            <a:endPar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应用背景：</a:t>
            </a: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简化用户和子系统（包含多个类）的交互</a:t>
            </a:r>
            <a:endParaRPr kumimoji="1" lang="en-US" altLang="zh-CN"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外观模式的关键：</a:t>
            </a:r>
            <a:r>
              <a:rPr kumimoji="1" lang="zh-CN" altLang="en-US" sz="2400" b="0" i="0" u="none" strike="noStrike" kern="1200" cap="none" spc="0" normalizeH="0" baseline="0" noProof="0" dirty="0">
                <a:ln>
                  <a:noFill/>
                </a:ln>
                <a:solidFill>
                  <a:schemeClr val="tx1"/>
                </a:solidFill>
                <a:effectLst/>
                <a:uLnTx/>
                <a:uFillTx/>
                <a:latin typeface="+mn-ea"/>
                <a:ea typeface="+mn-ea"/>
                <a:cs typeface="+mn-cs"/>
              </a:rPr>
              <a:t>是为各个子系统提供一个称作外观的类，该外观类的实例负责和各个子系统中类的实例打交道</a:t>
            </a:r>
            <a:endParaRPr kumimoji="1" lang="zh-CN" altLang="en-US" sz="2400" b="0" i="0" u="none" strike="noStrike" kern="1200" cap="none" spc="0" normalizeH="0" baseline="0" noProof="0" dirty="0">
              <a:ln>
                <a:noFill/>
              </a:ln>
              <a:solidFill>
                <a:srgbClr val="FF0000"/>
              </a:solidFill>
              <a:effectLst/>
              <a:uLnTx/>
              <a:uFillTx/>
              <a:latin typeface="+mn-ea"/>
              <a:ea typeface="+mn-ea"/>
              <a:cs typeface="+mn-cs"/>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12642" name="Rectangle 2"/>
          <p:cNvSpPr>
            <a:spLocks noGrp="1"/>
          </p:cNvSpPr>
          <p:nvPr>
            <p:ph type="subTitle" idx="1"/>
          </p:nvPr>
        </p:nvSpPr>
        <p:spPr>
          <a:xfrm>
            <a:off x="887413" y="758825"/>
            <a:ext cx="7239000" cy="608013"/>
          </a:xfrm>
        </p:spPr>
        <p:txBody>
          <a:bodyPr vert="horz" wrap="square" lIns="0" tIns="45610" rIns="18244" bIns="45610" anchor="t" anchorCtr="0"/>
          <a:p>
            <a:pPr marR="0" algn="l" eaLnBrk="1" hangingPunct="1">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外观模式的</a:t>
            </a:r>
            <a:r>
              <a:rPr lang="en-US" altLang="zh-CN" sz="5000" b="1" kern="1200" dirty="0">
                <a:solidFill>
                  <a:schemeClr val="tx2"/>
                </a:solidFill>
                <a:latin typeface="微软雅黑" panose="020B0503020204020204" pitchFamily="34" charset="-122"/>
                <a:ea typeface="微软雅黑" panose="020B0503020204020204" pitchFamily="34" charset="-122"/>
                <a:cs typeface="+mn-cs"/>
              </a:rPr>
              <a:t>UML</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图</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graphicFrame>
        <p:nvGraphicFramePr>
          <p:cNvPr id="112643" name="对象 2"/>
          <p:cNvGraphicFramePr>
            <a:graphicFrameLocks noChangeAspect="1"/>
          </p:cNvGraphicFramePr>
          <p:nvPr/>
        </p:nvGraphicFramePr>
        <p:xfrm>
          <a:off x="1519238" y="2338388"/>
          <a:ext cx="5775325" cy="3062287"/>
        </p:xfrm>
        <a:graphic>
          <a:graphicData uri="http://schemas.openxmlformats.org/presentationml/2006/ole">
            <mc:AlternateContent xmlns:mc="http://schemas.openxmlformats.org/markup-compatibility/2006">
              <mc:Choice xmlns:v="urn:schemas-microsoft-com:vml" Requires="v">
                <p:oleObj spid="_x0000_s3082" name="" r:id="rId2" imgW="4219575" imgH="2171700" progId="PBrush">
                  <p:embed/>
                </p:oleObj>
              </mc:Choice>
              <mc:Fallback>
                <p:oleObj name="" r:id="rId2" imgW="4219575" imgH="2171700" progId="PBrush">
                  <p:embed/>
                  <p:pic>
                    <p:nvPicPr>
                      <p:cNvPr id="0" name="图片 3081"/>
                      <p:cNvPicPr/>
                      <p:nvPr/>
                    </p:nvPicPr>
                    <p:blipFill>
                      <a:blip r:embed="rId3"/>
                      <a:stretch>
                        <a:fillRect/>
                      </a:stretch>
                    </p:blipFill>
                    <p:spPr>
                      <a:xfrm>
                        <a:off x="1519238" y="2338388"/>
                        <a:ext cx="5775325" cy="3062287"/>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13666" name="Rectangle 2"/>
          <p:cNvSpPr>
            <a:spLocks noGrp="1"/>
          </p:cNvSpPr>
          <p:nvPr>
            <p:ph type="subTitle" idx="1"/>
          </p:nvPr>
        </p:nvSpPr>
        <p:spPr>
          <a:xfrm>
            <a:off x="455613" y="758825"/>
            <a:ext cx="8567737" cy="608013"/>
          </a:xfrm>
        </p:spPr>
        <p:txBody>
          <a:bodyPr vert="horz" wrap="square" lIns="0" tIns="45610" rIns="18244" bIns="45610" anchor="t" anchorCtr="0"/>
          <a:p>
            <a:pPr marR="0" algn="l" eaLnBrk="1" hangingPunct="1">
              <a:buClr>
                <a:srgbClr val="0BD0D9"/>
              </a:buClr>
              <a:buSzPct val="95000"/>
            </a:pPr>
            <a:r>
              <a:rPr lang="zh-CN" altLang="en-US" sz="4800" b="1" kern="1200" dirty="0">
                <a:solidFill>
                  <a:schemeClr val="tx2"/>
                </a:solidFill>
                <a:latin typeface="微软雅黑" panose="020B0503020204020204" pitchFamily="34" charset="-122"/>
                <a:ea typeface="微软雅黑" panose="020B0503020204020204" pitchFamily="34" charset="-122"/>
                <a:cs typeface="+mn-cs"/>
              </a:rPr>
              <a:t>外观模式的优点</a:t>
            </a:r>
            <a:endParaRPr lang="zh-CN" altLang="en-US" sz="4800" b="1" kern="1200" dirty="0">
              <a:solidFill>
                <a:schemeClr val="tx2"/>
              </a:solidFill>
              <a:latin typeface="微软雅黑" panose="020B0503020204020204" pitchFamily="34" charset="-122"/>
              <a:ea typeface="微软雅黑" panose="020B0503020204020204" pitchFamily="34" charset="-122"/>
              <a:cs typeface="+mn-cs"/>
            </a:endParaRPr>
          </a:p>
        </p:txBody>
      </p:sp>
      <p:sp>
        <p:nvSpPr>
          <p:cNvPr id="113667" name="Rectangle 22"/>
          <p:cNvSpPr/>
          <p:nvPr/>
        </p:nvSpPr>
        <p:spPr>
          <a:xfrm>
            <a:off x="455613" y="1901825"/>
            <a:ext cx="8207375" cy="3452813"/>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latin typeface="黑体" panose="02010609060101010101" pitchFamily="49" charset="-122"/>
                <a:ea typeface="黑体" panose="02010609060101010101" pitchFamily="49" charset="-122"/>
              </a:rPr>
              <a:t>使客户和子系统中的类无耦合。</a:t>
            </a:r>
            <a:endParaRPr lang="zh-CN" altLang="en-US" sz="2800" b="1" dirty="0">
              <a:latin typeface="黑体" panose="02010609060101010101" pitchFamily="49" charset="-122"/>
              <a:ea typeface="黑体" panose="02010609060101010101" pitchFamily="49" charset="-122"/>
            </a:endParaRPr>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latin typeface="黑体" panose="02010609060101010101" pitchFamily="49" charset="-122"/>
                <a:ea typeface="黑体" panose="02010609060101010101" pitchFamily="49" charset="-122"/>
              </a:rPr>
              <a:t>外观只是提供了一个更加简洁的界面，并不影响用户直接使用子系统中的类。</a:t>
            </a:r>
            <a:endParaRPr lang="zh-CN" altLang="en-US" sz="2800" b="1" dirty="0">
              <a:latin typeface="黑体" panose="02010609060101010101" pitchFamily="49" charset="-122"/>
              <a:ea typeface="黑体" panose="02010609060101010101" pitchFamily="49" charset="-122"/>
            </a:endParaRPr>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latin typeface="黑体" panose="02010609060101010101" pitchFamily="49" charset="-122"/>
                <a:ea typeface="黑体" panose="02010609060101010101" pitchFamily="49" charset="-122"/>
              </a:rPr>
              <a:t>子系统中任何类对其方法的内容进行修改，不影响外观的代码。</a:t>
            </a:r>
            <a:endParaRPr lang="zh-CN" altLang="en-US" sz="2800" b="1" dirty="0">
              <a:latin typeface="黑体" panose="02010609060101010101" pitchFamily="49" charset="-122"/>
              <a:ea typeface="黑体" panose="02010609060101010101" pitchFamily="49" charset="-122"/>
            </a:endParaRPr>
          </a:p>
          <a:p>
            <a:pPr marL="273050" lvl="1" indent="-273050" defTabSz="914400" eaLnBrk="1" hangingPunct="1">
              <a:buClr>
                <a:srgbClr val="0BD0D9"/>
              </a:buClr>
              <a:buSzPct val="95000"/>
              <a:buFont typeface="Wingdings" panose="05000000000000000000" pitchFamily="2" charset="2"/>
              <a:buChar char="p"/>
              <a:tabLst>
                <a:tab pos="457200" algn="l"/>
              </a:tabLst>
            </a:pPr>
            <a:endParaRPr lang="zh-CN" altLang="en-US" sz="2800" b="1" dirty="0">
              <a:latin typeface="黑体" panose="02010609060101010101" pitchFamily="49" charset="-122"/>
              <a:ea typeface="黑体" panose="02010609060101010101" pitchFamily="49" charset="-122"/>
            </a:endParaRPr>
          </a:p>
          <a:p>
            <a:pPr marL="273050" lvl="1" indent="-273050" defTabSz="914400" eaLnBrk="1" hangingPunct="1">
              <a:buClr>
                <a:srgbClr val="0BD0D9"/>
              </a:buClr>
              <a:buSzPct val="95000"/>
              <a:buFont typeface="Wingdings" panose="05000000000000000000" pitchFamily="2" charset="2"/>
              <a:buChar char="p"/>
              <a:tabLst>
                <a:tab pos="457200" algn="l"/>
              </a:tabLst>
            </a:pPr>
            <a:endParaRPr lang="zh-CN" altLang="en-US" sz="2800" b="1" dirty="0"/>
          </a:p>
        </p:txBody>
      </p:sp>
    </p:spTree>
  </p:cSld>
  <p:clrMapOvr>
    <a:overrideClrMapping bg1="lt1" tx1="dk1" bg2="lt2" tx2="dk2" accent1="accent1" accent2="accent2" accent3="accent3" accent4="accent4" accent5="accent5" accent6="accent6" hlink="hlink" folHlink="folHlink"/>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标题 1"/>
          <p:cNvSpPr>
            <a:spLocks noGrp="1"/>
          </p:cNvSpPr>
          <p:nvPr>
            <p:ph type="title"/>
          </p:nvPr>
        </p:nvSpPr>
        <p:spPr>
          <a:xfrm>
            <a:off x="455613" y="398463"/>
            <a:ext cx="8662987"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经典设计模式：</a:t>
            </a:r>
            <a:r>
              <a:rPr lang="zh-CN" altLang="en-US" b="1" dirty="0">
                <a:solidFill>
                  <a:srgbClr val="FF0000"/>
                </a:solidFill>
                <a:latin typeface="微软雅黑" panose="020B0503020204020204" pitchFamily="34" charset="-122"/>
                <a:ea typeface="微软雅黑" panose="020B0503020204020204" pitchFamily="34" charset="-122"/>
              </a:rPr>
              <a:t>策略模式</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598488" y="1866900"/>
            <a:ext cx="8281988" cy="2640013"/>
          </a:xfrm>
          <a:prstGeom prst="rect">
            <a:avLst/>
          </a:prstGeom>
        </p:spPr>
        <p:txBody>
          <a:bodyPr>
            <a:spAutoFit/>
          </a:body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策略模式：</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定义</a:t>
            </a:r>
            <a:r>
              <a:rPr kumimoji="1" lang="zh-CN" altLang="en-US" sz="2400" b="1" i="0" u="sng"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rPr>
              <a:t>一系列算法</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，把它们一个个封装起来，</a:t>
            </a:r>
            <a:r>
              <a:rPr kumimoji="1" lang="zh-CN" altLang="en-US" sz="2400" b="1" i="0" u="sng" strike="noStrike" kern="1200" cap="none" spc="0" normalizeH="0" baseline="0" noProof="0" dirty="0">
                <a:ln>
                  <a:noFill/>
                </a:ln>
                <a:solidFill>
                  <a:srgbClr val="FF0000"/>
                </a:solidFill>
                <a:effectLst/>
                <a:uLnTx/>
                <a:uFillTx/>
                <a:latin typeface="Constantia" panose="02030602050306030303" charset="0"/>
                <a:ea typeface="宋体" panose="02010600030101010101" pitchFamily="2" charset="-122"/>
                <a:cs typeface="+mn-cs"/>
              </a:rPr>
              <a:t>并且使它们可相互替换</a:t>
            </a:r>
            <a:r>
              <a:rPr kumimoji="1" lang="zh-CN" altLang="en-US" sz="2400" b="0"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。本模式使得算法可独立于使用它的客户而变化</a:t>
            </a:r>
            <a:r>
              <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rPr>
              <a:t>。</a:t>
            </a:r>
            <a:endParaRPr kumimoji="1" lang="zh-CN" altLang="en-US" sz="2800" b="1" i="0" u="none" strike="noStrike" kern="1200" cap="none" spc="0" normalizeH="0" baseline="0" noProof="0" dirty="0">
              <a:ln>
                <a:noFill/>
              </a:ln>
              <a:solidFill>
                <a:schemeClr val="tx1"/>
              </a:solidFill>
              <a:effectLst/>
              <a:uLnTx/>
              <a:uFillTx/>
              <a:latin typeface="Constantia" panose="02030602050306030303" charset="0"/>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ea"/>
                <a:ea typeface="+mn-ea"/>
                <a:cs typeface="+mn-cs"/>
              </a:rPr>
              <a:t>在策略模式中，</a:t>
            </a:r>
            <a:r>
              <a:rPr kumimoji="1" lang="zh-CN" altLang="en-US" sz="2800" b="1" i="0" u="none" strike="noStrike" kern="1200" cap="none" spc="0" normalizeH="0" baseline="0" noProof="0" dirty="0">
                <a:ln>
                  <a:noFill/>
                </a:ln>
                <a:solidFill>
                  <a:srgbClr val="FF0000"/>
                </a:solidFill>
                <a:effectLst/>
                <a:uLnTx/>
                <a:uFillTx/>
                <a:latin typeface="+mn-ea"/>
                <a:ea typeface="+mn-ea"/>
                <a:cs typeface="+mn-cs"/>
              </a:rPr>
              <a:t>封装算法标识的接口</a:t>
            </a:r>
            <a:r>
              <a:rPr kumimoji="1" lang="zh-CN" altLang="en-US" sz="2800" b="1" i="0" u="none" strike="noStrike" kern="1200" cap="none" spc="0" normalizeH="0" baseline="0" noProof="0" dirty="0">
                <a:ln>
                  <a:noFill/>
                </a:ln>
                <a:solidFill>
                  <a:schemeClr val="tx1"/>
                </a:solidFill>
                <a:effectLst/>
                <a:uLnTx/>
                <a:uFillTx/>
                <a:latin typeface="+mn-ea"/>
                <a:ea typeface="+mn-ea"/>
                <a:cs typeface="+mn-cs"/>
              </a:rPr>
              <a:t>称作</a:t>
            </a:r>
            <a:r>
              <a:rPr kumimoji="1" lang="zh-CN" altLang="en-US" sz="2800" b="1" i="0" u="sng" strike="noStrike" kern="1200" cap="none" spc="0" normalizeH="0" baseline="0" noProof="0" dirty="0">
                <a:ln>
                  <a:noFill/>
                </a:ln>
                <a:solidFill>
                  <a:schemeClr val="tx1"/>
                </a:solidFill>
                <a:effectLst/>
                <a:uLnTx/>
                <a:uFillTx/>
                <a:latin typeface="+mn-ea"/>
                <a:ea typeface="+mn-ea"/>
                <a:cs typeface="+mn-cs"/>
              </a:rPr>
              <a:t>策略</a:t>
            </a:r>
            <a:r>
              <a:rPr kumimoji="1" lang="zh-CN" altLang="en-US" sz="2800" b="1" i="0" u="none" strike="noStrike" kern="1200" cap="none" spc="0" normalizeH="0" baseline="0" noProof="0" dirty="0">
                <a:ln>
                  <a:noFill/>
                </a:ln>
                <a:solidFill>
                  <a:schemeClr val="tx1"/>
                </a:solidFill>
                <a:effectLst/>
                <a:uLnTx/>
                <a:uFillTx/>
                <a:latin typeface="+mn-ea"/>
                <a:ea typeface="+mn-ea"/>
                <a:cs typeface="+mn-cs"/>
              </a:rPr>
              <a:t>，</a:t>
            </a:r>
            <a:r>
              <a:rPr kumimoji="1" lang="zh-CN" altLang="en-US" sz="2800" b="1" i="0" u="none" strike="noStrike" kern="1200" cap="none" spc="0" normalizeH="0" baseline="0" noProof="0" dirty="0">
                <a:ln>
                  <a:noFill/>
                </a:ln>
                <a:solidFill>
                  <a:srgbClr val="FF0000"/>
                </a:solidFill>
                <a:effectLst/>
                <a:uLnTx/>
                <a:uFillTx/>
                <a:latin typeface="+mn-ea"/>
                <a:ea typeface="+mn-ea"/>
                <a:cs typeface="+mn-cs"/>
              </a:rPr>
              <a:t>实现该接口的类</a:t>
            </a:r>
            <a:r>
              <a:rPr kumimoji="1" lang="zh-CN" altLang="en-US" sz="2800" b="1" i="0" u="none" strike="noStrike" kern="1200" cap="none" spc="0" normalizeH="0" baseline="0" noProof="0" dirty="0">
                <a:ln>
                  <a:noFill/>
                </a:ln>
                <a:solidFill>
                  <a:schemeClr val="tx1"/>
                </a:solidFill>
                <a:effectLst/>
                <a:uLnTx/>
                <a:uFillTx/>
                <a:latin typeface="+mn-ea"/>
                <a:ea typeface="+mn-ea"/>
                <a:cs typeface="+mn-cs"/>
              </a:rPr>
              <a:t>称作</a:t>
            </a:r>
            <a:r>
              <a:rPr kumimoji="1" lang="zh-CN" altLang="en-US" sz="2800" b="1" i="0" u="sng" strike="noStrike" kern="1200" cap="none" spc="0" normalizeH="0" baseline="0" noProof="0" dirty="0">
                <a:ln>
                  <a:noFill/>
                </a:ln>
                <a:solidFill>
                  <a:schemeClr val="tx1"/>
                </a:solidFill>
                <a:effectLst/>
                <a:uLnTx/>
                <a:uFillTx/>
                <a:latin typeface="+mn-ea"/>
                <a:ea typeface="+mn-ea"/>
                <a:cs typeface="+mn-cs"/>
              </a:rPr>
              <a:t>具体策略</a:t>
            </a:r>
            <a:endParaRPr kumimoji="1" lang="en-US" altLang="zh-CN" sz="2800" b="0" i="0" u="sng" strike="noStrike" kern="1200" cap="none" spc="0" normalizeH="0" baseline="0" noProof="0" dirty="0">
              <a:ln>
                <a:noFill/>
              </a:ln>
              <a:solidFill>
                <a:schemeClr val="tx1"/>
              </a:solidFill>
              <a:effectLst/>
              <a:uLnTx/>
              <a:uFillTx/>
              <a:latin typeface="+mn-ea"/>
              <a:ea typeface="+mn-ea"/>
              <a:cs typeface="+mn-cs"/>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15714" name="Rectangle 2"/>
          <p:cNvSpPr>
            <a:spLocks noGrp="1"/>
          </p:cNvSpPr>
          <p:nvPr>
            <p:ph type="subTitle" idx="1"/>
          </p:nvPr>
        </p:nvSpPr>
        <p:spPr>
          <a:xfrm>
            <a:off x="887413" y="758825"/>
            <a:ext cx="7239000" cy="608013"/>
          </a:xfrm>
        </p:spPr>
        <p:txBody>
          <a:bodyPr vert="horz" wrap="square" lIns="0" tIns="45610" rIns="18244" bIns="45610" anchor="t" anchorCtr="0"/>
          <a:p>
            <a:pPr marR="0" algn="l" eaLnBrk="1" hangingPunct="1">
              <a:buClr>
                <a:srgbClr val="0BD0D9"/>
              </a:buClr>
              <a:buSzPct val="95000"/>
            </a:pPr>
            <a:r>
              <a:rPr lang="zh-CN" altLang="en-US" sz="5000" b="1" kern="1200" dirty="0">
                <a:solidFill>
                  <a:schemeClr val="tx2"/>
                </a:solidFill>
                <a:latin typeface="微软雅黑" panose="020B0503020204020204" pitchFamily="34" charset="-122"/>
                <a:ea typeface="微软雅黑" panose="020B0503020204020204" pitchFamily="34" charset="-122"/>
                <a:cs typeface="+mn-cs"/>
              </a:rPr>
              <a:t>策略模式的</a:t>
            </a:r>
            <a:r>
              <a:rPr lang="en-US" altLang="zh-CN" sz="5000" b="1" kern="1200" dirty="0">
                <a:solidFill>
                  <a:schemeClr val="tx2"/>
                </a:solidFill>
                <a:latin typeface="微软雅黑" panose="020B0503020204020204" pitchFamily="34" charset="-122"/>
                <a:ea typeface="微软雅黑" panose="020B0503020204020204" pitchFamily="34" charset="-122"/>
                <a:cs typeface="+mn-cs"/>
              </a:rPr>
              <a:t>UML</a:t>
            </a:r>
            <a:r>
              <a:rPr lang="zh-CN" altLang="en-US" sz="5000" b="1" kern="1200" dirty="0">
                <a:solidFill>
                  <a:schemeClr val="tx2"/>
                </a:solidFill>
                <a:latin typeface="微软雅黑" panose="020B0503020204020204" pitchFamily="34" charset="-122"/>
                <a:ea typeface="微软雅黑" panose="020B0503020204020204" pitchFamily="34" charset="-122"/>
                <a:cs typeface="+mn-cs"/>
              </a:rPr>
              <a:t>图</a:t>
            </a:r>
            <a:endParaRPr lang="zh-CN" altLang="en-US" sz="5000" b="1" kern="1200" dirty="0">
              <a:solidFill>
                <a:schemeClr val="tx2"/>
              </a:solidFill>
              <a:latin typeface="微软雅黑" panose="020B0503020204020204" pitchFamily="34" charset="-122"/>
              <a:ea typeface="微软雅黑" panose="020B0503020204020204" pitchFamily="34" charset="-122"/>
              <a:cs typeface="+mn-cs"/>
            </a:endParaRPr>
          </a:p>
        </p:txBody>
      </p:sp>
      <p:graphicFrame>
        <p:nvGraphicFramePr>
          <p:cNvPr id="115715" name="对象 2"/>
          <p:cNvGraphicFramePr>
            <a:graphicFrameLocks noChangeAspect="1"/>
          </p:cNvGraphicFramePr>
          <p:nvPr/>
        </p:nvGraphicFramePr>
        <p:xfrm>
          <a:off x="1063625" y="1749425"/>
          <a:ext cx="6991350" cy="4183063"/>
        </p:xfrm>
        <a:graphic>
          <a:graphicData uri="http://schemas.openxmlformats.org/presentationml/2006/ole">
            <mc:AlternateContent xmlns:mc="http://schemas.openxmlformats.org/markup-compatibility/2006">
              <mc:Choice xmlns:v="urn:schemas-microsoft-com:vml" Requires="v">
                <p:oleObj spid="_x0000_s3081" name="" r:id="rId2" imgW="4572000" imgH="2305050" progId="PBrush">
                  <p:embed/>
                </p:oleObj>
              </mc:Choice>
              <mc:Fallback>
                <p:oleObj name="" r:id="rId2" imgW="4572000" imgH="2305050" progId="PBrush">
                  <p:embed/>
                  <p:pic>
                    <p:nvPicPr>
                      <p:cNvPr id="0" name="图片 3080"/>
                      <p:cNvPicPr/>
                      <p:nvPr/>
                    </p:nvPicPr>
                    <p:blipFill>
                      <a:blip r:embed="rId3"/>
                      <a:stretch>
                        <a:fillRect/>
                      </a:stretch>
                    </p:blipFill>
                    <p:spPr>
                      <a:xfrm>
                        <a:off x="1063625" y="1749425"/>
                        <a:ext cx="6991350" cy="4183063"/>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内容占位符 1"/>
          <p:cNvSpPr>
            <a:spLocks noGrp="1"/>
          </p:cNvSpPr>
          <p:nvPr>
            <p:ph idx="1"/>
          </p:nvPr>
        </p:nvSpPr>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软件工程的期中内容回顾</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软件工程的基本内容：过程、方法和工具</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软件工程的过程模型：经典模型、敏捷模型</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软件工程的面向对象方法：面向对象的基本概念、用例建模、对象建模、</a:t>
            </a:r>
            <a:r>
              <a:rPr lang="en-US" altLang="zh-CN" b="1" dirty="0"/>
              <a:t>UML</a:t>
            </a:r>
            <a:r>
              <a:rPr lang="zh-CN" altLang="en-US" b="1" dirty="0"/>
              <a:t>、体系结构设计、设计原则、设计模式</a:t>
            </a:r>
            <a:endParaRPr lang="zh-CN" altLang="en-US"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结构化分析方法：分层数据流图、数据字典</a:t>
            </a:r>
            <a:endParaRPr lang="zh-CN" altLang="en-US" b="1" dirty="0"/>
          </a:p>
        </p:txBody>
      </p:sp>
      <p:sp>
        <p:nvSpPr>
          <p:cNvPr id="116739" name="标题 2"/>
          <p:cNvSpPr>
            <a:spLocks noGrp="1"/>
          </p:cNvSpPr>
          <p:nvPr>
            <p:ph type="title"/>
          </p:nvPr>
        </p:nvSpPr>
        <p:spPr>
          <a:xfrm>
            <a:off x="455613" y="542925"/>
            <a:ext cx="8207375" cy="1139825"/>
          </a:xfrm>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小结</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tags/tag1.xml><?xml version="1.0" encoding="utf-8"?>
<p:tagLst xmlns:p="http://schemas.openxmlformats.org/presentationml/2006/main">
  <p:tag name="commondata" val="eyJoZGlkIjoiZTNhZDIxYmVkM2NhYTRiNDgwZDM4ZDVhYjhiY2EzM2I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3.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4.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5.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6.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7.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8.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9.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0.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1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otalTime>0</TotalTime>
  <Words>11984</Words>
  <Application>WPS 演示</Application>
  <PresentationFormat/>
  <Paragraphs>1243</Paragraphs>
  <Slides>117</Slides>
  <Notes>15</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10</vt:i4>
      </vt:variant>
      <vt:variant>
        <vt:lpstr>幻灯片标题</vt:lpstr>
      </vt:variant>
      <vt:variant>
        <vt:i4>117</vt:i4>
      </vt:variant>
    </vt:vector>
  </HeadingPairs>
  <TitlesOfParts>
    <vt:vector size="151" baseType="lpstr">
      <vt:lpstr>Arial</vt:lpstr>
      <vt:lpstr>宋体</vt:lpstr>
      <vt:lpstr>Wingdings</vt:lpstr>
      <vt:lpstr>黑体</vt:lpstr>
      <vt:lpstr>Calibri</vt:lpstr>
      <vt:lpstr>隶书</vt:lpstr>
      <vt:lpstr>Wingdings 2</vt:lpstr>
      <vt:lpstr>Wingdings 2</vt:lpstr>
      <vt:lpstr>微软雅黑</vt:lpstr>
      <vt:lpstr>楷体_GB2312</vt:lpstr>
      <vt:lpstr>新宋体</vt:lpstr>
      <vt:lpstr>FrutigerNext LT Regular</vt:lpstr>
      <vt:lpstr>华文细黑</vt:lpstr>
      <vt:lpstr>Constantia</vt:lpstr>
      <vt:lpstr>Arial Unicode MS</vt:lpstr>
      <vt:lpstr>Comic Sans MS</vt:lpstr>
      <vt:lpstr>Times New Roman</vt:lpstr>
      <vt:lpstr>Monotype Sorts</vt:lpstr>
      <vt:lpstr>Wingdings</vt:lpstr>
      <vt:lpstr>仿宋_GB2312</vt:lpstr>
      <vt:lpstr>Wingdings 3</vt:lpstr>
      <vt:lpstr>仿宋</vt:lpstr>
      <vt:lpstr>流畅</vt:lpstr>
      <vt:lpstr>1_流畅</vt:lpstr>
      <vt:lpstr>Visio.Drawing.11</vt:lpstr>
      <vt:lpstr>PBrush</vt:lpstr>
      <vt:lpstr>Visio.Drawing.11</vt:lpstr>
      <vt:lpstr>Equation.3</vt:lpstr>
      <vt:lpstr>Visio.Drawing.11</vt:lpstr>
      <vt:lpstr>Paint.Picture</vt:lpstr>
      <vt:lpstr>Paint.Picture</vt:lpstr>
      <vt:lpstr>PBrush</vt:lpstr>
      <vt:lpstr>PBrush</vt:lpstr>
      <vt:lpstr>PBrush</vt:lpstr>
      <vt:lpstr>软 件 工 程 导 论</vt:lpstr>
      <vt:lpstr>第一次课：软件工程概述 第二次课：软件过程模型 第三次课：敏捷软件过程 第四次课：面向对象的需求分析 第五次课：结构化分析 第六次课：面向对象基础 第七次课：面向对象设计 第八次课：面向对象设计的进一步介绍 第九次课：设计模式</vt:lpstr>
      <vt:lpstr>软件工程</vt:lpstr>
      <vt:lpstr>PowerPoint 演示文稿</vt:lpstr>
      <vt:lpstr>软件过程模型</vt:lpstr>
      <vt:lpstr>敏捷软件开发</vt:lpstr>
      <vt:lpstr>PowerPoint 演示文稿</vt:lpstr>
      <vt:lpstr>敏捷开发核心价值之敏捷宣言</vt:lpstr>
      <vt:lpstr>PowerPoint 演示文稿</vt:lpstr>
      <vt:lpstr>第一次课：软件工程概述 第二次课：软件过程模型 第三次课：敏捷软件过程 第四次课：面向对象的需求分析 第五次课：结构化分析 第六次课：面向对象基础 第七次课：面向对象设计 第八次课：面向对象设计的进一步介绍 第九次课：设计模式</vt:lpstr>
      <vt:lpstr>课程进度安排</vt:lpstr>
      <vt:lpstr>面向过程的开发方法</vt:lpstr>
      <vt:lpstr>面向过程的开发方法</vt:lpstr>
      <vt:lpstr>面向对象方法概述</vt:lpstr>
      <vt:lpstr>面向对象方法概述</vt:lpstr>
      <vt:lpstr>课程进度安排</vt:lpstr>
      <vt:lpstr>面向对象方法的需求分析：用例建模</vt:lpstr>
      <vt:lpstr>用例建模过程</vt:lpstr>
      <vt:lpstr>用例建模:银行储蓄账户管理系统</vt:lpstr>
      <vt:lpstr>确定参与者</vt:lpstr>
      <vt:lpstr>确定用例</vt:lpstr>
      <vt:lpstr>PowerPoint 演示文稿</vt:lpstr>
      <vt:lpstr>开户用例描述</vt:lpstr>
      <vt:lpstr>取款用况描述</vt:lpstr>
      <vt:lpstr>PowerPoint 演示文稿</vt:lpstr>
      <vt:lpstr>第五次课：结构化分析</vt:lpstr>
      <vt:lpstr>面向过程（结构化）的软件开发方法</vt:lpstr>
      <vt:lpstr>结构化分析概述</vt:lpstr>
      <vt:lpstr>数据流图：图书订购系统</vt:lpstr>
      <vt:lpstr>数据流图的各个层次</vt:lpstr>
      <vt:lpstr>考务处理系统0层图</vt:lpstr>
      <vt:lpstr>考务处理系统1层图</vt:lpstr>
      <vt:lpstr>考务处理系统加工1子图</vt:lpstr>
      <vt:lpstr>考务处理系统加工2子图</vt:lpstr>
      <vt:lpstr>分层数据流图的一致性</vt:lpstr>
      <vt:lpstr>父图与子图不平衡的实例</vt:lpstr>
      <vt:lpstr>数据不守恒的实例</vt:lpstr>
      <vt:lpstr>局部文件示例</vt:lpstr>
      <vt:lpstr>数据字典</vt:lpstr>
      <vt:lpstr>数据流条目的描述内容</vt:lpstr>
      <vt:lpstr>数据流组成</vt:lpstr>
      <vt:lpstr>文件条目的描述内容</vt:lpstr>
      <vt:lpstr>数据项条目的描述内容</vt:lpstr>
      <vt:lpstr>加工条目的描述内容</vt:lpstr>
      <vt:lpstr>源或宿条目的描述内容</vt:lpstr>
      <vt:lpstr>加工逻辑的描述方法</vt:lpstr>
      <vt:lpstr>结构化语言</vt:lpstr>
      <vt:lpstr>“计算信用度”的结构化英语描述</vt:lpstr>
      <vt:lpstr>课程进度安排</vt:lpstr>
      <vt:lpstr>PowerPoint 演示文稿</vt:lpstr>
      <vt:lpstr>面向对象的建模语言UML</vt:lpstr>
      <vt:lpstr>UML图</vt:lpstr>
      <vt:lpstr>PowerPoint 演示文稿</vt:lpstr>
      <vt:lpstr>PowerPoint 演示文稿</vt:lpstr>
      <vt:lpstr>分析类的识别示例</vt:lpstr>
      <vt:lpstr>对“开户”用例分析之后所得到的系统应实现的类</vt:lpstr>
      <vt:lpstr>PowerPoint 演示文稿</vt:lpstr>
      <vt:lpstr>PowerPoint 演示文稿</vt:lpstr>
      <vt:lpstr>PowerPoint 演示文稿</vt:lpstr>
      <vt:lpstr>系统设计一般包括两步</vt:lpstr>
      <vt:lpstr>概要设计</vt:lpstr>
      <vt:lpstr>体系结构设计的两部分</vt:lpstr>
      <vt:lpstr>体系结构设计</vt:lpstr>
      <vt:lpstr>软件体系结构的建模工具：包</vt:lpstr>
      <vt:lpstr>包图</vt:lpstr>
      <vt:lpstr>PowerPoint 演示文稿</vt:lpstr>
      <vt:lpstr>PowerPoint 演示文稿</vt:lpstr>
      <vt:lpstr>PowerPoint 演示文稿</vt:lpstr>
      <vt:lpstr>PowerPoint 演示文稿</vt:lpstr>
      <vt:lpstr>PowerPoint 演示文稿</vt:lpstr>
      <vt:lpstr>PowerPoint 演示文稿</vt:lpstr>
      <vt:lpstr>硬件体系结构设计：部署图</vt:lpstr>
      <vt:lpstr>PowerPoint 演示文稿</vt:lpstr>
      <vt:lpstr>详细设计</vt:lpstr>
      <vt:lpstr>详细设计：对象设计</vt:lpstr>
      <vt:lpstr>详细设计：对象持久化设计</vt:lpstr>
      <vt:lpstr>对象持久化设计的方法：基于关系数据库存储</vt:lpstr>
      <vt:lpstr>PowerPoint 演示文稿</vt:lpstr>
      <vt:lpstr>PowerPoint 演示文稿</vt:lpstr>
      <vt:lpstr>PowerPoint 演示文稿</vt:lpstr>
      <vt:lpstr>面向对象设计原则</vt:lpstr>
      <vt:lpstr>1、单一职责原则</vt:lpstr>
      <vt:lpstr>PowerPoint 演示文稿</vt:lpstr>
      <vt:lpstr>2、开放−封闭原则</vt:lpstr>
      <vt:lpstr>什么是不封闭、不开放</vt:lpstr>
      <vt:lpstr>如何改进</vt:lpstr>
      <vt:lpstr>3、Liskov 替换原则</vt:lpstr>
      <vt:lpstr>一个违反Liskov原则的例子</vt:lpstr>
      <vt:lpstr>PowerPoint 演示文稿</vt:lpstr>
      <vt:lpstr>实际中的使用情况</vt:lpstr>
      <vt:lpstr>4、接口隔离原则</vt:lpstr>
      <vt:lpstr>PowerPoint 演示文稿</vt:lpstr>
      <vt:lpstr>5、依赖倒置原则</vt:lpstr>
      <vt:lpstr>PowerPoint 演示文稿</vt:lpstr>
      <vt:lpstr>如何遵守设计原则</vt:lpstr>
      <vt:lpstr>PowerPoint 演示文稿</vt:lpstr>
      <vt:lpstr>PowerPoint 演示文稿</vt:lpstr>
      <vt:lpstr>PowerPoint 演示文稿</vt:lpstr>
      <vt:lpstr>PowerPoint 演示文稿</vt:lpstr>
      <vt:lpstr>PowerPoint 演示文稿</vt:lpstr>
      <vt:lpstr>GOF之23种设计模式</vt:lpstr>
      <vt:lpstr>经典设计模式：单例模式</vt:lpstr>
      <vt:lpstr>PowerPoint 演示文稿</vt:lpstr>
      <vt:lpstr>经典设计模式：工厂方法模式</vt:lpstr>
      <vt:lpstr>PowerPoint 演示文稿</vt:lpstr>
      <vt:lpstr>PowerPoint 演示文稿</vt:lpstr>
      <vt:lpstr>经典设计模式：抽象工厂模式</vt:lpstr>
      <vt:lpstr>PowerPoint 演示文稿</vt:lpstr>
      <vt:lpstr>PowerPoint 演示文稿</vt:lpstr>
      <vt:lpstr>经典设计模式：适配器模式</vt:lpstr>
      <vt:lpstr>PowerPoint 演示文稿</vt:lpstr>
      <vt:lpstr>经典设计模式：外观模式</vt:lpstr>
      <vt:lpstr>PowerPoint 演示文稿</vt:lpstr>
      <vt:lpstr>PowerPoint 演示文稿</vt:lpstr>
      <vt:lpstr>经典设计模式：策略模式</vt:lpstr>
      <vt:lpstr>PowerPoint 演示文稿</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zj</dc:creator>
  <cp:lastModifiedBy>喻杰</cp:lastModifiedBy>
  <cp:revision>582</cp:revision>
  <dcterms:created xsi:type="dcterms:W3CDTF">2010-02-20T02:56:00Z</dcterms:created>
  <dcterms:modified xsi:type="dcterms:W3CDTF">2024-11-13T23:36:59Z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511904EB5A5245C888378EC1EAD26D00_12</vt:lpwstr>
  </property>
  <property fmtid="{D5CDD505-2E9C-101B-9397-08002B2CF9AE}" pid="3" name="KSOProductBuildVer">
    <vt:lpwstr>2052-12.1.0.17827</vt:lpwstr>
  </property>
</Properties>
</file>