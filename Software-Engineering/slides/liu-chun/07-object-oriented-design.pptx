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760" r:id="rId3"/>
    <p:sldId id="761" r:id="rId4"/>
    <p:sldId id="764" r:id="rId5"/>
    <p:sldId id="765" r:id="rId6"/>
    <p:sldId id="766" r:id="rId7"/>
    <p:sldId id="777" r:id="rId8"/>
    <p:sldId id="776" r:id="rId9"/>
    <p:sldId id="769" r:id="rId10"/>
    <p:sldId id="770" r:id="rId12"/>
    <p:sldId id="771" r:id="rId13"/>
    <p:sldId id="772" r:id="rId14"/>
    <p:sldId id="773" r:id="rId15"/>
    <p:sldId id="774" r:id="rId16"/>
    <p:sldId id="775" r:id="rId17"/>
    <p:sldId id="779" r:id="rId18"/>
    <p:sldId id="780" r:id="rId19"/>
    <p:sldId id="781" r:id="rId20"/>
    <p:sldId id="782" r:id="rId21"/>
    <p:sldId id="783" r:id="rId22"/>
    <p:sldId id="784" r:id="rId23"/>
    <p:sldId id="785" r:id="rId24"/>
    <p:sldId id="786" r:id="rId25"/>
    <p:sldId id="787" r:id="rId26"/>
    <p:sldId id="788" r:id="rId27"/>
    <p:sldId id="790" r:id="rId28"/>
    <p:sldId id="791" r:id="rId29"/>
    <p:sldId id="792" r:id="rId30"/>
    <p:sldId id="789" r:id="rId31"/>
    <p:sldId id="793" r:id="rId32"/>
    <p:sldId id="794" r:id="rId33"/>
    <p:sldId id="795" r:id="rId34"/>
    <p:sldId id="797" r:id="rId35"/>
    <p:sldId id="798" r:id="rId36"/>
    <p:sldId id="799" r:id="rId37"/>
    <p:sldId id="800" r:id="rId38"/>
    <p:sldId id="801" r:id="rId39"/>
    <p:sldId id="803" r:id="rId40"/>
    <p:sldId id="802" r:id="rId41"/>
    <p:sldId id="719" r:id="rId42"/>
    <p:sldId id="720" r:id="rId43"/>
    <p:sldId id="741" r:id="rId44"/>
    <p:sldId id="742" r:id="rId45"/>
    <p:sldId id="743" r:id="rId46"/>
    <p:sldId id="744" r:id="rId47"/>
    <p:sldId id="745" r:id="rId48"/>
    <p:sldId id="746" r:id="rId49"/>
    <p:sldId id="747" r:id="rId50"/>
    <p:sldId id="748" r:id="rId51"/>
    <p:sldId id="749" r:id="rId52"/>
    <p:sldId id="750" r:id="rId53"/>
    <p:sldId id="751" r:id="rId54"/>
    <p:sldId id="752" r:id="rId55"/>
    <p:sldId id="753" r:id="rId56"/>
    <p:sldId id="754" r:id="rId57"/>
    <p:sldId id="755" r:id="rId58"/>
    <p:sldId id="756" r:id="rId59"/>
    <p:sldId id="757" r:id="rId60"/>
    <p:sldId id="758" r:id="rId61"/>
    <p:sldId id="759" r:id="rId62"/>
    <p:sldId id="597" r:id="rId63"/>
  </p:sldIdLst>
  <p:sldSz cx="9118600" cy="6845300"/>
  <p:notesSz cx="6858000" cy="9144000"/>
  <p:custDataLst>
    <p:tags r:id="rId67"/>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1pPr>
    <a:lvl2pPr marL="455930" lvl="1"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3130" lvl="2"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0330" lvl="3"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7530" lvl="4"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vl6pPr marL="2286000" lvl="5"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6pPr>
    <a:lvl7pPr marL="2743200" lvl="6"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7pPr>
    <a:lvl8pPr marL="3200400" lvl="7"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8pPr>
    <a:lvl9pPr marL="3657600" lvl="8"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97" d="100"/>
          <a:sy n="97" d="100"/>
        </p:scale>
        <p:origin x="208" y="72"/>
      </p:cViewPr>
      <p:guideLst>
        <p:guide orient="horz" pos="2156"/>
        <p:guide pos="287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7" Type="http://schemas.openxmlformats.org/officeDocument/2006/relationships/tags" Target="tags/tag1.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19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0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8" name="Rectangle 4"/>
          <p:cNvSpPr>
            <a:spLocks noRot="1" noTextEdit="1"/>
          </p:cNvSpPr>
          <p:nvPr>
            <p:ph type="sldImg" idx="2"/>
          </p:nvPr>
        </p:nvSpPr>
        <p:spPr>
          <a:xfrm>
            <a:off x="1144588" y="685800"/>
            <a:ext cx="4568825" cy="3429000"/>
          </a:xfrm>
          <a:prstGeom prst="rect">
            <a:avLst/>
          </a:prstGeom>
          <a:noFill/>
          <a:ln w="9525" cap="flat" cmpd="sng">
            <a:solidFill>
              <a:srgbClr val="000000"/>
            </a:solidFill>
            <a:prstDash val="solid"/>
            <a:miter/>
            <a:headEnd type="none" w="med" len="med"/>
            <a:tailEnd type="none" w="med" len="med"/>
          </a:ln>
        </p:spPr>
      </p:sp>
      <p:sp>
        <p:nvSpPr>
          <p:cNvPr id="25190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593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313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033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753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8758036-D53B-49DD-A955-91D4FB633B3C}"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593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313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033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753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199765"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16387" name="Rectangle 2"/>
          <p:cNvSpPr>
            <a:spLocks noRot="1" noTextEdit="1"/>
          </p:cNvSpPr>
          <p:nvPr>
            <p:ph type="sldImg"/>
          </p:nvPr>
        </p:nvSpPr>
        <p:spPr/>
      </p:sp>
      <p:sp>
        <p:nvSpPr>
          <p:cNvPr id="16388"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18435" name="Rectangle 2"/>
          <p:cNvSpPr>
            <a:spLocks noRot="1" noTextEdit="1"/>
          </p:cNvSpPr>
          <p:nvPr>
            <p:ph type="sldImg"/>
          </p:nvPr>
        </p:nvSpPr>
        <p:spPr/>
      </p:sp>
      <p:sp>
        <p:nvSpPr>
          <p:cNvPr id="18436"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0483" name="Rectangle 2"/>
          <p:cNvSpPr>
            <a:spLocks noRot="1" noTextEdit="1"/>
          </p:cNvSpPr>
          <p:nvPr>
            <p:ph type="sldImg"/>
          </p:nvPr>
        </p:nvSpPr>
        <p:spPr/>
      </p:sp>
      <p:sp>
        <p:nvSpPr>
          <p:cNvPr id="20484"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2531" name="Rectangle 2"/>
          <p:cNvSpPr>
            <a:spLocks noRot="1" noTextEdit="1"/>
          </p:cNvSpPr>
          <p:nvPr>
            <p:ph type="sldImg"/>
          </p:nvPr>
        </p:nvSpPr>
        <p:spPr/>
      </p:sp>
      <p:sp>
        <p:nvSpPr>
          <p:cNvPr id="22532"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4579" name="Rectangle 2"/>
          <p:cNvSpPr>
            <a:spLocks noRot="1" noTextEdit="1"/>
          </p:cNvSpPr>
          <p:nvPr>
            <p:ph type="sldImg"/>
          </p:nvPr>
        </p:nvSpPr>
        <p:spPr/>
      </p:sp>
      <p:sp>
        <p:nvSpPr>
          <p:cNvPr id="24580"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6627" name="Rectangle 2"/>
          <p:cNvSpPr>
            <a:spLocks noRot="1" noTextEdit="1"/>
          </p:cNvSpPr>
          <p:nvPr>
            <p:ph type="sldImg"/>
          </p:nvPr>
        </p:nvSpPr>
        <p:spPr/>
      </p:sp>
      <p:sp>
        <p:nvSpPr>
          <p:cNvPr id="26628"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8675" name="Rectangle 2"/>
          <p:cNvSpPr>
            <a:spLocks noRot="1" noTextEdit="1"/>
          </p:cNvSpPr>
          <p:nvPr>
            <p:ph type="sldImg"/>
          </p:nvPr>
        </p:nvSpPr>
        <p:spPr/>
      </p:sp>
      <p:sp>
        <p:nvSpPr>
          <p:cNvPr id="28676"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1918" y="1369060"/>
            <a:ext cx="7829838" cy="1825413"/>
          </a:xfrm>
          <a:ln>
            <a:noFill/>
          </a:ln>
        </p:spPr>
        <p:txBody>
          <a:bodyPr tIns="0" rIns="18242">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531920" y="3222557"/>
            <a:ext cx="7832877" cy="1749354"/>
          </a:xfrm>
        </p:spPr>
        <p:txBody>
          <a:bodyPr lIns="0" rIns="18242"/>
          <a:lstStyle>
            <a:lvl1pPr marL="0" marR="45720" indent="0" algn="r">
              <a:buNone/>
              <a:defRPr>
                <a:solidFill>
                  <a:schemeClr val="tx1"/>
                </a:solidFill>
              </a:defRPr>
            </a:lvl1pPr>
            <a:lvl2pPr marL="455930" indent="0" algn="ctr">
              <a:buNone/>
            </a:lvl2pPr>
            <a:lvl3pPr marL="911860" indent="0" algn="ctr">
              <a:buNone/>
            </a:lvl3pPr>
            <a:lvl4pPr marL="1368425" indent="0" algn="ctr">
              <a:buNone/>
            </a:lvl4pPr>
            <a:lvl5pPr marL="1824355" indent="0" algn="ctr">
              <a:buNone/>
            </a:lvl5pPr>
            <a:lvl6pPr marL="2280285" indent="0" algn="ctr">
              <a:buNone/>
            </a:lvl6pPr>
            <a:lvl7pPr marL="2736215" indent="0" algn="ctr">
              <a:buNone/>
            </a:lvl7pPr>
            <a:lvl8pPr marL="3192145" indent="0" algn="ctr">
              <a:buNone/>
            </a:lvl8pPr>
            <a:lvl9pPr marL="3648710" indent="0" algn="ctr">
              <a:buNone/>
            </a:lvl9pPr>
          </a:lstStyle>
          <a:p>
            <a:r>
              <a:rPr lang="zh-CN" altLang="en-US" smtClean="0"/>
              <a:t>单击此处编辑母版副标题样式</a:t>
            </a:r>
            <a:endParaRPr lang="en-US"/>
          </a:p>
        </p:txBody>
      </p:sp>
      <p:sp>
        <p:nvSpPr>
          <p:cNvPr id="14" name="日期占位符 29"/>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18"/>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26"/>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50B253B1-59E2-4354-A8DD-7D836E584335}" type="slidenum">
              <a:rPr kumimoji="0" lang="en-US" altLang="zh-CN" sz="1200" b="1" i="0" u="none" strike="noStrike" kern="1200" cap="none" spc="0" normalizeH="0" baseline="0" noProof="0" smtClean="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8879" y="1314299"/>
            <a:ext cx="7750810" cy="1359933"/>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528879" y="2699655"/>
            <a:ext cx="7750810" cy="1506916"/>
          </a:xfrm>
        </p:spPr>
        <p:txBody>
          <a:bodyPr lIns="45605" rIns="45605"/>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4" name="日期占位符 3"/>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4"/>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5"/>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87CEA037-DCE9-4AB9-899D-F956CEBC0D32}" type="slidenum">
              <a:rPr kumimoji="0" lang="en-US" altLang="zh-CN" sz="1200" b="1" i="0" u="none" strike="noStrike" kern="1200" cap="none" spc="0" normalizeH="0" baseline="0" noProof="0" smtClean="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455930"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35288"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5930" y="1851812"/>
            <a:ext cx="4028965" cy="658131"/>
          </a:xfrm>
        </p:spPr>
        <p:txBody>
          <a:bodyPr lIns="45605" tIns="0" rIns="45605"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32124" y="1856315"/>
            <a:ext cx="4030548" cy="653630"/>
          </a:xfrm>
        </p:spPr>
        <p:txBody>
          <a:bodyPr lIns="45605" tIns="0" rIns="45605"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5930" y="2509943"/>
            <a:ext cx="4028965"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32124" y="2509943"/>
            <a:ext cx="4030548"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82728" cy="1140883"/>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3895" y="513400"/>
            <a:ext cx="2735580" cy="115989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683895" y="1673297"/>
            <a:ext cx="2735580" cy="4563533"/>
          </a:xfrm>
        </p:spPr>
        <p:txBody>
          <a:bodyPr lIns="18242" rIns="18242"/>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3565119" y="1673297"/>
            <a:ext cx="5097551" cy="4563533"/>
          </a:xfrm>
        </p:spPr>
        <p:txBody>
          <a:bodyPr tIns="0"/>
          <a:lstStyle>
            <a:lvl1pPr>
              <a:defRPr sz="2800"/>
            </a:lvl1pPr>
            <a:lvl2pPr>
              <a:defRPr sz="2600"/>
            </a:lvl2pPr>
            <a:lvl3pPr>
              <a:defRPr sz="2400"/>
            </a:lvl3pPr>
            <a:lvl4pPr>
              <a:defRPr sz="20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 name="单圆角矩形 13"/>
          <p:cNvSpPr/>
          <p:nvPr/>
        </p:nvSpPr>
        <p:spPr>
          <a:xfrm rot="420000" flipV="1">
            <a:off x="3157538" y="1106488"/>
            <a:ext cx="5241925" cy="4106863"/>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212" tIns="45605" rIns="91212" bIns="4560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直角三角形 14"/>
          <p:cNvSpPr/>
          <p:nvPr/>
        </p:nvSpPr>
        <p:spPr>
          <a:xfrm rot="420000" flipV="1">
            <a:off x="7981950" y="5349875"/>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212" tIns="45605" rIns="91212" bIns="4560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任意多边形 15"/>
          <p:cNvSpPr/>
          <p:nvPr/>
        </p:nvSpPr>
        <p:spPr bwMode="auto">
          <a:xfrm flipV="1">
            <a:off x="-9525" y="5805488"/>
            <a:ext cx="9137650" cy="103981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12" tIns="45605" rIns="91212" bIns="45605"/>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7" name="任意多边形 16"/>
          <p:cNvSpPr/>
          <p:nvPr/>
        </p:nvSpPr>
        <p:spPr bwMode="auto">
          <a:xfrm flipV="1">
            <a:off x="4368800" y="6208713"/>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12" tIns="45605" rIns="91212" bIns="45605"/>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607908" y="1174818"/>
            <a:ext cx="2206701" cy="1579690"/>
          </a:xfrm>
        </p:spPr>
        <p:txBody>
          <a:bodyPr lIns="45605" rIns="45605" bIns="45605"/>
          <a:lstStyle>
            <a:lvl1pPr algn="l">
              <a:buNone/>
              <a:defRPr sz="2000" b="1">
                <a:solidFill>
                  <a:schemeClr val="tx2"/>
                </a:solidFill>
              </a:defRPr>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607907" y="2823547"/>
            <a:ext cx="2203662" cy="2175284"/>
          </a:xfrm>
        </p:spPr>
        <p:txBody>
          <a:bodyPr lIns="63847" rIns="45605"/>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rot="420000">
            <a:off x="3476110" y="1197297"/>
            <a:ext cx="4604893" cy="3924639"/>
          </a:xfrm>
          <a:prstGeom prst="rect">
            <a:avLst/>
          </a:prstGeom>
          <a:solidFill>
            <a:schemeClr val="bg2"/>
          </a:solidFill>
          <a:ln w="3000" cap="rnd">
            <a:solidFill>
              <a:srgbClr val="C0C0C0"/>
            </a:solidFill>
            <a:round/>
          </a:ln>
          <a:effectLst/>
        </p:spPr>
        <p:txBody>
          <a:bodyPr vert="horz" wrap="square" lIns="91212" tIns="45605" rIns="91212" bIns="45605"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9" name="日期占位符 4"/>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0" name="页脚占位符 5"/>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1" name="灯片编号占位符 6"/>
          <p:cNvSpPr>
            <a:spLocks noGrp="1"/>
          </p:cNvSpPr>
          <p:nvPr>
            <p:ph type="sldNum" sz="quarter" idx="4"/>
          </p:nvPr>
        </p:nvSpPr>
        <p:spPr>
          <a:xfrm>
            <a:off x="8054975" y="6345238"/>
            <a:ext cx="6080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60283205-D5DF-4AC4-AF31-A4EBEDD8654F}"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986" y="912709"/>
            <a:ext cx="2051685" cy="5202112"/>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5930" y="912709"/>
            <a:ext cx="6003078" cy="520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4213" y="152400"/>
            <a:ext cx="7978775" cy="7905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5613" y="1141413"/>
            <a:ext cx="4027487" cy="52482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35500" y="1141413"/>
            <a:ext cx="4027488" cy="52482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4" name="日期占位符 4"/>
          <p:cNvSpPr>
            <a:spLocks noGrp="1"/>
          </p:cNvSpPr>
          <p:nvPr>
            <p:ph type="dt" sz="half" idx="12"/>
          </p:nvPr>
        </p:nvSpPr>
        <p:spPr>
          <a:xfrm>
            <a:off x="455613" y="6464300"/>
            <a:ext cx="2127250" cy="244475"/>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灯片编号占位符 5"/>
          <p:cNvSpPr>
            <a:spLocks noGrp="1"/>
          </p:cNvSpPr>
          <p:nvPr>
            <p:ph type="sldNum" sz="quarter" idx="4"/>
          </p:nvPr>
        </p:nvSpPr>
        <p:spPr>
          <a:xfrm>
            <a:off x="6610350" y="6464300"/>
            <a:ext cx="2128838" cy="244475"/>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91892496-6513-4DEC-9F74-DD67CC36471F}"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3"/>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7" name="任意多边形 6"/>
          <p:cNvSpPr/>
          <p:nvPr/>
        </p:nvSpPr>
        <p:spPr bwMode="auto">
          <a:xfrm>
            <a:off x="-9525" y="-6350"/>
            <a:ext cx="9137650" cy="103822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12" tIns="45605" rIns="91212" bIns="45605"/>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8" name="任意多边形 7"/>
          <p:cNvSpPr/>
          <p:nvPr/>
        </p:nvSpPr>
        <p:spPr bwMode="auto">
          <a:xfrm>
            <a:off x="4368800" y="-6350"/>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12" tIns="45605" rIns="91212" bIns="45605"/>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028" name="标题占位符 8"/>
          <p:cNvSpPr>
            <a:spLocks noGrp="1"/>
          </p:cNvSpPr>
          <p:nvPr>
            <p:ph type="title"/>
          </p:nvPr>
        </p:nvSpPr>
        <p:spPr>
          <a:xfrm>
            <a:off x="455613" y="703263"/>
            <a:ext cx="8207375" cy="1139825"/>
          </a:xfrm>
          <a:prstGeom prst="rect">
            <a:avLst/>
          </a:prstGeom>
          <a:noFill/>
          <a:ln w="9525">
            <a:noFill/>
          </a:ln>
        </p:spPr>
        <p:txBody>
          <a:bodyPr lIns="0" tIns="45605" rIns="0" bIns="0" anchor="b" anchorCtr="0"/>
          <a:p>
            <a:pPr lvl="0"/>
            <a:r>
              <a:rPr lang="zh-CN" altLang="en-US" dirty="0"/>
              <a:t>单击此处编辑母版标题样式</a:t>
            </a:r>
            <a:endParaRPr lang="en-US" altLang="zh-CN" dirty="0"/>
          </a:p>
        </p:txBody>
      </p:sp>
      <p:sp>
        <p:nvSpPr>
          <p:cNvPr id="1029" name="文本占位符 29"/>
          <p:cNvSpPr>
            <a:spLocks noGrp="1"/>
          </p:cNvSpPr>
          <p:nvPr>
            <p:ph type="body" idx="1"/>
          </p:nvPr>
        </p:nvSpPr>
        <p:spPr>
          <a:xfrm>
            <a:off x="455613" y="1931988"/>
            <a:ext cx="8207375" cy="4381500"/>
          </a:xfrm>
          <a:prstGeom prst="rect">
            <a:avLst/>
          </a:prstGeom>
          <a:noFill/>
          <a:ln w="9525">
            <a:noFill/>
          </a:ln>
        </p:spPr>
        <p:txBody>
          <a:bodyPr lIns="91212" tIns="45605" rIns="91212" bIns="45605"/>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455613" y="6345238"/>
            <a:ext cx="2127250"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2"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8"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lgn="r" eaLnBrk="1" hangingPunct="1">
              <a:buFont typeface="Wingdings" panose="05000000000000000000" pitchFamily="2" charset="2"/>
              <a:buNone/>
              <a:defRPr kumimoji="0"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E0DBFBD-636C-47B1-8157-E4983A127F3C}" type="slidenum">
              <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smtClean="0">
              <a:ln>
                <a:noFill/>
              </a:ln>
              <a:solidFill>
                <a:srgbClr val="045C75"/>
              </a:solidFill>
              <a:effectLst/>
              <a:uLnTx/>
              <a:uFillTx/>
              <a:latin typeface="黑体" panose="02010609060101010101" pitchFamily="49" charset="-122"/>
              <a:ea typeface="黑体" panose="02010609060101010101" pitchFamily="49" charset="-122"/>
              <a:cs typeface="+mn-cs"/>
            </a:endParaRPr>
          </a:p>
        </p:txBody>
      </p:sp>
      <p:grpSp>
        <p:nvGrpSpPr>
          <p:cNvPr id="1033" name="组合 1"/>
          <p:cNvGrpSpPr/>
          <p:nvPr/>
        </p:nvGrpSpPr>
        <p:grpSpPr>
          <a:xfrm>
            <a:off x="-19050" y="201613"/>
            <a:ext cx="91551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160"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8845"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2530"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5930" algn="l" rtl="0" eaLnBrk="1" latinLnBrk="0" hangingPunct="1">
        <a:defRPr kumimoji="0" kern="1200">
          <a:solidFill>
            <a:schemeClr val="tx1"/>
          </a:solidFill>
          <a:latin typeface="+mn-lt"/>
          <a:ea typeface="+mn-ea"/>
          <a:cs typeface="+mn-cs"/>
        </a:defRPr>
      </a:lvl2pPr>
      <a:lvl3pPr marL="911860" algn="l" rtl="0" eaLnBrk="1" latinLnBrk="0" hangingPunct="1">
        <a:defRPr kumimoji="0" kern="1200">
          <a:solidFill>
            <a:schemeClr val="tx1"/>
          </a:solidFill>
          <a:latin typeface="+mn-lt"/>
          <a:ea typeface="+mn-ea"/>
          <a:cs typeface="+mn-cs"/>
        </a:defRPr>
      </a:lvl3pPr>
      <a:lvl4pPr marL="1368425" algn="l" rtl="0" eaLnBrk="1" latinLnBrk="0" hangingPunct="1">
        <a:defRPr kumimoji="0" kern="1200">
          <a:solidFill>
            <a:schemeClr val="tx1"/>
          </a:solidFill>
          <a:latin typeface="+mn-lt"/>
          <a:ea typeface="+mn-ea"/>
          <a:cs typeface="+mn-cs"/>
        </a:defRPr>
      </a:lvl4pPr>
      <a:lvl5pPr marL="1824355" algn="l" rtl="0" eaLnBrk="1" latinLnBrk="0" hangingPunct="1">
        <a:defRPr kumimoji="0" kern="1200">
          <a:solidFill>
            <a:schemeClr val="tx1"/>
          </a:solidFill>
          <a:latin typeface="+mn-lt"/>
          <a:ea typeface="+mn-ea"/>
          <a:cs typeface="+mn-cs"/>
        </a:defRPr>
      </a:lvl5pPr>
      <a:lvl6pPr marL="2280285" algn="l" rtl="0" eaLnBrk="1" latinLnBrk="0" hangingPunct="1">
        <a:defRPr kumimoji="0" kern="1200">
          <a:solidFill>
            <a:schemeClr val="tx1"/>
          </a:solidFill>
          <a:latin typeface="+mn-lt"/>
          <a:ea typeface="+mn-ea"/>
          <a:cs typeface="+mn-cs"/>
        </a:defRPr>
      </a:lvl6pPr>
      <a:lvl7pPr marL="2736215" algn="l" rtl="0" eaLnBrk="1" latinLnBrk="0" hangingPunct="1">
        <a:defRPr kumimoji="0" kern="1200">
          <a:solidFill>
            <a:schemeClr val="tx1"/>
          </a:solidFill>
          <a:latin typeface="+mn-lt"/>
          <a:ea typeface="+mn-ea"/>
          <a:cs typeface="+mn-cs"/>
        </a:defRPr>
      </a:lvl7pPr>
      <a:lvl8pPr marL="3192145" algn="l" rtl="0" eaLnBrk="1" latinLnBrk="0" hangingPunct="1">
        <a:defRPr kumimoji="0" kern="1200">
          <a:solidFill>
            <a:schemeClr val="tx1"/>
          </a:solidFill>
          <a:latin typeface="+mn-lt"/>
          <a:ea typeface="+mn-ea"/>
          <a:cs typeface="+mn-cs"/>
        </a:defRPr>
      </a:lvl8pPr>
      <a:lvl9pPr marL="364871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6.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emf"/><Relationship Id="rId7" Type="http://schemas.openxmlformats.org/officeDocument/2006/relationships/oleObject" Target="&#32472;&#22270;1\Drawing\~&#27963;&#21160;-1\&#27891;&#36947;" TargetMode="Externa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 Id="rId3" Type="http://schemas.openxmlformats.org/officeDocument/2006/relationships/image" Target="../media/image17.emf"/><Relationship Id="rId2" Type="http://schemas.openxmlformats.org/officeDocument/2006/relationships/image" Target="../media/image16.wmf"/><Relationship Id="rId10" Type="http://schemas.openxmlformats.org/officeDocument/2006/relationships/vmlDrawing" Target="../drawings/vmlDrawing4.vml"/><Relationship Id="rId1"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image" Target="../media/image11.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noChangeArrowheads="1"/>
          </p:cNvSpPr>
          <p:nvPr>
            <p:ph type="ctrTitle"/>
          </p:nvPr>
        </p:nvSpPr>
        <p:spPr bwMode="auto">
          <a:xfrm>
            <a:off x="531918" y="1064825"/>
            <a:ext cx="7750810" cy="1459380"/>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42"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rPr>
              <a:t>软 件 工 程 导 论</a:t>
            </a:r>
            <a:endPar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endParaRPr>
          </a:p>
        </p:txBody>
      </p:sp>
      <p:sp>
        <p:nvSpPr>
          <p:cNvPr id="7171" name="Rectangle 3"/>
          <p:cNvSpPr>
            <a:spLocks noGrp="1" noRot="1"/>
          </p:cNvSpPr>
          <p:nvPr>
            <p:ph type="subTitle" idx="1"/>
          </p:nvPr>
        </p:nvSpPr>
        <p:spPr>
          <a:xfrm>
            <a:off x="1389063" y="3228975"/>
            <a:ext cx="6381750" cy="2551113"/>
          </a:xfrm>
        </p:spPr>
        <p:txBody>
          <a:bodyPr vert="horz" wrap="square" lIns="0" tIns="45605" rIns="18242" bIns="45605" anchor="t" anchorCtr="0"/>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刘春</a:t>
            </a:r>
            <a:endParaRPr lang="en-US" altLang="zh-CN"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endParaRPr lang="zh-CN" altLang="en-US"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计算机与信息工程学院 数据科学系</a:t>
            </a:r>
            <a:endParaRPr lang="zh-CN" altLang="en-US" sz="2800" b="1" kern="1200" dirty="0">
              <a:latin typeface="楷体_GB2312" pitchFamily="49" charset="-122"/>
              <a:ea typeface="楷体_GB2312"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a:xfrm>
            <a:off x="455295" y="5079365"/>
            <a:ext cx="8759825" cy="1139825"/>
          </a:xfrm>
        </p:spPr>
        <p:txBody>
          <a:bodyPr vert="horz" wrap="square" lIns="0" tIns="45605" rIns="0" bIns="0" anchor="b" anchorCtr="0"/>
          <a:p>
            <a:pPr eaLnBrk="1" hangingPunct="1">
              <a:buNone/>
            </a:pPr>
            <a:r>
              <a:rPr lang="zh-CN" altLang="en-US" sz="4800" b="1" dirty="0">
                <a:latin typeface="微软雅黑" panose="020B0503020204020204" pitchFamily="34" charset="-122"/>
                <a:ea typeface="微软雅黑" panose="020B0503020204020204" pitchFamily="34" charset="-122"/>
              </a:rPr>
              <a:t>第一次课：软件工程概述</a:t>
            </a:r>
            <a:br>
              <a:rPr lang="en-US" altLang="zh-CN" sz="4800" b="1" dirty="0">
                <a:latin typeface="微软雅黑" panose="020B0503020204020204" pitchFamily="34" charset="-122"/>
                <a:ea typeface="微软雅黑" panose="020B0503020204020204" pitchFamily="34" charset="-122"/>
              </a:rPr>
            </a:br>
            <a:r>
              <a:rPr lang="zh-CN" altLang="en-US" sz="4800" b="1" dirty="0">
                <a:latin typeface="微软雅黑" panose="020B0503020204020204" pitchFamily="34" charset="-122"/>
                <a:ea typeface="微软雅黑" panose="020B0503020204020204" pitchFamily="34" charset="-122"/>
              </a:rPr>
              <a:t>第二次课：软件过程模型</a:t>
            </a:r>
            <a:br>
              <a:rPr lang="en-US" altLang="zh-CN" sz="4800" b="1" dirty="0">
                <a:latin typeface="微软雅黑" panose="020B0503020204020204" pitchFamily="34" charset="-122"/>
                <a:ea typeface="微软雅黑" panose="020B0503020204020204" pitchFamily="34" charset="-122"/>
              </a:rPr>
            </a:br>
            <a:r>
              <a:rPr lang="zh-CN" altLang="en-US" sz="4800" b="1" dirty="0">
                <a:latin typeface="微软雅黑" panose="020B0503020204020204" pitchFamily="34" charset="-122"/>
                <a:ea typeface="微软雅黑" panose="020B0503020204020204" pitchFamily="34" charset="-122"/>
              </a:rPr>
              <a:t>第三次课：敏捷软件过程</a:t>
            </a:r>
            <a:br>
              <a:rPr lang="en-US" altLang="zh-CN" sz="4800" b="1" dirty="0">
                <a:latin typeface="微软雅黑" panose="020B0503020204020204" pitchFamily="34" charset="-122"/>
                <a:ea typeface="微软雅黑" panose="020B0503020204020204" pitchFamily="34" charset="-122"/>
              </a:rPr>
            </a:br>
            <a:r>
              <a:rPr lang="zh-CN" altLang="en-US" sz="4800" b="1" dirty="0">
                <a:latin typeface="微软雅黑" panose="020B0503020204020204" pitchFamily="34" charset="-122"/>
                <a:ea typeface="微软雅黑" panose="020B0503020204020204" pitchFamily="34" charset="-122"/>
              </a:rPr>
              <a:t>第四次课：面向对象的需求分析</a:t>
            </a:r>
            <a:br>
              <a:rPr lang="en-US" altLang="zh-CN" sz="4800" b="1" dirty="0">
                <a:latin typeface="微软雅黑" panose="020B0503020204020204" pitchFamily="34" charset="-122"/>
                <a:ea typeface="微软雅黑" panose="020B0503020204020204" pitchFamily="34" charset="-122"/>
              </a:rPr>
            </a:br>
            <a:r>
              <a:rPr lang="zh-CN" altLang="en-US" sz="4800" b="1" dirty="0">
                <a:latin typeface="微软雅黑" panose="020B0503020204020204" pitchFamily="34" charset="-122"/>
                <a:ea typeface="微软雅黑" panose="020B0503020204020204" pitchFamily="34" charset="-122"/>
              </a:rPr>
              <a:t>第五次课：结构化需求分析</a:t>
            </a:r>
            <a:br>
              <a:rPr lang="zh-CN" altLang="en-US" sz="4800" b="1" dirty="0">
                <a:latin typeface="微软雅黑" panose="020B0503020204020204" pitchFamily="34" charset="-122"/>
                <a:ea typeface="微软雅黑" panose="020B0503020204020204" pitchFamily="34" charset="-122"/>
              </a:rPr>
            </a:br>
            <a:r>
              <a:rPr lang="zh-CN" altLang="en-US" sz="4800" b="1" dirty="0">
                <a:latin typeface="微软雅黑" panose="020B0503020204020204" pitchFamily="34" charset="-122"/>
                <a:ea typeface="微软雅黑" panose="020B0503020204020204" pitchFamily="34" charset="-122"/>
                <a:sym typeface="+mn-ea"/>
              </a:rPr>
              <a:t>第六次课：面向对象的基础</a:t>
            </a:r>
            <a:br>
              <a:rPr lang="zh-CN" altLang="en-US" sz="4800" b="1" dirty="0">
                <a:latin typeface="微软雅黑" panose="020B0503020204020204" pitchFamily="34" charset="-122"/>
                <a:ea typeface="微软雅黑" panose="020B0503020204020204" pitchFamily="34" charset="-122"/>
                <a:sym typeface="+mn-ea"/>
              </a:rPr>
            </a:br>
            <a:endParaRPr lang="zh-CN" altLang="en-US" sz="4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a:xfrm>
            <a:off x="455613" y="538163"/>
            <a:ext cx="8207375" cy="1139825"/>
          </a:xfrm>
        </p:spPr>
        <p:txBody>
          <a:bodyPr vert="horz" wrap="square" lIns="0" tIns="45605" rIns="0" bIns="0" anchor="b" anchorCtr="0"/>
          <a:p>
            <a:pPr eaLnBrk="1" hangingPunct="1"/>
            <a:r>
              <a:rPr lang="zh-CN" altLang="en-US" b="1" dirty="0">
                <a:latin typeface="微软雅黑" panose="020B0503020204020204" pitchFamily="34" charset="-122"/>
                <a:ea typeface="微软雅黑" panose="020B0503020204020204" pitchFamily="34" charset="-122"/>
              </a:rPr>
              <a:t>软件开发方法</a:t>
            </a:r>
            <a:endParaRPr lang="zh-CN" altLang="en-US" b="1" dirty="0">
              <a:latin typeface="微软雅黑" panose="020B0503020204020204" pitchFamily="34" charset="-122"/>
              <a:ea typeface="微软雅黑" panose="020B0503020204020204" pitchFamily="34" charset="-122"/>
            </a:endParaRPr>
          </a:p>
        </p:txBody>
      </p:sp>
      <p:sp>
        <p:nvSpPr>
          <p:cNvPr id="7171" name="Rectangle 2"/>
          <p:cNvSpPr>
            <a:spLocks noChangeArrowheads="1"/>
          </p:cNvSpPr>
          <p:nvPr/>
        </p:nvSpPr>
        <p:spPr bwMode="auto">
          <a:xfrm>
            <a:off x="0" y="-227012"/>
            <a:ext cx="1841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395"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graphicFrame>
        <p:nvGraphicFramePr>
          <p:cNvPr id="10244" name="对象 2"/>
          <p:cNvGraphicFramePr>
            <a:graphicFrameLocks noChangeAspect="1"/>
          </p:cNvGraphicFramePr>
          <p:nvPr/>
        </p:nvGraphicFramePr>
        <p:xfrm>
          <a:off x="987425" y="1903413"/>
          <a:ext cx="6838950" cy="4773612"/>
        </p:xfrm>
        <a:graphic>
          <a:graphicData uri="http://schemas.openxmlformats.org/presentationml/2006/ole">
            <mc:AlternateContent xmlns:mc="http://schemas.openxmlformats.org/markup-compatibility/2006">
              <mc:Choice xmlns:v="urn:schemas-microsoft-com:vml" Requires="v">
                <p:oleObj spid="_x0000_s3077" name="" r:id="rId1" imgW="9652000" imgH="6261100" progId="Visio.Drawing.11">
                  <p:embed/>
                </p:oleObj>
              </mc:Choice>
              <mc:Fallback>
                <p:oleObj name="" r:id="rId1" imgW="9652000" imgH="6261100" progId="Visio.Drawing.11">
                  <p:embed/>
                  <p:pic>
                    <p:nvPicPr>
                      <p:cNvPr id="0" name="图片 3076"/>
                      <p:cNvPicPr/>
                      <p:nvPr/>
                    </p:nvPicPr>
                    <p:blipFill>
                      <a:blip r:embed="rId2"/>
                      <a:stretch>
                        <a:fillRect/>
                      </a:stretch>
                    </p:blipFill>
                    <p:spPr>
                      <a:xfrm>
                        <a:off x="987425" y="1903413"/>
                        <a:ext cx="6838950" cy="4773612"/>
                      </a:xfrm>
                      <a:prstGeom prst="rect">
                        <a:avLst/>
                      </a:prstGeom>
                      <a:noFill/>
                      <a:ln w="38100">
                        <a:noFill/>
                        <a:miter/>
                      </a:ln>
                    </p:spPr>
                  </p:pic>
                </p:oleObj>
              </mc:Fallback>
            </mc:AlternateContent>
          </a:graphicData>
        </a:graphic>
      </p:graphicFrame>
      <p:cxnSp>
        <p:nvCxnSpPr>
          <p:cNvPr id="3" name="直接箭头连接符 2"/>
          <p:cNvCxnSpPr/>
          <p:nvPr/>
        </p:nvCxnSpPr>
        <p:spPr>
          <a:xfrm>
            <a:off x="4200525" y="1985963"/>
            <a:ext cx="2370138" cy="387826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205413" y="1627188"/>
            <a:ext cx="2370138" cy="3878263"/>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430713" y="2227263"/>
            <a:ext cx="1423988" cy="828675"/>
          </a:xfrm>
          <a:prstGeom prst="rect">
            <a:avLst/>
          </a:prstGeom>
          <a:noFill/>
        </p:spPr>
        <p:txBody>
          <a:bodyPr>
            <a:spAutoFit/>
          </a:bodyPr>
          <a:lstStyle/>
          <a:p>
            <a:pPr marR="0" defTabSz="914400" eaLnBrk="1" hangingPunct="1">
              <a:buClrTx/>
              <a:buSzTx/>
              <a:buFont typeface="Wingdings" panose="05000000000000000000" pitchFamily="2" charset="2"/>
              <a:buNone/>
              <a:defRPr/>
            </a:pPr>
            <a:r>
              <a:rPr kumimoji="1" lang="zh-CN" altLang="en-US" sz="2395" kern="1200" cap="none" spc="0" normalizeH="0" baseline="0" noProof="0" dirty="0">
                <a:solidFill>
                  <a:schemeClr val="accent1"/>
                </a:solidFill>
                <a:latin typeface="黑体" panose="02010609060101010101" pitchFamily="49" charset="-122"/>
                <a:ea typeface="黑体" panose="02010609060101010101" pitchFamily="49" charset="-122"/>
                <a:cs typeface="+mn-cs"/>
              </a:rPr>
              <a:t>面向过程的方法</a:t>
            </a:r>
            <a:endParaRPr kumimoji="1" lang="zh-CN" altLang="en-US" sz="2395" kern="1200" cap="none" spc="0" normalizeH="0" baseline="0" noProof="0" dirty="0">
              <a:solidFill>
                <a:schemeClr val="accent1"/>
              </a:solidFill>
              <a:latin typeface="黑体" panose="02010609060101010101" pitchFamily="49" charset="-122"/>
              <a:ea typeface="黑体" panose="02010609060101010101" pitchFamily="49" charset="-122"/>
              <a:cs typeface="+mn-cs"/>
            </a:endParaRPr>
          </a:p>
        </p:txBody>
      </p:sp>
      <p:sp>
        <p:nvSpPr>
          <p:cNvPr id="10" name="文本框 9"/>
          <p:cNvSpPr txBox="1"/>
          <p:nvPr/>
        </p:nvSpPr>
        <p:spPr>
          <a:xfrm>
            <a:off x="6664325" y="4140200"/>
            <a:ext cx="1639888"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defRPr sz="2395">
                <a:solidFill>
                  <a:srgbClr val="FF0000"/>
                </a:solidFill>
                <a:latin typeface="微软雅黑" panose="020B0503020204020204" pitchFamily="34" charset="-122"/>
                <a:ea typeface="微软雅黑" panose="020B0503020204020204" pitchFamily="34" charset="-122"/>
              </a:defRPr>
            </a:lvl1pPr>
            <a:lvl2pPr marL="742950" indent="-285750">
              <a:defRPr sz="1600">
                <a:latin typeface="Comic Sans MS" panose="030F0702030302020204" pitchFamily="66" charset="0"/>
                <a:ea typeface="宋体" panose="02010600030101010101" pitchFamily="2" charset="-122"/>
              </a:defRPr>
            </a:lvl2pPr>
            <a:lvl3pPr marL="1143000" indent="-228600">
              <a:defRPr sz="1600">
                <a:latin typeface="Comic Sans MS" panose="030F0702030302020204" pitchFamily="66" charset="0"/>
                <a:ea typeface="宋体" panose="02010600030101010101" pitchFamily="2" charset="-122"/>
              </a:defRPr>
            </a:lvl3pPr>
            <a:lvl4pPr marL="1600200" indent="-228600">
              <a:defRPr sz="1600">
                <a:latin typeface="Comic Sans MS" panose="030F0702030302020204" pitchFamily="66" charset="0"/>
                <a:ea typeface="宋体" panose="02010600030101010101" pitchFamily="2" charset="-122"/>
              </a:defRPr>
            </a:lvl4pPr>
            <a:lvl5pPr marL="2057400" indent="-228600">
              <a:defRPr sz="1600">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395"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面向对象的方法</a:t>
            </a:r>
            <a:endParaRPr kumimoji="1" lang="zh-CN" altLang="en-US" sz="2395"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66" name="对象 1"/>
          <p:cNvGraphicFramePr>
            <a:graphicFrameLocks noChangeAspect="1"/>
          </p:cNvGraphicFramePr>
          <p:nvPr/>
        </p:nvGraphicFramePr>
        <p:xfrm>
          <a:off x="682625" y="1268413"/>
          <a:ext cx="7826375" cy="5462587"/>
        </p:xfrm>
        <a:graphic>
          <a:graphicData uri="http://schemas.openxmlformats.org/presentationml/2006/ole">
            <mc:AlternateContent xmlns:mc="http://schemas.openxmlformats.org/markup-compatibility/2006">
              <mc:Choice xmlns:v="urn:schemas-microsoft-com:vml" Requires="v">
                <p:oleObj spid="_x0000_s3076" name="" r:id="rId1" imgW="9652000" imgH="6261100" progId="Visio.Drawing.11">
                  <p:embed/>
                </p:oleObj>
              </mc:Choice>
              <mc:Fallback>
                <p:oleObj name="" r:id="rId1" imgW="9652000" imgH="6261100" progId="Visio.Drawing.11">
                  <p:embed/>
                  <p:pic>
                    <p:nvPicPr>
                      <p:cNvPr id="0" name="图片 3075"/>
                      <p:cNvPicPr/>
                      <p:nvPr/>
                    </p:nvPicPr>
                    <p:blipFill>
                      <a:blip r:embed="rId2"/>
                      <a:stretch>
                        <a:fillRect/>
                      </a:stretch>
                    </p:blipFill>
                    <p:spPr>
                      <a:xfrm>
                        <a:off x="682625" y="1268413"/>
                        <a:ext cx="7826375" cy="5462587"/>
                      </a:xfrm>
                      <a:prstGeom prst="rect">
                        <a:avLst/>
                      </a:prstGeom>
                      <a:noFill/>
                      <a:ln w="38100">
                        <a:noFill/>
                        <a:miter/>
                      </a:ln>
                    </p:spPr>
                  </p:pic>
                </p:oleObj>
              </mc:Fallback>
            </mc:AlternateContent>
          </a:graphicData>
        </a:graphic>
      </p:graphicFrame>
      <p:sp>
        <p:nvSpPr>
          <p:cNvPr id="11267" name="标题 1"/>
          <p:cNvSpPr>
            <a:spLocks noGrp="1"/>
          </p:cNvSpPr>
          <p:nvPr>
            <p:ph type="title"/>
          </p:nvPr>
        </p:nvSpPr>
        <p:spPr>
          <a:xfrm>
            <a:off x="393700" y="119063"/>
            <a:ext cx="8207375" cy="1139825"/>
          </a:xfrm>
        </p:spPr>
        <p:txBody>
          <a:bodyPr vert="horz" wrap="square" lIns="0" tIns="45605" rIns="0" bIns="0" anchor="b" anchorCtr="0"/>
          <a:p>
            <a:pPr eaLnBrk="1" hangingPunct="1"/>
            <a:r>
              <a:rPr lang="zh-CN" altLang="en-US" b="1" dirty="0">
                <a:latin typeface="微软雅黑" panose="020B0503020204020204" pitchFamily="34" charset="-122"/>
                <a:ea typeface="微软雅黑" panose="020B0503020204020204" pitchFamily="34" charset="-122"/>
              </a:rPr>
              <a:t>课程进度安排</a:t>
            </a:r>
            <a:endParaRPr lang="zh-CN" altLang="en-US" b="1" dirty="0">
              <a:latin typeface="微软雅黑" panose="020B0503020204020204" pitchFamily="34" charset="-122"/>
              <a:ea typeface="微软雅黑" panose="020B0503020204020204" pitchFamily="34" charset="-122"/>
            </a:endParaRPr>
          </a:p>
        </p:txBody>
      </p:sp>
      <p:sp>
        <p:nvSpPr>
          <p:cNvPr id="43012" name="Rectangle 2"/>
          <p:cNvSpPr>
            <a:spLocks noChangeArrowheads="1"/>
          </p:cNvSpPr>
          <p:nvPr/>
        </p:nvSpPr>
        <p:spPr bwMode="auto">
          <a:xfrm>
            <a:off x="0" y="-165100"/>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cxnSp>
        <p:nvCxnSpPr>
          <p:cNvPr id="3" name="直接箭头连接符 2"/>
          <p:cNvCxnSpPr/>
          <p:nvPr/>
        </p:nvCxnSpPr>
        <p:spPr>
          <a:xfrm>
            <a:off x="4672013" y="1778000"/>
            <a:ext cx="2811463" cy="448310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015" name="文本框 3"/>
          <p:cNvSpPr txBox="1">
            <a:spLocks noChangeArrowheads="1"/>
          </p:cNvSpPr>
          <p:nvPr/>
        </p:nvSpPr>
        <p:spPr bwMode="auto">
          <a:xfrm>
            <a:off x="5965825" y="4000500"/>
            <a:ext cx="1443038"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面向对象的方法</a:t>
            </a:r>
            <a:endPar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1" name="矩形标注 10"/>
          <p:cNvSpPr/>
          <p:nvPr/>
        </p:nvSpPr>
        <p:spPr>
          <a:xfrm>
            <a:off x="5965825" y="2325688"/>
            <a:ext cx="1624013" cy="485775"/>
          </a:xfrm>
          <a:prstGeom prst="wedgeRectCallout">
            <a:avLst>
              <a:gd name="adj1" fmla="val -104674"/>
              <a:gd name="adj2" fmla="val 9869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190" b="1" i="0" u="none" strike="noStrike" kern="1200" cap="none" spc="0" normalizeH="0" baseline="0" noProof="0" dirty="0">
                <a:ln>
                  <a:noFill/>
                </a:ln>
                <a:solidFill>
                  <a:srgbClr val="FFFF00"/>
                </a:solidFill>
                <a:effectLst/>
                <a:uLnTx/>
                <a:uFillTx/>
                <a:latin typeface="+mn-lt"/>
                <a:ea typeface="+mn-ea"/>
                <a:cs typeface="+mn-cs"/>
              </a:rPr>
              <a:t>第四课</a:t>
            </a:r>
            <a:endParaRPr kumimoji="1" lang="zh-CN" altLang="en-US" sz="3190" b="1"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a:xfrm>
            <a:off x="382588" y="758825"/>
            <a:ext cx="8132763" cy="1138238"/>
          </a:xfrm>
        </p:spPr>
        <p:txBody>
          <a:bodyPr vert="horz" wrap="square" lIns="0" tIns="45605"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面向对象方法的需求分析：</a:t>
            </a:r>
            <a:r>
              <a:rPr kumimoji="1" lang="zh-CN" altLang="en-US" sz="50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用例建模</a:t>
            </a:r>
            <a:endParaRPr kumimoji="1" lang="zh-CN" altLang="en-US" sz="4395"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sp>
        <p:nvSpPr>
          <p:cNvPr id="9" name="TextBox 8"/>
          <p:cNvSpPr txBox="1"/>
          <p:nvPr/>
        </p:nvSpPr>
        <p:spPr>
          <a:xfrm>
            <a:off x="530225" y="2054225"/>
            <a:ext cx="8583613" cy="4121150"/>
          </a:xfrm>
          <a:prstGeom prst="rect">
            <a:avLst/>
          </a:prstGeom>
          <a:noFill/>
        </p:spPr>
        <p:txBody>
          <a:bodyPr lIns="91346" tIns="45673" rIns="91346" bIns="45673">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用例建模就是建立系统的用例模型</a:t>
            </a:r>
            <a:endParaRPr kumimoji="1" lang="en-US" altLang="zh-CN" sz="2600" kern="1200" cap="none" spc="0" normalizeH="0" baseline="0" noProof="0" dirty="0">
              <a:latin typeface="+mn-lt"/>
              <a:ea typeface="+mn-ea"/>
              <a:cs typeface="+mn-cs"/>
            </a:endParaRPr>
          </a:p>
          <a:p>
            <a:pPr marL="273050" marR="0" indent="-273050" defTabSz="914400" eaLnBrk="1" hangingPunct="1">
              <a:spcBef>
                <a:spcPts val="18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用例建模是一种描述</a:t>
            </a:r>
            <a:r>
              <a:rPr kumimoji="1" lang="zh-CN" altLang="en-US" sz="2600" kern="1200" cap="none" spc="0" normalizeH="0" baseline="0" noProof="0" dirty="0">
                <a:solidFill>
                  <a:srgbClr val="FF0000"/>
                </a:solidFill>
                <a:latin typeface="+mn-lt"/>
                <a:ea typeface="+mn-ea"/>
                <a:cs typeface="+mn-cs"/>
              </a:rPr>
              <a:t>应该做什么</a:t>
            </a:r>
            <a:r>
              <a:rPr kumimoji="1" lang="zh-CN" altLang="en-US" sz="2600" kern="1200" cap="none" spc="0" normalizeH="0" baseline="0" noProof="0" dirty="0">
                <a:latin typeface="+mn-lt"/>
                <a:ea typeface="+mn-ea"/>
                <a:cs typeface="+mn-cs"/>
              </a:rPr>
              <a:t>的建模技术</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在软件开发的初期，解决如下几个问题：</a:t>
            </a:r>
            <a:endParaRPr kumimoji="1" lang="en-US" altLang="zh-CN" sz="260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1</a:t>
            </a:r>
            <a:r>
              <a:rPr kumimoji="1" lang="zh-CN" altLang="en-US" sz="2600" b="0" kern="1200" cap="none" spc="0" normalizeH="0" baseline="0" noProof="0" dirty="0">
                <a:latin typeface="+mn-lt"/>
                <a:ea typeface="+mn-ea"/>
                <a:cs typeface="+mn-cs"/>
              </a:rPr>
              <a:t>）软件的用户以及涉及系统运行的各个对象是谁？</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2</a:t>
            </a:r>
            <a:r>
              <a:rPr kumimoji="1" lang="zh-CN" altLang="en-US" sz="2600" b="0" kern="1200" cap="none" spc="0" normalizeH="0" baseline="0" noProof="0" dirty="0">
                <a:latin typeface="+mn-lt"/>
                <a:ea typeface="+mn-ea"/>
                <a:cs typeface="+mn-cs"/>
              </a:rPr>
              <a:t>）软件的用户希望软件系统有什么功能？</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3</a:t>
            </a:r>
            <a:r>
              <a:rPr kumimoji="1" lang="zh-CN" altLang="en-US" sz="2600" b="0" kern="1200" cap="none" spc="0" normalizeH="0" baseline="0" noProof="0" dirty="0">
                <a:latin typeface="+mn-lt"/>
                <a:ea typeface="+mn-ea"/>
                <a:cs typeface="+mn-cs"/>
              </a:rPr>
              <a:t>）用户希望如何使用这些功能？</a:t>
            </a:r>
            <a:endParaRPr kumimoji="1" lang="en-US" altLang="zh-CN" sz="2600" b="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a:xfrm>
            <a:off x="458788" y="473075"/>
            <a:ext cx="8201025" cy="1138238"/>
          </a:xfrm>
        </p:spPr>
        <p:txBody>
          <a:bodyPr vert="horz" wrap="square" lIns="0" tIns="45605"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用例建模</a:t>
            </a:r>
            <a:r>
              <a:rPr kumimoji="1" lang="en-US" altLang="zh-CN"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a:t>
            </a:r>
            <a:r>
              <a:rPr kumimoji="1" lang="zh-CN" altLang="en-US" sz="50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基本概念</a:t>
            </a:r>
            <a:endParaRPr kumimoji="1" lang="zh-CN" altLang="en-US" sz="4395"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sp>
        <p:nvSpPr>
          <p:cNvPr id="4" name="TextBox 3"/>
          <p:cNvSpPr txBox="1"/>
          <p:nvPr/>
        </p:nvSpPr>
        <p:spPr>
          <a:xfrm>
            <a:off x="530225" y="1768475"/>
            <a:ext cx="8061325" cy="5743575"/>
          </a:xfrm>
          <a:prstGeom prst="rect">
            <a:avLst/>
          </a:prstGeom>
          <a:noFill/>
        </p:spPr>
        <p:txBody>
          <a:bodyPr wrap="square" lIns="91346" tIns="45673" rIns="91346" bIns="45673">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参与者</a:t>
            </a:r>
            <a:endParaRPr kumimoji="1" lang="en-US" altLang="zh-CN" sz="2600" kern="1200" cap="none" spc="0" normalizeH="0" baseline="0" noProof="0" dirty="0">
              <a:latin typeface="+mn-lt"/>
              <a:ea typeface="+mn-ea"/>
              <a:cs typeface="+mn-cs"/>
            </a:endParaRPr>
          </a:p>
          <a:p>
            <a:pPr marL="729615"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000" b="1" i="0" u="none" strike="noStrike" kern="1200" cap="none" spc="0" normalizeH="0" baseline="0" noProof="0" dirty="0">
                <a:ln>
                  <a:noFill/>
                </a:ln>
                <a:solidFill>
                  <a:srgbClr val="FF0000"/>
                </a:solidFill>
                <a:effectLst/>
                <a:uLnTx/>
                <a:uFillTx/>
                <a:latin typeface="+mn-lt"/>
                <a:ea typeface="+mn-ea"/>
                <a:cs typeface="+mn-cs"/>
              </a:rPr>
              <a:t>直接</a:t>
            </a:r>
            <a:r>
              <a:rPr kumimoji="1" lang="zh-CN" altLang="en-US" sz="2000" b="1" i="0" u="none" strike="noStrike" kern="1200" cap="none" spc="0" normalizeH="0" baseline="0" noProof="0" dirty="0">
                <a:ln>
                  <a:noFill/>
                </a:ln>
                <a:solidFill>
                  <a:schemeClr val="tx1"/>
                </a:solidFill>
                <a:effectLst/>
                <a:uLnTx/>
                <a:uFillTx/>
                <a:latin typeface="+mn-lt"/>
                <a:ea typeface="+mn-ea"/>
                <a:cs typeface="+mn-cs"/>
              </a:rPr>
              <a:t>与系统交互的对象</a:t>
            </a:r>
            <a:endParaRPr kumimoji="1"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729615"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000" b="1" i="0" u="none" strike="noStrike" kern="1200" cap="none" spc="0" normalizeH="0" baseline="0" noProof="0" dirty="0">
                <a:ln>
                  <a:noFill/>
                </a:ln>
                <a:solidFill>
                  <a:schemeClr val="tx1"/>
                </a:solidFill>
                <a:effectLst/>
                <a:uLnTx/>
                <a:uFillTx/>
                <a:latin typeface="+mn-lt"/>
                <a:ea typeface="+mn-ea"/>
                <a:cs typeface="+mn-cs"/>
              </a:rPr>
              <a:t>可以是人、物理系统、也可以是其他软件系统</a:t>
            </a:r>
            <a:endParaRPr kumimoji="1"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6565" algn="l"/>
              </a:tabLst>
              <a:defRPr/>
            </a:pPr>
            <a:r>
              <a:rPr kumimoji="1" lang="zh-CN" altLang="en-US" sz="2600" b="1" i="0" u="none" strike="noStrike" kern="1200" cap="none" spc="0" normalizeH="0" baseline="0" noProof="0" dirty="0">
                <a:ln>
                  <a:noFill/>
                </a:ln>
                <a:solidFill>
                  <a:schemeClr val="tx1"/>
                </a:solidFill>
                <a:effectLst/>
                <a:uLnTx/>
                <a:uFillTx/>
                <a:latin typeface="+mn-lt"/>
                <a:ea typeface="+mn-ea"/>
                <a:cs typeface="+mn-cs"/>
              </a:rPr>
              <a:t>用例</a:t>
            </a:r>
            <a:endParaRPr kumimoji="1" lang="en-US" altLang="zh-CN" sz="2600" b="1" i="0" u="none" strike="noStrike" kern="1200" cap="none" spc="0" normalizeH="0" baseline="0" noProof="0" dirty="0">
              <a:ln>
                <a:noFill/>
              </a:ln>
              <a:solidFill>
                <a:schemeClr val="tx1"/>
              </a:solidFill>
              <a:effectLst/>
              <a:uLnTx/>
              <a:uFillTx/>
              <a:latin typeface="+mn-lt"/>
              <a:ea typeface="+mn-ea"/>
              <a:cs typeface="+mn-cs"/>
            </a:endParaRPr>
          </a:p>
          <a:p>
            <a:pPr marL="729615"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000" b="1" i="0" u="none" strike="noStrike" kern="1200" cap="none" spc="0" normalizeH="0" baseline="0" noProof="0" dirty="0">
                <a:ln>
                  <a:noFill/>
                </a:ln>
                <a:solidFill>
                  <a:schemeClr val="tx1"/>
                </a:solidFill>
                <a:effectLst/>
                <a:uLnTx/>
                <a:uFillTx/>
                <a:latin typeface="+mn-lt"/>
                <a:ea typeface="+mn-ea"/>
                <a:cs typeface="+mn-cs"/>
              </a:rPr>
              <a:t>用例总是被参与者启动的，参与者必须参与到用例所描述的系统执行场景</a:t>
            </a:r>
            <a:endParaRPr kumimoji="1"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729615"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000" b="1" i="0" u="none" strike="noStrike" kern="1200" cap="none" spc="0" normalizeH="0" baseline="0" noProof="0" dirty="0">
                <a:ln>
                  <a:noFill/>
                </a:ln>
                <a:solidFill>
                  <a:schemeClr val="tx1"/>
                </a:solidFill>
                <a:effectLst/>
                <a:uLnTx/>
                <a:uFillTx/>
                <a:latin typeface="+mn-lt"/>
                <a:ea typeface="+mn-ea"/>
                <a:cs typeface="+mn-cs"/>
              </a:rPr>
              <a:t>用例必须是</a:t>
            </a:r>
            <a:r>
              <a:rPr kumimoji="1" lang="zh-CN" altLang="en-US" sz="2000" b="1" i="0" u="none" strike="noStrike" kern="1200" cap="none" spc="0" normalizeH="0" baseline="0" noProof="0" dirty="0">
                <a:ln>
                  <a:noFill/>
                </a:ln>
                <a:solidFill>
                  <a:srgbClr val="FF0000"/>
                </a:solidFill>
                <a:effectLst/>
                <a:uLnTx/>
                <a:uFillTx/>
                <a:latin typeface="+mn-lt"/>
                <a:ea typeface="+mn-ea"/>
                <a:cs typeface="+mn-cs"/>
              </a:rPr>
              <a:t>完整的</a:t>
            </a:r>
            <a:r>
              <a:rPr kumimoji="1" lang="zh-CN" altLang="en-US" sz="2000" b="1" i="0" u="none" strike="noStrike" kern="1200" cap="none" spc="0" normalizeH="0" baseline="0" noProof="0" dirty="0">
                <a:ln>
                  <a:noFill/>
                </a:ln>
                <a:solidFill>
                  <a:schemeClr val="tx1"/>
                </a:solidFill>
                <a:effectLst/>
                <a:uLnTx/>
                <a:uFillTx/>
                <a:latin typeface="+mn-lt"/>
                <a:ea typeface="+mn-ea"/>
                <a:cs typeface="+mn-cs"/>
              </a:rPr>
              <a:t>，描写一个</a:t>
            </a:r>
            <a:r>
              <a:rPr kumimoji="1" lang="zh-CN" altLang="en-US" sz="2000" b="1" i="0" u="none" strike="noStrike" kern="1200" cap="none" spc="0" normalizeH="0" baseline="0" noProof="0" dirty="0">
                <a:ln>
                  <a:noFill/>
                </a:ln>
                <a:solidFill>
                  <a:srgbClr val="FF0000"/>
                </a:solidFill>
                <a:effectLst/>
                <a:uLnTx/>
                <a:uFillTx/>
                <a:latin typeface="+mn-lt"/>
                <a:ea typeface="+mn-ea"/>
                <a:cs typeface="+mn-cs"/>
              </a:rPr>
              <a:t>完整的执行过程</a:t>
            </a:r>
            <a:r>
              <a:rPr kumimoji="1" lang="zh-CN" altLang="en-US" sz="2000" b="1" i="0" u="none" strike="noStrike" kern="1200" cap="none" spc="0" normalizeH="0" baseline="0" noProof="0" dirty="0">
                <a:ln>
                  <a:noFill/>
                </a:ln>
                <a:solidFill>
                  <a:schemeClr val="tx1"/>
                </a:solidFill>
                <a:effectLst/>
                <a:uLnTx/>
                <a:uFillTx/>
                <a:latin typeface="+mn-lt"/>
                <a:ea typeface="+mn-ea"/>
                <a:cs typeface="+mn-cs"/>
              </a:rPr>
              <a:t>，并向参与者返回可见的有价值的结果</a:t>
            </a:r>
            <a:endParaRPr kumimoji="1"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Tx/>
              <a:buNone/>
              <a:tabLst>
                <a:tab pos="456565" algn="l"/>
              </a:tabLst>
              <a:defRPr/>
            </a:pPr>
            <a:r>
              <a:rPr kumimoji="1" lang="en-US" altLang="zh-CN" sz="2600" b="1" i="0" u="none" strike="noStrike" kern="1200" cap="none" spc="0" normalizeH="0" baseline="0" noProof="0" dirty="0">
                <a:ln>
                  <a:noFill/>
                </a:ln>
                <a:solidFill>
                  <a:schemeClr val="tx1"/>
                </a:solidFill>
                <a:effectLst/>
                <a:uLnTx/>
                <a:uFillTx/>
                <a:latin typeface="+mn-lt"/>
                <a:ea typeface="+mn-ea"/>
                <a:cs typeface="+mn-cs"/>
              </a:rPr>
              <a:t>    </a:t>
            </a:r>
            <a:endParaRPr kumimoji="1" lang="en-US" altLang="zh-CN" sz="2600" b="1" i="0" u="none" strike="noStrike" kern="1200" cap="none" spc="0" normalizeH="0" baseline="0" noProof="0" dirty="0">
              <a:ln>
                <a:noFill/>
              </a:ln>
              <a:solidFill>
                <a:schemeClr val="tx1"/>
              </a:solidFill>
              <a:effectLst/>
              <a:uLnTx/>
              <a:uFillTx/>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Char char="p"/>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b="1" i="0" u="none" strike="noStrike" kern="1200" cap="none" spc="0" normalizeH="0" baseline="0" noProof="0" dirty="0">
                <a:ln>
                  <a:noFill/>
                </a:ln>
                <a:solidFill>
                  <a:schemeClr val="tx1"/>
                </a:solidFill>
                <a:effectLst/>
                <a:uLnTx/>
                <a:uFillTx/>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xfrm>
            <a:off x="458788" y="473075"/>
            <a:ext cx="8201025" cy="1138238"/>
          </a:xfrm>
        </p:spPr>
        <p:txBody>
          <a:bodyPr vert="horz" wrap="square" lIns="0" tIns="45605"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smtClean="0">
                <a:ln>
                  <a:noFill/>
                </a:ln>
                <a:solidFill>
                  <a:schemeClr val="tx2"/>
                </a:solidFill>
                <a:effectLst/>
                <a:uLnTx/>
                <a:uFillTx/>
                <a:latin typeface="微软雅黑" panose="020B0503020204020204" pitchFamily="34" charset="-122"/>
                <a:ea typeface="微软雅黑" panose="020B0503020204020204" pitchFamily="34" charset="-122"/>
                <a:cs typeface="+mj-cs"/>
              </a:rPr>
              <a:t>用例建模过程</a:t>
            </a:r>
            <a:endParaRPr kumimoji="1" lang="zh-CN" altLang="en-US" sz="4395"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
        <p:nvSpPr>
          <p:cNvPr id="9219" name="矩形 4"/>
          <p:cNvSpPr>
            <a:spLocks noChangeArrowheads="1"/>
          </p:cNvSpPr>
          <p:nvPr/>
        </p:nvSpPr>
        <p:spPr bwMode="auto">
          <a:xfrm>
            <a:off x="747713" y="1984375"/>
            <a:ext cx="7480300"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46" tIns="45673" rIns="91346" bIns="45673">
            <a:spAutoFit/>
          </a:bodyPr>
          <a:lstStyle>
            <a:lvl1pPr marL="342900" indent="-342900">
              <a:defRPr kumimoji="1" sz="2400" b="1">
                <a:solidFill>
                  <a:schemeClr val="tx1"/>
                </a:solidFill>
                <a:latin typeface="黑体" panose="02010609060101010101" pitchFamily="49" charset="-122"/>
                <a:ea typeface="黑体" panose="02010609060101010101" pitchFamily="49" charset="-122"/>
              </a:defRPr>
            </a:lvl1pPr>
            <a:lvl2pPr marL="8572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marL="857250" marR="0" lvl="1" indent="1905"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1</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．定义系统</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1905"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2</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．确定参与者</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1905"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3</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．确定用例</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1905"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4</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．描述用例</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1905"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5</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．定义用例之间的关系</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1905"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6</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．确认模型</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95250" y="327025"/>
            <a:ext cx="9288463"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用例建模</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银行储蓄账户管理系统</a:t>
            </a:r>
            <a:endParaRPr lang="zh-CN" altLang="en-US" b="1" dirty="0">
              <a:latin typeface="微软雅黑" panose="020B0503020204020204" pitchFamily="34" charset="-122"/>
              <a:ea typeface="微软雅黑" panose="020B0503020204020204" pitchFamily="34" charset="-122"/>
            </a:endParaRPr>
          </a:p>
        </p:txBody>
      </p:sp>
      <p:sp>
        <p:nvSpPr>
          <p:cNvPr id="15363" name="Rectangle 3"/>
          <p:cNvSpPr>
            <a:spLocks noGrp="1"/>
          </p:cNvSpPr>
          <p:nvPr>
            <p:ph idx="1"/>
          </p:nvPr>
        </p:nvSpPr>
        <p:spPr/>
        <p:txBody>
          <a:bodyPr vert="horz" wrap="square" lIns="91212" tIns="45605" rIns="91212" bIns="45605" anchor="t" anchorCtr="0"/>
          <a:p>
            <a:pPr marL="0" indent="849630">
              <a:lnSpc>
                <a:spcPct val="90000"/>
              </a:lnSpc>
              <a:buNone/>
            </a:pPr>
            <a:r>
              <a:rPr lang="zh-CN" altLang="en-US" dirty="0">
                <a:latin typeface="楷体_GB2312" pitchFamily="49" charset="-122"/>
              </a:rPr>
              <a:t>一个客户可以在多个银行中开设账户，一个客户也可在同一银行中开设多个不同的账户。客户可以通过银行职员进行开户、存款、取款、转账、注销账户等活动。其中转账指客户将自己的某个账户上的钱款转入同一银行的不同账户（称为银行内转账）或转入不同银行的账户（称为银行间转账）。系统管理员负责系统的账户管理及业务报表的生成。</a:t>
            </a:r>
            <a:endParaRPr lang="zh-CN" altLang="en-US" dirty="0">
              <a:latin typeface="楷体_GB2312"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455613" y="398463"/>
            <a:ext cx="8207375" cy="1139825"/>
          </a:xfrm>
        </p:spPr>
        <p:txBody>
          <a:bodyPr vert="horz" wrap="square" lIns="0" tIns="45605" rIns="0" bIns="0" anchor="b" anchorCtr="0"/>
          <a:p>
            <a:r>
              <a:rPr lang="zh-CN" altLang="en-US" b="1" dirty="0">
                <a:latin typeface="微软雅黑" panose="020B0503020204020204" pitchFamily="34" charset="-122"/>
                <a:ea typeface="微软雅黑" panose="020B0503020204020204" pitchFamily="34" charset="-122"/>
              </a:rPr>
              <a:t>确定参与者</a:t>
            </a:r>
            <a:endParaRPr lang="en-US" altLang="zh-CN" b="1" dirty="0">
              <a:latin typeface="微软雅黑" panose="020B0503020204020204" pitchFamily="34" charset="-122"/>
              <a:ea typeface="微软雅黑" panose="020B0503020204020204" pitchFamily="34" charset="-122"/>
            </a:endParaRPr>
          </a:p>
        </p:txBody>
      </p:sp>
      <p:sp>
        <p:nvSpPr>
          <p:cNvPr id="17411" name="矩形 6"/>
          <p:cNvSpPr/>
          <p:nvPr/>
        </p:nvSpPr>
        <p:spPr>
          <a:xfrm>
            <a:off x="382588" y="1838325"/>
            <a:ext cx="8424862" cy="2862263"/>
          </a:xfrm>
          <a:prstGeom prst="rect">
            <a:avLst/>
          </a:prstGeom>
          <a:noFill/>
          <a:ln w="9525">
            <a:noFill/>
          </a:ln>
        </p:spPr>
        <p:txBody>
          <a:bodyPr lIns="91430" tIns="45715" rIns="91430" bIns="45715">
            <a:spAutoFit/>
          </a:bodyPr>
          <a:p>
            <a:pPr eaLnBrk="1" hangingPunct="1">
              <a:lnSpc>
                <a:spcPct val="150000"/>
              </a:lnSpc>
              <a:buFont typeface="Wingdings" panose="05000000000000000000" pitchFamily="2" charset="2"/>
            </a:pPr>
            <a:r>
              <a:rPr lang="zh-CN" altLang="en-US" dirty="0">
                <a:solidFill>
                  <a:srgbClr val="FF0000"/>
                </a:solidFill>
                <a:latin typeface="黑体" panose="02010609060101010101" pitchFamily="49" charset="-122"/>
              </a:rPr>
              <a:t>客户</a:t>
            </a:r>
            <a:r>
              <a:rPr lang="zh-CN" altLang="en-US" dirty="0">
                <a:latin typeface="黑体" panose="02010609060101010101" pitchFamily="49" charset="-122"/>
              </a:rPr>
              <a:t>：到银行办理储蓄业务的人，负责输入密码</a:t>
            </a:r>
            <a:endParaRPr lang="zh-CN" altLang="en-US" dirty="0">
              <a:latin typeface="楷体_GB2312" pitchFamily="49" charset="-122"/>
            </a:endParaRPr>
          </a:p>
          <a:p>
            <a:pPr eaLnBrk="1" hangingPunct="1">
              <a:lnSpc>
                <a:spcPct val="150000"/>
              </a:lnSpc>
              <a:buFont typeface="Wingdings" panose="05000000000000000000" pitchFamily="2" charset="2"/>
            </a:pPr>
            <a:r>
              <a:rPr lang="zh-CN" altLang="en-US" dirty="0">
                <a:solidFill>
                  <a:srgbClr val="FF0000"/>
                </a:solidFill>
                <a:latin typeface="黑体" panose="02010609060101010101" pitchFamily="49" charset="-122"/>
              </a:rPr>
              <a:t>银行职员</a:t>
            </a:r>
            <a:r>
              <a:rPr lang="zh-CN" altLang="en-US" dirty="0">
                <a:latin typeface="黑体" panose="02010609060101010101" pitchFamily="49" charset="-122"/>
              </a:rPr>
              <a:t>：银行工作人员，代表客户进行储蓄业务的操作</a:t>
            </a:r>
            <a:endParaRPr lang="zh-CN" altLang="en-US" dirty="0">
              <a:latin typeface="黑体" panose="02010609060101010101" pitchFamily="49" charset="-122"/>
            </a:endParaRPr>
          </a:p>
          <a:p>
            <a:pPr eaLnBrk="1" hangingPunct="1">
              <a:lnSpc>
                <a:spcPct val="150000"/>
              </a:lnSpc>
              <a:buFont typeface="Wingdings" panose="05000000000000000000" pitchFamily="2" charset="2"/>
            </a:pPr>
            <a:r>
              <a:rPr lang="zh-CN" altLang="en-US" dirty="0">
                <a:solidFill>
                  <a:srgbClr val="FF0000"/>
                </a:solidFill>
                <a:latin typeface="宋体" panose="02010600030101010101" pitchFamily="2" charset="-122"/>
              </a:rPr>
              <a:t>系统管理员</a:t>
            </a:r>
            <a:r>
              <a:rPr lang="zh-CN" altLang="en-US" dirty="0">
                <a:latin typeface="宋体" panose="02010600030101010101" pitchFamily="2" charset="-122"/>
              </a:rPr>
              <a:t>：银行计算机的管理人员，负责账户的管理和业务报表的生成</a:t>
            </a:r>
            <a:endParaRPr lang="zh-CN" altLang="en-US" dirty="0">
              <a:latin typeface="宋体" panose="02010600030101010101" pitchFamily="2" charset="-122"/>
            </a:endParaRPr>
          </a:p>
          <a:p>
            <a:pPr eaLnBrk="1" hangingPunct="1">
              <a:lnSpc>
                <a:spcPct val="150000"/>
              </a:lnSpc>
              <a:buFont typeface="Wingdings" panose="05000000000000000000" pitchFamily="2" charset="2"/>
            </a:pPr>
            <a:r>
              <a:rPr lang="zh-CN" altLang="en-US" dirty="0">
                <a:solidFill>
                  <a:srgbClr val="FF0000"/>
                </a:solidFill>
                <a:latin typeface="宋体" panose="02010600030101010101" pitchFamily="2" charset="-122"/>
              </a:rPr>
              <a:t>其他银行帐务管理系统</a:t>
            </a:r>
            <a:r>
              <a:rPr lang="zh-CN" altLang="en-US" dirty="0">
                <a:latin typeface="宋体" panose="02010600030101010101" pitchFamily="2" charset="-122"/>
              </a:rPr>
              <a:t>：与本行账户进行转帐</a:t>
            </a:r>
            <a:endParaRPr lang="zh-CN" altLang="en-US" dirty="0">
              <a:latin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455613" y="398463"/>
            <a:ext cx="8207375" cy="1139825"/>
          </a:xfrm>
        </p:spPr>
        <p:txBody>
          <a:bodyPr vert="horz" wrap="square" lIns="0" tIns="45605" rIns="0" bIns="0" anchor="b" anchorCtr="0"/>
          <a:p>
            <a:r>
              <a:rPr lang="zh-CN" altLang="en-US" b="1" dirty="0">
                <a:latin typeface="微软雅黑" panose="020B0503020204020204" pitchFamily="34" charset="-122"/>
                <a:ea typeface="微软雅黑" panose="020B0503020204020204" pitchFamily="34" charset="-122"/>
              </a:rPr>
              <a:t>确定用例</a:t>
            </a:r>
            <a:endParaRPr lang="en-US" altLang="zh-CN" b="1" dirty="0">
              <a:latin typeface="微软雅黑" panose="020B0503020204020204" pitchFamily="34" charset="-122"/>
              <a:ea typeface="微软雅黑" panose="020B0503020204020204" pitchFamily="34" charset="-122"/>
            </a:endParaRPr>
          </a:p>
        </p:txBody>
      </p:sp>
      <p:sp>
        <p:nvSpPr>
          <p:cNvPr id="7" name="矩形 6"/>
          <p:cNvSpPr/>
          <p:nvPr/>
        </p:nvSpPr>
        <p:spPr>
          <a:xfrm>
            <a:off x="166688" y="1838325"/>
            <a:ext cx="8640763" cy="4154488"/>
          </a:xfrm>
          <a:prstGeom prst="rect">
            <a:avLst/>
          </a:prstGeom>
        </p:spPr>
        <p:txBody>
          <a:bodyPr lIns="91430" tIns="45715" rIns="91430" bIns="45715">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从系统的需求陈述可知：</a:t>
            </a: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银行职员</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需要系统提供</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开户</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存款</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取款</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注销账户</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等功能，这些功能都包含了</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校验密码</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的功能，而校验密码功能又需要客户的参与。</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系统管理员</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需要系统提供</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账户管理</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报表生成</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功能。</a:t>
            </a: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转账功能可分为</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银行内转账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银行间转账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，因此银行内转账用例和银行间转账用例都可以继承基本转账用例。</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3"/>
          <p:cNvPicPr>
            <a:picLocks noChangeAspect="1"/>
          </p:cNvPicPr>
          <p:nvPr/>
        </p:nvPicPr>
        <p:blipFill>
          <a:blip r:embed="rId1"/>
          <a:stretch>
            <a:fillRect/>
          </a:stretch>
        </p:blipFill>
        <p:spPr>
          <a:xfrm>
            <a:off x="1174750" y="284163"/>
            <a:ext cx="6334125" cy="62230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455613" y="109538"/>
            <a:ext cx="8207375" cy="1139825"/>
          </a:xfrm>
        </p:spPr>
        <p:txBody>
          <a:bodyPr vert="horz" wrap="square" lIns="0" tIns="45605" rIns="0" bIns="0" anchor="b" anchorCtr="0"/>
          <a:p>
            <a:r>
              <a:rPr lang="zh-CN" altLang="en-US" b="1" dirty="0">
                <a:latin typeface="微软雅黑" panose="020B0503020204020204" pitchFamily="34" charset="-122"/>
                <a:ea typeface="微软雅黑" panose="020B0503020204020204" pitchFamily="34" charset="-122"/>
              </a:rPr>
              <a:t>开户用例描述</a:t>
            </a:r>
            <a:endParaRPr lang="zh-CN" altLang="en-US" b="1" dirty="0">
              <a:latin typeface="微软雅黑" panose="020B0503020204020204" pitchFamily="34" charset="-122"/>
              <a:ea typeface="微软雅黑" panose="020B0503020204020204" pitchFamily="34" charset="-122"/>
            </a:endParaRPr>
          </a:p>
        </p:txBody>
      </p:sp>
      <p:sp>
        <p:nvSpPr>
          <p:cNvPr id="23555" name="Rectangle 3"/>
          <p:cNvSpPr>
            <a:spLocks noGrp="1"/>
          </p:cNvSpPr>
          <p:nvPr>
            <p:ph idx="1"/>
          </p:nvPr>
        </p:nvSpPr>
        <p:spPr>
          <a:xfrm>
            <a:off x="311150" y="1128713"/>
            <a:ext cx="8662988" cy="4381500"/>
          </a:xfrm>
        </p:spPr>
        <p:txBody>
          <a:bodyPr vert="horz" wrap="square" lIns="91212" tIns="45605" rIns="91212" bIns="45605" anchor="t" anchorCtr="0"/>
          <a:p>
            <a:pPr marL="0" indent="0">
              <a:lnSpc>
                <a:spcPct val="90000"/>
              </a:lnSpc>
              <a:buNone/>
            </a:pPr>
            <a:r>
              <a:rPr lang="zh-CN" altLang="en-US" sz="2400" b="1" dirty="0">
                <a:solidFill>
                  <a:srgbClr val="FF0000"/>
                </a:solidFill>
                <a:latin typeface="楷体_GB2312" pitchFamily="49" charset="-122"/>
              </a:rPr>
              <a:t>用例名称</a:t>
            </a:r>
            <a:r>
              <a:rPr lang="zh-CN" altLang="en-US" sz="2400" b="1" dirty="0">
                <a:latin typeface="楷体_GB2312" pitchFamily="49" charset="-122"/>
              </a:rPr>
              <a:t>：开户</a:t>
            </a:r>
            <a:endParaRPr lang="en-US" altLang="zh-CN" sz="2400" b="1" dirty="0">
              <a:latin typeface="楷体_GB2312" pitchFamily="49" charset="-122"/>
            </a:endParaRPr>
          </a:p>
          <a:p>
            <a:pPr marL="0" indent="0">
              <a:lnSpc>
                <a:spcPct val="90000"/>
              </a:lnSpc>
              <a:buNone/>
            </a:pPr>
            <a:r>
              <a:rPr lang="zh-CN" altLang="en-US" sz="2400" b="1" dirty="0">
                <a:solidFill>
                  <a:srgbClr val="FF0000"/>
                </a:solidFill>
                <a:latin typeface="楷体_GB2312" pitchFamily="49" charset="-122"/>
              </a:rPr>
              <a:t>用例编号</a:t>
            </a:r>
            <a:r>
              <a:rPr lang="zh-CN" altLang="en-US" sz="2400" b="1" dirty="0">
                <a:latin typeface="楷体_GB2312" pitchFamily="49" charset="-122"/>
              </a:rPr>
              <a:t>：</a:t>
            </a:r>
            <a:r>
              <a:rPr lang="en-US" altLang="zh-CN" sz="2400" b="1" dirty="0">
                <a:latin typeface="楷体_GB2312" pitchFamily="49" charset="-122"/>
              </a:rPr>
              <a:t>UC-1</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参与者</a:t>
            </a:r>
            <a:r>
              <a:rPr lang="zh-CN" altLang="en-US" sz="2400" b="1" dirty="0">
                <a:latin typeface="楷体_GB2312" pitchFamily="49" charset="-122"/>
              </a:rPr>
              <a:t>：银行职员，客户</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前置条件</a:t>
            </a:r>
            <a:r>
              <a:rPr lang="zh-CN" altLang="en-US" sz="2400" b="1" dirty="0">
                <a:latin typeface="楷体_GB2312" pitchFamily="49" charset="-122"/>
              </a:rPr>
              <a:t>：一个合法的银行职员已登录到该系统</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事件流</a:t>
            </a:r>
            <a:r>
              <a:rPr lang="zh-CN" altLang="en-US" sz="2400" b="1" dirty="0">
                <a:latin typeface="楷体_GB2312" pitchFamily="49" charset="-122"/>
              </a:rPr>
              <a:t>：</a:t>
            </a:r>
            <a:endParaRPr lang="zh-CN" altLang="en-US" sz="24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a:t>
            </a:r>
            <a:r>
              <a:rPr lang="zh-CN" altLang="en-US" sz="2000" b="1" dirty="0">
                <a:latin typeface="楷体_GB2312" pitchFamily="49" charset="-122"/>
              </a:rPr>
              <a:t>银行职员在系统主页，点击开户按钮</a:t>
            </a:r>
            <a:r>
              <a:rPr lang="zh-CN" altLang="en-US" sz="2200" b="1" dirty="0">
                <a:latin typeface="楷体_GB2312" pitchFamily="49" charset="-122"/>
              </a:rPr>
              <a:t>；</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2.</a:t>
            </a:r>
            <a:r>
              <a:rPr lang="zh-CN" altLang="en-US" sz="2200" b="1" dirty="0">
                <a:latin typeface="楷体_GB2312" pitchFamily="49" charset="-122"/>
              </a:rPr>
              <a:t>系统弹出开户页面，并显示提示输入客户信息的消息；</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3.</a:t>
            </a:r>
            <a:r>
              <a:rPr lang="zh-CN" altLang="en-US" sz="2000" b="1" dirty="0">
                <a:latin typeface="楷体_GB2312" pitchFamily="49" charset="-122"/>
              </a:rPr>
              <a:t>银行职员</a:t>
            </a:r>
            <a:r>
              <a:rPr lang="zh-CN" altLang="en-US" sz="2200" b="1" dirty="0">
                <a:latin typeface="楷体_GB2312" pitchFamily="49" charset="-122"/>
              </a:rPr>
              <a:t>输入客户信息（姓名、地址、身份证号等）；</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4.</a:t>
            </a:r>
            <a:r>
              <a:rPr lang="zh-CN" altLang="en-US" sz="2200" b="1" dirty="0">
                <a:latin typeface="楷体_GB2312" pitchFamily="49" charset="-122"/>
              </a:rPr>
              <a:t>系统在开户页面显示给客户分配的账号；</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5.</a:t>
            </a:r>
            <a:r>
              <a:rPr lang="zh-CN" altLang="en-US" sz="2200" b="1" dirty="0">
                <a:latin typeface="楷体_GB2312" pitchFamily="49" charset="-122"/>
              </a:rPr>
              <a:t>系统提示客户输入密码；</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6.</a:t>
            </a:r>
            <a:r>
              <a:rPr lang="zh-CN" altLang="en-US" sz="2200" b="1" dirty="0">
                <a:latin typeface="楷体_GB2312" pitchFamily="49" charset="-122"/>
              </a:rPr>
              <a:t>客户输入密码；</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7.</a:t>
            </a:r>
            <a:r>
              <a:rPr lang="zh-CN" altLang="en-US" sz="2200" b="1" dirty="0">
                <a:latin typeface="楷体_GB2312" pitchFamily="49" charset="-122"/>
              </a:rPr>
              <a:t>系统提示客户再次输入密码；</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8.</a:t>
            </a:r>
            <a:r>
              <a:rPr lang="zh-CN" altLang="en-US" sz="2200" b="1" dirty="0">
                <a:latin typeface="楷体_GB2312" pitchFamily="49" charset="-122"/>
              </a:rPr>
              <a:t>客户再次输入密码；</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9.</a:t>
            </a:r>
            <a:r>
              <a:rPr lang="zh-CN" altLang="en-US" sz="2200" b="1" dirty="0">
                <a:latin typeface="楷体_GB2312" pitchFamily="49" charset="-122"/>
              </a:rPr>
              <a:t>系统检测客户输入的两次密码是否一致，如果不一致则回到第</a:t>
            </a:r>
            <a:r>
              <a:rPr lang="en-US" altLang="zh-CN" sz="2200" b="1" dirty="0">
                <a:latin typeface="楷体_GB2312" pitchFamily="49" charset="-122"/>
              </a:rPr>
              <a:t>4</a:t>
            </a:r>
            <a:r>
              <a:rPr lang="zh-CN" altLang="en-US" sz="2200" b="1" dirty="0">
                <a:latin typeface="楷体_GB2312" pitchFamily="49" charset="-122"/>
              </a:rPr>
              <a:t>步，否则继续；</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10.</a:t>
            </a:r>
            <a:r>
              <a:rPr lang="zh-CN" altLang="en-US" sz="2200" b="1" dirty="0">
                <a:latin typeface="楷体_GB2312" pitchFamily="49" charset="-122"/>
              </a:rPr>
              <a:t>系统在账户库中添加新账户；</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11.</a:t>
            </a:r>
            <a:r>
              <a:rPr lang="zh-CN" altLang="en-US" sz="2200" b="1" dirty="0">
                <a:latin typeface="楷体_GB2312" pitchFamily="49" charset="-122"/>
              </a:rPr>
              <a:t> 用例结束。</a:t>
            </a:r>
            <a:endParaRPr lang="zh-CN" altLang="en-US" sz="22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后置条件</a:t>
            </a:r>
            <a:r>
              <a:rPr lang="zh-CN" altLang="en-US" sz="2400" b="1" dirty="0">
                <a:latin typeface="楷体_GB2312" pitchFamily="49" charset="-122"/>
              </a:rPr>
              <a:t>：在账户库中增加了一个新账户，得到一张新存折 </a:t>
            </a:r>
            <a:endParaRPr lang="zh-CN" altLang="en-US" sz="2400" b="1" dirty="0">
              <a:latin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455613" y="398463"/>
            <a:ext cx="8207375" cy="1139825"/>
          </a:xfrm>
        </p:spPr>
        <p:txBody>
          <a:bodyPr vert="horz" wrap="square" lIns="0" tIns="45605" rIns="0" bIns="0" anchor="b" anchorCtr="0"/>
          <a:p>
            <a:r>
              <a:rPr lang="zh-CN" altLang="en-US" b="1" dirty="0">
                <a:latin typeface="微软雅黑" panose="020B0503020204020204" pitchFamily="34" charset="-122"/>
                <a:ea typeface="微软雅黑" panose="020B0503020204020204" pitchFamily="34" charset="-122"/>
              </a:rPr>
              <a:t>取款用况描述</a:t>
            </a:r>
            <a:endParaRPr lang="zh-CN" altLang="en-US" b="1" dirty="0">
              <a:latin typeface="微软雅黑" panose="020B0503020204020204" pitchFamily="34" charset="-122"/>
              <a:ea typeface="微软雅黑" panose="020B0503020204020204" pitchFamily="34" charset="-122"/>
            </a:endParaRPr>
          </a:p>
        </p:txBody>
      </p:sp>
      <p:sp>
        <p:nvSpPr>
          <p:cNvPr id="25603" name="Rectangle 3"/>
          <p:cNvSpPr>
            <a:spLocks noGrp="1"/>
          </p:cNvSpPr>
          <p:nvPr>
            <p:ph idx="1"/>
          </p:nvPr>
        </p:nvSpPr>
        <p:spPr>
          <a:xfrm>
            <a:off x="455613" y="1550988"/>
            <a:ext cx="8662987" cy="4381500"/>
          </a:xfrm>
        </p:spPr>
        <p:txBody>
          <a:bodyPr vert="horz" wrap="square" lIns="91212" tIns="45605" rIns="91212" bIns="45605" anchor="t" anchorCtr="0"/>
          <a:p>
            <a:pPr marL="895350" indent="-895350">
              <a:buNone/>
            </a:pPr>
            <a:r>
              <a:rPr lang="zh-CN" altLang="en-US" sz="2400" b="1" dirty="0">
                <a:solidFill>
                  <a:srgbClr val="FF0000"/>
                </a:solidFill>
              </a:rPr>
              <a:t>用况名称</a:t>
            </a:r>
            <a:r>
              <a:rPr lang="zh-CN" altLang="en-US" sz="2400" b="1" dirty="0"/>
              <a:t>：取款</a:t>
            </a:r>
            <a:endParaRPr lang="en-US" altLang="zh-CN" sz="2400" b="1" dirty="0"/>
          </a:p>
          <a:p>
            <a:pPr marL="895350" indent="-895350">
              <a:buNone/>
            </a:pPr>
            <a:r>
              <a:rPr lang="zh-CN" altLang="en-US" sz="2400" b="1" dirty="0">
                <a:solidFill>
                  <a:srgbClr val="FF0000"/>
                </a:solidFill>
              </a:rPr>
              <a:t>用例编号</a:t>
            </a:r>
            <a:r>
              <a:rPr lang="zh-CN" altLang="en-US" sz="2400" b="1" dirty="0"/>
              <a:t>：</a:t>
            </a:r>
            <a:r>
              <a:rPr lang="en-US" altLang="zh-CN" sz="2400" b="1" dirty="0"/>
              <a:t>UC-2</a:t>
            </a:r>
            <a:endParaRPr lang="zh-CN" altLang="en-US" sz="2400" b="1" dirty="0"/>
          </a:p>
          <a:p>
            <a:pPr marL="895350" indent="-895350">
              <a:spcBef>
                <a:spcPct val="0"/>
              </a:spcBef>
              <a:buNone/>
            </a:pPr>
            <a:r>
              <a:rPr lang="zh-CN" altLang="en-US" sz="2400" b="1" dirty="0">
                <a:solidFill>
                  <a:srgbClr val="FF0000"/>
                </a:solidFill>
              </a:rPr>
              <a:t>参与者</a:t>
            </a:r>
            <a:r>
              <a:rPr lang="zh-CN" altLang="en-US" sz="2400" b="1" dirty="0"/>
              <a:t>：银行职员</a:t>
            </a:r>
            <a:endParaRPr lang="en-US" altLang="zh-CN" sz="2400" b="1" dirty="0"/>
          </a:p>
          <a:p>
            <a:pPr marL="895350" indent="-895350">
              <a:spcBef>
                <a:spcPct val="0"/>
              </a:spcBef>
              <a:buNone/>
            </a:pPr>
            <a:r>
              <a:rPr lang="zh-CN" altLang="en-US" sz="2400" b="1" dirty="0">
                <a:solidFill>
                  <a:srgbClr val="FF0000"/>
                </a:solidFill>
              </a:rPr>
              <a:t>前置条件</a:t>
            </a:r>
            <a:r>
              <a:rPr lang="zh-CN" altLang="en-US" sz="2400" b="1" dirty="0"/>
              <a:t>：一个合法的银行职员已登录到该系统</a:t>
            </a:r>
            <a:endParaRPr lang="zh-CN" altLang="en-US" sz="2400" b="1" dirty="0"/>
          </a:p>
          <a:p>
            <a:pPr marL="895350" indent="-895350">
              <a:spcBef>
                <a:spcPct val="0"/>
              </a:spcBef>
              <a:buNone/>
            </a:pPr>
            <a:r>
              <a:rPr lang="zh-CN" altLang="en-US" sz="2400" b="1" dirty="0">
                <a:solidFill>
                  <a:srgbClr val="FF0000"/>
                </a:solidFill>
              </a:rPr>
              <a:t>事件流</a:t>
            </a:r>
            <a:r>
              <a:rPr lang="zh-CN" altLang="en-US" sz="2400" b="1" dirty="0"/>
              <a:t>：</a:t>
            </a:r>
            <a:endParaRPr lang="zh-CN" altLang="en-US" sz="2400" b="1" dirty="0"/>
          </a:p>
          <a:p>
            <a:pPr marL="895350" indent="-895350">
              <a:spcBef>
                <a:spcPct val="0"/>
              </a:spcBef>
              <a:buNone/>
            </a:pPr>
            <a:r>
              <a:rPr lang="zh-CN" altLang="en-US" sz="2400" b="1" dirty="0"/>
              <a:t>   </a:t>
            </a:r>
            <a:r>
              <a:rPr lang="zh-CN" altLang="en-US" sz="2400" b="1" dirty="0">
                <a:solidFill>
                  <a:srgbClr val="FF0000"/>
                </a:solidFill>
              </a:rPr>
              <a:t>基本路径</a:t>
            </a:r>
            <a:r>
              <a:rPr lang="zh-CN" altLang="en-US" sz="2400" b="1" dirty="0"/>
              <a:t>：</a:t>
            </a:r>
            <a:endParaRPr lang="zh-CN" altLang="en-US" sz="2400" b="1" dirty="0"/>
          </a:p>
          <a:p>
            <a:pPr marL="1260475" lvl="1" indent="-895350">
              <a:spcBef>
                <a:spcPct val="0"/>
              </a:spcBef>
              <a:buNone/>
            </a:pPr>
            <a:r>
              <a:rPr lang="en-US" altLang="zh-CN" sz="2200" b="1" dirty="0"/>
              <a:t>1.</a:t>
            </a:r>
            <a:r>
              <a:rPr lang="zh-CN" altLang="en-US" sz="2200" b="1" dirty="0"/>
              <a:t>银行职员在系统主页选择取款功能；</a:t>
            </a:r>
            <a:endParaRPr lang="zh-CN" altLang="en-US" sz="2200" b="1" dirty="0"/>
          </a:p>
          <a:p>
            <a:pPr marL="1260475" lvl="1" indent="-895350">
              <a:spcBef>
                <a:spcPct val="0"/>
              </a:spcBef>
              <a:buNone/>
            </a:pPr>
            <a:r>
              <a:rPr lang="en-US" altLang="zh-CN" sz="2200" b="1" dirty="0"/>
              <a:t>2.</a:t>
            </a:r>
            <a:r>
              <a:rPr lang="zh-CN" altLang="en-US" sz="2200" b="1" dirty="0"/>
              <a:t>银行职员输入客户信息（姓名、账号等）；</a:t>
            </a:r>
            <a:endParaRPr lang="en-US" altLang="zh-CN" sz="2200" b="1" dirty="0"/>
          </a:p>
          <a:p>
            <a:pPr marL="1260475" lvl="1" indent="-895350">
              <a:spcBef>
                <a:spcPct val="0"/>
              </a:spcBef>
              <a:buNone/>
            </a:pPr>
            <a:r>
              <a:rPr lang="en-US" altLang="zh-CN" sz="2200" b="1" dirty="0"/>
              <a:t>3.</a:t>
            </a:r>
            <a:r>
              <a:rPr lang="zh-CN" altLang="en-US" sz="2200" b="1" dirty="0"/>
              <a:t>系统调取客户的账户信息；</a:t>
            </a:r>
            <a:endParaRPr lang="en-US" altLang="zh-CN" sz="2200" b="1" dirty="0"/>
          </a:p>
          <a:p>
            <a:pPr marL="1260475" lvl="1" indent="-895350">
              <a:spcBef>
                <a:spcPct val="0"/>
              </a:spcBef>
              <a:buNone/>
            </a:pPr>
            <a:r>
              <a:rPr lang="en-US" altLang="zh-CN" sz="2200" b="1" dirty="0"/>
              <a:t>4.</a:t>
            </a:r>
            <a:r>
              <a:rPr lang="zh-CN" altLang="en-US" sz="2200" b="1" dirty="0"/>
              <a:t>系统提示客户输入密码；</a:t>
            </a:r>
            <a:endParaRPr lang="en-US" altLang="zh-CN" sz="2200" b="1" dirty="0"/>
          </a:p>
          <a:p>
            <a:pPr marL="1260475" lvl="1" indent="-895350">
              <a:spcBef>
                <a:spcPct val="0"/>
              </a:spcBef>
              <a:buNone/>
            </a:pPr>
            <a:r>
              <a:rPr lang="en-US" altLang="zh-CN" sz="2200" b="1" dirty="0"/>
              <a:t>5. </a:t>
            </a:r>
            <a:r>
              <a:rPr lang="zh-CN" altLang="en-US" sz="2200" b="1" dirty="0"/>
              <a:t>系统校验客户密码；</a:t>
            </a:r>
            <a:endParaRPr lang="en-US" altLang="zh-CN" sz="2200" b="1" dirty="0"/>
          </a:p>
          <a:p>
            <a:pPr marL="1260475" lvl="1" indent="-895350">
              <a:spcBef>
                <a:spcPct val="0"/>
              </a:spcBef>
              <a:buNone/>
            </a:pPr>
            <a:r>
              <a:rPr lang="en-US" altLang="zh-CN" sz="2200" b="1" dirty="0"/>
              <a:t>6.</a:t>
            </a:r>
            <a:r>
              <a:rPr lang="zh-CN" altLang="en-US" sz="2200" b="1" dirty="0"/>
              <a:t>系统提示银行职员输入取款金额；</a:t>
            </a:r>
            <a:endParaRPr lang="en-US" altLang="zh-CN" sz="2200" b="1" dirty="0"/>
          </a:p>
          <a:p>
            <a:pPr marL="1260475" lvl="1" indent="-895350">
              <a:spcBef>
                <a:spcPct val="0"/>
              </a:spcBef>
              <a:buNone/>
            </a:pPr>
            <a:r>
              <a:rPr lang="en-US" altLang="zh-CN" sz="2200" b="1" dirty="0"/>
              <a:t>7.</a:t>
            </a:r>
            <a:r>
              <a:rPr lang="zh-CN" altLang="en-US" sz="2200" b="1" dirty="0"/>
              <a:t>银行职员输入金额；</a:t>
            </a:r>
            <a:endParaRPr lang="en-US" altLang="zh-CN" sz="2200" b="1" dirty="0"/>
          </a:p>
          <a:p>
            <a:pPr marL="1260475" lvl="1" indent="-895350">
              <a:spcBef>
                <a:spcPct val="0"/>
              </a:spcBef>
              <a:buNone/>
            </a:pPr>
            <a:r>
              <a:rPr lang="en-US" altLang="zh-CN" sz="2200" b="1" dirty="0"/>
              <a:t>8.</a:t>
            </a:r>
            <a:r>
              <a:rPr lang="zh-CN" altLang="en-US" sz="2200" b="1" dirty="0"/>
              <a:t>系统打印取款单，由银行职员交给客户签字</a:t>
            </a:r>
            <a:endParaRPr lang="zh-CN" altLang="en-US" sz="22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1715" name="Rectangle 3"/>
          <p:cNvSpPr>
            <a:spLocks noGrp="1" noChangeArrowheads="1"/>
          </p:cNvSpPr>
          <p:nvPr>
            <p:ph idx="1"/>
          </p:nvPr>
        </p:nvSpPr>
        <p:spPr>
          <a:xfrm>
            <a:off x="527050" y="974725"/>
            <a:ext cx="8591550" cy="4381500"/>
          </a:xfrm>
        </p:spPr>
        <p:txBody>
          <a:bodyPr vert="horz" wrap="square" lIns="91212" tIns="45605" rIns="91212" bIns="45605" numCol="1" anchor="t" anchorCtr="0" compatLnSpc="1"/>
          <a:lstStyle/>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9.</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系统建立取款事件记录，并更新账户信息</a:t>
            </a:r>
            <a:endPar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10. </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系统打印存折，用例结束</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2585" marR="0" lvl="0" indent="-362585" algn="l" defTabSz="914400" rtl="0" eaLnBrk="0" fontAlgn="base" latinLnBrk="0" hangingPunct="0">
              <a:lnSpc>
                <a:spcPct val="100000"/>
              </a:lnSpc>
              <a:spcBef>
                <a:spcPct val="0"/>
              </a:spcBef>
              <a:spcAft>
                <a:spcPct val="0"/>
              </a:spcAft>
              <a:buClr>
                <a:srgbClr val="0BD0D9"/>
              </a:buClr>
              <a:buSzPct val="95000"/>
              <a:buFont typeface="Wingdings 2" panose="05020102010507070707" pitchFamily="18" charset="2"/>
              <a:buNone/>
              <a:defRPr/>
            </a:pPr>
            <a:r>
              <a:rPr kumimoji="0" lang="zh-CN" altLang="en-US" sz="2400" b="1" i="0" u="none" strike="noStrike" kern="1200" cap="none" spc="0" normalizeH="0" baseline="0" noProof="0" dirty="0">
                <a:ln>
                  <a:noFill/>
                </a:ln>
                <a:solidFill>
                  <a:srgbClr val="FF0000"/>
                </a:solidFill>
                <a:effectLst/>
                <a:uLnTx/>
                <a:uFillTx/>
                <a:latin typeface="楷体_GB2312" pitchFamily="49" charset="-122"/>
                <a:ea typeface="+mn-ea"/>
                <a:cs typeface="+mn-cs"/>
              </a:rPr>
              <a:t>可选路径</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0"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3a:</a:t>
            </a:r>
            <a:r>
              <a:rPr kumimoji="0" lang="zh-CN" altLang="en-US" sz="2200" b="1" i="0" u="none" strike="noStrike" kern="1200" cap="none" spc="0" normalizeH="0" baseline="0" noProof="0" dirty="0">
                <a:ln>
                  <a:noFill/>
                </a:ln>
                <a:solidFill>
                  <a:schemeClr val="tx1"/>
                </a:solidFill>
                <a:effectLst/>
                <a:uLnTx/>
                <a:uFillTx/>
                <a:latin typeface="+mn-lt"/>
                <a:ea typeface="+mn-ea"/>
                <a:cs typeface="+mn-cs"/>
              </a:rPr>
              <a:t>客户信息与账户信息不一致</a:t>
            </a:r>
            <a:endParaRPr kumimoji="0" lang="en-US" altLang="zh-CN" sz="2200" b="1" i="0" u="none" strike="noStrike" kern="1200" cap="none" spc="0" normalizeH="0" baseline="0" noProof="0" dirty="0">
              <a:ln>
                <a:noFill/>
              </a:ln>
              <a:solidFill>
                <a:schemeClr val="tx1"/>
              </a:solidFill>
              <a:effectLst/>
              <a:uLnTx/>
              <a:uFillTx/>
              <a:latin typeface="+mn-lt"/>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cs"/>
              </a:rPr>
              <a:t>3a1. </a:t>
            </a:r>
            <a:r>
              <a:rPr kumimoji="0" lang="zh-CN" altLang="en-US" sz="2200" b="1" i="0" u="none" strike="noStrike" kern="1200" cap="none" spc="0" normalizeH="0" baseline="0" noProof="0" dirty="0">
                <a:ln>
                  <a:noFill/>
                </a:ln>
                <a:solidFill>
                  <a:schemeClr val="tx1"/>
                </a:solidFill>
                <a:effectLst/>
                <a:uLnTx/>
                <a:uFillTx/>
                <a:latin typeface="+mn-lt"/>
                <a:ea typeface="+mn-ea"/>
                <a:cs typeface="+mn-cs"/>
              </a:rPr>
              <a:t>系统显示错误信息，并提示可以重新输入或结束用例</a:t>
            </a:r>
            <a:r>
              <a:rPr kumimoji="0" lang="en-US" altLang="zh-CN" sz="22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200" b="1" i="0" u="none" strike="noStrike" kern="1200" cap="none" spc="0" normalizeH="0" baseline="0" noProof="0" dirty="0">
              <a:ln>
                <a:noFill/>
              </a:ln>
              <a:solidFill>
                <a:schemeClr val="tx1"/>
              </a:solidFill>
              <a:effectLst/>
              <a:uLnTx/>
              <a:uFillTx/>
              <a:latin typeface="+mn-lt"/>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mn-lt"/>
                <a:ea typeface="+mn-ea"/>
                <a:cs typeface="+mn-cs"/>
              </a:rPr>
              <a:t>3b: </a:t>
            </a:r>
            <a:r>
              <a:rPr kumimoji="0" lang="zh-CN" altLang="en-US" sz="2200" b="1" i="0" u="none" strike="noStrike" kern="1200" cap="none" spc="0" normalizeH="0" baseline="0" noProof="0" dirty="0">
                <a:ln>
                  <a:noFill/>
                </a:ln>
                <a:solidFill>
                  <a:schemeClr val="tx1"/>
                </a:solidFill>
                <a:effectLst/>
                <a:uLnTx/>
                <a:uFillTx/>
                <a:latin typeface="+mn-lt"/>
                <a:ea typeface="+mn-ea"/>
                <a:cs typeface="+mn-cs"/>
              </a:rPr>
              <a:t>该账户被冻结（如因挂失而冻结）</a:t>
            </a:r>
            <a:endParaRPr kumimoji="0" lang="en-US" altLang="zh-CN" sz="2200" b="1" i="0" u="none" strike="noStrike" kern="1200" cap="none" spc="0" normalizeH="0" baseline="0" noProof="0" dirty="0">
              <a:ln>
                <a:noFill/>
              </a:ln>
              <a:solidFill>
                <a:schemeClr val="tx1"/>
              </a:solidFill>
              <a:effectLst/>
              <a:uLnTx/>
              <a:uFillTx/>
              <a:latin typeface="+mn-lt"/>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3b1.</a:t>
            </a:r>
            <a:r>
              <a:rPr kumimoji="0" lang="zh-CN" altLang="en-US" sz="2200" b="1" i="0" u="none" strike="noStrike" kern="1200" cap="none" spc="0" normalizeH="0" baseline="0" noProof="0" dirty="0">
                <a:ln>
                  <a:noFill/>
                </a:ln>
                <a:solidFill>
                  <a:schemeClr val="tx1"/>
                </a:solidFill>
                <a:effectLst/>
                <a:uLnTx/>
                <a:uFillTx/>
                <a:latin typeface="+mn-lt"/>
                <a:ea typeface="+mn-ea"/>
                <a:cs typeface="+mn-cs"/>
              </a:rPr>
              <a:t>系统显示冻结信息并结束用例</a:t>
            </a:r>
            <a:endParaRPr kumimoji="0" lang="en-US" altLang="zh-CN" sz="2200" b="1" i="0" u="none" strike="noStrike" kern="1200" cap="none" spc="0" normalizeH="0" baseline="0" noProof="0" dirty="0">
              <a:ln>
                <a:noFill/>
              </a:ln>
              <a:solidFill>
                <a:schemeClr val="tx1"/>
              </a:solidFill>
              <a:effectLst/>
              <a:uLnTx/>
              <a:uFillTx/>
              <a:latin typeface="+mn-lt"/>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5a: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客户两次输入的密码不一致</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5a1.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系统提示客户重新输入密码，或结束当前用例</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7a: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账户的余款小于取款金额</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7a1.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系统显示账户的余款小于取款金额信息，要求重新输入金额</a:t>
            </a:r>
            <a:endParaRPr kumimoji="0" lang="zh-CN" altLang="en-US" sz="2200" b="1" i="0" u="none" strike="noStrike" kern="1200" cap="none" spc="0" normalizeH="0" baseline="0" noProof="0" dirty="0">
              <a:ln>
                <a:noFill/>
              </a:ln>
              <a:solidFill>
                <a:schemeClr val="tx1"/>
              </a:solidFill>
              <a:effectLst/>
              <a:uLnTx/>
              <a:uFillTx/>
              <a:latin typeface="+mn-lt"/>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8a: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客户取消本次取款</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8a1: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客户拒绝签字</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8a2.</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系统结束当前用例</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2585" marR="0" lvl="1" indent="-362585" algn="l" defTabSz="914400" rtl="0" eaLnBrk="0" fontAlgn="base" latinLnBrk="0" hangingPunct="0">
              <a:lnSpc>
                <a:spcPct val="100000"/>
              </a:lnSpc>
              <a:spcBef>
                <a:spcPct val="0"/>
              </a:spcBef>
              <a:spcAft>
                <a:spcPct val="0"/>
              </a:spcAft>
              <a:buClr>
                <a:srgbClr val="0BD0D9"/>
              </a:buClr>
              <a:buSzPct val="95000"/>
              <a:buFont typeface="Wingdings 2" panose="05020102010507070707" pitchFamily="18" charset="2"/>
              <a:buNone/>
              <a:defRPr/>
            </a:pPr>
            <a:r>
              <a:rPr kumimoji="0" lang="zh-CN" altLang="en-US" sz="2400" b="1" i="0" u="none" strike="noStrike" kern="1200" cap="none" spc="0" normalizeH="0" baseline="0" noProof="0" dirty="0" smtClean="0">
                <a:ln>
                  <a:noFill/>
                </a:ln>
                <a:solidFill>
                  <a:srgbClr val="FF0000"/>
                </a:solidFill>
                <a:effectLst/>
                <a:uLnTx/>
                <a:uFillTx/>
                <a:latin typeface="楷体_GB2312" pitchFamily="49" charset="-122"/>
                <a:ea typeface="+mn-ea"/>
                <a:cs typeface="+mn-cs"/>
              </a:rPr>
              <a:t>后置条件</a:t>
            </a:r>
            <a:endParaRPr kumimoji="0" lang="zh-CN" altLang="en-US" sz="2400" b="1" i="0" u="none" strike="noStrike" kern="1200" cap="none" spc="0" normalizeH="0" baseline="0" noProof="0" dirty="0" smtClean="0">
              <a:ln>
                <a:noFill/>
              </a:ln>
              <a:solidFill>
                <a:srgbClr val="FF0000"/>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如果取款成功，客户账户中的余额被减少，否则余额不变。</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endParaRPr kumimoji="0"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527050" y="542925"/>
            <a:ext cx="7993063" cy="512445"/>
          </a:xfrm>
          <a:prstGeom prst="rect">
            <a:avLst/>
          </a:prstGeom>
          <a:noFill/>
          <a:ln w="9525">
            <a:noFill/>
            <a:miter lim="800000"/>
          </a:ln>
          <a:effectLst/>
        </p:spPr>
        <p:txBody>
          <a:bodyPr wrap="square"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第六次</a:t>
            </a:r>
            <a:r>
              <a:rPr kumimoji="1" lang="zh-CN" altLang="en-US" sz="50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j-cs"/>
              </a:rPr>
              <a:t>课：</a:t>
            </a:r>
            <a:r>
              <a:rPr kumimoji="1" lang="zh-CN" altLang="en-US" sz="5000" kern="1200" cap="none" spc="0" normalizeH="0" baseline="0" noProof="0" dirty="0" smtClean="0">
                <a:solidFill>
                  <a:srgbClr val="FF0000"/>
                </a:solidFill>
                <a:latin typeface="微软雅黑" panose="020B0503020204020204" pitchFamily="34" charset="-122"/>
                <a:ea typeface="微软雅黑" panose="020B0503020204020204" pitchFamily="34" charset="-122"/>
                <a:cs typeface="+mj-cs"/>
              </a:rPr>
              <a:t>面向对象的基础</a:t>
            </a:r>
            <a:endParaRPr kumimoji="1" lang="zh-CN" altLang="en-US" sz="5000" kern="1200" cap="none" spc="0" normalizeH="0" baseline="0" noProof="0" dirty="0">
              <a:solidFill>
                <a:srgbClr val="FF0000"/>
              </a:solidFill>
              <a:latin typeface="微软雅黑" panose="020B0503020204020204" pitchFamily="34" charset="-122"/>
              <a:ea typeface="微软雅黑" panose="020B0503020204020204" pitchFamily="34" charset="-122"/>
              <a:cs typeface="+mj-cs"/>
            </a:endParaRPr>
          </a:p>
        </p:txBody>
      </p:sp>
      <p:sp>
        <p:nvSpPr>
          <p:cNvPr id="96262" name="Text Box 6"/>
          <p:cNvSpPr txBox="1">
            <a:spLocks noChangeArrowheads="1"/>
          </p:cNvSpPr>
          <p:nvPr/>
        </p:nvSpPr>
        <p:spPr bwMode="auto">
          <a:xfrm>
            <a:off x="798513" y="1477963"/>
            <a:ext cx="6591300" cy="3065463"/>
          </a:xfrm>
          <a:prstGeom prst="rect">
            <a:avLst/>
          </a:prstGeom>
          <a:noFill/>
          <a:ln w="9525">
            <a:noFill/>
            <a:miter lim="800000"/>
          </a:ln>
          <a:effectLst/>
        </p:spPr>
        <p:txBody>
          <a:bodyPr lIns="0" tIns="0" rIns="0" bIns="0">
            <a:spAutoFit/>
          </a:bodyPr>
          <a:lstStyle/>
          <a:p>
            <a:pPr marL="273050" marR="0" indent="-273050" defTabSz="914400" eaLnBrk="1" hangingPunct="1">
              <a:spcBef>
                <a:spcPct val="20000"/>
              </a:spcBef>
              <a:buClr>
                <a:srgbClr val="0BD0D9"/>
              </a:buClr>
              <a:buSzPct val="95000"/>
              <a:buFont typeface="Wingdings" panose="05000000000000000000" pitchFamily="2" charset="2"/>
              <a:buChar char="p"/>
              <a:tabLst>
                <a:tab pos="457200" algn="l"/>
              </a:tabLst>
              <a:defRPr/>
            </a:pPr>
            <a:r>
              <a:rPr kumimoji="1" lang="zh-CN" altLang="en-US" sz="3200" kern="1200" cap="none" spc="0" normalizeH="0" baseline="0" noProof="0" dirty="0">
                <a:latin typeface="+mn-lt"/>
                <a:ea typeface="+mn-ea"/>
                <a:cs typeface="+mn-cs"/>
              </a:rPr>
              <a:t>面向对象基础</a:t>
            </a:r>
            <a:endParaRPr kumimoji="1" lang="zh-CN" altLang="en-US" sz="3200" kern="1200" cap="none" spc="0" normalizeH="0" baseline="0" noProof="0" dirty="0">
              <a:latin typeface="+mn-lt"/>
              <a:ea typeface="+mn-ea"/>
              <a:cs typeface="+mn-cs"/>
            </a:endParaRPr>
          </a:p>
          <a:p>
            <a:pPr marL="455930" marR="0" lvl="1" indent="1905"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面向对象基本概念</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a:p>
            <a:pPr marL="273050" marR="0" indent="-273050" defTabSz="914400" eaLnBrk="1" hangingPunct="1">
              <a:spcBef>
                <a:spcPct val="20000"/>
              </a:spcBef>
              <a:buClr>
                <a:srgbClr val="0BD0D9"/>
              </a:buClr>
              <a:buSzPct val="95000"/>
              <a:buFont typeface="Wingdings" panose="05000000000000000000" pitchFamily="2" charset="2"/>
              <a:buChar char="p"/>
              <a:tabLst>
                <a:tab pos="457200" algn="l"/>
              </a:tabLst>
              <a:defRPr/>
            </a:pPr>
            <a:r>
              <a:rPr kumimoji="1" lang="zh-CN" altLang="en-US" sz="3200" kern="1200" cap="none" spc="0" normalizeH="0" baseline="0" noProof="0" dirty="0">
                <a:latin typeface="+mn-lt"/>
                <a:ea typeface="+mn-ea"/>
                <a:cs typeface="+mn-cs"/>
              </a:rPr>
              <a:t>统一建模语言</a:t>
            </a:r>
            <a:r>
              <a:rPr kumimoji="1" lang="en-US" altLang="zh-CN" sz="3200" kern="1200" cap="none" spc="0" normalizeH="0" baseline="0" noProof="0" dirty="0">
                <a:latin typeface="+mn-lt"/>
                <a:ea typeface="+mn-ea"/>
                <a:cs typeface="+mn-cs"/>
              </a:rPr>
              <a:t>UML</a:t>
            </a:r>
            <a:endParaRPr kumimoji="1" lang="en-US" altLang="zh-CN" sz="3200" kern="1200" cap="none" spc="0" normalizeH="0" baseline="0" noProof="0" dirty="0">
              <a:latin typeface="+mn-lt"/>
              <a:ea typeface="+mn-ea"/>
              <a:cs typeface="+mn-cs"/>
            </a:endParaRPr>
          </a:p>
          <a:p>
            <a:pPr marL="455930" marR="0" lvl="1" indent="1905"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en-US" altLang="zh-CN"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UML</a:t>
            </a: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语言概述</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a:p>
            <a:pPr marL="455930" marR="0" lvl="1" indent="1905"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en-US" altLang="zh-CN"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UML</a:t>
            </a: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语言的基本元素</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a:p>
            <a:pPr marL="455930" marR="0" lvl="1" indent="1905"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zh-CN" altLang="en-US" sz="28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常用的</a:t>
            </a:r>
            <a:r>
              <a:rPr kumimoji="0" lang="en-US" altLang="zh-CN" sz="28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UML</a:t>
            </a:r>
            <a:r>
              <a:rPr kumimoji="0" lang="zh-CN" altLang="en-US" sz="28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图</a:t>
            </a:r>
            <a:r>
              <a:rPr kumimoji="0"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   </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96262"/>
                                        </p:tgtEl>
                                        <p:attrNameLst>
                                          <p:attrName>style.visibility</p:attrName>
                                        </p:attrNameLst>
                                      </p:cBhvr>
                                      <p:to>
                                        <p:strVal val="visible"/>
                                      </p:to>
                                    </p:set>
                                    <p:animEffect transition="in" filter="blinds(horizontal)">
                                      <p:cBhvr>
                                        <p:cTn id="7" dur="500"/>
                                        <p:tgtEl>
                                          <p:spTgt spid="9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455613" y="542925"/>
            <a:ext cx="8207375" cy="1139825"/>
          </a:xfrm>
        </p:spPr>
        <p:txBody>
          <a:bodyPr vert="horz" wrap="square" lIns="0" tIns="45605"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面向对象方法</a:t>
            </a:r>
            <a:endParaRPr lang="zh-CN" altLang="en-US" b="1" dirty="0">
              <a:latin typeface="微软雅黑" panose="020B0503020204020204" pitchFamily="34" charset="-122"/>
              <a:ea typeface="微软雅黑" panose="020B0503020204020204" pitchFamily="34" charset="-122"/>
            </a:endParaRPr>
          </a:p>
        </p:txBody>
      </p:sp>
      <p:sp>
        <p:nvSpPr>
          <p:cNvPr id="30723"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13316" name="矩形 5"/>
          <p:cNvSpPr/>
          <p:nvPr/>
        </p:nvSpPr>
        <p:spPr>
          <a:xfrm>
            <a:off x="958850" y="4214813"/>
            <a:ext cx="7439025" cy="646112"/>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600" b="1" dirty="0">
                <a:latin typeface="微软雅黑" panose="020B0503020204020204" pitchFamily="34" charset="-122"/>
                <a:ea typeface="微软雅黑" panose="020B0503020204020204" pitchFamily="34" charset="-122"/>
              </a:rPr>
              <a:t>面向对象</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对象 </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类</a:t>
            </a:r>
            <a:r>
              <a:rPr lang="en-US" altLang="zh-CN" sz="3600" b="1" dirty="0">
                <a:latin typeface="微软雅黑" panose="020B0503020204020204" pitchFamily="34" charset="-122"/>
                <a:ea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rPr>
              <a:t>继承</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消息</a:t>
            </a:r>
            <a:endParaRPr lang="zh-CN" altLang="en-US" sz="3600" b="1" dirty="0">
              <a:latin typeface="微软雅黑" panose="020B0503020204020204" pitchFamily="34" charset="-122"/>
              <a:ea typeface="微软雅黑" panose="020B0503020204020204" pitchFamily="34" charset="-122"/>
            </a:endParaRPr>
          </a:p>
        </p:txBody>
      </p:sp>
      <p:sp>
        <p:nvSpPr>
          <p:cNvPr id="2" name="矩形 1"/>
          <p:cNvSpPr/>
          <p:nvPr/>
        </p:nvSpPr>
        <p:spPr>
          <a:xfrm>
            <a:off x="887413" y="2211388"/>
            <a:ext cx="6911975" cy="1077912"/>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1" indent="1905" defTabSz="914400" eaLnBrk="1" hangingPunct="1">
              <a:spcBef>
                <a:spcPct val="0"/>
              </a:spcBef>
              <a:buClr>
                <a:srgbClr val="0BD0D9"/>
              </a:buClr>
              <a:buSzPct val="95000"/>
              <a:buFont typeface="Wingdings" panose="05000000000000000000" pitchFamily="2" charset="2"/>
              <a:buNone/>
              <a:tabLst>
                <a:tab pos="457200" algn="l"/>
              </a:tabLst>
            </a:pPr>
            <a:r>
              <a:rPr lang="zh-CN" altLang="en-US" sz="3200" b="1" dirty="0">
                <a:solidFill>
                  <a:srgbClr val="FF0000"/>
                </a:solidFill>
                <a:latin typeface="黑体" panose="02010609060101010101" pitchFamily="49" charset="-122"/>
                <a:ea typeface="黑体" panose="02010609060101010101" pitchFamily="49" charset="-122"/>
              </a:rPr>
              <a:t>“面向对象方法”不仅仅是使用面向对象编程语言（ </a:t>
            </a:r>
            <a:r>
              <a:rPr lang="en-US" altLang="zh-CN" sz="3200" b="1" dirty="0">
                <a:solidFill>
                  <a:srgbClr val="FF0000"/>
                </a:solidFill>
                <a:latin typeface="黑体" panose="02010609060101010101" pitchFamily="49" charset="-122"/>
                <a:ea typeface="黑体" panose="02010609060101010101" pitchFamily="49" charset="-122"/>
              </a:rPr>
              <a:t>C++, Java </a:t>
            </a:r>
            <a:r>
              <a:rPr lang="zh-CN" altLang="en-US" sz="3200" b="1" dirty="0">
                <a:solidFill>
                  <a:srgbClr val="FF0000"/>
                </a:solidFill>
                <a:latin typeface="黑体" panose="02010609060101010101" pitchFamily="49" charset="-122"/>
                <a:ea typeface="黑体" panose="02010609060101010101" pitchFamily="49" charset="-122"/>
              </a:rPr>
              <a:t>）</a:t>
            </a:r>
            <a:endParaRPr lang="zh-CN" altLang="en-US" sz="32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6"/>
                                        </p:tgtEl>
                                        <p:attrNameLst>
                                          <p:attrName>style.visibility</p:attrName>
                                        </p:attrNameLst>
                                      </p:cBhvr>
                                      <p:to>
                                        <p:strVal val="visible"/>
                                      </p:to>
                                    </p:set>
                                    <p:anim calcmode="lin" valueType="num">
                                      <p:cBhvr additive="base">
                                        <p:cTn id="13" dur="500" fill="hold"/>
                                        <p:tgtEl>
                                          <p:spTgt spid="13316"/>
                                        </p:tgtEl>
                                        <p:attrNameLst>
                                          <p:attrName>ppt_x</p:attrName>
                                        </p:attrNameLst>
                                      </p:cBhvr>
                                      <p:tavLst>
                                        <p:tav tm="0">
                                          <p:val>
                                            <p:strVal val="#ppt_x"/>
                                          </p:val>
                                        </p:tav>
                                        <p:tav tm="100000">
                                          <p:val>
                                            <p:strVal val="#ppt_x"/>
                                          </p:val>
                                        </p:tav>
                                      </p:tavLst>
                                    </p:anim>
                                    <p:anim calcmode="lin" valueType="num">
                                      <p:cBhvr additive="base">
                                        <p:cTn id="14"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4"/>
          <p:cNvSpPr>
            <a:spLocks noGrp="1"/>
          </p:cNvSpPr>
          <p:nvPr>
            <p:ph type="title"/>
          </p:nvPr>
        </p:nvSpPr>
        <p:spPr>
          <a:xfrm>
            <a:off x="455613" y="398463"/>
            <a:ext cx="8205787" cy="1141412"/>
          </a:xfrm>
        </p:spPr>
        <p:txBody>
          <a:bodyPr vert="horz" wrap="square" lIns="0" tIns="45605"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面向对象方法的发展历史</a:t>
            </a:r>
            <a:endParaRPr lang="zh-CN" altLang="en-US" b="1" dirty="0">
              <a:latin typeface="微软雅黑" panose="020B0503020204020204" pitchFamily="34" charset="-122"/>
              <a:ea typeface="微软雅黑" panose="020B0503020204020204" pitchFamily="34" charset="-122"/>
            </a:endParaRPr>
          </a:p>
        </p:txBody>
      </p:sp>
      <p:sp>
        <p:nvSpPr>
          <p:cNvPr id="31747" name="Rectangle 3"/>
          <p:cNvSpPr>
            <a:spLocks noGrp="1"/>
          </p:cNvSpPr>
          <p:nvPr>
            <p:ph idx="1"/>
          </p:nvPr>
        </p:nvSpPr>
        <p:spPr>
          <a:xfrm>
            <a:off x="455613" y="1838325"/>
            <a:ext cx="8662987" cy="5248275"/>
          </a:xfrm>
        </p:spPr>
        <p:txBody>
          <a:bodyPr vert="horz" wrap="square" lIns="91212" tIns="45605" rIns="91212" bIns="45605" anchor="t" anchorCtr="0"/>
          <a:p>
            <a:pPr defTabSz="914400" eaLnBrk="1" hangingPunct="1">
              <a:buFont typeface="Wingdings" panose="05000000000000000000" pitchFamily="2" charset="2"/>
              <a:buChar char="p"/>
              <a:tabLst>
                <a:tab pos="457200" algn="l"/>
              </a:tabLst>
            </a:pPr>
            <a:r>
              <a:rPr lang="zh-CN" altLang="en-US" sz="2800" b="1" dirty="0"/>
              <a:t>初始阶段</a:t>
            </a:r>
            <a:endParaRPr lang="zh-CN" altLang="en-US" sz="2800" b="1" dirty="0"/>
          </a:p>
          <a:p>
            <a:pPr lvl="1" defTabSz="914400" eaLnBrk="1" hangingPunct="1">
              <a:buFont typeface="Wingdings" panose="05000000000000000000" pitchFamily="2" charset="2"/>
              <a:buChar char="ü"/>
              <a:tabLst>
                <a:tab pos="457200" algn="l"/>
              </a:tabLst>
            </a:pPr>
            <a:r>
              <a:rPr lang="en-US" altLang="zh-CN" dirty="0">
                <a:solidFill>
                  <a:srgbClr val="000000"/>
                </a:solidFill>
              </a:rPr>
              <a:t>1960</a:t>
            </a:r>
            <a:r>
              <a:rPr lang="zh-CN" altLang="en-US" dirty="0">
                <a:solidFill>
                  <a:srgbClr val="000000"/>
                </a:solidFill>
                <a:latin typeface="华文细黑" panose="02010600040101010101" pitchFamily="2" charset="-122"/>
              </a:rPr>
              <a:t>年代</a:t>
            </a:r>
            <a:r>
              <a:rPr lang="en-US" altLang="zh-CN" dirty="0">
                <a:solidFill>
                  <a:srgbClr val="000000"/>
                </a:solidFill>
              </a:rPr>
              <a:t> : </a:t>
            </a:r>
            <a:r>
              <a:rPr lang="en-US" altLang="zh-CN" i="1" dirty="0">
                <a:solidFill>
                  <a:srgbClr val="000000"/>
                </a:solidFill>
              </a:rPr>
              <a:t>Simula </a:t>
            </a:r>
            <a:r>
              <a:rPr lang="zh-CN" altLang="en-US" dirty="0">
                <a:solidFill>
                  <a:srgbClr val="000000"/>
                </a:solidFill>
              </a:rPr>
              <a:t>编程语言</a:t>
            </a:r>
            <a:endParaRPr lang="zh-CN" altLang="en-US" dirty="0">
              <a:solidFill>
                <a:srgbClr val="000000"/>
              </a:solidFill>
            </a:endParaRPr>
          </a:p>
          <a:p>
            <a:pPr lvl="1" defTabSz="914400" eaLnBrk="1" hangingPunct="1">
              <a:buFont typeface="Wingdings" panose="05000000000000000000" pitchFamily="2" charset="2"/>
              <a:buChar char="ü"/>
              <a:tabLst>
                <a:tab pos="457200" algn="l"/>
              </a:tabLst>
            </a:pPr>
            <a:r>
              <a:rPr lang="en-US" altLang="zh-CN" dirty="0">
                <a:solidFill>
                  <a:srgbClr val="000000"/>
                </a:solidFill>
              </a:rPr>
              <a:t>1970</a:t>
            </a:r>
            <a:r>
              <a:rPr lang="zh-CN" altLang="en-US" dirty="0">
                <a:solidFill>
                  <a:srgbClr val="000000"/>
                </a:solidFill>
              </a:rPr>
              <a:t>年代</a:t>
            </a:r>
            <a:r>
              <a:rPr lang="en-US" altLang="zh-CN" dirty="0">
                <a:solidFill>
                  <a:srgbClr val="000000"/>
                </a:solidFill>
              </a:rPr>
              <a:t>: </a:t>
            </a:r>
            <a:r>
              <a:rPr lang="en-US" altLang="zh-CN" i="1" dirty="0">
                <a:solidFill>
                  <a:srgbClr val="000000"/>
                </a:solidFill>
              </a:rPr>
              <a:t>Smalltalk </a:t>
            </a:r>
            <a:r>
              <a:rPr lang="zh-CN" altLang="en-US" dirty="0">
                <a:solidFill>
                  <a:srgbClr val="000000"/>
                </a:solidFill>
              </a:rPr>
              <a:t>编程语言</a:t>
            </a:r>
            <a:endParaRPr lang="zh-CN" altLang="en-US" dirty="0">
              <a:solidFill>
                <a:srgbClr val="000000"/>
              </a:solidFill>
            </a:endParaRPr>
          </a:p>
          <a:p>
            <a:pPr defTabSz="914400" eaLnBrk="1" hangingPunct="1">
              <a:buFont typeface="Wingdings" panose="05000000000000000000" pitchFamily="2" charset="2"/>
              <a:buChar char="p"/>
              <a:tabLst>
                <a:tab pos="457200" algn="l"/>
              </a:tabLst>
            </a:pPr>
            <a:r>
              <a:rPr lang="zh-CN" altLang="en-US" sz="2800" b="1" dirty="0"/>
              <a:t>发展阶段</a:t>
            </a:r>
            <a:endParaRPr lang="zh-CN" altLang="en-US" sz="2800" b="1" dirty="0"/>
          </a:p>
          <a:p>
            <a:pPr lvl="1" defTabSz="914400" eaLnBrk="1" hangingPunct="1">
              <a:buFont typeface="Wingdings" panose="05000000000000000000" pitchFamily="2" charset="2"/>
              <a:buChar char="ü"/>
              <a:tabLst>
                <a:tab pos="457200" algn="l"/>
              </a:tabLst>
            </a:pPr>
            <a:r>
              <a:rPr lang="en-US" altLang="zh-CN" dirty="0">
                <a:solidFill>
                  <a:srgbClr val="000000"/>
                </a:solidFill>
              </a:rPr>
              <a:t>1980</a:t>
            </a:r>
            <a:r>
              <a:rPr lang="zh-CN" altLang="en-US" dirty="0">
                <a:solidFill>
                  <a:srgbClr val="000000"/>
                </a:solidFill>
              </a:rPr>
              <a:t>年代：</a:t>
            </a:r>
            <a:r>
              <a:rPr lang="en-US" altLang="zh-CN" dirty="0">
                <a:solidFill>
                  <a:srgbClr val="000000"/>
                </a:solidFill>
              </a:rPr>
              <a:t> </a:t>
            </a:r>
            <a:r>
              <a:rPr lang="zh-CN" altLang="en-US" dirty="0">
                <a:solidFill>
                  <a:srgbClr val="000000"/>
                </a:solidFill>
              </a:rPr>
              <a:t>许多 </a:t>
            </a:r>
            <a:r>
              <a:rPr lang="en-US" altLang="zh-CN" dirty="0">
                <a:solidFill>
                  <a:srgbClr val="000000"/>
                </a:solidFill>
              </a:rPr>
              <a:t>OO </a:t>
            </a:r>
            <a:r>
              <a:rPr lang="zh-CN" altLang="en-US" dirty="0">
                <a:solidFill>
                  <a:srgbClr val="000000"/>
                </a:solidFill>
              </a:rPr>
              <a:t>编程语言（如 </a:t>
            </a:r>
            <a:r>
              <a:rPr lang="en-US" altLang="zh-CN" dirty="0">
                <a:solidFill>
                  <a:srgbClr val="000000"/>
                </a:solidFill>
              </a:rPr>
              <a:t>C++, Objective-C </a:t>
            </a:r>
            <a:r>
              <a:rPr lang="zh-CN" altLang="en-US" dirty="0">
                <a:solidFill>
                  <a:srgbClr val="000000"/>
                </a:solidFill>
              </a:rPr>
              <a:t>等）</a:t>
            </a:r>
            <a:endParaRPr lang="zh-CN" altLang="en-US" dirty="0">
              <a:solidFill>
                <a:srgbClr val="000000"/>
              </a:solidFill>
            </a:endParaRPr>
          </a:p>
          <a:p>
            <a:pPr defTabSz="914400" eaLnBrk="1" hangingPunct="1">
              <a:buFont typeface="Wingdings" panose="05000000000000000000" pitchFamily="2" charset="2"/>
              <a:buChar char="p"/>
              <a:tabLst>
                <a:tab pos="457200" algn="l"/>
              </a:tabLst>
            </a:pPr>
            <a:r>
              <a:rPr lang="zh-CN" altLang="en-US" sz="2800" b="1" dirty="0"/>
              <a:t>成熟阶段</a:t>
            </a:r>
            <a:endParaRPr lang="zh-CN" altLang="en-US" sz="2800" b="1" dirty="0"/>
          </a:p>
          <a:p>
            <a:pPr lvl="1" defTabSz="914400" eaLnBrk="1" hangingPunct="1">
              <a:buFont typeface="Wingdings" panose="05000000000000000000" pitchFamily="2" charset="2"/>
              <a:buChar char="ü"/>
              <a:tabLst>
                <a:tab pos="457200" algn="l"/>
              </a:tabLst>
            </a:pPr>
            <a:r>
              <a:rPr lang="en-US" altLang="zh-CN" dirty="0">
                <a:solidFill>
                  <a:srgbClr val="000000"/>
                </a:solidFill>
              </a:rPr>
              <a:t>1990</a:t>
            </a:r>
            <a:r>
              <a:rPr lang="zh-CN" altLang="en-US" dirty="0">
                <a:solidFill>
                  <a:srgbClr val="000000"/>
                </a:solidFill>
                <a:latin typeface="华文细黑" panose="02010600040101010101" pitchFamily="2" charset="-122"/>
              </a:rPr>
              <a:t>年代</a:t>
            </a:r>
            <a:r>
              <a:rPr lang="en-US" altLang="zh-CN" dirty="0">
                <a:solidFill>
                  <a:srgbClr val="000000"/>
                </a:solidFill>
              </a:rPr>
              <a:t>: </a:t>
            </a:r>
            <a:r>
              <a:rPr lang="zh-CN" altLang="en-US" dirty="0">
                <a:solidFill>
                  <a:srgbClr val="000000"/>
                </a:solidFill>
              </a:rPr>
              <a:t>面向对象分析和设计方法（</a:t>
            </a:r>
            <a:r>
              <a:rPr lang="en-US" altLang="zh-CN" i="1" dirty="0">
                <a:solidFill>
                  <a:srgbClr val="000000"/>
                </a:solidFill>
              </a:rPr>
              <a:t>Booch, OMT, OOSE </a:t>
            </a:r>
            <a:r>
              <a:rPr lang="zh-CN" altLang="en-US" dirty="0">
                <a:solidFill>
                  <a:srgbClr val="000000"/>
                </a:solidFill>
              </a:rPr>
              <a:t>等），以及</a:t>
            </a:r>
            <a:r>
              <a:rPr lang="en-US" altLang="zh-CN" dirty="0">
                <a:solidFill>
                  <a:srgbClr val="000000"/>
                </a:solidFill>
              </a:rPr>
              <a:t>java</a:t>
            </a:r>
            <a:r>
              <a:rPr lang="zh-CN" altLang="en-US" dirty="0">
                <a:solidFill>
                  <a:srgbClr val="000000"/>
                </a:solidFill>
              </a:rPr>
              <a:t>语言</a:t>
            </a:r>
            <a:endParaRPr lang="zh-CN" altLang="en-US" dirty="0">
              <a:solidFill>
                <a:srgbClr val="000000"/>
              </a:solidFill>
            </a:endParaRPr>
          </a:p>
          <a:p>
            <a:pPr lvl="1" defTabSz="914400" eaLnBrk="1" hangingPunct="1">
              <a:buFont typeface="Wingdings" panose="05000000000000000000" pitchFamily="2" charset="2"/>
              <a:buChar char="ü"/>
              <a:tabLst>
                <a:tab pos="457200" algn="l"/>
              </a:tabLst>
            </a:pPr>
            <a:r>
              <a:rPr lang="en-US" altLang="zh-CN" dirty="0">
                <a:solidFill>
                  <a:srgbClr val="000000"/>
                </a:solidFill>
              </a:rPr>
              <a:t>1997: UML</a:t>
            </a:r>
            <a:endParaRPr lang="zh-CN" altLang="en-US" dirty="0">
              <a:solidFill>
                <a:srgbClr val="000000"/>
              </a:solidFill>
            </a:endParaRPr>
          </a:p>
          <a:p>
            <a:pPr lvl="1" defTabSz="914400" eaLnBrk="1" hangingPunct="1">
              <a:buFont typeface="Wingdings" panose="05000000000000000000" pitchFamily="2" charset="2"/>
              <a:buChar char="ü"/>
              <a:tabLst>
                <a:tab pos="457200" algn="l"/>
              </a:tabLst>
            </a:pPr>
            <a:r>
              <a:rPr lang="zh-CN" altLang="en-US" dirty="0">
                <a:solidFill>
                  <a:srgbClr val="000000"/>
                </a:solidFill>
              </a:rPr>
              <a:t>逐渐替代了传统的结构化方法</a:t>
            </a:r>
            <a:endParaRPr lang="zh-CN" altLang="en-US" dirty="0">
              <a:solidFill>
                <a:srgbClr val="000000"/>
              </a:solidFill>
            </a:endParaRPr>
          </a:p>
          <a:p>
            <a:pPr lvl="1" defTabSz="914400" eaLnBrk="1" hangingPunct="1">
              <a:buFont typeface="Wingdings 2" panose="05020102010507070707" pitchFamily="18" charset="2"/>
              <a:buChar char=""/>
              <a:tabLst>
                <a:tab pos="457200" algn="l"/>
              </a:tabLst>
            </a:pPr>
            <a:endParaRPr lang="en-US" altLang="zh-CN" dirty="0">
              <a:solidFill>
                <a:srgbClr val="000000"/>
              </a:solidFill>
            </a:endParaRPr>
          </a:p>
        </p:txBody>
      </p:sp>
      <p:sp>
        <p:nvSpPr>
          <p:cNvPr id="31748"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2771" name="Rectangle 2"/>
          <p:cNvSpPr>
            <a:spLocks noGrp="1"/>
          </p:cNvSpPr>
          <p:nvPr>
            <p:ph type="title"/>
          </p:nvPr>
        </p:nvSpPr>
        <p:spPr/>
        <p:txBody>
          <a:bodyPr vert="horz" wrap="square" lIns="0" tIns="45605"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什么是</a:t>
            </a:r>
            <a:r>
              <a:rPr lang="en-US" altLang="zh-CN" b="1" dirty="0">
                <a:latin typeface="微软雅黑" panose="020B0503020204020204" pitchFamily="34" charset="-122"/>
                <a:ea typeface="微软雅黑" panose="020B0503020204020204" pitchFamily="34" charset="-122"/>
              </a:rPr>
              <a:t>UML</a:t>
            </a:r>
            <a:endParaRPr lang="en-US" altLang="zh-CN" b="1" dirty="0">
              <a:latin typeface="微软雅黑" panose="020B0503020204020204" pitchFamily="34" charset="-122"/>
              <a:ea typeface="微软雅黑" panose="020B0503020204020204" pitchFamily="34" charset="-122"/>
            </a:endParaRPr>
          </a:p>
        </p:txBody>
      </p:sp>
      <p:sp>
        <p:nvSpPr>
          <p:cNvPr id="32772" name="Rectangle 3"/>
          <p:cNvSpPr>
            <a:spLocks noGrp="1"/>
          </p:cNvSpPr>
          <p:nvPr>
            <p:ph idx="1"/>
          </p:nvPr>
        </p:nvSpPr>
        <p:spPr>
          <a:xfrm>
            <a:off x="455613" y="2054225"/>
            <a:ext cx="8662987" cy="4105275"/>
          </a:xfrm>
        </p:spPr>
        <p:txBody>
          <a:bodyPr vert="horz" wrap="square" lIns="91212" tIns="45605" rIns="91212" bIns="45605" anchor="t" anchorCtr="0"/>
          <a:p>
            <a:pPr defTabSz="914400" eaLnBrk="1" hangingPunct="1">
              <a:lnSpc>
                <a:spcPct val="90000"/>
              </a:lnSpc>
              <a:buFont typeface="Wingdings" panose="05000000000000000000" pitchFamily="2" charset="2"/>
              <a:buChar char="p"/>
              <a:tabLst>
                <a:tab pos="457200" algn="l"/>
              </a:tabLst>
            </a:pPr>
            <a:r>
              <a:rPr lang="en-US" altLang="zh-CN" sz="3300" b="1" dirty="0"/>
              <a:t>UML</a:t>
            </a:r>
            <a:r>
              <a:rPr lang="zh-CN" altLang="en-US" sz="3300" b="1" dirty="0"/>
              <a:t>（ </a:t>
            </a:r>
            <a:r>
              <a:rPr lang="en-US" altLang="zh-CN" sz="3300" b="1" dirty="0"/>
              <a:t>Unified Modeling Language </a:t>
            </a:r>
            <a:r>
              <a:rPr lang="zh-CN" altLang="en-US" sz="3300" b="1" dirty="0"/>
              <a:t>）</a:t>
            </a:r>
            <a:endParaRPr lang="zh-CN" altLang="en-US" sz="3300" b="1" dirty="0"/>
          </a:p>
          <a:p>
            <a:pPr lvl="1" defTabSz="914400">
              <a:lnSpc>
                <a:spcPct val="90000"/>
              </a:lnSpc>
              <a:buFont typeface="Wingdings" panose="05000000000000000000" pitchFamily="2" charset="2"/>
              <a:buChar char="ü"/>
              <a:tabLst>
                <a:tab pos="457200" algn="l"/>
              </a:tabLst>
            </a:pPr>
            <a:r>
              <a:rPr lang="zh-CN" altLang="en-US" dirty="0">
                <a:solidFill>
                  <a:srgbClr val="000000"/>
                </a:solidFill>
              </a:rPr>
              <a:t>是一种面向对象的软件系统的通用可视化建模语言</a:t>
            </a:r>
            <a:endParaRPr lang="zh-CN" altLang="en-US" dirty="0">
              <a:solidFill>
                <a:srgbClr val="000000"/>
              </a:solidFill>
            </a:endParaRPr>
          </a:p>
          <a:p>
            <a:pPr lvl="1" defTabSz="914400">
              <a:lnSpc>
                <a:spcPct val="90000"/>
              </a:lnSpc>
              <a:buFont typeface="Wingdings" panose="05000000000000000000" pitchFamily="2" charset="2"/>
              <a:buChar char="ü"/>
              <a:tabLst>
                <a:tab pos="457200" algn="l"/>
              </a:tabLst>
            </a:pPr>
            <a:r>
              <a:rPr lang="zh-CN" altLang="en-US" dirty="0">
                <a:solidFill>
                  <a:srgbClr val="000000"/>
                </a:solidFill>
              </a:rPr>
              <a:t>不是一种可视化的</a:t>
            </a:r>
            <a:r>
              <a:rPr lang="zh-CN" altLang="en-US" u="sng" dirty="0">
                <a:solidFill>
                  <a:srgbClr val="000000"/>
                </a:solidFill>
              </a:rPr>
              <a:t>程序设计语</a:t>
            </a:r>
            <a:r>
              <a:rPr lang="zh-CN" altLang="en-US" dirty="0">
                <a:solidFill>
                  <a:srgbClr val="000000"/>
                </a:solidFill>
              </a:rPr>
              <a:t>言，而是</a:t>
            </a:r>
            <a:r>
              <a:rPr lang="zh-CN" altLang="en-US" dirty="0">
                <a:solidFill>
                  <a:srgbClr val="FF3300"/>
                </a:solidFill>
              </a:rPr>
              <a:t>一种</a:t>
            </a:r>
            <a:r>
              <a:rPr lang="zh-CN" altLang="en-US" b="1" u="sng" dirty="0">
                <a:solidFill>
                  <a:srgbClr val="FF0000"/>
                </a:solidFill>
              </a:rPr>
              <a:t>可视化</a:t>
            </a:r>
            <a:r>
              <a:rPr lang="zh-CN" altLang="en-US" u="sng" dirty="0">
                <a:solidFill>
                  <a:srgbClr val="FF3300"/>
                </a:solidFill>
              </a:rPr>
              <a:t>的建模语言</a:t>
            </a:r>
            <a:endParaRPr lang="zh-CN" altLang="en-US" u="sng" dirty="0">
              <a:solidFill>
                <a:srgbClr val="FF3300"/>
              </a:solidFill>
            </a:endParaRPr>
          </a:p>
          <a:p>
            <a:pPr lvl="1" defTabSz="914400">
              <a:lnSpc>
                <a:spcPct val="90000"/>
              </a:lnSpc>
              <a:buFont typeface="Wingdings" panose="05000000000000000000" pitchFamily="2" charset="2"/>
              <a:buChar char="ü"/>
              <a:tabLst>
                <a:tab pos="457200" algn="l"/>
              </a:tabLst>
            </a:pPr>
            <a:r>
              <a:rPr lang="zh-CN" altLang="en-US" dirty="0">
                <a:solidFill>
                  <a:srgbClr val="000000"/>
                </a:solidFill>
              </a:rPr>
              <a:t>不是过程，也不是方法，但允许任何一种过程和方法使用</a:t>
            </a:r>
            <a:endParaRPr lang="zh-CN" altLang="en-US" dirty="0">
              <a:solidFill>
                <a:srgbClr val="000000"/>
              </a:solidFill>
            </a:endParaRPr>
          </a:p>
        </p:txBody>
      </p:sp>
      <p:sp>
        <p:nvSpPr>
          <p:cNvPr id="32773" name="矩形 4"/>
          <p:cNvSpPr/>
          <p:nvPr/>
        </p:nvSpPr>
        <p:spPr>
          <a:xfrm>
            <a:off x="814388" y="5006975"/>
            <a:ext cx="7705725" cy="830263"/>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可视化</a:t>
            </a:r>
            <a:r>
              <a:rPr lang="zh-CN" altLang="en-US" sz="2400" b="1" dirty="0">
                <a:solidFill>
                  <a:srgbClr val="000000"/>
                </a:solidFill>
                <a:latin typeface="黑体" panose="02010609060101010101" pitchFamily="49" charset="-122"/>
                <a:ea typeface="黑体" panose="02010609060101010101" pitchFamily="49" charset="-122"/>
              </a:rPr>
              <a:t>：</a:t>
            </a:r>
            <a:r>
              <a:rPr lang="en-US" altLang="zh-CN" sz="2400" b="1" dirty="0">
                <a:solidFill>
                  <a:srgbClr val="000000"/>
                </a:solidFill>
                <a:latin typeface="黑体" panose="02010609060101010101" pitchFamily="49" charset="-122"/>
                <a:ea typeface="黑体" panose="02010609060101010101" pitchFamily="49" charset="-122"/>
              </a:rPr>
              <a:t>UML </a:t>
            </a:r>
            <a:r>
              <a:rPr lang="zh-CN" altLang="en-US" sz="2400" b="1" dirty="0">
                <a:solidFill>
                  <a:srgbClr val="000000"/>
                </a:solidFill>
                <a:latin typeface="黑体" panose="02010609060101010101" pitchFamily="49" charset="-122"/>
                <a:ea typeface="黑体" panose="02010609060101010101" pitchFamily="49" charset="-122"/>
              </a:rPr>
              <a:t>提供一组具有明确语义的</a:t>
            </a:r>
            <a:r>
              <a:rPr lang="zh-CN" altLang="en-US" sz="2400" b="1" dirty="0">
                <a:solidFill>
                  <a:srgbClr val="FF0000"/>
                </a:solidFill>
                <a:latin typeface="黑体" panose="02010609060101010101" pitchFamily="49" charset="-122"/>
                <a:ea typeface="黑体" panose="02010609060101010101" pitchFamily="49" charset="-122"/>
              </a:rPr>
              <a:t>图形符号</a:t>
            </a:r>
            <a:r>
              <a:rPr lang="zh-CN" altLang="en-US" sz="2400" b="1" dirty="0">
                <a:solidFill>
                  <a:srgbClr val="000000"/>
                </a:solidFill>
                <a:latin typeface="黑体" panose="02010609060101010101" pitchFamily="49" charset="-122"/>
                <a:ea typeface="黑体" panose="02010609060101010101" pitchFamily="49" charset="-122"/>
              </a:rPr>
              <a:t>，来建立清晰的模型以便于交流</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3795" name="Rectangle 3"/>
          <p:cNvSpPr>
            <a:spLocks noGrp="1"/>
          </p:cNvSpPr>
          <p:nvPr>
            <p:ph idx="1"/>
          </p:nvPr>
        </p:nvSpPr>
        <p:spPr>
          <a:xfrm>
            <a:off x="382588" y="1789113"/>
            <a:ext cx="8207375" cy="2857500"/>
          </a:xfrm>
        </p:spPr>
        <p:txBody>
          <a:bodyPr vert="horz" wrap="square" lIns="91212" tIns="45605" rIns="91212" bIns="45605" anchor="t" anchorCtr="0"/>
          <a:p>
            <a:pPr defTabSz="914400" eaLnBrk="1" hangingPunct="1">
              <a:lnSpc>
                <a:spcPct val="90000"/>
              </a:lnSpc>
              <a:buFont typeface="Wingdings" panose="05000000000000000000" pitchFamily="2" charset="2"/>
              <a:buChar char="p"/>
              <a:tabLst>
                <a:tab pos="457200" algn="l"/>
              </a:tabLst>
            </a:pPr>
            <a:r>
              <a:rPr lang="en-US" altLang="zh-CN" sz="3300" b="1" dirty="0"/>
              <a:t>UML</a:t>
            </a:r>
            <a:r>
              <a:rPr lang="zh-CN" altLang="en-US" sz="3300" b="1" dirty="0"/>
              <a:t>的创始人</a:t>
            </a:r>
            <a:endParaRPr lang="zh-CN" altLang="en-US" sz="3300" b="1" dirty="0"/>
          </a:p>
          <a:p>
            <a:pPr lvl="1" defTabSz="914400">
              <a:lnSpc>
                <a:spcPct val="90000"/>
              </a:lnSpc>
              <a:buFont typeface="Wingdings" panose="05000000000000000000" pitchFamily="2" charset="2"/>
              <a:buChar char="ü"/>
              <a:tabLst>
                <a:tab pos="457200" algn="l"/>
              </a:tabLst>
            </a:pPr>
            <a:r>
              <a:rPr lang="en-US" altLang="zh-CN" i="1" dirty="0">
                <a:solidFill>
                  <a:srgbClr val="000000"/>
                </a:solidFill>
              </a:rPr>
              <a:t>Grady Booch, Jim Rumbaugh, Ivar Jacobson</a:t>
            </a:r>
            <a:endParaRPr lang="en-US" altLang="zh-CN" i="1" dirty="0">
              <a:solidFill>
                <a:srgbClr val="000000"/>
              </a:solidFill>
            </a:endParaRPr>
          </a:p>
          <a:p>
            <a:pPr lvl="1" defTabSz="914400">
              <a:lnSpc>
                <a:spcPct val="90000"/>
              </a:lnSpc>
              <a:buFont typeface="Wingdings" panose="05000000000000000000" pitchFamily="2" charset="2"/>
              <a:buChar char="ü"/>
              <a:tabLst>
                <a:tab pos="457200" algn="l"/>
              </a:tabLst>
            </a:pPr>
            <a:r>
              <a:rPr lang="zh-CN" altLang="en-US" dirty="0">
                <a:solidFill>
                  <a:srgbClr val="000000"/>
                </a:solidFill>
              </a:rPr>
              <a:t>在 </a:t>
            </a:r>
            <a:r>
              <a:rPr lang="en-US" altLang="zh-CN" i="1" dirty="0">
                <a:solidFill>
                  <a:srgbClr val="000000"/>
                </a:solidFill>
              </a:rPr>
              <a:t>Booch method, OMT, OOSE </a:t>
            </a:r>
            <a:r>
              <a:rPr lang="zh-CN" altLang="en-US" dirty="0">
                <a:solidFill>
                  <a:srgbClr val="000000"/>
                </a:solidFill>
              </a:rPr>
              <a:t>的基础上，广泛征求意见，集众家之长，几经修改而完成的</a:t>
            </a:r>
            <a:endParaRPr lang="zh-CN" altLang="en-US" dirty="0">
              <a:solidFill>
                <a:srgbClr val="000000"/>
              </a:solidFill>
            </a:endParaRPr>
          </a:p>
        </p:txBody>
      </p:sp>
      <p:sp>
        <p:nvSpPr>
          <p:cNvPr id="33796" name="Rectangle 4"/>
          <p:cNvSpPr>
            <a:spLocks noGrp="1"/>
          </p:cNvSpPr>
          <p:nvPr>
            <p:ph type="title"/>
          </p:nvPr>
        </p:nvSpPr>
        <p:spPr>
          <a:xfrm>
            <a:off x="527050" y="398463"/>
            <a:ext cx="8207375" cy="1139825"/>
          </a:xfrm>
        </p:spPr>
        <p:txBody>
          <a:bodyPr vert="horz" wrap="square" lIns="0" tIns="45605"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的发展历史</a:t>
            </a:r>
            <a:endParaRPr lang="zh-CN" altLang="en-US" b="1" dirty="0">
              <a:latin typeface="微软雅黑" panose="020B0503020204020204" pitchFamily="34" charset="-122"/>
              <a:ea typeface="微软雅黑" panose="020B0503020204020204" pitchFamily="34" charset="-122"/>
            </a:endParaRPr>
          </a:p>
        </p:txBody>
      </p:sp>
      <p:pic>
        <p:nvPicPr>
          <p:cNvPr id="33797" name="Picture 5"/>
          <p:cNvPicPr>
            <a:picLocks noChangeAspect="1"/>
          </p:cNvPicPr>
          <p:nvPr/>
        </p:nvPicPr>
        <p:blipFill>
          <a:blip r:embed="rId1"/>
          <a:stretch>
            <a:fillRect/>
          </a:stretch>
        </p:blipFill>
        <p:spPr>
          <a:xfrm>
            <a:off x="1679575" y="3783013"/>
            <a:ext cx="1638300" cy="2590800"/>
          </a:xfrm>
          <a:prstGeom prst="rect">
            <a:avLst/>
          </a:prstGeom>
          <a:noFill/>
          <a:ln w="9525">
            <a:noFill/>
          </a:ln>
        </p:spPr>
      </p:pic>
      <p:pic>
        <p:nvPicPr>
          <p:cNvPr id="33798" name="Picture 6"/>
          <p:cNvPicPr>
            <a:picLocks noChangeAspect="1"/>
          </p:cNvPicPr>
          <p:nvPr/>
        </p:nvPicPr>
        <p:blipFill>
          <a:blip r:embed="rId2"/>
          <a:stretch>
            <a:fillRect/>
          </a:stretch>
        </p:blipFill>
        <p:spPr>
          <a:xfrm>
            <a:off x="3838575" y="3783013"/>
            <a:ext cx="1581150" cy="2628900"/>
          </a:xfrm>
          <a:prstGeom prst="rect">
            <a:avLst/>
          </a:prstGeom>
          <a:noFill/>
          <a:ln w="9525">
            <a:noFill/>
          </a:ln>
        </p:spPr>
      </p:pic>
      <p:pic>
        <p:nvPicPr>
          <p:cNvPr id="33799" name="Picture 7"/>
          <p:cNvPicPr>
            <a:picLocks noChangeAspect="1"/>
          </p:cNvPicPr>
          <p:nvPr/>
        </p:nvPicPr>
        <p:blipFill>
          <a:blip r:embed="rId3"/>
          <a:stretch>
            <a:fillRect/>
          </a:stretch>
        </p:blipFill>
        <p:spPr>
          <a:xfrm>
            <a:off x="6072188" y="3709988"/>
            <a:ext cx="1647825" cy="268605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4819" name="Rectangle 2"/>
          <p:cNvSpPr>
            <a:spLocks noGrp="1"/>
          </p:cNvSpPr>
          <p:nvPr>
            <p:ph type="title"/>
          </p:nvPr>
        </p:nvSpPr>
        <p:spPr>
          <a:xfrm>
            <a:off x="455613" y="0"/>
            <a:ext cx="8207375" cy="1139825"/>
          </a:xfrm>
        </p:spPr>
        <p:txBody>
          <a:bodyPr vert="horz" wrap="square" lIns="0" tIns="45605" rIns="0" bIns="0" anchor="b" anchorCtr="0"/>
          <a:p>
            <a:pPr>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五种视图</a:t>
            </a:r>
            <a:endParaRPr lang="zh-CN" altLang="zh-CN" b="1" dirty="0">
              <a:latin typeface="微软雅黑" panose="020B0503020204020204" pitchFamily="34" charset="-122"/>
              <a:ea typeface="微软雅黑" panose="020B0503020204020204" pitchFamily="34" charset="-122"/>
            </a:endParaRPr>
          </a:p>
        </p:txBody>
      </p:sp>
      <p:grpSp>
        <p:nvGrpSpPr>
          <p:cNvPr id="34820" name="Group 4"/>
          <p:cNvGrpSpPr/>
          <p:nvPr/>
        </p:nvGrpSpPr>
        <p:grpSpPr>
          <a:xfrm>
            <a:off x="3097213" y="2730500"/>
            <a:ext cx="3644900" cy="1806575"/>
            <a:chOff x="1720" y="1718"/>
            <a:chExt cx="2296" cy="1047"/>
          </a:xfrm>
        </p:grpSpPr>
        <p:sp>
          <p:nvSpPr>
            <p:cNvPr id="34829" name="Rectangle 5"/>
            <p:cNvSpPr/>
            <p:nvPr/>
          </p:nvSpPr>
          <p:spPr>
            <a:xfrm>
              <a:off x="1720" y="1718"/>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设计视图</a:t>
              </a:r>
              <a:endParaRPr lang="zh-CN" altLang="en-US" sz="2000" b="1" dirty="0">
                <a:latin typeface="Times New Roman" panose="02020603050405020304" pitchFamily="18" charset="0"/>
              </a:endParaRPr>
            </a:p>
          </p:txBody>
        </p:sp>
        <p:sp>
          <p:nvSpPr>
            <p:cNvPr id="34830" name="Rectangle 6"/>
            <p:cNvSpPr/>
            <p:nvPr/>
          </p:nvSpPr>
          <p:spPr>
            <a:xfrm>
              <a:off x="3232" y="1718"/>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实现视图</a:t>
              </a:r>
              <a:endParaRPr lang="zh-CN" altLang="en-US" sz="2000" b="1" dirty="0">
                <a:latin typeface="Times New Roman" panose="02020603050405020304" pitchFamily="18" charset="0"/>
              </a:endParaRPr>
            </a:p>
          </p:txBody>
        </p:sp>
        <p:sp>
          <p:nvSpPr>
            <p:cNvPr id="34831" name="Rectangle 7"/>
            <p:cNvSpPr/>
            <p:nvPr/>
          </p:nvSpPr>
          <p:spPr>
            <a:xfrm>
              <a:off x="3232" y="2432"/>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配置视图</a:t>
              </a:r>
              <a:endParaRPr lang="zh-CN" altLang="en-US" sz="2000" b="1" dirty="0">
                <a:latin typeface="Times New Roman" panose="02020603050405020304" pitchFamily="18" charset="0"/>
              </a:endParaRPr>
            </a:p>
          </p:txBody>
        </p:sp>
        <p:sp>
          <p:nvSpPr>
            <p:cNvPr id="34832" name="Rectangle 8"/>
            <p:cNvSpPr/>
            <p:nvPr/>
          </p:nvSpPr>
          <p:spPr>
            <a:xfrm>
              <a:off x="1720" y="2432"/>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进程视图</a:t>
              </a:r>
              <a:endParaRPr lang="zh-CN" altLang="en-US" sz="2000" b="1" dirty="0">
                <a:latin typeface="Times New Roman" panose="02020603050405020304" pitchFamily="18" charset="0"/>
              </a:endParaRPr>
            </a:p>
          </p:txBody>
        </p:sp>
        <p:sp>
          <p:nvSpPr>
            <p:cNvPr id="34833" name="Oval 9"/>
            <p:cNvSpPr/>
            <p:nvPr/>
          </p:nvSpPr>
          <p:spPr>
            <a:xfrm>
              <a:off x="2309" y="1868"/>
              <a:ext cx="1112" cy="622"/>
            </a:xfrm>
            <a:prstGeom prst="ellipse">
              <a:avLst/>
            </a:prstGeom>
            <a:solidFill>
              <a:srgbClr val="FFFF99"/>
            </a:solidFill>
            <a:ln w="9525" cap="flat" cmpd="sng">
              <a:solidFill>
                <a:srgbClr val="BA8900"/>
              </a:solidFill>
              <a:prstDash val="solid"/>
              <a:headEnd type="none" w="med" len="med"/>
              <a:tailEnd type="none" w="med" len="med"/>
            </a:ln>
            <a:effectLst>
              <a:outerShdw dist="53882"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2000" b="1" dirty="0">
                  <a:latin typeface="Times New Roman" panose="02020603050405020304" pitchFamily="18" charset="0"/>
                </a:rPr>
                <a:t>Use case</a:t>
              </a:r>
              <a:endParaRPr lang="en-US" altLang="zh-CN" sz="2000" b="1" dirty="0">
                <a:latin typeface="Times New Roman" panose="02020603050405020304" pitchFamily="18" charset="0"/>
              </a:endParaRPr>
            </a:p>
            <a:p>
              <a:pPr marL="0" lvl="0" indent="0" algn="ctr" eaLnBrk="1" hangingPunct="1">
                <a:spcBef>
                  <a:spcPct val="0"/>
                </a:spcBef>
                <a:buClrTx/>
                <a:buSzTx/>
                <a:buFontTx/>
                <a:buNone/>
              </a:pPr>
              <a:r>
                <a:rPr lang="zh-CN" altLang="en-US" sz="2000" b="1" dirty="0">
                  <a:latin typeface="Times New Roman" panose="02020603050405020304" pitchFamily="18" charset="0"/>
                </a:rPr>
                <a:t>视图</a:t>
              </a:r>
              <a:endParaRPr lang="zh-CN" altLang="en-US" sz="2000" b="1" dirty="0">
                <a:latin typeface="Times New Roman" panose="02020603050405020304" pitchFamily="18" charset="0"/>
              </a:endParaRPr>
            </a:p>
          </p:txBody>
        </p:sp>
      </p:grpSp>
      <p:sp>
        <p:nvSpPr>
          <p:cNvPr id="36869" name="AutoShape 10"/>
          <p:cNvSpPr/>
          <p:nvPr/>
        </p:nvSpPr>
        <p:spPr>
          <a:xfrm>
            <a:off x="3859213" y="1404938"/>
            <a:ext cx="2749550" cy="782637"/>
          </a:xfrm>
          <a:prstGeom prst="wedgeRectCallout">
            <a:avLst>
              <a:gd name="adj1" fmla="val -13241"/>
              <a:gd name="adj2" fmla="val 157620"/>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zh-CN" altLang="en-US" sz="2400" b="1" dirty="0">
                <a:latin typeface="Times New Roman" panose="02020603050405020304" pitchFamily="18" charset="0"/>
                <a:ea typeface="楷体_GB2312" pitchFamily="49" charset="-122"/>
              </a:rPr>
              <a:t>描述系统的外部特性、系统功能等</a:t>
            </a:r>
            <a:endParaRPr lang="zh-CN" altLang="en-US" sz="2400" b="1" dirty="0">
              <a:latin typeface="Times New Roman" panose="02020603050405020304" pitchFamily="18" charset="0"/>
              <a:ea typeface="楷体_GB2312" pitchFamily="49" charset="-122"/>
            </a:endParaRPr>
          </a:p>
        </p:txBody>
      </p:sp>
      <p:sp>
        <p:nvSpPr>
          <p:cNvPr id="207883" name="AutoShape 11"/>
          <p:cNvSpPr/>
          <p:nvPr/>
        </p:nvSpPr>
        <p:spPr>
          <a:xfrm>
            <a:off x="6913563" y="2125663"/>
            <a:ext cx="2109787" cy="827087"/>
          </a:xfrm>
          <a:prstGeom prst="wedgeRectCallout">
            <a:avLst>
              <a:gd name="adj1" fmla="val -56727"/>
              <a:gd name="adj2" fmla="val 66454"/>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110000"/>
              </a:lnSpc>
              <a:spcBef>
                <a:spcPct val="40000"/>
              </a:spcBef>
              <a:buClrTx/>
              <a:buSzTx/>
              <a:buFontTx/>
              <a:buNone/>
            </a:pPr>
            <a:r>
              <a:rPr lang="zh-CN" altLang="en-US" sz="2400" b="1" dirty="0">
                <a:latin typeface="Times New Roman" panose="02020603050405020304" pitchFamily="18" charset="0"/>
                <a:ea typeface="楷体_GB2312" pitchFamily="49" charset="-122"/>
              </a:rPr>
              <a:t>描述系统的实现特征</a:t>
            </a:r>
            <a:endParaRPr lang="zh-CN" altLang="en-US" sz="2400" b="1" dirty="0">
              <a:latin typeface="Times New Roman" panose="02020603050405020304" pitchFamily="18" charset="0"/>
            </a:endParaRPr>
          </a:p>
        </p:txBody>
      </p:sp>
      <p:sp>
        <p:nvSpPr>
          <p:cNvPr id="207884" name="AutoShape 12"/>
          <p:cNvSpPr/>
          <p:nvPr/>
        </p:nvSpPr>
        <p:spPr>
          <a:xfrm>
            <a:off x="142875" y="2052638"/>
            <a:ext cx="2346325" cy="1657350"/>
          </a:xfrm>
          <a:prstGeom prst="wedgeRectCallout">
            <a:avLst>
              <a:gd name="adj1" fmla="val 76338"/>
              <a:gd name="adj2" fmla="val 16074"/>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zh-CN" altLang="en-US" sz="2400" b="1" dirty="0">
                <a:latin typeface="楷体_GB2312" pitchFamily="49" charset="-122"/>
                <a:ea typeface="楷体_GB2312" pitchFamily="49" charset="-122"/>
              </a:rPr>
              <a:t>描述系统设计特征，包括结构模型视图和行为模型视图</a:t>
            </a:r>
            <a:endParaRPr lang="zh-CN" altLang="en-US" sz="2400" b="1" dirty="0">
              <a:latin typeface="楷体_GB2312" pitchFamily="49" charset="-122"/>
              <a:ea typeface="楷体_GB2312" pitchFamily="49" charset="-122"/>
            </a:endParaRPr>
          </a:p>
        </p:txBody>
      </p:sp>
      <p:sp>
        <p:nvSpPr>
          <p:cNvPr id="207885" name="AutoShape 13"/>
          <p:cNvSpPr/>
          <p:nvPr/>
        </p:nvSpPr>
        <p:spPr>
          <a:xfrm>
            <a:off x="714375" y="5324475"/>
            <a:ext cx="2332038" cy="977900"/>
          </a:xfrm>
          <a:prstGeom prst="wedgeRectCallout">
            <a:avLst>
              <a:gd name="adj1" fmla="val 59074"/>
              <a:gd name="adj2" fmla="val -136759"/>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110000"/>
              </a:lnSpc>
              <a:spcBef>
                <a:spcPct val="40000"/>
              </a:spcBef>
              <a:buClrTx/>
              <a:buSzTx/>
              <a:buFontTx/>
              <a:buNone/>
            </a:pPr>
            <a:r>
              <a:rPr lang="zh-CN" altLang="en-US" sz="2400" b="1" dirty="0">
                <a:solidFill>
                  <a:schemeClr val="tx2"/>
                </a:solidFill>
                <a:latin typeface="Times New Roman" panose="02020603050405020304" pitchFamily="18" charset="0"/>
                <a:ea typeface="楷体_GB2312" pitchFamily="49" charset="-122"/>
              </a:rPr>
              <a:t>描述系统内部的控制机制</a:t>
            </a:r>
            <a:endParaRPr lang="zh-CN" altLang="en-US" sz="2400" b="1" dirty="0">
              <a:solidFill>
                <a:schemeClr val="tx2"/>
              </a:solidFill>
              <a:latin typeface="Times New Roman" panose="02020603050405020304" pitchFamily="18" charset="0"/>
              <a:ea typeface="楷体_GB2312" pitchFamily="49" charset="-122"/>
            </a:endParaRPr>
          </a:p>
        </p:txBody>
      </p:sp>
      <p:sp>
        <p:nvSpPr>
          <p:cNvPr id="207886" name="AutoShape 14"/>
          <p:cNvSpPr/>
          <p:nvPr/>
        </p:nvSpPr>
        <p:spPr>
          <a:xfrm flipH="1">
            <a:off x="5757863" y="5006975"/>
            <a:ext cx="2616200" cy="790575"/>
          </a:xfrm>
          <a:prstGeom prst="wedgeRectCallout">
            <a:avLst>
              <a:gd name="adj1" fmla="val 35134"/>
              <a:gd name="adj2" fmla="val -110486"/>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110000"/>
              </a:lnSpc>
              <a:spcBef>
                <a:spcPct val="40000"/>
              </a:spcBef>
              <a:buClrTx/>
              <a:buSzTx/>
              <a:buFontTx/>
              <a:buNone/>
            </a:pPr>
            <a:r>
              <a:rPr lang="zh-CN" altLang="en-US" sz="2400" b="1" dirty="0">
                <a:solidFill>
                  <a:schemeClr val="tx2"/>
                </a:solidFill>
                <a:latin typeface="Times New Roman" panose="02020603050405020304" pitchFamily="18" charset="0"/>
                <a:ea typeface="楷体_GB2312" pitchFamily="49" charset="-122"/>
              </a:rPr>
              <a:t>描述系统的物理配置特征</a:t>
            </a:r>
            <a:endParaRPr lang="zh-CN" altLang="en-US" sz="2800" b="1" dirty="0">
              <a:solidFill>
                <a:schemeClr val="tx2"/>
              </a:solidFill>
              <a:latin typeface="Times New Roman" panose="02020603050405020304" pitchFamily="18" charset="0"/>
              <a:ea typeface="楷体_GB2312" pitchFamily="49" charset="-122"/>
            </a:endParaRPr>
          </a:p>
        </p:txBody>
      </p:sp>
      <p:sp>
        <p:nvSpPr>
          <p:cNvPr id="34826" name="Oval 16">
            <a:hlinkClick r:id="" action="ppaction://hlinkshowjump?jump=previousslide"/>
          </p:cNvPr>
          <p:cNvSpPr/>
          <p:nvPr/>
        </p:nvSpPr>
        <p:spPr>
          <a:xfrm>
            <a:off x="6572250" y="6581775"/>
            <a:ext cx="762000" cy="381000"/>
          </a:xfrm>
          <a:prstGeom prst="ellipse">
            <a:avLst/>
          </a:prstGeom>
          <a:noFill/>
          <a:ln w="28575">
            <a:noFill/>
          </a:ln>
          <a:effectLst>
            <a:outerShdw dist="35921"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4827" name="Oval 17">
            <a:hlinkClick r:id="" action="ppaction://hlinkshowjump?jump=nextslide"/>
          </p:cNvPr>
          <p:cNvSpPr/>
          <p:nvPr/>
        </p:nvSpPr>
        <p:spPr>
          <a:xfrm>
            <a:off x="7461250" y="6581775"/>
            <a:ext cx="762000" cy="381000"/>
          </a:xfrm>
          <a:prstGeom prst="ellipse">
            <a:avLst/>
          </a:prstGeom>
          <a:noFill/>
          <a:ln w="28575">
            <a:noFill/>
          </a:ln>
          <a:effectLst>
            <a:outerShdw dist="35921"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4828" name="Oval 18">
            <a:hlinkClick r:id="" action="ppaction://noaction"/>
          </p:cNvPr>
          <p:cNvSpPr/>
          <p:nvPr/>
        </p:nvSpPr>
        <p:spPr>
          <a:xfrm>
            <a:off x="8353425" y="6581775"/>
            <a:ext cx="762000" cy="381000"/>
          </a:xfrm>
          <a:prstGeom prst="ellipse">
            <a:avLst/>
          </a:prstGeom>
          <a:noFill/>
          <a:ln w="28575">
            <a:noFill/>
          </a:ln>
          <a:effectLst>
            <a:outerShdw dist="35921" dir="2699999" algn="ctr" rotWithShape="0">
              <a:schemeClr val="bg2"/>
            </a:outerShdw>
          </a:effectLst>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 calcmode="lin" valueType="num">
                                      <p:cBhvr additive="base">
                                        <p:cTn id="7" dur="500" fill="hold"/>
                                        <p:tgtEl>
                                          <p:spTgt spid="36869"/>
                                        </p:tgtEl>
                                        <p:attrNameLst>
                                          <p:attrName>ppt_x</p:attrName>
                                        </p:attrNameLst>
                                      </p:cBhvr>
                                      <p:tavLst>
                                        <p:tav tm="0">
                                          <p:val>
                                            <p:strVal val="#ppt_x"/>
                                          </p:val>
                                        </p:tav>
                                        <p:tav tm="100000">
                                          <p:val>
                                            <p:strVal val="#ppt_x"/>
                                          </p:val>
                                        </p:tav>
                                      </p:tavLst>
                                    </p:anim>
                                    <p:anim calcmode="lin" valueType="num">
                                      <p:cBhvr additive="base">
                                        <p:cTn id="8"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7884"/>
                                        </p:tgtEl>
                                        <p:attrNameLst>
                                          <p:attrName>style.visibility</p:attrName>
                                        </p:attrNameLst>
                                      </p:cBhvr>
                                      <p:to>
                                        <p:strVal val="visible"/>
                                      </p:to>
                                    </p:set>
                                    <p:anim calcmode="lin" valueType="num">
                                      <p:cBhvr additive="base">
                                        <p:cTn id="13" dur="500" fill="hold"/>
                                        <p:tgtEl>
                                          <p:spTgt spid="207884"/>
                                        </p:tgtEl>
                                        <p:attrNameLst>
                                          <p:attrName>ppt_x</p:attrName>
                                        </p:attrNameLst>
                                      </p:cBhvr>
                                      <p:tavLst>
                                        <p:tav tm="0">
                                          <p:val>
                                            <p:strVal val="#ppt_x"/>
                                          </p:val>
                                        </p:tav>
                                        <p:tav tm="100000">
                                          <p:val>
                                            <p:strVal val="#ppt_x"/>
                                          </p:val>
                                        </p:tav>
                                      </p:tavLst>
                                    </p:anim>
                                    <p:anim calcmode="lin" valueType="num">
                                      <p:cBhvr additive="base">
                                        <p:cTn id="14" dur="500" fill="hold"/>
                                        <p:tgtEl>
                                          <p:spTgt spid="2078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7883"/>
                                        </p:tgtEl>
                                        <p:attrNameLst>
                                          <p:attrName>style.visibility</p:attrName>
                                        </p:attrNameLst>
                                      </p:cBhvr>
                                      <p:to>
                                        <p:strVal val="visible"/>
                                      </p:to>
                                    </p:set>
                                    <p:anim calcmode="lin" valueType="num">
                                      <p:cBhvr additive="base">
                                        <p:cTn id="19" dur="500" fill="hold"/>
                                        <p:tgtEl>
                                          <p:spTgt spid="207883"/>
                                        </p:tgtEl>
                                        <p:attrNameLst>
                                          <p:attrName>ppt_x</p:attrName>
                                        </p:attrNameLst>
                                      </p:cBhvr>
                                      <p:tavLst>
                                        <p:tav tm="0">
                                          <p:val>
                                            <p:strVal val="#ppt_x"/>
                                          </p:val>
                                        </p:tav>
                                        <p:tav tm="100000">
                                          <p:val>
                                            <p:strVal val="#ppt_x"/>
                                          </p:val>
                                        </p:tav>
                                      </p:tavLst>
                                    </p:anim>
                                    <p:anim calcmode="lin" valueType="num">
                                      <p:cBhvr additive="base">
                                        <p:cTn id="20" dur="500" fill="hold"/>
                                        <p:tgtEl>
                                          <p:spTgt spid="20788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7886"/>
                                        </p:tgtEl>
                                        <p:attrNameLst>
                                          <p:attrName>style.visibility</p:attrName>
                                        </p:attrNameLst>
                                      </p:cBhvr>
                                      <p:to>
                                        <p:strVal val="visible"/>
                                      </p:to>
                                    </p:set>
                                    <p:anim calcmode="lin" valueType="num">
                                      <p:cBhvr additive="base">
                                        <p:cTn id="25" dur="500" fill="hold"/>
                                        <p:tgtEl>
                                          <p:spTgt spid="207886"/>
                                        </p:tgtEl>
                                        <p:attrNameLst>
                                          <p:attrName>ppt_x</p:attrName>
                                        </p:attrNameLst>
                                      </p:cBhvr>
                                      <p:tavLst>
                                        <p:tav tm="0">
                                          <p:val>
                                            <p:strVal val="#ppt_x"/>
                                          </p:val>
                                        </p:tav>
                                        <p:tav tm="100000">
                                          <p:val>
                                            <p:strVal val="#ppt_x"/>
                                          </p:val>
                                        </p:tav>
                                      </p:tavLst>
                                    </p:anim>
                                    <p:anim calcmode="lin" valueType="num">
                                      <p:cBhvr additive="base">
                                        <p:cTn id="26" dur="500" fill="hold"/>
                                        <p:tgtEl>
                                          <p:spTgt spid="20788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7885"/>
                                        </p:tgtEl>
                                        <p:attrNameLst>
                                          <p:attrName>style.visibility</p:attrName>
                                        </p:attrNameLst>
                                      </p:cBhvr>
                                      <p:to>
                                        <p:strVal val="visible"/>
                                      </p:to>
                                    </p:set>
                                    <p:anim calcmode="lin" valueType="num">
                                      <p:cBhvr additive="base">
                                        <p:cTn id="31" dur="500" fill="hold"/>
                                        <p:tgtEl>
                                          <p:spTgt spid="207885"/>
                                        </p:tgtEl>
                                        <p:attrNameLst>
                                          <p:attrName>ppt_x</p:attrName>
                                        </p:attrNameLst>
                                      </p:cBhvr>
                                      <p:tavLst>
                                        <p:tav tm="0">
                                          <p:val>
                                            <p:strVal val="#ppt_x"/>
                                          </p:val>
                                        </p:tav>
                                        <p:tav tm="100000">
                                          <p:val>
                                            <p:strVal val="#ppt_x"/>
                                          </p:val>
                                        </p:tav>
                                      </p:tavLst>
                                    </p:anim>
                                    <p:anim calcmode="lin" valueType="num">
                                      <p:cBhvr additive="base">
                                        <p:cTn id="32" dur="500" fill="hold"/>
                                        <p:tgtEl>
                                          <p:spTgt spid="207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nimBg="1"/>
      <p:bldP spid="207883" grpId="0" animBg="1"/>
      <p:bldP spid="207884" grpId="0" animBg="1"/>
      <p:bldP spid="207885" grpId="0" animBg="1"/>
      <p:bldP spid="20788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pic>
        <p:nvPicPr>
          <p:cNvPr id="35843" name="Picture 4"/>
          <p:cNvPicPr>
            <a:picLocks noChangeAspect="1"/>
          </p:cNvPicPr>
          <p:nvPr/>
        </p:nvPicPr>
        <p:blipFill>
          <a:blip r:embed="rId1"/>
          <a:stretch>
            <a:fillRect/>
          </a:stretch>
        </p:blipFill>
        <p:spPr>
          <a:xfrm>
            <a:off x="95250" y="1473200"/>
            <a:ext cx="8890000" cy="5118100"/>
          </a:xfrm>
          <a:prstGeom prst="rect">
            <a:avLst/>
          </a:prstGeom>
          <a:noFill/>
          <a:ln w="9525">
            <a:noFill/>
          </a:ln>
        </p:spPr>
      </p:pic>
      <p:sp>
        <p:nvSpPr>
          <p:cNvPr id="5" name="Rectangle 4"/>
          <p:cNvSpPr txBox="1">
            <a:spLocks noChangeArrowheads="1"/>
          </p:cNvSpPr>
          <p:nvPr/>
        </p:nvSpPr>
        <p:spPr bwMode="auto">
          <a:xfrm>
            <a:off x="671513" y="254000"/>
            <a:ext cx="8207375" cy="1139825"/>
          </a:xfrm>
          <a:prstGeom prst="rect">
            <a:avLst/>
          </a:prstGeom>
          <a:noFill/>
          <a:ln w="9525">
            <a:noFill/>
            <a:miter lim="800000"/>
          </a:ln>
        </p:spPr>
        <p:txBody>
          <a:bodyPr lIns="0" tIns="45610" rIns="0" bIns="0" anchor="b"/>
          <a:lstStyle/>
          <a:p>
            <a:pPr marR="0" defTabSz="914400" eaLnBrk="1" hangingPunct="1">
              <a:lnSpc>
                <a:spcPts val="4000"/>
              </a:lnSpc>
              <a:buClrTx/>
              <a:buSzTx/>
              <a:buFontTx/>
              <a:buNone/>
              <a:defRPr/>
            </a:pPr>
            <a:r>
              <a:rPr kumimoji="1"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UML</a:t>
            </a: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的构成</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35845" name="TextBox 5"/>
          <p:cNvSpPr txBox="1"/>
          <p:nvPr/>
        </p:nvSpPr>
        <p:spPr>
          <a:xfrm>
            <a:off x="7439025" y="1477963"/>
            <a:ext cx="1679575" cy="523875"/>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种事物</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35846" name="TextBox 6"/>
          <p:cNvSpPr txBox="1"/>
          <p:nvPr/>
        </p:nvSpPr>
        <p:spPr>
          <a:xfrm>
            <a:off x="7439025" y="2414588"/>
            <a:ext cx="1679575" cy="523875"/>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en-US" altLang="zh-CN" sz="2800" b="1" dirty="0">
                <a:solidFill>
                  <a:srgbClr val="FF0000"/>
                </a:solidFill>
                <a:latin typeface="黑体" panose="02010609060101010101" pitchFamily="49" charset="-122"/>
                <a:ea typeface="黑体" panose="02010609060101010101" pitchFamily="49" charset="-122"/>
              </a:rPr>
              <a:t>4</a:t>
            </a:r>
            <a:r>
              <a:rPr lang="zh-CN" altLang="en-US" sz="2800" b="1" dirty="0">
                <a:solidFill>
                  <a:srgbClr val="FF0000"/>
                </a:solidFill>
                <a:latin typeface="黑体" panose="02010609060101010101" pitchFamily="49" charset="-122"/>
                <a:ea typeface="黑体" panose="02010609060101010101" pitchFamily="49" charset="-122"/>
              </a:rPr>
              <a:t>种关系</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35847" name="TextBox 7"/>
          <p:cNvSpPr txBox="1"/>
          <p:nvPr/>
        </p:nvSpPr>
        <p:spPr>
          <a:xfrm>
            <a:off x="7512050" y="3033713"/>
            <a:ext cx="1295400" cy="522287"/>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en-US" altLang="zh-CN" sz="2800" b="1" dirty="0">
                <a:solidFill>
                  <a:srgbClr val="FF0000"/>
                </a:solidFill>
                <a:latin typeface="黑体" panose="02010609060101010101" pitchFamily="49" charset="-122"/>
                <a:ea typeface="黑体" panose="02010609060101010101" pitchFamily="49" charset="-122"/>
              </a:rPr>
              <a:t>9</a:t>
            </a:r>
            <a:r>
              <a:rPr lang="zh-CN" altLang="en-US" sz="2800" b="1" dirty="0">
                <a:solidFill>
                  <a:srgbClr val="FF0000"/>
                </a:solidFill>
                <a:latin typeface="黑体" panose="02010609060101010101" pitchFamily="49" charset="-122"/>
                <a:ea typeface="黑体" panose="02010609060101010101" pitchFamily="49" charset="-122"/>
              </a:rPr>
              <a:t>种图</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455613" y="398463"/>
            <a:ext cx="8207375" cy="1139825"/>
          </a:xfrm>
        </p:spPr>
        <p:txBody>
          <a:bodyPr vert="horz" wrap="square" lIns="0" tIns="45605" rIns="0" bIns="0" anchor="b" anchorCtr="0"/>
          <a:p>
            <a:pPr>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图</a:t>
            </a:r>
            <a:endParaRPr lang="zh-CN" altLang="en-US" b="1" dirty="0">
              <a:latin typeface="微软雅黑" panose="020B0503020204020204" pitchFamily="34" charset="-122"/>
              <a:ea typeface="微软雅黑" panose="020B0503020204020204" pitchFamily="34" charset="-122"/>
            </a:endParaRPr>
          </a:p>
        </p:txBody>
      </p:sp>
      <p:sp>
        <p:nvSpPr>
          <p:cNvPr id="36867" name="Line 4"/>
          <p:cNvSpPr/>
          <p:nvPr/>
        </p:nvSpPr>
        <p:spPr>
          <a:xfrm flipH="1">
            <a:off x="4394200" y="2181225"/>
            <a:ext cx="0" cy="1312863"/>
          </a:xfrm>
          <a:prstGeom prst="line">
            <a:avLst/>
          </a:prstGeom>
          <a:ln w="9525" cap="flat" cmpd="sng">
            <a:solidFill>
              <a:schemeClr val="tx1"/>
            </a:solidFill>
            <a:prstDash val="solid"/>
            <a:headEnd type="none" w="sm" len="sm"/>
            <a:tailEnd type="none" w="sm" len="sm"/>
          </a:ln>
        </p:spPr>
      </p:sp>
      <p:sp>
        <p:nvSpPr>
          <p:cNvPr id="36868" name="Line 5"/>
          <p:cNvSpPr/>
          <p:nvPr/>
        </p:nvSpPr>
        <p:spPr>
          <a:xfrm flipV="1">
            <a:off x="4697413" y="3433763"/>
            <a:ext cx="1611312" cy="392112"/>
          </a:xfrm>
          <a:prstGeom prst="line">
            <a:avLst/>
          </a:prstGeom>
          <a:ln w="9525" cap="flat" cmpd="sng">
            <a:solidFill>
              <a:schemeClr val="tx1"/>
            </a:solidFill>
            <a:prstDash val="solid"/>
            <a:headEnd type="none" w="sm" len="sm"/>
            <a:tailEnd type="none" w="sm" len="sm"/>
          </a:ln>
        </p:spPr>
      </p:sp>
      <p:sp>
        <p:nvSpPr>
          <p:cNvPr id="36869" name="Line 6"/>
          <p:cNvSpPr/>
          <p:nvPr/>
        </p:nvSpPr>
        <p:spPr>
          <a:xfrm>
            <a:off x="4841875" y="4024313"/>
            <a:ext cx="1301750" cy="1458912"/>
          </a:xfrm>
          <a:prstGeom prst="line">
            <a:avLst/>
          </a:prstGeom>
          <a:ln w="9525" cap="flat" cmpd="sng">
            <a:solidFill>
              <a:schemeClr val="tx1"/>
            </a:solidFill>
            <a:prstDash val="solid"/>
            <a:headEnd type="none" w="sm" len="sm"/>
            <a:tailEnd type="none" w="sm" len="sm"/>
          </a:ln>
        </p:spPr>
      </p:sp>
      <p:sp>
        <p:nvSpPr>
          <p:cNvPr id="36870" name="Line 7"/>
          <p:cNvSpPr/>
          <p:nvPr/>
        </p:nvSpPr>
        <p:spPr>
          <a:xfrm>
            <a:off x="2533650" y="2568575"/>
            <a:ext cx="1673225" cy="1257300"/>
          </a:xfrm>
          <a:prstGeom prst="line">
            <a:avLst/>
          </a:prstGeom>
          <a:ln w="9525" cap="flat" cmpd="sng">
            <a:solidFill>
              <a:schemeClr val="tx1"/>
            </a:solidFill>
            <a:prstDash val="solid"/>
            <a:headEnd type="none" w="sm" len="sm"/>
            <a:tailEnd type="none" w="sm" len="sm"/>
          </a:ln>
        </p:spPr>
      </p:sp>
      <p:sp>
        <p:nvSpPr>
          <p:cNvPr id="36871" name="Line 8"/>
          <p:cNvSpPr/>
          <p:nvPr/>
        </p:nvSpPr>
        <p:spPr>
          <a:xfrm flipV="1">
            <a:off x="2528888" y="4403725"/>
            <a:ext cx="1258887" cy="458788"/>
          </a:xfrm>
          <a:prstGeom prst="line">
            <a:avLst/>
          </a:prstGeom>
          <a:ln w="9525" cap="flat" cmpd="sng">
            <a:solidFill>
              <a:schemeClr val="tx1"/>
            </a:solidFill>
            <a:prstDash val="solid"/>
            <a:headEnd type="none" w="sm" len="sm"/>
            <a:tailEnd type="none" w="sm" len="sm"/>
          </a:ln>
        </p:spPr>
      </p:sp>
      <p:sp>
        <p:nvSpPr>
          <p:cNvPr id="36872" name="Line 9"/>
          <p:cNvSpPr/>
          <p:nvPr/>
        </p:nvSpPr>
        <p:spPr>
          <a:xfrm>
            <a:off x="2027238" y="4024313"/>
            <a:ext cx="2035175" cy="0"/>
          </a:xfrm>
          <a:prstGeom prst="line">
            <a:avLst/>
          </a:prstGeom>
          <a:ln w="9525" cap="flat" cmpd="sng">
            <a:solidFill>
              <a:schemeClr val="tx1"/>
            </a:solidFill>
            <a:prstDash val="solid"/>
            <a:headEnd type="none" w="sm" len="sm"/>
            <a:tailEnd type="none" w="sm" len="sm"/>
          </a:ln>
        </p:spPr>
      </p:sp>
      <p:sp>
        <p:nvSpPr>
          <p:cNvPr id="36873" name="Line 10"/>
          <p:cNvSpPr/>
          <p:nvPr/>
        </p:nvSpPr>
        <p:spPr>
          <a:xfrm flipH="1">
            <a:off x="4548188" y="2060575"/>
            <a:ext cx="1714500" cy="1587500"/>
          </a:xfrm>
          <a:prstGeom prst="line">
            <a:avLst/>
          </a:prstGeom>
          <a:ln w="9525" cap="flat" cmpd="sng">
            <a:solidFill>
              <a:schemeClr val="tx1"/>
            </a:solidFill>
            <a:prstDash val="solid"/>
            <a:headEnd type="none" w="sm" len="sm"/>
            <a:tailEnd type="none" w="sm" len="sm"/>
          </a:ln>
        </p:spPr>
      </p:sp>
      <p:sp>
        <p:nvSpPr>
          <p:cNvPr id="36874" name="Line 11"/>
          <p:cNvSpPr/>
          <p:nvPr/>
        </p:nvSpPr>
        <p:spPr>
          <a:xfrm flipH="1" flipV="1">
            <a:off x="4394200" y="4633913"/>
            <a:ext cx="0" cy="849312"/>
          </a:xfrm>
          <a:prstGeom prst="line">
            <a:avLst/>
          </a:prstGeom>
          <a:ln w="9525" cap="flat" cmpd="sng">
            <a:solidFill>
              <a:schemeClr val="tx1"/>
            </a:solidFill>
            <a:prstDash val="solid"/>
            <a:headEnd type="none" w="sm" len="sm"/>
            <a:tailEnd type="none" w="sm" len="sm"/>
          </a:ln>
        </p:spPr>
      </p:sp>
      <p:sp>
        <p:nvSpPr>
          <p:cNvPr id="53" name="Rectangle 15"/>
          <p:cNvSpPr>
            <a:spLocks noChangeArrowheads="1"/>
          </p:cNvSpPr>
          <p:nvPr/>
        </p:nvSpPr>
        <p:spPr bwMode="auto">
          <a:xfrm>
            <a:off x="3719513" y="1566863"/>
            <a:ext cx="1301750" cy="776288"/>
          </a:xfrm>
          <a:prstGeom prst="rect">
            <a:avLst/>
          </a:prstGeom>
          <a:solidFill>
            <a:schemeClr val="accent1"/>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用例图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50" name="Rectangle 19"/>
          <p:cNvSpPr>
            <a:spLocks noChangeArrowheads="1"/>
          </p:cNvSpPr>
          <p:nvPr/>
        </p:nvSpPr>
        <p:spPr bwMode="auto">
          <a:xfrm>
            <a:off x="1177925" y="3233738"/>
            <a:ext cx="1350963" cy="830263"/>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协作图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7" name="Rectangle 23"/>
          <p:cNvSpPr>
            <a:spLocks noChangeArrowheads="1"/>
          </p:cNvSpPr>
          <p:nvPr/>
        </p:nvSpPr>
        <p:spPr bwMode="auto">
          <a:xfrm>
            <a:off x="5657850" y="5451475"/>
            <a:ext cx="1301750" cy="855663"/>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构件图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4" name="Rectangle 27"/>
          <p:cNvSpPr>
            <a:spLocks noChangeArrowheads="1"/>
          </p:cNvSpPr>
          <p:nvPr/>
        </p:nvSpPr>
        <p:spPr bwMode="auto">
          <a:xfrm>
            <a:off x="3719513" y="5483225"/>
            <a:ext cx="1349375" cy="819150"/>
          </a:xfrm>
          <a:prstGeom prst="rect">
            <a:avLst/>
          </a:prstGeom>
          <a:solidFill>
            <a:srgbClr val="990099"/>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部署图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1" name="Rectangle 31"/>
          <p:cNvSpPr>
            <a:spLocks noChangeArrowheads="1"/>
          </p:cNvSpPr>
          <p:nvPr/>
        </p:nvSpPr>
        <p:spPr bwMode="auto">
          <a:xfrm>
            <a:off x="6307138" y="3127375"/>
            <a:ext cx="1252538" cy="844550"/>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uLnTx/>
                <a:uFillTx/>
                <a:latin typeface="Comic Sans MS" panose="030F0702030302020204" pitchFamily="66" charset="0"/>
                <a:ea typeface="仿宋_GB2312" pitchFamily="49" charset="-122"/>
                <a:cs typeface="+mn-cs"/>
              </a:rPr>
              <a:t>对象图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8" name="Rectangle 35"/>
          <p:cNvSpPr>
            <a:spLocks noChangeArrowheads="1"/>
          </p:cNvSpPr>
          <p:nvPr/>
        </p:nvSpPr>
        <p:spPr bwMode="auto">
          <a:xfrm>
            <a:off x="1196975" y="4403725"/>
            <a:ext cx="1385888" cy="8207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状态图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5" name="Rectangle 39"/>
          <p:cNvSpPr>
            <a:spLocks noChangeArrowheads="1"/>
          </p:cNvSpPr>
          <p:nvPr/>
        </p:nvSpPr>
        <p:spPr bwMode="auto">
          <a:xfrm>
            <a:off x="1220788" y="2060575"/>
            <a:ext cx="1312863" cy="842963"/>
          </a:xfrm>
          <a:prstGeom prst="rect">
            <a:avLst/>
          </a:prstGeom>
          <a:solidFill>
            <a:srgbClr val="008000"/>
          </a:solidFill>
          <a:ln w="9525">
            <a:solidFill>
              <a:srgbClr val="FFFF00"/>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序列</a:t>
            </a:r>
            <a:r>
              <a:rPr kumimoji="1" lang="zh-CN" altLang="en-US" sz="2600" b="1" i="0" u="none" strike="noStrike" kern="1200" cap="none" spc="0" normalizeH="0" baseline="0" noProof="0" dirty="0" smtClean="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2" name="Rectangle 43"/>
          <p:cNvSpPr>
            <a:spLocks noChangeArrowheads="1"/>
          </p:cNvSpPr>
          <p:nvPr/>
        </p:nvSpPr>
        <p:spPr bwMode="auto">
          <a:xfrm>
            <a:off x="6281738" y="1677988"/>
            <a:ext cx="1303338" cy="765175"/>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类图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6883" name="Line 44"/>
          <p:cNvSpPr/>
          <p:nvPr/>
        </p:nvSpPr>
        <p:spPr>
          <a:xfrm flipH="1">
            <a:off x="2552700" y="4560888"/>
            <a:ext cx="1358900" cy="1166812"/>
          </a:xfrm>
          <a:prstGeom prst="line">
            <a:avLst/>
          </a:prstGeom>
          <a:ln w="12700" cap="flat" cmpd="sng">
            <a:solidFill>
              <a:schemeClr val="tx1"/>
            </a:solidFill>
            <a:prstDash val="solid"/>
            <a:headEnd type="none" w="sm" len="sm"/>
            <a:tailEnd type="none" w="lg" len="lg"/>
          </a:ln>
        </p:spPr>
      </p:sp>
      <p:sp>
        <p:nvSpPr>
          <p:cNvPr id="29" name="Rectangle 48"/>
          <p:cNvSpPr>
            <a:spLocks noChangeArrowheads="1"/>
          </p:cNvSpPr>
          <p:nvPr/>
        </p:nvSpPr>
        <p:spPr bwMode="auto">
          <a:xfrm>
            <a:off x="1227138" y="5456238"/>
            <a:ext cx="1325563" cy="8461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活动图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6885" name="AutoShape 49"/>
          <p:cNvSpPr/>
          <p:nvPr/>
        </p:nvSpPr>
        <p:spPr>
          <a:xfrm>
            <a:off x="3787775" y="3433763"/>
            <a:ext cx="1281113" cy="1195387"/>
          </a:xfrm>
          <a:prstGeom prst="can">
            <a:avLst>
              <a:gd name="adj" fmla="val 39255"/>
            </a:avLst>
          </a:prstGeom>
          <a:solidFill>
            <a:srgbClr val="FF6600"/>
          </a:solidFill>
          <a:ln w="9525" cap="flat" cmpd="sng">
            <a:solidFill>
              <a:srgbClr val="FFFF00"/>
            </a:solidFill>
            <a:prstDash val="solid"/>
            <a:headEnd type="none" w="med" len="med"/>
            <a:tailEnd type="none" w="med" len="med"/>
          </a:ln>
        </p:spPr>
        <p:txBody>
          <a:bodyPr wrap="none" lIns="107950" tIns="53975" rIns="107950" bIns="53975"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6886" name="Rectangle 50"/>
          <p:cNvSpPr/>
          <p:nvPr/>
        </p:nvSpPr>
        <p:spPr>
          <a:xfrm>
            <a:off x="4013200" y="3971925"/>
            <a:ext cx="879475" cy="465138"/>
          </a:xfrm>
          <a:prstGeom prst="rect">
            <a:avLst/>
          </a:prstGeom>
          <a:noFill/>
          <a:ln w="9525">
            <a:noFill/>
          </a:ln>
        </p:spPr>
        <p:txBody>
          <a:bodyPr wrap="none" lIns="107950" tIns="53975" rIns="107950" bIns="53975">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90000"/>
              </a:lnSpc>
              <a:spcBef>
                <a:spcPct val="0"/>
              </a:spcBef>
              <a:buClr>
                <a:srgbClr val="F6BF69"/>
              </a:buClr>
              <a:buSzTx/>
              <a:buFont typeface="Monotype Sorts" pitchFamily="2" charset="2"/>
              <a:buNone/>
            </a:pPr>
            <a:r>
              <a:rPr lang="zh-CN" altLang="en-US" b="1" dirty="0">
                <a:solidFill>
                  <a:srgbClr val="CCFFCC"/>
                </a:solidFill>
                <a:latin typeface="Comic Sans MS" panose="030F0702030302020204" pitchFamily="66" charset="0"/>
                <a:ea typeface="仿宋_GB2312" pitchFamily="49" charset="-122"/>
              </a:rPr>
              <a:t>模型</a:t>
            </a:r>
            <a:endParaRPr lang="zh-CN" altLang="en-US" b="1" dirty="0">
              <a:solidFill>
                <a:srgbClr val="CCFFCC"/>
              </a:solidFill>
              <a:latin typeface="Comic Sans MS" panose="030F0702030302020204" pitchFamily="66" charset="0"/>
              <a:ea typeface="仿宋_GB2312" pitchFamily="49" charset="-122"/>
            </a:endParaRPr>
          </a:p>
        </p:txBody>
      </p:sp>
      <p:sp>
        <p:nvSpPr>
          <p:cNvPr id="3" name="矩形 2"/>
          <p:cNvSpPr/>
          <p:nvPr/>
        </p:nvSpPr>
        <p:spPr>
          <a:xfrm>
            <a:off x="527050" y="1792288"/>
            <a:ext cx="2517775" cy="46545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 name="TextBox 4"/>
          <p:cNvSpPr txBox="1"/>
          <p:nvPr/>
        </p:nvSpPr>
        <p:spPr>
          <a:xfrm>
            <a:off x="527050" y="2154238"/>
            <a:ext cx="506413" cy="2062162"/>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动态行为</a:t>
            </a:r>
            <a:endParaRPr lang="zh-CN" altLang="en-US" sz="3200" b="1" dirty="0">
              <a:latin typeface="黑体" panose="02010609060101010101" pitchFamily="49" charset="-122"/>
              <a:ea typeface="黑体" panose="02010609060101010101" pitchFamily="49" charset="-122"/>
            </a:endParaRPr>
          </a:p>
        </p:txBody>
      </p:sp>
      <p:sp>
        <p:nvSpPr>
          <p:cNvPr id="56" name="矩形 55"/>
          <p:cNvSpPr/>
          <p:nvPr/>
        </p:nvSpPr>
        <p:spPr>
          <a:xfrm>
            <a:off x="3159125" y="974725"/>
            <a:ext cx="2517775" cy="14684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7" name="TextBox 56"/>
          <p:cNvSpPr txBox="1"/>
          <p:nvPr/>
        </p:nvSpPr>
        <p:spPr>
          <a:xfrm>
            <a:off x="3190875" y="981075"/>
            <a:ext cx="1744663" cy="585788"/>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功能</a:t>
            </a:r>
            <a:endParaRPr lang="zh-CN" altLang="en-US" sz="3200" b="1" dirty="0">
              <a:latin typeface="黑体" panose="02010609060101010101" pitchFamily="49" charset="-122"/>
              <a:ea typeface="黑体" panose="02010609060101010101" pitchFamily="49" charset="-122"/>
            </a:endParaRPr>
          </a:p>
        </p:txBody>
      </p:sp>
      <p:sp>
        <p:nvSpPr>
          <p:cNvPr id="58" name="矩形 57"/>
          <p:cNvSpPr/>
          <p:nvPr/>
        </p:nvSpPr>
        <p:spPr>
          <a:xfrm>
            <a:off x="6072188" y="1381125"/>
            <a:ext cx="2517775" cy="29051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9" name="TextBox 58"/>
          <p:cNvSpPr txBox="1"/>
          <p:nvPr/>
        </p:nvSpPr>
        <p:spPr>
          <a:xfrm>
            <a:off x="7861300" y="1801813"/>
            <a:ext cx="730250" cy="2062162"/>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静态结构</a:t>
            </a:r>
            <a:endParaRPr lang="zh-CN" altLang="en-US" sz="3200" b="1" dirty="0">
              <a:latin typeface="黑体" panose="02010609060101010101" pitchFamily="49" charset="-122"/>
              <a:ea typeface="黑体" panose="02010609060101010101" pitchFamily="49" charset="-122"/>
            </a:endParaRPr>
          </a:p>
        </p:txBody>
      </p:sp>
      <p:sp>
        <p:nvSpPr>
          <p:cNvPr id="60" name="矩形 59"/>
          <p:cNvSpPr/>
          <p:nvPr/>
        </p:nvSpPr>
        <p:spPr>
          <a:xfrm>
            <a:off x="3438525" y="4994275"/>
            <a:ext cx="4937125" cy="145256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1" name="TextBox 60"/>
          <p:cNvSpPr txBox="1"/>
          <p:nvPr/>
        </p:nvSpPr>
        <p:spPr>
          <a:xfrm>
            <a:off x="7194550" y="5203825"/>
            <a:ext cx="1181100" cy="1077913"/>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物理架构</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 calcmode="lin" valueType="num">
                                      <p:cBhvr additive="base">
                                        <p:cTn id="18" dur="500" fill="hold"/>
                                        <p:tgtEl>
                                          <p:spTgt spid="56"/>
                                        </p:tgtEl>
                                        <p:attrNameLst>
                                          <p:attrName>ppt_x</p:attrName>
                                        </p:attrNameLst>
                                      </p:cBhvr>
                                      <p:tavLst>
                                        <p:tav tm="0">
                                          <p:val>
                                            <p:strVal val="#ppt_x"/>
                                          </p:val>
                                        </p:tav>
                                        <p:tav tm="100000">
                                          <p:val>
                                            <p:strVal val="#ppt_x"/>
                                          </p:val>
                                        </p:tav>
                                      </p:tavLst>
                                    </p:anim>
                                    <p:anim calcmode="lin" valueType="num">
                                      <p:cBhvr additive="base">
                                        <p:cTn id="19" dur="500" fill="hold"/>
                                        <p:tgtEl>
                                          <p:spTgt spid="5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anim calcmode="lin" valueType="num">
                                      <p:cBhvr additive="base">
                                        <p:cTn id="29" dur="500" fill="hold"/>
                                        <p:tgtEl>
                                          <p:spTgt spid="58"/>
                                        </p:tgtEl>
                                        <p:attrNameLst>
                                          <p:attrName>ppt_x</p:attrName>
                                        </p:attrNameLst>
                                      </p:cBhvr>
                                      <p:tavLst>
                                        <p:tav tm="0">
                                          <p:val>
                                            <p:strVal val="#ppt_x"/>
                                          </p:val>
                                        </p:tav>
                                        <p:tav tm="100000">
                                          <p:val>
                                            <p:strVal val="#ppt_x"/>
                                          </p:val>
                                        </p:tav>
                                      </p:tavLst>
                                    </p:anim>
                                    <p:anim calcmode="lin" valueType="num">
                                      <p:cBhvr additive="base">
                                        <p:cTn id="30" dur="500" fill="hold"/>
                                        <p:tgtEl>
                                          <p:spTgt spid="5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ppt_x"/>
                                          </p:val>
                                        </p:tav>
                                        <p:tav tm="100000">
                                          <p:val>
                                            <p:strVal val="#ppt_x"/>
                                          </p:val>
                                        </p:tav>
                                      </p:tavLst>
                                    </p:anim>
                                    <p:anim calcmode="lin" valueType="num">
                                      <p:cBhvr additive="base">
                                        <p:cTn id="3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additive="base">
                                        <p:cTn id="39" dur="500" fill="hold"/>
                                        <p:tgtEl>
                                          <p:spTgt spid="60"/>
                                        </p:tgtEl>
                                        <p:attrNameLst>
                                          <p:attrName>ppt_x</p:attrName>
                                        </p:attrNameLst>
                                      </p:cBhvr>
                                      <p:tavLst>
                                        <p:tav tm="0">
                                          <p:val>
                                            <p:strVal val="#ppt_x"/>
                                          </p:val>
                                        </p:tav>
                                        <p:tav tm="100000">
                                          <p:val>
                                            <p:strVal val="#ppt_x"/>
                                          </p:val>
                                        </p:tav>
                                      </p:tavLst>
                                    </p:anim>
                                    <p:anim calcmode="lin" valueType="num">
                                      <p:cBhvr additive="base">
                                        <p:cTn id="40" dur="500" fill="hold"/>
                                        <p:tgtEl>
                                          <p:spTgt spid="6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additive="base">
                                        <p:cTn id="43" dur="500" fill="hold"/>
                                        <p:tgtEl>
                                          <p:spTgt spid="61"/>
                                        </p:tgtEl>
                                        <p:attrNameLst>
                                          <p:attrName>ppt_x</p:attrName>
                                        </p:attrNameLst>
                                      </p:cBhvr>
                                      <p:tavLst>
                                        <p:tav tm="0">
                                          <p:val>
                                            <p:strVal val="#ppt_x"/>
                                          </p:val>
                                        </p:tav>
                                        <p:tav tm="100000">
                                          <p:val>
                                            <p:strVal val="#ppt_x"/>
                                          </p:val>
                                        </p:tav>
                                      </p:tavLst>
                                    </p:anim>
                                    <p:anim calcmode="lin" valueType="num">
                                      <p:cBhvr additive="base">
                                        <p:cTn id="4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56" grpId="0" animBg="1"/>
      <p:bldP spid="57" grpId="0"/>
      <p:bldP spid="58" grpId="0" animBg="1"/>
      <p:bldP spid="59" grpId="0"/>
      <p:bldP spid="60" grpId="0" animBg="1"/>
      <p:bldP spid="6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5"/>
          <p:cNvSpPr txBox="1">
            <a:spLocks noGrp="1"/>
          </p:cNvSpPr>
          <p:nvPr>
            <p:ph type="sldNum" sz="quarter" idx="4"/>
          </p:nvPr>
        </p:nvSpPr>
        <p:spPr>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kern="1200" dirty="0">
                <a:solidFill>
                  <a:srgbClr val="045C75"/>
                </a:solidFill>
                <a:latin typeface="黑体" panose="02010609060101010101" pitchFamily="49" charset="-122"/>
                <a:ea typeface="黑体" panose="02010609060101010101" pitchFamily="49" charset="-122"/>
                <a:cs typeface="+mn-cs"/>
              </a:rPr>
            </a:fld>
            <a:endParaRPr lang="en-US" altLang="zh-CN" sz="1200" b="1" kern="1200" dirty="0">
              <a:solidFill>
                <a:srgbClr val="045C75"/>
              </a:solidFill>
              <a:latin typeface="黑体" panose="02010609060101010101" pitchFamily="49" charset="-122"/>
              <a:ea typeface="黑体" panose="02010609060101010101" pitchFamily="49" charset="-122"/>
              <a:cs typeface="+mn-cs"/>
            </a:endParaRPr>
          </a:p>
        </p:txBody>
      </p:sp>
      <p:sp>
        <p:nvSpPr>
          <p:cNvPr id="37891" name="Text Box 4"/>
          <p:cNvSpPr/>
          <p:nvPr>
            <p:ph type="title"/>
          </p:nvPr>
        </p:nvSpPr>
        <p:spPr>
          <a:xfrm>
            <a:off x="311150" y="398463"/>
            <a:ext cx="9361488" cy="790575"/>
          </a:xfrm>
        </p:spPr>
        <p:txBody>
          <a:bodyPr vert="horz" wrap="square" lIns="0" tIns="45605" rIns="0" bIns="0" anchor="b" anchorCtr="0"/>
          <a:p>
            <a:pPr>
              <a:lnSpc>
                <a:spcPts val="4000"/>
              </a:lnSpc>
            </a:pP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用例图</a:t>
            </a:r>
            <a:endParaRPr lang="zh-CN" altLang="en-US" b="1" dirty="0">
              <a:latin typeface="微软雅黑" panose="020B0503020204020204" pitchFamily="34" charset="-122"/>
              <a:ea typeface="微软雅黑" panose="020B0503020204020204" pitchFamily="34" charset="-122"/>
            </a:endParaRPr>
          </a:p>
        </p:txBody>
      </p:sp>
      <p:sp>
        <p:nvSpPr>
          <p:cNvPr id="37892" name="Rectangle 3"/>
          <p:cNvSpPr>
            <a:spLocks noGrp="1"/>
          </p:cNvSpPr>
          <p:nvPr>
            <p:ph type="body" sz="half" idx="1"/>
          </p:nvPr>
        </p:nvSpPr>
        <p:spPr>
          <a:xfrm>
            <a:off x="455613" y="1357313"/>
            <a:ext cx="8280400" cy="3001962"/>
          </a:xfrm>
        </p:spPr>
        <p:txBody>
          <a:bodyPr vert="horz" wrap="square" lIns="91212" tIns="45605" rIns="91212" bIns="45605" anchor="t" anchorCtr="0"/>
          <a:p>
            <a:pPr>
              <a:buClr>
                <a:srgbClr val="0BD0D9"/>
              </a:buClr>
              <a:buSzPct val="95000"/>
              <a:buFont typeface="Wingdings" panose="05000000000000000000" pitchFamily="2" charset="2"/>
              <a:buChar char="p"/>
            </a:pPr>
            <a:r>
              <a:rPr lang="zh-CN" altLang="en-US" sz="2400" b="1" dirty="0"/>
              <a:t>说明和定义软件系统的功能需求</a:t>
            </a:r>
            <a:endParaRPr lang="en-US" altLang="zh-CN" sz="2400" b="1" dirty="0"/>
          </a:p>
          <a:p>
            <a:pPr>
              <a:buClr>
                <a:srgbClr val="0BD0D9"/>
              </a:buClr>
              <a:buSzPct val="95000"/>
              <a:buFont typeface="Wingdings" panose="05000000000000000000" pitchFamily="2" charset="2"/>
              <a:buChar char="p"/>
            </a:pPr>
            <a:r>
              <a:rPr lang="zh-CN" altLang="en-US" sz="2400" b="1" dirty="0"/>
              <a:t>从系统外部观看系统功能，并不描述系统内部对功能的具体实现</a:t>
            </a:r>
            <a:endParaRPr lang="zh-CN" altLang="en-US" sz="2400" b="1" dirty="0"/>
          </a:p>
          <a:p>
            <a:pPr marL="273050" lvl="1" indent="-273050">
              <a:buClr>
                <a:srgbClr val="0BD0D9"/>
              </a:buClr>
              <a:buSzPct val="95000"/>
              <a:buFont typeface="Wingdings" panose="05000000000000000000" pitchFamily="2" charset="2"/>
              <a:buChar char="p"/>
            </a:pPr>
            <a:r>
              <a:rPr lang="zh-CN" altLang="en-US" b="1" dirty="0"/>
              <a:t>展现一组用例、参与者及其它们之间的关系</a:t>
            </a:r>
            <a:endParaRPr lang="zh-CN" altLang="en-US" b="1" dirty="0"/>
          </a:p>
          <a:p>
            <a:pPr>
              <a:buClr>
                <a:srgbClr val="0BD0D9"/>
              </a:buClr>
              <a:buSzPct val="95000"/>
              <a:buFont typeface="Wingdings" panose="05000000000000000000" pitchFamily="2" charset="2"/>
              <a:buChar char="p"/>
            </a:pPr>
            <a:r>
              <a:rPr lang="zh-CN" altLang="en-US" sz="2400" b="1" dirty="0"/>
              <a:t>表示符号</a:t>
            </a:r>
            <a:endParaRPr lang="zh-CN" altLang="en-US" sz="2400" b="1" dirty="0"/>
          </a:p>
        </p:txBody>
      </p:sp>
      <p:pic>
        <p:nvPicPr>
          <p:cNvPr id="37893" name="Picture 4"/>
          <p:cNvPicPr>
            <a:picLocks noChangeAspect="1"/>
          </p:cNvPicPr>
          <p:nvPr/>
        </p:nvPicPr>
        <p:blipFill>
          <a:blip r:embed="rId1"/>
          <a:stretch>
            <a:fillRect/>
          </a:stretch>
        </p:blipFill>
        <p:spPr>
          <a:xfrm>
            <a:off x="1606550" y="3422650"/>
            <a:ext cx="5059363" cy="287972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8915" name="Rectangle 3"/>
          <p:cNvSpPr>
            <a:spLocks noGrp="1"/>
          </p:cNvSpPr>
          <p:nvPr>
            <p:ph idx="1"/>
          </p:nvPr>
        </p:nvSpPr>
        <p:spPr>
          <a:xfrm>
            <a:off x="238125" y="1622425"/>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t>描述系统的静态结构</a:t>
            </a:r>
            <a:endParaRPr lang="en-US" altLang="zh-CN" b="1" dirty="0"/>
          </a:p>
          <a:p>
            <a:pPr marL="273050" lvl="1" indent="-273050">
              <a:lnSpc>
                <a:spcPct val="90000"/>
              </a:lnSpc>
              <a:buClr>
                <a:srgbClr val="0BD0D9"/>
              </a:buClr>
              <a:buSzPct val="95000"/>
              <a:buFont typeface="Wingdings" panose="05000000000000000000" pitchFamily="2" charset="2"/>
              <a:buChar char="p"/>
            </a:pPr>
            <a:r>
              <a:rPr lang="zh-CN" altLang="en-US" b="1" dirty="0"/>
              <a:t>展示系统中的类、类的属性和操作、以及类与类之间的关系</a:t>
            </a:r>
            <a:endParaRPr lang="zh-CN" altLang="en-US" b="1" dirty="0"/>
          </a:p>
        </p:txBody>
      </p:sp>
      <p:sp>
        <p:nvSpPr>
          <p:cNvPr id="38916" name="Rectangle 5"/>
          <p:cNvSpPr>
            <a:spLocks noGrp="1"/>
          </p:cNvSpPr>
          <p:nvPr>
            <p:ph type="title"/>
          </p:nvPr>
        </p:nvSpPr>
        <p:spPr>
          <a:xfrm>
            <a:off x="455613" y="327025"/>
            <a:ext cx="8207375" cy="1139825"/>
          </a:xfrm>
        </p:spPr>
        <p:txBody>
          <a:bodyPr vert="horz" wrap="square" lIns="0" tIns="45605" rIns="0" bIns="0" anchor="b" anchorCtr="0"/>
          <a:p>
            <a:r>
              <a:rPr lang="en-US" altLang="zh-CN" b="1" dirty="0">
                <a:latin typeface="微软雅黑" panose="020B0503020204020204" pitchFamily="34" charset="-122"/>
                <a:ea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rPr>
              <a:t>类图</a:t>
            </a:r>
            <a:endParaRPr lang="zh-CN" altLang="en-US" b="1" dirty="0">
              <a:latin typeface="微软雅黑" panose="020B0503020204020204" pitchFamily="34" charset="-122"/>
              <a:ea typeface="微软雅黑" panose="020B0503020204020204" pitchFamily="34" charset="-122"/>
            </a:endParaRPr>
          </a:p>
        </p:txBody>
      </p:sp>
      <p:grpSp>
        <p:nvGrpSpPr>
          <p:cNvPr id="38917" name="Group 90"/>
          <p:cNvGrpSpPr/>
          <p:nvPr/>
        </p:nvGrpSpPr>
        <p:grpSpPr>
          <a:xfrm>
            <a:off x="825500" y="2697163"/>
            <a:ext cx="7694613" cy="3678237"/>
            <a:chOff x="79" y="839"/>
            <a:chExt cx="5542" cy="3070"/>
          </a:xfrm>
        </p:grpSpPr>
        <p:grpSp>
          <p:nvGrpSpPr>
            <p:cNvPr id="38918" name="Group 89"/>
            <p:cNvGrpSpPr/>
            <p:nvPr/>
          </p:nvGrpSpPr>
          <p:grpSpPr>
            <a:xfrm>
              <a:off x="79" y="2203"/>
              <a:ext cx="1173" cy="540"/>
              <a:chOff x="79" y="2203"/>
              <a:chExt cx="1173" cy="540"/>
            </a:xfrm>
          </p:grpSpPr>
          <p:sp>
            <p:nvSpPr>
              <p:cNvPr id="38990" name="Rectangle 5"/>
              <p:cNvSpPr/>
              <p:nvPr/>
            </p:nvSpPr>
            <p:spPr>
              <a:xfrm>
                <a:off x="129" y="2238"/>
                <a:ext cx="830"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RegistrationUser</a:t>
                </a:r>
                <a:endParaRPr lang="en-US" altLang="zh-CN" sz="1200" b="1" dirty="0">
                  <a:latin typeface="Times New Roman" panose="02020603050405020304" pitchFamily="18" charset="0"/>
                  <a:ea typeface="黑体" panose="02010609060101010101" pitchFamily="49" charset="-122"/>
                </a:endParaRPr>
              </a:p>
            </p:txBody>
          </p:sp>
          <p:sp>
            <p:nvSpPr>
              <p:cNvPr id="38991" name="Line 6"/>
              <p:cNvSpPr/>
              <p:nvPr/>
            </p:nvSpPr>
            <p:spPr>
              <a:xfrm>
                <a:off x="80" y="2461"/>
                <a:ext cx="1172" cy="1"/>
              </a:xfrm>
              <a:prstGeom prst="line">
                <a:avLst/>
              </a:prstGeom>
              <a:ln w="12700" cap="flat" cmpd="sng">
                <a:solidFill>
                  <a:schemeClr val="tx1"/>
                </a:solidFill>
                <a:prstDash val="solid"/>
                <a:headEnd type="none" w="med" len="med"/>
                <a:tailEnd type="none" w="med" len="med"/>
              </a:ln>
            </p:spPr>
          </p:sp>
          <p:sp>
            <p:nvSpPr>
              <p:cNvPr id="38992" name="Rectangle 7"/>
              <p:cNvSpPr/>
              <p:nvPr/>
            </p:nvSpPr>
            <p:spPr>
              <a:xfrm>
                <a:off x="79" y="2203"/>
                <a:ext cx="1167" cy="5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93" name="Line 8"/>
              <p:cNvSpPr/>
              <p:nvPr/>
            </p:nvSpPr>
            <p:spPr>
              <a:xfrm>
                <a:off x="80" y="2557"/>
                <a:ext cx="1163" cy="1"/>
              </a:xfrm>
              <a:prstGeom prst="line">
                <a:avLst/>
              </a:prstGeom>
              <a:ln w="12700" cap="flat" cmpd="sng">
                <a:solidFill>
                  <a:schemeClr val="tx1"/>
                </a:solidFill>
                <a:prstDash val="solid"/>
                <a:headEnd type="none" w="med" len="med"/>
                <a:tailEnd type="none" w="med" len="med"/>
              </a:ln>
            </p:spPr>
          </p:sp>
        </p:grpSp>
        <p:sp>
          <p:nvSpPr>
            <p:cNvPr id="38919" name="Rectangle 9"/>
            <p:cNvSpPr/>
            <p:nvPr/>
          </p:nvSpPr>
          <p:spPr>
            <a:xfrm>
              <a:off x="1444" y="1876"/>
              <a:ext cx="104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RegistrationManager</a:t>
              </a:r>
              <a:endParaRPr lang="en-US" altLang="zh-CN" sz="1200" b="1" dirty="0">
                <a:latin typeface="Times New Roman" panose="02020603050405020304" pitchFamily="18" charset="0"/>
                <a:ea typeface="黑体" panose="02010609060101010101" pitchFamily="49" charset="-122"/>
              </a:endParaRPr>
            </a:p>
          </p:txBody>
        </p:sp>
        <p:sp>
          <p:nvSpPr>
            <p:cNvPr id="38920" name="Rectangle 10"/>
            <p:cNvSpPr/>
            <p:nvPr/>
          </p:nvSpPr>
          <p:spPr>
            <a:xfrm>
              <a:off x="1378" y="1847"/>
              <a:ext cx="2130" cy="629"/>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21" name="Line 11"/>
            <p:cNvSpPr/>
            <p:nvPr/>
          </p:nvSpPr>
          <p:spPr>
            <a:xfrm>
              <a:off x="1382" y="2104"/>
              <a:ext cx="2123" cy="1"/>
            </a:xfrm>
            <a:prstGeom prst="line">
              <a:avLst/>
            </a:prstGeom>
            <a:ln w="12700" cap="flat" cmpd="sng">
              <a:solidFill>
                <a:schemeClr val="tx1"/>
              </a:solidFill>
              <a:prstDash val="solid"/>
              <a:headEnd type="none" w="med" len="med"/>
              <a:tailEnd type="none" w="med" len="med"/>
            </a:ln>
          </p:spPr>
        </p:sp>
        <p:sp>
          <p:nvSpPr>
            <p:cNvPr id="38922" name="Line 12"/>
            <p:cNvSpPr/>
            <p:nvPr/>
          </p:nvSpPr>
          <p:spPr>
            <a:xfrm flipV="1">
              <a:off x="1378" y="2241"/>
              <a:ext cx="2126" cy="0"/>
            </a:xfrm>
            <a:prstGeom prst="line">
              <a:avLst/>
            </a:prstGeom>
            <a:ln w="12700" cap="flat" cmpd="sng">
              <a:solidFill>
                <a:schemeClr val="tx1"/>
              </a:solidFill>
              <a:prstDash val="solid"/>
              <a:headEnd type="none" w="med" len="med"/>
              <a:tailEnd type="none" w="med" len="med"/>
            </a:ln>
          </p:spPr>
        </p:sp>
        <p:sp>
          <p:nvSpPr>
            <p:cNvPr id="38923" name="Rectangle 13"/>
            <p:cNvSpPr/>
            <p:nvPr/>
          </p:nvSpPr>
          <p:spPr>
            <a:xfrm>
              <a:off x="1422" y="2267"/>
              <a:ext cx="1624"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addStudent(Course, StudentInfo)</a:t>
              </a:r>
              <a:endParaRPr lang="en-US" altLang="zh-CN" sz="1200" b="1" dirty="0">
                <a:latin typeface="Times New Roman" panose="02020603050405020304" pitchFamily="18" charset="0"/>
                <a:ea typeface="黑体" panose="02010609060101010101" pitchFamily="49" charset="-122"/>
              </a:endParaRPr>
            </a:p>
          </p:txBody>
        </p:sp>
        <p:grpSp>
          <p:nvGrpSpPr>
            <p:cNvPr id="38924" name="Group 86"/>
            <p:cNvGrpSpPr/>
            <p:nvPr/>
          </p:nvGrpSpPr>
          <p:grpSpPr>
            <a:xfrm>
              <a:off x="3989" y="1632"/>
              <a:ext cx="1632" cy="910"/>
              <a:chOff x="3989" y="1632"/>
              <a:chExt cx="1632" cy="910"/>
            </a:xfrm>
          </p:grpSpPr>
          <p:sp>
            <p:nvSpPr>
              <p:cNvPr id="38982" name="Rectangle 15"/>
              <p:cNvSpPr/>
              <p:nvPr/>
            </p:nvSpPr>
            <p:spPr>
              <a:xfrm>
                <a:off x="4138" y="1651"/>
                <a:ext cx="34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Course</a:t>
                </a:r>
                <a:endParaRPr lang="en-US" altLang="zh-CN" sz="1200" b="1" dirty="0">
                  <a:latin typeface="Times New Roman" panose="02020603050405020304" pitchFamily="18" charset="0"/>
                  <a:ea typeface="黑体" panose="02010609060101010101" pitchFamily="49" charset="-122"/>
                </a:endParaRPr>
              </a:p>
            </p:txBody>
          </p:sp>
          <p:sp>
            <p:nvSpPr>
              <p:cNvPr id="38983" name="Rectangle 16"/>
              <p:cNvSpPr/>
              <p:nvPr/>
            </p:nvSpPr>
            <p:spPr>
              <a:xfrm>
                <a:off x="3989" y="1632"/>
                <a:ext cx="1628" cy="91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84" name="Line 17"/>
              <p:cNvSpPr/>
              <p:nvPr/>
            </p:nvSpPr>
            <p:spPr>
              <a:xfrm>
                <a:off x="3996" y="1857"/>
                <a:ext cx="1620" cy="1"/>
              </a:xfrm>
              <a:prstGeom prst="line">
                <a:avLst/>
              </a:prstGeom>
              <a:ln w="12700" cap="flat" cmpd="sng">
                <a:solidFill>
                  <a:schemeClr val="tx1"/>
                </a:solidFill>
                <a:prstDash val="solid"/>
                <a:headEnd type="none" w="med" len="med"/>
                <a:tailEnd type="none" w="med" len="med"/>
              </a:ln>
            </p:spPr>
          </p:sp>
          <p:sp>
            <p:nvSpPr>
              <p:cNvPr id="38985" name="Line 18"/>
              <p:cNvSpPr/>
              <p:nvPr/>
            </p:nvSpPr>
            <p:spPr>
              <a:xfrm>
                <a:off x="3992" y="2194"/>
                <a:ext cx="1629" cy="1"/>
              </a:xfrm>
              <a:prstGeom prst="line">
                <a:avLst/>
              </a:prstGeom>
              <a:ln w="12700" cap="flat" cmpd="sng">
                <a:solidFill>
                  <a:schemeClr val="tx1"/>
                </a:solidFill>
                <a:prstDash val="solid"/>
                <a:headEnd type="none" w="med" len="med"/>
                <a:tailEnd type="none" w="med" len="med"/>
              </a:ln>
            </p:spPr>
          </p:sp>
          <p:sp>
            <p:nvSpPr>
              <p:cNvPr id="38986" name="Rectangle 19"/>
              <p:cNvSpPr/>
              <p:nvPr/>
            </p:nvSpPr>
            <p:spPr>
              <a:xfrm>
                <a:off x="4045" y="1853"/>
                <a:ext cx="26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38987" name="Rectangle 20"/>
              <p:cNvSpPr/>
              <p:nvPr/>
            </p:nvSpPr>
            <p:spPr>
              <a:xfrm>
                <a:off x="4045" y="1981"/>
                <a:ext cx="745"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numberCredits</a:t>
                </a:r>
                <a:endParaRPr lang="en-US" altLang="zh-CN" sz="1200" b="1" dirty="0">
                  <a:latin typeface="Times New Roman" panose="02020603050405020304" pitchFamily="18" charset="0"/>
                  <a:ea typeface="黑体" panose="02010609060101010101" pitchFamily="49" charset="-122"/>
                </a:endParaRPr>
              </a:p>
            </p:txBody>
          </p:sp>
          <p:sp>
            <p:nvSpPr>
              <p:cNvPr id="38988" name="Rectangle 21"/>
              <p:cNvSpPr/>
              <p:nvPr/>
            </p:nvSpPr>
            <p:spPr>
              <a:xfrm>
                <a:off x="4045" y="2197"/>
                <a:ext cx="310"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open()</a:t>
                </a:r>
                <a:endParaRPr lang="en-US" altLang="zh-CN" sz="1200" b="1" dirty="0">
                  <a:latin typeface="Times New Roman" panose="02020603050405020304" pitchFamily="18" charset="0"/>
                  <a:ea typeface="黑体" panose="02010609060101010101" pitchFamily="49" charset="-122"/>
                </a:endParaRPr>
              </a:p>
            </p:txBody>
          </p:sp>
          <p:sp>
            <p:nvSpPr>
              <p:cNvPr id="38989" name="Rectangle 22"/>
              <p:cNvSpPr/>
              <p:nvPr/>
            </p:nvSpPr>
            <p:spPr>
              <a:xfrm>
                <a:off x="4037" y="2341"/>
                <a:ext cx="1219"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addStudent(StudentInfo)</a:t>
                </a:r>
                <a:endParaRPr lang="en-US" altLang="zh-CN" sz="1200" b="1" dirty="0">
                  <a:latin typeface="Times New Roman" panose="02020603050405020304" pitchFamily="18" charset="0"/>
                  <a:ea typeface="黑体" panose="02010609060101010101" pitchFamily="49" charset="-122"/>
                </a:endParaRPr>
              </a:p>
            </p:txBody>
          </p:sp>
        </p:grpSp>
        <p:grpSp>
          <p:nvGrpSpPr>
            <p:cNvPr id="38925" name="Group 85"/>
            <p:cNvGrpSpPr/>
            <p:nvPr/>
          </p:nvGrpSpPr>
          <p:grpSpPr>
            <a:xfrm>
              <a:off x="2150" y="2710"/>
              <a:ext cx="730" cy="652"/>
              <a:chOff x="2150" y="2710"/>
              <a:chExt cx="730" cy="652"/>
            </a:xfrm>
          </p:grpSpPr>
          <p:grpSp>
            <p:nvGrpSpPr>
              <p:cNvPr id="38975" name="Group 84"/>
              <p:cNvGrpSpPr/>
              <p:nvPr/>
            </p:nvGrpSpPr>
            <p:grpSpPr>
              <a:xfrm>
                <a:off x="2150" y="2710"/>
                <a:ext cx="730" cy="652"/>
                <a:chOff x="2150" y="2710"/>
                <a:chExt cx="730" cy="652"/>
              </a:xfrm>
            </p:grpSpPr>
            <p:sp>
              <p:nvSpPr>
                <p:cNvPr id="38978" name="Rectangle 25"/>
                <p:cNvSpPr/>
                <p:nvPr/>
              </p:nvSpPr>
              <p:spPr>
                <a:xfrm>
                  <a:off x="2150" y="2710"/>
                  <a:ext cx="730" cy="652"/>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79" name="Rectangle 26"/>
                <p:cNvSpPr/>
                <p:nvPr/>
              </p:nvSpPr>
              <p:spPr>
                <a:xfrm>
                  <a:off x="2203" y="2722"/>
                  <a:ext cx="379"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Student</a:t>
                  </a:r>
                  <a:endParaRPr lang="en-US" altLang="zh-CN" sz="1200" b="1" dirty="0">
                    <a:latin typeface="Times New Roman" panose="02020603050405020304" pitchFamily="18" charset="0"/>
                    <a:ea typeface="黑体" panose="02010609060101010101" pitchFamily="49" charset="-122"/>
                  </a:endParaRPr>
                </a:p>
              </p:txBody>
            </p:sp>
            <p:sp>
              <p:nvSpPr>
                <p:cNvPr id="38980" name="Line 27"/>
                <p:cNvSpPr/>
                <p:nvPr/>
              </p:nvSpPr>
              <p:spPr>
                <a:xfrm>
                  <a:off x="2151" y="2923"/>
                  <a:ext cx="727" cy="2"/>
                </a:xfrm>
                <a:prstGeom prst="line">
                  <a:avLst/>
                </a:prstGeom>
                <a:ln w="12700" cap="flat" cmpd="sng">
                  <a:solidFill>
                    <a:schemeClr val="tx1"/>
                  </a:solidFill>
                  <a:prstDash val="solid"/>
                  <a:headEnd type="none" w="med" len="med"/>
                  <a:tailEnd type="none" w="med" len="med"/>
                </a:ln>
              </p:spPr>
            </p:sp>
            <p:sp>
              <p:nvSpPr>
                <p:cNvPr id="38981" name="Line 28"/>
                <p:cNvSpPr/>
                <p:nvPr/>
              </p:nvSpPr>
              <p:spPr>
                <a:xfrm>
                  <a:off x="2151" y="3243"/>
                  <a:ext cx="727" cy="1"/>
                </a:xfrm>
                <a:prstGeom prst="line">
                  <a:avLst/>
                </a:prstGeom>
                <a:ln w="12700" cap="flat" cmpd="sng">
                  <a:solidFill>
                    <a:schemeClr val="tx1"/>
                  </a:solidFill>
                  <a:prstDash val="solid"/>
                  <a:headEnd type="none" w="med" len="med"/>
                  <a:tailEnd type="none" w="med" len="med"/>
                </a:ln>
              </p:spPr>
            </p:sp>
          </p:grpSp>
          <p:sp>
            <p:nvSpPr>
              <p:cNvPr id="38976" name="Rectangle 29"/>
              <p:cNvSpPr/>
              <p:nvPr/>
            </p:nvSpPr>
            <p:spPr>
              <a:xfrm>
                <a:off x="2203" y="2907"/>
                <a:ext cx="26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38977" name="Rectangle 30"/>
              <p:cNvSpPr/>
              <p:nvPr/>
            </p:nvSpPr>
            <p:spPr>
              <a:xfrm>
                <a:off x="2203" y="3035"/>
                <a:ext cx="29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major</a:t>
                </a:r>
                <a:endParaRPr lang="en-US" altLang="zh-CN" sz="1200" b="1" dirty="0">
                  <a:latin typeface="Times New Roman" panose="02020603050405020304" pitchFamily="18" charset="0"/>
                  <a:ea typeface="黑体" panose="02010609060101010101" pitchFamily="49" charset="-122"/>
                </a:endParaRPr>
              </a:p>
            </p:txBody>
          </p:sp>
        </p:grpSp>
        <p:grpSp>
          <p:nvGrpSpPr>
            <p:cNvPr id="38926" name="Group 81"/>
            <p:cNvGrpSpPr/>
            <p:nvPr/>
          </p:nvGrpSpPr>
          <p:grpSpPr>
            <a:xfrm>
              <a:off x="3755" y="3083"/>
              <a:ext cx="1671" cy="826"/>
              <a:chOff x="3755" y="3083"/>
              <a:chExt cx="1671" cy="826"/>
            </a:xfrm>
          </p:grpSpPr>
          <p:grpSp>
            <p:nvGrpSpPr>
              <p:cNvPr id="38967" name="Group 80"/>
              <p:cNvGrpSpPr/>
              <p:nvPr/>
            </p:nvGrpSpPr>
            <p:grpSpPr>
              <a:xfrm>
                <a:off x="3755" y="3083"/>
                <a:ext cx="1671" cy="826"/>
                <a:chOff x="3755" y="3083"/>
                <a:chExt cx="1671" cy="826"/>
              </a:xfrm>
            </p:grpSpPr>
            <p:sp>
              <p:nvSpPr>
                <p:cNvPr id="38971" name="Rectangle 33"/>
                <p:cNvSpPr/>
                <p:nvPr/>
              </p:nvSpPr>
              <p:spPr>
                <a:xfrm>
                  <a:off x="3755" y="3083"/>
                  <a:ext cx="1666" cy="826"/>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72" name="Rectangle 34"/>
                <p:cNvSpPr/>
                <p:nvPr/>
              </p:nvSpPr>
              <p:spPr>
                <a:xfrm>
                  <a:off x="3868" y="3104"/>
                  <a:ext cx="76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CourseOffering</a:t>
                  </a:r>
                  <a:endParaRPr lang="en-US" altLang="zh-CN" sz="1200" b="1" dirty="0">
                    <a:latin typeface="Times New Roman" panose="02020603050405020304" pitchFamily="18" charset="0"/>
                    <a:ea typeface="黑体" panose="02010609060101010101" pitchFamily="49" charset="-122"/>
                  </a:endParaRPr>
                </a:p>
              </p:txBody>
            </p:sp>
            <p:sp>
              <p:nvSpPr>
                <p:cNvPr id="38973" name="Line 35"/>
                <p:cNvSpPr/>
                <p:nvPr/>
              </p:nvSpPr>
              <p:spPr>
                <a:xfrm>
                  <a:off x="3757" y="3310"/>
                  <a:ext cx="1669" cy="1"/>
                </a:xfrm>
                <a:prstGeom prst="line">
                  <a:avLst/>
                </a:prstGeom>
                <a:ln w="12700" cap="flat" cmpd="sng">
                  <a:solidFill>
                    <a:schemeClr val="tx1"/>
                  </a:solidFill>
                  <a:prstDash val="solid"/>
                  <a:headEnd type="none" w="med" len="med"/>
                  <a:tailEnd type="none" w="med" len="med"/>
                </a:ln>
              </p:spPr>
            </p:sp>
            <p:sp>
              <p:nvSpPr>
                <p:cNvPr id="38974" name="Line 36"/>
                <p:cNvSpPr/>
                <p:nvPr/>
              </p:nvSpPr>
              <p:spPr>
                <a:xfrm>
                  <a:off x="3766" y="3505"/>
                  <a:ext cx="1659" cy="1"/>
                </a:xfrm>
                <a:prstGeom prst="line">
                  <a:avLst/>
                </a:prstGeom>
                <a:ln w="12700" cap="flat" cmpd="sng">
                  <a:solidFill>
                    <a:schemeClr val="tx1"/>
                  </a:solidFill>
                  <a:prstDash val="solid"/>
                  <a:headEnd type="none" w="med" len="med"/>
                  <a:tailEnd type="none" w="med" len="med"/>
                </a:ln>
              </p:spPr>
            </p:sp>
          </p:grpSp>
          <p:sp>
            <p:nvSpPr>
              <p:cNvPr id="38968" name="Rectangle 37"/>
              <p:cNvSpPr/>
              <p:nvPr/>
            </p:nvSpPr>
            <p:spPr>
              <a:xfrm>
                <a:off x="3834" y="3323"/>
                <a:ext cx="38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location</a:t>
                </a:r>
                <a:endParaRPr lang="en-US" altLang="zh-CN" sz="1200" b="1" dirty="0">
                  <a:latin typeface="Times New Roman" panose="02020603050405020304" pitchFamily="18" charset="0"/>
                  <a:ea typeface="黑体" panose="02010609060101010101" pitchFamily="49" charset="-122"/>
                </a:endParaRPr>
              </a:p>
            </p:txBody>
          </p:sp>
          <p:sp>
            <p:nvSpPr>
              <p:cNvPr id="38969" name="Rectangle 38"/>
              <p:cNvSpPr/>
              <p:nvPr/>
            </p:nvSpPr>
            <p:spPr>
              <a:xfrm>
                <a:off x="3818" y="3523"/>
                <a:ext cx="310"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open()</a:t>
                </a:r>
                <a:endParaRPr lang="en-US" altLang="zh-CN" sz="1200" b="1" dirty="0">
                  <a:latin typeface="Times New Roman" panose="02020603050405020304" pitchFamily="18" charset="0"/>
                  <a:ea typeface="黑体" panose="02010609060101010101" pitchFamily="49" charset="-122"/>
                </a:endParaRPr>
              </a:p>
            </p:txBody>
          </p:sp>
          <p:sp>
            <p:nvSpPr>
              <p:cNvPr id="38970" name="Rectangle 39"/>
              <p:cNvSpPr/>
              <p:nvPr/>
            </p:nvSpPr>
            <p:spPr>
              <a:xfrm>
                <a:off x="3809" y="3683"/>
                <a:ext cx="1219"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addStudent(StudentInfo)</a:t>
                </a:r>
                <a:endParaRPr lang="en-US" altLang="zh-CN" sz="1200" b="1" dirty="0">
                  <a:latin typeface="Times New Roman" panose="02020603050405020304" pitchFamily="18" charset="0"/>
                  <a:ea typeface="黑体" panose="02010609060101010101" pitchFamily="49" charset="-122"/>
                </a:endParaRPr>
              </a:p>
            </p:txBody>
          </p:sp>
        </p:grpSp>
        <p:grpSp>
          <p:nvGrpSpPr>
            <p:cNvPr id="38927" name="Group 83"/>
            <p:cNvGrpSpPr/>
            <p:nvPr/>
          </p:nvGrpSpPr>
          <p:grpSpPr>
            <a:xfrm>
              <a:off x="616" y="3178"/>
              <a:ext cx="928" cy="686"/>
              <a:chOff x="616" y="3178"/>
              <a:chExt cx="928" cy="686"/>
            </a:xfrm>
          </p:grpSpPr>
          <p:grpSp>
            <p:nvGrpSpPr>
              <p:cNvPr id="38960" name="Group 82"/>
              <p:cNvGrpSpPr/>
              <p:nvPr/>
            </p:nvGrpSpPr>
            <p:grpSpPr>
              <a:xfrm>
                <a:off x="616" y="3178"/>
                <a:ext cx="928" cy="686"/>
                <a:chOff x="616" y="3178"/>
                <a:chExt cx="928" cy="686"/>
              </a:xfrm>
            </p:grpSpPr>
            <p:sp>
              <p:nvSpPr>
                <p:cNvPr id="38963" name="Rectangle 42"/>
                <p:cNvSpPr/>
                <p:nvPr/>
              </p:nvSpPr>
              <p:spPr>
                <a:xfrm>
                  <a:off x="616" y="3178"/>
                  <a:ext cx="928" cy="686"/>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64" name="Rectangle 43"/>
                <p:cNvSpPr/>
                <p:nvPr/>
              </p:nvSpPr>
              <p:spPr>
                <a:xfrm>
                  <a:off x="677" y="3192"/>
                  <a:ext cx="46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Professor</a:t>
                  </a:r>
                  <a:endParaRPr lang="en-US" altLang="zh-CN" sz="1200" b="1" dirty="0">
                    <a:latin typeface="Times New Roman" panose="02020603050405020304" pitchFamily="18" charset="0"/>
                    <a:ea typeface="黑体" panose="02010609060101010101" pitchFamily="49" charset="-122"/>
                  </a:endParaRPr>
                </a:p>
              </p:txBody>
            </p:sp>
            <p:sp>
              <p:nvSpPr>
                <p:cNvPr id="38965" name="Line 44"/>
                <p:cNvSpPr/>
                <p:nvPr/>
              </p:nvSpPr>
              <p:spPr>
                <a:xfrm>
                  <a:off x="617" y="3404"/>
                  <a:ext cx="916" cy="1"/>
                </a:xfrm>
                <a:prstGeom prst="line">
                  <a:avLst/>
                </a:prstGeom>
                <a:ln w="12700" cap="flat" cmpd="sng">
                  <a:solidFill>
                    <a:schemeClr val="tx1"/>
                  </a:solidFill>
                  <a:prstDash val="solid"/>
                  <a:headEnd type="none" w="med" len="med"/>
                  <a:tailEnd type="none" w="med" len="med"/>
                </a:ln>
              </p:spPr>
            </p:sp>
            <p:sp>
              <p:nvSpPr>
                <p:cNvPr id="38966" name="Line 45"/>
                <p:cNvSpPr/>
                <p:nvPr/>
              </p:nvSpPr>
              <p:spPr>
                <a:xfrm>
                  <a:off x="617" y="3739"/>
                  <a:ext cx="924" cy="1"/>
                </a:xfrm>
                <a:prstGeom prst="line">
                  <a:avLst/>
                </a:prstGeom>
                <a:ln w="12700" cap="flat" cmpd="sng">
                  <a:solidFill>
                    <a:schemeClr val="tx1"/>
                  </a:solidFill>
                  <a:prstDash val="solid"/>
                  <a:headEnd type="none" w="med" len="med"/>
                  <a:tailEnd type="none" w="med" len="med"/>
                </a:ln>
              </p:spPr>
            </p:sp>
          </p:grpSp>
          <p:sp>
            <p:nvSpPr>
              <p:cNvPr id="38961" name="Rectangle 46"/>
              <p:cNvSpPr/>
              <p:nvPr/>
            </p:nvSpPr>
            <p:spPr>
              <a:xfrm>
                <a:off x="677" y="3383"/>
                <a:ext cx="26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38962" name="Rectangle 47"/>
              <p:cNvSpPr/>
              <p:nvPr/>
            </p:nvSpPr>
            <p:spPr>
              <a:xfrm>
                <a:off x="677" y="3527"/>
                <a:ext cx="61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tenureStatus</a:t>
                </a:r>
                <a:endParaRPr lang="en-US" altLang="zh-CN" sz="1200" b="1" dirty="0">
                  <a:latin typeface="Times New Roman" panose="02020603050405020304" pitchFamily="18" charset="0"/>
                  <a:ea typeface="黑体" panose="02010609060101010101" pitchFamily="49" charset="-122"/>
                </a:endParaRPr>
              </a:p>
            </p:txBody>
          </p:sp>
        </p:grpSp>
        <p:grpSp>
          <p:nvGrpSpPr>
            <p:cNvPr id="38928" name="Group 87"/>
            <p:cNvGrpSpPr/>
            <p:nvPr/>
          </p:nvGrpSpPr>
          <p:grpSpPr>
            <a:xfrm>
              <a:off x="3764" y="839"/>
              <a:ext cx="1295" cy="494"/>
              <a:chOff x="3764" y="839"/>
              <a:chExt cx="1295" cy="494"/>
            </a:xfrm>
          </p:grpSpPr>
          <p:sp>
            <p:nvSpPr>
              <p:cNvPr id="38955" name="Rectangle 49"/>
              <p:cNvSpPr/>
              <p:nvPr/>
            </p:nvSpPr>
            <p:spPr>
              <a:xfrm>
                <a:off x="3816" y="858"/>
                <a:ext cx="944"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ScheduleAlgorithm</a:t>
                </a:r>
                <a:endParaRPr lang="en-US" altLang="zh-CN" sz="1200" b="1" dirty="0">
                  <a:latin typeface="Times New Roman" panose="02020603050405020304" pitchFamily="18" charset="0"/>
                  <a:ea typeface="黑体" panose="02010609060101010101" pitchFamily="49" charset="-122"/>
                </a:endParaRPr>
              </a:p>
            </p:txBody>
          </p:sp>
          <p:sp>
            <p:nvSpPr>
              <p:cNvPr id="38956" name="Line 50"/>
              <p:cNvSpPr/>
              <p:nvPr/>
            </p:nvSpPr>
            <p:spPr>
              <a:xfrm>
                <a:off x="3765" y="1080"/>
                <a:ext cx="1293" cy="1"/>
              </a:xfrm>
              <a:prstGeom prst="line">
                <a:avLst/>
              </a:prstGeom>
              <a:ln w="12700" cap="flat" cmpd="sng">
                <a:solidFill>
                  <a:schemeClr val="tx1"/>
                </a:solidFill>
                <a:prstDash val="solid"/>
                <a:headEnd type="none" w="med" len="med"/>
                <a:tailEnd type="none" w="med" len="med"/>
              </a:ln>
            </p:spPr>
          </p:sp>
          <p:grpSp>
            <p:nvGrpSpPr>
              <p:cNvPr id="38957" name="Group 51"/>
              <p:cNvGrpSpPr/>
              <p:nvPr/>
            </p:nvGrpSpPr>
            <p:grpSpPr>
              <a:xfrm>
                <a:off x="3764" y="839"/>
                <a:ext cx="1295" cy="494"/>
                <a:chOff x="2195" y="912"/>
                <a:chExt cx="982" cy="494"/>
              </a:xfrm>
            </p:grpSpPr>
            <p:sp>
              <p:nvSpPr>
                <p:cNvPr id="38958" name="Rectangle 52"/>
                <p:cNvSpPr/>
                <p:nvPr/>
              </p:nvSpPr>
              <p:spPr>
                <a:xfrm>
                  <a:off x="2195" y="912"/>
                  <a:ext cx="982" cy="494"/>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59" name="Line 53"/>
                <p:cNvSpPr/>
                <p:nvPr/>
              </p:nvSpPr>
              <p:spPr>
                <a:xfrm>
                  <a:off x="2196" y="1257"/>
                  <a:ext cx="980" cy="1"/>
                </a:xfrm>
                <a:prstGeom prst="line">
                  <a:avLst/>
                </a:prstGeom>
                <a:ln w="12700" cap="flat" cmpd="sng">
                  <a:solidFill>
                    <a:schemeClr val="tx1"/>
                  </a:solidFill>
                  <a:prstDash val="solid"/>
                  <a:headEnd type="none" w="med" len="med"/>
                  <a:tailEnd type="none" w="med" len="med"/>
                </a:ln>
              </p:spPr>
            </p:sp>
          </p:grpSp>
        </p:grpSp>
        <p:sp>
          <p:nvSpPr>
            <p:cNvPr id="38929" name="Line 54"/>
            <p:cNvSpPr/>
            <p:nvPr/>
          </p:nvSpPr>
          <p:spPr>
            <a:xfrm>
              <a:off x="1330" y="1465"/>
              <a:ext cx="514" cy="383"/>
            </a:xfrm>
            <a:prstGeom prst="line">
              <a:avLst/>
            </a:prstGeom>
            <a:ln w="22225" cap="flat" cmpd="sng">
              <a:solidFill>
                <a:schemeClr val="tx1"/>
              </a:solidFill>
              <a:prstDash val="solid"/>
              <a:headEnd type="none" w="med" len="med"/>
              <a:tailEnd type="none" w="med" len="med"/>
            </a:ln>
          </p:spPr>
        </p:sp>
        <p:sp>
          <p:nvSpPr>
            <p:cNvPr id="38930" name="Line 55"/>
            <p:cNvSpPr/>
            <p:nvPr/>
          </p:nvSpPr>
          <p:spPr>
            <a:xfrm flipV="1">
              <a:off x="3248" y="1341"/>
              <a:ext cx="607" cy="491"/>
            </a:xfrm>
            <a:prstGeom prst="line">
              <a:avLst/>
            </a:prstGeom>
            <a:ln w="22225" cap="flat" cmpd="sng">
              <a:solidFill>
                <a:schemeClr val="tx1"/>
              </a:solidFill>
              <a:prstDash val="dash"/>
              <a:headEnd type="none" w="med" len="med"/>
              <a:tailEnd type="arrow" w="med" len="med"/>
            </a:ln>
          </p:spPr>
        </p:sp>
        <p:sp>
          <p:nvSpPr>
            <p:cNvPr id="38931" name="Line 56"/>
            <p:cNvSpPr/>
            <p:nvPr/>
          </p:nvSpPr>
          <p:spPr>
            <a:xfrm>
              <a:off x="3509" y="2020"/>
              <a:ext cx="470" cy="0"/>
            </a:xfrm>
            <a:prstGeom prst="line">
              <a:avLst/>
            </a:prstGeom>
            <a:ln w="22225" cap="flat" cmpd="sng">
              <a:solidFill>
                <a:schemeClr val="tx1"/>
              </a:solidFill>
              <a:prstDash val="solid"/>
              <a:headEnd type="none" w="med" len="med"/>
              <a:tailEnd type="arrow" w="med" len="med"/>
            </a:ln>
          </p:spPr>
        </p:sp>
        <p:sp>
          <p:nvSpPr>
            <p:cNvPr id="38932" name="Line 57"/>
            <p:cNvSpPr/>
            <p:nvPr/>
          </p:nvSpPr>
          <p:spPr>
            <a:xfrm>
              <a:off x="2884" y="2966"/>
              <a:ext cx="873" cy="230"/>
            </a:xfrm>
            <a:prstGeom prst="line">
              <a:avLst/>
            </a:prstGeom>
            <a:ln w="22225" cap="flat" cmpd="sng">
              <a:solidFill>
                <a:schemeClr val="tx1"/>
              </a:solidFill>
              <a:prstDash val="solid"/>
              <a:headEnd type="none" w="med" len="med"/>
              <a:tailEnd type="none" w="med" len="med"/>
            </a:ln>
          </p:spPr>
        </p:sp>
        <p:sp>
          <p:nvSpPr>
            <p:cNvPr id="38933" name="Line 58"/>
            <p:cNvSpPr/>
            <p:nvPr/>
          </p:nvSpPr>
          <p:spPr>
            <a:xfrm flipV="1">
              <a:off x="1559" y="3574"/>
              <a:ext cx="2206" cy="9"/>
            </a:xfrm>
            <a:prstGeom prst="line">
              <a:avLst/>
            </a:prstGeom>
            <a:ln w="22225" cap="flat" cmpd="sng">
              <a:solidFill>
                <a:schemeClr val="tx1"/>
              </a:solidFill>
              <a:prstDash val="solid"/>
              <a:headEnd type="none" w="med" len="med"/>
              <a:tailEnd type="none" w="med" len="med"/>
            </a:ln>
          </p:spPr>
        </p:sp>
        <p:sp>
          <p:nvSpPr>
            <p:cNvPr id="38934" name="Line 59"/>
            <p:cNvSpPr/>
            <p:nvPr/>
          </p:nvSpPr>
          <p:spPr>
            <a:xfrm flipH="1">
              <a:off x="4497" y="2654"/>
              <a:ext cx="231" cy="420"/>
            </a:xfrm>
            <a:prstGeom prst="line">
              <a:avLst/>
            </a:prstGeom>
            <a:ln w="22225" cap="flat" cmpd="sng">
              <a:solidFill>
                <a:schemeClr val="tx1"/>
              </a:solidFill>
              <a:prstDash val="solid"/>
              <a:headEnd type="none" w="med" len="med"/>
              <a:tailEnd type="arrow" w="med" len="med"/>
            </a:ln>
          </p:spPr>
        </p:sp>
        <p:sp>
          <p:nvSpPr>
            <p:cNvPr id="38935" name="AutoShape 60"/>
            <p:cNvSpPr/>
            <p:nvPr/>
          </p:nvSpPr>
          <p:spPr>
            <a:xfrm rot="1571724">
              <a:off x="4711" y="2547"/>
              <a:ext cx="90" cy="115"/>
            </a:xfrm>
            <a:prstGeom prst="diamond">
              <a:avLst/>
            </a:prstGeom>
            <a:noFill/>
            <a:ln w="22225"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36" name="Rectangle 61"/>
            <p:cNvSpPr/>
            <p:nvPr/>
          </p:nvSpPr>
          <p:spPr>
            <a:xfrm>
              <a:off x="1906" y="1639"/>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8937" name="Rectangle 62"/>
            <p:cNvSpPr/>
            <p:nvPr/>
          </p:nvSpPr>
          <p:spPr>
            <a:xfrm>
              <a:off x="1679" y="1499"/>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a:t>
              </a:r>
              <a:endParaRPr lang="en-US" altLang="zh-CN" sz="1200" b="1" dirty="0">
                <a:latin typeface="Times New Roman" panose="02020603050405020304" pitchFamily="18" charset="0"/>
                <a:ea typeface="黑体" panose="02010609060101010101" pitchFamily="49" charset="-122"/>
              </a:endParaRPr>
            </a:p>
          </p:txBody>
        </p:sp>
        <p:sp>
          <p:nvSpPr>
            <p:cNvPr id="38938" name="Rectangle 63"/>
            <p:cNvSpPr/>
            <p:nvPr/>
          </p:nvSpPr>
          <p:spPr>
            <a:xfrm>
              <a:off x="3718" y="1800"/>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a:t>
              </a:r>
              <a:endParaRPr lang="en-US" altLang="zh-CN" sz="1200" b="1" dirty="0">
                <a:latin typeface="Times New Roman" panose="02020603050405020304" pitchFamily="18" charset="0"/>
                <a:ea typeface="黑体" panose="02010609060101010101" pitchFamily="49" charset="-122"/>
              </a:endParaRPr>
            </a:p>
          </p:txBody>
        </p:sp>
        <p:sp>
          <p:nvSpPr>
            <p:cNvPr id="38939" name="Rectangle 64"/>
            <p:cNvSpPr/>
            <p:nvPr/>
          </p:nvSpPr>
          <p:spPr>
            <a:xfrm>
              <a:off x="3560" y="1800"/>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8940" name="Rectangle 65"/>
            <p:cNvSpPr/>
            <p:nvPr/>
          </p:nvSpPr>
          <p:spPr>
            <a:xfrm>
              <a:off x="4856" y="2582"/>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8941" name="Rectangle 66"/>
            <p:cNvSpPr/>
            <p:nvPr/>
          </p:nvSpPr>
          <p:spPr>
            <a:xfrm>
              <a:off x="4670" y="2855"/>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8942" name="Rectangle 67"/>
            <p:cNvSpPr/>
            <p:nvPr/>
          </p:nvSpPr>
          <p:spPr>
            <a:xfrm>
              <a:off x="3616" y="2970"/>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4</a:t>
              </a:r>
              <a:endParaRPr lang="en-US" altLang="zh-CN" sz="1200" b="1" dirty="0">
                <a:latin typeface="Times New Roman" panose="02020603050405020304" pitchFamily="18" charset="0"/>
                <a:ea typeface="黑体" panose="02010609060101010101" pitchFamily="49" charset="-122"/>
              </a:endParaRPr>
            </a:p>
          </p:txBody>
        </p:sp>
        <p:sp>
          <p:nvSpPr>
            <p:cNvPr id="38943" name="Rectangle 68"/>
            <p:cNvSpPr/>
            <p:nvPr/>
          </p:nvSpPr>
          <p:spPr>
            <a:xfrm>
              <a:off x="2962" y="2774"/>
              <a:ext cx="22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3..10</a:t>
              </a:r>
              <a:endParaRPr lang="en-US" altLang="zh-CN" sz="1200" b="1" dirty="0">
                <a:latin typeface="Times New Roman" panose="02020603050405020304" pitchFamily="18" charset="0"/>
                <a:ea typeface="黑体" panose="02010609060101010101" pitchFamily="49" charset="-122"/>
              </a:endParaRPr>
            </a:p>
          </p:txBody>
        </p:sp>
        <p:sp>
          <p:nvSpPr>
            <p:cNvPr id="38944" name="Rectangle 69"/>
            <p:cNvSpPr/>
            <p:nvPr/>
          </p:nvSpPr>
          <p:spPr>
            <a:xfrm>
              <a:off x="3436" y="3351"/>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0..4</a:t>
              </a:r>
              <a:endParaRPr lang="en-US" altLang="zh-CN" sz="1200" b="1" dirty="0">
                <a:latin typeface="Times New Roman" panose="02020603050405020304" pitchFamily="18" charset="0"/>
                <a:ea typeface="黑体" panose="02010609060101010101" pitchFamily="49" charset="-122"/>
              </a:endParaRPr>
            </a:p>
          </p:txBody>
        </p:sp>
        <p:sp>
          <p:nvSpPr>
            <p:cNvPr id="38945" name="Rectangle 70"/>
            <p:cNvSpPr/>
            <p:nvPr/>
          </p:nvSpPr>
          <p:spPr>
            <a:xfrm>
              <a:off x="1645" y="3351"/>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grpSp>
          <p:nvGrpSpPr>
            <p:cNvPr id="38946" name="Group 88"/>
            <p:cNvGrpSpPr/>
            <p:nvPr/>
          </p:nvGrpSpPr>
          <p:grpSpPr>
            <a:xfrm>
              <a:off x="642" y="924"/>
              <a:ext cx="1208" cy="540"/>
              <a:chOff x="642" y="924"/>
              <a:chExt cx="1208" cy="540"/>
            </a:xfrm>
          </p:grpSpPr>
          <p:sp>
            <p:nvSpPr>
              <p:cNvPr id="38951" name="Rectangle 72"/>
              <p:cNvSpPr/>
              <p:nvPr/>
            </p:nvSpPr>
            <p:spPr>
              <a:xfrm>
                <a:off x="694" y="959"/>
                <a:ext cx="875"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RegistrationForm</a:t>
                </a:r>
                <a:endParaRPr lang="en-US" altLang="zh-CN" sz="1200" b="1" dirty="0">
                  <a:latin typeface="Times New Roman" panose="02020603050405020304" pitchFamily="18" charset="0"/>
                  <a:ea typeface="黑体" panose="02010609060101010101" pitchFamily="49" charset="-122"/>
                </a:endParaRPr>
              </a:p>
            </p:txBody>
          </p:sp>
          <p:sp>
            <p:nvSpPr>
              <p:cNvPr id="38952" name="Line 73"/>
              <p:cNvSpPr/>
              <p:nvPr/>
            </p:nvSpPr>
            <p:spPr>
              <a:xfrm>
                <a:off x="643" y="1166"/>
                <a:ext cx="1196" cy="2"/>
              </a:xfrm>
              <a:prstGeom prst="line">
                <a:avLst/>
              </a:prstGeom>
              <a:ln w="12700" cap="flat" cmpd="sng">
                <a:solidFill>
                  <a:schemeClr val="tx1"/>
                </a:solidFill>
                <a:prstDash val="solid"/>
                <a:headEnd type="none" w="med" len="med"/>
                <a:tailEnd type="none" w="med" len="med"/>
              </a:ln>
            </p:spPr>
          </p:sp>
          <p:sp>
            <p:nvSpPr>
              <p:cNvPr id="38953" name="Rectangle 74"/>
              <p:cNvSpPr/>
              <p:nvPr/>
            </p:nvSpPr>
            <p:spPr>
              <a:xfrm>
                <a:off x="642" y="924"/>
                <a:ext cx="1208" cy="5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54" name="Line 75"/>
              <p:cNvSpPr/>
              <p:nvPr/>
            </p:nvSpPr>
            <p:spPr>
              <a:xfrm>
                <a:off x="643" y="1278"/>
                <a:ext cx="1204" cy="1"/>
              </a:xfrm>
              <a:prstGeom prst="line">
                <a:avLst/>
              </a:prstGeom>
              <a:ln w="12700" cap="flat" cmpd="sng">
                <a:solidFill>
                  <a:schemeClr val="tx1"/>
                </a:solidFill>
                <a:prstDash val="solid"/>
                <a:headEnd type="none" w="med" len="med"/>
                <a:tailEnd type="none" w="med" len="med"/>
              </a:ln>
            </p:spPr>
          </p:sp>
        </p:grpSp>
        <p:sp>
          <p:nvSpPr>
            <p:cNvPr id="38947" name="Line 76"/>
            <p:cNvSpPr/>
            <p:nvPr/>
          </p:nvSpPr>
          <p:spPr>
            <a:xfrm flipH="1" flipV="1">
              <a:off x="864" y="2850"/>
              <a:ext cx="115" cy="329"/>
            </a:xfrm>
            <a:prstGeom prst="line">
              <a:avLst/>
            </a:prstGeom>
            <a:ln w="22225" cap="flat" cmpd="sng">
              <a:solidFill>
                <a:schemeClr val="tx2"/>
              </a:solidFill>
              <a:prstDash val="solid"/>
              <a:headEnd type="none" w="med" len="med"/>
              <a:tailEnd type="none" w="med" len="med"/>
            </a:ln>
          </p:spPr>
        </p:sp>
        <p:sp>
          <p:nvSpPr>
            <p:cNvPr id="38948" name="AutoShape 77"/>
            <p:cNvSpPr/>
            <p:nvPr/>
          </p:nvSpPr>
          <p:spPr>
            <a:xfrm rot="-1136824">
              <a:off x="811" y="2750"/>
              <a:ext cx="83" cy="107"/>
            </a:xfrm>
            <a:prstGeom prst="triangle">
              <a:avLst>
                <a:gd name="adj" fmla="val 50000"/>
              </a:avLst>
            </a:prstGeom>
            <a:noFill/>
            <a:ln w="22225" cap="flat" cmpd="sng">
              <a:solidFill>
                <a:schemeClr val="tx2"/>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8949" name="Line 78"/>
            <p:cNvSpPr/>
            <p:nvPr/>
          </p:nvSpPr>
          <p:spPr>
            <a:xfrm flipH="1" flipV="1">
              <a:off x="1363" y="2683"/>
              <a:ext cx="774" cy="214"/>
            </a:xfrm>
            <a:prstGeom prst="line">
              <a:avLst/>
            </a:prstGeom>
            <a:ln w="22225" cap="flat" cmpd="sng">
              <a:solidFill>
                <a:schemeClr val="tx2"/>
              </a:solidFill>
              <a:prstDash val="solid"/>
              <a:headEnd type="none" w="med" len="med"/>
              <a:tailEnd type="none" w="med" len="med"/>
            </a:ln>
          </p:spPr>
        </p:sp>
        <p:sp>
          <p:nvSpPr>
            <p:cNvPr id="38950" name="AutoShape 79"/>
            <p:cNvSpPr/>
            <p:nvPr/>
          </p:nvSpPr>
          <p:spPr>
            <a:xfrm rot="-4264587">
              <a:off x="1271" y="2614"/>
              <a:ext cx="91" cy="103"/>
            </a:xfrm>
            <a:prstGeom prst="triangle">
              <a:avLst>
                <a:gd name="adj" fmla="val 50000"/>
              </a:avLst>
            </a:prstGeom>
            <a:noFill/>
            <a:ln w="22225" cap="flat" cmpd="sng">
              <a:solidFill>
                <a:schemeClr val="tx2"/>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9939" name="Rectangle 3"/>
          <p:cNvSpPr>
            <a:spLocks noGrp="1"/>
          </p:cNvSpPr>
          <p:nvPr>
            <p:ph idx="1"/>
          </p:nvPr>
        </p:nvSpPr>
        <p:spPr>
          <a:xfrm>
            <a:off x="238125" y="1695450"/>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描述系统在某一刻对象和它们之间的联系</a:t>
            </a:r>
            <a:endParaRPr lang="en-US" altLang="zh-CN"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实质上是类图的实例</a:t>
            </a:r>
            <a:endParaRPr lang="zh-CN" altLang="en-US" b="1" dirty="0">
              <a:solidFill>
                <a:srgbClr val="000000"/>
              </a:solidFill>
            </a:endParaRPr>
          </a:p>
        </p:txBody>
      </p:sp>
      <p:sp>
        <p:nvSpPr>
          <p:cNvPr id="39940" name="Rectangle 5"/>
          <p:cNvSpPr>
            <a:spLocks noGrp="1"/>
          </p:cNvSpPr>
          <p:nvPr>
            <p:ph type="title"/>
          </p:nvPr>
        </p:nvSpPr>
        <p:spPr>
          <a:xfrm>
            <a:off x="455613" y="327025"/>
            <a:ext cx="8783637" cy="1139825"/>
          </a:xfrm>
        </p:spPr>
        <p:txBody>
          <a:bodyPr vert="horz" wrap="square" lIns="0" tIns="45605" rIns="0" bIns="0" anchor="b" anchorCtr="0"/>
          <a:p>
            <a:r>
              <a:rPr lang="en-US" altLang="zh-CN" b="1" dirty="0">
                <a:latin typeface="微软雅黑" panose="020B0503020204020204" pitchFamily="34" charset="-122"/>
                <a:ea typeface="微软雅黑" panose="020B0503020204020204" pitchFamily="34" charset="-122"/>
              </a:rPr>
              <a:t>3 </a:t>
            </a:r>
            <a:r>
              <a:rPr lang="zh-CN" altLang="en-US" b="1" dirty="0">
                <a:latin typeface="微软雅黑" panose="020B0503020204020204" pitchFamily="34" charset="-122"/>
                <a:ea typeface="微软雅黑" panose="020B0503020204020204" pitchFamily="34" charset="-122"/>
              </a:rPr>
              <a:t>对象图</a:t>
            </a:r>
            <a:endParaRPr lang="zh-CN" altLang="en-US" b="1" dirty="0">
              <a:latin typeface="微软雅黑" panose="020B0503020204020204" pitchFamily="34" charset="-122"/>
              <a:ea typeface="微软雅黑" panose="020B0503020204020204" pitchFamily="34" charset="-122"/>
            </a:endParaRPr>
          </a:p>
        </p:txBody>
      </p:sp>
      <p:grpSp>
        <p:nvGrpSpPr>
          <p:cNvPr id="39941" name="Group 3"/>
          <p:cNvGrpSpPr/>
          <p:nvPr/>
        </p:nvGrpSpPr>
        <p:grpSpPr>
          <a:xfrm>
            <a:off x="792163" y="2551113"/>
            <a:ext cx="7108825" cy="3824287"/>
            <a:chOff x="454" y="694"/>
            <a:chExt cx="4986" cy="3303"/>
          </a:xfrm>
        </p:grpSpPr>
        <p:grpSp>
          <p:nvGrpSpPr>
            <p:cNvPr id="39942" name="Group 4"/>
            <p:cNvGrpSpPr/>
            <p:nvPr/>
          </p:nvGrpSpPr>
          <p:grpSpPr>
            <a:xfrm>
              <a:off x="2856" y="694"/>
              <a:ext cx="800" cy="282"/>
              <a:chOff x="2880" y="750"/>
              <a:chExt cx="800" cy="282"/>
            </a:xfrm>
          </p:grpSpPr>
          <p:sp>
            <p:nvSpPr>
              <p:cNvPr id="39996" name="Rectangle 5"/>
              <p:cNvSpPr/>
              <p:nvPr/>
            </p:nvSpPr>
            <p:spPr>
              <a:xfrm>
                <a:off x="2880" y="750"/>
                <a:ext cx="800" cy="282"/>
              </a:xfrm>
              <a:prstGeom prst="rect">
                <a:avLst/>
              </a:prstGeom>
              <a:solidFill>
                <a:srgbClr val="CCFF99"/>
              </a:solidFill>
              <a:ln w="22225" cap="flat" cmpd="sng">
                <a:solidFill>
                  <a:srgbClr val="FF0000"/>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97" name="Text Box 6"/>
              <p:cNvSpPr txBox="1"/>
              <p:nvPr/>
            </p:nvSpPr>
            <p:spPr>
              <a:xfrm>
                <a:off x="3028" y="761"/>
                <a:ext cx="508"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en-US" altLang="zh-CN" sz="1600" b="1" u="sng" dirty="0">
                    <a:solidFill>
                      <a:srgbClr val="000099"/>
                    </a:solidFill>
                    <a:latin typeface="黑体" panose="02010609060101010101" pitchFamily="49" charset="-122"/>
                    <a:ea typeface="黑体" panose="02010609060101010101" pitchFamily="49" charset="-122"/>
                  </a:rPr>
                  <a:t>c</a:t>
                </a:r>
                <a:r>
                  <a:rPr lang="en-US" altLang="zh-CN" sz="1400" b="1" u="sng" dirty="0">
                    <a:solidFill>
                      <a:srgbClr val="000099"/>
                    </a:solidFill>
                    <a:latin typeface="Times New Roman" panose="02020603050405020304" pitchFamily="18" charset="0"/>
                    <a:ea typeface="黑体" panose="02010609060101010101" pitchFamily="49" charset="-122"/>
                  </a:rPr>
                  <a:t>: </a:t>
                </a:r>
                <a:r>
                  <a:rPr lang="zh-CN" altLang="en-US" sz="1600" b="1" u="sng" dirty="0">
                    <a:solidFill>
                      <a:srgbClr val="000099"/>
                    </a:solidFill>
                    <a:latin typeface="Times New Roman" panose="02020603050405020304" pitchFamily="18" charset="0"/>
                    <a:ea typeface="仿宋_GB2312" pitchFamily="49" charset="-122"/>
                  </a:rPr>
                  <a:t>公司</a:t>
                </a:r>
                <a:endParaRPr lang="zh-CN" altLang="en-US" sz="1600" b="1" u="sng" dirty="0">
                  <a:solidFill>
                    <a:srgbClr val="000099"/>
                  </a:solidFill>
                  <a:latin typeface="Times New Roman" panose="02020603050405020304" pitchFamily="18" charset="0"/>
                  <a:ea typeface="仿宋_GB2312" pitchFamily="49" charset="-122"/>
                </a:endParaRPr>
              </a:p>
            </p:txBody>
          </p:sp>
        </p:grpSp>
        <p:grpSp>
          <p:nvGrpSpPr>
            <p:cNvPr id="39943" name="Group 7"/>
            <p:cNvGrpSpPr/>
            <p:nvPr/>
          </p:nvGrpSpPr>
          <p:grpSpPr>
            <a:xfrm>
              <a:off x="3856" y="1353"/>
              <a:ext cx="952" cy="471"/>
              <a:chOff x="3880" y="1409"/>
              <a:chExt cx="952" cy="471"/>
            </a:xfrm>
          </p:grpSpPr>
          <p:grpSp>
            <p:nvGrpSpPr>
              <p:cNvPr id="39991" name="Group 8"/>
              <p:cNvGrpSpPr/>
              <p:nvPr/>
            </p:nvGrpSpPr>
            <p:grpSpPr>
              <a:xfrm>
                <a:off x="3880" y="1424"/>
                <a:ext cx="952" cy="456"/>
                <a:chOff x="1432" y="408"/>
                <a:chExt cx="952" cy="456"/>
              </a:xfrm>
            </p:grpSpPr>
            <p:sp>
              <p:nvSpPr>
                <p:cNvPr id="39994" name="Rectangle 9"/>
                <p:cNvSpPr/>
                <p:nvPr/>
              </p:nvSpPr>
              <p:spPr>
                <a:xfrm>
                  <a:off x="1432" y="408"/>
                  <a:ext cx="952" cy="456"/>
                </a:xfrm>
                <a:prstGeom prst="rect">
                  <a:avLst/>
                </a:prstGeom>
                <a:solidFill>
                  <a:srgbClr val="CCFF99"/>
                </a:solidFill>
                <a:ln w="22225" cap="flat" cmpd="sng">
                  <a:solidFill>
                    <a:srgbClr val="FF0000"/>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95" name="Line 10"/>
                <p:cNvSpPr/>
                <p:nvPr/>
              </p:nvSpPr>
              <p:spPr>
                <a:xfrm>
                  <a:off x="1432" y="624"/>
                  <a:ext cx="952" cy="0"/>
                </a:xfrm>
                <a:prstGeom prst="line">
                  <a:avLst/>
                </a:prstGeom>
                <a:ln w="22225" cap="flat" cmpd="sng">
                  <a:solidFill>
                    <a:srgbClr val="FF0000"/>
                  </a:solidFill>
                  <a:prstDash val="solid"/>
                  <a:headEnd type="none" w="med" len="med"/>
                  <a:tailEnd type="none" w="med" len="med"/>
                </a:ln>
              </p:spPr>
            </p:sp>
          </p:grpSp>
          <p:sp>
            <p:nvSpPr>
              <p:cNvPr id="39992" name="Text Box 11"/>
              <p:cNvSpPr txBox="1"/>
              <p:nvPr/>
            </p:nvSpPr>
            <p:spPr>
              <a:xfrm>
                <a:off x="3896" y="1647"/>
                <a:ext cx="898"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zh-CN" altLang="en-US" sz="1600" b="1" dirty="0">
                    <a:solidFill>
                      <a:srgbClr val="000099"/>
                    </a:solidFill>
                    <a:latin typeface="仿宋_GB2312" pitchFamily="49" charset="-122"/>
                    <a:ea typeface="仿宋_GB2312" pitchFamily="49" charset="-122"/>
                  </a:rPr>
                  <a:t>名称</a:t>
                </a:r>
                <a:r>
                  <a:rPr lang="en-US" altLang="zh-CN" sz="1600" b="1" dirty="0">
                    <a:solidFill>
                      <a:srgbClr val="000099"/>
                    </a:solidFill>
                    <a:latin typeface="仿宋_GB2312" pitchFamily="49" charset="-122"/>
                    <a:ea typeface="仿宋_GB2312" pitchFamily="49" charset="-122"/>
                  </a:rPr>
                  <a:t>=</a:t>
                </a:r>
                <a:r>
                  <a:rPr lang="en-US" altLang="zh-CN" sz="1600" b="1" dirty="0">
                    <a:solidFill>
                      <a:srgbClr val="000099"/>
                    </a:solidFill>
                    <a:latin typeface="Arial" panose="020B0604020202020204" pitchFamily="34" charset="0"/>
                    <a:ea typeface="仿宋_GB2312" pitchFamily="49" charset="-122"/>
                  </a:rPr>
                  <a:t>“</a:t>
                </a:r>
                <a:r>
                  <a:rPr lang="zh-CN" altLang="en-US" sz="1600" b="1" dirty="0">
                    <a:solidFill>
                      <a:srgbClr val="000099"/>
                    </a:solidFill>
                    <a:latin typeface="仿宋_GB2312" pitchFamily="49" charset="-122"/>
                    <a:ea typeface="仿宋_GB2312" pitchFamily="49" charset="-122"/>
                  </a:rPr>
                  <a:t>研发</a:t>
                </a:r>
                <a:r>
                  <a:rPr lang="zh-CN" altLang="en-US" sz="1600" b="1" dirty="0">
                    <a:solidFill>
                      <a:srgbClr val="000099"/>
                    </a:solidFill>
                    <a:latin typeface="Arial" panose="020B0604020202020204" pitchFamily="34" charset="0"/>
                    <a:ea typeface="仿宋_GB2312" pitchFamily="49" charset="-122"/>
                  </a:rPr>
                  <a:t>”</a:t>
                </a:r>
                <a:endParaRPr lang="zh-CN" altLang="en-US" sz="1600" b="1" dirty="0">
                  <a:solidFill>
                    <a:srgbClr val="000099"/>
                  </a:solidFill>
                  <a:latin typeface="仿宋_GB2312" pitchFamily="49" charset="-122"/>
                  <a:ea typeface="仿宋_GB2312" pitchFamily="49" charset="-122"/>
                </a:endParaRPr>
              </a:p>
            </p:txBody>
          </p:sp>
          <p:sp>
            <p:nvSpPr>
              <p:cNvPr id="39993" name="Text Box 12"/>
              <p:cNvSpPr txBox="1"/>
              <p:nvPr/>
            </p:nvSpPr>
            <p:spPr>
              <a:xfrm>
                <a:off x="4027" y="1409"/>
                <a:ext cx="574"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en-US" altLang="zh-CN" sz="1600" b="1" u="sng" dirty="0">
                    <a:solidFill>
                      <a:srgbClr val="000099"/>
                    </a:solidFill>
                    <a:latin typeface="黑体" panose="02010609060101010101" pitchFamily="49" charset="-122"/>
                    <a:ea typeface="黑体" panose="02010609060101010101" pitchFamily="49" charset="-122"/>
                  </a:rPr>
                  <a:t>d2</a:t>
                </a:r>
                <a:r>
                  <a:rPr lang="en-US" altLang="zh-CN" sz="1400" b="1" u="sng" dirty="0">
                    <a:solidFill>
                      <a:srgbClr val="000099"/>
                    </a:solidFill>
                    <a:latin typeface="Times New Roman" panose="02020603050405020304" pitchFamily="18" charset="0"/>
                    <a:ea typeface="黑体" panose="02010609060101010101" pitchFamily="49" charset="-122"/>
                  </a:rPr>
                  <a:t>: </a:t>
                </a:r>
                <a:r>
                  <a:rPr lang="zh-CN" altLang="en-US" sz="1600" b="1" u="sng" dirty="0">
                    <a:solidFill>
                      <a:srgbClr val="000099"/>
                    </a:solidFill>
                    <a:latin typeface="Times New Roman" panose="02020603050405020304" pitchFamily="18" charset="0"/>
                    <a:ea typeface="仿宋_GB2312" pitchFamily="49" charset="-122"/>
                  </a:rPr>
                  <a:t>部门</a:t>
                </a:r>
                <a:endParaRPr lang="zh-CN" altLang="en-US" sz="1600" b="1" u="sng" dirty="0">
                  <a:solidFill>
                    <a:srgbClr val="000099"/>
                  </a:solidFill>
                  <a:latin typeface="Times New Roman" panose="02020603050405020304" pitchFamily="18" charset="0"/>
                  <a:ea typeface="仿宋_GB2312" pitchFamily="49" charset="-122"/>
                </a:endParaRPr>
              </a:p>
            </p:txBody>
          </p:sp>
        </p:grpSp>
        <p:grpSp>
          <p:nvGrpSpPr>
            <p:cNvPr id="39944" name="Group 13"/>
            <p:cNvGrpSpPr/>
            <p:nvPr/>
          </p:nvGrpSpPr>
          <p:grpSpPr>
            <a:xfrm>
              <a:off x="1768" y="1353"/>
              <a:ext cx="952" cy="471"/>
              <a:chOff x="1792" y="1409"/>
              <a:chExt cx="952" cy="471"/>
            </a:xfrm>
          </p:grpSpPr>
          <p:grpSp>
            <p:nvGrpSpPr>
              <p:cNvPr id="39986" name="Group 14"/>
              <p:cNvGrpSpPr/>
              <p:nvPr/>
            </p:nvGrpSpPr>
            <p:grpSpPr>
              <a:xfrm>
                <a:off x="1792" y="1424"/>
                <a:ext cx="952" cy="456"/>
                <a:chOff x="1432" y="408"/>
                <a:chExt cx="952" cy="456"/>
              </a:xfrm>
            </p:grpSpPr>
            <p:sp>
              <p:nvSpPr>
                <p:cNvPr id="39989" name="Rectangle 15"/>
                <p:cNvSpPr/>
                <p:nvPr/>
              </p:nvSpPr>
              <p:spPr>
                <a:xfrm>
                  <a:off x="1432" y="408"/>
                  <a:ext cx="952" cy="456"/>
                </a:xfrm>
                <a:prstGeom prst="rect">
                  <a:avLst/>
                </a:prstGeom>
                <a:solidFill>
                  <a:srgbClr val="CCFF99"/>
                </a:solidFill>
                <a:ln w="22225" cap="flat" cmpd="sng">
                  <a:solidFill>
                    <a:srgbClr val="FF0000"/>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90" name="Line 16"/>
                <p:cNvSpPr/>
                <p:nvPr/>
              </p:nvSpPr>
              <p:spPr>
                <a:xfrm>
                  <a:off x="1432" y="624"/>
                  <a:ext cx="952" cy="0"/>
                </a:xfrm>
                <a:prstGeom prst="line">
                  <a:avLst/>
                </a:prstGeom>
                <a:ln w="22225" cap="flat" cmpd="sng">
                  <a:solidFill>
                    <a:srgbClr val="FF0000"/>
                  </a:solidFill>
                  <a:prstDash val="solid"/>
                  <a:headEnd type="none" w="med" len="med"/>
                  <a:tailEnd type="none" w="med" len="med"/>
                </a:ln>
              </p:spPr>
            </p:sp>
          </p:grpSp>
          <p:sp>
            <p:nvSpPr>
              <p:cNvPr id="39987" name="Text Box 17"/>
              <p:cNvSpPr txBox="1"/>
              <p:nvPr/>
            </p:nvSpPr>
            <p:spPr>
              <a:xfrm>
                <a:off x="1998" y="1409"/>
                <a:ext cx="574"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en-US" altLang="zh-CN" sz="1600" b="1" u="sng" dirty="0">
                    <a:solidFill>
                      <a:srgbClr val="000099"/>
                    </a:solidFill>
                    <a:latin typeface="黑体" panose="02010609060101010101" pitchFamily="49" charset="-122"/>
                    <a:ea typeface="黑体" panose="02010609060101010101" pitchFamily="49" charset="-122"/>
                  </a:rPr>
                  <a:t>d1</a:t>
                </a:r>
                <a:r>
                  <a:rPr lang="en-US" altLang="zh-CN" sz="1400" b="1" u="sng" dirty="0">
                    <a:solidFill>
                      <a:srgbClr val="000099"/>
                    </a:solidFill>
                    <a:latin typeface="Times New Roman" panose="02020603050405020304" pitchFamily="18" charset="0"/>
                    <a:ea typeface="黑体" panose="02010609060101010101" pitchFamily="49" charset="-122"/>
                  </a:rPr>
                  <a:t>: </a:t>
                </a:r>
                <a:r>
                  <a:rPr lang="zh-CN" altLang="en-US" sz="1600" b="1" u="sng" dirty="0">
                    <a:solidFill>
                      <a:srgbClr val="000099"/>
                    </a:solidFill>
                    <a:latin typeface="Times New Roman" panose="02020603050405020304" pitchFamily="18" charset="0"/>
                    <a:ea typeface="仿宋_GB2312" pitchFamily="49" charset="-122"/>
                  </a:rPr>
                  <a:t>部门</a:t>
                </a:r>
                <a:endParaRPr lang="zh-CN" altLang="en-US" sz="1600" b="1" u="sng" dirty="0">
                  <a:solidFill>
                    <a:srgbClr val="000099"/>
                  </a:solidFill>
                  <a:latin typeface="Times New Roman" panose="02020603050405020304" pitchFamily="18" charset="0"/>
                  <a:ea typeface="仿宋_GB2312" pitchFamily="49" charset="-122"/>
                </a:endParaRPr>
              </a:p>
            </p:txBody>
          </p:sp>
          <p:sp>
            <p:nvSpPr>
              <p:cNvPr id="39988" name="Text Box 18"/>
              <p:cNvSpPr txBox="1"/>
              <p:nvPr/>
            </p:nvSpPr>
            <p:spPr>
              <a:xfrm>
                <a:off x="1792" y="1639"/>
                <a:ext cx="898"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zh-CN" altLang="en-US" sz="1600" b="1" dirty="0">
                    <a:solidFill>
                      <a:srgbClr val="000099"/>
                    </a:solidFill>
                    <a:latin typeface="仿宋_GB2312" pitchFamily="49" charset="-122"/>
                    <a:ea typeface="仿宋_GB2312" pitchFamily="49" charset="-122"/>
                  </a:rPr>
                  <a:t>名称</a:t>
                </a:r>
                <a:r>
                  <a:rPr lang="en-US" altLang="zh-CN" sz="1600" b="1" dirty="0">
                    <a:solidFill>
                      <a:srgbClr val="000099"/>
                    </a:solidFill>
                    <a:latin typeface="仿宋_GB2312" pitchFamily="49" charset="-122"/>
                    <a:ea typeface="仿宋_GB2312" pitchFamily="49" charset="-122"/>
                  </a:rPr>
                  <a:t>=</a:t>
                </a:r>
                <a:r>
                  <a:rPr lang="en-US" altLang="zh-CN" sz="1600" b="1" dirty="0">
                    <a:solidFill>
                      <a:srgbClr val="000099"/>
                    </a:solidFill>
                    <a:latin typeface="Arial" panose="020B0604020202020204" pitchFamily="34" charset="0"/>
                    <a:ea typeface="仿宋_GB2312" pitchFamily="49" charset="-122"/>
                  </a:rPr>
                  <a:t>“</a:t>
                </a:r>
                <a:r>
                  <a:rPr lang="zh-CN" altLang="en-US" sz="1600" b="1" dirty="0">
                    <a:solidFill>
                      <a:srgbClr val="000099"/>
                    </a:solidFill>
                    <a:latin typeface="仿宋_GB2312" pitchFamily="49" charset="-122"/>
                    <a:ea typeface="仿宋_GB2312" pitchFamily="49" charset="-122"/>
                  </a:rPr>
                  <a:t>销售</a:t>
                </a:r>
                <a:r>
                  <a:rPr lang="zh-CN" altLang="en-US" sz="1600" b="1" dirty="0">
                    <a:solidFill>
                      <a:srgbClr val="000099"/>
                    </a:solidFill>
                    <a:latin typeface="Arial" panose="020B0604020202020204" pitchFamily="34" charset="0"/>
                    <a:ea typeface="仿宋_GB2312" pitchFamily="49" charset="-122"/>
                  </a:rPr>
                  <a:t>”</a:t>
                </a:r>
                <a:endParaRPr lang="zh-CN" altLang="en-US" sz="1600" b="1" dirty="0">
                  <a:solidFill>
                    <a:srgbClr val="000099"/>
                  </a:solidFill>
                  <a:latin typeface="仿宋_GB2312" pitchFamily="49" charset="-122"/>
                  <a:ea typeface="仿宋_GB2312" pitchFamily="49" charset="-122"/>
                </a:endParaRPr>
              </a:p>
            </p:txBody>
          </p:sp>
        </p:grpSp>
        <p:grpSp>
          <p:nvGrpSpPr>
            <p:cNvPr id="39945" name="Group 19"/>
            <p:cNvGrpSpPr/>
            <p:nvPr/>
          </p:nvGrpSpPr>
          <p:grpSpPr>
            <a:xfrm>
              <a:off x="1568" y="2166"/>
              <a:ext cx="1352" cy="470"/>
              <a:chOff x="1592" y="2222"/>
              <a:chExt cx="1352" cy="470"/>
            </a:xfrm>
          </p:grpSpPr>
          <p:grpSp>
            <p:nvGrpSpPr>
              <p:cNvPr id="39981" name="Group 20"/>
              <p:cNvGrpSpPr/>
              <p:nvPr/>
            </p:nvGrpSpPr>
            <p:grpSpPr>
              <a:xfrm>
                <a:off x="1592" y="2236"/>
                <a:ext cx="1352" cy="456"/>
                <a:chOff x="1432" y="408"/>
                <a:chExt cx="952" cy="456"/>
              </a:xfrm>
            </p:grpSpPr>
            <p:sp>
              <p:nvSpPr>
                <p:cNvPr id="39984" name="Rectangle 21"/>
                <p:cNvSpPr/>
                <p:nvPr/>
              </p:nvSpPr>
              <p:spPr>
                <a:xfrm>
                  <a:off x="1432" y="408"/>
                  <a:ext cx="952" cy="456"/>
                </a:xfrm>
                <a:prstGeom prst="rect">
                  <a:avLst/>
                </a:prstGeom>
                <a:solidFill>
                  <a:srgbClr val="CCFF99"/>
                </a:solidFill>
                <a:ln w="22225" cap="flat" cmpd="sng">
                  <a:solidFill>
                    <a:srgbClr val="FF0000"/>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85" name="Line 22"/>
                <p:cNvSpPr/>
                <p:nvPr/>
              </p:nvSpPr>
              <p:spPr>
                <a:xfrm>
                  <a:off x="1432" y="624"/>
                  <a:ext cx="952" cy="0"/>
                </a:xfrm>
                <a:prstGeom prst="line">
                  <a:avLst/>
                </a:prstGeom>
                <a:ln w="22225" cap="flat" cmpd="sng">
                  <a:solidFill>
                    <a:srgbClr val="FF0000"/>
                  </a:solidFill>
                  <a:prstDash val="solid"/>
                  <a:headEnd type="none" w="med" len="med"/>
                  <a:tailEnd type="none" w="med" len="med"/>
                </a:ln>
              </p:spPr>
            </p:sp>
          </p:grpSp>
          <p:sp>
            <p:nvSpPr>
              <p:cNvPr id="39982" name="Text Box 23"/>
              <p:cNvSpPr txBox="1"/>
              <p:nvPr/>
            </p:nvSpPr>
            <p:spPr>
              <a:xfrm>
                <a:off x="1955" y="2222"/>
                <a:ext cx="574"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en-US" altLang="zh-CN" sz="1600" b="1" u="sng" dirty="0">
                    <a:solidFill>
                      <a:srgbClr val="000099"/>
                    </a:solidFill>
                    <a:latin typeface="黑体" panose="02010609060101010101" pitchFamily="49" charset="-122"/>
                    <a:ea typeface="黑体" panose="02010609060101010101" pitchFamily="49" charset="-122"/>
                  </a:rPr>
                  <a:t>d3</a:t>
                </a:r>
                <a:r>
                  <a:rPr lang="en-US" altLang="zh-CN" sz="1400" b="1" u="sng" dirty="0">
                    <a:solidFill>
                      <a:srgbClr val="000099"/>
                    </a:solidFill>
                    <a:latin typeface="Times New Roman" panose="02020603050405020304" pitchFamily="18" charset="0"/>
                    <a:ea typeface="黑体" panose="02010609060101010101" pitchFamily="49" charset="-122"/>
                  </a:rPr>
                  <a:t>: </a:t>
                </a:r>
                <a:r>
                  <a:rPr lang="zh-CN" altLang="en-US" sz="1600" b="1" u="sng" dirty="0">
                    <a:solidFill>
                      <a:srgbClr val="000099"/>
                    </a:solidFill>
                    <a:latin typeface="Times New Roman" panose="02020603050405020304" pitchFamily="18" charset="0"/>
                    <a:ea typeface="仿宋_GB2312" pitchFamily="49" charset="-122"/>
                  </a:rPr>
                  <a:t>部门</a:t>
                </a:r>
                <a:endParaRPr lang="zh-CN" altLang="en-US" sz="1600" b="1" u="sng" dirty="0">
                  <a:solidFill>
                    <a:srgbClr val="000099"/>
                  </a:solidFill>
                  <a:latin typeface="Times New Roman" panose="02020603050405020304" pitchFamily="18" charset="0"/>
                  <a:ea typeface="仿宋_GB2312" pitchFamily="49" charset="-122"/>
                </a:endParaRPr>
              </a:p>
            </p:txBody>
          </p:sp>
          <p:sp>
            <p:nvSpPr>
              <p:cNvPr id="39983" name="Text Box 24"/>
              <p:cNvSpPr txBox="1"/>
              <p:nvPr/>
            </p:nvSpPr>
            <p:spPr>
              <a:xfrm>
                <a:off x="1601" y="2464"/>
                <a:ext cx="1289"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zh-CN" altLang="en-US" sz="1600" b="1" dirty="0">
                    <a:solidFill>
                      <a:srgbClr val="000099"/>
                    </a:solidFill>
                    <a:latin typeface="仿宋_GB2312" pitchFamily="49" charset="-122"/>
                    <a:ea typeface="仿宋_GB2312" pitchFamily="49" charset="-122"/>
                  </a:rPr>
                  <a:t>名称</a:t>
                </a:r>
                <a:r>
                  <a:rPr lang="en-US" altLang="zh-CN" sz="1600" b="1" dirty="0">
                    <a:solidFill>
                      <a:srgbClr val="000099"/>
                    </a:solidFill>
                    <a:latin typeface="仿宋_GB2312" pitchFamily="49" charset="-122"/>
                    <a:ea typeface="仿宋_GB2312" pitchFamily="49" charset="-122"/>
                  </a:rPr>
                  <a:t>=</a:t>
                </a:r>
                <a:r>
                  <a:rPr lang="en-US" altLang="zh-CN" sz="1600" b="1" dirty="0">
                    <a:solidFill>
                      <a:srgbClr val="000099"/>
                    </a:solidFill>
                    <a:latin typeface="Arial" panose="020B0604020202020204" pitchFamily="34" charset="0"/>
                    <a:ea typeface="仿宋_GB2312" pitchFamily="49" charset="-122"/>
                  </a:rPr>
                  <a:t>“</a:t>
                </a:r>
                <a:r>
                  <a:rPr lang="zh-CN" altLang="en-US" sz="1600" b="1" dirty="0">
                    <a:solidFill>
                      <a:srgbClr val="000099"/>
                    </a:solidFill>
                    <a:latin typeface="仿宋_GB2312" pitchFamily="49" charset="-122"/>
                    <a:ea typeface="仿宋_GB2312" pitchFamily="49" charset="-122"/>
                  </a:rPr>
                  <a:t>打印机销售</a:t>
                </a:r>
                <a:r>
                  <a:rPr lang="zh-CN" altLang="en-US" sz="1600" b="1" dirty="0">
                    <a:solidFill>
                      <a:srgbClr val="000099"/>
                    </a:solidFill>
                    <a:latin typeface="Arial" panose="020B0604020202020204" pitchFamily="34" charset="0"/>
                    <a:ea typeface="仿宋_GB2312" pitchFamily="49" charset="-122"/>
                  </a:rPr>
                  <a:t>”</a:t>
                </a:r>
                <a:endParaRPr lang="zh-CN" altLang="en-US" sz="1600" b="1" dirty="0">
                  <a:solidFill>
                    <a:srgbClr val="000099"/>
                  </a:solidFill>
                  <a:latin typeface="仿宋_GB2312" pitchFamily="49" charset="-122"/>
                  <a:ea typeface="仿宋_GB2312" pitchFamily="49" charset="-122"/>
                </a:endParaRPr>
              </a:p>
            </p:txBody>
          </p:sp>
        </p:grpSp>
        <p:grpSp>
          <p:nvGrpSpPr>
            <p:cNvPr id="39946" name="Group 25"/>
            <p:cNvGrpSpPr/>
            <p:nvPr/>
          </p:nvGrpSpPr>
          <p:grpSpPr>
            <a:xfrm>
              <a:off x="3488" y="3262"/>
              <a:ext cx="1544" cy="462"/>
              <a:chOff x="3512" y="3318"/>
              <a:chExt cx="1544" cy="462"/>
            </a:xfrm>
          </p:grpSpPr>
          <p:grpSp>
            <p:nvGrpSpPr>
              <p:cNvPr id="39976" name="Group 26"/>
              <p:cNvGrpSpPr/>
              <p:nvPr/>
            </p:nvGrpSpPr>
            <p:grpSpPr>
              <a:xfrm>
                <a:off x="3512" y="3324"/>
                <a:ext cx="1544" cy="456"/>
                <a:chOff x="1432" y="408"/>
                <a:chExt cx="952" cy="456"/>
              </a:xfrm>
            </p:grpSpPr>
            <p:sp>
              <p:nvSpPr>
                <p:cNvPr id="39979" name="Rectangle 27"/>
                <p:cNvSpPr/>
                <p:nvPr/>
              </p:nvSpPr>
              <p:spPr>
                <a:xfrm>
                  <a:off x="1432" y="408"/>
                  <a:ext cx="952" cy="456"/>
                </a:xfrm>
                <a:prstGeom prst="rect">
                  <a:avLst/>
                </a:prstGeom>
                <a:solidFill>
                  <a:srgbClr val="CCFF99"/>
                </a:solidFill>
                <a:ln w="22225" cap="flat" cmpd="sng">
                  <a:solidFill>
                    <a:srgbClr val="FF0000"/>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80" name="Line 28"/>
                <p:cNvSpPr/>
                <p:nvPr/>
              </p:nvSpPr>
              <p:spPr>
                <a:xfrm>
                  <a:off x="1432" y="624"/>
                  <a:ext cx="952" cy="0"/>
                </a:xfrm>
                <a:prstGeom prst="line">
                  <a:avLst/>
                </a:prstGeom>
                <a:ln w="22225" cap="flat" cmpd="sng">
                  <a:solidFill>
                    <a:srgbClr val="FF0000"/>
                  </a:solidFill>
                  <a:prstDash val="solid"/>
                  <a:headEnd type="none" w="med" len="med"/>
                  <a:tailEnd type="none" w="med" len="med"/>
                </a:ln>
              </p:spPr>
            </p:sp>
          </p:grpSp>
          <p:sp>
            <p:nvSpPr>
              <p:cNvPr id="39977" name="Text Box 29"/>
              <p:cNvSpPr txBox="1"/>
              <p:nvPr/>
            </p:nvSpPr>
            <p:spPr>
              <a:xfrm>
                <a:off x="3845" y="3318"/>
                <a:ext cx="769"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en-US" altLang="zh-CN" sz="1600" b="1" u="sng" dirty="0">
                    <a:solidFill>
                      <a:srgbClr val="000099"/>
                    </a:solidFill>
                    <a:latin typeface="黑体" panose="02010609060101010101" pitchFamily="49" charset="-122"/>
                    <a:ea typeface="黑体" panose="02010609060101010101" pitchFamily="49" charset="-122"/>
                  </a:rPr>
                  <a:t> </a:t>
                </a:r>
                <a:r>
                  <a:rPr lang="en-US" altLang="zh-CN" sz="1400" b="1" u="sng" dirty="0">
                    <a:solidFill>
                      <a:srgbClr val="000099"/>
                    </a:solidFill>
                    <a:latin typeface="Times New Roman" panose="02020603050405020304" pitchFamily="18" charset="0"/>
                    <a:ea typeface="黑体" panose="02010609060101010101" pitchFamily="49" charset="-122"/>
                  </a:rPr>
                  <a:t>: </a:t>
                </a:r>
                <a:r>
                  <a:rPr lang="zh-CN" altLang="en-US" sz="1600" b="1" u="sng" dirty="0">
                    <a:solidFill>
                      <a:srgbClr val="000099"/>
                    </a:solidFill>
                    <a:latin typeface="Times New Roman" panose="02020603050405020304" pitchFamily="18" charset="0"/>
                    <a:ea typeface="仿宋_GB2312" pitchFamily="49" charset="-122"/>
                  </a:rPr>
                  <a:t>联系信息</a:t>
                </a:r>
                <a:endParaRPr lang="zh-CN" altLang="en-US" sz="1600" b="1" u="sng" dirty="0">
                  <a:solidFill>
                    <a:srgbClr val="000099"/>
                  </a:solidFill>
                  <a:latin typeface="Times New Roman" panose="02020603050405020304" pitchFamily="18" charset="0"/>
                  <a:ea typeface="仿宋_GB2312" pitchFamily="49" charset="-122"/>
                </a:endParaRPr>
              </a:p>
            </p:txBody>
          </p:sp>
          <p:sp>
            <p:nvSpPr>
              <p:cNvPr id="39978" name="Text Box 30"/>
              <p:cNvSpPr txBox="1"/>
              <p:nvPr/>
            </p:nvSpPr>
            <p:spPr>
              <a:xfrm>
                <a:off x="3582" y="3552"/>
                <a:ext cx="1418"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zh-CN" altLang="en-US" sz="1600" b="1" dirty="0">
                    <a:solidFill>
                      <a:srgbClr val="000099"/>
                    </a:solidFill>
                    <a:latin typeface="Times New Roman" panose="02020603050405020304" pitchFamily="18" charset="0"/>
                    <a:ea typeface="仿宋_GB2312" pitchFamily="49" charset="-122"/>
                  </a:rPr>
                  <a:t>地址</a:t>
                </a:r>
                <a:r>
                  <a:rPr lang="en-US" altLang="zh-CN" sz="1600" b="1" dirty="0">
                    <a:solidFill>
                      <a:srgbClr val="000099"/>
                    </a:solidFill>
                    <a:latin typeface="Times New Roman" panose="02020603050405020304" pitchFamily="18" charset="0"/>
                    <a:ea typeface="仿宋_GB2312" pitchFamily="49" charset="-122"/>
                  </a:rPr>
                  <a:t>=“</a:t>
                </a:r>
                <a:r>
                  <a:rPr lang="zh-CN" altLang="en-US" sz="1600" b="1" dirty="0">
                    <a:solidFill>
                      <a:srgbClr val="000099"/>
                    </a:solidFill>
                    <a:latin typeface="Times New Roman" panose="02020603050405020304" pitchFamily="18" charset="0"/>
                    <a:ea typeface="仿宋_GB2312" pitchFamily="49" charset="-122"/>
                  </a:rPr>
                  <a:t>清华产业楼</a:t>
                </a:r>
                <a:r>
                  <a:rPr lang="en-US" altLang="zh-CN" sz="1600" b="1" dirty="0">
                    <a:solidFill>
                      <a:srgbClr val="000099"/>
                    </a:solidFill>
                    <a:latin typeface="Times New Roman" panose="02020603050405020304" pitchFamily="18" charset="0"/>
                    <a:ea typeface="仿宋_GB2312" pitchFamily="49" charset="-122"/>
                  </a:rPr>
                  <a:t>411”</a:t>
                </a:r>
                <a:endParaRPr lang="en-US" altLang="zh-CN" sz="1600" b="1" dirty="0">
                  <a:solidFill>
                    <a:srgbClr val="000099"/>
                  </a:solidFill>
                  <a:latin typeface="Times New Roman" panose="02020603050405020304" pitchFamily="18" charset="0"/>
                  <a:ea typeface="仿宋_GB2312" pitchFamily="49" charset="-122"/>
                </a:endParaRPr>
              </a:p>
            </p:txBody>
          </p:sp>
        </p:grpSp>
        <p:grpSp>
          <p:nvGrpSpPr>
            <p:cNvPr id="39947" name="Group 31"/>
            <p:cNvGrpSpPr/>
            <p:nvPr/>
          </p:nvGrpSpPr>
          <p:grpSpPr>
            <a:xfrm>
              <a:off x="1576" y="3175"/>
              <a:ext cx="1352" cy="822"/>
              <a:chOff x="1600" y="3231"/>
              <a:chExt cx="1352" cy="822"/>
            </a:xfrm>
          </p:grpSpPr>
          <p:grpSp>
            <p:nvGrpSpPr>
              <p:cNvPr id="39971" name="Group 32"/>
              <p:cNvGrpSpPr/>
              <p:nvPr/>
            </p:nvGrpSpPr>
            <p:grpSpPr>
              <a:xfrm>
                <a:off x="1600" y="3236"/>
                <a:ext cx="1352" cy="817"/>
                <a:chOff x="288" y="1604"/>
                <a:chExt cx="1352" cy="817"/>
              </a:xfrm>
            </p:grpSpPr>
            <p:sp>
              <p:nvSpPr>
                <p:cNvPr id="39974" name="Rectangle 33"/>
                <p:cNvSpPr/>
                <p:nvPr/>
              </p:nvSpPr>
              <p:spPr>
                <a:xfrm>
                  <a:off x="288" y="1604"/>
                  <a:ext cx="1352" cy="817"/>
                </a:xfrm>
                <a:prstGeom prst="rect">
                  <a:avLst/>
                </a:prstGeom>
                <a:solidFill>
                  <a:srgbClr val="CCFF99"/>
                </a:solidFill>
                <a:ln w="22225" cap="flat" cmpd="sng">
                  <a:solidFill>
                    <a:srgbClr val="FF0000"/>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75" name="Line 34"/>
                <p:cNvSpPr/>
                <p:nvPr/>
              </p:nvSpPr>
              <p:spPr>
                <a:xfrm>
                  <a:off x="288" y="1820"/>
                  <a:ext cx="1352" cy="0"/>
                </a:xfrm>
                <a:prstGeom prst="line">
                  <a:avLst/>
                </a:prstGeom>
                <a:ln w="22225" cap="flat" cmpd="sng">
                  <a:solidFill>
                    <a:srgbClr val="FF0000"/>
                  </a:solidFill>
                  <a:prstDash val="solid"/>
                  <a:headEnd type="none" w="med" len="med"/>
                  <a:tailEnd type="none" w="med" len="med"/>
                </a:ln>
              </p:spPr>
            </p:sp>
          </p:grpSp>
          <p:sp>
            <p:nvSpPr>
              <p:cNvPr id="39972" name="Text Box 35"/>
              <p:cNvSpPr txBox="1"/>
              <p:nvPr/>
            </p:nvSpPr>
            <p:spPr>
              <a:xfrm>
                <a:off x="1989" y="3231"/>
                <a:ext cx="518"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en-US" altLang="zh-CN" sz="1600" b="1" dirty="0">
                    <a:solidFill>
                      <a:srgbClr val="000099"/>
                    </a:solidFill>
                    <a:latin typeface="黑体" panose="02010609060101010101" pitchFamily="49" charset="-122"/>
                    <a:ea typeface="仿宋_GB2312" pitchFamily="49" charset="-122"/>
                  </a:rPr>
                  <a:t>p</a:t>
                </a:r>
                <a:r>
                  <a:rPr lang="en-US" altLang="zh-CN" sz="1600" b="1" dirty="0">
                    <a:solidFill>
                      <a:srgbClr val="000099"/>
                    </a:solidFill>
                    <a:latin typeface="Times New Roman" panose="02020603050405020304" pitchFamily="18" charset="0"/>
                    <a:ea typeface="仿宋_GB2312" pitchFamily="49" charset="-122"/>
                  </a:rPr>
                  <a:t>: </a:t>
                </a:r>
                <a:r>
                  <a:rPr lang="zh-CN" altLang="en-US" sz="1600" b="1" dirty="0">
                    <a:solidFill>
                      <a:srgbClr val="000099"/>
                    </a:solidFill>
                    <a:latin typeface="Times New Roman" panose="02020603050405020304" pitchFamily="18" charset="0"/>
                    <a:ea typeface="仿宋_GB2312" pitchFamily="49" charset="-122"/>
                  </a:rPr>
                  <a:t>人员</a:t>
                </a:r>
                <a:endParaRPr lang="zh-CN" altLang="en-US" sz="1600" b="1" dirty="0">
                  <a:solidFill>
                    <a:srgbClr val="000099"/>
                  </a:solidFill>
                  <a:latin typeface="Times New Roman" panose="02020603050405020304" pitchFamily="18" charset="0"/>
                  <a:ea typeface="仿宋_GB2312" pitchFamily="49" charset="-122"/>
                </a:endParaRPr>
              </a:p>
            </p:txBody>
          </p:sp>
          <p:sp>
            <p:nvSpPr>
              <p:cNvPr id="39973" name="Text Box 36"/>
              <p:cNvSpPr txBox="1"/>
              <p:nvPr/>
            </p:nvSpPr>
            <p:spPr>
              <a:xfrm>
                <a:off x="1624" y="3476"/>
                <a:ext cx="1251" cy="454"/>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85000"/>
                  </a:lnSpc>
                  <a:spcBef>
                    <a:spcPct val="0"/>
                  </a:spcBef>
                  <a:buClrTx/>
                  <a:buSzTx/>
                  <a:buFont typeface="Wingdings" panose="05000000000000000000" pitchFamily="2" charset="2"/>
                  <a:buNone/>
                </a:pPr>
                <a:r>
                  <a:rPr lang="zh-CN" altLang="en-US" sz="1600" b="1" dirty="0">
                    <a:solidFill>
                      <a:srgbClr val="000099"/>
                    </a:solidFill>
                    <a:latin typeface="仿宋_GB2312" pitchFamily="49" charset="-122"/>
                    <a:ea typeface="仿宋_GB2312" pitchFamily="49" charset="-122"/>
                  </a:rPr>
                  <a:t>姓名</a:t>
                </a:r>
                <a:r>
                  <a:rPr lang="en-US" altLang="zh-CN" sz="1600" b="1" dirty="0">
                    <a:solidFill>
                      <a:srgbClr val="000099"/>
                    </a:solidFill>
                    <a:latin typeface="仿宋_GB2312" pitchFamily="49" charset="-122"/>
                    <a:ea typeface="仿宋_GB2312" pitchFamily="49" charset="-122"/>
                  </a:rPr>
                  <a:t>=</a:t>
                </a:r>
                <a:r>
                  <a:rPr lang="en-US" altLang="zh-CN" sz="1600" b="1" dirty="0">
                    <a:solidFill>
                      <a:srgbClr val="000099"/>
                    </a:solidFill>
                    <a:latin typeface="Arial" panose="020B0604020202020204" pitchFamily="34" charset="0"/>
                    <a:ea typeface="仿宋_GB2312" pitchFamily="49" charset="-122"/>
                  </a:rPr>
                  <a:t>“</a:t>
                </a:r>
                <a:r>
                  <a:rPr lang="zh-CN" altLang="en-US" sz="1600" b="1" dirty="0">
                    <a:solidFill>
                      <a:srgbClr val="000099"/>
                    </a:solidFill>
                    <a:latin typeface="仿宋_GB2312" pitchFamily="49" charset="-122"/>
                    <a:ea typeface="仿宋_GB2312" pitchFamily="49" charset="-122"/>
                  </a:rPr>
                  <a:t>郑人杰</a:t>
                </a:r>
                <a:r>
                  <a:rPr lang="zh-CN" altLang="en-US" sz="1600" b="1" dirty="0">
                    <a:solidFill>
                      <a:srgbClr val="000099"/>
                    </a:solidFill>
                    <a:latin typeface="Arial" panose="020B0604020202020204" pitchFamily="34" charset="0"/>
                    <a:ea typeface="仿宋_GB2312" pitchFamily="49" charset="-122"/>
                  </a:rPr>
                  <a:t>”</a:t>
                </a:r>
                <a:endParaRPr lang="zh-CN" altLang="en-US" sz="1600" b="1" dirty="0">
                  <a:solidFill>
                    <a:srgbClr val="000099"/>
                  </a:solidFill>
                  <a:latin typeface="仿宋_GB2312" pitchFamily="49" charset="-122"/>
                  <a:ea typeface="仿宋_GB2312" pitchFamily="49" charset="-122"/>
                </a:endParaRPr>
              </a:p>
              <a:p>
                <a:pPr marL="0" lvl="0" indent="0" eaLnBrk="1" hangingPunct="1">
                  <a:lnSpc>
                    <a:spcPct val="85000"/>
                  </a:lnSpc>
                  <a:spcBef>
                    <a:spcPct val="0"/>
                  </a:spcBef>
                  <a:buClrTx/>
                  <a:buSzTx/>
                  <a:buFont typeface="Wingdings" panose="05000000000000000000" pitchFamily="2" charset="2"/>
                  <a:buNone/>
                </a:pPr>
                <a:r>
                  <a:rPr lang="zh-CN" altLang="en-US" sz="1600" b="1" dirty="0">
                    <a:solidFill>
                      <a:srgbClr val="000099"/>
                    </a:solidFill>
                    <a:latin typeface="仿宋_GB2312" pitchFamily="49" charset="-122"/>
                    <a:ea typeface="仿宋_GB2312" pitchFamily="49" charset="-122"/>
                  </a:rPr>
                  <a:t>雇员标识</a:t>
                </a:r>
                <a:r>
                  <a:rPr lang="en-US" altLang="zh-CN" sz="1600" b="1" dirty="0">
                    <a:solidFill>
                      <a:srgbClr val="000099"/>
                    </a:solidFill>
                    <a:latin typeface="仿宋_GB2312" pitchFamily="49" charset="-122"/>
                    <a:ea typeface="仿宋_GB2312" pitchFamily="49" charset="-122"/>
                  </a:rPr>
                  <a:t>=</a:t>
                </a:r>
                <a:r>
                  <a:rPr lang="en-US" altLang="zh-CN" sz="1600" b="1" dirty="0">
                    <a:solidFill>
                      <a:srgbClr val="000099"/>
                    </a:solidFill>
                    <a:latin typeface="黑体" panose="02010609060101010101" pitchFamily="49" charset="-122"/>
                    <a:ea typeface="仿宋_GB2312" pitchFamily="49" charset="-122"/>
                  </a:rPr>
                  <a:t>6037</a:t>
                </a:r>
                <a:endParaRPr lang="en-US" altLang="zh-CN" sz="1600" b="1" dirty="0">
                  <a:solidFill>
                    <a:srgbClr val="000099"/>
                  </a:solidFill>
                  <a:latin typeface="黑体" panose="02010609060101010101" pitchFamily="49" charset="-122"/>
                  <a:ea typeface="仿宋_GB2312" pitchFamily="49" charset="-122"/>
                </a:endParaRPr>
              </a:p>
              <a:p>
                <a:pPr marL="0" lvl="0" indent="0" eaLnBrk="1" hangingPunct="1">
                  <a:lnSpc>
                    <a:spcPct val="85000"/>
                  </a:lnSpc>
                  <a:spcBef>
                    <a:spcPct val="0"/>
                  </a:spcBef>
                  <a:buClrTx/>
                  <a:buSzTx/>
                  <a:buFont typeface="Wingdings" panose="05000000000000000000" pitchFamily="2" charset="2"/>
                  <a:buNone/>
                </a:pPr>
                <a:r>
                  <a:rPr lang="zh-CN" altLang="en-US" sz="1600" b="1" dirty="0">
                    <a:solidFill>
                      <a:srgbClr val="000099"/>
                    </a:solidFill>
                    <a:latin typeface="仿宋_GB2312" pitchFamily="49" charset="-122"/>
                    <a:ea typeface="仿宋_GB2312" pitchFamily="49" charset="-122"/>
                  </a:rPr>
                  <a:t>职务</a:t>
                </a:r>
                <a:r>
                  <a:rPr lang="en-US" altLang="zh-CN" sz="1600" b="1" dirty="0">
                    <a:solidFill>
                      <a:srgbClr val="000099"/>
                    </a:solidFill>
                    <a:latin typeface="仿宋_GB2312" pitchFamily="49" charset="-122"/>
                    <a:ea typeface="仿宋_GB2312" pitchFamily="49" charset="-122"/>
                  </a:rPr>
                  <a:t>=</a:t>
                </a:r>
                <a:r>
                  <a:rPr lang="en-US" altLang="zh-CN" sz="1600" b="1" dirty="0">
                    <a:solidFill>
                      <a:srgbClr val="000099"/>
                    </a:solidFill>
                    <a:latin typeface="Arial" panose="020B0604020202020204" pitchFamily="34" charset="0"/>
                    <a:ea typeface="仿宋_GB2312" pitchFamily="49" charset="-122"/>
                  </a:rPr>
                  <a:t>“</a:t>
                </a:r>
                <a:r>
                  <a:rPr lang="zh-CN" altLang="en-US" sz="1600" b="1" dirty="0">
                    <a:solidFill>
                      <a:srgbClr val="000099"/>
                    </a:solidFill>
                    <a:latin typeface="仿宋_GB2312" pitchFamily="49" charset="-122"/>
                    <a:ea typeface="仿宋_GB2312" pitchFamily="49" charset="-122"/>
                  </a:rPr>
                  <a:t>销售副总</a:t>
                </a:r>
                <a:r>
                  <a:rPr lang="zh-CN" altLang="en-US" sz="1600" b="1" dirty="0">
                    <a:solidFill>
                      <a:srgbClr val="000099"/>
                    </a:solidFill>
                    <a:latin typeface="Arial" panose="020B0604020202020204" pitchFamily="34" charset="0"/>
                    <a:ea typeface="仿宋_GB2312" pitchFamily="49" charset="-122"/>
                  </a:rPr>
                  <a:t>”</a:t>
                </a:r>
                <a:endParaRPr lang="zh-CN" altLang="en-US" sz="1600" b="1" dirty="0">
                  <a:solidFill>
                    <a:srgbClr val="000099"/>
                  </a:solidFill>
                  <a:latin typeface="仿宋_GB2312" pitchFamily="49" charset="-122"/>
                  <a:ea typeface="仿宋_GB2312" pitchFamily="49" charset="-122"/>
                </a:endParaRPr>
              </a:p>
            </p:txBody>
          </p:sp>
        </p:grpSp>
        <p:sp>
          <p:nvSpPr>
            <p:cNvPr id="39948" name="Line 37"/>
            <p:cNvSpPr/>
            <p:nvPr/>
          </p:nvSpPr>
          <p:spPr>
            <a:xfrm flipH="1">
              <a:off x="2296" y="976"/>
              <a:ext cx="832" cy="392"/>
            </a:xfrm>
            <a:prstGeom prst="line">
              <a:avLst/>
            </a:prstGeom>
            <a:ln w="25400" cap="flat" cmpd="sng">
              <a:solidFill>
                <a:srgbClr val="800080"/>
              </a:solidFill>
              <a:prstDash val="solid"/>
              <a:headEnd type="none" w="med" len="med"/>
              <a:tailEnd type="none" w="med" len="med"/>
            </a:ln>
          </p:spPr>
        </p:sp>
        <p:sp>
          <p:nvSpPr>
            <p:cNvPr id="39949" name="Line 38"/>
            <p:cNvSpPr/>
            <p:nvPr/>
          </p:nvSpPr>
          <p:spPr>
            <a:xfrm>
              <a:off x="3384" y="976"/>
              <a:ext cx="856" cy="392"/>
            </a:xfrm>
            <a:prstGeom prst="line">
              <a:avLst/>
            </a:prstGeom>
            <a:ln w="25400" cap="flat" cmpd="sng">
              <a:solidFill>
                <a:srgbClr val="800080"/>
              </a:solidFill>
              <a:prstDash val="solid"/>
              <a:headEnd type="none" w="med" len="med"/>
              <a:tailEnd type="none" w="med" len="med"/>
            </a:ln>
          </p:spPr>
        </p:sp>
        <p:sp>
          <p:nvSpPr>
            <p:cNvPr id="39950" name="Line 39"/>
            <p:cNvSpPr/>
            <p:nvPr/>
          </p:nvSpPr>
          <p:spPr>
            <a:xfrm flipH="1">
              <a:off x="2240" y="1832"/>
              <a:ext cx="0" cy="360"/>
            </a:xfrm>
            <a:prstGeom prst="line">
              <a:avLst/>
            </a:prstGeom>
            <a:ln w="25400" cap="flat" cmpd="sng">
              <a:solidFill>
                <a:srgbClr val="800080"/>
              </a:solidFill>
              <a:prstDash val="solid"/>
              <a:headEnd type="none" w="med" len="med"/>
              <a:tailEnd type="none" w="med" len="med"/>
            </a:ln>
          </p:spPr>
        </p:sp>
        <p:sp>
          <p:nvSpPr>
            <p:cNvPr id="39951" name="Line 40"/>
            <p:cNvSpPr/>
            <p:nvPr/>
          </p:nvSpPr>
          <p:spPr>
            <a:xfrm flipH="1">
              <a:off x="2240" y="2640"/>
              <a:ext cx="0" cy="544"/>
            </a:xfrm>
            <a:prstGeom prst="line">
              <a:avLst/>
            </a:prstGeom>
            <a:ln w="25400" cap="flat" cmpd="sng">
              <a:solidFill>
                <a:srgbClr val="800080"/>
              </a:solidFill>
              <a:prstDash val="solid"/>
              <a:headEnd type="none" w="med" len="med"/>
              <a:tailEnd type="none" w="med" len="med"/>
            </a:ln>
          </p:spPr>
        </p:sp>
        <p:sp>
          <p:nvSpPr>
            <p:cNvPr id="39952" name="Line 41"/>
            <p:cNvSpPr/>
            <p:nvPr/>
          </p:nvSpPr>
          <p:spPr>
            <a:xfrm>
              <a:off x="2928" y="3528"/>
              <a:ext cx="560" cy="8"/>
            </a:xfrm>
            <a:prstGeom prst="line">
              <a:avLst/>
            </a:prstGeom>
            <a:ln w="25400" cap="flat" cmpd="sng">
              <a:solidFill>
                <a:srgbClr val="800080"/>
              </a:solidFill>
              <a:prstDash val="solid"/>
              <a:headEnd type="none" w="med" len="med"/>
              <a:tailEnd type="none" w="med" len="med"/>
            </a:ln>
          </p:spPr>
        </p:sp>
        <p:sp>
          <p:nvSpPr>
            <p:cNvPr id="39953" name="Text Box 42"/>
            <p:cNvSpPr txBox="1"/>
            <p:nvPr/>
          </p:nvSpPr>
          <p:spPr>
            <a:xfrm>
              <a:off x="2355" y="2966"/>
              <a:ext cx="377"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 typeface="Wingdings" panose="05000000000000000000" pitchFamily="2" charset="2"/>
                <a:buNone/>
              </a:pPr>
              <a:r>
                <a:rPr lang="zh-CN" altLang="en-US" sz="1600" b="1" dirty="0">
                  <a:latin typeface="Times New Roman" panose="02020603050405020304" pitchFamily="18" charset="0"/>
                  <a:ea typeface="仿宋_GB2312" pitchFamily="49" charset="-122"/>
                </a:rPr>
                <a:t>经理</a:t>
              </a:r>
              <a:endParaRPr lang="zh-CN" altLang="en-US" sz="1600" b="1" dirty="0">
                <a:latin typeface="Times New Roman" panose="02020603050405020304" pitchFamily="18" charset="0"/>
                <a:ea typeface="仿宋_GB2312" pitchFamily="49" charset="-122"/>
              </a:endParaRPr>
            </a:p>
          </p:txBody>
        </p:sp>
        <p:sp>
          <p:nvSpPr>
            <p:cNvPr id="39954" name="Line 43"/>
            <p:cNvSpPr/>
            <p:nvPr/>
          </p:nvSpPr>
          <p:spPr>
            <a:xfrm flipH="1">
              <a:off x="2264" y="1999"/>
              <a:ext cx="726" cy="8"/>
            </a:xfrm>
            <a:prstGeom prst="line">
              <a:avLst/>
            </a:prstGeom>
            <a:ln w="19050" cap="flat" cmpd="sng">
              <a:solidFill>
                <a:schemeClr val="hlink"/>
              </a:solidFill>
              <a:prstDash val="dash"/>
              <a:headEnd type="none" w="med" len="med"/>
              <a:tailEnd type="none" w="med" len="med"/>
            </a:ln>
          </p:spPr>
        </p:sp>
        <p:sp>
          <p:nvSpPr>
            <p:cNvPr id="39955" name="Line 44"/>
            <p:cNvSpPr/>
            <p:nvPr/>
          </p:nvSpPr>
          <p:spPr>
            <a:xfrm flipV="1">
              <a:off x="2728" y="3397"/>
              <a:ext cx="198" cy="146"/>
            </a:xfrm>
            <a:prstGeom prst="line">
              <a:avLst/>
            </a:prstGeom>
            <a:ln w="19050" cap="flat" cmpd="sng">
              <a:solidFill>
                <a:srgbClr val="000099"/>
              </a:solidFill>
              <a:prstDash val="dash"/>
              <a:headEnd type="none" w="med" len="med"/>
              <a:tailEnd type="none" w="med" len="med"/>
            </a:ln>
          </p:spPr>
        </p:sp>
        <p:sp>
          <p:nvSpPr>
            <p:cNvPr id="39956" name="Line 45"/>
            <p:cNvSpPr/>
            <p:nvPr/>
          </p:nvSpPr>
          <p:spPr>
            <a:xfrm flipH="1">
              <a:off x="4507" y="2860"/>
              <a:ext cx="445" cy="422"/>
            </a:xfrm>
            <a:prstGeom prst="line">
              <a:avLst/>
            </a:prstGeom>
            <a:ln w="19050" cap="flat" cmpd="sng">
              <a:solidFill>
                <a:schemeClr val="hlink"/>
              </a:solidFill>
              <a:prstDash val="dash"/>
              <a:headEnd type="none" w="med" len="med"/>
              <a:tailEnd type="none" w="med" len="med"/>
            </a:ln>
          </p:spPr>
        </p:sp>
        <p:sp>
          <p:nvSpPr>
            <p:cNvPr id="39957" name="Line 46"/>
            <p:cNvSpPr/>
            <p:nvPr/>
          </p:nvSpPr>
          <p:spPr>
            <a:xfrm flipH="1">
              <a:off x="2911" y="2524"/>
              <a:ext cx="1084" cy="872"/>
            </a:xfrm>
            <a:prstGeom prst="line">
              <a:avLst/>
            </a:prstGeom>
            <a:ln w="19050" cap="flat" cmpd="sng">
              <a:solidFill>
                <a:schemeClr val="hlink"/>
              </a:solidFill>
              <a:prstDash val="dash"/>
              <a:headEnd type="none" w="med" len="med"/>
              <a:tailEnd type="none" w="med" len="med"/>
            </a:ln>
          </p:spPr>
        </p:sp>
        <p:sp>
          <p:nvSpPr>
            <p:cNvPr id="39958" name="Line 47"/>
            <p:cNvSpPr/>
            <p:nvPr/>
          </p:nvSpPr>
          <p:spPr>
            <a:xfrm>
              <a:off x="968" y="2241"/>
              <a:ext cx="575" cy="71"/>
            </a:xfrm>
            <a:prstGeom prst="line">
              <a:avLst/>
            </a:prstGeom>
            <a:ln w="19050" cap="flat" cmpd="sng">
              <a:solidFill>
                <a:schemeClr val="hlink"/>
              </a:solidFill>
              <a:prstDash val="dash"/>
              <a:headEnd type="none" w="med" len="med"/>
              <a:tailEnd type="none" w="med" len="med"/>
            </a:ln>
          </p:spPr>
        </p:sp>
        <p:grpSp>
          <p:nvGrpSpPr>
            <p:cNvPr id="39959" name="Group 48"/>
            <p:cNvGrpSpPr/>
            <p:nvPr/>
          </p:nvGrpSpPr>
          <p:grpSpPr>
            <a:xfrm>
              <a:off x="454" y="2071"/>
              <a:ext cx="508" cy="259"/>
              <a:chOff x="494" y="2448"/>
              <a:chExt cx="508" cy="259"/>
            </a:xfrm>
          </p:grpSpPr>
          <p:sp>
            <p:nvSpPr>
              <p:cNvPr id="39969" name="AutoShape 49"/>
              <p:cNvSpPr/>
              <p:nvPr/>
            </p:nvSpPr>
            <p:spPr>
              <a:xfrm flipV="1">
                <a:off x="494" y="2450"/>
                <a:ext cx="508" cy="257"/>
              </a:xfrm>
              <a:prstGeom prst="foldedCorner">
                <a:avLst>
                  <a:gd name="adj" fmla="val 12500"/>
                </a:avLst>
              </a:prstGeom>
              <a:noFill/>
              <a:ln w="19050" cap="flat" cmpd="sng">
                <a:solidFill>
                  <a:schemeClr val="tx1"/>
                </a:solidFill>
                <a:prstDash val="solid"/>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70" name="Text Box 50"/>
              <p:cNvSpPr txBox="1"/>
              <p:nvPr/>
            </p:nvSpPr>
            <p:spPr>
              <a:xfrm>
                <a:off x="533" y="2448"/>
                <a:ext cx="438" cy="194"/>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r" eaLnBrk="1" hangingPunct="1">
                  <a:spcBef>
                    <a:spcPct val="0"/>
                  </a:spcBef>
                  <a:buClrTx/>
                  <a:buSzTx/>
                  <a:buFont typeface="Wingdings" panose="05000000000000000000" pitchFamily="2" charset="2"/>
                  <a:buNone/>
                </a:pPr>
                <a:r>
                  <a:rPr lang="zh-CN" altLang="en-US" sz="1400" b="1" dirty="0">
                    <a:solidFill>
                      <a:srgbClr val="006600"/>
                    </a:solidFill>
                    <a:latin typeface="Verdana" panose="020B0604030504040204" pitchFamily="34" charset="0"/>
                    <a:ea typeface="仿宋_GB2312" pitchFamily="49" charset="-122"/>
                  </a:rPr>
                  <a:t>对象</a:t>
                </a:r>
                <a:endParaRPr lang="zh-CN" altLang="en-US" sz="1400" b="1" dirty="0">
                  <a:solidFill>
                    <a:srgbClr val="006600"/>
                  </a:solidFill>
                  <a:latin typeface="Verdana" panose="020B0604030504040204" pitchFamily="34" charset="0"/>
                  <a:ea typeface="仿宋_GB2312" pitchFamily="49" charset="-122"/>
                </a:endParaRPr>
              </a:p>
            </p:txBody>
          </p:sp>
        </p:grpSp>
        <p:grpSp>
          <p:nvGrpSpPr>
            <p:cNvPr id="39960" name="Group 51"/>
            <p:cNvGrpSpPr/>
            <p:nvPr/>
          </p:nvGrpSpPr>
          <p:grpSpPr>
            <a:xfrm>
              <a:off x="3823" y="2273"/>
              <a:ext cx="676" cy="267"/>
              <a:chOff x="4555" y="2354"/>
              <a:chExt cx="676" cy="267"/>
            </a:xfrm>
          </p:grpSpPr>
          <p:sp>
            <p:nvSpPr>
              <p:cNvPr id="39967" name="AutoShape 52"/>
              <p:cNvSpPr/>
              <p:nvPr/>
            </p:nvSpPr>
            <p:spPr>
              <a:xfrm flipV="1">
                <a:off x="4622" y="2364"/>
                <a:ext cx="606" cy="257"/>
              </a:xfrm>
              <a:prstGeom prst="foldedCorner">
                <a:avLst>
                  <a:gd name="adj" fmla="val 12500"/>
                </a:avLst>
              </a:prstGeom>
              <a:noFill/>
              <a:ln w="19050" cap="flat" cmpd="sng">
                <a:solidFill>
                  <a:schemeClr val="tx1"/>
                </a:solidFill>
                <a:prstDash val="solid"/>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68" name="Text Box 53"/>
              <p:cNvSpPr txBox="1"/>
              <p:nvPr/>
            </p:nvSpPr>
            <p:spPr>
              <a:xfrm>
                <a:off x="4555" y="2354"/>
                <a:ext cx="676" cy="194"/>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r" eaLnBrk="1" hangingPunct="1">
                  <a:spcBef>
                    <a:spcPct val="0"/>
                  </a:spcBef>
                  <a:buClrTx/>
                  <a:buSzTx/>
                  <a:buFont typeface="Wingdings" panose="05000000000000000000" pitchFamily="2" charset="2"/>
                  <a:buNone/>
                </a:pPr>
                <a:r>
                  <a:rPr lang="zh-CN" altLang="en-US" sz="1400" b="1" dirty="0">
                    <a:solidFill>
                      <a:srgbClr val="006600"/>
                    </a:solidFill>
                    <a:latin typeface="Verdana" panose="020B0604030504040204" pitchFamily="34" charset="0"/>
                    <a:ea typeface="仿宋_GB2312" pitchFamily="49" charset="-122"/>
                  </a:rPr>
                  <a:t>属性值</a:t>
                </a:r>
                <a:endParaRPr lang="zh-CN" altLang="en-US" sz="1400" b="1" dirty="0">
                  <a:solidFill>
                    <a:srgbClr val="006600"/>
                  </a:solidFill>
                  <a:latin typeface="Verdana" panose="020B0604030504040204" pitchFamily="34" charset="0"/>
                  <a:ea typeface="仿宋_GB2312" pitchFamily="49" charset="-122"/>
                </a:endParaRPr>
              </a:p>
            </p:txBody>
          </p:sp>
        </p:grpSp>
        <p:grpSp>
          <p:nvGrpSpPr>
            <p:cNvPr id="39961" name="Group 54"/>
            <p:cNvGrpSpPr/>
            <p:nvPr/>
          </p:nvGrpSpPr>
          <p:grpSpPr>
            <a:xfrm>
              <a:off x="4718" y="2584"/>
              <a:ext cx="722" cy="257"/>
              <a:chOff x="4742" y="2640"/>
              <a:chExt cx="722" cy="257"/>
            </a:xfrm>
          </p:grpSpPr>
          <p:sp>
            <p:nvSpPr>
              <p:cNvPr id="39965" name="AutoShape 55"/>
              <p:cNvSpPr/>
              <p:nvPr/>
            </p:nvSpPr>
            <p:spPr>
              <a:xfrm flipV="1">
                <a:off x="4742" y="2640"/>
                <a:ext cx="721" cy="257"/>
              </a:xfrm>
              <a:prstGeom prst="foldedCorner">
                <a:avLst>
                  <a:gd name="adj" fmla="val 12500"/>
                </a:avLst>
              </a:prstGeom>
              <a:noFill/>
              <a:ln w="19050" cap="flat" cmpd="sng">
                <a:solidFill>
                  <a:schemeClr val="tx1"/>
                </a:solidFill>
                <a:prstDash val="solid"/>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66" name="Text Box 56"/>
              <p:cNvSpPr txBox="1"/>
              <p:nvPr/>
            </p:nvSpPr>
            <p:spPr>
              <a:xfrm>
                <a:off x="4827" y="2653"/>
                <a:ext cx="637"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r" eaLnBrk="1" hangingPunct="1">
                  <a:spcBef>
                    <a:spcPct val="0"/>
                  </a:spcBef>
                  <a:buClrTx/>
                  <a:buSzTx/>
                  <a:buFont typeface="Wingdings" panose="05000000000000000000" pitchFamily="2" charset="2"/>
                  <a:buNone/>
                </a:pPr>
                <a:r>
                  <a:rPr lang="zh-CN" altLang="en-US" sz="1600" b="1" dirty="0">
                    <a:solidFill>
                      <a:srgbClr val="006600"/>
                    </a:solidFill>
                    <a:latin typeface="Times New Roman" panose="02020603050405020304" pitchFamily="18" charset="0"/>
                    <a:ea typeface="仿宋_GB2312" pitchFamily="49" charset="-122"/>
                  </a:rPr>
                  <a:t>匿名对象</a:t>
                </a:r>
                <a:endParaRPr lang="zh-CN" altLang="en-US" sz="1600" b="1" dirty="0">
                  <a:solidFill>
                    <a:srgbClr val="006600"/>
                  </a:solidFill>
                  <a:latin typeface="Times New Roman" panose="02020603050405020304" pitchFamily="18" charset="0"/>
                  <a:ea typeface="仿宋_GB2312" pitchFamily="49" charset="-122"/>
                </a:endParaRPr>
              </a:p>
            </p:txBody>
          </p:sp>
        </p:grpSp>
        <p:grpSp>
          <p:nvGrpSpPr>
            <p:cNvPr id="39962" name="Group 57"/>
            <p:cNvGrpSpPr/>
            <p:nvPr/>
          </p:nvGrpSpPr>
          <p:grpSpPr>
            <a:xfrm>
              <a:off x="3020" y="1865"/>
              <a:ext cx="721" cy="257"/>
              <a:chOff x="4742" y="2640"/>
              <a:chExt cx="721" cy="257"/>
            </a:xfrm>
          </p:grpSpPr>
          <p:sp>
            <p:nvSpPr>
              <p:cNvPr id="39963" name="AutoShape 58"/>
              <p:cNvSpPr/>
              <p:nvPr/>
            </p:nvSpPr>
            <p:spPr>
              <a:xfrm flipV="1">
                <a:off x="4742" y="2640"/>
                <a:ext cx="721" cy="257"/>
              </a:xfrm>
              <a:prstGeom prst="foldedCorner">
                <a:avLst>
                  <a:gd name="adj" fmla="val 12500"/>
                </a:avLst>
              </a:prstGeom>
              <a:noFill/>
              <a:ln w="19050" cap="flat" cmpd="sng">
                <a:solidFill>
                  <a:schemeClr val="tx1"/>
                </a:solidFill>
                <a:prstDash val="solid"/>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600" b="1" dirty="0">
                  <a:latin typeface="黑体" panose="02010609060101010101" pitchFamily="49" charset="-122"/>
                  <a:ea typeface="黑体" panose="02010609060101010101" pitchFamily="49" charset="-122"/>
                </a:endParaRPr>
              </a:p>
            </p:txBody>
          </p:sp>
          <p:sp>
            <p:nvSpPr>
              <p:cNvPr id="39964" name="Text Box 59"/>
              <p:cNvSpPr txBox="1"/>
              <p:nvPr/>
            </p:nvSpPr>
            <p:spPr>
              <a:xfrm>
                <a:off x="4768" y="2663"/>
                <a:ext cx="593" cy="213"/>
              </a:xfrm>
              <a:prstGeom prst="rect">
                <a:avLst/>
              </a:prstGeom>
              <a:noFill/>
              <a:ln w="9525">
                <a:noFill/>
              </a:ln>
            </p:spPr>
            <p:txBody>
              <a:bodyPr wrap="none">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1600" b="1" dirty="0">
                    <a:solidFill>
                      <a:srgbClr val="006600"/>
                    </a:solidFill>
                    <a:latin typeface="Times New Roman" panose="02020603050405020304" pitchFamily="18" charset="0"/>
                    <a:ea typeface="仿宋_GB2312" pitchFamily="49" charset="-122"/>
                  </a:rPr>
                  <a:t>连接</a:t>
                </a:r>
                <a:r>
                  <a:rPr lang="en-US" altLang="zh-CN" sz="1600" b="1" dirty="0">
                    <a:solidFill>
                      <a:srgbClr val="006600"/>
                    </a:solidFill>
                    <a:latin typeface="Times New Roman" panose="02020603050405020304" pitchFamily="18" charset="0"/>
                    <a:ea typeface="仿宋_GB2312" pitchFamily="49" charset="-122"/>
                  </a:rPr>
                  <a:t>link</a:t>
                </a:r>
                <a:endParaRPr lang="en-US" altLang="zh-CN" sz="1600" b="1" dirty="0">
                  <a:solidFill>
                    <a:srgbClr val="006600"/>
                  </a:solidFill>
                  <a:latin typeface="Times New Roman" panose="02020603050405020304" pitchFamily="18" charset="0"/>
                  <a:ea typeface="仿宋_GB2312" pitchFamily="49" charset="-122"/>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40963" name="Rectangle 3"/>
          <p:cNvSpPr>
            <a:spLocks noGrp="1"/>
          </p:cNvSpPr>
          <p:nvPr>
            <p:ph idx="1"/>
          </p:nvPr>
        </p:nvSpPr>
        <p:spPr>
          <a:xfrm>
            <a:off x="238125" y="1695450"/>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描述构件以及它们之间的关系</a:t>
            </a:r>
            <a:endParaRPr lang="en-US" altLang="zh-CN"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表示系统的静态实现视图</a:t>
            </a:r>
            <a:endParaRPr lang="zh-CN" altLang="en-US" b="1" dirty="0">
              <a:solidFill>
                <a:srgbClr val="000000"/>
              </a:solidFill>
            </a:endParaRPr>
          </a:p>
        </p:txBody>
      </p:sp>
      <p:sp>
        <p:nvSpPr>
          <p:cNvPr id="40964" name="Rectangle 5"/>
          <p:cNvSpPr>
            <a:spLocks noGrp="1"/>
          </p:cNvSpPr>
          <p:nvPr>
            <p:ph type="title"/>
          </p:nvPr>
        </p:nvSpPr>
        <p:spPr>
          <a:xfrm>
            <a:off x="455613" y="365125"/>
            <a:ext cx="8829675" cy="1139825"/>
          </a:xfrm>
        </p:spPr>
        <p:txBody>
          <a:bodyPr vert="horz" wrap="square" lIns="0" tIns="45605" rIns="0" bIns="0" anchor="b" anchorCtr="0"/>
          <a:p>
            <a:r>
              <a:rPr lang="en-US" altLang="zh-CN" sz="4400" b="1" dirty="0">
                <a:latin typeface="微软雅黑" panose="020B0503020204020204" pitchFamily="34" charset="-122"/>
                <a:ea typeface="微软雅黑" panose="020B0503020204020204" pitchFamily="34" charset="-122"/>
              </a:rPr>
              <a:t>4 </a:t>
            </a:r>
            <a:r>
              <a:rPr lang="zh-CN" altLang="en-US" sz="4400" b="1" dirty="0">
                <a:latin typeface="微软雅黑" panose="020B0503020204020204" pitchFamily="34" charset="-122"/>
                <a:ea typeface="微软雅黑" panose="020B0503020204020204" pitchFamily="34" charset="-122"/>
              </a:rPr>
              <a:t>构件图</a:t>
            </a:r>
            <a:endParaRPr lang="zh-CN" altLang="en-US" sz="4400" b="1" dirty="0">
              <a:latin typeface="微软雅黑" panose="020B0503020204020204" pitchFamily="34" charset="-122"/>
              <a:ea typeface="微软雅黑" panose="020B0503020204020204" pitchFamily="34" charset="-122"/>
            </a:endParaRPr>
          </a:p>
        </p:txBody>
      </p:sp>
      <p:sp>
        <p:nvSpPr>
          <p:cNvPr id="40965" name="Rectangle 8"/>
          <p:cNvSpPr/>
          <p:nvPr/>
        </p:nvSpPr>
        <p:spPr>
          <a:xfrm>
            <a:off x="0" y="0"/>
            <a:ext cx="9118600" cy="0"/>
          </a:xfrm>
          <a:prstGeom prst="rect">
            <a:avLst/>
          </a:prstGeom>
          <a:noFill/>
          <a:ln w="9525">
            <a:noFill/>
          </a:ln>
        </p:spPr>
        <p:txBody>
          <a:bodyPr wrap="none" anchor="ctr" anchorCtr="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40966" name="对象 4"/>
          <p:cNvGraphicFramePr>
            <a:graphicFrameLocks noChangeAspect="1"/>
          </p:cNvGraphicFramePr>
          <p:nvPr/>
        </p:nvGraphicFramePr>
        <p:xfrm>
          <a:off x="958850" y="2630488"/>
          <a:ext cx="6551613" cy="3671887"/>
        </p:xfrm>
        <a:graphic>
          <a:graphicData uri="http://schemas.openxmlformats.org/presentationml/2006/ole">
            <mc:AlternateContent xmlns:mc="http://schemas.openxmlformats.org/markup-compatibility/2006">
              <mc:Choice xmlns:v="urn:schemas-microsoft-com:vml" Requires="v">
                <p:oleObj spid="_x0000_s3077" name="" r:id="rId1" imgW="7962900" imgH="4470400" progId="Visio.Drawing.11">
                  <p:embed/>
                </p:oleObj>
              </mc:Choice>
              <mc:Fallback>
                <p:oleObj name="" r:id="rId1" imgW="7962900" imgH="4470400" progId="Visio.Drawing.11">
                  <p:embed/>
                  <p:pic>
                    <p:nvPicPr>
                      <p:cNvPr id="0" name="图片 3076"/>
                      <p:cNvPicPr/>
                      <p:nvPr/>
                    </p:nvPicPr>
                    <p:blipFill>
                      <a:blip r:embed="rId2"/>
                      <a:stretch>
                        <a:fillRect/>
                      </a:stretch>
                    </p:blipFill>
                    <p:spPr>
                      <a:xfrm>
                        <a:off x="958850" y="2630488"/>
                        <a:ext cx="6551613" cy="3671887"/>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3"/>
          <p:cNvSpPr>
            <a:spLocks noGrp="1"/>
          </p:cNvSpPr>
          <p:nvPr>
            <p:ph idx="1"/>
          </p:nvPr>
        </p:nvSpPr>
        <p:spPr>
          <a:xfrm>
            <a:off x="238125" y="1695450"/>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描述节点、以及节点和节点之间的关系</a:t>
            </a:r>
            <a:endParaRPr lang="en-US" altLang="zh-CN"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反映系统中软件和硬件的物理配置情况和系统体系结构</a:t>
            </a:r>
            <a:endParaRPr lang="en-US" altLang="zh-CN" b="1" dirty="0">
              <a:solidFill>
                <a:srgbClr val="000000"/>
              </a:solidFill>
            </a:endParaRPr>
          </a:p>
        </p:txBody>
      </p:sp>
      <p:sp>
        <p:nvSpPr>
          <p:cNvPr id="41987" name="Rectangle 5"/>
          <p:cNvSpPr>
            <a:spLocks noGrp="1"/>
          </p:cNvSpPr>
          <p:nvPr>
            <p:ph type="title"/>
          </p:nvPr>
        </p:nvSpPr>
        <p:spPr>
          <a:xfrm>
            <a:off x="527050" y="349250"/>
            <a:ext cx="9193213" cy="1139825"/>
          </a:xfrm>
        </p:spPr>
        <p:txBody>
          <a:bodyPr vert="horz" wrap="square" lIns="0" tIns="45605" rIns="0" bIns="0" anchor="b" anchorCtr="0"/>
          <a:p>
            <a:r>
              <a:rPr lang="en-US" altLang="zh-CN" sz="4400" b="1" dirty="0">
                <a:latin typeface="微软雅黑" panose="020B0503020204020204" pitchFamily="34" charset="-122"/>
                <a:ea typeface="微软雅黑" panose="020B0503020204020204" pitchFamily="34" charset="-122"/>
              </a:rPr>
              <a:t>5 </a:t>
            </a:r>
            <a:r>
              <a:rPr lang="zh-CN" altLang="en-US" sz="4400" b="1" dirty="0">
                <a:latin typeface="微软雅黑" panose="020B0503020204020204" pitchFamily="34" charset="-122"/>
                <a:ea typeface="微软雅黑" panose="020B0503020204020204" pitchFamily="34" charset="-122"/>
              </a:rPr>
              <a:t>部署图</a:t>
            </a:r>
            <a:endParaRPr lang="zh-CN" altLang="en-US" sz="4400" b="1" dirty="0">
              <a:latin typeface="微软雅黑" panose="020B0503020204020204" pitchFamily="34" charset="-122"/>
              <a:ea typeface="微软雅黑" panose="020B0503020204020204" pitchFamily="34" charset="-122"/>
            </a:endParaRPr>
          </a:p>
        </p:txBody>
      </p:sp>
      <p:pic>
        <p:nvPicPr>
          <p:cNvPr id="41988" name="Picture 4"/>
          <p:cNvPicPr>
            <a:picLocks noChangeAspect="1"/>
          </p:cNvPicPr>
          <p:nvPr/>
        </p:nvPicPr>
        <p:blipFill>
          <a:blip r:embed="rId1"/>
          <a:stretch>
            <a:fillRect/>
          </a:stretch>
        </p:blipFill>
        <p:spPr>
          <a:xfrm>
            <a:off x="958850" y="3135313"/>
            <a:ext cx="6553200" cy="1951037"/>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5"/>
          <p:cNvSpPr>
            <a:spLocks noGrp="1"/>
          </p:cNvSpPr>
          <p:nvPr>
            <p:ph type="title"/>
          </p:nvPr>
        </p:nvSpPr>
        <p:spPr>
          <a:xfrm>
            <a:off x="455613" y="398463"/>
            <a:ext cx="9193212" cy="1139825"/>
          </a:xfrm>
        </p:spPr>
        <p:txBody>
          <a:bodyPr vert="horz" wrap="square" lIns="0" tIns="45605" rIns="0" bIns="0" anchor="b" anchorCtr="0"/>
          <a:p>
            <a:r>
              <a:rPr lang="en-US" altLang="zh-CN" sz="4400" b="1" dirty="0">
                <a:latin typeface="微软雅黑" panose="020B0503020204020204" pitchFamily="34" charset="-122"/>
                <a:ea typeface="微软雅黑" panose="020B0503020204020204" pitchFamily="34" charset="-122"/>
              </a:rPr>
              <a:t>6 </a:t>
            </a:r>
            <a:r>
              <a:rPr lang="zh-CN" altLang="en-US" sz="4400" b="1" dirty="0">
                <a:latin typeface="微软雅黑" panose="020B0503020204020204" pitchFamily="34" charset="-122"/>
                <a:ea typeface="微软雅黑" panose="020B0503020204020204" pitchFamily="34" charset="-122"/>
              </a:rPr>
              <a:t>序列图</a:t>
            </a:r>
            <a:endParaRPr lang="zh-CN" altLang="en-US" sz="4400" b="1" dirty="0">
              <a:latin typeface="微软雅黑" panose="020B0503020204020204" pitchFamily="34" charset="-122"/>
              <a:ea typeface="微软雅黑" panose="020B0503020204020204" pitchFamily="34" charset="-122"/>
            </a:endParaRPr>
          </a:p>
        </p:txBody>
      </p:sp>
      <p:pic>
        <p:nvPicPr>
          <p:cNvPr id="43011" name="Picture 4"/>
          <p:cNvPicPr>
            <a:picLocks noChangeAspect="1"/>
          </p:cNvPicPr>
          <p:nvPr/>
        </p:nvPicPr>
        <p:blipFill>
          <a:blip r:embed="rId1"/>
          <a:stretch>
            <a:fillRect/>
          </a:stretch>
        </p:blipFill>
        <p:spPr>
          <a:xfrm>
            <a:off x="2687638" y="182563"/>
            <a:ext cx="6119812" cy="6767512"/>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3"/>
          <p:cNvSpPr>
            <a:spLocks noGrp="1"/>
          </p:cNvSpPr>
          <p:nvPr>
            <p:ph idx="1"/>
          </p:nvPr>
        </p:nvSpPr>
        <p:spPr>
          <a:xfrm>
            <a:off x="238125" y="1695450"/>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描述了对象与周围对象之间的交互，以及它们之间的链接</a:t>
            </a:r>
            <a:endParaRPr lang="en-US" altLang="zh-CN"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序列图和协作图两者之间可以相互转换</a:t>
            </a:r>
            <a:endParaRPr lang="en-US" altLang="zh-CN"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序列图侧重</a:t>
            </a:r>
            <a:r>
              <a:rPr lang="zh-CN" altLang="en-US" b="1" dirty="0">
                <a:solidFill>
                  <a:srgbClr val="FF0000"/>
                </a:solidFill>
              </a:rPr>
              <a:t>消息之间的时序性</a:t>
            </a:r>
            <a:r>
              <a:rPr lang="zh-CN" altLang="en-US" b="1" dirty="0">
                <a:solidFill>
                  <a:srgbClr val="000000"/>
                </a:solidFill>
              </a:rPr>
              <a:t>，通信图侧重</a:t>
            </a:r>
            <a:r>
              <a:rPr lang="zh-CN" altLang="en-US" b="1" dirty="0">
                <a:solidFill>
                  <a:srgbClr val="FF0000"/>
                </a:solidFill>
              </a:rPr>
              <a:t>对象间的联系</a:t>
            </a:r>
            <a:endParaRPr lang="en-US" altLang="zh-CN" b="1" dirty="0">
              <a:solidFill>
                <a:srgbClr val="FF0000"/>
              </a:solidFill>
            </a:endParaRPr>
          </a:p>
          <a:p>
            <a:pPr marL="273050" lvl="1" indent="-273050">
              <a:lnSpc>
                <a:spcPct val="90000"/>
              </a:lnSpc>
              <a:buClr>
                <a:srgbClr val="0BD0D9"/>
              </a:buClr>
              <a:buSzPct val="95000"/>
              <a:buFont typeface="Wingdings" panose="05000000000000000000" pitchFamily="2" charset="2"/>
              <a:buChar char="p"/>
            </a:pPr>
            <a:endParaRPr lang="zh-CN" altLang="en-US"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endParaRPr lang="en-US" altLang="zh-CN" b="1" dirty="0">
              <a:solidFill>
                <a:srgbClr val="000000"/>
              </a:solidFill>
            </a:endParaRPr>
          </a:p>
        </p:txBody>
      </p:sp>
      <p:sp>
        <p:nvSpPr>
          <p:cNvPr id="44035" name="Rectangle 5"/>
          <p:cNvSpPr>
            <a:spLocks noGrp="1"/>
          </p:cNvSpPr>
          <p:nvPr>
            <p:ph type="title"/>
          </p:nvPr>
        </p:nvSpPr>
        <p:spPr>
          <a:xfrm>
            <a:off x="311150" y="398463"/>
            <a:ext cx="10201275" cy="1139825"/>
          </a:xfrm>
        </p:spPr>
        <p:txBody>
          <a:bodyPr vert="horz" wrap="square" lIns="0" tIns="45605" rIns="0" bIns="0" anchor="b" anchorCtr="0"/>
          <a:p>
            <a:r>
              <a:rPr lang="en-US" altLang="zh-CN" sz="4400" b="1" dirty="0">
                <a:latin typeface="微软雅黑" panose="020B0503020204020204" pitchFamily="34" charset="-122"/>
                <a:ea typeface="微软雅黑" panose="020B0503020204020204" pitchFamily="34" charset="-122"/>
              </a:rPr>
              <a:t>7 </a:t>
            </a:r>
            <a:r>
              <a:rPr lang="zh-CN" altLang="en-US" sz="4400" b="1" dirty="0">
                <a:latin typeface="微软雅黑" panose="020B0503020204020204" pitchFamily="34" charset="-122"/>
                <a:ea typeface="微软雅黑" panose="020B0503020204020204" pitchFamily="34" charset="-122"/>
              </a:rPr>
              <a:t>通信图</a:t>
            </a:r>
            <a:endParaRPr lang="zh-CN" altLang="en-US" sz="44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Picture 4"/>
          <p:cNvPicPr>
            <a:picLocks noChangeAspect="1"/>
          </p:cNvPicPr>
          <p:nvPr/>
        </p:nvPicPr>
        <p:blipFill>
          <a:blip r:embed="rId1"/>
          <a:stretch>
            <a:fillRect/>
          </a:stretch>
        </p:blipFill>
        <p:spPr>
          <a:xfrm>
            <a:off x="34925" y="327025"/>
            <a:ext cx="8951913" cy="6249988"/>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3"/>
          <p:cNvSpPr>
            <a:spLocks noGrp="1"/>
          </p:cNvSpPr>
          <p:nvPr>
            <p:ph idx="1"/>
          </p:nvPr>
        </p:nvSpPr>
        <p:spPr>
          <a:xfrm>
            <a:off x="238125" y="1695450"/>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描述由不同对象所执行的一组活动、以及活动之间的关系</a:t>
            </a:r>
            <a:endParaRPr lang="en-US" altLang="zh-CN"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反映系统中各种活动的执行顺序</a:t>
            </a:r>
            <a:endParaRPr lang="en-US" altLang="zh-CN" b="1" dirty="0">
              <a:solidFill>
                <a:srgbClr val="000000"/>
              </a:solidFill>
            </a:endParaRPr>
          </a:p>
        </p:txBody>
      </p:sp>
      <p:sp>
        <p:nvSpPr>
          <p:cNvPr id="46083" name="Rectangle 5"/>
          <p:cNvSpPr>
            <a:spLocks noGrp="1"/>
          </p:cNvSpPr>
          <p:nvPr>
            <p:ph type="title"/>
          </p:nvPr>
        </p:nvSpPr>
        <p:spPr>
          <a:xfrm>
            <a:off x="382588" y="385763"/>
            <a:ext cx="9193212" cy="1139825"/>
          </a:xfrm>
        </p:spPr>
        <p:txBody>
          <a:bodyPr vert="horz" wrap="square" lIns="0" tIns="45605" rIns="0" bIns="0" anchor="b" anchorCtr="0"/>
          <a:p>
            <a:r>
              <a:rPr lang="en-US" altLang="zh-CN" sz="4400" b="1" dirty="0">
                <a:latin typeface="微软雅黑" panose="020B0503020204020204" pitchFamily="34" charset="-122"/>
                <a:ea typeface="微软雅黑" panose="020B0503020204020204" pitchFamily="34" charset="-122"/>
              </a:rPr>
              <a:t>8 </a:t>
            </a:r>
            <a:r>
              <a:rPr lang="zh-CN" altLang="en-US" sz="4400" b="1" dirty="0">
                <a:latin typeface="微软雅黑" panose="020B0503020204020204" pitchFamily="34" charset="-122"/>
                <a:ea typeface="微软雅黑" panose="020B0503020204020204" pitchFamily="34" charset="-122"/>
              </a:rPr>
              <a:t>活动图</a:t>
            </a:r>
            <a:endParaRPr lang="zh-CN" altLang="en-US" sz="4400" b="1" dirty="0">
              <a:latin typeface="微软雅黑" panose="020B0503020204020204" pitchFamily="34" charset="-122"/>
              <a:ea typeface="微软雅黑" panose="020B0503020204020204" pitchFamily="34" charset="-122"/>
            </a:endParaRPr>
          </a:p>
        </p:txBody>
      </p:sp>
      <p:graphicFrame>
        <p:nvGraphicFramePr>
          <p:cNvPr id="242691" name="Object 3"/>
          <p:cNvGraphicFramePr>
            <a:graphicFrameLocks noChangeAspect="1"/>
          </p:cNvGraphicFramePr>
          <p:nvPr/>
        </p:nvGraphicFramePr>
        <p:xfrm>
          <a:off x="382588" y="2540000"/>
          <a:ext cx="5976937" cy="4286250"/>
        </p:xfrm>
        <a:graphic>
          <a:graphicData uri="http://schemas.openxmlformats.org/presentationml/2006/ole">
            <mc:AlternateContent xmlns:mc="http://schemas.openxmlformats.org/markup-compatibility/2006">
              <mc:Choice xmlns:v="urn:schemas-microsoft-com:vml" Requires="v">
                <p:oleObj spid="_x0000_s3078" name="" r:id="rId1" imgW="3307080" imgH="2369820" progId="Visio.Drawing.4">
                  <p:embed/>
                </p:oleObj>
              </mc:Choice>
              <mc:Fallback>
                <p:oleObj name="" r:id="rId1" imgW="3307080" imgH="2369820" progId="Visio.Drawing.4">
                  <p:embed/>
                  <p:pic>
                    <p:nvPicPr>
                      <p:cNvPr id="0" name="图片 3077"/>
                      <p:cNvPicPr/>
                      <p:nvPr/>
                    </p:nvPicPr>
                    <p:blipFill>
                      <a:blip r:embed="rId2"/>
                      <a:stretch>
                        <a:fillRect/>
                      </a:stretch>
                    </p:blipFill>
                    <p:spPr>
                      <a:xfrm>
                        <a:off x="382588" y="2540000"/>
                        <a:ext cx="5976937" cy="4286250"/>
                      </a:xfrm>
                      <a:prstGeom prst="rect">
                        <a:avLst/>
                      </a:prstGeom>
                      <a:noFill/>
                      <a:ln w="38100">
                        <a:noFill/>
                        <a:miter/>
                      </a:ln>
                    </p:spPr>
                  </p:pic>
                </p:oleObj>
              </mc:Fallback>
            </mc:AlternateContent>
          </a:graphicData>
        </a:graphic>
      </p:graphicFrame>
      <p:pic>
        <p:nvPicPr>
          <p:cNvPr id="46085" name="Picture 6"/>
          <p:cNvPicPr>
            <a:picLocks noChangeAspect="1"/>
          </p:cNvPicPr>
          <p:nvPr/>
        </p:nvPicPr>
        <p:blipFill>
          <a:blip r:embed="rId3"/>
          <a:stretch>
            <a:fillRect/>
          </a:stretch>
        </p:blipFill>
        <p:spPr>
          <a:xfrm>
            <a:off x="6646863" y="2414588"/>
            <a:ext cx="2822575" cy="630237"/>
          </a:xfrm>
          <a:prstGeom prst="rect">
            <a:avLst/>
          </a:prstGeom>
          <a:noFill/>
          <a:ln w="9525">
            <a:noFill/>
          </a:ln>
        </p:spPr>
      </p:pic>
      <p:sp>
        <p:nvSpPr>
          <p:cNvPr id="46086" name="TextBox 5"/>
          <p:cNvSpPr txBox="1"/>
          <p:nvPr/>
        </p:nvSpPr>
        <p:spPr>
          <a:xfrm>
            <a:off x="7583488" y="2528888"/>
            <a:ext cx="1627187" cy="369887"/>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1800" b="1" dirty="0">
                <a:latin typeface="黑体" panose="02010609060101010101" pitchFamily="49" charset="-122"/>
                <a:ea typeface="黑体" panose="02010609060101010101" pitchFamily="49" charset="-122"/>
              </a:rPr>
              <a:t>开始与结束</a:t>
            </a:r>
            <a:endParaRPr lang="zh-CN" altLang="en-US" sz="1800" b="1" dirty="0">
              <a:latin typeface="黑体" panose="02010609060101010101" pitchFamily="49" charset="-122"/>
              <a:ea typeface="黑体" panose="02010609060101010101" pitchFamily="49" charset="-122"/>
            </a:endParaRPr>
          </a:p>
        </p:txBody>
      </p:sp>
      <p:pic>
        <p:nvPicPr>
          <p:cNvPr id="46087" name="Picture 7"/>
          <p:cNvPicPr>
            <a:picLocks noChangeAspect="1"/>
          </p:cNvPicPr>
          <p:nvPr/>
        </p:nvPicPr>
        <p:blipFill>
          <a:blip r:embed="rId4"/>
          <a:stretch>
            <a:fillRect/>
          </a:stretch>
        </p:blipFill>
        <p:spPr>
          <a:xfrm>
            <a:off x="6719888" y="3209925"/>
            <a:ext cx="1006475" cy="646113"/>
          </a:xfrm>
          <a:prstGeom prst="rect">
            <a:avLst/>
          </a:prstGeom>
          <a:noFill/>
          <a:ln w="9525">
            <a:noFill/>
          </a:ln>
        </p:spPr>
      </p:pic>
      <p:sp>
        <p:nvSpPr>
          <p:cNvPr id="46088" name="TextBox 7"/>
          <p:cNvSpPr txBox="1"/>
          <p:nvPr/>
        </p:nvSpPr>
        <p:spPr>
          <a:xfrm>
            <a:off x="7735888" y="3382963"/>
            <a:ext cx="1627187" cy="368300"/>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1800" b="1" dirty="0">
                <a:latin typeface="黑体" panose="02010609060101010101" pitchFamily="49" charset="-122"/>
                <a:ea typeface="黑体" panose="02010609060101010101" pitchFamily="49" charset="-122"/>
              </a:rPr>
              <a:t>活动</a:t>
            </a:r>
            <a:endParaRPr lang="zh-CN" altLang="en-US" sz="1800" b="1" dirty="0">
              <a:latin typeface="黑体" panose="02010609060101010101" pitchFamily="49" charset="-122"/>
              <a:ea typeface="黑体" panose="02010609060101010101" pitchFamily="49" charset="-122"/>
            </a:endParaRPr>
          </a:p>
        </p:txBody>
      </p:sp>
      <p:pic>
        <p:nvPicPr>
          <p:cNvPr id="46089" name="Picture 6"/>
          <p:cNvPicPr>
            <a:picLocks noChangeAspect="1"/>
          </p:cNvPicPr>
          <p:nvPr/>
        </p:nvPicPr>
        <p:blipFill>
          <a:blip r:embed="rId5"/>
          <a:stretch>
            <a:fillRect/>
          </a:stretch>
        </p:blipFill>
        <p:spPr>
          <a:xfrm>
            <a:off x="6959600" y="4214813"/>
            <a:ext cx="728663" cy="647700"/>
          </a:xfrm>
          <a:prstGeom prst="rect">
            <a:avLst/>
          </a:prstGeom>
          <a:noFill/>
          <a:ln w="9525">
            <a:noFill/>
          </a:ln>
        </p:spPr>
      </p:pic>
      <p:sp>
        <p:nvSpPr>
          <p:cNvPr id="46090" name="TextBox 9"/>
          <p:cNvSpPr txBox="1"/>
          <p:nvPr/>
        </p:nvSpPr>
        <p:spPr>
          <a:xfrm>
            <a:off x="7842250" y="4462463"/>
            <a:ext cx="1627188" cy="369887"/>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1800" b="1" dirty="0">
                <a:latin typeface="黑体" panose="02010609060101010101" pitchFamily="49" charset="-122"/>
                <a:ea typeface="黑体" panose="02010609060101010101" pitchFamily="49" charset="-122"/>
              </a:rPr>
              <a:t>判断</a:t>
            </a:r>
            <a:endParaRPr lang="zh-CN" altLang="en-US" sz="1800" b="1" dirty="0">
              <a:latin typeface="黑体" panose="02010609060101010101" pitchFamily="49" charset="-122"/>
              <a:ea typeface="黑体" panose="02010609060101010101" pitchFamily="49" charset="-122"/>
            </a:endParaRPr>
          </a:p>
        </p:txBody>
      </p:sp>
      <p:pic>
        <p:nvPicPr>
          <p:cNvPr id="46091" name="Picture 9"/>
          <p:cNvPicPr>
            <a:picLocks noChangeAspect="1"/>
          </p:cNvPicPr>
          <p:nvPr/>
        </p:nvPicPr>
        <p:blipFill>
          <a:blip r:embed="rId6"/>
          <a:stretch>
            <a:fillRect/>
          </a:stretch>
        </p:blipFill>
        <p:spPr>
          <a:xfrm>
            <a:off x="6813550" y="4935538"/>
            <a:ext cx="2057400" cy="573087"/>
          </a:xfrm>
          <a:prstGeom prst="rect">
            <a:avLst/>
          </a:prstGeom>
          <a:noFill/>
          <a:ln w="9525">
            <a:noFill/>
          </a:ln>
        </p:spPr>
      </p:pic>
      <p:sp>
        <p:nvSpPr>
          <p:cNvPr id="46092" name="TextBox 11"/>
          <p:cNvSpPr txBox="1"/>
          <p:nvPr/>
        </p:nvSpPr>
        <p:spPr>
          <a:xfrm>
            <a:off x="7866063" y="5108575"/>
            <a:ext cx="757237" cy="368300"/>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1800" b="1" dirty="0">
                <a:latin typeface="黑体" panose="02010609060101010101" pitchFamily="49" charset="-122"/>
                <a:ea typeface="黑体" panose="02010609060101010101" pitchFamily="49" charset="-122"/>
              </a:rPr>
              <a:t>同步</a:t>
            </a:r>
            <a:endParaRPr lang="zh-CN" altLang="en-US" sz="1800" b="1" dirty="0">
              <a:latin typeface="黑体" panose="02010609060101010101" pitchFamily="49" charset="-122"/>
              <a:ea typeface="黑体" panose="02010609060101010101" pitchFamily="49" charset="-122"/>
            </a:endParaRPr>
          </a:p>
        </p:txBody>
      </p:sp>
      <p:graphicFrame>
        <p:nvGraphicFramePr>
          <p:cNvPr id="46093" name="对象 1"/>
          <p:cNvGraphicFramePr>
            <a:graphicFrameLocks noChangeAspect="1"/>
          </p:cNvGraphicFramePr>
          <p:nvPr/>
        </p:nvGraphicFramePr>
        <p:xfrm>
          <a:off x="7194550" y="5654675"/>
          <a:ext cx="493713" cy="919163"/>
        </p:xfrm>
        <a:graphic>
          <a:graphicData uri="http://schemas.openxmlformats.org/presentationml/2006/ole">
            <mc:AlternateContent xmlns:mc="http://schemas.openxmlformats.org/markup-compatibility/2006">
              <mc:Choice xmlns:v="urn:schemas-microsoft-com:vml" Requires="v">
                <p:oleObj spid="_x0000_s3079" name="" r:id="rId7" imgW="1320800" imgH="2463800" progId="Visio.Drawing.11">
                  <p:link updateAutomatic="1"/>
                </p:oleObj>
              </mc:Choice>
              <mc:Fallback>
                <p:oleObj name="" r:id="rId7" imgW="1320800" imgH="2463800" progId="Visio.Drawing.11">
                  <p:link updateAutomatic="1"/>
                  <p:pic>
                    <p:nvPicPr>
                      <p:cNvPr id="0" name="图片 3078"/>
                      <p:cNvPicPr/>
                      <p:nvPr/>
                    </p:nvPicPr>
                    <p:blipFill>
                      <a:blip r:embed="rId8"/>
                      <a:stretch>
                        <a:fillRect/>
                      </a:stretch>
                    </p:blipFill>
                    <p:spPr>
                      <a:xfrm>
                        <a:off x="7194550" y="5654675"/>
                        <a:ext cx="493713" cy="919163"/>
                      </a:xfrm>
                      <a:prstGeom prst="rect">
                        <a:avLst/>
                      </a:prstGeom>
                      <a:noFill/>
                      <a:ln w="38100">
                        <a:noFill/>
                        <a:miter/>
                      </a:ln>
                    </p:spPr>
                  </p:pic>
                </p:oleObj>
              </mc:Fallback>
            </mc:AlternateContent>
          </a:graphicData>
        </a:graphic>
      </p:graphicFrame>
      <p:sp>
        <p:nvSpPr>
          <p:cNvPr id="46094" name="TextBox 13"/>
          <p:cNvSpPr txBox="1"/>
          <p:nvPr/>
        </p:nvSpPr>
        <p:spPr>
          <a:xfrm>
            <a:off x="7900988" y="5943600"/>
            <a:ext cx="755650" cy="368300"/>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1800" b="1" dirty="0">
                <a:latin typeface="黑体" panose="02010609060101010101" pitchFamily="49" charset="-122"/>
                <a:ea typeface="黑体" panose="02010609060101010101" pitchFamily="49" charset="-122"/>
              </a:rPr>
              <a:t>泳道</a:t>
            </a:r>
            <a:endParaRPr lang="zh-CN" altLang="en-US" sz="18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2691"/>
                                        </p:tgtEl>
                                        <p:attrNameLst>
                                          <p:attrName>style.visibility</p:attrName>
                                        </p:attrNameLst>
                                      </p:cBhvr>
                                      <p:to>
                                        <p:strVal val="visible"/>
                                      </p:to>
                                    </p:set>
                                    <p:animEffect transition="in" filter="blinds(horizontal)">
                                      <p:cBhvr>
                                        <p:cTn id="7" dur="500"/>
                                        <p:tgtEl>
                                          <p:spTgt spid="242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3"/>
          <p:cNvSpPr>
            <a:spLocks noGrp="1"/>
          </p:cNvSpPr>
          <p:nvPr>
            <p:ph idx="1"/>
          </p:nvPr>
        </p:nvSpPr>
        <p:spPr>
          <a:xfrm>
            <a:off x="238125" y="1695450"/>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描述一组状态、以及状态之间的迁移</a:t>
            </a:r>
            <a:endParaRPr lang="en-US" altLang="zh-CN" b="1" dirty="0">
              <a:solidFill>
                <a:srgbClr val="000000"/>
              </a:solidFill>
            </a:endParaRPr>
          </a:p>
          <a:p>
            <a:pPr marL="273050" lvl="1" indent="-273050">
              <a:lnSpc>
                <a:spcPct val="90000"/>
              </a:lnSpc>
              <a:buClr>
                <a:srgbClr val="0BD0D9"/>
              </a:buClr>
              <a:buSzPct val="95000"/>
              <a:buFont typeface="Wingdings" panose="05000000000000000000" pitchFamily="2" charset="2"/>
              <a:buChar char="p"/>
            </a:pPr>
            <a:r>
              <a:rPr lang="zh-CN" altLang="en-US" b="1" dirty="0">
                <a:solidFill>
                  <a:srgbClr val="000000"/>
                </a:solidFill>
              </a:rPr>
              <a:t>反映一个特定对象的所有可能状态以及引起状态迁移的事件</a:t>
            </a:r>
            <a:endParaRPr lang="en-US" altLang="zh-CN" b="1" dirty="0">
              <a:solidFill>
                <a:srgbClr val="000000"/>
              </a:solidFill>
            </a:endParaRPr>
          </a:p>
        </p:txBody>
      </p:sp>
      <p:sp>
        <p:nvSpPr>
          <p:cNvPr id="47107" name="Rectangle 5"/>
          <p:cNvSpPr>
            <a:spLocks noGrp="1"/>
          </p:cNvSpPr>
          <p:nvPr>
            <p:ph type="title"/>
          </p:nvPr>
        </p:nvSpPr>
        <p:spPr>
          <a:xfrm>
            <a:off x="382588" y="398463"/>
            <a:ext cx="9193212" cy="1139825"/>
          </a:xfrm>
        </p:spPr>
        <p:txBody>
          <a:bodyPr vert="horz" wrap="square" lIns="0" tIns="45605" rIns="0" bIns="0" anchor="b" anchorCtr="0"/>
          <a:p>
            <a:r>
              <a:rPr lang="en-US" altLang="zh-CN" sz="4400" b="1" dirty="0">
                <a:latin typeface="微软雅黑" panose="020B0503020204020204" pitchFamily="34" charset="-122"/>
                <a:ea typeface="微软雅黑" panose="020B0503020204020204" pitchFamily="34" charset="-122"/>
              </a:rPr>
              <a:t>9 </a:t>
            </a:r>
            <a:r>
              <a:rPr lang="zh-CN" altLang="en-US" sz="4400" b="1" dirty="0">
                <a:latin typeface="微软雅黑" panose="020B0503020204020204" pitchFamily="34" charset="-122"/>
                <a:ea typeface="微软雅黑" panose="020B0503020204020204" pitchFamily="34" charset="-122"/>
              </a:rPr>
              <a:t>状态图</a:t>
            </a:r>
            <a:endParaRPr lang="zh-CN" altLang="en-US" sz="4400" b="1" dirty="0">
              <a:latin typeface="微软雅黑" panose="020B0503020204020204" pitchFamily="34" charset="-122"/>
              <a:ea typeface="微软雅黑" panose="020B0503020204020204" pitchFamily="34" charset="-122"/>
            </a:endParaRPr>
          </a:p>
        </p:txBody>
      </p:sp>
      <p:pic>
        <p:nvPicPr>
          <p:cNvPr id="47108" name="Picture 8"/>
          <p:cNvPicPr>
            <a:picLocks noChangeAspect="1"/>
          </p:cNvPicPr>
          <p:nvPr/>
        </p:nvPicPr>
        <p:blipFill>
          <a:blip r:embed="rId1"/>
          <a:stretch>
            <a:fillRect/>
          </a:stretch>
        </p:blipFill>
        <p:spPr>
          <a:xfrm>
            <a:off x="95250" y="2917825"/>
            <a:ext cx="8766175" cy="2892425"/>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455613" y="398463"/>
            <a:ext cx="8207375" cy="1139825"/>
          </a:xfrm>
        </p:spPr>
        <p:txBody>
          <a:bodyPr vert="horz" wrap="square" lIns="0" tIns="45605" rIns="0" bIns="0" anchor="b" anchorCtr="0"/>
          <a:p>
            <a:pPr>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图</a:t>
            </a:r>
            <a:endParaRPr lang="zh-CN" altLang="en-US" b="1" dirty="0">
              <a:latin typeface="微软雅黑" panose="020B0503020204020204" pitchFamily="34" charset="-122"/>
              <a:ea typeface="微软雅黑" panose="020B0503020204020204" pitchFamily="34" charset="-122"/>
            </a:endParaRPr>
          </a:p>
        </p:txBody>
      </p:sp>
      <p:sp>
        <p:nvSpPr>
          <p:cNvPr id="48131" name="Line 4"/>
          <p:cNvSpPr/>
          <p:nvPr/>
        </p:nvSpPr>
        <p:spPr>
          <a:xfrm flipH="1">
            <a:off x="4394200" y="2181225"/>
            <a:ext cx="0" cy="1312863"/>
          </a:xfrm>
          <a:prstGeom prst="line">
            <a:avLst/>
          </a:prstGeom>
          <a:ln w="9525" cap="flat" cmpd="sng">
            <a:solidFill>
              <a:schemeClr val="tx1"/>
            </a:solidFill>
            <a:prstDash val="solid"/>
            <a:headEnd type="none" w="sm" len="sm"/>
            <a:tailEnd type="none" w="sm" len="sm"/>
          </a:ln>
        </p:spPr>
      </p:sp>
      <p:sp>
        <p:nvSpPr>
          <p:cNvPr id="48132" name="Line 5"/>
          <p:cNvSpPr/>
          <p:nvPr/>
        </p:nvSpPr>
        <p:spPr>
          <a:xfrm flipV="1">
            <a:off x="4697413" y="3433763"/>
            <a:ext cx="1611312" cy="392112"/>
          </a:xfrm>
          <a:prstGeom prst="line">
            <a:avLst/>
          </a:prstGeom>
          <a:ln w="9525" cap="flat" cmpd="sng">
            <a:solidFill>
              <a:schemeClr val="tx1"/>
            </a:solidFill>
            <a:prstDash val="solid"/>
            <a:headEnd type="none" w="sm" len="sm"/>
            <a:tailEnd type="none" w="sm" len="sm"/>
          </a:ln>
        </p:spPr>
      </p:sp>
      <p:sp>
        <p:nvSpPr>
          <p:cNvPr id="48133" name="Line 6"/>
          <p:cNvSpPr/>
          <p:nvPr/>
        </p:nvSpPr>
        <p:spPr>
          <a:xfrm>
            <a:off x="4841875" y="4024313"/>
            <a:ext cx="1301750" cy="1458912"/>
          </a:xfrm>
          <a:prstGeom prst="line">
            <a:avLst/>
          </a:prstGeom>
          <a:ln w="9525" cap="flat" cmpd="sng">
            <a:solidFill>
              <a:schemeClr val="tx1"/>
            </a:solidFill>
            <a:prstDash val="solid"/>
            <a:headEnd type="none" w="sm" len="sm"/>
            <a:tailEnd type="none" w="sm" len="sm"/>
          </a:ln>
        </p:spPr>
      </p:sp>
      <p:sp>
        <p:nvSpPr>
          <p:cNvPr id="48134" name="Line 7"/>
          <p:cNvSpPr/>
          <p:nvPr/>
        </p:nvSpPr>
        <p:spPr>
          <a:xfrm>
            <a:off x="2533650" y="2568575"/>
            <a:ext cx="1673225" cy="1257300"/>
          </a:xfrm>
          <a:prstGeom prst="line">
            <a:avLst/>
          </a:prstGeom>
          <a:ln w="9525" cap="flat" cmpd="sng">
            <a:solidFill>
              <a:schemeClr val="tx1"/>
            </a:solidFill>
            <a:prstDash val="solid"/>
            <a:headEnd type="none" w="sm" len="sm"/>
            <a:tailEnd type="none" w="sm" len="sm"/>
          </a:ln>
        </p:spPr>
      </p:sp>
      <p:sp>
        <p:nvSpPr>
          <p:cNvPr id="48135" name="Line 8"/>
          <p:cNvSpPr/>
          <p:nvPr/>
        </p:nvSpPr>
        <p:spPr>
          <a:xfrm flipV="1">
            <a:off x="2528888" y="4403725"/>
            <a:ext cx="1258887" cy="458788"/>
          </a:xfrm>
          <a:prstGeom prst="line">
            <a:avLst/>
          </a:prstGeom>
          <a:ln w="9525" cap="flat" cmpd="sng">
            <a:solidFill>
              <a:schemeClr val="tx1"/>
            </a:solidFill>
            <a:prstDash val="solid"/>
            <a:headEnd type="none" w="sm" len="sm"/>
            <a:tailEnd type="none" w="sm" len="sm"/>
          </a:ln>
        </p:spPr>
      </p:sp>
      <p:sp>
        <p:nvSpPr>
          <p:cNvPr id="48136" name="Line 9"/>
          <p:cNvSpPr/>
          <p:nvPr/>
        </p:nvSpPr>
        <p:spPr>
          <a:xfrm>
            <a:off x="2027238" y="4024313"/>
            <a:ext cx="2035175" cy="0"/>
          </a:xfrm>
          <a:prstGeom prst="line">
            <a:avLst/>
          </a:prstGeom>
          <a:ln w="9525" cap="flat" cmpd="sng">
            <a:solidFill>
              <a:schemeClr val="tx1"/>
            </a:solidFill>
            <a:prstDash val="solid"/>
            <a:headEnd type="none" w="sm" len="sm"/>
            <a:tailEnd type="none" w="sm" len="sm"/>
          </a:ln>
        </p:spPr>
      </p:sp>
      <p:sp>
        <p:nvSpPr>
          <p:cNvPr id="48137" name="Line 10"/>
          <p:cNvSpPr/>
          <p:nvPr/>
        </p:nvSpPr>
        <p:spPr>
          <a:xfrm flipH="1">
            <a:off x="4548188" y="2060575"/>
            <a:ext cx="1714500" cy="1587500"/>
          </a:xfrm>
          <a:prstGeom prst="line">
            <a:avLst/>
          </a:prstGeom>
          <a:ln w="9525" cap="flat" cmpd="sng">
            <a:solidFill>
              <a:schemeClr val="tx1"/>
            </a:solidFill>
            <a:prstDash val="solid"/>
            <a:headEnd type="none" w="sm" len="sm"/>
            <a:tailEnd type="none" w="sm" len="sm"/>
          </a:ln>
        </p:spPr>
      </p:sp>
      <p:sp>
        <p:nvSpPr>
          <p:cNvPr id="48138" name="Line 11"/>
          <p:cNvSpPr/>
          <p:nvPr/>
        </p:nvSpPr>
        <p:spPr>
          <a:xfrm flipH="1" flipV="1">
            <a:off x="4394200" y="4633913"/>
            <a:ext cx="0" cy="849312"/>
          </a:xfrm>
          <a:prstGeom prst="line">
            <a:avLst/>
          </a:prstGeom>
          <a:ln w="9525" cap="flat" cmpd="sng">
            <a:solidFill>
              <a:schemeClr val="tx1"/>
            </a:solidFill>
            <a:prstDash val="solid"/>
            <a:headEnd type="none" w="sm" len="sm"/>
            <a:tailEnd type="none" w="sm" len="sm"/>
          </a:ln>
        </p:spPr>
      </p:sp>
      <p:sp>
        <p:nvSpPr>
          <p:cNvPr id="53" name="Rectangle 15"/>
          <p:cNvSpPr>
            <a:spLocks noChangeArrowheads="1"/>
          </p:cNvSpPr>
          <p:nvPr/>
        </p:nvSpPr>
        <p:spPr bwMode="auto">
          <a:xfrm>
            <a:off x="3719513" y="1566863"/>
            <a:ext cx="1301750" cy="776288"/>
          </a:xfrm>
          <a:prstGeom prst="rect">
            <a:avLst/>
          </a:prstGeom>
          <a:solidFill>
            <a:schemeClr val="accent1"/>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用例图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50" name="Rectangle 19"/>
          <p:cNvSpPr>
            <a:spLocks noChangeArrowheads="1"/>
          </p:cNvSpPr>
          <p:nvPr/>
        </p:nvSpPr>
        <p:spPr bwMode="auto">
          <a:xfrm>
            <a:off x="1177925" y="3233738"/>
            <a:ext cx="1350963" cy="830263"/>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协作图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7" name="Rectangle 23"/>
          <p:cNvSpPr>
            <a:spLocks noChangeArrowheads="1"/>
          </p:cNvSpPr>
          <p:nvPr/>
        </p:nvSpPr>
        <p:spPr bwMode="auto">
          <a:xfrm>
            <a:off x="5657850" y="5451475"/>
            <a:ext cx="1301750" cy="855663"/>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构件图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4" name="Rectangle 27"/>
          <p:cNvSpPr>
            <a:spLocks noChangeArrowheads="1"/>
          </p:cNvSpPr>
          <p:nvPr/>
        </p:nvSpPr>
        <p:spPr bwMode="auto">
          <a:xfrm>
            <a:off x="3719513" y="5483225"/>
            <a:ext cx="1349375" cy="819150"/>
          </a:xfrm>
          <a:prstGeom prst="rect">
            <a:avLst/>
          </a:prstGeom>
          <a:solidFill>
            <a:srgbClr val="990099"/>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部署图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1" name="Rectangle 31"/>
          <p:cNvSpPr>
            <a:spLocks noChangeArrowheads="1"/>
          </p:cNvSpPr>
          <p:nvPr/>
        </p:nvSpPr>
        <p:spPr bwMode="auto">
          <a:xfrm>
            <a:off x="6307138" y="3127375"/>
            <a:ext cx="1252538" cy="844550"/>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uLnTx/>
                <a:uFillTx/>
                <a:latin typeface="Comic Sans MS" panose="030F0702030302020204" pitchFamily="66" charset="0"/>
                <a:ea typeface="仿宋_GB2312" pitchFamily="49" charset="-122"/>
                <a:cs typeface="+mn-cs"/>
              </a:rPr>
              <a:t>对象图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8" name="Rectangle 35"/>
          <p:cNvSpPr>
            <a:spLocks noChangeArrowheads="1"/>
          </p:cNvSpPr>
          <p:nvPr/>
        </p:nvSpPr>
        <p:spPr bwMode="auto">
          <a:xfrm>
            <a:off x="1196975" y="4403725"/>
            <a:ext cx="1385888" cy="8207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状态图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5" name="Rectangle 39"/>
          <p:cNvSpPr>
            <a:spLocks noChangeArrowheads="1"/>
          </p:cNvSpPr>
          <p:nvPr/>
        </p:nvSpPr>
        <p:spPr bwMode="auto">
          <a:xfrm>
            <a:off x="1220788" y="2060575"/>
            <a:ext cx="1312863" cy="842963"/>
          </a:xfrm>
          <a:prstGeom prst="rect">
            <a:avLst/>
          </a:prstGeom>
          <a:solidFill>
            <a:srgbClr val="008000"/>
          </a:solidFill>
          <a:ln w="9525">
            <a:solidFill>
              <a:srgbClr val="FFFF00"/>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序列</a:t>
            </a:r>
            <a:r>
              <a:rPr kumimoji="1" lang="zh-CN" altLang="en-US" sz="2600" b="1" i="0" u="none" strike="noStrike" kern="1200" cap="none" spc="0" normalizeH="0" baseline="0" noProof="0" dirty="0" smtClean="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2" name="Rectangle 43"/>
          <p:cNvSpPr>
            <a:spLocks noChangeArrowheads="1"/>
          </p:cNvSpPr>
          <p:nvPr/>
        </p:nvSpPr>
        <p:spPr bwMode="auto">
          <a:xfrm>
            <a:off x="6281738" y="1677988"/>
            <a:ext cx="1303338" cy="765175"/>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类图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8147" name="Line 44"/>
          <p:cNvSpPr/>
          <p:nvPr/>
        </p:nvSpPr>
        <p:spPr>
          <a:xfrm flipH="1">
            <a:off x="2552700" y="4560888"/>
            <a:ext cx="1358900" cy="1166812"/>
          </a:xfrm>
          <a:prstGeom prst="line">
            <a:avLst/>
          </a:prstGeom>
          <a:ln w="12700" cap="flat" cmpd="sng">
            <a:solidFill>
              <a:schemeClr val="tx1"/>
            </a:solidFill>
            <a:prstDash val="solid"/>
            <a:headEnd type="none" w="sm" len="sm"/>
            <a:tailEnd type="none" w="lg" len="lg"/>
          </a:ln>
        </p:spPr>
      </p:sp>
      <p:sp>
        <p:nvSpPr>
          <p:cNvPr id="29" name="Rectangle 48"/>
          <p:cNvSpPr>
            <a:spLocks noChangeArrowheads="1"/>
          </p:cNvSpPr>
          <p:nvPr/>
        </p:nvSpPr>
        <p:spPr bwMode="auto">
          <a:xfrm>
            <a:off x="1227138" y="5456238"/>
            <a:ext cx="1325563" cy="8461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活动图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8149" name="AutoShape 49"/>
          <p:cNvSpPr/>
          <p:nvPr/>
        </p:nvSpPr>
        <p:spPr>
          <a:xfrm>
            <a:off x="3787775" y="3433763"/>
            <a:ext cx="1281113" cy="1195387"/>
          </a:xfrm>
          <a:prstGeom prst="can">
            <a:avLst>
              <a:gd name="adj" fmla="val 39255"/>
            </a:avLst>
          </a:prstGeom>
          <a:solidFill>
            <a:srgbClr val="FF6600"/>
          </a:solidFill>
          <a:ln w="9525" cap="flat" cmpd="sng">
            <a:solidFill>
              <a:srgbClr val="FFFF00"/>
            </a:solidFill>
            <a:prstDash val="solid"/>
            <a:headEnd type="none" w="med" len="med"/>
            <a:tailEnd type="none" w="med" len="med"/>
          </a:ln>
        </p:spPr>
        <p:txBody>
          <a:bodyPr wrap="none" lIns="107950" tIns="53975" rIns="107950" bIns="53975"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48150" name="Rectangle 50"/>
          <p:cNvSpPr/>
          <p:nvPr/>
        </p:nvSpPr>
        <p:spPr>
          <a:xfrm>
            <a:off x="4013200" y="3971925"/>
            <a:ext cx="879475" cy="465138"/>
          </a:xfrm>
          <a:prstGeom prst="rect">
            <a:avLst/>
          </a:prstGeom>
          <a:noFill/>
          <a:ln w="9525">
            <a:noFill/>
          </a:ln>
        </p:spPr>
        <p:txBody>
          <a:bodyPr wrap="none" lIns="107950" tIns="53975" rIns="107950" bIns="53975">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90000"/>
              </a:lnSpc>
              <a:spcBef>
                <a:spcPct val="0"/>
              </a:spcBef>
              <a:buClr>
                <a:srgbClr val="F6BF69"/>
              </a:buClr>
              <a:buSzTx/>
              <a:buFont typeface="Monotype Sorts" pitchFamily="2" charset="2"/>
              <a:buNone/>
            </a:pPr>
            <a:r>
              <a:rPr lang="zh-CN" altLang="en-US" b="1" dirty="0">
                <a:solidFill>
                  <a:srgbClr val="CCFFCC"/>
                </a:solidFill>
                <a:latin typeface="Comic Sans MS" panose="030F0702030302020204" pitchFamily="66" charset="0"/>
                <a:ea typeface="仿宋_GB2312" pitchFamily="49" charset="-122"/>
              </a:rPr>
              <a:t>模型</a:t>
            </a:r>
            <a:endParaRPr lang="zh-CN" altLang="en-US" b="1" dirty="0">
              <a:solidFill>
                <a:srgbClr val="CCFFCC"/>
              </a:solidFill>
              <a:latin typeface="Comic Sans MS" panose="030F0702030302020204" pitchFamily="66" charset="0"/>
              <a:ea typeface="仿宋_GB2312" pitchFamily="49" charset="-122"/>
            </a:endParaRPr>
          </a:p>
        </p:txBody>
      </p:sp>
      <p:sp>
        <p:nvSpPr>
          <p:cNvPr id="3" name="矩形 2"/>
          <p:cNvSpPr/>
          <p:nvPr/>
        </p:nvSpPr>
        <p:spPr>
          <a:xfrm>
            <a:off x="527050" y="1792288"/>
            <a:ext cx="2517775" cy="46545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 name="TextBox 4"/>
          <p:cNvSpPr txBox="1"/>
          <p:nvPr/>
        </p:nvSpPr>
        <p:spPr>
          <a:xfrm>
            <a:off x="527050" y="2154238"/>
            <a:ext cx="506413" cy="2062162"/>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动态行为</a:t>
            </a:r>
            <a:endParaRPr lang="zh-CN" altLang="en-US" sz="3200" b="1" dirty="0">
              <a:latin typeface="黑体" panose="02010609060101010101" pitchFamily="49" charset="-122"/>
              <a:ea typeface="黑体" panose="02010609060101010101" pitchFamily="49" charset="-122"/>
            </a:endParaRPr>
          </a:p>
        </p:txBody>
      </p:sp>
      <p:sp>
        <p:nvSpPr>
          <p:cNvPr id="56" name="矩形 55"/>
          <p:cNvSpPr/>
          <p:nvPr/>
        </p:nvSpPr>
        <p:spPr>
          <a:xfrm>
            <a:off x="3159125" y="974725"/>
            <a:ext cx="2517775" cy="14684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7" name="TextBox 56"/>
          <p:cNvSpPr txBox="1"/>
          <p:nvPr/>
        </p:nvSpPr>
        <p:spPr>
          <a:xfrm>
            <a:off x="3190875" y="981075"/>
            <a:ext cx="1744663" cy="585788"/>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功能</a:t>
            </a:r>
            <a:endParaRPr lang="zh-CN" altLang="en-US" sz="3200" b="1" dirty="0">
              <a:latin typeface="黑体" panose="02010609060101010101" pitchFamily="49" charset="-122"/>
              <a:ea typeface="黑体" panose="02010609060101010101" pitchFamily="49" charset="-122"/>
            </a:endParaRPr>
          </a:p>
        </p:txBody>
      </p:sp>
      <p:sp>
        <p:nvSpPr>
          <p:cNvPr id="58" name="矩形 57"/>
          <p:cNvSpPr/>
          <p:nvPr/>
        </p:nvSpPr>
        <p:spPr>
          <a:xfrm>
            <a:off x="6072188" y="1381125"/>
            <a:ext cx="2517775" cy="29051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9" name="TextBox 58"/>
          <p:cNvSpPr txBox="1"/>
          <p:nvPr/>
        </p:nvSpPr>
        <p:spPr>
          <a:xfrm>
            <a:off x="7861300" y="1801813"/>
            <a:ext cx="730250" cy="2062162"/>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静态结构</a:t>
            </a:r>
            <a:endParaRPr lang="zh-CN" altLang="en-US" sz="3200" b="1" dirty="0">
              <a:latin typeface="黑体" panose="02010609060101010101" pitchFamily="49" charset="-122"/>
              <a:ea typeface="黑体" panose="02010609060101010101" pitchFamily="49" charset="-122"/>
            </a:endParaRPr>
          </a:p>
        </p:txBody>
      </p:sp>
      <p:sp>
        <p:nvSpPr>
          <p:cNvPr id="60" name="矩形 59"/>
          <p:cNvSpPr/>
          <p:nvPr/>
        </p:nvSpPr>
        <p:spPr>
          <a:xfrm>
            <a:off x="3438525" y="4994275"/>
            <a:ext cx="4937125" cy="145256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1" name="TextBox 60"/>
          <p:cNvSpPr txBox="1"/>
          <p:nvPr/>
        </p:nvSpPr>
        <p:spPr>
          <a:xfrm>
            <a:off x="7194550" y="5203825"/>
            <a:ext cx="1181100" cy="1077913"/>
          </a:xfrm>
          <a:prstGeom prst="rect">
            <a:avLst/>
          </a:prstGeom>
          <a:noFill/>
          <a:ln w="9525">
            <a:noFill/>
          </a:ln>
        </p:spPr>
        <p:txBody>
          <a:bodyPr>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物理架构</a:t>
            </a:r>
            <a:endParaRPr lang="zh-CN" altLang="en-US" sz="3200" b="1" dirty="0">
              <a:latin typeface="黑体" panose="02010609060101010101" pitchFamily="49" charset="-122"/>
              <a:ea typeface="黑体" panose="02010609060101010101" pitchFamily="49" charset="-122"/>
            </a:endParaRPr>
          </a:p>
        </p:txBody>
      </p:sp>
      <p:sp>
        <p:nvSpPr>
          <p:cNvPr id="2" name="矩形 1"/>
          <p:cNvSpPr/>
          <p:nvPr/>
        </p:nvSpPr>
        <p:spPr>
          <a:xfrm>
            <a:off x="382588" y="1485900"/>
            <a:ext cx="8569325" cy="1504950"/>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 calcmode="lin" valueType="num">
                                      <p:cBhvr additive="base">
                                        <p:cTn id="18" dur="500" fill="hold"/>
                                        <p:tgtEl>
                                          <p:spTgt spid="56"/>
                                        </p:tgtEl>
                                        <p:attrNameLst>
                                          <p:attrName>ppt_x</p:attrName>
                                        </p:attrNameLst>
                                      </p:cBhvr>
                                      <p:tavLst>
                                        <p:tav tm="0">
                                          <p:val>
                                            <p:strVal val="#ppt_x"/>
                                          </p:val>
                                        </p:tav>
                                        <p:tav tm="100000">
                                          <p:val>
                                            <p:strVal val="#ppt_x"/>
                                          </p:val>
                                        </p:tav>
                                      </p:tavLst>
                                    </p:anim>
                                    <p:anim calcmode="lin" valueType="num">
                                      <p:cBhvr additive="base">
                                        <p:cTn id="19" dur="500" fill="hold"/>
                                        <p:tgtEl>
                                          <p:spTgt spid="5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anim calcmode="lin" valueType="num">
                                      <p:cBhvr additive="base">
                                        <p:cTn id="29" dur="500" fill="hold"/>
                                        <p:tgtEl>
                                          <p:spTgt spid="58"/>
                                        </p:tgtEl>
                                        <p:attrNameLst>
                                          <p:attrName>ppt_x</p:attrName>
                                        </p:attrNameLst>
                                      </p:cBhvr>
                                      <p:tavLst>
                                        <p:tav tm="0">
                                          <p:val>
                                            <p:strVal val="#ppt_x"/>
                                          </p:val>
                                        </p:tav>
                                        <p:tav tm="100000">
                                          <p:val>
                                            <p:strVal val="#ppt_x"/>
                                          </p:val>
                                        </p:tav>
                                      </p:tavLst>
                                    </p:anim>
                                    <p:anim calcmode="lin" valueType="num">
                                      <p:cBhvr additive="base">
                                        <p:cTn id="30" dur="500" fill="hold"/>
                                        <p:tgtEl>
                                          <p:spTgt spid="5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ppt_x"/>
                                          </p:val>
                                        </p:tav>
                                        <p:tav tm="100000">
                                          <p:val>
                                            <p:strVal val="#ppt_x"/>
                                          </p:val>
                                        </p:tav>
                                      </p:tavLst>
                                    </p:anim>
                                    <p:anim calcmode="lin" valueType="num">
                                      <p:cBhvr additive="base">
                                        <p:cTn id="3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additive="base">
                                        <p:cTn id="39" dur="500" fill="hold"/>
                                        <p:tgtEl>
                                          <p:spTgt spid="60"/>
                                        </p:tgtEl>
                                        <p:attrNameLst>
                                          <p:attrName>ppt_x</p:attrName>
                                        </p:attrNameLst>
                                      </p:cBhvr>
                                      <p:tavLst>
                                        <p:tav tm="0">
                                          <p:val>
                                            <p:strVal val="#ppt_x"/>
                                          </p:val>
                                        </p:tav>
                                        <p:tav tm="100000">
                                          <p:val>
                                            <p:strVal val="#ppt_x"/>
                                          </p:val>
                                        </p:tav>
                                      </p:tavLst>
                                    </p:anim>
                                    <p:anim calcmode="lin" valueType="num">
                                      <p:cBhvr additive="base">
                                        <p:cTn id="40" dur="500" fill="hold"/>
                                        <p:tgtEl>
                                          <p:spTgt spid="6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additive="base">
                                        <p:cTn id="43" dur="500" fill="hold"/>
                                        <p:tgtEl>
                                          <p:spTgt spid="61"/>
                                        </p:tgtEl>
                                        <p:attrNameLst>
                                          <p:attrName>ppt_x</p:attrName>
                                        </p:attrNameLst>
                                      </p:cBhvr>
                                      <p:tavLst>
                                        <p:tav tm="0">
                                          <p:val>
                                            <p:strVal val="#ppt_x"/>
                                          </p:val>
                                        </p:tav>
                                        <p:tav tm="100000">
                                          <p:val>
                                            <p:strVal val="#ppt_x"/>
                                          </p:val>
                                        </p:tav>
                                      </p:tavLst>
                                    </p:anim>
                                    <p:anim calcmode="lin" valueType="num">
                                      <p:cBhvr additive="base">
                                        <p:cTn id="4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ppt_x"/>
                                          </p:val>
                                        </p:tav>
                                        <p:tav tm="100000">
                                          <p:val>
                                            <p:strVal val="#ppt_x"/>
                                          </p:val>
                                        </p:tav>
                                      </p:tavLst>
                                    </p:anim>
                                    <p:anim calcmode="lin" valueType="num">
                                      <p:cBhvr additive="base">
                                        <p:cTn id="5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56" grpId="0" animBg="1"/>
      <p:bldP spid="57" grpId="0"/>
      <p:bldP spid="58" grpId="0" animBg="1"/>
      <p:bldP spid="59" grpId="0"/>
      <p:bldP spid="60" grpId="0" animBg="1"/>
      <p:bldP spid="61" grpId="0"/>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5"/>
          <p:cNvSpPr txBox="1">
            <a:spLocks noGrp="1"/>
          </p:cNvSpPr>
          <p:nvPr>
            <p:ph type="sldNum" sz="quarter" idx="4"/>
          </p:nvPr>
        </p:nvSpPr>
        <p:spPr>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kern="1200" dirty="0">
                <a:solidFill>
                  <a:srgbClr val="045C75"/>
                </a:solidFill>
                <a:latin typeface="黑体" panose="02010609060101010101" pitchFamily="49" charset="-122"/>
                <a:ea typeface="黑体" panose="02010609060101010101" pitchFamily="49" charset="-122"/>
                <a:cs typeface="+mn-cs"/>
              </a:rPr>
            </a:fld>
            <a:endParaRPr lang="en-US" altLang="zh-CN" sz="1200" b="1" kern="1200" dirty="0">
              <a:solidFill>
                <a:srgbClr val="045C75"/>
              </a:solidFill>
              <a:latin typeface="黑体" panose="02010609060101010101" pitchFamily="49" charset="-122"/>
              <a:ea typeface="黑体" panose="02010609060101010101" pitchFamily="49" charset="-122"/>
              <a:cs typeface="+mn-cs"/>
            </a:endParaRPr>
          </a:p>
        </p:txBody>
      </p:sp>
      <p:sp>
        <p:nvSpPr>
          <p:cNvPr id="49155" name="Text Box 4"/>
          <p:cNvSpPr/>
          <p:nvPr>
            <p:ph type="title"/>
          </p:nvPr>
        </p:nvSpPr>
        <p:spPr>
          <a:xfrm>
            <a:off x="311150" y="398463"/>
            <a:ext cx="9361488" cy="790575"/>
          </a:xfrm>
        </p:spPr>
        <p:txBody>
          <a:bodyPr vert="horz" wrap="square" lIns="0" tIns="45605" rIns="0" bIns="0" anchor="b" anchorCtr="0"/>
          <a:p>
            <a:pPr>
              <a:lnSpc>
                <a:spcPts val="4000"/>
              </a:lnSpc>
            </a:pP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用例图</a:t>
            </a:r>
            <a:endParaRPr lang="zh-CN" altLang="en-US" b="1" dirty="0">
              <a:latin typeface="微软雅黑" panose="020B0503020204020204" pitchFamily="34" charset="-122"/>
              <a:ea typeface="微软雅黑" panose="020B0503020204020204" pitchFamily="34" charset="-122"/>
            </a:endParaRPr>
          </a:p>
        </p:txBody>
      </p:sp>
      <p:sp>
        <p:nvSpPr>
          <p:cNvPr id="49156" name="Rectangle 3"/>
          <p:cNvSpPr>
            <a:spLocks noGrp="1"/>
          </p:cNvSpPr>
          <p:nvPr>
            <p:ph type="body" sz="half" idx="1"/>
          </p:nvPr>
        </p:nvSpPr>
        <p:spPr>
          <a:xfrm>
            <a:off x="455613" y="1357313"/>
            <a:ext cx="8280400" cy="3001962"/>
          </a:xfrm>
        </p:spPr>
        <p:txBody>
          <a:bodyPr vert="horz" wrap="square" lIns="91212" tIns="45605" rIns="91212" bIns="45605" anchor="t" anchorCtr="0"/>
          <a:p>
            <a:pPr>
              <a:buClr>
                <a:srgbClr val="0BD0D9"/>
              </a:buClr>
              <a:buSzPct val="95000"/>
              <a:buFont typeface="Wingdings" panose="05000000000000000000" pitchFamily="2" charset="2"/>
              <a:buChar char="p"/>
            </a:pPr>
            <a:r>
              <a:rPr lang="zh-CN" altLang="en-US" sz="2400" b="1" dirty="0"/>
              <a:t>说明和定义软件系统的功能需求</a:t>
            </a:r>
            <a:endParaRPr lang="en-US" altLang="zh-CN" sz="2400" b="1" dirty="0"/>
          </a:p>
          <a:p>
            <a:pPr>
              <a:buClr>
                <a:srgbClr val="0BD0D9"/>
              </a:buClr>
              <a:buSzPct val="95000"/>
              <a:buFont typeface="Wingdings" panose="05000000000000000000" pitchFamily="2" charset="2"/>
              <a:buChar char="p"/>
            </a:pPr>
            <a:r>
              <a:rPr lang="zh-CN" altLang="en-US" sz="2400" b="1" dirty="0"/>
              <a:t>从系统外部观看系统功能，并不描述系统内部对功能的具体实现</a:t>
            </a:r>
            <a:endParaRPr lang="zh-CN" altLang="en-US" sz="2400" b="1" dirty="0"/>
          </a:p>
          <a:p>
            <a:pPr marL="273050" lvl="1" indent="-273050">
              <a:buClr>
                <a:srgbClr val="0BD0D9"/>
              </a:buClr>
              <a:buSzPct val="95000"/>
              <a:buFont typeface="Wingdings" panose="05000000000000000000" pitchFamily="2" charset="2"/>
              <a:buChar char="p"/>
            </a:pPr>
            <a:r>
              <a:rPr lang="zh-CN" altLang="en-US" b="1" dirty="0"/>
              <a:t>展现一组用例、参与者及其它们之间的关系</a:t>
            </a:r>
            <a:endParaRPr lang="zh-CN" altLang="en-US" b="1" dirty="0"/>
          </a:p>
          <a:p>
            <a:pPr>
              <a:buClr>
                <a:srgbClr val="0BD0D9"/>
              </a:buClr>
              <a:buSzPct val="95000"/>
              <a:buFont typeface="Wingdings" panose="05000000000000000000" pitchFamily="2" charset="2"/>
              <a:buChar char="p"/>
            </a:pPr>
            <a:r>
              <a:rPr lang="zh-CN" altLang="en-US" sz="2400" b="1" dirty="0"/>
              <a:t>表示符号</a:t>
            </a:r>
            <a:endParaRPr lang="zh-CN" altLang="en-US" sz="2400" b="1" dirty="0"/>
          </a:p>
        </p:txBody>
      </p:sp>
      <p:pic>
        <p:nvPicPr>
          <p:cNvPr id="49157" name="Picture 4"/>
          <p:cNvPicPr>
            <a:picLocks noChangeAspect="1"/>
          </p:cNvPicPr>
          <p:nvPr/>
        </p:nvPicPr>
        <p:blipFill>
          <a:blip r:embed="rId1"/>
          <a:stretch>
            <a:fillRect/>
          </a:stretch>
        </p:blipFill>
        <p:spPr>
          <a:xfrm>
            <a:off x="1606550" y="3422650"/>
            <a:ext cx="5059363" cy="287972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50179" name="Rectangle 3"/>
          <p:cNvSpPr>
            <a:spLocks noGrp="1"/>
          </p:cNvSpPr>
          <p:nvPr>
            <p:ph idx="1"/>
          </p:nvPr>
        </p:nvSpPr>
        <p:spPr>
          <a:xfrm>
            <a:off x="238125" y="1622425"/>
            <a:ext cx="8642350" cy="5040313"/>
          </a:xfrm>
        </p:spPr>
        <p:txBody>
          <a:bodyPr vert="horz" wrap="square" lIns="91212" tIns="45605" rIns="91212" bIns="45605" anchor="t" anchorCtr="0"/>
          <a:p>
            <a:pPr marL="273050" lvl="1" indent="-273050">
              <a:lnSpc>
                <a:spcPct val="90000"/>
              </a:lnSpc>
              <a:buClr>
                <a:srgbClr val="0BD0D9"/>
              </a:buClr>
              <a:buSzPct val="95000"/>
              <a:buFont typeface="Wingdings" panose="05000000000000000000" pitchFamily="2" charset="2"/>
              <a:buChar char="p"/>
            </a:pPr>
            <a:r>
              <a:rPr lang="zh-CN" altLang="en-US" b="1" dirty="0"/>
              <a:t>描述系统的静态结构</a:t>
            </a:r>
            <a:endParaRPr lang="en-US" altLang="zh-CN" b="1" dirty="0"/>
          </a:p>
          <a:p>
            <a:pPr marL="273050" lvl="1" indent="-273050">
              <a:lnSpc>
                <a:spcPct val="90000"/>
              </a:lnSpc>
              <a:buClr>
                <a:srgbClr val="0BD0D9"/>
              </a:buClr>
              <a:buSzPct val="95000"/>
              <a:buFont typeface="Wingdings" panose="05000000000000000000" pitchFamily="2" charset="2"/>
              <a:buChar char="p"/>
            </a:pPr>
            <a:r>
              <a:rPr lang="zh-CN" altLang="en-US" b="1" dirty="0"/>
              <a:t>展示系统中的类、类的属性和操作、以及类与类之间的关系</a:t>
            </a:r>
            <a:endParaRPr lang="zh-CN" altLang="en-US" b="1" dirty="0"/>
          </a:p>
        </p:txBody>
      </p:sp>
      <p:sp>
        <p:nvSpPr>
          <p:cNvPr id="50180" name="Rectangle 5"/>
          <p:cNvSpPr>
            <a:spLocks noGrp="1"/>
          </p:cNvSpPr>
          <p:nvPr>
            <p:ph type="title"/>
          </p:nvPr>
        </p:nvSpPr>
        <p:spPr>
          <a:xfrm>
            <a:off x="455613" y="327025"/>
            <a:ext cx="8207375" cy="1139825"/>
          </a:xfrm>
        </p:spPr>
        <p:txBody>
          <a:bodyPr vert="horz" wrap="square" lIns="0" tIns="45605" rIns="0" bIns="0" anchor="b" anchorCtr="0"/>
          <a:p>
            <a:r>
              <a:rPr lang="en-US" altLang="zh-CN" b="1" dirty="0">
                <a:latin typeface="微软雅黑" panose="020B0503020204020204" pitchFamily="34" charset="-122"/>
                <a:ea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rPr>
              <a:t>类图</a:t>
            </a:r>
            <a:endParaRPr lang="zh-CN" altLang="en-US" b="1" dirty="0">
              <a:latin typeface="微软雅黑" panose="020B0503020204020204" pitchFamily="34" charset="-122"/>
              <a:ea typeface="微软雅黑" panose="020B0503020204020204" pitchFamily="34" charset="-122"/>
            </a:endParaRPr>
          </a:p>
        </p:txBody>
      </p:sp>
      <p:grpSp>
        <p:nvGrpSpPr>
          <p:cNvPr id="50181" name="Group 90"/>
          <p:cNvGrpSpPr/>
          <p:nvPr/>
        </p:nvGrpSpPr>
        <p:grpSpPr>
          <a:xfrm>
            <a:off x="825500" y="2697163"/>
            <a:ext cx="7694613" cy="3678237"/>
            <a:chOff x="79" y="839"/>
            <a:chExt cx="5542" cy="3070"/>
          </a:xfrm>
        </p:grpSpPr>
        <p:grpSp>
          <p:nvGrpSpPr>
            <p:cNvPr id="50182" name="Group 89"/>
            <p:cNvGrpSpPr/>
            <p:nvPr/>
          </p:nvGrpSpPr>
          <p:grpSpPr>
            <a:xfrm>
              <a:off x="79" y="2203"/>
              <a:ext cx="1173" cy="540"/>
              <a:chOff x="79" y="2203"/>
              <a:chExt cx="1173" cy="540"/>
            </a:xfrm>
          </p:grpSpPr>
          <p:sp>
            <p:nvSpPr>
              <p:cNvPr id="50254" name="Rectangle 5"/>
              <p:cNvSpPr/>
              <p:nvPr/>
            </p:nvSpPr>
            <p:spPr>
              <a:xfrm>
                <a:off x="129" y="2238"/>
                <a:ext cx="830"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RegistrationUser</a:t>
                </a:r>
                <a:endParaRPr lang="en-US" altLang="zh-CN" sz="1200" b="1" dirty="0">
                  <a:latin typeface="Times New Roman" panose="02020603050405020304" pitchFamily="18" charset="0"/>
                  <a:ea typeface="黑体" panose="02010609060101010101" pitchFamily="49" charset="-122"/>
                </a:endParaRPr>
              </a:p>
            </p:txBody>
          </p:sp>
          <p:sp>
            <p:nvSpPr>
              <p:cNvPr id="50255" name="Line 6"/>
              <p:cNvSpPr/>
              <p:nvPr/>
            </p:nvSpPr>
            <p:spPr>
              <a:xfrm>
                <a:off x="80" y="2461"/>
                <a:ext cx="1172" cy="1"/>
              </a:xfrm>
              <a:prstGeom prst="line">
                <a:avLst/>
              </a:prstGeom>
              <a:ln w="12700" cap="flat" cmpd="sng">
                <a:solidFill>
                  <a:schemeClr val="tx1"/>
                </a:solidFill>
                <a:prstDash val="solid"/>
                <a:headEnd type="none" w="med" len="med"/>
                <a:tailEnd type="none" w="med" len="med"/>
              </a:ln>
            </p:spPr>
          </p:sp>
          <p:sp>
            <p:nvSpPr>
              <p:cNvPr id="50256" name="Rectangle 7"/>
              <p:cNvSpPr/>
              <p:nvPr/>
            </p:nvSpPr>
            <p:spPr>
              <a:xfrm>
                <a:off x="79" y="2203"/>
                <a:ext cx="1167" cy="5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57" name="Line 8"/>
              <p:cNvSpPr/>
              <p:nvPr/>
            </p:nvSpPr>
            <p:spPr>
              <a:xfrm>
                <a:off x="80" y="2557"/>
                <a:ext cx="1163" cy="1"/>
              </a:xfrm>
              <a:prstGeom prst="line">
                <a:avLst/>
              </a:prstGeom>
              <a:ln w="12700" cap="flat" cmpd="sng">
                <a:solidFill>
                  <a:schemeClr val="tx1"/>
                </a:solidFill>
                <a:prstDash val="solid"/>
                <a:headEnd type="none" w="med" len="med"/>
                <a:tailEnd type="none" w="med" len="med"/>
              </a:ln>
            </p:spPr>
          </p:sp>
        </p:grpSp>
        <p:sp>
          <p:nvSpPr>
            <p:cNvPr id="50183" name="Rectangle 9"/>
            <p:cNvSpPr/>
            <p:nvPr/>
          </p:nvSpPr>
          <p:spPr>
            <a:xfrm>
              <a:off x="1444" y="1876"/>
              <a:ext cx="104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RegistrationManager</a:t>
              </a:r>
              <a:endParaRPr lang="en-US" altLang="zh-CN" sz="1200" b="1" dirty="0">
                <a:latin typeface="Times New Roman" panose="02020603050405020304" pitchFamily="18" charset="0"/>
                <a:ea typeface="黑体" panose="02010609060101010101" pitchFamily="49" charset="-122"/>
              </a:endParaRPr>
            </a:p>
          </p:txBody>
        </p:sp>
        <p:sp>
          <p:nvSpPr>
            <p:cNvPr id="50184" name="Rectangle 10"/>
            <p:cNvSpPr/>
            <p:nvPr/>
          </p:nvSpPr>
          <p:spPr>
            <a:xfrm>
              <a:off x="1378" y="1847"/>
              <a:ext cx="2130" cy="629"/>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185" name="Line 11"/>
            <p:cNvSpPr/>
            <p:nvPr/>
          </p:nvSpPr>
          <p:spPr>
            <a:xfrm>
              <a:off x="1382" y="2104"/>
              <a:ext cx="2123" cy="1"/>
            </a:xfrm>
            <a:prstGeom prst="line">
              <a:avLst/>
            </a:prstGeom>
            <a:ln w="12700" cap="flat" cmpd="sng">
              <a:solidFill>
                <a:schemeClr val="tx1"/>
              </a:solidFill>
              <a:prstDash val="solid"/>
              <a:headEnd type="none" w="med" len="med"/>
              <a:tailEnd type="none" w="med" len="med"/>
            </a:ln>
          </p:spPr>
        </p:sp>
        <p:sp>
          <p:nvSpPr>
            <p:cNvPr id="50186" name="Line 12"/>
            <p:cNvSpPr/>
            <p:nvPr/>
          </p:nvSpPr>
          <p:spPr>
            <a:xfrm flipV="1">
              <a:off x="1378" y="2241"/>
              <a:ext cx="2126" cy="0"/>
            </a:xfrm>
            <a:prstGeom prst="line">
              <a:avLst/>
            </a:prstGeom>
            <a:ln w="12700" cap="flat" cmpd="sng">
              <a:solidFill>
                <a:schemeClr val="tx1"/>
              </a:solidFill>
              <a:prstDash val="solid"/>
              <a:headEnd type="none" w="med" len="med"/>
              <a:tailEnd type="none" w="med" len="med"/>
            </a:ln>
          </p:spPr>
        </p:sp>
        <p:sp>
          <p:nvSpPr>
            <p:cNvPr id="50187" name="Rectangle 13"/>
            <p:cNvSpPr/>
            <p:nvPr/>
          </p:nvSpPr>
          <p:spPr>
            <a:xfrm>
              <a:off x="1422" y="2267"/>
              <a:ext cx="1624"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addStudent(Course, StudentInfo)</a:t>
              </a:r>
              <a:endParaRPr lang="en-US" altLang="zh-CN" sz="1200" b="1" dirty="0">
                <a:latin typeface="Times New Roman" panose="02020603050405020304" pitchFamily="18" charset="0"/>
                <a:ea typeface="黑体" panose="02010609060101010101" pitchFamily="49" charset="-122"/>
              </a:endParaRPr>
            </a:p>
          </p:txBody>
        </p:sp>
        <p:grpSp>
          <p:nvGrpSpPr>
            <p:cNvPr id="50188" name="Group 86"/>
            <p:cNvGrpSpPr/>
            <p:nvPr/>
          </p:nvGrpSpPr>
          <p:grpSpPr>
            <a:xfrm>
              <a:off x="3989" y="1632"/>
              <a:ext cx="1632" cy="910"/>
              <a:chOff x="3989" y="1632"/>
              <a:chExt cx="1632" cy="910"/>
            </a:xfrm>
          </p:grpSpPr>
          <p:sp>
            <p:nvSpPr>
              <p:cNvPr id="50246" name="Rectangle 15"/>
              <p:cNvSpPr/>
              <p:nvPr/>
            </p:nvSpPr>
            <p:spPr>
              <a:xfrm>
                <a:off x="4138" y="1651"/>
                <a:ext cx="34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Course</a:t>
                </a:r>
                <a:endParaRPr lang="en-US" altLang="zh-CN" sz="1200" b="1" dirty="0">
                  <a:latin typeface="Times New Roman" panose="02020603050405020304" pitchFamily="18" charset="0"/>
                  <a:ea typeface="黑体" panose="02010609060101010101" pitchFamily="49" charset="-122"/>
                </a:endParaRPr>
              </a:p>
            </p:txBody>
          </p:sp>
          <p:sp>
            <p:nvSpPr>
              <p:cNvPr id="50247" name="Rectangle 16"/>
              <p:cNvSpPr/>
              <p:nvPr/>
            </p:nvSpPr>
            <p:spPr>
              <a:xfrm>
                <a:off x="3989" y="1632"/>
                <a:ext cx="1628" cy="91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48" name="Line 17"/>
              <p:cNvSpPr/>
              <p:nvPr/>
            </p:nvSpPr>
            <p:spPr>
              <a:xfrm>
                <a:off x="3996" y="1857"/>
                <a:ext cx="1620" cy="1"/>
              </a:xfrm>
              <a:prstGeom prst="line">
                <a:avLst/>
              </a:prstGeom>
              <a:ln w="12700" cap="flat" cmpd="sng">
                <a:solidFill>
                  <a:schemeClr val="tx1"/>
                </a:solidFill>
                <a:prstDash val="solid"/>
                <a:headEnd type="none" w="med" len="med"/>
                <a:tailEnd type="none" w="med" len="med"/>
              </a:ln>
            </p:spPr>
          </p:sp>
          <p:sp>
            <p:nvSpPr>
              <p:cNvPr id="50249" name="Line 18"/>
              <p:cNvSpPr/>
              <p:nvPr/>
            </p:nvSpPr>
            <p:spPr>
              <a:xfrm>
                <a:off x="3992" y="2194"/>
                <a:ext cx="1629" cy="1"/>
              </a:xfrm>
              <a:prstGeom prst="line">
                <a:avLst/>
              </a:prstGeom>
              <a:ln w="12700" cap="flat" cmpd="sng">
                <a:solidFill>
                  <a:schemeClr val="tx1"/>
                </a:solidFill>
                <a:prstDash val="solid"/>
                <a:headEnd type="none" w="med" len="med"/>
                <a:tailEnd type="none" w="med" len="med"/>
              </a:ln>
            </p:spPr>
          </p:sp>
          <p:sp>
            <p:nvSpPr>
              <p:cNvPr id="50250" name="Rectangle 19"/>
              <p:cNvSpPr/>
              <p:nvPr/>
            </p:nvSpPr>
            <p:spPr>
              <a:xfrm>
                <a:off x="4045" y="1853"/>
                <a:ext cx="26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50251" name="Rectangle 20"/>
              <p:cNvSpPr/>
              <p:nvPr/>
            </p:nvSpPr>
            <p:spPr>
              <a:xfrm>
                <a:off x="4045" y="1981"/>
                <a:ext cx="745"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numberCredits</a:t>
                </a:r>
                <a:endParaRPr lang="en-US" altLang="zh-CN" sz="1200" b="1" dirty="0">
                  <a:latin typeface="Times New Roman" panose="02020603050405020304" pitchFamily="18" charset="0"/>
                  <a:ea typeface="黑体" panose="02010609060101010101" pitchFamily="49" charset="-122"/>
                </a:endParaRPr>
              </a:p>
            </p:txBody>
          </p:sp>
          <p:sp>
            <p:nvSpPr>
              <p:cNvPr id="50252" name="Rectangle 21"/>
              <p:cNvSpPr/>
              <p:nvPr/>
            </p:nvSpPr>
            <p:spPr>
              <a:xfrm>
                <a:off x="4045" y="2197"/>
                <a:ext cx="310"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open()</a:t>
                </a:r>
                <a:endParaRPr lang="en-US" altLang="zh-CN" sz="1200" b="1" dirty="0">
                  <a:latin typeface="Times New Roman" panose="02020603050405020304" pitchFamily="18" charset="0"/>
                  <a:ea typeface="黑体" panose="02010609060101010101" pitchFamily="49" charset="-122"/>
                </a:endParaRPr>
              </a:p>
            </p:txBody>
          </p:sp>
          <p:sp>
            <p:nvSpPr>
              <p:cNvPr id="50253" name="Rectangle 22"/>
              <p:cNvSpPr/>
              <p:nvPr/>
            </p:nvSpPr>
            <p:spPr>
              <a:xfrm>
                <a:off x="4037" y="2341"/>
                <a:ext cx="1219"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addStudent(StudentInfo)</a:t>
                </a:r>
                <a:endParaRPr lang="en-US" altLang="zh-CN" sz="1200" b="1" dirty="0">
                  <a:latin typeface="Times New Roman" panose="02020603050405020304" pitchFamily="18" charset="0"/>
                  <a:ea typeface="黑体" panose="02010609060101010101" pitchFamily="49" charset="-122"/>
                </a:endParaRPr>
              </a:p>
            </p:txBody>
          </p:sp>
        </p:grpSp>
        <p:grpSp>
          <p:nvGrpSpPr>
            <p:cNvPr id="50189" name="Group 85"/>
            <p:cNvGrpSpPr/>
            <p:nvPr/>
          </p:nvGrpSpPr>
          <p:grpSpPr>
            <a:xfrm>
              <a:off x="2150" y="2710"/>
              <a:ext cx="730" cy="652"/>
              <a:chOff x="2150" y="2710"/>
              <a:chExt cx="730" cy="652"/>
            </a:xfrm>
          </p:grpSpPr>
          <p:grpSp>
            <p:nvGrpSpPr>
              <p:cNvPr id="50239" name="Group 84"/>
              <p:cNvGrpSpPr/>
              <p:nvPr/>
            </p:nvGrpSpPr>
            <p:grpSpPr>
              <a:xfrm>
                <a:off x="2150" y="2710"/>
                <a:ext cx="730" cy="652"/>
                <a:chOff x="2150" y="2710"/>
                <a:chExt cx="730" cy="652"/>
              </a:xfrm>
            </p:grpSpPr>
            <p:sp>
              <p:nvSpPr>
                <p:cNvPr id="50242" name="Rectangle 25"/>
                <p:cNvSpPr/>
                <p:nvPr/>
              </p:nvSpPr>
              <p:spPr>
                <a:xfrm>
                  <a:off x="2150" y="2710"/>
                  <a:ext cx="730" cy="652"/>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43" name="Rectangle 26"/>
                <p:cNvSpPr/>
                <p:nvPr/>
              </p:nvSpPr>
              <p:spPr>
                <a:xfrm>
                  <a:off x="2203" y="2722"/>
                  <a:ext cx="379"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Student</a:t>
                  </a:r>
                  <a:endParaRPr lang="en-US" altLang="zh-CN" sz="1200" b="1" dirty="0">
                    <a:latin typeface="Times New Roman" panose="02020603050405020304" pitchFamily="18" charset="0"/>
                    <a:ea typeface="黑体" panose="02010609060101010101" pitchFamily="49" charset="-122"/>
                  </a:endParaRPr>
                </a:p>
              </p:txBody>
            </p:sp>
            <p:sp>
              <p:nvSpPr>
                <p:cNvPr id="50244" name="Line 27"/>
                <p:cNvSpPr/>
                <p:nvPr/>
              </p:nvSpPr>
              <p:spPr>
                <a:xfrm>
                  <a:off x="2151" y="2923"/>
                  <a:ext cx="727" cy="2"/>
                </a:xfrm>
                <a:prstGeom prst="line">
                  <a:avLst/>
                </a:prstGeom>
                <a:ln w="12700" cap="flat" cmpd="sng">
                  <a:solidFill>
                    <a:schemeClr val="tx1"/>
                  </a:solidFill>
                  <a:prstDash val="solid"/>
                  <a:headEnd type="none" w="med" len="med"/>
                  <a:tailEnd type="none" w="med" len="med"/>
                </a:ln>
              </p:spPr>
            </p:sp>
            <p:sp>
              <p:nvSpPr>
                <p:cNvPr id="50245" name="Line 28"/>
                <p:cNvSpPr/>
                <p:nvPr/>
              </p:nvSpPr>
              <p:spPr>
                <a:xfrm>
                  <a:off x="2151" y="3243"/>
                  <a:ext cx="727" cy="1"/>
                </a:xfrm>
                <a:prstGeom prst="line">
                  <a:avLst/>
                </a:prstGeom>
                <a:ln w="12700" cap="flat" cmpd="sng">
                  <a:solidFill>
                    <a:schemeClr val="tx1"/>
                  </a:solidFill>
                  <a:prstDash val="solid"/>
                  <a:headEnd type="none" w="med" len="med"/>
                  <a:tailEnd type="none" w="med" len="med"/>
                </a:ln>
              </p:spPr>
            </p:sp>
          </p:grpSp>
          <p:sp>
            <p:nvSpPr>
              <p:cNvPr id="50240" name="Rectangle 29"/>
              <p:cNvSpPr/>
              <p:nvPr/>
            </p:nvSpPr>
            <p:spPr>
              <a:xfrm>
                <a:off x="2203" y="2907"/>
                <a:ext cx="26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50241" name="Rectangle 30"/>
              <p:cNvSpPr/>
              <p:nvPr/>
            </p:nvSpPr>
            <p:spPr>
              <a:xfrm>
                <a:off x="2203" y="3035"/>
                <a:ext cx="29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major</a:t>
                </a:r>
                <a:endParaRPr lang="en-US" altLang="zh-CN" sz="1200" b="1" dirty="0">
                  <a:latin typeface="Times New Roman" panose="02020603050405020304" pitchFamily="18" charset="0"/>
                  <a:ea typeface="黑体" panose="02010609060101010101" pitchFamily="49" charset="-122"/>
                </a:endParaRPr>
              </a:p>
            </p:txBody>
          </p:sp>
        </p:grpSp>
        <p:grpSp>
          <p:nvGrpSpPr>
            <p:cNvPr id="50190" name="Group 81"/>
            <p:cNvGrpSpPr/>
            <p:nvPr/>
          </p:nvGrpSpPr>
          <p:grpSpPr>
            <a:xfrm>
              <a:off x="3755" y="3083"/>
              <a:ext cx="1671" cy="826"/>
              <a:chOff x="3755" y="3083"/>
              <a:chExt cx="1671" cy="826"/>
            </a:xfrm>
          </p:grpSpPr>
          <p:grpSp>
            <p:nvGrpSpPr>
              <p:cNvPr id="50231" name="Group 80"/>
              <p:cNvGrpSpPr/>
              <p:nvPr/>
            </p:nvGrpSpPr>
            <p:grpSpPr>
              <a:xfrm>
                <a:off x="3755" y="3083"/>
                <a:ext cx="1671" cy="826"/>
                <a:chOff x="3755" y="3083"/>
                <a:chExt cx="1671" cy="826"/>
              </a:xfrm>
            </p:grpSpPr>
            <p:sp>
              <p:nvSpPr>
                <p:cNvPr id="50235" name="Rectangle 33"/>
                <p:cNvSpPr/>
                <p:nvPr/>
              </p:nvSpPr>
              <p:spPr>
                <a:xfrm>
                  <a:off x="3755" y="3083"/>
                  <a:ext cx="1666" cy="826"/>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36" name="Rectangle 34"/>
                <p:cNvSpPr/>
                <p:nvPr/>
              </p:nvSpPr>
              <p:spPr>
                <a:xfrm>
                  <a:off x="3868" y="3104"/>
                  <a:ext cx="76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CourseOffering</a:t>
                  </a:r>
                  <a:endParaRPr lang="en-US" altLang="zh-CN" sz="1200" b="1" dirty="0">
                    <a:latin typeface="Times New Roman" panose="02020603050405020304" pitchFamily="18" charset="0"/>
                    <a:ea typeface="黑体" panose="02010609060101010101" pitchFamily="49" charset="-122"/>
                  </a:endParaRPr>
                </a:p>
              </p:txBody>
            </p:sp>
            <p:sp>
              <p:nvSpPr>
                <p:cNvPr id="50237" name="Line 35"/>
                <p:cNvSpPr/>
                <p:nvPr/>
              </p:nvSpPr>
              <p:spPr>
                <a:xfrm>
                  <a:off x="3757" y="3310"/>
                  <a:ext cx="1669" cy="1"/>
                </a:xfrm>
                <a:prstGeom prst="line">
                  <a:avLst/>
                </a:prstGeom>
                <a:ln w="12700" cap="flat" cmpd="sng">
                  <a:solidFill>
                    <a:schemeClr val="tx1"/>
                  </a:solidFill>
                  <a:prstDash val="solid"/>
                  <a:headEnd type="none" w="med" len="med"/>
                  <a:tailEnd type="none" w="med" len="med"/>
                </a:ln>
              </p:spPr>
            </p:sp>
            <p:sp>
              <p:nvSpPr>
                <p:cNvPr id="50238" name="Line 36"/>
                <p:cNvSpPr/>
                <p:nvPr/>
              </p:nvSpPr>
              <p:spPr>
                <a:xfrm>
                  <a:off x="3766" y="3505"/>
                  <a:ext cx="1659" cy="1"/>
                </a:xfrm>
                <a:prstGeom prst="line">
                  <a:avLst/>
                </a:prstGeom>
                <a:ln w="12700" cap="flat" cmpd="sng">
                  <a:solidFill>
                    <a:schemeClr val="tx1"/>
                  </a:solidFill>
                  <a:prstDash val="solid"/>
                  <a:headEnd type="none" w="med" len="med"/>
                  <a:tailEnd type="none" w="med" len="med"/>
                </a:ln>
              </p:spPr>
            </p:sp>
          </p:grpSp>
          <p:sp>
            <p:nvSpPr>
              <p:cNvPr id="50232" name="Rectangle 37"/>
              <p:cNvSpPr/>
              <p:nvPr/>
            </p:nvSpPr>
            <p:spPr>
              <a:xfrm>
                <a:off x="3834" y="3323"/>
                <a:ext cx="38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location</a:t>
                </a:r>
                <a:endParaRPr lang="en-US" altLang="zh-CN" sz="1200" b="1" dirty="0">
                  <a:latin typeface="Times New Roman" panose="02020603050405020304" pitchFamily="18" charset="0"/>
                  <a:ea typeface="黑体" panose="02010609060101010101" pitchFamily="49" charset="-122"/>
                </a:endParaRPr>
              </a:p>
            </p:txBody>
          </p:sp>
          <p:sp>
            <p:nvSpPr>
              <p:cNvPr id="50233" name="Rectangle 38"/>
              <p:cNvSpPr/>
              <p:nvPr/>
            </p:nvSpPr>
            <p:spPr>
              <a:xfrm>
                <a:off x="3818" y="3523"/>
                <a:ext cx="310"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open()</a:t>
                </a:r>
                <a:endParaRPr lang="en-US" altLang="zh-CN" sz="1200" b="1" dirty="0">
                  <a:latin typeface="Times New Roman" panose="02020603050405020304" pitchFamily="18" charset="0"/>
                  <a:ea typeface="黑体" panose="02010609060101010101" pitchFamily="49" charset="-122"/>
                </a:endParaRPr>
              </a:p>
            </p:txBody>
          </p:sp>
          <p:sp>
            <p:nvSpPr>
              <p:cNvPr id="50234" name="Rectangle 39"/>
              <p:cNvSpPr/>
              <p:nvPr/>
            </p:nvSpPr>
            <p:spPr>
              <a:xfrm>
                <a:off x="3809" y="3683"/>
                <a:ext cx="1219"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addStudent(StudentInfo)</a:t>
                </a:r>
                <a:endParaRPr lang="en-US" altLang="zh-CN" sz="1200" b="1" dirty="0">
                  <a:latin typeface="Times New Roman" panose="02020603050405020304" pitchFamily="18" charset="0"/>
                  <a:ea typeface="黑体" panose="02010609060101010101" pitchFamily="49" charset="-122"/>
                </a:endParaRPr>
              </a:p>
            </p:txBody>
          </p:sp>
        </p:grpSp>
        <p:grpSp>
          <p:nvGrpSpPr>
            <p:cNvPr id="50191" name="Group 83"/>
            <p:cNvGrpSpPr/>
            <p:nvPr/>
          </p:nvGrpSpPr>
          <p:grpSpPr>
            <a:xfrm>
              <a:off x="616" y="3178"/>
              <a:ext cx="928" cy="686"/>
              <a:chOff x="616" y="3178"/>
              <a:chExt cx="928" cy="686"/>
            </a:xfrm>
          </p:grpSpPr>
          <p:grpSp>
            <p:nvGrpSpPr>
              <p:cNvPr id="50224" name="Group 82"/>
              <p:cNvGrpSpPr/>
              <p:nvPr/>
            </p:nvGrpSpPr>
            <p:grpSpPr>
              <a:xfrm>
                <a:off x="616" y="3178"/>
                <a:ext cx="928" cy="686"/>
                <a:chOff x="616" y="3178"/>
                <a:chExt cx="928" cy="686"/>
              </a:xfrm>
            </p:grpSpPr>
            <p:sp>
              <p:nvSpPr>
                <p:cNvPr id="50227" name="Rectangle 42"/>
                <p:cNvSpPr/>
                <p:nvPr/>
              </p:nvSpPr>
              <p:spPr>
                <a:xfrm>
                  <a:off x="616" y="3178"/>
                  <a:ext cx="928" cy="686"/>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28" name="Rectangle 43"/>
                <p:cNvSpPr/>
                <p:nvPr/>
              </p:nvSpPr>
              <p:spPr>
                <a:xfrm>
                  <a:off x="677" y="3192"/>
                  <a:ext cx="46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Professor</a:t>
                  </a:r>
                  <a:endParaRPr lang="en-US" altLang="zh-CN" sz="1200" b="1" dirty="0">
                    <a:latin typeface="Times New Roman" panose="02020603050405020304" pitchFamily="18" charset="0"/>
                    <a:ea typeface="黑体" panose="02010609060101010101" pitchFamily="49" charset="-122"/>
                  </a:endParaRPr>
                </a:p>
              </p:txBody>
            </p:sp>
            <p:sp>
              <p:nvSpPr>
                <p:cNvPr id="50229" name="Line 44"/>
                <p:cNvSpPr/>
                <p:nvPr/>
              </p:nvSpPr>
              <p:spPr>
                <a:xfrm>
                  <a:off x="617" y="3404"/>
                  <a:ext cx="916" cy="1"/>
                </a:xfrm>
                <a:prstGeom prst="line">
                  <a:avLst/>
                </a:prstGeom>
                <a:ln w="12700" cap="flat" cmpd="sng">
                  <a:solidFill>
                    <a:schemeClr val="tx1"/>
                  </a:solidFill>
                  <a:prstDash val="solid"/>
                  <a:headEnd type="none" w="med" len="med"/>
                  <a:tailEnd type="none" w="med" len="med"/>
                </a:ln>
              </p:spPr>
            </p:sp>
            <p:sp>
              <p:nvSpPr>
                <p:cNvPr id="50230" name="Line 45"/>
                <p:cNvSpPr/>
                <p:nvPr/>
              </p:nvSpPr>
              <p:spPr>
                <a:xfrm>
                  <a:off x="617" y="3739"/>
                  <a:ext cx="924" cy="1"/>
                </a:xfrm>
                <a:prstGeom prst="line">
                  <a:avLst/>
                </a:prstGeom>
                <a:ln w="12700" cap="flat" cmpd="sng">
                  <a:solidFill>
                    <a:schemeClr val="tx1"/>
                  </a:solidFill>
                  <a:prstDash val="solid"/>
                  <a:headEnd type="none" w="med" len="med"/>
                  <a:tailEnd type="none" w="med" len="med"/>
                </a:ln>
              </p:spPr>
            </p:sp>
          </p:grpSp>
          <p:sp>
            <p:nvSpPr>
              <p:cNvPr id="50225" name="Rectangle 46"/>
              <p:cNvSpPr/>
              <p:nvPr/>
            </p:nvSpPr>
            <p:spPr>
              <a:xfrm>
                <a:off x="677" y="3383"/>
                <a:ext cx="266"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50226" name="Rectangle 47"/>
              <p:cNvSpPr/>
              <p:nvPr/>
            </p:nvSpPr>
            <p:spPr>
              <a:xfrm>
                <a:off x="677" y="3527"/>
                <a:ext cx="61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tenureStatus</a:t>
                </a:r>
                <a:endParaRPr lang="en-US" altLang="zh-CN" sz="1200" b="1" dirty="0">
                  <a:latin typeface="Times New Roman" panose="02020603050405020304" pitchFamily="18" charset="0"/>
                  <a:ea typeface="黑体" panose="02010609060101010101" pitchFamily="49" charset="-122"/>
                </a:endParaRPr>
              </a:p>
            </p:txBody>
          </p:sp>
        </p:grpSp>
        <p:grpSp>
          <p:nvGrpSpPr>
            <p:cNvPr id="50192" name="Group 87"/>
            <p:cNvGrpSpPr/>
            <p:nvPr/>
          </p:nvGrpSpPr>
          <p:grpSpPr>
            <a:xfrm>
              <a:off x="3764" y="839"/>
              <a:ext cx="1295" cy="494"/>
              <a:chOff x="3764" y="839"/>
              <a:chExt cx="1295" cy="494"/>
            </a:xfrm>
          </p:grpSpPr>
          <p:sp>
            <p:nvSpPr>
              <p:cNvPr id="50219" name="Rectangle 49"/>
              <p:cNvSpPr/>
              <p:nvPr/>
            </p:nvSpPr>
            <p:spPr>
              <a:xfrm>
                <a:off x="3816" y="858"/>
                <a:ext cx="944"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ScheduleAlgorithm</a:t>
                </a:r>
                <a:endParaRPr lang="en-US" altLang="zh-CN" sz="1200" b="1" dirty="0">
                  <a:latin typeface="Times New Roman" panose="02020603050405020304" pitchFamily="18" charset="0"/>
                  <a:ea typeface="黑体" panose="02010609060101010101" pitchFamily="49" charset="-122"/>
                </a:endParaRPr>
              </a:p>
            </p:txBody>
          </p:sp>
          <p:sp>
            <p:nvSpPr>
              <p:cNvPr id="50220" name="Line 50"/>
              <p:cNvSpPr/>
              <p:nvPr/>
            </p:nvSpPr>
            <p:spPr>
              <a:xfrm>
                <a:off x="3765" y="1080"/>
                <a:ext cx="1293" cy="1"/>
              </a:xfrm>
              <a:prstGeom prst="line">
                <a:avLst/>
              </a:prstGeom>
              <a:ln w="12700" cap="flat" cmpd="sng">
                <a:solidFill>
                  <a:schemeClr val="tx1"/>
                </a:solidFill>
                <a:prstDash val="solid"/>
                <a:headEnd type="none" w="med" len="med"/>
                <a:tailEnd type="none" w="med" len="med"/>
              </a:ln>
            </p:spPr>
          </p:sp>
          <p:grpSp>
            <p:nvGrpSpPr>
              <p:cNvPr id="50221" name="Group 51"/>
              <p:cNvGrpSpPr/>
              <p:nvPr/>
            </p:nvGrpSpPr>
            <p:grpSpPr>
              <a:xfrm>
                <a:off x="3764" y="839"/>
                <a:ext cx="1295" cy="494"/>
                <a:chOff x="2195" y="912"/>
                <a:chExt cx="982" cy="494"/>
              </a:xfrm>
            </p:grpSpPr>
            <p:sp>
              <p:nvSpPr>
                <p:cNvPr id="50222" name="Rectangle 52"/>
                <p:cNvSpPr/>
                <p:nvPr/>
              </p:nvSpPr>
              <p:spPr>
                <a:xfrm>
                  <a:off x="2195" y="912"/>
                  <a:ext cx="982" cy="494"/>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23" name="Line 53"/>
                <p:cNvSpPr/>
                <p:nvPr/>
              </p:nvSpPr>
              <p:spPr>
                <a:xfrm>
                  <a:off x="2196" y="1257"/>
                  <a:ext cx="980" cy="1"/>
                </a:xfrm>
                <a:prstGeom prst="line">
                  <a:avLst/>
                </a:prstGeom>
                <a:ln w="12700" cap="flat" cmpd="sng">
                  <a:solidFill>
                    <a:schemeClr val="tx1"/>
                  </a:solidFill>
                  <a:prstDash val="solid"/>
                  <a:headEnd type="none" w="med" len="med"/>
                  <a:tailEnd type="none" w="med" len="med"/>
                </a:ln>
              </p:spPr>
            </p:sp>
          </p:grpSp>
        </p:grpSp>
        <p:sp>
          <p:nvSpPr>
            <p:cNvPr id="50193" name="Line 54"/>
            <p:cNvSpPr/>
            <p:nvPr/>
          </p:nvSpPr>
          <p:spPr>
            <a:xfrm>
              <a:off x="1330" y="1465"/>
              <a:ext cx="514" cy="383"/>
            </a:xfrm>
            <a:prstGeom prst="line">
              <a:avLst/>
            </a:prstGeom>
            <a:ln w="22225" cap="flat" cmpd="sng">
              <a:solidFill>
                <a:schemeClr val="tx1"/>
              </a:solidFill>
              <a:prstDash val="solid"/>
              <a:headEnd type="none" w="med" len="med"/>
              <a:tailEnd type="none" w="med" len="med"/>
            </a:ln>
          </p:spPr>
        </p:sp>
        <p:sp>
          <p:nvSpPr>
            <p:cNvPr id="50194" name="Line 55"/>
            <p:cNvSpPr/>
            <p:nvPr/>
          </p:nvSpPr>
          <p:spPr>
            <a:xfrm flipV="1">
              <a:off x="3248" y="1341"/>
              <a:ext cx="607" cy="491"/>
            </a:xfrm>
            <a:prstGeom prst="line">
              <a:avLst/>
            </a:prstGeom>
            <a:ln w="22225" cap="flat" cmpd="sng">
              <a:solidFill>
                <a:schemeClr val="tx1"/>
              </a:solidFill>
              <a:prstDash val="dash"/>
              <a:headEnd type="none" w="med" len="med"/>
              <a:tailEnd type="arrow" w="med" len="med"/>
            </a:ln>
          </p:spPr>
        </p:sp>
        <p:sp>
          <p:nvSpPr>
            <p:cNvPr id="50195" name="Line 56"/>
            <p:cNvSpPr/>
            <p:nvPr/>
          </p:nvSpPr>
          <p:spPr>
            <a:xfrm>
              <a:off x="3509" y="2020"/>
              <a:ext cx="470" cy="0"/>
            </a:xfrm>
            <a:prstGeom prst="line">
              <a:avLst/>
            </a:prstGeom>
            <a:ln w="22225" cap="flat" cmpd="sng">
              <a:solidFill>
                <a:schemeClr val="tx1"/>
              </a:solidFill>
              <a:prstDash val="solid"/>
              <a:headEnd type="none" w="med" len="med"/>
              <a:tailEnd type="arrow" w="med" len="med"/>
            </a:ln>
          </p:spPr>
        </p:sp>
        <p:sp>
          <p:nvSpPr>
            <p:cNvPr id="50196" name="Line 57"/>
            <p:cNvSpPr/>
            <p:nvPr/>
          </p:nvSpPr>
          <p:spPr>
            <a:xfrm>
              <a:off x="2884" y="2966"/>
              <a:ext cx="873" cy="230"/>
            </a:xfrm>
            <a:prstGeom prst="line">
              <a:avLst/>
            </a:prstGeom>
            <a:ln w="22225" cap="flat" cmpd="sng">
              <a:solidFill>
                <a:schemeClr val="tx1"/>
              </a:solidFill>
              <a:prstDash val="solid"/>
              <a:headEnd type="none" w="med" len="med"/>
              <a:tailEnd type="none" w="med" len="med"/>
            </a:ln>
          </p:spPr>
        </p:sp>
        <p:sp>
          <p:nvSpPr>
            <p:cNvPr id="50197" name="Line 58"/>
            <p:cNvSpPr/>
            <p:nvPr/>
          </p:nvSpPr>
          <p:spPr>
            <a:xfrm flipV="1">
              <a:off x="1559" y="3574"/>
              <a:ext cx="2206" cy="9"/>
            </a:xfrm>
            <a:prstGeom prst="line">
              <a:avLst/>
            </a:prstGeom>
            <a:ln w="22225" cap="flat" cmpd="sng">
              <a:solidFill>
                <a:schemeClr val="tx1"/>
              </a:solidFill>
              <a:prstDash val="solid"/>
              <a:headEnd type="none" w="med" len="med"/>
              <a:tailEnd type="none" w="med" len="med"/>
            </a:ln>
          </p:spPr>
        </p:sp>
        <p:sp>
          <p:nvSpPr>
            <p:cNvPr id="50198" name="Line 59"/>
            <p:cNvSpPr/>
            <p:nvPr/>
          </p:nvSpPr>
          <p:spPr>
            <a:xfrm flipH="1">
              <a:off x="4497" y="2654"/>
              <a:ext cx="231" cy="420"/>
            </a:xfrm>
            <a:prstGeom prst="line">
              <a:avLst/>
            </a:prstGeom>
            <a:ln w="22225" cap="flat" cmpd="sng">
              <a:solidFill>
                <a:schemeClr val="tx1"/>
              </a:solidFill>
              <a:prstDash val="solid"/>
              <a:headEnd type="none" w="med" len="med"/>
              <a:tailEnd type="arrow" w="med" len="med"/>
            </a:ln>
          </p:spPr>
        </p:sp>
        <p:sp>
          <p:nvSpPr>
            <p:cNvPr id="50199" name="AutoShape 60"/>
            <p:cNvSpPr/>
            <p:nvPr/>
          </p:nvSpPr>
          <p:spPr>
            <a:xfrm rot="1571724">
              <a:off x="4711" y="2547"/>
              <a:ext cx="90" cy="115"/>
            </a:xfrm>
            <a:prstGeom prst="diamond">
              <a:avLst/>
            </a:prstGeom>
            <a:noFill/>
            <a:ln w="22225"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00" name="Rectangle 61"/>
            <p:cNvSpPr/>
            <p:nvPr/>
          </p:nvSpPr>
          <p:spPr>
            <a:xfrm>
              <a:off x="1906" y="1639"/>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50201" name="Rectangle 62"/>
            <p:cNvSpPr/>
            <p:nvPr/>
          </p:nvSpPr>
          <p:spPr>
            <a:xfrm>
              <a:off x="1679" y="1499"/>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a:t>
              </a:r>
              <a:endParaRPr lang="en-US" altLang="zh-CN" sz="1200" b="1" dirty="0">
                <a:latin typeface="Times New Roman" panose="02020603050405020304" pitchFamily="18" charset="0"/>
                <a:ea typeface="黑体" panose="02010609060101010101" pitchFamily="49" charset="-122"/>
              </a:endParaRPr>
            </a:p>
          </p:txBody>
        </p:sp>
        <p:sp>
          <p:nvSpPr>
            <p:cNvPr id="50202" name="Rectangle 63"/>
            <p:cNvSpPr/>
            <p:nvPr/>
          </p:nvSpPr>
          <p:spPr>
            <a:xfrm>
              <a:off x="3718" y="1800"/>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a:t>
              </a:r>
              <a:endParaRPr lang="en-US" altLang="zh-CN" sz="1200" b="1" dirty="0">
                <a:latin typeface="Times New Roman" panose="02020603050405020304" pitchFamily="18" charset="0"/>
                <a:ea typeface="黑体" panose="02010609060101010101" pitchFamily="49" charset="-122"/>
              </a:endParaRPr>
            </a:p>
          </p:txBody>
        </p:sp>
        <p:sp>
          <p:nvSpPr>
            <p:cNvPr id="50203" name="Rectangle 64"/>
            <p:cNvSpPr/>
            <p:nvPr/>
          </p:nvSpPr>
          <p:spPr>
            <a:xfrm>
              <a:off x="3560" y="1800"/>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50204" name="Rectangle 65"/>
            <p:cNvSpPr/>
            <p:nvPr/>
          </p:nvSpPr>
          <p:spPr>
            <a:xfrm>
              <a:off x="4856" y="2582"/>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50205" name="Rectangle 66"/>
            <p:cNvSpPr/>
            <p:nvPr/>
          </p:nvSpPr>
          <p:spPr>
            <a:xfrm>
              <a:off x="4670" y="2855"/>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50206" name="Rectangle 67"/>
            <p:cNvSpPr/>
            <p:nvPr/>
          </p:nvSpPr>
          <p:spPr>
            <a:xfrm>
              <a:off x="3616" y="2970"/>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4</a:t>
              </a:r>
              <a:endParaRPr lang="en-US" altLang="zh-CN" sz="1200" b="1" dirty="0">
                <a:latin typeface="Times New Roman" panose="02020603050405020304" pitchFamily="18" charset="0"/>
                <a:ea typeface="黑体" panose="02010609060101010101" pitchFamily="49" charset="-122"/>
              </a:endParaRPr>
            </a:p>
          </p:txBody>
        </p:sp>
        <p:sp>
          <p:nvSpPr>
            <p:cNvPr id="50207" name="Rectangle 68"/>
            <p:cNvSpPr/>
            <p:nvPr/>
          </p:nvSpPr>
          <p:spPr>
            <a:xfrm>
              <a:off x="2962" y="2774"/>
              <a:ext cx="228"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3..10</a:t>
              </a:r>
              <a:endParaRPr lang="en-US" altLang="zh-CN" sz="1200" b="1" dirty="0">
                <a:latin typeface="Times New Roman" panose="02020603050405020304" pitchFamily="18" charset="0"/>
                <a:ea typeface="黑体" panose="02010609060101010101" pitchFamily="49" charset="-122"/>
              </a:endParaRPr>
            </a:p>
          </p:txBody>
        </p:sp>
        <p:sp>
          <p:nvSpPr>
            <p:cNvPr id="50208" name="Rectangle 69"/>
            <p:cNvSpPr/>
            <p:nvPr/>
          </p:nvSpPr>
          <p:spPr>
            <a:xfrm>
              <a:off x="3436" y="3351"/>
              <a:ext cx="171"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0..4</a:t>
              </a:r>
              <a:endParaRPr lang="en-US" altLang="zh-CN" sz="1200" b="1" dirty="0">
                <a:latin typeface="Times New Roman" panose="02020603050405020304" pitchFamily="18" charset="0"/>
                <a:ea typeface="黑体" panose="02010609060101010101" pitchFamily="49" charset="-122"/>
              </a:endParaRPr>
            </a:p>
          </p:txBody>
        </p:sp>
        <p:sp>
          <p:nvSpPr>
            <p:cNvPr id="50209" name="Rectangle 70"/>
            <p:cNvSpPr/>
            <p:nvPr/>
          </p:nvSpPr>
          <p:spPr>
            <a:xfrm>
              <a:off x="1645" y="3351"/>
              <a:ext cx="57"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grpSp>
          <p:nvGrpSpPr>
            <p:cNvPr id="50210" name="Group 88"/>
            <p:cNvGrpSpPr/>
            <p:nvPr/>
          </p:nvGrpSpPr>
          <p:grpSpPr>
            <a:xfrm>
              <a:off x="642" y="924"/>
              <a:ext cx="1208" cy="540"/>
              <a:chOff x="642" y="924"/>
              <a:chExt cx="1208" cy="540"/>
            </a:xfrm>
          </p:grpSpPr>
          <p:sp>
            <p:nvSpPr>
              <p:cNvPr id="50215" name="Rectangle 72"/>
              <p:cNvSpPr/>
              <p:nvPr/>
            </p:nvSpPr>
            <p:spPr>
              <a:xfrm>
                <a:off x="694" y="959"/>
                <a:ext cx="875" cy="169"/>
              </a:xfrm>
              <a:prstGeom prst="rect">
                <a:avLst/>
              </a:prstGeom>
              <a:noFill/>
              <a:ln w="12700">
                <a:noFill/>
              </a:ln>
            </p:spPr>
            <p:txBody>
              <a:bodyPr wrap="none" lIns="0" tIns="0" rIns="0" bIns="0">
                <a:spAutoFit/>
              </a:bodyPr>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RegistrationForm</a:t>
                </a:r>
                <a:endParaRPr lang="en-US" altLang="zh-CN" sz="1200" b="1" dirty="0">
                  <a:latin typeface="Times New Roman" panose="02020603050405020304" pitchFamily="18" charset="0"/>
                  <a:ea typeface="黑体" panose="02010609060101010101" pitchFamily="49" charset="-122"/>
                </a:endParaRPr>
              </a:p>
            </p:txBody>
          </p:sp>
          <p:sp>
            <p:nvSpPr>
              <p:cNvPr id="50216" name="Line 73"/>
              <p:cNvSpPr/>
              <p:nvPr/>
            </p:nvSpPr>
            <p:spPr>
              <a:xfrm>
                <a:off x="643" y="1166"/>
                <a:ext cx="1196" cy="2"/>
              </a:xfrm>
              <a:prstGeom prst="line">
                <a:avLst/>
              </a:prstGeom>
              <a:ln w="12700" cap="flat" cmpd="sng">
                <a:solidFill>
                  <a:schemeClr val="tx1"/>
                </a:solidFill>
                <a:prstDash val="solid"/>
                <a:headEnd type="none" w="med" len="med"/>
                <a:tailEnd type="none" w="med" len="med"/>
              </a:ln>
            </p:spPr>
          </p:sp>
          <p:sp>
            <p:nvSpPr>
              <p:cNvPr id="50217" name="Rectangle 74"/>
              <p:cNvSpPr/>
              <p:nvPr/>
            </p:nvSpPr>
            <p:spPr>
              <a:xfrm>
                <a:off x="642" y="924"/>
                <a:ext cx="1208" cy="5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18" name="Line 75"/>
              <p:cNvSpPr/>
              <p:nvPr/>
            </p:nvSpPr>
            <p:spPr>
              <a:xfrm>
                <a:off x="643" y="1278"/>
                <a:ext cx="1204" cy="1"/>
              </a:xfrm>
              <a:prstGeom prst="line">
                <a:avLst/>
              </a:prstGeom>
              <a:ln w="12700" cap="flat" cmpd="sng">
                <a:solidFill>
                  <a:schemeClr val="tx1"/>
                </a:solidFill>
                <a:prstDash val="solid"/>
                <a:headEnd type="none" w="med" len="med"/>
                <a:tailEnd type="none" w="med" len="med"/>
              </a:ln>
            </p:spPr>
          </p:sp>
        </p:grpSp>
        <p:sp>
          <p:nvSpPr>
            <p:cNvPr id="50211" name="Line 76"/>
            <p:cNvSpPr/>
            <p:nvPr/>
          </p:nvSpPr>
          <p:spPr>
            <a:xfrm flipH="1" flipV="1">
              <a:off x="864" y="2850"/>
              <a:ext cx="115" cy="329"/>
            </a:xfrm>
            <a:prstGeom prst="line">
              <a:avLst/>
            </a:prstGeom>
            <a:ln w="22225" cap="flat" cmpd="sng">
              <a:solidFill>
                <a:schemeClr val="tx2"/>
              </a:solidFill>
              <a:prstDash val="solid"/>
              <a:headEnd type="none" w="med" len="med"/>
              <a:tailEnd type="none" w="med" len="med"/>
            </a:ln>
          </p:spPr>
        </p:sp>
        <p:sp>
          <p:nvSpPr>
            <p:cNvPr id="50212" name="AutoShape 77"/>
            <p:cNvSpPr/>
            <p:nvPr/>
          </p:nvSpPr>
          <p:spPr>
            <a:xfrm rot="-1136824">
              <a:off x="811" y="2750"/>
              <a:ext cx="83" cy="107"/>
            </a:xfrm>
            <a:prstGeom prst="triangle">
              <a:avLst>
                <a:gd name="adj" fmla="val 50000"/>
              </a:avLst>
            </a:prstGeom>
            <a:noFill/>
            <a:ln w="22225" cap="flat" cmpd="sng">
              <a:solidFill>
                <a:schemeClr val="tx2"/>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50213" name="Line 78"/>
            <p:cNvSpPr/>
            <p:nvPr/>
          </p:nvSpPr>
          <p:spPr>
            <a:xfrm flipH="1" flipV="1">
              <a:off x="1363" y="2683"/>
              <a:ext cx="774" cy="214"/>
            </a:xfrm>
            <a:prstGeom prst="line">
              <a:avLst/>
            </a:prstGeom>
            <a:ln w="22225" cap="flat" cmpd="sng">
              <a:solidFill>
                <a:schemeClr val="tx2"/>
              </a:solidFill>
              <a:prstDash val="solid"/>
              <a:headEnd type="none" w="med" len="med"/>
              <a:tailEnd type="none" w="med" len="med"/>
            </a:ln>
          </p:spPr>
        </p:sp>
        <p:sp>
          <p:nvSpPr>
            <p:cNvPr id="50214" name="AutoShape 79"/>
            <p:cNvSpPr/>
            <p:nvPr/>
          </p:nvSpPr>
          <p:spPr>
            <a:xfrm rot="-4264587">
              <a:off x="1271" y="2614"/>
              <a:ext cx="91" cy="103"/>
            </a:xfrm>
            <a:prstGeom prst="triangle">
              <a:avLst>
                <a:gd name="adj" fmla="val 50000"/>
              </a:avLst>
            </a:prstGeom>
            <a:noFill/>
            <a:ln w="22225" cap="flat" cmpd="sng">
              <a:solidFill>
                <a:schemeClr val="tx2"/>
              </a:solidFill>
              <a:prstDash val="solid"/>
              <a:miter/>
              <a:headEnd type="none" w="med" len="med"/>
              <a:tailEnd type="none" w="med" len="med"/>
            </a:ln>
          </p:spPr>
          <p:txBody>
            <a:bodyPr wrap="none" anchor="ctr" anchorCtr="0"/>
            <a:lst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36905" indent="-244475"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09955" indent="-244475"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4275"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732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5"/>
          <p:cNvSpPr>
            <a:spLocks noGrp="1"/>
          </p:cNvSpPr>
          <p:nvPr>
            <p:ph type="title"/>
          </p:nvPr>
        </p:nvSpPr>
        <p:spPr>
          <a:xfrm>
            <a:off x="455613" y="398463"/>
            <a:ext cx="9193212" cy="1139825"/>
          </a:xfrm>
        </p:spPr>
        <p:txBody>
          <a:bodyPr vert="horz" wrap="square" lIns="0" tIns="45605" rIns="0" bIns="0" anchor="b" anchorCtr="0"/>
          <a:p>
            <a:r>
              <a:rPr lang="en-US" altLang="zh-CN" sz="4400" b="1" dirty="0">
                <a:latin typeface="微软雅黑" panose="020B0503020204020204" pitchFamily="34" charset="-122"/>
                <a:ea typeface="微软雅黑" panose="020B0503020204020204" pitchFamily="34" charset="-122"/>
              </a:rPr>
              <a:t>6 </a:t>
            </a:r>
            <a:r>
              <a:rPr lang="zh-CN" altLang="en-US" sz="4400" b="1" dirty="0">
                <a:latin typeface="微软雅黑" panose="020B0503020204020204" pitchFamily="34" charset="-122"/>
                <a:ea typeface="微软雅黑" panose="020B0503020204020204" pitchFamily="34" charset="-122"/>
              </a:rPr>
              <a:t>序列图</a:t>
            </a:r>
            <a:endParaRPr lang="zh-CN" altLang="en-US" sz="4400" b="1" dirty="0">
              <a:latin typeface="微软雅黑" panose="020B0503020204020204" pitchFamily="34" charset="-122"/>
              <a:ea typeface="微软雅黑" panose="020B0503020204020204" pitchFamily="34" charset="-122"/>
            </a:endParaRPr>
          </a:p>
        </p:txBody>
      </p:sp>
      <p:pic>
        <p:nvPicPr>
          <p:cNvPr id="51203" name="Picture 4"/>
          <p:cNvPicPr>
            <a:picLocks noChangeAspect="1"/>
          </p:cNvPicPr>
          <p:nvPr/>
        </p:nvPicPr>
        <p:blipFill>
          <a:blip r:embed="rId1"/>
          <a:stretch>
            <a:fillRect/>
          </a:stretch>
        </p:blipFill>
        <p:spPr>
          <a:xfrm>
            <a:off x="2687638" y="182563"/>
            <a:ext cx="6119812" cy="6767512"/>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2226" name="对象 1"/>
          <p:cNvGraphicFramePr>
            <a:graphicFrameLocks noChangeAspect="1"/>
          </p:cNvGraphicFramePr>
          <p:nvPr/>
        </p:nvGraphicFramePr>
        <p:xfrm>
          <a:off x="682625" y="1268413"/>
          <a:ext cx="7826375" cy="5462587"/>
        </p:xfrm>
        <a:graphic>
          <a:graphicData uri="http://schemas.openxmlformats.org/presentationml/2006/ole">
            <mc:AlternateContent xmlns:mc="http://schemas.openxmlformats.org/markup-compatibility/2006">
              <mc:Choice xmlns:v="urn:schemas-microsoft-com:vml" Requires="v">
                <p:oleObj spid="_x0000_s3076" name="" r:id="rId1" imgW="9652000" imgH="6261100" progId="Visio.Drawing.11">
                  <p:embed/>
                </p:oleObj>
              </mc:Choice>
              <mc:Fallback>
                <p:oleObj name="" r:id="rId1" imgW="9652000" imgH="6261100" progId="Visio.Drawing.11">
                  <p:embed/>
                  <p:pic>
                    <p:nvPicPr>
                      <p:cNvPr id="0" name="图片 3075"/>
                      <p:cNvPicPr/>
                      <p:nvPr/>
                    </p:nvPicPr>
                    <p:blipFill>
                      <a:blip r:embed="rId2"/>
                      <a:stretch>
                        <a:fillRect/>
                      </a:stretch>
                    </p:blipFill>
                    <p:spPr>
                      <a:xfrm>
                        <a:off x="682625" y="1268413"/>
                        <a:ext cx="7826375" cy="5462587"/>
                      </a:xfrm>
                      <a:prstGeom prst="rect">
                        <a:avLst/>
                      </a:prstGeom>
                      <a:noFill/>
                      <a:ln w="38100">
                        <a:noFill/>
                        <a:miter/>
                      </a:ln>
                    </p:spPr>
                  </p:pic>
                </p:oleObj>
              </mc:Fallback>
            </mc:AlternateContent>
          </a:graphicData>
        </a:graphic>
      </p:graphicFrame>
      <p:sp>
        <p:nvSpPr>
          <p:cNvPr id="52227" name="标题 1"/>
          <p:cNvSpPr>
            <a:spLocks noGrp="1"/>
          </p:cNvSpPr>
          <p:nvPr>
            <p:ph type="title"/>
          </p:nvPr>
        </p:nvSpPr>
        <p:spPr>
          <a:xfrm>
            <a:off x="393700" y="119063"/>
            <a:ext cx="8207375" cy="1139825"/>
          </a:xfrm>
        </p:spPr>
        <p:txBody>
          <a:bodyPr vert="horz" wrap="square" lIns="0" tIns="45605" rIns="0" bIns="0" anchor="b" anchorCtr="0"/>
          <a:p>
            <a:pPr eaLnBrk="1" hangingPunct="1"/>
            <a:r>
              <a:rPr lang="zh-CN" altLang="en-US" b="1" dirty="0">
                <a:latin typeface="微软雅黑" panose="020B0503020204020204" pitchFamily="34" charset="-122"/>
                <a:ea typeface="微软雅黑" panose="020B0503020204020204" pitchFamily="34" charset="-122"/>
              </a:rPr>
              <a:t>课程进度安排</a:t>
            </a:r>
            <a:endParaRPr lang="zh-CN" altLang="en-US" b="1" dirty="0">
              <a:latin typeface="微软雅黑" panose="020B0503020204020204" pitchFamily="34" charset="-122"/>
              <a:ea typeface="微软雅黑" panose="020B0503020204020204" pitchFamily="34" charset="-122"/>
            </a:endParaRPr>
          </a:p>
        </p:txBody>
      </p:sp>
      <p:sp>
        <p:nvSpPr>
          <p:cNvPr id="43012" name="Rectangle 2"/>
          <p:cNvSpPr>
            <a:spLocks noChangeArrowheads="1"/>
          </p:cNvSpPr>
          <p:nvPr/>
        </p:nvSpPr>
        <p:spPr bwMode="auto">
          <a:xfrm>
            <a:off x="0" y="-165100"/>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cxnSp>
        <p:nvCxnSpPr>
          <p:cNvPr id="3" name="直接箭头连接符 2"/>
          <p:cNvCxnSpPr/>
          <p:nvPr/>
        </p:nvCxnSpPr>
        <p:spPr>
          <a:xfrm>
            <a:off x="4672013" y="1778000"/>
            <a:ext cx="2811463" cy="448310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015" name="文本框 3"/>
          <p:cNvSpPr txBox="1">
            <a:spLocks noChangeArrowheads="1"/>
          </p:cNvSpPr>
          <p:nvPr/>
        </p:nvSpPr>
        <p:spPr bwMode="auto">
          <a:xfrm>
            <a:off x="5965825" y="4000500"/>
            <a:ext cx="1443038"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面向对象的方法</a:t>
            </a:r>
            <a:endPar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1" name="矩形标注 10"/>
          <p:cNvSpPr/>
          <p:nvPr/>
        </p:nvSpPr>
        <p:spPr>
          <a:xfrm>
            <a:off x="5965825" y="2325688"/>
            <a:ext cx="1624013" cy="485775"/>
          </a:xfrm>
          <a:prstGeom prst="wedgeRectCallout">
            <a:avLst>
              <a:gd name="adj1" fmla="val -104674"/>
              <a:gd name="adj2" fmla="val 9869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190" b="1" i="0" u="none" strike="noStrike" kern="1200" cap="none" spc="0" normalizeH="0" baseline="0" noProof="0" dirty="0">
                <a:ln>
                  <a:noFill/>
                </a:ln>
                <a:solidFill>
                  <a:srgbClr val="FFFF00"/>
                </a:solidFill>
                <a:effectLst/>
                <a:uLnTx/>
                <a:uFillTx/>
                <a:latin typeface="+mn-lt"/>
                <a:ea typeface="+mn-ea"/>
                <a:cs typeface="+mn-cs"/>
              </a:rPr>
              <a:t>第四课</a:t>
            </a:r>
            <a:endParaRPr kumimoji="1" lang="zh-CN" altLang="en-US" sz="3190" b="1"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a:xfrm>
            <a:off x="382588" y="758825"/>
            <a:ext cx="8132763" cy="1138238"/>
          </a:xfrm>
        </p:spPr>
        <p:txBody>
          <a:bodyPr vert="horz" wrap="square" lIns="0" tIns="45605"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面向对象方法的需求分析：</a:t>
            </a:r>
            <a:r>
              <a:rPr kumimoji="1" lang="zh-CN" altLang="en-US" sz="50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用例建模</a:t>
            </a:r>
            <a:endParaRPr kumimoji="1" lang="zh-CN" altLang="en-US" sz="4395"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sp>
        <p:nvSpPr>
          <p:cNvPr id="9" name="TextBox 8"/>
          <p:cNvSpPr txBox="1"/>
          <p:nvPr/>
        </p:nvSpPr>
        <p:spPr>
          <a:xfrm>
            <a:off x="530225" y="2054225"/>
            <a:ext cx="8583613" cy="4121150"/>
          </a:xfrm>
          <a:prstGeom prst="rect">
            <a:avLst/>
          </a:prstGeom>
          <a:noFill/>
        </p:spPr>
        <p:txBody>
          <a:bodyPr lIns="91346" tIns="45673" rIns="91346" bIns="45673">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用例建模就是建立系统的用例模型</a:t>
            </a:r>
            <a:endParaRPr kumimoji="1" lang="en-US" altLang="zh-CN" sz="2600" kern="1200" cap="none" spc="0" normalizeH="0" baseline="0" noProof="0" dirty="0">
              <a:latin typeface="+mn-lt"/>
              <a:ea typeface="+mn-ea"/>
              <a:cs typeface="+mn-cs"/>
            </a:endParaRPr>
          </a:p>
          <a:p>
            <a:pPr marL="273050" marR="0" indent="-273050" defTabSz="914400" eaLnBrk="1" hangingPunct="1">
              <a:spcBef>
                <a:spcPts val="18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用例建模是一种描述</a:t>
            </a:r>
            <a:r>
              <a:rPr kumimoji="1" lang="zh-CN" altLang="en-US" sz="2600" kern="1200" cap="none" spc="0" normalizeH="0" baseline="0" noProof="0" dirty="0">
                <a:solidFill>
                  <a:srgbClr val="FF0000"/>
                </a:solidFill>
                <a:latin typeface="+mn-lt"/>
                <a:ea typeface="+mn-ea"/>
                <a:cs typeface="+mn-cs"/>
              </a:rPr>
              <a:t>应该做什么</a:t>
            </a:r>
            <a:r>
              <a:rPr kumimoji="1" lang="zh-CN" altLang="en-US" sz="2600" kern="1200" cap="none" spc="0" normalizeH="0" baseline="0" noProof="0" dirty="0">
                <a:latin typeface="+mn-lt"/>
                <a:ea typeface="+mn-ea"/>
                <a:cs typeface="+mn-cs"/>
              </a:rPr>
              <a:t>的建模技术</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在软件开发的初期，解决如下几个问题：</a:t>
            </a:r>
            <a:endParaRPr kumimoji="1" lang="en-US" altLang="zh-CN" sz="260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1</a:t>
            </a:r>
            <a:r>
              <a:rPr kumimoji="1" lang="zh-CN" altLang="en-US" sz="2600" b="0" kern="1200" cap="none" spc="0" normalizeH="0" baseline="0" noProof="0" dirty="0">
                <a:latin typeface="+mn-lt"/>
                <a:ea typeface="+mn-ea"/>
                <a:cs typeface="+mn-cs"/>
              </a:rPr>
              <a:t>）软件的用户以及涉及系统运行的各个对象是谁？</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2</a:t>
            </a:r>
            <a:r>
              <a:rPr kumimoji="1" lang="zh-CN" altLang="en-US" sz="2600" b="0" kern="1200" cap="none" spc="0" normalizeH="0" baseline="0" noProof="0" dirty="0">
                <a:latin typeface="+mn-lt"/>
                <a:ea typeface="+mn-ea"/>
                <a:cs typeface="+mn-cs"/>
              </a:rPr>
              <a:t>）软件的用户希望软件系统有什么功能？</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3</a:t>
            </a:r>
            <a:r>
              <a:rPr kumimoji="1" lang="zh-CN" altLang="en-US" sz="2600" b="0" kern="1200" cap="none" spc="0" normalizeH="0" baseline="0" noProof="0" dirty="0">
                <a:latin typeface="+mn-lt"/>
                <a:ea typeface="+mn-ea"/>
                <a:cs typeface="+mn-cs"/>
              </a:rPr>
              <a:t>）用户希望如何使用这些功能？</a:t>
            </a:r>
            <a:endParaRPr kumimoji="1" lang="en-US" altLang="zh-CN" sz="2600" b="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4"/>
          <p:cNvSpPr txBox="1">
            <a:spLocks noGrp="1"/>
          </p:cNvSpPr>
          <p:nvPr>
            <p:ph type="sldNum" sz="quarter" idx="12"/>
          </p:nvPr>
        </p:nvSpPr>
        <p:spPr>
          <a:xfrm>
            <a:off x="7902575" y="6345238"/>
            <a:ext cx="760413" cy="363537"/>
          </a:xfrm>
          <a:noFill/>
          <a:ln>
            <a:noFill/>
          </a:ln>
        </p:spPr>
        <p:txBody>
          <a:bodyPr lIns="0" tIns="0" rIns="0" bIns="0" anchor="b" anchorCtr="0"/>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defRPr>
            </a:lvl1pPr>
            <a:lvl2pPr marL="455930" lvl="1"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3130" lvl="2"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0330" lvl="3"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7530" lvl="4"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stStyle>
          <a:p>
            <a:pPr lvl="0" algn="r" eaLnBrk="1" hangingPunct="1">
              <a:buFont typeface="Wingdings" panose="05000000000000000000" pitchFamily="2" charset="2"/>
            </a:pPr>
            <a:fld id="{9A0DB2DC-4C9A-4742-B13C-FB6460FD3503}" type="slidenum">
              <a:rPr lang="en-US" altLang="zh-CN" sz="1200" dirty="0">
                <a:solidFill>
                  <a:srgbClr val="045C75"/>
                </a:solidFill>
              </a:rPr>
            </a:fld>
            <a:endParaRPr lang="en-US" altLang="zh-CN" sz="1200" dirty="0">
              <a:solidFill>
                <a:srgbClr val="045C75"/>
              </a:solidFill>
            </a:endParaRPr>
          </a:p>
        </p:txBody>
      </p:sp>
      <p:sp>
        <p:nvSpPr>
          <p:cNvPr id="96260" name="Text Box 4"/>
          <p:cNvSpPr txBox="1">
            <a:spLocks noChangeArrowheads="1"/>
          </p:cNvSpPr>
          <p:nvPr/>
        </p:nvSpPr>
        <p:spPr bwMode="auto">
          <a:xfrm>
            <a:off x="763588" y="665163"/>
            <a:ext cx="1895475" cy="1139825"/>
          </a:xfrm>
          <a:prstGeom prst="rect">
            <a:avLst/>
          </a:prstGeom>
          <a:noFill/>
          <a:ln w="9525">
            <a:noFill/>
            <a:miter lim="800000"/>
          </a:ln>
          <a:effectLst/>
        </p:spPr>
        <p:txBody>
          <a:bodyPr wrap="square"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j-cs"/>
              </a:rPr>
              <a:t>面向对象的分析</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3" name="TextBox 2"/>
          <p:cNvSpPr txBox="1"/>
          <p:nvPr/>
        </p:nvSpPr>
        <p:spPr>
          <a:xfrm>
            <a:off x="61913" y="3814763"/>
            <a:ext cx="865187" cy="460375"/>
          </a:xfrm>
          <a:prstGeom prst="rect">
            <a:avLst/>
          </a:prstGeom>
          <a:noFill/>
          <a:ln w="9525">
            <a:noFill/>
          </a:ln>
        </p:spPr>
        <p:txBody>
          <a:bodyPr>
            <a:spAutoFit/>
          </a:bodyPr>
          <a:p>
            <a:pPr eaLnBrk="1" hangingPunct="1">
              <a:buFont typeface="Wingdings" panose="05000000000000000000" pitchFamily="2" charset="2"/>
            </a:pPr>
            <a:r>
              <a:rPr lang="zh-CN" altLang="en-US" dirty="0">
                <a:latin typeface="黑体" panose="02010609060101010101" pitchFamily="49" charset="-122"/>
              </a:rPr>
              <a:t>用例</a:t>
            </a:r>
            <a:endParaRPr lang="zh-CN" altLang="en-US" dirty="0">
              <a:latin typeface="黑体" panose="02010609060101010101" pitchFamily="49" charset="-122"/>
            </a:endParaRPr>
          </a:p>
        </p:txBody>
      </p:sp>
      <p:pic>
        <p:nvPicPr>
          <p:cNvPr id="8" name="Picture 4"/>
          <p:cNvPicPr>
            <a:picLocks noChangeAspect="1"/>
          </p:cNvPicPr>
          <p:nvPr/>
        </p:nvPicPr>
        <p:blipFill>
          <a:blip r:embed="rId1"/>
          <a:stretch>
            <a:fillRect/>
          </a:stretch>
        </p:blipFill>
        <p:spPr>
          <a:xfrm>
            <a:off x="495300" y="3336925"/>
            <a:ext cx="2484438" cy="1416050"/>
          </a:xfrm>
          <a:prstGeom prst="rect">
            <a:avLst/>
          </a:prstGeom>
          <a:noFill/>
          <a:ln w="9525">
            <a:noFill/>
          </a:ln>
        </p:spPr>
      </p:pic>
      <p:pic>
        <p:nvPicPr>
          <p:cNvPr id="9" name="Picture 4"/>
          <p:cNvPicPr>
            <a:picLocks noChangeAspect="1"/>
          </p:cNvPicPr>
          <p:nvPr/>
        </p:nvPicPr>
        <p:blipFill>
          <a:blip r:embed="rId2"/>
          <a:stretch>
            <a:fillRect/>
          </a:stretch>
        </p:blipFill>
        <p:spPr>
          <a:xfrm>
            <a:off x="3876675" y="3643313"/>
            <a:ext cx="2032000" cy="1789112"/>
          </a:xfrm>
          <a:prstGeom prst="rect">
            <a:avLst/>
          </a:prstGeom>
          <a:noFill/>
          <a:ln w="9525">
            <a:noFill/>
          </a:ln>
        </p:spPr>
      </p:pic>
      <p:sp>
        <p:nvSpPr>
          <p:cNvPr id="10" name="TextBox 9"/>
          <p:cNvSpPr txBox="1"/>
          <p:nvPr/>
        </p:nvSpPr>
        <p:spPr>
          <a:xfrm>
            <a:off x="7134225" y="3814763"/>
            <a:ext cx="1860550" cy="1322387"/>
          </a:xfrm>
          <a:prstGeom prst="rect">
            <a:avLst/>
          </a:prstGeom>
          <a:noFill/>
          <a:ln w="9525">
            <a:noFill/>
          </a:ln>
        </p:spPr>
        <p:txBody>
          <a:bodyPr>
            <a:spAutoFit/>
          </a:bodyPr>
          <a:p>
            <a:pPr eaLnBrk="1" hangingPunct="1"/>
            <a:r>
              <a:rPr lang="zh-CN" altLang="en-US" sz="2000" dirty="0">
                <a:solidFill>
                  <a:srgbClr val="FF0000"/>
                </a:solidFill>
                <a:latin typeface="黑体" panose="02010609060101010101" pitchFamily="49" charset="-122"/>
              </a:rPr>
              <a:t>   各种类</a:t>
            </a:r>
            <a:endParaRPr lang="en-US" altLang="zh-CN" sz="2000" dirty="0">
              <a:solidFill>
                <a:srgbClr val="FF0000"/>
              </a:solidFill>
              <a:latin typeface="黑体" panose="02010609060101010101" pitchFamily="49" charset="-122"/>
            </a:endParaRPr>
          </a:p>
          <a:p>
            <a:pPr eaLnBrk="1" hangingPunct="1"/>
            <a:r>
              <a:rPr lang="zh-CN" altLang="en-US" sz="2000" dirty="0">
                <a:solidFill>
                  <a:srgbClr val="FF0000"/>
                </a:solidFill>
                <a:latin typeface="黑体" panose="02010609060101010101" pitchFamily="49" charset="-122"/>
              </a:rPr>
              <a:t>类是面向对象程序最基本的组成单元</a:t>
            </a:r>
            <a:endParaRPr lang="zh-CN" altLang="en-US" sz="2000" dirty="0">
              <a:solidFill>
                <a:srgbClr val="FF0000"/>
              </a:solidFill>
              <a:latin typeface="黑体" panose="02010609060101010101" pitchFamily="49" charset="-122"/>
            </a:endParaRPr>
          </a:p>
        </p:txBody>
      </p:sp>
      <p:sp>
        <p:nvSpPr>
          <p:cNvPr id="4" name="右箭头 3"/>
          <p:cNvSpPr/>
          <p:nvPr/>
        </p:nvSpPr>
        <p:spPr>
          <a:xfrm>
            <a:off x="2905125" y="4306888"/>
            <a:ext cx="715963"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2" name="TextBox 11"/>
          <p:cNvSpPr txBox="1"/>
          <p:nvPr/>
        </p:nvSpPr>
        <p:spPr>
          <a:xfrm>
            <a:off x="4811713" y="1830388"/>
            <a:ext cx="1504950" cy="1200150"/>
          </a:xfrm>
          <a:prstGeom prst="rect">
            <a:avLst/>
          </a:prstGeom>
          <a:noFill/>
          <a:ln w="9525">
            <a:noFill/>
          </a:ln>
        </p:spPr>
        <p:txBody>
          <a:bodyPr>
            <a:spAutoFit/>
          </a:bodyPr>
          <a:p>
            <a:pPr eaLnBrk="1" hangingPunct="1">
              <a:buFont typeface="Wingdings" panose="05000000000000000000" pitchFamily="2" charset="2"/>
            </a:pPr>
            <a:r>
              <a:rPr lang="zh-CN" altLang="en-US" sz="7200" dirty="0">
                <a:solidFill>
                  <a:srgbClr val="FF0000"/>
                </a:solidFill>
                <a:latin typeface="黑体" panose="02010609060101010101" pitchFamily="49" charset="-122"/>
              </a:rPr>
              <a:t>？</a:t>
            </a:r>
            <a:endParaRPr lang="zh-CN" altLang="en-US" sz="7200" dirty="0">
              <a:solidFill>
                <a:srgbClr val="FF0000"/>
              </a:solidFill>
              <a:latin typeface="黑体" panose="02010609060101010101" pitchFamily="49" charset="-122"/>
            </a:endParaRPr>
          </a:p>
        </p:txBody>
      </p:sp>
      <p:sp>
        <p:nvSpPr>
          <p:cNvPr id="11" name="Text Box 4"/>
          <p:cNvSpPr txBox="1">
            <a:spLocks noChangeArrowheads="1"/>
          </p:cNvSpPr>
          <p:nvPr/>
        </p:nvSpPr>
        <p:spPr bwMode="auto">
          <a:xfrm>
            <a:off x="4092575" y="665163"/>
            <a:ext cx="1878013" cy="1139825"/>
          </a:xfrm>
          <a:prstGeom prst="rect">
            <a:avLst/>
          </a:prstGeom>
          <a:noFill/>
          <a:ln w="9525">
            <a:noFill/>
            <a:miter lim="800000"/>
          </a:ln>
          <a:effectLst/>
        </p:spPr>
        <p:txBody>
          <a:bodyPr wrap="square"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j-cs"/>
              </a:rPr>
              <a:t>面向对象的设计</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3" name="右箭头 12"/>
          <p:cNvSpPr/>
          <p:nvPr/>
        </p:nvSpPr>
        <p:spPr>
          <a:xfrm>
            <a:off x="2759075" y="1003300"/>
            <a:ext cx="1231900" cy="4635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pic>
        <p:nvPicPr>
          <p:cNvPr id="2" name="图片 1"/>
          <p:cNvPicPr>
            <a:picLocks noChangeAspect="1"/>
          </p:cNvPicPr>
          <p:nvPr/>
        </p:nvPicPr>
        <p:blipFill>
          <a:blip r:embed="rId3"/>
          <a:stretch>
            <a:fillRect/>
          </a:stretch>
        </p:blipFill>
        <p:spPr>
          <a:xfrm>
            <a:off x="958850" y="4989513"/>
            <a:ext cx="1700213" cy="1508125"/>
          </a:xfrm>
          <a:prstGeom prst="rect">
            <a:avLst/>
          </a:prstGeom>
          <a:noFill/>
          <a:ln w="9525">
            <a:noFill/>
          </a:ln>
        </p:spPr>
      </p:pic>
      <p:sp>
        <p:nvSpPr>
          <p:cNvPr id="5" name="下箭头 4"/>
          <p:cNvSpPr/>
          <p:nvPr/>
        </p:nvSpPr>
        <p:spPr>
          <a:xfrm>
            <a:off x="1319213" y="1938338"/>
            <a:ext cx="417513"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lt1"/>
              </a:solidFill>
              <a:effectLst/>
              <a:uLnTx/>
              <a:uFillTx/>
              <a:latin typeface="+mn-lt"/>
              <a:ea typeface="+mn-ea"/>
              <a:cs typeface="+mn-cs"/>
            </a:endParaRPr>
          </a:p>
        </p:txBody>
      </p:sp>
      <p:sp>
        <p:nvSpPr>
          <p:cNvPr id="14" name="右箭头 13"/>
          <p:cNvSpPr/>
          <p:nvPr/>
        </p:nvSpPr>
        <p:spPr>
          <a:xfrm>
            <a:off x="5681663" y="1119188"/>
            <a:ext cx="1231900" cy="4635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Text Box 4"/>
          <p:cNvSpPr txBox="1">
            <a:spLocks noChangeArrowheads="1"/>
          </p:cNvSpPr>
          <p:nvPr/>
        </p:nvSpPr>
        <p:spPr bwMode="auto">
          <a:xfrm>
            <a:off x="6962775" y="747713"/>
            <a:ext cx="1879600" cy="1139825"/>
          </a:xfrm>
          <a:prstGeom prst="rect">
            <a:avLst/>
          </a:prstGeom>
          <a:noFill/>
          <a:ln w="9525">
            <a:noFill/>
            <a:miter lim="800000"/>
          </a:ln>
          <a:effectLst/>
        </p:spPr>
        <p:txBody>
          <a:bodyPr wrap="square"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j-cs"/>
              </a:rPr>
              <a:t>面向对象的实现</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6" name="下箭头 15"/>
          <p:cNvSpPr/>
          <p:nvPr/>
        </p:nvSpPr>
        <p:spPr>
          <a:xfrm>
            <a:off x="4429125" y="1909763"/>
            <a:ext cx="419100"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lt1"/>
              </a:solidFill>
              <a:effectLst/>
              <a:uLnTx/>
              <a:uFillTx/>
              <a:latin typeface="+mn-lt"/>
              <a:ea typeface="+mn-ea"/>
              <a:cs typeface="+mn-cs"/>
            </a:endParaRPr>
          </a:p>
        </p:txBody>
      </p:sp>
      <p:sp>
        <p:nvSpPr>
          <p:cNvPr id="17" name="下箭头 16"/>
          <p:cNvSpPr/>
          <p:nvPr/>
        </p:nvSpPr>
        <p:spPr>
          <a:xfrm>
            <a:off x="7605713" y="1925638"/>
            <a:ext cx="417513"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lt1"/>
              </a:solidFill>
              <a:effectLst/>
              <a:uLnTx/>
              <a:uFillTx/>
              <a:latin typeface="+mn-lt"/>
              <a:ea typeface="+mn-ea"/>
              <a:cs typeface="+mn-cs"/>
            </a:endParaRPr>
          </a:p>
        </p:txBody>
      </p:sp>
      <p:sp>
        <p:nvSpPr>
          <p:cNvPr id="18" name="右箭头 17"/>
          <p:cNvSpPr/>
          <p:nvPr/>
        </p:nvSpPr>
        <p:spPr>
          <a:xfrm rot="10800000">
            <a:off x="6316663" y="4214813"/>
            <a:ext cx="715963"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078288" y="5432425"/>
            <a:ext cx="1416050" cy="461963"/>
          </a:xfrm>
          <a:prstGeom prst="rect">
            <a:avLst/>
          </a:prstGeom>
          <a:noFill/>
          <a:ln w="9525">
            <a:noFill/>
          </a:ln>
        </p:spPr>
        <p:txBody>
          <a:bodyPr wrap="none">
            <a:spAutoFit/>
          </a:bodyPr>
          <a:p>
            <a:r>
              <a:rPr lang="zh-CN" altLang="en-US" dirty="0">
                <a:latin typeface="微软雅黑" panose="020B0503020204020204" pitchFamily="34" charset="-122"/>
                <a:ea typeface="微软雅黑" panose="020B0503020204020204" pitchFamily="34" charset="-122"/>
              </a:rPr>
              <a:t>对象建模</a:t>
            </a:r>
            <a:endParaRPr lang="zh-CN" altLang="en-US" dirty="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ppt_x"/>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ppt_x"/>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4" grpId="0" animBg="1"/>
      <p:bldP spid="12" grpId="0"/>
      <p:bldP spid="5" grpId="0" animBg="1"/>
      <p:bldP spid="16" grpId="0" animBg="1"/>
      <p:bldP spid="17" grpId="0" animBg="1"/>
      <p:bldP spid="18" grpId="0" animBg="1"/>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对象建模概述</a:t>
            </a:r>
            <a:endParaRPr lang="zh-CN" altLang="en-US" sz="4400" b="1" dirty="0">
              <a:latin typeface="微软雅黑" panose="020B0503020204020204" pitchFamily="34" charset="-122"/>
              <a:ea typeface="微软雅黑" panose="020B0503020204020204" pitchFamily="34" charset="-122"/>
            </a:endParaRPr>
          </a:p>
        </p:txBody>
      </p:sp>
      <p:sp>
        <p:nvSpPr>
          <p:cNvPr id="9" name="TextBox 8"/>
          <p:cNvSpPr txBox="1"/>
          <p:nvPr/>
        </p:nvSpPr>
        <p:spPr>
          <a:xfrm>
            <a:off x="527050" y="2054225"/>
            <a:ext cx="8591550" cy="4252913"/>
          </a:xfrm>
          <a:prstGeom prst="rect">
            <a:avLst/>
          </a:prstGeom>
          <a:noFill/>
        </p:spPr>
        <p:txBody>
          <a:bodyPr lIns="91430" tIns="45715" rIns="91430" bIns="45715">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对象建模就是建立系统的</a:t>
            </a:r>
            <a:r>
              <a:rPr kumimoji="1" lang="zh-CN" altLang="en-US" sz="2600" kern="1200" cap="none" spc="0" normalizeH="0" baseline="0" noProof="0" dirty="0">
                <a:solidFill>
                  <a:srgbClr val="FF0000"/>
                </a:solidFill>
                <a:latin typeface="+mn-lt"/>
                <a:ea typeface="+mn-ea"/>
                <a:cs typeface="+mn-cs"/>
              </a:rPr>
              <a:t>对象模型</a:t>
            </a:r>
            <a:endParaRPr kumimoji="1" lang="en-US" altLang="zh-CN" sz="2600" kern="1200" cap="none" spc="0" normalizeH="0" baseline="0" noProof="0" dirty="0">
              <a:solidFill>
                <a:srgbClr val="FF0000"/>
              </a:solidFill>
              <a:latin typeface="+mn-lt"/>
              <a:ea typeface="+mn-ea"/>
              <a:cs typeface="+mn-cs"/>
            </a:endParaRPr>
          </a:p>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对象模型反映了系统</a:t>
            </a:r>
            <a:r>
              <a:rPr kumimoji="1" lang="zh-CN" altLang="en-US" sz="2600" kern="1200" cap="none" spc="0" normalizeH="0" baseline="0" noProof="0" dirty="0">
                <a:solidFill>
                  <a:srgbClr val="FF0000"/>
                </a:solidFill>
                <a:latin typeface="+mn-lt"/>
                <a:ea typeface="+mn-ea"/>
                <a:cs typeface="+mn-cs"/>
              </a:rPr>
              <a:t>类与类之间的关系，</a:t>
            </a:r>
            <a:r>
              <a:rPr kumimoji="1" lang="zh-CN" altLang="en-US" sz="2600" kern="1200" cap="none" spc="0" normalizeH="0" baseline="0" noProof="0" dirty="0">
                <a:latin typeface="+mn-lt"/>
                <a:ea typeface="+mn-ea"/>
                <a:cs typeface="+mn-cs"/>
              </a:rPr>
              <a:t>体现了系统的</a:t>
            </a:r>
            <a:r>
              <a:rPr kumimoji="1" lang="zh-CN" altLang="en-US" sz="2600" kern="1200" cap="none" spc="0" normalizeH="0" baseline="0" noProof="0" dirty="0">
                <a:solidFill>
                  <a:srgbClr val="FF0000"/>
                </a:solidFill>
                <a:latin typeface="+mn-lt"/>
                <a:ea typeface="+mn-ea"/>
                <a:cs typeface="+mn-cs"/>
              </a:rPr>
              <a:t>静态结构</a:t>
            </a:r>
            <a:endParaRPr kumimoji="1" lang="en-US" altLang="zh-CN" sz="2600" kern="1200" cap="none" spc="0" normalizeH="0" baseline="0" noProof="0" dirty="0">
              <a:solidFill>
                <a:srgbClr val="FF0000"/>
              </a:solidFill>
              <a:latin typeface="+mn-lt"/>
              <a:ea typeface="+mn-ea"/>
              <a:cs typeface="+mn-cs"/>
            </a:endParaRPr>
          </a:p>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对象模型由类图来表示</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Char char="p"/>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kern="1200" cap="none" spc="0" normalizeH="0" baseline="0" noProof="0" dirty="0">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对象识别过程</a:t>
            </a:r>
            <a:endParaRPr lang="zh-CN" altLang="en-US" sz="4400" b="1" dirty="0">
              <a:latin typeface="微软雅黑" panose="020B0503020204020204" pitchFamily="34" charset="-122"/>
              <a:ea typeface="微软雅黑" panose="020B0503020204020204" pitchFamily="34" charset="-122"/>
            </a:endParaRPr>
          </a:p>
        </p:txBody>
      </p:sp>
      <p:sp>
        <p:nvSpPr>
          <p:cNvPr id="56323" name="矩形 4"/>
          <p:cNvSpPr/>
          <p:nvPr/>
        </p:nvSpPr>
        <p:spPr>
          <a:xfrm>
            <a:off x="742950" y="1982788"/>
            <a:ext cx="7488238" cy="2552065"/>
          </a:xfrm>
          <a:prstGeom prst="rect">
            <a:avLst/>
          </a:prstGeom>
          <a:noFill/>
          <a:ln w="9525">
            <a:noFill/>
          </a:ln>
        </p:spPr>
        <p:txBody>
          <a:bodyPr lIns="91430" tIns="45715" rIns="91430" bIns="45715">
            <a:spAutoFit/>
          </a:bodyPr>
          <a:p>
            <a:pPr marL="857250" lvl="1" indent="0" algn="just" eaLnBrk="1" hangingPunct="1">
              <a:buFont typeface="Wingdings" panose="05000000000000000000" pitchFamily="2" charset="2"/>
            </a:pPr>
            <a:r>
              <a:rPr lang="en-US" altLang="zh-CN" sz="3200" dirty="0">
                <a:latin typeface="楷体_GB2312" pitchFamily="49" charset="-122"/>
              </a:rPr>
              <a:t>1</a:t>
            </a:r>
            <a:r>
              <a:rPr lang="zh-CN" altLang="en-US" sz="3200" dirty="0">
                <a:latin typeface="楷体_GB2312" pitchFamily="49" charset="-122"/>
              </a:rPr>
              <a:t>．理解用例描述</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2</a:t>
            </a:r>
            <a:r>
              <a:rPr lang="zh-CN" altLang="en-US" sz="3200" dirty="0">
                <a:latin typeface="楷体_GB2312" pitchFamily="49" charset="-122"/>
              </a:rPr>
              <a:t>．识别对象和对象的属性</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3</a:t>
            </a:r>
            <a:r>
              <a:rPr lang="zh-CN" altLang="en-US" sz="3200" dirty="0">
                <a:latin typeface="楷体_GB2312" pitchFamily="49" charset="-122"/>
              </a:rPr>
              <a:t>．识别对象的操作</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4</a:t>
            </a:r>
            <a:r>
              <a:rPr lang="zh-CN" altLang="en-US" sz="3200" dirty="0">
                <a:latin typeface="楷体_GB2312" pitchFamily="49" charset="-122"/>
              </a:rPr>
              <a:t>．确定类与类之间的关系</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5</a:t>
            </a:r>
            <a:r>
              <a:rPr lang="zh-CN" altLang="en-US" sz="3200" dirty="0">
                <a:latin typeface="楷体_GB2312" pitchFamily="49" charset="-122"/>
              </a:rPr>
              <a:t>．评审</a:t>
            </a:r>
            <a:endParaRPr lang="en-US" altLang="zh-CN" sz="3200" dirty="0">
              <a:latin typeface="楷体_GB2312" pitchFamily="49" charset="-122"/>
            </a:endParaRPr>
          </a:p>
        </p:txBody>
      </p:sp>
      <p:sp>
        <p:nvSpPr>
          <p:cNvPr id="4" name="TextBox 3"/>
          <p:cNvSpPr txBox="1"/>
          <p:nvPr/>
        </p:nvSpPr>
        <p:spPr>
          <a:xfrm>
            <a:off x="742950" y="4932363"/>
            <a:ext cx="6761163" cy="1443990"/>
          </a:xfrm>
          <a:prstGeom prst="rect">
            <a:avLst/>
          </a:prstGeom>
          <a:noFill/>
          <a:ln w="9525">
            <a:noFill/>
          </a:ln>
        </p:spPr>
        <p:txBody>
          <a:bodyPr lIns="91221" tIns="45610" rIns="91221" bIns="45610">
            <a:spAutoFit/>
          </a:bodyPr>
          <a:p>
            <a:pPr eaLnBrk="1" hangingPunct="1">
              <a:buFont typeface="Wingdings" panose="05000000000000000000" pitchFamily="2" charset="2"/>
              <a:buNone/>
            </a:pPr>
            <a:r>
              <a:rPr lang="zh-CN" altLang="en-US" sz="3200" dirty="0">
                <a:solidFill>
                  <a:srgbClr val="FF0000"/>
                </a:solidFill>
                <a:latin typeface="Arial" panose="020B0604020202020204" pitchFamily="34" charset="0"/>
                <a:ea typeface="宋体" panose="02010600030101010101" pitchFamily="2" charset="-122"/>
              </a:rPr>
              <a:t>两大难题：</a:t>
            </a:r>
            <a:endParaRPr lang="en-US" altLang="zh-CN" sz="3200" dirty="0">
              <a:solidFill>
                <a:srgbClr val="FF0000"/>
              </a:solidFill>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solidFill>
                  <a:srgbClr val="FF0000"/>
                </a:solidFill>
                <a:latin typeface="Arial" panose="020B0604020202020204" pitchFamily="34" charset="0"/>
                <a:ea typeface="宋体" panose="02010600030101010101" pitchFamily="2" charset="-122"/>
              </a:rPr>
              <a:t>怎么识别对象？</a:t>
            </a:r>
            <a:endParaRPr lang="en-US" altLang="zh-CN" sz="2800" dirty="0">
              <a:solidFill>
                <a:srgbClr val="FF0000"/>
              </a:solidFill>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solidFill>
                  <a:srgbClr val="FF0000"/>
                </a:solidFill>
                <a:latin typeface="Arial" panose="020B0604020202020204" pitchFamily="34" charset="0"/>
                <a:ea typeface="宋体" panose="02010600030101010101" pitchFamily="2" charset="-122"/>
              </a:rPr>
              <a:t>怎么识别对象的操作？</a:t>
            </a:r>
            <a:endParaRPr lang="zh-CN" altLang="en-US" sz="2800" dirty="0">
              <a:solidFill>
                <a:srgbClr val="FF0000"/>
              </a:solidFill>
              <a:latin typeface="Arial" panose="020B0604020202020204" pitchFamily="34" charset="0"/>
              <a:ea typeface="宋体" panose="02010600030101010101" pitchFamily="2" charset="-122"/>
            </a:endParaRPr>
          </a:p>
        </p:txBody>
      </p:sp>
      <p:sp>
        <p:nvSpPr>
          <p:cNvPr id="5" name="TextBox 4"/>
          <p:cNvSpPr txBox="1"/>
          <p:nvPr/>
        </p:nvSpPr>
        <p:spPr>
          <a:xfrm>
            <a:off x="4775200" y="4932363"/>
            <a:ext cx="4164013" cy="1444625"/>
          </a:xfrm>
          <a:prstGeom prst="rect">
            <a:avLst/>
          </a:prstGeom>
          <a:noFill/>
          <a:ln w="9525">
            <a:noFill/>
          </a:ln>
        </p:spPr>
        <p:txBody>
          <a:bodyPr lIns="91221" tIns="45610" rIns="91221" bIns="45610">
            <a:spAutoFit/>
          </a:bodyPr>
          <a:p>
            <a:pPr eaLnBrk="1" hangingPunct="1">
              <a:buFont typeface="Wingdings" panose="05000000000000000000" pitchFamily="2" charset="2"/>
              <a:buNone/>
            </a:pPr>
            <a:r>
              <a:rPr lang="zh-CN" altLang="en-US" sz="3200" dirty="0">
                <a:solidFill>
                  <a:srgbClr val="FF0000"/>
                </a:solidFill>
                <a:latin typeface="Arial" panose="020B0604020202020204" pitchFamily="34" charset="0"/>
                <a:ea typeface="宋体" panose="02010600030101010101" pitchFamily="2" charset="-122"/>
              </a:rPr>
              <a:t>解决问题的主要技术：</a:t>
            </a:r>
            <a:endParaRPr lang="en-US" altLang="zh-CN" sz="3200" dirty="0">
              <a:solidFill>
                <a:srgbClr val="FF0000"/>
              </a:solidFill>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solidFill>
                  <a:srgbClr val="FF0000"/>
                </a:solidFill>
                <a:latin typeface="Arial" panose="020B0604020202020204" pitchFamily="34" charset="0"/>
                <a:ea typeface="宋体" panose="02010600030101010101" pitchFamily="2" charset="-122"/>
              </a:rPr>
              <a:t>分析类</a:t>
            </a:r>
            <a:endParaRPr lang="en-US" altLang="zh-CN" sz="2800" dirty="0">
              <a:solidFill>
                <a:srgbClr val="FF0000"/>
              </a:solidFill>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solidFill>
                  <a:srgbClr val="FF0000"/>
                </a:solidFill>
                <a:latin typeface="Arial" panose="020B0604020202020204" pitchFamily="34" charset="0"/>
                <a:ea typeface="宋体" panose="02010600030101010101" pitchFamily="2" charset="-122"/>
              </a:rPr>
              <a:t>为用例建立序列图</a:t>
            </a:r>
            <a:endParaRPr lang="zh-CN" altLang="en-US" sz="2800"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三种分析类</a:t>
            </a:r>
            <a:endParaRPr lang="zh-CN" altLang="en-US"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766888"/>
            <a:ext cx="8591550" cy="4610100"/>
          </a:xfrm>
          <a:prstGeom prst="rect">
            <a:avLst/>
          </a:prstGeom>
          <a:noFill/>
        </p:spPr>
        <p:txBody>
          <a:bodyPr lIns="91430" tIns="45715" rIns="91430" bIns="45715">
            <a:spAutoFit/>
          </a:bodyPr>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6565" algn="l"/>
              </a:tabLst>
              <a:defRPr/>
            </a:pPr>
            <a:r>
              <a:rPr kumimoji="1" lang="zh-CN" altLang="en-US" sz="2600" b="1" i="0" u="none" strike="noStrike" kern="1200" cap="none" spc="0" normalizeH="0" baseline="0" noProof="0" dirty="0">
                <a:ln>
                  <a:noFill/>
                </a:ln>
                <a:solidFill>
                  <a:schemeClr val="tx1"/>
                </a:solidFill>
                <a:effectLst/>
                <a:uLnTx/>
                <a:uFillTx/>
                <a:latin typeface="+mn-lt"/>
                <a:ea typeface="+mn-ea"/>
                <a:cs typeface="+mn-cs"/>
              </a:rPr>
              <a:t>在系统分析中，在</a:t>
            </a:r>
            <a:r>
              <a:rPr kumimoji="1" lang="zh-CN" altLang="en-US" sz="2600" b="1" i="0" u="none" strike="noStrike" kern="1200" cap="none" spc="0" normalizeH="0" baseline="0" noProof="0" dirty="0">
                <a:ln>
                  <a:noFill/>
                </a:ln>
                <a:solidFill>
                  <a:srgbClr val="FF0000"/>
                </a:solidFill>
                <a:effectLst/>
                <a:uLnTx/>
                <a:uFillTx/>
                <a:latin typeface="+mn-lt"/>
                <a:ea typeface="+mn-ea"/>
                <a:cs typeface="+mn-cs"/>
              </a:rPr>
              <a:t>较高层次</a:t>
            </a:r>
            <a:r>
              <a:rPr kumimoji="1" lang="zh-CN" altLang="en-US" sz="2600" b="1" i="0" u="none" strike="noStrike" kern="1200" cap="none" spc="0" normalizeH="0" baseline="0" noProof="0" dirty="0">
                <a:ln>
                  <a:noFill/>
                </a:ln>
                <a:solidFill>
                  <a:schemeClr val="tx1"/>
                </a:solidFill>
                <a:effectLst/>
                <a:uLnTx/>
                <a:uFillTx/>
                <a:latin typeface="+mn-lt"/>
                <a:ea typeface="+mn-ea"/>
                <a:cs typeface="+mn-cs"/>
              </a:rPr>
              <a:t>上对</a:t>
            </a:r>
            <a:r>
              <a:rPr kumimoji="1" lang="zh-CN" altLang="en-US" sz="2600" b="1" i="0" u="none" strike="noStrike" kern="1200" cap="none" spc="0" normalizeH="0" baseline="0" noProof="0" dirty="0">
                <a:ln>
                  <a:noFill/>
                </a:ln>
                <a:solidFill>
                  <a:srgbClr val="FF0000"/>
                </a:solidFill>
                <a:effectLst/>
                <a:uLnTx/>
                <a:uFillTx/>
                <a:latin typeface="+mn-lt"/>
                <a:ea typeface="+mn-ea"/>
                <a:cs typeface="+mn-cs"/>
              </a:rPr>
              <a:t>系统对象的一种划分</a:t>
            </a:r>
            <a:endParaRPr kumimoji="1" lang="en-US" altLang="zh-CN" sz="2600" b="1" i="0" u="none" strike="noStrike" kern="1200" cap="none" spc="0" normalizeH="0" baseline="0" noProof="0" dirty="0">
              <a:ln>
                <a:noFill/>
              </a:ln>
              <a:solidFill>
                <a:schemeClr val="tx1"/>
              </a:solidFill>
              <a:effectLst/>
              <a:uLnTx/>
              <a:uFillTx/>
              <a:latin typeface="+mn-lt"/>
              <a:ea typeface="+mn-ea"/>
              <a:cs typeface="+mn-cs"/>
            </a:endParaRPr>
          </a:p>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黑体" panose="02010609060101010101" pitchFamily="49" charset="-122"/>
                <a:ea typeface="黑体" panose="02010609060101010101" pitchFamily="49" charset="-122"/>
                <a:cs typeface="+mn-cs"/>
              </a:rPr>
              <a:t>三种分析类</a:t>
            </a:r>
            <a:endParaRPr kumimoji="1" lang="en-US" altLang="zh-CN" sz="2600" kern="1200" cap="none" spc="0" normalizeH="0" baseline="0" noProof="0" dirty="0">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边界类：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描述与参与者直接打交道的对象，一般是</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UI</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界面</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控制类：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描述系统的行为，即系统做什么</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实体类：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描述系统的中的数据信息（</a:t>
            </a:r>
            <a:r>
              <a:rPr kumimoji="1" lang="zh-CN" altLang="en-US" sz="2400" b="1" i="0" u="sng"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有些数据是实体类，而有些是实体类的属性</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b="1" i="0" u="none" strike="noStrike" kern="1200" cap="none" spc="0" normalizeH="0" baseline="0" noProof="0" dirty="0">
                <a:ln>
                  <a:noFill/>
                </a:ln>
                <a:solidFill>
                  <a:schemeClr val="tx1"/>
                </a:solidFill>
                <a:effectLst/>
                <a:uLnTx/>
                <a:uFillTx/>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3"/>
          <p:cNvSpPr>
            <a:spLocks noGrp="1"/>
          </p:cNvSpPr>
          <p:nvPr>
            <p:ph idx="1"/>
          </p:nvPr>
        </p:nvSpPr>
        <p:spPr>
          <a:xfrm>
            <a:off x="671513" y="2054225"/>
            <a:ext cx="8208962" cy="4106863"/>
          </a:xfrm>
        </p:spPr>
        <p:txBody>
          <a:bodyPr vert="horz" wrap="square" lIns="91212" tIns="45605" rIns="91212" bIns="45605" anchor="t" anchorCtr="0"/>
          <a:p>
            <a:pPr defTabSz="914400">
              <a:lnSpc>
                <a:spcPct val="150000"/>
              </a:lnSpc>
              <a:buFont typeface="Wingdings" panose="05000000000000000000" pitchFamily="2" charset="2"/>
              <a:buChar char="p"/>
              <a:tabLst>
                <a:tab pos="455930" algn="l"/>
              </a:tabLst>
            </a:pPr>
            <a:r>
              <a:rPr lang="en-US" altLang="zh-CN" b="1" dirty="0">
                <a:latin typeface="黑体" panose="02010609060101010101" pitchFamily="49" charset="-122"/>
                <a:ea typeface="黑体" panose="02010609060101010101" pitchFamily="49" charset="-122"/>
              </a:rPr>
              <a:t>MVC</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Model,View,Controller</a:t>
            </a:r>
            <a:endParaRPr lang="zh-CN" altLang="en-US" b="1" dirty="0">
              <a:latin typeface="黑体" panose="02010609060101010101" pitchFamily="49" charset="-122"/>
              <a:ea typeface="黑体" panose="02010609060101010101" pitchFamily="49" charset="-122"/>
            </a:endParaRPr>
          </a:p>
          <a:p>
            <a:pPr defTabSz="914400">
              <a:lnSpc>
                <a:spcPct val="150000"/>
              </a:lnSpc>
              <a:buFont typeface="Wingdings" panose="05000000000000000000" pitchFamily="2" charset="2"/>
              <a:buChar char="p"/>
              <a:tabLst>
                <a:tab pos="455930" algn="l"/>
              </a:tabLst>
            </a:pPr>
            <a:r>
              <a:rPr lang="zh-CN" altLang="en-US" b="1" dirty="0">
                <a:latin typeface="黑体" panose="02010609060101010101" pitchFamily="49" charset="-122"/>
                <a:ea typeface="黑体" panose="02010609060101010101" pitchFamily="49" charset="-122"/>
              </a:rPr>
              <a:t>一种设计框架，以</a:t>
            </a:r>
            <a:r>
              <a:rPr lang="zh-CN" altLang="en-US" b="1" dirty="0">
                <a:solidFill>
                  <a:srgbClr val="FF0000"/>
                </a:solidFill>
                <a:latin typeface="黑体" panose="02010609060101010101" pitchFamily="49" charset="-122"/>
                <a:ea typeface="黑体" panose="02010609060101010101" pitchFamily="49" charset="-122"/>
              </a:rPr>
              <a:t>业务逻辑、数据、界面显示</a:t>
            </a:r>
            <a:r>
              <a:rPr lang="zh-CN" altLang="en-US" b="1" dirty="0">
                <a:latin typeface="黑体" panose="02010609060101010101" pitchFamily="49" charset="-122"/>
                <a:ea typeface="黑体" panose="02010609060101010101" pitchFamily="49" charset="-122"/>
              </a:rPr>
              <a:t>分离的方法组织代码：</a:t>
            </a:r>
            <a:endParaRPr lang="zh-CN" altLang="en-US" b="1" dirty="0">
              <a:latin typeface="黑体" panose="02010609060101010101" pitchFamily="49" charset="-122"/>
              <a:ea typeface="黑体" panose="02010609060101010101" pitchFamily="49" charset="-122"/>
            </a:endParaRPr>
          </a:p>
          <a:p>
            <a:pPr lvl="1" defTabSz="914400">
              <a:lnSpc>
                <a:spcPct val="150000"/>
              </a:lnSpc>
              <a:buFont typeface="Wingdings" panose="05000000000000000000" pitchFamily="2" charset="2"/>
              <a:buChar char="ü"/>
              <a:tabLst>
                <a:tab pos="455930" algn="l"/>
              </a:tabLst>
            </a:pPr>
            <a:r>
              <a:rPr lang="zh-CN" altLang="en-US" b="1" dirty="0">
                <a:latin typeface="黑体" panose="02010609060101010101" pitchFamily="49" charset="-122"/>
                <a:ea typeface="黑体" panose="02010609060101010101" pitchFamily="49" charset="-122"/>
              </a:rPr>
              <a:t>模型：程序的数据部分</a:t>
            </a:r>
            <a:endParaRPr lang="en-US" altLang="zh-CN" b="1" dirty="0">
              <a:latin typeface="黑体" panose="02010609060101010101" pitchFamily="49" charset="-122"/>
              <a:ea typeface="黑体" panose="02010609060101010101" pitchFamily="49" charset="-122"/>
            </a:endParaRPr>
          </a:p>
          <a:p>
            <a:pPr lvl="1" defTabSz="914400">
              <a:lnSpc>
                <a:spcPct val="150000"/>
              </a:lnSpc>
              <a:buFont typeface="Wingdings" panose="05000000000000000000" pitchFamily="2" charset="2"/>
              <a:buChar char="ü"/>
              <a:tabLst>
                <a:tab pos="455930" algn="l"/>
              </a:tabLst>
            </a:pPr>
            <a:r>
              <a:rPr lang="zh-CN" altLang="en-US" b="1" dirty="0">
                <a:latin typeface="黑体" panose="02010609060101010101" pitchFamily="49" charset="-122"/>
                <a:ea typeface="黑体" panose="02010609060101010101" pitchFamily="49" charset="-122"/>
              </a:rPr>
              <a:t>视图：程序的用户界面部分</a:t>
            </a:r>
            <a:endParaRPr lang="en-US" altLang="zh-CN" b="1" dirty="0">
              <a:latin typeface="黑体" panose="02010609060101010101" pitchFamily="49" charset="-122"/>
              <a:ea typeface="黑体" panose="02010609060101010101" pitchFamily="49" charset="-122"/>
            </a:endParaRPr>
          </a:p>
          <a:p>
            <a:pPr lvl="1" defTabSz="914400">
              <a:lnSpc>
                <a:spcPct val="150000"/>
              </a:lnSpc>
              <a:buFont typeface="Wingdings" panose="05000000000000000000" pitchFamily="2" charset="2"/>
              <a:buChar char="ü"/>
              <a:tabLst>
                <a:tab pos="455930" algn="l"/>
              </a:tabLst>
            </a:pPr>
            <a:r>
              <a:rPr lang="zh-CN" altLang="en-US" b="1" dirty="0">
                <a:latin typeface="黑体" panose="02010609060101010101" pitchFamily="49" charset="-122"/>
                <a:ea typeface="黑体" panose="02010609060101010101" pitchFamily="49" charset="-122"/>
              </a:rPr>
              <a:t>控制器：模型与视图的中介，负责业务过程的处理</a:t>
            </a:r>
            <a:endParaRPr lang="zh-CN" altLang="en-US" b="1" dirty="0">
              <a:latin typeface="黑体" panose="02010609060101010101" pitchFamily="49" charset="-122"/>
              <a:ea typeface="黑体" panose="02010609060101010101" pitchFamily="49" charset="-122"/>
            </a:endParaRPr>
          </a:p>
        </p:txBody>
      </p:sp>
      <p:sp>
        <p:nvSpPr>
          <p:cNvPr id="58371" name="Rectangle 2"/>
          <p:cNvSpPr>
            <a:spLocks noGrp="1"/>
          </p:cNvSpPr>
          <p:nvPr>
            <p:ph type="title"/>
          </p:nvPr>
        </p:nvSpPr>
        <p:spPr>
          <a:xfrm>
            <a:off x="455613" y="542925"/>
            <a:ext cx="7747000" cy="1139825"/>
          </a:xfrm>
        </p:spPr>
        <p:txBody>
          <a:bodyPr vert="horz" wrap="square" lIns="0" tIns="45605" rIns="0" bIns="0" anchor="b" anchorCtr="0"/>
          <a:p>
            <a:r>
              <a:rPr lang="zh-CN" altLang="en-US" b="1" dirty="0">
                <a:latin typeface="微软雅黑" panose="020B0503020204020204" pitchFamily="34" charset="-122"/>
                <a:ea typeface="微软雅黑" panose="020B0503020204020204" pitchFamily="34" charset="-122"/>
              </a:rPr>
              <a:t>三种分析类与</a:t>
            </a:r>
            <a:r>
              <a:rPr lang="en-US" altLang="zh-CN" b="1" dirty="0">
                <a:solidFill>
                  <a:srgbClr val="FF0000"/>
                </a:solidFill>
                <a:latin typeface="微软雅黑" panose="020B0503020204020204" pitchFamily="34" charset="-122"/>
                <a:ea typeface="微软雅黑" panose="020B0503020204020204" pitchFamily="34" charset="-122"/>
              </a:rPr>
              <a:t>MVC</a:t>
            </a:r>
            <a:endParaRPr lang="zh-CN" altLang="en-US" dirty="0">
              <a:solidFill>
                <a:srgbClr val="FF0000"/>
              </a:solidFill>
            </a:endParaRPr>
          </a:p>
        </p:txBody>
      </p:sp>
      <p:sp>
        <p:nvSpPr>
          <p:cNvPr id="4" name="TextBox 3"/>
          <p:cNvSpPr txBox="1"/>
          <p:nvPr/>
        </p:nvSpPr>
        <p:spPr>
          <a:xfrm>
            <a:off x="1751013" y="6029325"/>
            <a:ext cx="6840537" cy="708025"/>
          </a:xfrm>
          <a:prstGeom prst="rect">
            <a:avLst/>
          </a:prstGeom>
          <a:noFill/>
          <a:ln w="9525">
            <a:noFill/>
          </a:ln>
        </p:spPr>
        <p:txBody>
          <a:bodyPr>
            <a:spAutoFit/>
          </a:bodyPr>
          <a:p>
            <a:pPr eaLnBrk="1" hangingPunct="1">
              <a:buFont typeface="Wingdings" panose="05000000000000000000" pitchFamily="2" charset="2"/>
            </a:pPr>
            <a:r>
              <a:rPr lang="en-US" altLang="zh-CN" sz="4000" dirty="0">
                <a:solidFill>
                  <a:srgbClr val="FF0000"/>
                </a:solidFill>
                <a:latin typeface="黑体" panose="02010609060101010101" pitchFamily="49" charset="-122"/>
              </a:rPr>
              <a:t>MVC</a:t>
            </a:r>
            <a:r>
              <a:rPr lang="zh-CN" altLang="en-US" sz="4000" dirty="0">
                <a:solidFill>
                  <a:srgbClr val="FF0000"/>
                </a:solidFill>
                <a:latin typeface="黑体" panose="02010609060101010101" pitchFamily="49" charset="-122"/>
              </a:rPr>
              <a:t>与面向对象无关！！！！</a:t>
            </a:r>
            <a:endParaRPr lang="zh-CN" altLang="en-US" sz="4000" dirty="0">
              <a:solidFill>
                <a:srgbClr val="FF0000"/>
              </a:solidFill>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三种分析类</a:t>
            </a:r>
            <a:endParaRPr lang="zh-CN" altLang="en-US"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766888"/>
            <a:ext cx="8591550" cy="4610100"/>
          </a:xfrm>
          <a:prstGeom prst="rect">
            <a:avLst/>
          </a:prstGeom>
          <a:noFill/>
        </p:spPr>
        <p:txBody>
          <a:bodyPr lIns="91430" tIns="45715" rIns="91430" bIns="45715">
            <a:spAutoFit/>
          </a:bodyPr>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6565" algn="l"/>
              </a:tabLst>
              <a:defRPr/>
            </a:pPr>
            <a:r>
              <a:rPr kumimoji="1" lang="zh-CN" altLang="en-US" sz="2600" b="1" i="0" u="none" strike="noStrike" kern="1200" cap="none" spc="0" normalizeH="0" baseline="0" noProof="0" dirty="0">
                <a:ln>
                  <a:noFill/>
                </a:ln>
                <a:solidFill>
                  <a:schemeClr val="tx1"/>
                </a:solidFill>
                <a:effectLst/>
                <a:uLnTx/>
                <a:uFillTx/>
                <a:latin typeface="+mn-lt"/>
                <a:ea typeface="+mn-ea"/>
                <a:cs typeface="+mn-cs"/>
              </a:rPr>
              <a:t>在系统分析中，在</a:t>
            </a:r>
            <a:r>
              <a:rPr kumimoji="1" lang="zh-CN" altLang="en-US" sz="2600" b="1" i="0" u="none" strike="noStrike" kern="1200" cap="none" spc="0" normalizeH="0" baseline="0" noProof="0" dirty="0">
                <a:ln>
                  <a:noFill/>
                </a:ln>
                <a:solidFill>
                  <a:srgbClr val="FF0000"/>
                </a:solidFill>
                <a:effectLst/>
                <a:uLnTx/>
                <a:uFillTx/>
                <a:latin typeface="+mn-lt"/>
                <a:ea typeface="+mn-ea"/>
                <a:cs typeface="+mn-cs"/>
              </a:rPr>
              <a:t>较高层次</a:t>
            </a:r>
            <a:r>
              <a:rPr kumimoji="1" lang="zh-CN" altLang="en-US" sz="2600" b="1" i="0" u="none" strike="noStrike" kern="1200" cap="none" spc="0" normalizeH="0" baseline="0" noProof="0" dirty="0">
                <a:ln>
                  <a:noFill/>
                </a:ln>
                <a:solidFill>
                  <a:schemeClr val="tx1"/>
                </a:solidFill>
                <a:effectLst/>
                <a:uLnTx/>
                <a:uFillTx/>
                <a:latin typeface="+mn-lt"/>
                <a:ea typeface="+mn-ea"/>
                <a:cs typeface="+mn-cs"/>
              </a:rPr>
              <a:t>上对</a:t>
            </a:r>
            <a:r>
              <a:rPr kumimoji="1" lang="zh-CN" altLang="en-US" sz="2600" b="1" i="0" u="none" strike="noStrike" kern="1200" cap="none" spc="0" normalizeH="0" baseline="0" noProof="0" dirty="0">
                <a:ln>
                  <a:noFill/>
                </a:ln>
                <a:solidFill>
                  <a:srgbClr val="FF0000"/>
                </a:solidFill>
                <a:effectLst/>
                <a:uLnTx/>
                <a:uFillTx/>
                <a:latin typeface="+mn-lt"/>
                <a:ea typeface="+mn-ea"/>
                <a:cs typeface="+mn-cs"/>
              </a:rPr>
              <a:t>系统对象的一种划分</a:t>
            </a:r>
            <a:endParaRPr kumimoji="1" lang="en-US" altLang="zh-CN" sz="2600" b="1" i="0" u="none" strike="noStrike" kern="1200" cap="none" spc="0" normalizeH="0" baseline="0" noProof="0" dirty="0">
              <a:ln>
                <a:noFill/>
              </a:ln>
              <a:solidFill>
                <a:schemeClr val="tx1"/>
              </a:solidFill>
              <a:effectLst/>
              <a:uLnTx/>
              <a:uFillTx/>
              <a:latin typeface="+mn-lt"/>
              <a:ea typeface="+mn-ea"/>
              <a:cs typeface="+mn-cs"/>
            </a:endParaRPr>
          </a:p>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黑体" panose="02010609060101010101" pitchFamily="49" charset="-122"/>
                <a:ea typeface="黑体" panose="02010609060101010101" pitchFamily="49" charset="-122"/>
                <a:cs typeface="+mn-cs"/>
              </a:rPr>
              <a:t>三种分析类</a:t>
            </a:r>
            <a:endParaRPr kumimoji="1" lang="en-US" altLang="zh-CN" sz="2600" kern="1200" cap="none" spc="0" normalizeH="0" baseline="0" noProof="0" dirty="0">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边界类：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描述与参与者直接打交道的对象，一般是</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UI</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界面</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控制类：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描述系统的行为，即系统做什么</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实体类：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描述系统的中的数据信息（</a:t>
            </a:r>
            <a:r>
              <a:rPr kumimoji="1" lang="zh-CN" altLang="en-US" sz="2400" b="1" i="0" u="sng"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有些数据是实体类，而有些是实体类的属性</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b="1" i="0" u="none" strike="noStrike" kern="1200" cap="none" spc="0" normalizeH="0" baseline="0" noProof="0" dirty="0">
                <a:ln>
                  <a:noFill/>
                </a:ln>
                <a:solidFill>
                  <a:schemeClr val="tx1"/>
                </a:solidFill>
                <a:effectLst/>
                <a:uLnTx/>
                <a:uFillTx/>
                <a:latin typeface="+mn-lt"/>
                <a:ea typeface="+mn-ea"/>
                <a:cs typeface="+mn-cs"/>
              </a:rPr>
              <a:t>        </a:t>
            </a:r>
            <a:endParaRPr kumimoji="1" lang="zh-CN" altLang="en-US" sz="2600" kern="1200" cap="none" spc="0" normalizeH="0" baseline="0" noProof="0" dirty="0">
              <a:latin typeface="+mn-lt"/>
              <a:ea typeface="+mn-ea"/>
              <a:cs typeface="+mn-cs"/>
            </a:endParaRPr>
          </a:p>
        </p:txBody>
      </p:sp>
      <p:sp>
        <p:nvSpPr>
          <p:cNvPr id="6" name="矩形 5"/>
          <p:cNvSpPr/>
          <p:nvPr/>
        </p:nvSpPr>
        <p:spPr>
          <a:xfrm>
            <a:off x="968375" y="5654675"/>
            <a:ext cx="7559675" cy="828675"/>
          </a:xfrm>
          <a:prstGeom prst="rect">
            <a:avLst/>
          </a:prstGeom>
          <a:noFill/>
          <a:ln w="22225" cap="flat" cmpd="sng">
            <a:solidFill>
              <a:schemeClr val="tx1"/>
            </a:solidFill>
            <a:prstDash val="solid"/>
            <a:miter/>
            <a:headEnd type="none" w="med" len="med"/>
            <a:tailEnd type="none" w="med" len="med"/>
          </a:ln>
        </p:spPr>
        <p:txBody>
          <a:bodyPr lIns="91430" tIns="45715" rIns="91430" bIns="45715">
            <a:spAutoFit/>
          </a:bodyPr>
          <a:p>
            <a:pPr eaLnBrk="1" hangingPunct="1">
              <a:buFont typeface="Wingdings" panose="05000000000000000000" pitchFamily="2" charset="2"/>
            </a:pPr>
            <a:r>
              <a:rPr lang="zh-CN" altLang="en-US" u="sng" dirty="0">
                <a:solidFill>
                  <a:srgbClr val="FF0000"/>
                </a:solidFill>
                <a:latin typeface="黑体" panose="02010609060101010101" pitchFamily="49" charset="-122"/>
              </a:rPr>
              <a:t>边界类对象</a:t>
            </a:r>
            <a:r>
              <a:rPr lang="zh-CN" altLang="en-US" dirty="0">
                <a:latin typeface="黑体" panose="02010609060101010101" pitchFamily="49" charset="-122"/>
              </a:rPr>
              <a:t>和</a:t>
            </a:r>
            <a:r>
              <a:rPr lang="zh-CN" altLang="en-US" u="sng" dirty="0">
                <a:solidFill>
                  <a:srgbClr val="FF0000"/>
                </a:solidFill>
                <a:latin typeface="黑体" panose="02010609060101010101" pitchFamily="49" charset="-122"/>
              </a:rPr>
              <a:t>实体类对象</a:t>
            </a:r>
            <a:r>
              <a:rPr lang="zh-CN" altLang="en-US" dirty="0">
                <a:latin typeface="黑体" panose="02010609060101010101" pitchFamily="49" charset="-122"/>
              </a:rPr>
              <a:t>都对应于用例描述中的</a:t>
            </a:r>
            <a:r>
              <a:rPr lang="zh-CN" altLang="en-US" u="sng" dirty="0">
                <a:solidFill>
                  <a:srgbClr val="FF0000"/>
                </a:solidFill>
                <a:latin typeface="黑体" panose="02010609060101010101" pitchFamily="49" charset="-122"/>
              </a:rPr>
              <a:t>名词</a:t>
            </a:r>
            <a:r>
              <a:rPr lang="zh-CN" altLang="en-US" dirty="0">
                <a:latin typeface="黑体" panose="02010609060101010101" pitchFamily="49" charset="-122"/>
              </a:rPr>
              <a:t>，而</a:t>
            </a:r>
            <a:r>
              <a:rPr lang="zh-CN" altLang="en-US" u="sng" dirty="0">
                <a:solidFill>
                  <a:srgbClr val="FF0000"/>
                </a:solidFill>
                <a:latin typeface="黑体" panose="02010609060101010101" pitchFamily="49" charset="-122"/>
              </a:rPr>
              <a:t>控制类对象</a:t>
            </a:r>
            <a:r>
              <a:rPr lang="zh-CN" altLang="en-US" dirty="0">
                <a:latin typeface="黑体" panose="02010609060101010101" pitchFamily="49" charset="-122"/>
              </a:rPr>
              <a:t>对应于用例描述中的</a:t>
            </a:r>
            <a:r>
              <a:rPr lang="zh-CN" altLang="en-US" u="sng" dirty="0">
                <a:solidFill>
                  <a:srgbClr val="FF0000"/>
                </a:solidFill>
                <a:latin typeface="黑体" panose="02010609060101010101" pitchFamily="49" charset="-122"/>
              </a:rPr>
              <a:t>动词</a:t>
            </a:r>
            <a:r>
              <a:rPr lang="en-US" altLang="zh-CN" dirty="0">
                <a:latin typeface="黑体" panose="02010609060101010101" pitchFamily="49" charset="-122"/>
              </a:rPr>
              <a:t> </a:t>
            </a:r>
            <a:endParaRPr lang="zh-CN" altLang="en-US" dirty="0">
              <a:latin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三种分析类</a:t>
            </a:r>
            <a:endParaRPr lang="zh-CN" altLang="en-US" sz="4400"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550988"/>
            <a:ext cx="8591550" cy="1184275"/>
          </a:xfrm>
          <a:prstGeom prst="rect">
            <a:avLst/>
          </a:prstGeom>
          <a:noFill/>
        </p:spPr>
        <p:txBody>
          <a:bodyPr lIns="91430" tIns="45715" rIns="91430" bIns="45715">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三种分析类举例</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3200" kern="1200" cap="none" spc="0" normalizeH="0" baseline="0" noProof="0" dirty="0">
                <a:latin typeface="+mn-lt"/>
                <a:ea typeface="+mn-ea"/>
                <a:cs typeface="+mn-cs"/>
              </a:rPr>
              <a:t>     </a:t>
            </a:r>
            <a:endParaRPr kumimoji="1" lang="zh-CN" altLang="en-US" sz="3200" kern="1200" cap="none" spc="0" normalizeH="0" baseline="0" noProof="0" dirty="0">
              <a:latin typeface="+mn-lt"/>
              <a:ea typeface="+mn-ea"/>
              <a:cs typeface="+mn-cs"/>
            </a:endParaRPr>
          </a:p>
        </p:txBody>
      </p:sp>
      <p:sp>
        <p:nvSpPr>
          <p:cNvPr id="5" name="Rectangle 3"/>
          <p:cNvSpPr txBox="1">
            <a:spLocks noChangeArrowheads="1"/>
          </p:cNvSpPr>
          <p:nvPr/>
        </p:nvSpPr>
        <p:spPr bwMode="auto">
          <a:xfrm>
            <a:off x="238125" y="2136775"/>
            <a:ext cx="888047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12" tIns="45605" rIns="91212" bIns="45605"/>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795"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9480"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3165"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marR="0" lvl="0" indent="0" algn="l" defTabSz="914400" rtl="0" eaLnBrk="0" fontAlgn="base" latinLnBrk="0" hangingPunct="0">
              <a:lnSpc>
                <a:spcPct val="90000"/>
              </a:lnSpc>
              <a:spcBef>
                <a:spcPct val="20000"/>
              </a:spcBef>
              <a:spcAft>
                <a:spcPct val="0"/>
              </a:spcAft>
              <a:buClr>
                <a:srgbClr val="0BD0D9"/>
              </a:buClr>
              <a:buSzPct val="95000"/>
              <a:buFont typeface="Wingdings 2" panose="05020102010507070707" pitchFamily="18" charset="2"/>
              <a:buNone/>
              <a:defRPr/>
            </a:pPr>
            <a:r>
              <a:rPr kumimoji="1" lang="zh-CN" altLang="en-US" sz="2400" b="1" i="0" u="none" strike="noStrike" kern="1200" cap="none" spc="0" normalizeH="0" baseline="0" noProof="0" dirty="0">
                <a:ln>
                  <a:noFill/>
                </a:ln>
                <a:solidFill>
                  <a:srgbClr val="FF0000"/>
                </a:solidFill>
                <a:effectLst/>
                <a:uLnTx/>
                <a:uFillTx/>
                <a:latin typeface="楷体_GB2312" pitchFamily="49" charset="-122"/>
                <a:ea typeface="+mn-ea"/>
                <a:cs typeface="+mn-cs"/>
              </a:rPr>
              <a:t>用例名称</a:t>
            </a:r>
            <a:r>
              <a:rPr kumimoji="1"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rPr>
              <a:t>：开户</a:t>
            </a:r>
            <a:endParaRPr kumimoji="1" lang="en-US" altLang="zh-CN" sz="24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0" marR="0" lvl="0" indent="0" algn="l" defTabSz="914400" rtl="0" eaLnBrk="0" fontAlgn="base" latinLnBrk="0" hangingPunct="0">
              <a:lnSpc>
                <a:spcPct val="90000"/>
              </a:lnSpc>
              <a:spcBef>
                <a:spcPct val="20000"/>
              </a:spcBef>
              <a:spcAft>
                <a:spcPct val="0"/>
              </a:spcAft>
              <a:buClr>
                <a:srgbClr val="0BD0D9"/>
              </a:buClr>
              <a:buSzPct val="95000"/>
              <a:buFont typeface="Wingdings 2" panose="05020102010507070707" pitchFamily="18" charset="2"/>
              <a:buNone/>
              <a:defRPr/>
            </a:pPr>
            <a:r>
              <a:rPr kumimoji="1" lang="en-US" altLang="zh-CN" sz="2400" b="1" i="0" u="none" strike="noStrike" kern="1200" cap="none" spc="0" normalizeH="0" baseline="0" noProof="0" dirty="0">
                <a:ln>
                  <a:noFill/>
                </a:ln>
                <a:solidFill>
                  <a:schemeClr val="tx1"/>
                </a:solidFill>
                <a:effectLst/>
                <a:uLnTx/>
                <a:uFillTx/>
                <a:latin typeface="楷体_GB2312" pitchFamily="49" charset="-122"/>
                <a:ea typeface="+mn-ea"/>
                <a:cs typeface="+mn-cs"/>
              </a:rPr>
              <a:t> </a:t>
            </a:r>
            <a:r>
              <a:rPr kumimoji="1" lang="en-US" altLang="zh-CN" sz="2400" b="1" i="0" u="none" strike="noStrike" kern="1200" cap="none" spc="0" normalizeH="0" baseline="0" noProof="0" dirty="0">
                <a:ln>
                  <a:noFill/>
                </a:ln>
                <a:solidFill>
                  <a:srgbClr val="FF0000"/>
                </a:solidFill>
                <a:effectLst/>
                <a:uLnTx/>
                <a:uFillTx/>
                <a:latin typeface="楷体_GB2312" pitchFamily="49" charset="-122"/>
                <a:ea typeface="+mn-ea"/>
                <a:cs typeface="+mn-cs"/>
              </a:rPr>
              <a:t>……</a:t>
            </a:r>
            <a:endParaRPr kumimoji="1" lang="en-US" altLang="zh-CN" sz="2400" b="1" i="0" u="none" strike="noStrike" kern="1200" cap="none" spc="0" normalizeH="0" baseline="0" noProof="0" dirty="0">
              <a:ln>
                <a:noFill/>
              </a:ln>
              <a:solidFill>
                <a:srgbClr val="FF0000"/>
              </a:solidFill>
              <a:effectLst/>
              <a:uLnTx/>
              <a:uFillTx/>
              <a:latin typeface="楷体_GB2312" pitchFamily="49" charset="-122"/>
              <a:ea typeface="+mn-ea"/>
              <a:cs typeface="+mn-cs"/>
            </a:endParaRPr>
          </a:p>
          <a:p>
            <a:pPr marL="0" marR="0" lvl="0" indent="0" algn="l" defTabSz="914400" rtl="0" eaLnBrk="0" fontAlgn="base" latinLnBrk="0" hangingPunct="0">
              <a:lnSpc>
                <a:spcPct val="90000"/>
              </a:lnSpc>
              <a:spcBef>
                <a:spcPct val="0"/>
              </a:spcBef>
              <a:spcAft>
                <a:spcPct val="0"/>
              </a:spcAft>
              <a:buClr>
                <a:srgbClr val="0BD0D9"/>
              </a:buClr>
              <a:buSzPct val="95000"/>
              <a:buFont typeface="Wingdings 2" panose="05020102010507070707" pitchFamily="18" charset="2"/>
              <a:buNone/>
              <a:defRPr/>
            </a:pPr>
            <a:r>
              <a:rPr kumimoji="1" lang="zh-CN" altLang="en-US" sz="2400" b="1" i="0" u="none" strike="noStrike" kern="1200" cap="none" spc="0" normalizeH="0" baseline="0" noProof="0" dirty="0">
                <a:ln>
                  <a:noFill/>
                </a:ln>
                <a:solidFill>
                  <a:srgbClr val="FF0000"/>
                </a:solidFill>
                <a:effectLst/>
                <a:uLnTx/>
                <a:uFillTx/>
                <a:latin typeface="楷体_GB2312" pitchFamily="49" charset="-122"/>
                <a:ea typeface="+mn-ea"/>
                <a:cs typeface="+mn-cs"/>
              </a:rPr>
              <a:t>事件流</a:t>
            </a:r>
            <a:r>
              <a:rPr kumimoji="1"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1.</a:t>
            </a:r>
            <a:r>
              <a:rPr kumimoji="1" lang="zh-CN" altLang="en-US" sz="2000" b="1" i="0" u="none" strike="noStrike" kern="1200" cap="none" spc="0" normalizeH="0" baseline="0" noProof="0" dirty="0">
                <a:ln>
                  <a:noFill/>
                </a:ln>
                <a:solidFill>
                  <a:schemeClr val="tx1"/>
                </a:solidFill>
                <a:effectLst/>
                <a:uLnTx/>
                <a:uFillTx/>
                <a:latin typeface="楷体_GB2312" pitchFamily="49" charset="-122"/>
                <a:ea typeface="+mn-ea"/>
                <a:cs typeface="+mn-cs"/>
              </a:rPr>
              <a:t>银行职员在</a:t>
            </a:r>
            <a:r>
              <a:rPr kumimoji="1" lang="zh-CN" altLang="en-US" sz="2000" b="1" i="0" u="sng" strike="noStrike" kern="1200" cap="none" spc="0" normalizeH="0" baseline="0" noProof="0" dirty="0">
                <a:ln>
                  <a:noFill/>
                </a:ln>
                <a:solidFill>
                  <a:srgbClr val="0070C0"/>
                </a:solidFill>
                <a:effectLst/>
                <a:uLnTx/>
                <a:uFillTx/>
                <a:latin typeface="楷体_GB2312" pitchFamily="49" charset="-122"/>
                <a:ea typeface="+mn-ea"/>
                <a:cs typeface="+mn-cs"/>
              </a:rPr>
              <a:t>系统主页</a:t>
            </a:r>
            <a:r>
              <a:rPr kumimoji="1" lang="zh-CN" altLang="en-US" sz="2000" b="1" i="0" u="none" strike="noStrike" kern="1200" cap="none" spc="0" normalizeH="0" baseline="0" noProof="0" dirty="0">
                <a:ln>
                  <a:noFill/>
                </a:ln>
                <a:solidFill>
                  <a:schemeClr val="tx1"/>
                </a:solidFill>
                <a:effectLst/>
                <a:uLnTx/>
                <a:uFillTx/>
                <a:latin typeface="楷体_GB2312" pitchFamily="49" charset="-122"/>
                <a:ea typeface="+mn-ea"/>
                <a:cs typeface="+mn-cs"/>
              </a:rPr>
              <a:t>，点击开户按钮</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2.</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弹出</a:t>
            </a:r>
            <a:r>
              <a:rPr kumimoji="1" lang="zh-CN" altLang="en-US" sz="2200" b="1" i="0" u="sng" strike="noStrike" kern="1200" cap="none" spc="0" normalizeH="0" baseline="0" noProof="0" dirty="0">
                <a:ln>
                  <a:noFill/>
                </a:ln>
                <a:solidFill>
                  <a:srgbClr val="0070C0"/>
                </a:solidFill>
                <a:effectLst/>
                <a:uLnTx/>
                <a:uFillTx/>
                <a:latin typeface="楷体_GB2312" pitchFamily="49" charset="-122"/>
                <a:ea typeface="+mn-ea"/>
                <a:cs typeface="+mn-cs"/>
              </a:rPr>
              <a:t>开户页面</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，并</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显示</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提示输入客户信息的消息；</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2.</a:t>
            </a:r>
            <a:r>
              <a:rPr kumimoji="1" lang="zh-CN" altLang="en-US" sz="2000" b="1" i="0" u="none" strike="noStrike" kern="1200" cap="none" spc="0" normalizeH="0" baseline="0" noProof="0" dirty="0">
                <a:ln>
                  <a:noFill/>
                </a:ln>
                <a:solidFill>
                  <a:schemeClr val="tx1"/>
                </a:solidFill>
                <a:effectLst/>
                <a:uLnTx/>
                <a:uFillTx/>
                <a:latin typeface="楷体_GB2312" pitchFamily="49" charset="-122"/>
                <a:ea typeface="+mn-ea"/>
                <a:cs typeface="+mn-cs"/>
              </a:rPr>
              <a:t>银行职员在开户页面</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输入</a:t>
            </a:r>
            <a:r>
              <a:rPr kumimoji="1" lang="zh-CN" altLang="en-US" sz="2200" b="1" i="0" u="none"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客户信息</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（姓名、地址、身份证号等）；</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3.</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系统在开户页面显示给客户</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分配</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的</a:t>
            </a:r>
            <a:r>
              <a:rPr kumimoji="1" lang="zh-CN" altLang="en-US" sz="2200" b="1" i="0" u="none"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账号</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4.</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提示</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客户输入</a:t>
            </a:r>
            <a:r>
              <a:rPr kumimoji="1" lang="zh-CN" altLang="en-US" sz="2200" b="1" i="0" u="none"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密码</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5.</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客户输入密码；</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6.</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系统再次提示客户再次输入密码；</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7.</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客户再次输入密码；</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8.</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检测</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客户输入的两次密码是否一致，如果不一致则回到第</a:t>
            </a: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4</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步，否则继续；</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9.</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系统在账户库中</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添加</a:t>
            </a:r>
            <a:r>
              <a:rPr kumimoji="1" lang="zh-CN" altLang="en-US" sz="2200" b="1" i="0" u="sng" strike="noStrike" kern="1200" cap="none" spc="0" normalizeH="0" baseline="0" noProof="0" dirty="0">
                <a:ln>
                  <a:noFill/>
                </a:ln>
                <a:solidFill>
                  <a:schemeClr val="tx1"/>
                </a:solidFill>
                <a:effectLst/>
                <a:uLnTx/>
                <a:uFillTx/>
                <a:latin typeface="楷体_GB2312" pitchFamily="49" charset="-122"/>
                <a:ea typeface="+mn-ea"/>
                <a:cs typeface="+mn-cs"/>
              </a:rPr>
              <a:t>新</a:t>
            </a:r>
            <a:r>
              <a:rPr kumimoji="1" lang="zh-CN" altLang="en-US" sz="2200" b="1" i="0" u="sng"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账户</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10.</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用例结束。</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p:txBody>
      </p:sp>
      <p:grpSp>
        <p:nvGrpSpPr>
          <p:cNvPr id="6" name="组合 5"/>
          <p:cNvGrpSpPr/>
          <p:nvPr/>
        </p:nvGrpSpPr>
        <p:grpSpPr>
          <a:xfrm>
            <a:off x="3983038" y="2198688"/>
            <a:ext cx="1944687" cy="576262"/>
            <a:chOff x="3983236" y="2198514"/>
            <a:chExt cx="1944216" cy="576064"/>
          </a:xfrm>
        </p:grpSpPr>
        <p:sp>
          <p:nvSpPr>
            <p:cNvPr id="2" name="圆角矩形标注 1"/>
            <p:cNvSpPr/>
            <p:nvPr/>
          </p:nvSpPr>
          <p:spPr>
            <a:xfrm>
              <a:off x="3983236" y="2198514"/>
              <a:ext cx="1944216" cy="576064"/>
            </a:xfrm>
            <a:prstGeom prst="wedgeRoundRectCallout">
              <a:avLst>
                <a:gd name="adj1" fmla="val -95143"/>
                <a:gd name="adj2" fmla="val 1386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边界类</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7" name="圆角矩形标注 6"/>
            <p:cNvSpPr/>
            <p:nvPr/>
          </p:nvSpPr>
          <p:spPr>
            <a:xfrm>
              <a:off x="3983236" y="2198514"/>
              <a:ext cx="1944216" cy="576064"/>
            </a:xfrm>
            <a:prstGeom prst="wedgeRoundRectCallout">
              <a:avLst>
                <a:gd name="adj1" fmla="val -91380"/>
                <a:gd name="adj2" fmla="val 2053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边界类对象</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grpSp>
      <p:sp>
        <p:nvSpPr>
          <p:cNvPr id="10" name="圆角矩形标注 9"/>
          <p:cNvSpPr/>
          <p:nvPr/>
        </p:nvSpPr>
        <p:spPr>
          <a:xfrm>
            <a:off x="6288088" y="4575175"/>
            <a:ext cx="1943100" cy="576263"/>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实体类对象</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grpSp>
        <p:nvGrpSpPr>
          <p:cNvPr id="8" name="组合 7"/>
          <p:cNvGrpSpPr/>
          <p:nvPr/>
        </p:nvGrpSpPr>
        <p:grpSpPr>
          <a:xfrm>
            <a:off x="6645275" y="2486025"/>
            <a:ext cx="1952625" cy="576263"/>
            <a:chOff x="6645072" y="2486546"/>
            <a:chExt cx="1953352" cy="576064"/>
          </a:xfrm>
        </p:grpSpPr>
        <p:sp>
          <p:nvSpPr>
            <p:cNvPr id="12" name="圆角矩形标注 11"/>
            <p:cNvSpPr/>
            <p:nvPr/>
          </p:nvSpPr>
          <p:spPr>
            <a:xfrm>
              <a:off x="6648248" y="2486546"/>
              <a:ext cx="1943823" cy="576064"/>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13" name="圆角矩形标注 12"/>
            <p:cNvSpPr/>
            <p:nvPr/>
          </p:nvSpPr>
          <p:spPr>
            <a:xfrm>
              <a:off x="6645072" y="2486546"/>
              <a:ext cx="1943823" cy="576064"/>
            </a:xfrm>
            <a:prstGeom prst="wedgeRoundRectCallout">
              <a:avLst>
                <a:gd name="adj1" fmla="val -170395"/>
                <a:gd name="adj2" fmla="val 14821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14" name="圆角矩形标注 13"/>
            <p:cNvSpPr/>
            <p:nvPr/>
          </p:nvSpPr>
          <p:spPr>
            <a:xfrm>
              <a:off x="6654601" y="2486546"/>
              <a:ext cx="1943823" cy="576064"/>
            </a:xfrm>
            <a:prstGeom prst="wedgeRoundRectCallout">
              <a:avLst>
                <a:gd name="adj1" fmla="val -280919"/>
                <a:gd name="adj2" fmla="val 5212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控制类对象</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sz="5400" b="1" dirty="0">
                <a:latin typeface="微软雅黑" panose="020B0503020204020204" pitchFamily="34" charset="-122"/>
                <a:ea typeface="微软雅黑" panose="020B0503020204020204" pitchFamily="34" charset="-122"/>
              </a:rPr>
              <a:t>三种分析类</a:t>
            </a:r>
            <a:endParaRPr lang="zh-CN" altLang="en-US" sz="5400"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766888"/>
            <a:ext cx="7777163" cy="3938905"/>
          </a:xfrm>
          <a:prstGeom prst="rect">
            <a:avLst/>
          </a:prstGeom>
          <a:noFill/>
        </p:spPr>
        <p:txBody>
          <a:bodyPr lIns="91430" tIns="45715" rIns="91430" bIns="45715">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三种分析类与最终系统需要实现的类之间的关系</a:t>
            </a:r>
            <a:endParaRPr kumimoji="1" lang="en-US" altLang="zh-CN" sz="2600" kern="1200" cap="none" spc="0" normalizeH="0" baseline="0" noProof="0" dirty="0">
              <a:latin typeface="+mn-lt"/>
              <a:ea typeface="+mn-ea"/>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边界类对象</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和</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实体类对象</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最终都是</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系统需要定义的对象</a:t>
            </a:r>
            <a:endParaRPr kumimoji="1" lang="en-US" altLang="zh-CN" sz="2800" b="1" i="0" u="none" strike="noStrike" kern="1200" cap="none" spc="0" normalizeH="0" baseline="0" noProof="0" dirty="0">
              <a:ln>
                <a:noFill/>
              </a:ln>
              <a:solidFill>
                <a:srgbClr val="FF0000"/>
              </a:solidFill>
              <a:effectLst/>
              <a:uLnTx/>
              <a:uFillTx/>
              <a:latin typeface="+mn-lt"/>
              <a:ea typeface="+mn-ea"/>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控制类对象有些</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转化成其他对象</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的操作，有些成为系统负责业务处理的对象</a:t>
            </a:r>
            <a:endParaRPr kumimoji="1" lang="en-US" altLang="zh-CN" sz="2800" b="1" i="0" u="none" strike="noStrike" kern="1200" cap="none" spc="0" normalizeH="0" baseline="0" noProof="0" dirty="0">
              <a:ln>
                <a:noFill/>
              </a:ln>
              <a:solidFill>
                <a:srgbClr val="FF0000"/>
              </a:solidFill>
              <a:effectLst/>
              <a:uLnTx/>
              <a:uFillTx/>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3200" kern="1200" cap="none" spc="0" normalizeH="0" baseline="0" noProof="0" dirty="0">
                <a:latin typeface="+mn-lt"/>
                <a:ea typeface="+mn-ea"/>
                <a:cs typeface="+mn-cs"/>
              </a:rPr>
              <a:t>     </a:t>
            </a:r>
            <a:endParaRPr kumimoji="1" lang="zh-CN" altLang="en-US" sz="3200" kern="1200" cap="none" spc="0" normalizeH="0" baseline="0" noProof="0" dirty="0">
              <a:latin typeface="+mn-lt"/>
              <a:ea typeface="+mn-ea"/>
              <a:cs typeface="+mn-cs"/>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三种分析类</a:t>
            </a:r>
            <a:endParaRPr lang="zh-CN" altLang="en-US" sz="4400"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550988"/>
            <a:ext cx="8591550" cy="1184275"/>
          </a:xfrm>
          <a:prstGeom prst="rect">
            <a:avLst/>
          </a:prstGeom>
          <a:noFill/>
        </p:spPr>
        <p:txBody>
          <a:bodyPr lIns="91430" tIns="45715" rIns="91430" bIns="45715">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三种分析类举例</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3200" kern="1200" cap="none" spc="0" normalizeH="0" baseline="0" noProof="0" dirty="0">
                <a:latin typeface="+mn-lt"/>
                <a:ea typeface="+mn-ea"/>
                <a:cs typeface="+mn-cs"/>
              </a:rPr>
              <a:t>     </a:t>
            </a:r>
            <a:endParaRPr kumimoji="1" lang="zh-CN" altLang="en-US" sz="3200" kern="1200" cap="none" spc="0" normalizeH="0" baseline="0" noProof="0" dirty="0">
              <a:latin typeface="+mn-lt"/>
              <a:ea typeface="+mn-ea"/>
              <a:cs typeface="+mn-cs"/>
            </a:endParaRPr>
          </a:p>
        </p:txBody>
      </p:sp>
      <p:sp>
        <p:nvSpPr>
          <p:cNvPr id="5" name="Rectangle 3"/>
          <p:cNvSpPr txBox="1">
            <a:spLocks noChangeArrowheads="1"/>
          </p:cNvSpPr>
          <p:nvPr/>
        </p:nvSpPr>
        <p:spPr bwMode="auto">
          <a:xfrm>
            <a:off x="238125" y="2136775"/>
            <a:ext cx="888047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12" tIns="45605" rIns="91212" bIns="45605"/>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795"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9480"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3165"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marR="0" lvl="0" indent="0" algn="l" defTabSz="914400" rtl="0" eaLnBrk="0" fontAlgn="base" latinLnBrk="0" hangingPunct="0">
              <a:lnSpc>
                <a:spcPct val="90000"/>
              </a:lnSpc>
              <a:spcBef>
                <a:spcPct val="20000"/>
              </a:spcBef>
              <a:spcAft>
                <a:spcPct val="0"/>
              </a:spcAft>
              <a:buClr>
                <a:srgbClr val="0BD0D9"/>
              </a:buClr>
              <a:buSzPct val="95000"/>
              <a:buFont typeface="Wingdings 2" panose="05020102010507070707" pitchFamily="18" charset="2"/>
              <a:buNone/>
              <a:defRPr/>
            </a:pPr>
            <a:r>
              <a:rPr kumimoji="1" lang="zh-CN" altLang="en-US" sz="2400" b="1" i="0" u="none" strike="noStrike" kern="1200" cap="none" spc="0" normalizeH="0" baseline="0" noProof="0" dirty="0">
                <a:ln>
                  <a:noFill/>
                </a:ln>
                <a:solidFill>
                  <a:srgbClr val="FF0000"/>
                </a:solidFill>
                <a:effectLst/>
                <a:uLnTx/>
                <a:uFillTx/>
                <a:latin typeface="楷体_GB2312" pitchFamily="49" charset="-122"/>
                <a:ea typeface="+mn-ea"/>
                <a:cs typeface="+mn-cs"/>
              </a:rPr>
              <a:t>用例名称</a:t>
            </a:r>
            <a:r>
              <a:rPr kumimoji="1"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rPr>
              <a:t>：开户</a:t>
            </a:r>
            <a:endParaRPr kumimoji="1" lang="en-US" altLang="zh-CN" sz="24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0" marR="0" lvl="0" indent="0" algn="l" defTabSz="914400" rtl="0" eaLnBrk="0" fontAlgn="base" latinLnBrk="0" hangingPunct="0">
              <a:lnSpc>
                <a:spcPct val="90000"/>
              </a:lnSpc>
              <a:spcBef>
                <a:spcPct val="20000"/>
              </a:spcBef>
              <a:spcAft>
                <a:spcPct val="0"/>
              </a:spcAft>
              <a:buClr>
                <a:srgbClr val="0BD0D9"/>
              </a:buClr>
              <a:buSzPct val="95000"/>
              <a:buFont typeface="Wingdings 2" panose="05020102010507070707" pitchFamily="18" charset="2"/>
              <a:buNone/>
              <a:defRPr/>
            </a:pPr>
            <a:r>
              <a:rPr kumimoji="1" lang="en-US" altLang="zh-CN" sz="2400" b="1" i="0" u="none" strike="noStrike" kern="1200" cap="none" spc="0" normalizeH="0" baseline="0" noProof="0" dirty="0">
                <a:ln>
                  <a:noFill/>
                </a:ln>
                <a:solidFill>
                  <a:schemeClr val="tx1"/>
                </a:solidFill>
                <a:effectLst/>
                <a:uLnTx/>
                <a:uFillTx/>
                <a:latin typeface="楷体_GB2312" pitchFamily="49" charset="-122"/>
                <a:ea typeface="+mn-ea"/>
                <a:cs typeface="+mn-cs"/>
              </a:rPr>
              <a:t> </a:t>
            </a:r>
            <a:r>
              <a:rPr kumimoji="1" lang="en-US" altLang="zh-CN" sz="2400" b="1" i="0" u="none" strike="noStrike" kern="1200" cap="none" spc="0" normalizeH="0" baseline="0" noProof="0" dirty="0">
                <a:ln>
                  <a:noFill/>
                </a:ln>
                <a:solidFill>
                  <a:srgbClr val="FF0000"/>
                </a:solidFill>
                <a:effectLst/>
                <a:uLnTx/>
                <a:uFillTx/>
                <a:latin typeface="楷体_GB2312" pitchFamily="49" charset="-122"/>
                <a:ea typeface="+mn-ea"/>
                <a:cs typeface="+mn-cs"/>
              </a:rPr>
              <a:t>……</a:t>
            </a:r>
            <a:endParaRPr kumimoji="1" lang="en-US" altLang="zh-CN" sz="2400" b="1" i="0" u="none" strike="noStrike" kern="1200" cap="none" spc="0" normalizeH="0" baseline="0" noProof="0" dirty="0">
              <a:ln>
                <a:noFill/>
              </a:ln>
              <a:solidFill>
                <a:srgbClr val="FF0000"/>
              </a:solidFill>
              <a:effectLst/>
              <a:uLnTx/>
              <a:uFillTx/>
              <a:latin typeface="楷体_GB2312" pitchFamily="49" charset="-122"/>
              <a:ea typeface="+mn-ea"/>
              <a:cs typeface="+mn-cs"/>
            </a:endParaRPr>
          </a:p>
          <a:p>
            <a:pPr marL="0" marR="0" lvl="0" indent="0" algn="l" defTabSz="914400" rtl="0" eaLnBrk="0" fontAlgn="base" latinLnBrk="0" hangingPunct="0">
              <a:lnSpc>
                <a:spcPct val="90000"/>
              </a:lnSpc>
              <a:spcBef>
                <a:spcPct val="0"/>
              </a:spcBef>
              <a:spcAft>
                <a:spcPct val="0"/>
              </a:spcAft>
              <a:buClr>
                <a:srgbClr val="0BD0D9"/>
              </a:buClr>
              <a:buSzPct val="95000"/>
              <a:buFont typeface="Wingdings 2" panose="05020102010507070707" pitchFamily="18" charset="2"/>
              <a:buNone/>
              <a:defRPr/>
            </a:pPr>
            <a:r>
              <a:rPr kumimoji="1" lang="zh-CN" altLang="en-US" sz="2400" b="1" i="0" u="none" strike="noStrike" kern="1200" cap="none" spc="0" normalizeH="0" baseline="0" noProof="0" dirty="0">
                <a:ln>
                  <a:noFill/>
                </a:ln>
                <a:solidFill>
                  <a:srgbClr val="FF0000"/>
                </a:solidFill>
                <a:effectLst/>
                <a:uLnTx/>
                <a:uFillTx/>
                <a:latin typeface="楷体_GB2312" pitchFamily="49" charset="-122"/>
                <a:ea typeface="+mn-ea"/>
                <a:cs typeface="+mn-cs"/>
              </a:rPr>
              <a:t>事件流</a:t>
            </a:r>
            <a:r>
              <a:rPr kumimoji="1"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zh-CN" altLang="en-US" sz="24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1.</a:t>
            </a:r>
            <a:r>
              <a:rPr kumimoji="1" lang="zh-CN" altLang="en-US" sz="2000" b="1" i="0" u="none" strike="noStrike" kern="1200" cap="none" spc="0" normalizeH="0" baseline="0" noProof="0" dirty="0">
                <a:ln>
                  <a:noFill/>
                </a:ln>
                <a:solidFill>
                  <a:schemeClr val="tx1"/>
                </a:solidFill>
                <a:effectLst/>
                <a:uLnTx/>
                <a:uFillTx/>
                <a:latin typeface="楷体_GB2312" pitchFamily="49" charset="-122"/>
                <a:ea typeface="+mn-ea"/>
                <a:cs typeface="+mn-cs"/>
              </a:rPr>
              <a:t>银行职员在</a:t>
            </a:r>
            <a:r>
              <a:rPr kumimoji="1" lang="zh-CN" altLang="en-US" sz="2000" b="1" i="0" u="sng" strike="noStrike" kern="1200" cap="none" spc="0" normalizeH="0" baseline="0" noProof="0" dirty="0">
                <a:ln>
                  <a:noFill/>
                </a:ln>
                <a:solidFill>
                  <a:srgbClr val="0070C0"/>
                </a:solidFill>
                <a:effectLst/>
                <a:uLnTx/>
                <a:uFillTx/>
                <a:latin typeface="楷体_GB2312" pitchFamily="49" charset="-122"/>
                <a:ea typeface="+mn-ea"/>
                <a:cs typeface="+mn-cs"/>
              </a:rPr>
              <a:t>系统主页</a:t>
            </a:r>
            <a:r>
              <a:rPr kumimoji="1" lang="zh-CN" altLang="en-US" sz="2000" b="1" i="0" u="none" strike="noStrike" kern="1200" cap="none" spc="0" normalizeH="0" baseline="0" noProof="0" dirty="0">
                <a:ln>
                  <a:noFill/>
                </a:ln>
                <a:solidFill>
                  <a:schemeClr val="tx1"/>
                </a:solidFill>
                <a:effectLst/>
                <a:uLnTx/>
                <a:uFillTx/>
                <a:latin typeface="楷体_GB2312" pitchFamily="49" charset="-122"/>
                <a:ea typeface="+mn-ea"/>
                <a:cs typeface="+mn-cs"/>
              </a:rPr>
              <a:t>，点击开户按钮</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2.</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弹出</a:t>
            </a:r>
            <a:r>
              <a:rPr kumimoji="1" lang="zh-CN" altLang="en-US" sz="2200" b="1" i="0" u="sng" strike="noStrike" kern="1200" cap="none" spc="0" normalizeH="0" baseline="0" noProof="0" dirty="0">
                <a:ln>
                  <a:noFill/>
                </a:ln>
                <a:solidFill>
                  <a:srgbClr val="0070C0"/>
                </a:solidFill>
                <a:effectLst/>
                <a:uLnTx/>
                <a:uFillTx/>
                <a:latin typeface="楷体_GB2312" pitchFamily="49" charset="-122"/>
                <a:ea typeface="+mn-ea"/>
                <a:cs typeface="+mn-cs"/>
              </a:rPr>
              <a:t>开户页面</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，并</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显示</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提示输入客户信息的消息；</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2.</a:t>
            </a:r>
            <a:r>
              <a:rPr kumimoji="1" lang="zh-CN" altLang="en-US" sz="2000" b="1" i="0" u="none" strike="noStrike" kern="1200" cap="none" spc="0" normalizeH="0" baseline="0" noProof="0" dirty="0">
                <a:ln>
                  <a:noFill/>
                </a:ln>
                <a:solidFill>
                  <a:schemeClr val="tx1"/>
                </a:solidFill>
                <a:effectLst/>
                <a:uLnTx/>
                <a:uFillTx/>
                <a:latin typeface="楷体_GB2312" pitchFamily="49" charset="-122"/>
                <a:ea typeface="+mn-ea"/>
                <a:cs typeface="+mn-cs"/>
              </a:rPr>
              <a:t>银行职员在开户页面</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输入</a:t>
            </a:r>
            <a:r>
              <a:rPr kumimoji="1" lang="zh-CN" altLang="en-US" sz="2200" b="1" i="0" u="none"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客户信息</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（姓名、地址、身份证号等）；</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3.</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系统在开户页面显示给客户</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分配</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的</a:t>
            </a:r>
            <a:r>
              <a:rPr kumimoji="1" lang="zh-CN" altLang="en-US" sz="2200" b="1" i="0" u="none"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账号</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4.</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提示</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客户输入</a:t>
            </a:r>
            <a:r>
              <a:rPr kumimoji="1" lang="zh-CN" altLang="en-US" sz="2200" b="1" i="0" u="none"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密码</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5.</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客户输入密码；</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6.</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系统再次提示客户再次输入密码；</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7.</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客户再次输入密码；</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8.</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检测</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客户输入的两次密码是否一致，如果不一致则回到第</a:t>
            </a: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4</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步，否则继续；</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9.</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系统在账户库中</a:t>
            </a:r>
            <a:r>
              <a:rPr kumimoji="1" lang="zh-CN" altLang="en-US" sz="2200" b="1" i="0" u="sng" strike="noStrike" kern="1200" cap="none" spc="0" normalizeH="0" baseline="0" noProof="0" dirty="0">
                <a:ln>
                  <a:noFill/>
                </a:ln>
                <a:solidFill>
                  <a:srgbClr val="7030A0"/>
                </a:solidFill>
                <a:effectLst/>
                <a:uLnTx/>
                <a:uFillTx/>
                <a:latin typeface="楷体_GB2312" pitchFamily="49" charset="-122"/>
                <a:ea typeface="+mn-ea"/>
                <a:cs typeface="+mn-cs"/>
              </a:rPr>
              <a:t>添加</a:t>
            </a:r>
            <a:r>
              <a:rPr kumimoji="1" lang="zh-CN" altLang="en-US" sz="2200" b="1" i="0" u="sng" strike="noStrike" kern="1200" cap="none" spc="0" normalizeH="0" baseline="0" noProof="0" dirty="0">
                <a:ln>
                  <a:noFill/>
                </a:ln>
                <a:solidFill>
                  <a:schemeClr val="tx1"/>
                </a:solidFill>
                <a:effectLst/>
                <a:uLnTx/>
                <a:uFillTx/>
                <a:latin typeface="楷体_GB2312" pitchFamily="49" charset="-122"/>
                <a:ea typeface="+mn-ea"/>
                <a:cs typeface="+mn-cs"/>
              </a:rPr>
              <a:t>新</a:t>
            </a:r>
            <a:r>
              <a:rPr kumimoji="1" lang="zh-CN" altLang="en-US" sz="2200" b="1" i="0" u="sng" strike="noStrike" kern="1200" cap="none" spc="0" normalizeH="0" baseline="0" noProof="0" dirty="0">
                <a:ln>
                  <a:noFill/>
                </a:ln>
                <a:solidFill>
                  <a:schemeClr val="accent5">
                    <a:lumMod val="50000"/>
                  </a:schemeClr>
                </a:solidFill>
                <a:effectLst/>
                <a:uLnTx/>
                <a:uFillTx/>
                <a:latin typeface="楷体_GB2312" pitchFamily="49" charset="-122"/>
                <a:ea typeface="+mn-ea"/>
                <a:cs typeface="+mn-cs"/>
              </a:rPr>
              <a:t>账户</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a:t>
            </a:r>
            <a:endPar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a:p>
            <a:pPr marL="365125" marR="0" lvl="1" indent="0" algn="l" defTabSz="914400" rtl="0" eaLnBrk="0" fontAlgn="base" latinLnBrk="0" hangingPunct="0">
              <a:lnSpc>
                <a:spcPct val="90000"/>
              </a:lnSpc>
              <a:spcBef>
                <a:spcPct val="0"/>
              </a:spcBef>
              <a:spcAft>
                <a:spcPct val="0"/>
              </a:spcAft>
              <a:buClr>
                <a:schemeClr val="accent1"/>
              </a:buClr>
              <a:buSzPct val="85000"/>
              <a:buFont typeface="Wingdings 2" panose="05020102010507070707" pitchFamily="18" charset="2"/>
              <a:buNone/>
              <a:defRPr/>
            </a:pPr>
            <a:r>
              <a:rPr kumimoji="1" lang="en-US" altLang="zh-CN" sz="2200" b="1" i="0" u="none" strike="noStrike" kern="1200" cap="none" spc="0" normalizeH="0" baseline="0" noProof="0" dirty="0">
                <a:ln>
                  <a:noFill/>
                </a:ln>
                <a:solidFill>
                  <a:schemeClr val="tx1"/>
                </a:solidFill>
                <a:effectLst/>
                <a:uLnTx/>
                <a:uFillTx/>
                <a:latin typeface="楷体_GB2312" pitchFamily="49" charset="-122"/>
                <a:ea typeface="+mn-ea"/>
                <a:cs typeface="+mn-cs"/>
              </a:rPr>
              <a:t>10.</a:t>
            </a:r>
            <a:r>
              <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rPr>
              <a:t>用例结束。</a:t>
            </a:r>
            <a:endParaRPr kumimoji="1" lang="zh-CN" altLang="en-US" sz="2200" b="1" i="0" u="none" strike="noStrike" kern="1200" cap="none" spc="0" normalizeH="0" baseline="0" noProof="0" dirty="0">
              <a:ln>
                <a:noFill/>
              </a:ln>
              <a:solidFill>
                <a:schemeClr val="tx1"/>
              </a:solidFill>
              <a:effectLst/>
              <a:uLnTx/>
              <a:uFillTx/>
              <a:latin typeface="楷体_GB2312" pitchFamily="49" charset="-122"/>
              <a:ea typeface="+mn-ea"/>
              <a:cs typeface="+mn-cs"/>
            </a:endParaRPr>
          </a:p>
        </p:txBody>
      </p:sp>
      <p:grpSp>
        <p:nvGrpSpPr>
          <p:cNvPr id="62469" name="组合 5"/>
          <p:cNvGrpSpPr/>
          <p:nvPr/>
        </p:nvGrpSpPr>
        <p:grpSpPr>
          <a:xfrm>
            <a:off x="3983038" y="2198688"/>
            <a:ext cx="1944687" cy="576262"/>
            <a:chOff x="3983236" y="2198514"/>
            <a:chExt cx="1944216" cy="576064"/>
          </a:xfrm>
        </p:grpSpPr>
        <p:sp>
          <p:nvSpPr>
            <p:cNvPr id="2" name="圆角矩形标注 1"/>
            <p:cNvSpPr/>
            <p:nvPr/>
          </p:nvSpPr>
          <p:spPr>
            <a:xfrm>
              <a:off x="3983236" y="2198514"/>
              <a:ext cx="1944216" cy="576064"/>
            </a:xfrm>
            <a:prstGeom prst="wedgeRoundRectCallout">
              <a:avLst>
                <a:gd name="adj1" fmla="val -95143"/>
                <a:gd name="adj2" fmla="val 1386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边界类</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7" name="圆角矩形标注 6"/>
            <p:cNvSpPr/>
            <p:nvPr/>
          </p:nvSpPr>
          <p:spPr>
            <a:xfrm>
              <a:off x="3983236" y="2198514"/>
              <a:ext cx="1944216" cy="576064"/>
            </a:xfrm>
            <a:prstGeom prst="wedgeRoundRectCallout">
              <a:avLst>
                <a:gd name="adj1" fmla="val -91380"/>
                <a:gd name="adj2" fmla="val 2053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边界类对象</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grpSp>
      <p:sp>
        <p:nvSpPr>
          <p:cNvPr id="10" name="圆角矩形标注 9"/>
          <p:cNvSpPr/>
          <p:nvPr/>
        </p:nvSpPr>
        <p:spPr>
          <a:xfrm>
            <a:off x="6288088" y="4575175"/>
            <a:ext cx="1943100" cy="576263"/>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实体类对象</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grpSp>
        <p:nvGrpSpPr>
          <p:cNvPr id="62471" name="组合 7"/>
          <p:cNvGrpSpPr/>
          <p:nvPr/>
        </p:nvGrpSpPr>
        <p:grpSpPr>
          <a:xfrm>
            <a:off x="6645275" y="2486025"/>
            <a:ext cx="1952625" cy="576263"/>
            <a:chOff x="6645072" y="2486546"/>
            <a:chExt cx="1953352" cy="576064"/>
          </a:xfrm>
        </p:grpSpPr>
        <p:sp>
          <p:nvSpPr>
            <p:cNvPr id="12" name="圆角矩形标注 11"/>
            <p:cNvSpPr/>
            <p:nvPr/>
          </p:nvSpPr>
          <p:spPr>
            <a:xfrm>
              <a:off x="6648248" y="2486546"/>
              <a:ext cx="1943823" cy="576064"/>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13" name="圆角矩形标注 12"/>
            <p:cNvSpPr/>
            <p:nvPr/>
          </p:nvSpPr>
          <p:spPr>
            <a:xfrm>
              <a:off x="6645072" y="2486546"/>
              <a:ext cx="1943823" cy="576064"/>
            </a:xfrm>
            <a:prstGeom prst="wedgeRoundRectCallout">
              <a:avLst>
                <a:gd name="adj1" fmla="val -170395"/>
                <a:gd name="adj2" fmla="val 14821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14" name="圆角矩形标注 13"/>
            <p:cNvSpPr/>
            <p:nvPr/>
          </p:nvSpPr>
          <p:spPr>
            <a:xfrm>
              <a:off x="6654601" y="2486546"/>
              <a:ext cx="1943823" cy="576064"/>
            </a:xfrm>
            <a:prstGeom prst="wedgeRoundRectCallout">
              <a:avLst>
                <a:gd name="adj1" fmla="val -280919"/>
                <a:gd name="adj2" fmla="val 5212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控制类对象</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gr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对象识别</a:t>
            </a:r>
            <a:endParaRPr lang="zh-CN" altLang="en-US" sz="4400"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766888"/>
            <a:ext cx="8591550" cy="1181735"/>
          </a:xfrm>
          <a:prstGeom prst="rect">
            <a:avLst/>
          </a:prstGeom>
          <a:noFill/>
        </p:spPr>
        <p:txBody>
          <a:bodyPr lIns="91430" tIns="45715" rIns="91430" bIns="45715">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对开户用例分析完之后所得到的系统对象</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3200" kern="1200" cap="none" spc="0" normalizeH="0" baseline="0" noProof="0" dirty="0">
                <a:latin typeface="+mn-lt"/>
                <a:ea typeface="+mn-ea"/>
                <a:cs typeface="+mn-cs"/>
              </a:rPr>
              <a:t>     </a:t>
            </a:r>
            <a:endParaRPr kumimoji="1" lang="zh-CN" altLang="en-US" sz="3200" kern="1200" cap="none" spc="0" normalizeH="0" baseline="0" noProof="0" dirty="0">
              <a:latin typeface="+mn-lt"/>
              <a:ea typeface="+mn-ea"/>
              <a:cs typeface="+mn-cs"/>
            </a:endParaRPr>
          </a:p>
        </p:txBody>
      </p:sp>
      <p:pic>
        <p:nvPicPr>
          <p:cNvPr id="63492" name="Picture 4"/>
          <p:cNvPicPr>
            <a:picLocks noChangeAspect="1"/>
          </p:cNvPicPr>
          <p:nvPr/>
        </p:nvPicPr>
        <p:blipFill>
          <a:blip r:embed="rId1"/>
          <a:stretch>
            <a:fillRect/>
          </a:stretch>
        </p:blipFill>
        <p:spPr>
          <a:xfrm>
            <a:off x="2471738" y="2630488"/>
            <a:ext cx="3197225" cy="2481262"/>
          </a:xfrm>
          <a:prstGeom prst="rect">
            <a:avLst/>
          </a:prstGeom>
          <a:noFill/>
          <a:ln w="9525">
            <a:noFill/>
          </a:ln>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对象识别过程</a:t>
            </a:r>
            <a:endParaRPr lang="zh-CN" altLang="en-US" sz="4400" b="1" dirty="0">
              <a:latin typeface="微软雅黑" panose="020B0503020204020204" pitchFamily="34" charset="-122"/>
              <a:ea typeface="微软雅黑" panose="020B0503020204020204" pitchFamily="34" charset="-122"/>
            </a:endParaRPr>
          </a:p>
        </p:txBody>
      </p:sp>
      <p:sp>
        <p:nvSpPr>
          <p:cNvPr id="64515" name="矩形 4"/>
          <p:cNvSpPr/>
          <p:nvPr/>
        </p:nvSpPr>
        <p:spPr>
          <a:xfrm>
            <a:off x="742950" y="1982788"/>
            <a:ext cx="7488238" cy="2552065"/>
          </a:xfrm>
          <a:prstGeom prst="rect">
            <a:avLst/>
          </a:prstGeom>
          <a:noFill/>
          <a:ln w="9525">
            <a:noFill/>
          </a:ln>
        </p:spPr>
        <p:txBody>
          <a:bodyPr lIns="91430" tIns="45715" rIns="91430" bIns="45715">
            <a:spAutoFit/>
          </a:bodyPr>
          <a:p>
            <a:pPr marL="857250" lvl="1" indent="0" algn="just" eaLnBrk="1" hangingPunct="1">
              <a:buFont typeface="Wingdings" panose="05000000000000000000" pitchFamily="2" charset="2"/>
            </a:pPr>
            <a:r>
              <a:rPr lang="en-US" altLang="zh-CN" sz="3200" dirty="0">
                <a:latin typeface="楷体_GB2312" pitchFamily="49" charset="-122"/>
              </a:rPr>
              <a:t>1</a:t>
            </a:r>
            <a:r>
              <a:rPr lang="zh-CN" altLang="en-US" sz="3200" dirty="0">
                <a:latin typeface="楷体_GB2312" pitchFamily="49" charset="-122"/>
              </a:rPr>
              <a:t>．理解用例描述</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2</a:t>
            </a:r>
            <a:r>
              <a:rPr lang="zh-CN" altLang="en-US" sz="3200" dirty="0">
                <a:latin typeface="楷体_GB2312" pitchFamily="49" charset="-122"/>
              </a:rPr>
              <a:t>．识别对象和对象的属性</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3</a:t>
            </a:r>
            <a:r>
              <a:rPr lang="zh-CN" altLang="en-US" sz="3200" dirty="0">
                <a:latin typeface="楷体_GB2312" pitchFamily="49" charset="-122"/>
              </a:rPr>
              <a:t>．识别对象的操作</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4</a:t>
            </a:r>
            <a:r>
              <a:rPr lang="zh-CN" altLang="en-US" sz="3200" dirty="0">
                <a:latin typeface="楷体_GB2312" pitchFamily="49" charset="-122"/>
              </a:rPr>
              <a:t>．确定对象与对象之间的关系</a:t>
            </a:r>
            <a:endParaRPr lang="en-US" altLang="zh-CN" sz="3200" dirty="0">
              <a:latin typeface="楷体_GB2312" pitchFamily="49" charset="-122"/>
            </a:endParaRPr>
          </a:p>
          <a:p>
            <a:pPr marL="857250" lvl="1" indent="0" algn="just" eaLnBrk="1" hangingPunct="1">
              <a:buFont typeface="Wingdings" panose="05000000000000000000" pitchFamily="2" charset="2"/>
            </a:pPr>
            <a:r>
              <a:rPr lang="en-US" altLang="zh-CN" sz="3200" dirty="0">
                <a:latin typeface="楷体_GB2312" pitchFamily="49" charset="-122"/>
              </a:rPr>
              <a:t>5</a:t>
            </a:r>
            <a:r>
              <a:rPr lang="zh-CN" altLang="en-US" sz="3200" dirty="0">
                <a:latin typeface="楷体_GB2312" pitchFamily="49" charset="-122"/>
              </a:rPr>
              <a:t>．评审</a:t>
            </a:r>
            <a:endParaRPr lang="en-US" altLang="zh-CN" sz="3200" dirty="0">
              <a:latin typeface="楷体_GB2312" pitchFamily="49" charset="-122"/>
            </a:endParaRPr>
          </a:p>
        </p:txBody>
      </p:sp>
      <p:sp>
        <p:nvSpPr>
          <p:cNvPr id="64516" name="TextBox 3"/>
          <p:cNvSpPr txBox="1"/>
          <p:nvPr/>
        </p:nvSpPr>
        <p:spPr>
          <a:xfrm>
            <a:off x="742950" y="4932363"/>
            <a:ext cx="6761163" cy="1443990"/>
          </a:xfrm>
          <a:prstGeom prst="rect">
            <a:avLst/>
          </a:prstGeom>
          <a:noFill/>
          <a:ln w="9525">
            <a:noFill/>
          </a:ln>
        </p:spPr>
        <p:txBody>
          <a:bodyPr lIns="91221" tIns="45610" rIns="91221" bIns="45610">
            <a:spAutoFit/>
          </a:bodyPr>
          <a:p>
            <a:pPr eaLnBrk="1" hangingPunct="1">
              <a:buFont typeface="Wingdings" panose="05000000000000000000" pitchFamily="2" charset="2"/>
              <a:buNone/>
            </a:pPr>
            <a:r>
              <a:rPr lang="zh-CN" altLang="en-US" sz="3200" dirty="0">
                <a:solidFill>
                  <a:srgbClr val="FF0000"/>
                </a:solidFill>
                <a:latin typeface="Arial" panose="020B0604020202020204" pitchFamily="34" charset="0"/>
                <a:ea typeface="宋体" panose="02010600030101010101" pitchFamily="2" charset="-122"/>
              </a:rPr>
              <a:t>两大难题：</a:t>
            </a:r>
            <a:endParaRPr lang="en-US" altLang="zh-CN" sz="3200" dirty="0">
              <a:solidFill>
                <a:srgbClr val="FF0000"/>
              </a:solidFill>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latin typeface="Arial" panose="020B0604020202020204" pitchFamily="34" charset="0"/>
                <a:ea typeface="宋体" panose="02010600030101010101" pitchFamily="2" charset="-122"/>
              </a:rPr>
              <a:t>怎么识别对象？</a:t>
            </a:r>
            <a:endParaRPr lang="en-US" altLang="zh-CN" sz="2800" dirty="0">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solidFill>
                  <a:srgbClr val="FF0000"/>
                </a:solidFill>
                <a:latin typeface="Arial" panose="020B0604020202020204" pitchFamily="34" charset="0"/>
                <a:ea typeface="宋体" panose="02010600030101010101" pitchFamily="2" charset="-122"/>
              </a:rPr>
              <a:t>怎么识别对象的操作？</a:t>
            </a:r>
            <a:endParaRPr lang="zh-CN" altLang="en-US" sz="2800" dirty="0">
              <a:solidFill>
                <a:srgbClr val="FF0000"/>
              </a:solidFill>
              <a:latin typeface="Arial" panose="020B0604020202020204" pitchFamily="34" charset="0"/>
              <a:ea typeface="宋体" panose="02010600030101010101" pitchFamily="2" charset="-122"/>
            </a:endParaRPr>
          </a:p>
        </p:txBody>
      </p:sp>
      <p:sp>
        <p:nvSpPr>
          <p:cNvPr id="64517" name="TextBox 4"/>
          <p:cNvSpPr txBox="1"/>
          <p:nvPr/>
        </p:nvSpPr>
        <p:spPr>
          <a:xfrm>
            <a:off x="4775200" y="4932363"/>
            <a:ext cx="4164013" cy="1444625"/>
          </a:xfrm>
          <a:prstGeom prst="rect">
            <a:avLst/>
          </a:prstGeom>
          <a:noFill/>
          <a:ln w="9525">
            <a:noFill/>
          </a:ln>
        </p:spPr>
        <p:txBody>
          <a:bodyPr lIns="91221" tIns="45610" rIns="91221" bIns="45610">
            <a:spAutoFit/>
          </a:bodyPr>
          <a:p>
            <a:pPr eaLnBrk="1" hangingPunct="1">
              <a:buFont typeface="Wingdings" panose="05000000000000000000" pitchFamily="2" charset="2"/>
              <a:buNone/>
            </a:pPr>
            <a:r>
              <a:rPr lang="zh-CN" altLang="en-US" sz="3200" dirty="0">
                <a:solidFill>
                  <a:srgbClr val="FF0000"/>
                </a:solidFill>
                <a:latin typeface="Arial" panose="020B0604020202020204" pitchFamily="34" charset="0"/>
                <a:ea typeface="宋体" panose="02010600030101010101" pitchFamily="2" charset="-122"/>
              </a:rPr>
              <a:t>解决问题的主要技术：</a:t>
            </a:r>
            <a:endParaRPr lang="en-US" altLang="zh-CN" sz="3200" dirty="0">
              <a:solidFill>
                <a:srgbClr val="FF0000"/>
              </a:solidFill>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latin typeface="Arial" panose="020B0604020202020204" pitchFamily="34" charset="0"/>
                <a:ea typeface="宋体" panose="02010600030101010101" pitchFamily="2" charset="-122"/>
              </a:rPr>
              <a:t>分析类</a:t>
            </a:r>
            <a:endParaRPr lang="en-US" altLang="zh-CN" sz="2800" dirty="0">
              <a:latin typeface="Arial" panose="020B0604020202020204" pitchFamily="34" charset="0"/>
              <a:ea typeface="宋体" panose="02010600030101010101" pitchFamily="2" charset="-122"/>
            </a:endParaRPr>
          </a:p>
          <a:p>
            <a:pPr marL="800100" lvl="1" indent="-342900" eaLnBrk="1" hangingPunct="1">
              <a:buFont typeface="Calibri" panose="020F0502020204030204" pitchFamily="34" charset="0"/>
              <a:buAutoNum type="arabicPeriod"/>
            </a:pPr>
            <a:r>
              <a:rPr lang="zh-CN" altLang="en-US" sz="2800" dirty="0">
                <a:solidFill>
                  <a:srgbClr val="FF0000"/>
                </a:solidFill>
                <a:latin typeface="Arial" panose="020B0604020202020204" pitchFamily="34" charset="0"/>
                <a:ea typeface="宋体" panose="02010600030101010101" pitchFamily="2" charset="-122"/>
              </a:rPr>
              <a:t>为用例建立序列图</a:t>
            </a:r>
            <a:endParaRPr lang="zh-CN" altLang="en-US" sz="2800"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对象操作的识别</a:t>
            </a:r>
            <a:endParaRPr lang="zh-CN" altLang="en-US" sz="4400"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766888"/>
            <a:ext cx="8591550" cy="3741420"/>
          </a:xfrm>
          <a:prstGeom prst="rect">
            <a:avLst/>
          </a:prstGeom>
          <a:noFill/>
        </p:spPr>
        <p:txBody>
          <a:bodyPr lIns="91430" tIns="45715" rIns="91430" bIns="45715">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识别类的操作的方法：</a:t>
            </a:r>
            <a:r>
              <a:rPr kumimoji="1" lang="zh-CN" altLang="en-US" sz="2600" u="sng" kern="1200" cap="none" spc="0" normalizeH="0" baseline="0" noProof="0" dirty="0">
                <a:latin typeface="+mn-lt"/>
                <a:ea typeface="+mn-ea"/>
                <a:cs typeface="+mn-cs"/>
              </a:rPr>
              <a:t>建立对象之间的交互模型</a:t>
            </a:r>
            <a:endParaRPr kumimoji="1" lang="en-US" altLang="zh-CN" sz="2600" u="sng" kern="1200" cap="none" spc="0" normalizeH="0" baseline="0" noProof="0" dirty="0">
              <a:latin typeface="+mn-lt"/>
              <a:ea typeface="+mn-ea"/>
              <a:cs typeface="+mn-cs"/>
            </a:endParaRPr>
          </a:p>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手段：为每一个用例建立</a:t>
            </a:r>
            <a:r>
              <a:rPr kumimoji="1" lang="zh-CN" altLang="en-US" sz="2600" kern="1200" cap="none" spc="0" normalizeH="0" baseline="0" noProof="0" dirty="0">
                <a:solidFill>
                  <a:srgbClr val="FF0000"/>
                </a:solidFill>
                <a:latin typeface="+mn-lt"/>
                <a:ea typeface="+mn-ea"/>
                <a:cs typeface="+mn-cs"/>
              </a:rPr>
              <a:t>时序图（即序列图、顺序图）</a:t>
            </a:r>
            <a:endParaRPr kumimoji="1" lang="en-US" altLang="zh-CN" sz="2600" kern="1200" cap="none" spc="0" normalizeH="0" baseline="0" noProof="0" dirty="0">
              <a:solidFill>
                <a:srgbClr val="FF0000"/>
              </a:solidFill>
              <a:latin typeface="+mn-lt"/>
              <a:ea typeface="+mn-ea"/>
              <a:cs typeface="+mn-cs"/>
            </a:endParaRPr>
          </a:p>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solidFill>
                  <a:srgbClr val="FF0000"/>
                </a:solidFill>
                <a:latin typeface="+mn-lt"/>
                <a:ea typeface="+mn-ea"/>
                <a:cs typeface="+mn-cs"/>
              </a:rPr>
              <a:t>主要任务：</a:t>
            </a:r>
            <a:r>
              <a:rPr kumimoji="1" lang="zh-CN" altLang="en-US" sz="2600" kern="1200" cap="none" spc="0" normalizeH="0" baseline="0" noProof="0" dirty="0">
                <a:latin typeface="+mn-lt"/>
                <a:ea typeface="+mn-ea"/>
                <a:cs typeface="+mn-cs"/>
              </a:rPr>
              <a:t>分配</a:t>
            </a:r>
            <a:r>
              <a:rPr kumimoji="1" lang="zh-CN" altLang="en-US" sz="2600" kern="1200" cap="none" spc="0" normalizeH="0" baseline="0" noProof="0" dirty="0">
                <a:solidFill>
                  <a:srgbClr val="FF0000"/>
                </a:solidFill>
                <a:latin typeface="+mn-lt"/>
                <a:ea typeface="+mn-ea"/>
                <a:cs typeface="+mn-cs"/>
              </a:rPr>
              <a:t>控制类对象所代表的系统行为</a:t>
            </a:r>
            <a:r>
              <a:rPr kumimoji="1" lang="zh-CN" altLang="en-US" sz="2600" kern="1200" cap="none" spc="0" normalizeH="0" baseline="0" noProof="0" dirty="0">
                <a:latin typeface="+mn-lt"/>
                <a:ea typeface="+mn-ea"/>
                <a:cs typeface="+mn-cs"/>
              </a:rPr>
              <a:t>到各个前面所识别的对象中（一般包括</a:t>
            </a:r>
            <a:r>
              <a:rPr kumimoji="1" lang="zh-CN" altLang="en-US" sz="2600" kern="1200" cap="none" spc="0" normalizeH="0" baseline="0" noProof="0" dirty="0">
                <a:solidFill>
                  <a:srgbClr val="FF0000"/>
                </a:solidFill>
                <a:latin typeface="+mn-lt"/>
                <a:ea typeface="+mn-ea"/>
                <a:cs typeface="+mn-cs"/>
              </a:rPr>
              <a:t>边界类对象</a:t>
            </a:r>
            <a:r>
              <a:rPr kumimoji="1" lang="zh-CN" altLang="en-US" sz="2600" kern="1200" cap="none" spc="0" normalizeH="0" baseline="0" noProof="0" dirty="0">
                <a:latin typeface="+mn-lt"/>
                <a:ea typeface="+mn-ea"/>
                <a:cs typeface="+mn-cs"/>
              </a:rPr>
              <a:t>、</a:t>
            </a:r>
            <a:r>
              <a:rPr kumimoji="1" lang="zh-CN" altLang="en-US" sz="2600" kern="1200" cap="none" spc="0" normalizeH="0" baseline="0" noProof="0" dirty="0">
                <a:solidFill>
                  <a:srgbClr val="FF0000"/>
                </a:solidFill>
                <a:latin typeface="+mn-lt"/>
                <a:ea typeface="+mn-ea"/>
                <a:cs typeface="+mn-cs"/>
              </a:rPr>
              <a:t>实体类对象、以及某些控制类对象）</a:t>
            </a:r>
            <a:endParaRPr kumimoji="1" lang="en-US" altLang="zh-CN" sz="2600" kern="1200" cap="none" spc="0" normalizeH="0" baseline="0" noProof="0" dirty="0">
              <a:solidFill>
                <a:srgbClr val="FF0000"/>
              </a:solidFill>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3200" kern="1200" cap="none" spc="0" normalizeH="0" baseline="0" noProof="0" dirty="0">
                <a:latin typeface="+mn-lt"/>
                <a:ea typeface="+mn-ea"/>
                <a:cs typeface="+mn-cs"/>
              </a:rPr>
              <a:t>     </a:t>
            </a:r>
            <a:endParaRPr kumimoji="1" lang="zh-CN" altLang="en-US" sz="3200" kern="1200" cap="none" spc="0" normalizeH="0" baseline="0" noProof="0" dirty="0">
              <a:latin typeface="+mn-lt"/>
              <a:ea typeface="+mn-ea"/>
              <a:cs typeface="+mn-cs"/>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对象操作的识别</a:t>
            </a:r>
            <a:endParaRPr lang="zh-CN" altLang="en-US" sz="4400"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766888"/>
            <a:ext cx="8591550" cy="1184275"/>
          </a:xfrm>
          <a:prstGeom prst="rect">
            <a:avLst/>
          </a:prstGeom>
          <a:noFill/>
        </p:spPr>
        <p:txBody>
          <a:bodyPr lIns="91430" tIns="45715" rIns="91430" bIns="45715">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建立用例对应的序列图的主要过程</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3200" kern="1200" cap="none" spc="0" normalizeH="0" baseline="0" noProof="0" dirty="0">
                <a:latin typeface="+mn-lt"/>
                <a:ea typeface="+mn-ea"/>
                <a:cs typeface="+mn-cs"/>
              </a:rPr>
              <a:t>     </a:t>
            </a:r>
            <a:endParaRPr kumimoji="1" lang="zh-CN" altLang="en-US" sz="3200" kern="1200" cap="none" spc="0" normalizeH="0" baseline="0" noProof="0" dirty="0">
              <a:latin typeface="+mn-lt"/>
              <a:ea typeface="+mn-ea"/>
              <a:cs typeface="+mn-cs"/>
            </a:endParaRPr>
          </a:p>
        </p:txBody>
      </p:sp>
      <p:sp>
        <p:nvSpPr>
          <p:cNvPr id="66564" name="矩形 1"/>
          <p:cNvSpPr/>
          <p:nvPr/>
        </p:nvSpPr>
        <p:spPr>
          <a:xfrm>
            <a:off x="238125" y="2495550"/>
            <a:ext cx="8424863" cy="2244090"/>
          </a:xfrm>
          <a:prstGeom prst="rect">
            <a:avLst/>
          </a:prstGeom>
          <a:noFill/>
          <a:ln w="9525">
            <a:noFill/>
          </a:ln>
        </p:spPr>
        <p:txBody>
          <a:bodyPr lIns="91430" tIns="45715" rIns="91430" bIns="45715">
            <a:spAutoFit/>
          </a:bodyPr>
          <a:p>
            <a:pPr marL="857250" lvl="1" indent="0" algn="just" eaLnBrk="1" hangingPunct="1">
              <a:buFont typeface="Wingdings" panose="05000000000000000000" pitchFamily="2" charset="2"/>
            </a:pPr>
            <a:r>
              <a:rPr lang="en-US" altLang="zh-CN" sz="2800" dirty="0">
                <a:latin typeface="楷体_GB2312" pitchFamily="49" charset="-122"/>
              </a:rPr>
              <a:t>1</a:t>
            </a:r>
            <a:r>
              <a:rPr lang="zh-CN" altLang="en-US" sz="2800" dirty="0">
                <a:latin typeface="楷体_GB2312" pitchFamily="49" charset="-122"/>
              </a:rPr>
              <a:t>．将参与者、边界类对象、实体类对象等添加到序列图的顶部</a:t>
            </a:r>
            <a:endParaRPr lang="en-US" altLang="zh-CN" sz="2800" dirty="0">
              <a:latin typeface="楷体_GB2312" pitchFamily="49" charset="-122"/>
            </a:endParaRPr>
          </a:p>
          <a:p>
            <a:pPr marL="857250" lvl="1" indent="0" algn="just" eaLnBrk="1" hangingPunct="1">
              <a:buFont typeface="Wingdings" panose="05000000000000000000" pitchFamily="2" charset="2"/>
            </a:pPr>
            <a:r>
              <a:rPr lang="en-US" altLang="zh-CN" sz="2800" dirty="0">
                <a:latin typeface="楷体_GB2312" pitchFamily="49" charset="-122"/>
              </a:rPr>
              <a:t>2</a:t>
            </a:r>
            <a:r>
              <a:rPr lang="zh-CN" altLang="en-US" sz="2800" dirty="0">
                <a:latin typeface="楷体_GB2312" pitchFamily="49" charset="-122"/>
              </a:rPr>
              <a:t>．将用例的内容复制到序列图的左侧</a:t>
            </a:r>
            <a:endParaRPr lang="en-US" altLang="zh-CN" sz="2800" dirty="0">
              <a:latin typeface="楷体_GB2312" pitchFamily="49" charset="-122"/>
            </a:endParaRPr>
          </a:p>
          <a:p>
            <a:pPr marL="857250" lvl="1" indent="0" algn="just" eaLnBrk="1" hangingPunct="1">
              <a:buFont typeface="Wingdings" panose="05000000000000000000" pitchFamily="2" charset="2"/>
            </a:pPr>
            <a:r>
              <a:rPr lang="en-US" altLang="zh-CN" sz="2800" dirty="0">
                <a:latin typeface="楷体_GB2312" pitchFamily="49" charset="-122"/>
              </a:rPr>
              <a:t>3</a:t>
            </a:r>
            <a:r>
              <a:rPr lang="zh-CN" altLang="en-US" sz="2800" dirty="0">
                <a:latin typeface="楷体_GB2312" pitchFamily="49" charset="-122"/>
              </a:rPr>
              <a:t>．针对用例的每句描述，建立对象之间的消息交互</a:t>
            </a:r>
            <a:endParaRPr lang="en-US" altLang="zh-CN" sz="2800" dirty="0">
              <a:latin typeface="楷体_GB2312" pitchFamily="49"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7586" name="Picture 3"/>
          <p:cNvPicPr>
            <a:picLocks noChangeAspect="1"/>
          </p:cNvPicPr>
          <p:nvPr/>
        </p:nvPicPr>
        <p:blipFill>
          <a:blip r:embed="rId1"/>
          <a:stretch>
            <a:fillRect/>
          </a:stretch>
        </p:blipFill>
        <p:spPr>
          <a:xfrm>
            <a:off x="254000" y="-177800"/>
            <a:ext cx="8431213" cy="7272338"/>
          </a:xfrm>
          <a:prstGeom prst="rect">
            <a:avLst/>
          </a:prstGeom>
          <a:noFill/>
          <a:ln w="9525">
            <a:noFill/>
          </a:ln>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矩形 1"/>
          <p:cNvSpPr/>
          <p:nvPr/>
        </p:nvSpPr>
        <p:spPr>
          <a:xfrm>
            <a:off x="527050" y="1625600"/>
            <a:ext cx="6029325" cy="646113"/>
          </a:xfrm>
          <a:prstGeom prst="rect">
            <a:avLst/>
          </a:prstGeom>
          <a:noFill/>
          <a:ln w="9525">
            <a:noFill/>
          </a:ln>
        </p:spPr>
        <p:txBody>
          <a:bodyPr wrap="none" lIns="91430" tIns="45715" rIns="91430" bIns="45715">
            <a:spAutoFit/>
          </a:bodyPr>
          <a:p>
            <a:pPr marL="271780" indent="-271780" defTabSz="914400" eaLnBrk="1" hangingPunct="1">
              <a:lnSpc>
                <a:spcPct val="150000"/>
              </a:lnSpc>
              <a:spcBef>
                <a:spcPct val="20000"/>
              </a:spcBef>
              <a:buClr>
                <a:srgbClr val="0BD0D9"/>
              </a:buClr>
              <a:buSzPct val="95000"/>
              <a:buFont typeface="Wingdings" panose="05000000000000000000" pitchFamily="2" charset="2"/>
              <a:buChar char="p"/>
              <a:tabLst>
                <a:tab pos="455930" algn="l"/>
              </a:tabLst>
            </a:pPr>
            <a:r>
              <a:rPr lang="zh-CN" altLang="en-US" dirty="0">
                <a:latin typeface="黑体" panose="02010609060101010101" pitchFamily="49" charset="-122"/>
              </a:rPr>
              <a:t>对用例“开户”进行分析之后得到的类图</a:t>
            </a:r>
            <a:endParaRPr lang="en-US" altLang="zh-CN" dirty="0">
              <a:latin typeface="黑体" panose="02010609060101010101" pitchFamily="49" charset="-122"/>
            </a:endParaRPr>
          </a:p>
        </p:txBody>
      </p:sp>
      <p:pic>
        <p:nvPicPr>
          <p:cNvPr id="68611" name="Picture 4"/>
          <p:cNvPicPr>
            <a:picLocks noChangeAspect="1"/>
          </p:cNvPicPr>
          <p:nvPr/>
        </p:nvPicPr>
        <p:blipFill>
          <a:blip r:embed="rId1"/>
          <a:stretch>
            <a:fillRect/>
          </a:stretch>
        </p:blipFill>
        <p:spPr>
          <a:xfrm>
            <a:off x="1643063" y="2120900"/>
            <a:ext cx="5029200" cy="4432300"/>
          </a:xfrm>
          <a:prstGeom prst="rect">
            <a:avLst/>
          </a:prstGeom>
          <a:noFill/>
          <a:ln w="9525">
            <a:noFill/>
          </a:ln>
        </p:spPr>
      </p:pic>
      <p:sp>
        <p:nvSpPr>
          <p:cNvPr id="2" name="矩形 1"/>
          <p:cNvSpPr/>
          <p:nvPr/>
        </p:nvSpPr>
        <p:spPr>
          <a:xfrm>
            <a:off x="647700" y="793750"/>
            <a:ext cx="467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5605" rIns="0" bIns="0" anchor="b"/>
          <a:lstStyle/>
          <a:p>
            <a:pPr marL="606425" marR="0" lvl="0" indent="-606425" algn="l" defTabSz="914400" rtl="0" eaLnBrk="1" fontAlgn="base" latinLnBrk="0" hangingPunct="1">
              <a:lnSpc>
                <a:spcPct val="100000"/>
              </a:lnSpc>
              <a:spcBef>
                <a:spcPts val="1200"/>
              </a:spcBef>
              <a:spcAft>
                <a:spcPct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对象操作的识别</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4" name="Picture 3"/>
          <p:cNvPicPr>
            <a:picLocks noChangeAspect="1"/>
          </p:cNvPicPr>
          <p:nvPr/>
        </p:nvPicPr>
        <p:blipFill>
          <a:blip r:embed="rId1"/>
          <a:stretch>
            <a:fillRect/>
          </a:stretch>
        </p:blipFill>
        <p:spPr>
          <a:xfrm>
            <a:off x="254000" y="-177800"/>
            <a:ext cx="8431213" cy="7272338"/>
          </a:xfrm>
          <a:prstGeom prst="rect">
            <a:avLst/>
          </a:prstGeom>
          <a:noFill/>
          <a:ln w="9525">
            <a:noFill/>
          </a:ln>
        </p:spPr>
      </p:pic>
      <p:sp>
        <p:nvSpPr>
          <p:cNvPr id="3" name="矩形标注 2"/>
          <p:cNvSpPr/>
          <p:nvPr/>
        </p:nvSpPr>
        <p:spPr>
          <a:xfrm>
            <a:off x="7223125" y="1262063"/>
            <a:ext cx="1895475" cy="2447925"/>
          </a:xfrm>
          <a:prstGeom prst="wedgeRectCallout">
            <a:avLst>
              <a:gd name="adj1" fmla="val -71224"/>
              <a:gd name="adj2" fmla="val -1939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800" b="1" i="0" u="none" strike="noStrike" kern="1200" cap="none" spc="0" normalizeH="0" baseline="0" noProof="0" dirty="0">
                <a:ln>
                  <a:noFill/>
                </a:ln>
                <a:solidFill>
                  <a:schemeClr val="tx1"/>
                </a:solidFill>
                <a:effectLst/>
                <a:uLnTx/>
                <a:uFillTx/>
                <a:latin typeface="+mn-lt"/>
                <a:ea typeface="+mn-ea"/>
                <a:cs typeface="+mn-cs"/>
              </a:rPr>
              <a:t>即负责</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数据定义</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、又负责</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业务处理</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和</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数据库交互</a:t>
            </a:r>
            <a:endParaRPr kumimoji="1" lang="zh-CN" altLang="en-US" sz="2800" b="1"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0658" name="Picture 3"/>
          <p:cNvPicPr>
            <a:picLocks noChangeAspect="1"/>
          </p:cNvPicPr>
          <p:nvPr/>
        </p:nvPicPr>
        <p:blipFill>
          <a:blip r:embed="rId1"/>
          <a:stretch>
            <a:fillRect/>
          </a:stretch>
        </p:blipFill>
        <p:spPr>
          <a:xfrm>
            <a:off x="6350" y="-107950"/>
            <a:ext cx="9112250" cy="7119938"/>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矩形 1"/>
          <p:cNvSpPr/>
          <p:nvPr/>
        </p:nvSpPr>
        <p:spPr>
          <a:xfrm>
            <a:off x="527050" y="1625600"/>
            <a:ext cx="6029325" cy="646113"/>
          </a:xfrm>
          <a:prstGeom prst="rect">
            <a:avLst/>
          </a:prstGeom>
          <a:noFill/>
          <a:ln w="9525">
            <a:noFill/>
          </a:ln>
        </p:spPr>
        <p:txBody>
          <a:bodyPr wrap="none" lIns="91430" tIns="45715" rIns="91430" bIns="45715">
            <a:spAutoFit/>
          </a:bodyPr>
          <a:p>
            <a:pPr marL="271780" indent="-271780" defTabSz="914400" eaLnBrk="1" hangingPunct="1">
              <a:lnSpc>
                <a:spcPct val="150000"/>
              </a:lnSpc>
              <a:spcBef>
                <a:spcPct val="20000"/>
              </a:spcBef>
              <a:buClr>
                <a:srgbClr val="0BD0D9"/>
              </a:buClr>
              <a:buSzPct val="95000"/>
              <a:buFont typeface="Wingdings" panose="05000000000000000000" pitchFamily="2" charset="2"/>
              <a:buChar char="p"/>
              <a:tabLst>
                <a:tab pos="455930" algn="l"/>
              </a:tabLst>
            </a:pPr>
            <a:r>
              <a:rPr lang="zh-CN" altLang="en-US" dirty="0">
                <a:latin typeface="黑体" panose="02010609060101010101" pitchFamily="49" charset="-122"/>
              </a:rPr>
              <a:t>对用例“开户”进行分析之后得到的类图</a:t>
            </a:r>
            <a:endParaRPr lang="en-US" altLang="zh-CN" dirty="0">
              <a:latin typeface="黑体" panose="02010609060101010101" pitchFamily="49" charset="-122"/>
            </a:endParaRPr>
          </a:p>
        </p:txBody>
      </p:sp>
      <p:pic>
        <p:nvPicPr>
          <p:cNvPr id="71683" name="Picture 4"/>
          <p:cNvPicPr>
            <a:picLocks noChangeAspect="1"/>
          </p:cNvPicPr>
          <p:nvPr/>
        </p:nvPicPr>
        <p:blipFill>
          <a:blip r:embed="rId1"/>
          <a:stretch>
            <a:fillRect/>
          </a:stretch>
        </p:blipFill>
        <p:spPr>
          <a:xfrm>
            <a:off x="1643063" y="2120900"/>
            <a:ext cx="5029200" cy="4432300"/>
          </a:xfrm>
          <a:prstGeom prst="rect">
            <a:avLst/>
          </a:prstGeom>
          <a:noFill/>
          <a:ln w="9525">
            <a:noFill/>
          </a:ln>
        </p:spPr>
      </p:pic>
      <p:sp>
        <p:nvSpPr>
          <p:cNvPr id="2" name="矩形 1"/>
          <p:cNvSpPr/>
          <p:nvPr/>
        </p:nvSpPr>
        <p:spPr>
          <a:xfrm>
            <a:off x="647700" y="793750"/>
            <a:ext cx="4673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5605" rIns="0" bIns="0" anchor="b"/>
          <a:lstStyle/>
          <a:p>
            <a:pPr marL="606425" marR="0" lvl="0" indent="-606425" algn="l" defTabSz="914400" rtl="0" eaLnBrk="1" fontAlgn="base" latinLnBrk="0" hangingPunct="1">
              <a:lnSpc>
                <a:spcPct val="100000"/>
              </a:lnSpc>
              <a:spcBef>
                <a:spcPts val="1200"/>
              </a:spcBef>
              <a:spcAft>
                <a:spcPct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对象操作的识别</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灯片编号占位符 4"/>
          <p:cNvSpPr txBox="1">
            <a:spLocks noGrp="1"/>
          </p:cNvSpPr>
          <p:nvPr>
            <p:ph type="sldNum" sz="quarter" idx="12"/>
          </p:nvPr>
        </p:nvSpPr>
        <p:spPr>
          <a:xfrm>
            <a:off x="7902575" y="6345238"/>
            <a:ext cx="760413" cy="363537"/>
          </a:xfrm>
          <a:noFill/>
          <a:ln>
            <a:noFill/>
          </a:ln>
        </p:spPr>
        <p:txBody>
          <a:bodyPr lIns="0" tIns="0" rIns="0" bIns="0" anchor="b" anchorCtr="0"/>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defRPr>
            </a:lvl1pPr>
            <a:lvl2pPr marL="455930" lvl="1"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3130" lvl="2"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0330" lvl="3"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7530" lvl="4" indent="127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stStyle>
          <a:p>
            <a:pPr lvl="0" algn="r" eaLnBrk="1" hangingPunct="1">
              <a:buFont typeface="Wingdings" panose="05000000000000000000" pitchFamily="2" charset="2"/>
            </a:pPr>
            <a:fld id="{9A0DB2DC-4C9A-4742-B13C-FB6460FD3503}" type="slidenum">
              <a:rPr lang="en-US" altLang="zh-CN" sz="1200" dirty="0">
                <a:solidFill>
                  <a:srgbClr val="045C75"/>
                </a:solidFill>
              </a:rPr>
            </a:fld>
            <a:endParaRPr lang="en-US" altLang="zh-CN" sz="1200" dirty="0">
              <a:solidFill>
                <a:srgbClr val="045C75"/>
              </a:solidFill>
            </a:endParaRPr>
          </a:p>
        </p:txBody>
      </p:sp>
      <p:sp>
        <p:nvSpPr>
          <p:cNvPr id="96260" name="Text Box 4"/>
          <p:cNvSpPr txBox="1">
            <a:spLocks noChangeArrowheads="1"/>
          </p:cNvSpPr>
          <p:nvPr/>
        </p:nvSpPr>
        <p:spPr bwMode="auto">
          <a:xfrm>
            <a:off x="1535113" y="849313"/>
            <a:ext cx="5184775" cy="512763"/>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 typeface="Wingdings" panose="05000000000000000000" pitchFamily="2" charset="2"/>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另外一个问题</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72708" name="TextBox 2"/>
          <p:cNvSpPr txBox="1"/>
          <p:nvPr/>
        </p:nvSpPr>
        <p:spPr>
          <a:xfrm>
            <a:off x="1157288" y="2203450"/>
            <a:ext cx="2016125" cy="646113"/>
          </a:xfrm>
          <a:prstGeom prst="rect">
            <a:avLst/>
          </a:prstGeom>
          <a:noFill/>
          <a:ln w="9525">
            <a:noFill/>
          </a:ln>
        </p:spPr>
        <p:txBody>
          <a:bodyPr>
            <a:spAutoFit/>
          </a:bodyPr>
          <a:p>
            <a:pPr eaLnBrk="1" hangingPunct="1">
              <a:buFont typeface="Wingdings" panose="05000000000000000000" pitchFamily="2" charset="2"/>
            </a:pPr>
            <a:r>
              <a:rPr lang="zh-CN" altLang="en-US" sz="3600" dirty="0">
                <a:latin typeface="黑体" panose="02010609060101010101" pitchFamily="49" charset="-122"/>
              </a:rPr>
              <a:t>用例</a:t>
            </a:r>
            <a:r>
              <a:rPr lang="en-US" altLang="zh-CN" sz="3600" dirty="0">
                <a:latin typeface="黑体" panose="02010609060101010101" pitchFamily="49" charset="-122"/>
              </a:rPr>
              <a:t>1</a:t>
            </a:r>
            <a:endParaRPr lang="zh-CN" altLang="en-US" sz="3600" dirty="0">
              <a:latin typeface="黑体" panose="02010609060101010101" pitchFamily="49" charset="-122"/>
            </a:endParaRPr>
          </a:p>
        </p:txBody>
      </p:sp>
      <p:sp>
        <p:nvSpPr>
          <p:cNvPr id="72709" name="TextBox 9"/>
          <p:cNvSpPr txBox="1"/>
          <p:nvPr/>
        </p:nvSpPr>
        <p:spPr>
          <a:xfrm>
            <a:off x="5280025" y="2171700"/>
            <a:ext cx="2541905" cy="1753235"/>
          </a:xfrm>
          <a:prstGeom prst="rect">
            <a:avLst/>
          </a:prstGeom>
          <a:noFill/>
          <a:ln w="9525">
            <a:noFill/>
          </a:ln>
        </p:spPr>
        <p:txBody>
          <a:bodyPr wrap="square">
            <a:spAutoFit/>
          </a:bodyPr>
          <a:p>
            <a:pPr eaLnBrk="1" hangingPunct="1">
              <a:buFont typeface="Wingdings" panose="05000000000000000000" pitchFamily="2" charset="2"/>
            </a:pPr>
            <a:r>
              <a:rPr lang="zh-CN" altLang="en-US" sz="5400" dirty="0">
                <a:solidFill>
                  <a:srgbClr val="FF0000"/>
                </a:solidFill>
                <a:latin typeface="黑体" panose="02010609060101010101" pitchFamily="49" charset="-122"/>
              </a:rPr>
              <a:t>同一个对象</a:t>
            </a:r>
            <a:endParaRPr lang="zh-CN" altLang="en-US" sz="5400" dirty="0">
              <a:solidFill>
                <a:srgbClr val="FF0000"/>
              </a:solidFill>
              <a:latin typeface="黑体" panose="02010609060101010101" pitchFamily="49" charset="-122"/>
            </a:endParaRPr>
          </a:p>
        </p:txBody>
      </p:sp>
      <p:sp>
        <p:nvSpPr>
          <p:cNvPr id="4" name="右箭头 3"/>
          <p:cNvSpPr/>
          <p:nvPr/>
        </p:nvSpPr>
        <p:spPr>
          <a:xfrm rot="639198">
            <a:off x="2565400" y="2425700"/>
            <a:ext cx="2447925"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72711" name="TextBox 10"/>
          <p:cNvSpPr txBox="1"/>
          <p:nvPr/>
        </p:nvSpPr>
        <p:spPr>
          <a:xfrm>
            <a:off x="1157288" y="3405188"/>
            <a:ext cx="2016125" cy="646112"/>
          </a:xfrm>
          <a:prstGeom prst="rect">
            <a:avLst/>
          </a:prstGeom>
          <a:noFill/>
          <a:ln w="9525">
            <a:noFill/>
          </a:ln>
        </p:spPr>
        <p:txBody>
          <a:bodyPr>
            <a:spAutoFit/>
          </a:bodyPr>
          <a:p>
            <a:pPr eaLnBrk="1" hangingPunct="1">
              <a:buFont typeface="Wingdings" panose="05000000000000000000" pitchFamily="2" charset="2"/>
            </a:pPr>
            <a:r>
              <a:rPr lang="zh-CN" altLang="en-US" sz="3600" dirty="0">
                <a:latin typeface="黑体" panose="02010609060101010101" pitchFamily="49" charset="-122"/>
              </a:rPr>
              <a:t>用例</a:t>
            </a:r>
            <a:r>
              <a:rPr lang="en-US" altLang="zh-CN" sz="3600" dirty="0">
                <a:latin typeface="黑体" panose="02010609060101010101" pitchFamily="49" charset="-122"/>
              </a:rPr>
              <a:t>2</a:t>
            </a:r>
            <a:endParaRPr lang="zh-CN" altLang="en-US" sz="3600" dirty="0">
              <a:latin typeface="黑体" panose="02010609060101010101" pitchFamily="49" charset="-122"/>
            </a:endParaRPr>
          </a:p>
        </p:txBody>
      </p:sp>
      <p:sp>
        <p:nvSpPr>
          <p:cNvPr id="13" name="右箭头 12"/>
          <p:cNvSpPr/>
          <p:nvPr/>
        </p:nvSpPr>
        <p:spPr>
          <a:xfrm rot="21149299">
            <a:off x="2566988" y="3268663"/>
            <a:ext cx="2447925"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4" name="TextBox 13"/>
          <p:cNvSpPr txBox="1"/>
          <p:nvPr/>
        </p:nvSpPr>
        <p:spPr>
          <a:xfrm>
            <a:off x="1135063" y="4430713"/>
            <a:ext cx="7434262" cy="645160"/>
          </a:xfrm>
          <a:prstGeom prst="rect">
            <a:avLst/>
          </a:prstGeom>
          <a:noFill/>
          <a:ln w="9525">
            <a:noFill/>
          </a:ln>
        </p:spPr>
        <p:txBody>
          <a:bodyPr>
            <a:spAutoFit/>
          </a:bodyPr>
          <a:p>
            <a:pPr eaLnBrk="1" hangingPunct="1">
              <a:buFont typeface="Wingdings" panose="05000000000000000000" pitchFamily="2" charset="2"/>
            </a:pPr>
            <a:r>
              <a:rPr lang="zh-CN" altLang="en-US" sz="3600" dirty="0">
                <a:solidFill>
                  <a:srgbClr val="FF0000"/>
                </a:solidFill>
                <a:latin typeface="黑体" panose="02010609060101010101" pitchFamily="49" charset="-122"/>
              </a:rPr>
              <a:t>不同的用例可能推导出相同的对象</a:t>
            </a:r>
            <a:endParaRPr lang="en-US" altLang="zh-CN" sz="3600" dirty="0">
              <a:solidFill>
                <a:srgbClr val="FF0000"/>
              </a:solidFill>
              <a:latin typeface="黑体" panose="02010609060101010101" pitchFamily="49" charset="-122"/>
            </a:endParaRPr>
          </a:p>
        </p:txBody>
      </p:sp>
      <p:sp>
        <p:nvSpPr>
          <p:cNvPr id="15" name="TextBox 14"/>
          <p:cNvSpPr txBox="1"/>
          <p:nvPr/>
        </p:nvSpPr>
        <p:spPr>
          <a:xfrm>
            <a:off x="782638" y="5076825"/>
            <a:ext cx="8140700" cy="1198880"/>
          </a:xfrm>
          <a:prstGeom prst="rect">
            <a:avLst/>
          </a:prstGeom>
          <a:noFill/>
          <a:ln w="9525">
            <a:noFill/>
          </a:ln>
        </p:spPr>
        <p:txBody>
          <a:bodyPr>
            <a:spAutoFit/>
          </a:bodyPr>
          <a:p>
            <a:pPr eaLnBrk="1" hangingPunct="1">
              <a:buFont typeface="Wingdings" panose="05000000000000000000" pitchFamily="2" charset="2"/>
            </a:pPr>
            <a:r>
              <a:rPr lang="zh-CN" altLang="en-US" sz="3600" dirty="0">
                <a:solidFill>
                  <a:srgbClr val="FF0000"/>
                </a:solidFill>
                <a:latin typeface="黑体" panose="02010609060101010101" pitchFamily="49" charset="-122"/>
              </a:rPr>
              <a:t>如果我们从不同的用例出发，去识别对象，最后如何合并相同的对象？？？？</a:t>
            </a:r>
            <a:endParaRPr lang="en-US" altLang="zh-CN" sz="3600" dirty="0">
              <a:solidFill>
                <a:srgbClr val="FF0000"/>
              </a:solidFill>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a:xfrm>
            <a:off x="455613" y="469900"/>
            <a:ext cx="8207375" cy="1139825"/>
          </a:xfrm>
        </p:spPr>
        <p:txBody>
          <a:bodyPr vert="horz" wrap="square" lIns="0" tIns="45605" rIns="0" bIns="0" anchor="b" anchorCtr="0"/>
          <a:p>
            <a:pPr marL="606425" indent="-606425" eaLnBrk="1" hangingPunct="1">
              <a:spcBef>
                <a:spcPts val="1200"/>
              </a:spcBef>
            </a:pPr>
            <a:r>
              <a:rPr lang="zh-CN" altLang="en-US" b="1" dirty="0">
                <a:solidFill>
                  <a:srgbClr val="FF0000"/>
                </a:solidFill>
                <a:latin typeface="微软雅黑" panose="020B0503020204020204" pitchFamily="34" charset="-122"/>
                <a:ea typeface="微软雅黑" panose="020B0503020204020204" pitchFamily="34" charset="-122"/>
              </a:rPr>
              <a:t>对象识别的实际过程</a:t>
            </a:r>
            <a:endParaRPr lang="zh-CN" altLang="en-US" sz="4400" b="1" dirty="0">
              <a:solidFill>
                <a:srgbClr val="FF0000"/>
              </a:solidFill>
              <a:latin typeface="微软雅黑" panose="020B0503020204020204" pitchFamily="34" charset="-122"/>
              <a:ea typeface="微软雅黑" panose="020B0503020204020204" pitchFamily="34" charset="-122"/>
            </a:endParaRPr>
          </a:p>
        </p:txBody>
      </p:sp>
      <p:sp>
        <p:nvSpPr>
          <p:cNvPr id="2" name="矩形 1"/>
          <p:cNvSpPr/>
          <p:nvPr/>
        </p:nvSpPr>
        <p:spPr>
          <a:xfrm>
            <a:off x="814388" y="2159000"/>
            <a:ext cx="3384550"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4800" b="1" i="0" u="none" strike="noStrike" kern="1200" cap="none" spc="0" normalizeH="0" baseline="0" noProof="0" dirty="0">
                <a:ln>
                  <a:noFill/>
                </a:ln>
                <a:solidFill>
                  <a:schemeClr val="lt1"/>
                </a:solidFill>
                <a:effectLst/>
                <a:uLnTx/>
                <a:uFillTx/>
                <a:latin typeface="+mn-lt"/>
                <a:ea typeface="+mn-ea"/>
                <a:cs typeface="+mn-cs"/>
              </a:rPr>
              <a:t>领域建模</a:t>
            </a:r>
            <a:endParaRPr kumimoji="1" lang="zh-CN" altLang="en-US" sz="4800" b="1" i="0" u="none" strike="noStrike" kern="1200" cap="none" spc="0" normalizeH="0" baseline="0" noProof="0" dirty="0">
              <a:ln>
                <a:noFill/>
              </a:ln>
              <a:solidFill>
                <a:schemeClr val="lt1"/>
              </a:solidFill>
              <a:effectLst/>
              <a:uLnTx/>
              <a:uFillTx/>
              <a:latin typeface="+mn-lt"/>
              <a:ea typeface="+mn-ea"/>
              <a:cs typeface="+mn-cs"/>
            </a:endParaRPr>
          </a:p>
        </p:txBody>
      </p:sp>
      <p:sp>
        <p:nvSpPr>
          <p:cNvPr id="5" name="矩形 4"/>
          <p:cNvSpPr/>
          <p:nvPr/>
        </p:nvSpPr>
        <p:spPr>
          <a:xfrm>
            <a:off x="2351088" y="4070350"/>
            <a:ext cx="3816350" cy="865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4800" b="1" i="0" u="none" strike="noStrike" kern="1200" cap="none" spc="0" normalizeH="0" baseline="0" noProof="0" dirty="0">
                <a:ln>
                  <a:noFill/>
                </a:ln>
                <a:solidFill>
                  <a:schemeClr val="lt1"/>
                </a:solidFill>
                <a:effectLst/>
                <a:uLnTx/>
                <a:uFillTx/>
                <a:latin typeface="+mn-lt"/>
                <a:ea typeface="+mn-ea"/>
                <a:cs typeface="+mn-cs"/>
              </a:rPr>
              <a:t>对象识别</a:t>
            </a:r>
            <a:endParaRPr kumimoji="1" lang="zh-CN" altLang="en-US" sz="48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下箭头 2"/>
          <p:cNvSpPr/>
          <p:nvPr/>
        </p:nvSpPr>
        <p:spPr>
          <a:xfrm>
            <a:off x="3190875" y="3117850"/>
            <a:ext cx="576263" cy="86360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475163" y="2159000"/>
            <a:ext cx="3384550"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4800" b="1" i="0" u="none" strike="noStrike" kern="1200" cap="none" spc="0" normalizeH="0" baseline="0" noProof="0" dirty="0">
                <a:ln>
                  <a:noFill/>
                </a:ln>
                <a:solidFill>
                  <a:schemeClr val="lt1"/>
                </a:solidFill>
                <a:effectLst/>
                <a:uLnTx/>
                <a:uFillTx/>
                <a:latin typeface="+mn-lt"/>
                <a:ea typeface="+mn-ea"/>
                <a:cs typeface="+mn-cs"/>
              </a:rPr>
              <a:t>用例建模</a:t>
            </a:r>
            <a:endParaRPr kumimoji="1" lang="zh-CN" altLang="en-US" sz="4800" b="1" i="0" u="none" strike="noStrike" kern="1200" cap="none" spc="0" normalizeH="0" baseline="0" noProof="0" dirty="0">
              <a:ln>
                <a:noFill/>
              </a:ln>
              <a:solidFill>
                <a:schemeClr val="lt1"/>
              </a:solidFill>
              <a:effectLst/>
              <a:uLnTx/>
              <a:uFillTx/>
              <a:latin typeface="+mn-lt"/>
              <a:ea typeface="+mn-ea"/>
              <a:cs typeface="+mn-cs"/>
            </a:endParaRPr>
          </a:p>
        </p:txBody>
      </p:sp>
      <p:sp>
        <p:nvSpPr>
          <p:cNvPr id="7" name="下箭头 6"/>
          <p:cNvSpPr/>
          <p:nvPr/>
        </p:nvSpPr>
        <p:spPr>
          <a:xfrm>
            <a:off x="4918075" y="3117850"/>
            <a:ext cx="576263" cy="86360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a:xfrm>
            <a:off x="455613" y="327025"/>
            <a:ext cx="8207375" cy="1139825"/>
          </a:xfrm>
        </p:spPr>
        <p:txBody>
          <a:bodyPr vert="horz" wrap="square" lIns="0" tIns="45605" rIns="0" bIns="0" anchor="b" anchorCtr="0"/>
          <a:p>
            <a:pPr marL="606425" indent="-606425" eaLnBrk="1" hangingPunct="1">
              <a:spcBef>
                <a:spcPts val="1200"/>
              </a:spcBef>
            </a:pPr>
            <a:r>
              <a:rPr lang="zh-CN" altLang="en-US" sz="4400" b="1" dirty="0">
                <a:solidFill>
                  <a:srgbClr val="FF0000"/>
                </a:solidFill>
                <a:latin typeface="微软雅黑" panose="020B0503020204020204" pitchFamily="34" charset="-122"/>
                <a:ea typeface="微软雅黑" panose="020B0503020204020204" pitchFamily="34" charset="-122"/>
              </a:rPr>
              <a:t>领域建模</a:t>
            </a:r>
            <a:endParaRPr lang="zh-CN" altLang="en-US" sz="4400" b="1" dirty="0">
              <a:solidFill>
                <a:srgbClr val="FF0000"/>
              </a:solidFill>
              <a:latin typeface="微软雅黑" panose="020B0503020204020204" pitchFamily="34" charset="-122"/>
              <a:ea typeface="微软雅黑" panose="020B0503020204020204" pitchFamily="34" charset="-122"/>
            </a:endParaRPr>
          </a:p>
        </p:txBody>
      </p:sp>
      <p:sp>
        <p:nvSpPr>
          <p:cNvPr id="74755" name="TextBox 3"/>
          <p:cNvSpPr txBox="1"/>
          <p:nvPr/>
        </p:nvSpPr>
        <p:spPr>
          <a:xfrm>
            <a:off x="511175" y="1406525"/>
            <a:ext cx="8135938" cy="1930400"/>
          </a:xfrm>
          <a:prstGeom prst="rect">
            <a:avLst/>
          </a:prstGeom>
          <a:noFill/>
          <a:ln w="9525">
            <a:noFill/>
          </a:ln>
        </p:spPr>
        <p:txBody>
          <a:bodyPr>
            <a:spAutoFit/>
          </a:bodyPr>
          <a:p>
            <a:pPr marL="271780" indent="-271780" defTabSz="914400" eaLnBrk="1" hangingPunct="1">
              <a:lnSpc>
                <a:spcPct val="150000"/>
              </a:lnSpc>
              <a:buClr>
                <a:srgbClr val="0BD0D9"/>
              </a:buClr>
              <a:buSzPct val="95000"/>
              <a:buFont typeface="Wingdings" panose="05000000000000000000" pitchFamily="2" charset="2"/>
              <a:buChar char="p"/>
              <a:tabLst>
                <a:tab pos="455930" algn="l"/>
              </a:tabLst>
            </a:pPr>
            <a:r>
              <a:rPr lang="zh-CN" altLang="en-US" sz="2800" dirty="0">
                <a:latin typeface="黑体" panose="02010609060101010101" pitchFamily="49" charset="-122"/>
              </a:rPr>
              <a:t>需求分析阶段的任务</a:t>
            </a:r>
            <a:endParaRPr lang="en-US" altLang="zh-CN" sz="2800" dirty="0">
              <a:latin typeface="黑体" panose="02010609060101010101" pitchFamily="49" charset="-122"/>
            </a:endParaRPr>
          </a:p>
          <a:p>
            <a:pPr marL="271780" indent="-271780" defTabSz="914400" eaLnBrk="1" hangingPunct="1">
              <a:lnSpc>
                <a:spcPct val="150000"/>
              </a:lnSpc>
              <a:buClr>
                <a:srgbClr val="0BD0D9"/>
              </a:buClr>
              <a:buSzPct val="95000"/>
              <a:buFont typeface="Wingdings" panose="05000000000000000000" pitchFamily="2" charset="2"/>
              <a:buChar char="p"/>
              <a:tabLst>
                <a:tab pos="455930" algn="l"/>
              </a:tabLst>
            </a:pPr>
            <a:r>
              <a:rPr lang="zh-CN" altLang="en-US" sz="2800" dirty="0">
                <a:latin typeface="黑体" panose="02010609060101010101" pitchFamily="49" charset="-122"/>
              </a:rPr>
              <a:t>系统分析人员基于自己对领域的认识</a:t>
            </a:r>
            <a:endParaRPr lang="en-US" altLang="zh-CN" sz="2800" dirty="0">
              <a:latin typeface="黑体" panose="02010609060101010101" pitchFamily="49" charset="-122"/>
            </a:endParaRPr>
          </a:p>
          <a:p>
            <a:pPr marL="271780" indent="-271780" defTabSz="914400" eaLnBrk="1" hangingPunct="1">
              <a:lnSpc>
                <a:spcPct val="150000"/>
              </a:lnSpc>
              <a:buClr>
                <a:srgbClr val="0BD0D9"/>
              </a:buClr>
              <a:buSzPct val="95000"/>
              <a:buFont typeface="Wingdings" panose="05000000000000000000" pitchFamily="2" charset="2"/>
              <a:buChar char="p"/>
              <a:tabLst>
                <a:tab pos="455930" algn="l"/>
              </a:tabLst>
            </a:pPr>
            <a:r>
              <a:rPr lang="zh-CN" altLang="en-US" sz="2800" dirty="0">
                <a:latin typeface="黑体" panose="02010609060101010101" pitchFamily="49" charset="-122"/>
              </a:rPr>
              <a:t>识别出一个领域的常见的对象与对象之间的关系</a:t>
            </a:r>
            <a:endParaRPr lang="zh-CN" altLang="en-US" sz="2800" dirty="0">
              <a:latin typeface="黑体" panose="02010609060101010101" pitchFamily="49" charset="-122"/>
            </a:endParaRPr>
          </a:p>
        </p:txBody>
      </p:sp>
      <p:pic>
        <p:nvPicPr>
          <p:cNvPr id="74756" name="Picture 2"/>
          <p:cNvPicPr>
            <a:picLocks noChangeAspect="1"/>
          </p:cNvPicPr>
          <p:nvPr/>
        </p:nvPicPr>
        <p:blipFill>
          <a:blip r:embed="rId1"/>
          <a:stretch>
            <a:fillRect/>
          </a:stretch>
        </p:blipFill>
        <p:spPr>
          <a:xfrm>
            <a:off x="1552575" y="3206750"/>
            <a:ext cx="6053138" cy="3808413"/>
          </a:xfrm>
          <a:prstGeom prst="rect">
            <a:avLst/>
          </a:prstGeom>
          <a:noFill/>
          <a:ln w="9525">
            <a:noFill/>
          </a:ln>
        </p:spPr>
      </p:pic>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p:txBody>
          <a:bodyPr vert="horz" wrap="square" lIns="0" tIns="45605" rIns="0" bIns="0" anchor="b" anchorCtr="0"/>
          <a:p>
            <a:r>
              <a:rPr lang="zh-CN" altLang="en-US" sz="4400" b="1" dirty="0">
                <a:latin typeface="微软雅黑" panose="020B0503020204020204" pitchFamily="34" charset="-122"/>
                <a:ea typeface="微软雅黑" panose="020B0503020204020204" pitchFamily="34" charset="-122"/>
              </a:rPr>
              <a:t>小结</a:t>
            </a:r>
            <a:endParaRPr lang="zh-CN" altLang="en-US" sz="4400" b="1" dirty="0">
              <a:latin typeface="微软雅黑" panose="020B0503020204020204" pitchFamily="34" charset="-122"/>
              <a:ea typeface="微软雅黑" panose="020B0503020204020204" pitchFamily="34" charset="-122"/>
            </a:endParaRPr>
          </a:p>
        </p:txBody>
      </p:sp>
      <p:sp>
        <p:nvSpPr>
          <p:cNvPr id="75779" name="Rectangle 3"/>
          <p:cNvSpPr>
            <a:spLocks noGrp="1"/>
          </p:cNvSpPr>
          <p:nvPr>
            <p:ph idx="1"/>
          </p:nvPr>
        </p:nvSpPr>
        <p:spPr/>
        <p:txBody>
          <a:bodyPr vert="horz" wrap="square" lIns="91212" tIns="45605" rIns="91212" bIns="45605" anchor="t" anchorCtr="0"/>
          <a:p>
            <a:pPr marL="271780" lvl="1" indent="-271780">
              <a:lnSpc>
                <a:spcPct val="90000"/>
              </a:lnSpc>
              <a:buClr>
                <a:srgbClr val="0BD0D9"/>
              </a:buClr>
              <a:buSzPct val="95000"/>
              <a:buFont typeface="Wingdings" panose="05000000000000000000" pitchFamily="2" charset="2"/>
              <a:buChar char="p"/>
            </a:pPr>
            <a:r>
              <a:rPr lang="zh-CN" altLang="en-US" sz="2800" b="1" dirty="0">
                <a:solidFill>
                  <a:srgbClr val="000000"/>
                </a:solidFill>
              </a:rPr>
              <a:t>用例建模建立用户的需求模型，由用例图体现</a:t>
            </a:r>
            <a:endParaRPr lang="en-US" altLang="zh-CN" sz="2800" b="1" dirty="0">
              <a:solidFill>
                <a:srgbClr val="000000"/>
              </a:solidFill>
            </a:endParaRPr>
          </a:p>
          <a:p>
            <a:pPr marL="271780" lvl="1" indent="-271780">
              <a:lnSpc>
                <a:spcPct val="90000"/>
              </a:lnSpc>
              <a:buClr>
                <a:srgbClr val="0BD0D9"/>
              </a:buClr>
              <a:buSzPct val="95000"/>
              <a:buFont typeface="Wingdings" panose="05000000000000000000" pitchFamily="2" charset="2"/>
              <a:buChar char="p"/>
            </a:pPr>
            <a:r>
              <a:rPr lang="zh-CN" altLang="en-US" sz="2800" b="1" dirty="0">
                <a:solidFill>
                  <a:srgbClr val="000000"/>
                </a:solidFill>
              </a:rPr>
              <a:t>对象建模建立系统的分析模型，由类图体现</a:t>
            </a:r>
            <a:endParaRPr lang="en-US" altLang="zh-CN" sz="2800" b="1" dirty="0">
              <a:solidFill>
                <a:srgbClr val="000000"/>
              </a:solidFill>
            </a:endParaRPr>
          </a:p>
          <a:p>
            <a:pPr marL="271780" lvl="1" indent="-271780">
              <a:lnSpc>
                <a:spcPct val="90000"/>
              </a:lnSpc>
              <a:buClr>
                <a:srgbClr val="0BD0D9"/>
              </a:buClr>
              <a:buSzPct val="95000"/>
              <a:buFont typeface="Wingdings" panose="05000000000000000000" pitchFamily="2" charset="2"/>
              <a:buChar char="p"/>
            </a:pPr>
            <a:r>
              <a:rPr lang="zh-CN" altLang="en-US" sz="2800" b="1" dirty="0">
                <a:solidFill>
                  <a:srgbClr val="000000"/>
                </a:solidFill>
              </a:rPr>
              <a:t>用例建模的具体过程：定义系统、确定参与者、确定用例、描述用例、确定用例之间的关系、评审用例模型</a:t>
            </a:r>
            <a:endParaRPr lang="en-US" altLang="zh-CN" sz="2800" b="1" dirty="0">
              <a:solidFill>
                <a:srgbClr val="000000"/>
              </a:solidFill>
            </a:endParaRPr>
          </a:p>
          <a:p>
            <a:pPr marL="271780" lvl="1" indent="-271780">
              <a:lnSpc>
                <a:spcPct val="90000"/>
              </a:lnSpc>
              <a:buClr>
                <a:srgbClr val="0BD0D9"/>
              </a:buClr>
              <a:buSzPct val="95000"/>
              <a:buFont typeface="Wingdings" panose="05000000000000000000" pitchFamily="2" charset="2"/>
              <a:buChar char="p"/>
            </a:pPr>
            <a:r>
              <a:rPr lang="zh-CN" altLang="en-US" sz="2800" b="1" dirty="0">
                <a:solidFill>
                  <a:srgbClr val="000000"/>
                </a:solidFill>
              </a:rPr>
              <a:t>对象建模的具体过程：理解用例、识别类和类的属性、识别类的操作、确定类与类之间的关系、评审模型</a:t>
            </a:r>
            <a:endParaRPr lang="en-US" altLang="zh-CN" sz="2800" b="1" dirty="0">
              <a:solidFill>
                <a:srgbClr val="000000"/>
              </a:solidFill>
            </a:endParaRPr>
          </a:p>
          <a:p>
            <a:pPr marL="271780" lvl="1" indent="-271780">
              <a:lnSpc>
                <a:spcPct val="90000"/>
              </a:lnSpc>
              <a:buClr>
                <a:srgbClr val="0BD0D9"/>
              </a:buClr>
              <a:buSzPct val="95000"/>
              <a:buFont typeface="Wingdings" panose="05000000000000000000" pitchFamily="2" charset="2"/>
              <a:buChar char="p"/>
            </a:pPr>
            <a:r>
              <a:rPr lang="zh-CN" altLang="en-US" sz="2800" b="1" dirty="0">
                <a:solidFill>
                  <a:srgbClr val="000000"/>
                </a:solidFill>
              </a:rPr>
              <a:t>领域建模</a:t>
            </a:r>
            <a:endParaRPr lang="en-US" altLang="zh-CN" sz="2800" b="1" dirty="0">
              <a:solidFill>
                <a:srgbClr val="000000"/>
              </a:solidFill>
            </a:endParaRPr>
          </a:p>
          <a:p>
            <a:pPr marL="271780" lvl="1" indent="-271780">
              <a:lnSpc>
                <a:spcPct val="90000"/>
              </a:lnSpc>
              <a:buClr>
                <a:srgbClr val="0BD0D9"/>
              </a:buClr>
              <a:buSzPct val="95000"/>
              <a:buFont typeface="Wingdings" panose="05000000000000000000" pitchFamily="2" charset="2"/>
              <a:buChar char="p"/>
            </a:pPr>
            <a:r>
              <a:rPr lang="zh-CN" altLang="en-US" sz="2800" b="1" dirty="0">
                <a:solidFill>
                  <a:srgbClr val="FF0000"/>
                </a:solidFill>
              </a:rPr>
              <a:t>重点：用例建模与对象建模</a:t>
            </a:r>
            <a:endParaRPr lang="en-US" altLang="zh-CN" sz="2800" b="1" dirty="0">
              <a:solidFill>
                <a:srgbClr val="FF0000"/>
              </a:solidFill>
            </a:endParaRPr>
          </a:p>
          <a:p>
            <a:pPr marL="271780" lvl="1" indent="-271780">
              <a:lnSpc>
                <a:spcPct val="90000"/>
              </a:lnSpc>
              <a:buClr>
                <a:srgbClr val="0BD0D9"/>
              </a:buClr>
              <a:buSzPct val="95000"/>
              <a:buFont typeface="Wingdings" panose="05000000000000000000" pitchFamily="2" charset="2"/>
              <a:buChar char="p"/>
            </a:pPr>
            <a:endParaRPr lang="zh-CN" altLang="en-US" sz="2800" b="1" dirty="0">
              <a:solidFill>
                <a:srgbClr val="000000"/>
              </a:solidFill>
            </a:endParaRPr>
          </a:p>
        </p:txBody>
      </p:sp>
    </p:spTree>
  </p:cSld>
  <p:clrMapOvr>
    <a:masterClrMapping/>
  </p:clrMapOvr>
</p:sld>
</file>

<file path=ppt/tags/tag1.xml><?xml version="1.0" encoding="utf-8"?>
<p:tagLst xmlns:p="http://schemas.openxmlformats.org/presentationml/2006/main">
  <p:tag name="commondata" val="eyJoZGlkIjoiZTNhZDIxYmVkM2NhYTRiNDgwZDM4ZDVhYjhiY2EzM2IifQ=="/>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5661</Words>
  <Application>WPS 演示</Application>
  <PresentationFormat>自定义</PresentationFormat>
  <Paragraphs>763</Paragraphs>
  <Slides>60</Slides>
  <Notes>7</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5</vt:i4>
      </vt:variant>
      <vt:variant>
        <vt:lpstr>幻灯片标题</vt:lpstr>
      </vt:variant>
      <vt:variant>
        <vt:i4>60</vt:i4>
      </vt:variant>
    </vt:vector>
  </HeadingPairs>
  <TitlesOfParts>
    <vt:vector size="88" baseType="lpstr">
      <vt:lpstr>Arial</vt:lpstr>
      <vt:lpstr>宋体</vt:lpstr>
      <vt:lpstr>Wingdings</vt:lpstr>
      <vt:lpstr>黑体</vt:lpstr>
      <vt:lpstr>Calibri</vt:lpstr>
      <vt:lpstr>隶书</vt:lpstr>
      <vt:lpstr>Wingdings 2</vt:lpstr>
      <vt:lpstr>Wingdings 2</vt:lpstr>
      <vt:lpstr>微软雅黑</vt:lpstr>
      <vt:lpstr>楷体_GB2312</vt:lpstr>
      <vt:lpstr>新宋体</vt:lpstr>
      <vt:lpstr>Comic Sans MS</vt:lpstr>
      <vt:lpstr>Constantia</vt:lpstr>
      <vt:lpstr>Arial Unicode MS</vt:lpstr>
      <vt:lpstr>幼圆</vt:lpstr>
      <vt:lpstr>华文细黑</vt:lpstr>
      <vt:lpstr>Times New Roman</vt:lpstr>
      <vt:lpstr>Monotype Sorts</vt:lpstr>
      <vt:lpstr>Wingdings</vt:lpstr>
      <vt:lpstr>仿宋_GB2312</vt:lpstr>
      <vt:lpstr>仿宋</vt:lpstr>
      <vt:lpstr>Verdana</vt:lpstr>
      <vt:lpstr>流畅</vt:lpstr>
      <vt:lpstr>Visio.Drawing.11</vt:lpstr>
      <vt:lpstr>Visio.Drawing.11</vt:lpstr>
      <vt:lpstr>Visio.Drawing.11</vt:lpstr>
      <vt:lpstr>Visio.Drawing.4</vt:lpstr>
      <vt:lpstr>Visio.Drawing.11</vt:lpstr>
      <vt:lpstr>软 件 工 程 导 论</vt:lpstr>
      <vt:lpstr>第一次课：软件工程概述 第二次课：软件过程模型 第三次课：敏捷软件过程 第四次课：面向对象的需求分析 第五次课：结构化需求分析 第六次课：面向对象的基础 </vt:lpstr>
      <vt:lpstr>软件开发方法</vt:lpstr>
      <vt:lpstr>课程进度安排</vt:lpstr>
      <vt:lpstr>面向对象方法的需求分析：用例建模</vt:lpstr>
      <vt:lpstr>用例建模:基本概念</vt:lpstr>
      <vt:lpstr>用例建模过程</vt:lpstr>
      <vt:lpstr>用例建模:银行储蓄账户管理系统</vt:lpstr>
      <vt:lpstr>确定参与者</vt:lpstr>
      <vt:lpstr>确定用例</vt:lpstr>
      <vt:lpstr>PowerPoint 演示文稿</vt:lpstr>
      <vt:lpstr>开户用例描述</vt:lpstr>
      <vt:lpstr>取款用况描述</vt:lpstr>
      <vt:lpstr>PowerPoint 演示文稿</vt:lpstr>
      <vt:lpstr>PowerPoint 演示文稿</vt:lpstr>
      <vt:lpstr>面向对象方法</vt:lpstr>
      <vt:lpstr>面向对象方法的发展历史</vt:lpstr>
      <vt:lpstr>什么是UML</vt:lpstr>
      <vt:lpstr>UML的发展历史</vt:lpstr>
      <vt:lpstr>UML五种视图</vt:lpstr>
      <vt:lpstr>PowerPoint 演示文稿</vt:lpstr>
      <vt:lpstr>UML图</vt:lpstr>
      <vt:lpstr>1 用例图</vt:lpstr>
      <vt:lpstr>2 类图</vt:lpstr>
      <vt:lpstr>3 对象图</vt:lpstr>
      <vt:lpstr>4 构件图</vt:lpstr>
      <vt:lpstr>5 部署图</vt:lpstr>
      <vt:lpstr>6 序列图</vt:lpstr>
      <vt:lpstr>7 通信图</vt:lpstr>
      <vt:lpstr>PowerPoint 演示文稿</vt:lpstr>
      <vt:lpstr>8 活动图</vt:lpstr>
      <vt:lpstr>9 状态图</vt:lpstr>
      <vt:lpstr>UML图</vt:lpstr>
      <vt:lpstr>1 用例图</vt:lpstr>
      <vt:lpstr>2 类图</vt:lpstr>
      <vt:lpstr>6 序列图</vt:lpstr>
      <vt:lpstr>课程进度安排</vt:lpstr>
      <vt:lpstr>面向对象方法的需求分析：用例建模</vt:lpstr>
      <vt:lpstr>PowerPoint 演示文稿</vt:lpstr>
      <vt:lpstr>对象建模概述</vt:lpstr>
      <vt:lpstr>对象识别过程</vt:lpstr>
      <vt:lpstr>三种分析类</vt:lpstr>
      <vt:lpstr>三种分析类与MVC</vt:lpstr>
      <vt:lpstr>三种分析类</vt:lpstr>
      <vt:lpstr>三种分析类</vt:lpstr>
      <vt:lpstr>三种分析类</vt:lpstr>
      <vt:lpstr>三种分析类</vt:lpstr>
      <vt:lpstr>对象识别</vt:lpstr>
      <vt:lpstr>对象识别过程</vt:lpstr>
      <vt:lpstr>对象操作的识别</vt:lpstr>
      <vt:lpstr>对象操作的识别</vt:lpstr>
      <vt:lpstr>PowerPoint 演示文稿</vt:lpstr>
      <vt:lpstr>PowerPoint 演示文稿</vt:lpstr>
      <vt:lpstr>PowerPoint 演示文稿</vt:lpstr>
      <vt:lpstr>PowerPoint 演示文稿</vt:lpstr>
      <vt:lpstr>PowerPoint 演示文稿</vt:lpstr>
      <vt:lpstr>PowerPoint 演示文稿</vt:lpstr>
      <vt:lpstr>对象识别的实际过程</vt:lpstr>
      <vt:lpstr>领域建模</vt:lpstr>
      <vt:lpstr>小结</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zj</dc:creator>
  <cp:lastModifiedBy>喻杰</cp:lastModifiedBy>
  <cp:revision>436</cp:revision>
  <dcterms:created xsi:type="dcterms:W3CDTF">2010-02-20T02:56:00Z</dcterms:created>
  <dcterms:modified xsi:type="dcterms:W3CDTF">2024-10-24T02:09:35Z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46A66206AD6045AB8ED0CC3B16ED6531_12</vt:lpwstr>
  </property>
  <property fmtid="{D5CDD505-2E9C-101B-9397-08002B2CF9AE}" pid="3" name="KSOProductBuildVer">
    <vt:lpwstr>2052-12.1.0.17827</vt:lpwstr>
  </property>
</Properties>
</file>