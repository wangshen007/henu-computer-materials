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Default Extension="jpg" ContentType="image/jpg"/>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Default Extension="png" ContentType="image/png"/>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0" i="0">
                <a:solidFill>
                  <a:srgbClr val="4F55AC"/>
                </a:solidFill>
                <a:latin typeface="黑体"/>
                <a:cs typeface="黑体"/>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28191" y="157937"/>
            <a:ext cx="4905375" cy="514350"/>
          </a:xfrm>
          <a:prstGeom prst="rect">
            <a:avLst/>
          </a:prstGeom>
        </p:spPr>
        <p:txBody>
          <a:bodyPr wrap="square" lIns="0" tIns="0" rIns="0" bIns="0">
            <a:spAutoFit/>
          </a:bodyPr>
          <a:lstStyle>
            <a:lvl1pPr>
              <a:defRPr sz="3200" b="0" i="0">
                <a:solidFill>
                  <a:srgbClr val="4F55AC"/>
                </a:solidFill>
                <a:latin typeface="黑体"/>
                <a:cs typeface="黑体"/>
              </a:defRPr>
            </a:lvl1pPr>
          </a:lstStyle>
          <a:p/>
        </p:txBody>
      </p:sp>
      <p:sp>
        <p:nvSpPr>
          <p:cNvPr id="3" name="Holder 3"/>
          <p:cNvSpPr>
            <a:spLocks noGrp="1"/>
          </p:cNvSpPr>
          <p:nvPr>
            <p:ph type="body" idx="1"/>
          </p:nvPr>
        </p:nvSpPr>
        <p:spPr>
          <a:xfrm>
            <a:off x="280987" y="1909826"/>
            <a:ext cx="8439785" cy="291591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7.xml"/><Relationship Id="rId3" Type="http://schemas.openxmlformats.org/officeDocument/2006/relationships/slide" Target="slide12.xml"/><Relationship Id="rId4" Type="http://schemas.openxmlformats.org/officeDocument/2006/relationships/slide" Target="slide25.xml"/><Relationship Id="rId5" Type="http://schemas.openxmlformats.org/officeDocument/2006/relationships/slide" Target="slide53.xml"/><Relationship Id="rId6" Type="http://schemas.openxmlformats.org/officeDocument/2006/relationships/slide" Target="slide7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g"/><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203195" y="1964817"/>
            <a:ext cx="5211445" cy="2403475"/>
          </a:xfrm>
          <a:prstGeom prst="rect">
            <a:avLst/>
          </a:prstGeom>
        </p:spPr>
        <p:txBody>
          <a:bodyPr wrap="square" lIns="0" tIns="122555" rIns="0" bIns="0" rtlCol="0" vert="horz">
            <a:spAutoFit/>
          </a:bodyPr>
          <a:lstStyle/>
          <a:p>
            <a:pPr lvl="1" marL="926465" indent="-913765">
              <a:lnSpc>
                <a:spcPct val="100000"/>
              </a:lnSpc>
              <a:spcBef>
                <a:spcPts val="9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2" action="ppaction://hlinksldjump"/>
              </a:rPr>
              <a:t>向量的处理方式</a:t>
            </a:r>
            <a:endParaRPr sz="2400">
              <a:latin typeface="黑体"/>
              <a:cs typeface="黑体"/>
            </a:endParaRPr>
          </a:p>
          <a:p>
            <a:pPr lvl="1" marL="926465" indent="-913765">
              <a:lnSpc>
                <a:spcPct val="100000"/>
              </a:lnSpc>
              <a:spcBef>
                <a:spcPts val="860"/>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3" action="ppaction://hlinksldjump"/>
              </a:rPr>
              <a:t>向量处理机的结构</a:t>
            </a:r>
            <a:endParaRPr sz="2400">
              <a:latin typeface="黑体"/>
              <a:cs typeface="黑体"/>
            </a:endParaRPr>
          </a:p>
          <a:p>
            <a:pPr lvl="1" marL="926465" indent="-913765">
              <a:lnSpc>
                <a:spcPct val="100000"/>
              </a:lnSpc>
              <a:spcBef>
                <a:spcPts val="869"/>
              </a:spcBef>
              <a:buClr>
                <a:srgbClr val="40458B"/>
              </a:buClr>
              <a:buAutoNum type="arabicPeriod"/>
              <a:tabLst>
                <a:tab pos="926465" algn="l"/>
              </a:tabLst>
            </a:pPr>
            <a:r>
              <a:rPr dirty="0" u="sng" sz="2400" spc="-5">
                <a:solidFill>
                  <a:srgbClr val="4668F5"/>
                </a:solidFill>
                <a:uFill>
                  <a:solidFill>
                    <a:srgbClr val="4668F5"/>
                  </a:solidFill>
                </a:uFill>
                <a:latin typeface="黑体"/>
                <a:cs typeface="黑体"/>
                <a:hlinkClick r:id="rId4" action="ppaction://hlinksldjump"/>
              </a:rPr>
              <a:t>提高向量处理机性能的常用技术</a:t>
            </a:r>
            <a:endParaRPr sz="2400">
              <a:latin typeface="黑体"/>
              <a:cs typeface="黑体"/>
            </a:endParaRPr>
          </a:p>
          <a:p>
            <a:pPr lvl="1" marL="926465" indent="-913765">
              <a:lnSpc>
                <a:spcPct val="100000"/>
              </a:lnSpc>
              <a:spcBef>
                <a:spcPts val="860"/>
              </a:spcBef>
              <a:buClr>
                <a:srgbClr val="40458B"/>
              </a:buClr>
              <a:buAutoNum type="arabicPeriod"/>
              <a:tabLst>
                <a:tab pos="926465" algn="l"/>
              </a:tabLst>
            </a:pPr>
            <a:r>
              <a:rPr dirty="0" u="sng" sz="2400" spc="-5">
                <a:solidFill>
                  <a:srgbClr val="4668F5"/>
                </a:solidFill>
                <a:uFill>
                  <a:solidFill>
                    <a:srgbClr val="4668F5"/>
                  </a:solidFill>
                </a:uFill>
                <a:latin typeface="黑体"/>
                <a:cs typeface="黑体"/>
                <a:hlinkClick r:id="rId5" action="ppaction://hlinksldjump"/>
              </a:rPr>
              <a:t>向量处理机的性能评价</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6" action="ppaction://hlinksldjump"/>
              </a:rPr>
              <a:t>向量处理机实例</a:t>
            </a:r>
            <a:endParaRPr sz="2400">
              <a:latin typeface="黑体"/>
              <a:cs typeface="黑体"/>
            </a:endParaRPr>
          </a:p>
        </p:txBody>
      </p:sp>
      <p:sp>
        <p:nvSpPr>
          <p:cNvPr id="10" name="object 10"/>
          <p:cNvSpPr txBox="1">
            <a:spLocks noGrp="1"/>
          </p:cNvSpPr>
          <p:nvPr>
            <p:ph type="title"/>
          </p:nvPr>
        </p:nvSpPr>
        <p:spPr>
          <a:xfrm>
            <a:off x="1146759" y="161289"/>
            <a:ext cx="3277870" cy="513715"/>
          </a:xfrm>
          <a:prstGeom prst="rect"/>
        </p:spPr>
        <p:txBody>
          <a:bodyPr wrap="square" lIns="0" tIns="12700" rIns="0" bIns="0" rtlCol="0" vert="horz">
            <a:spAutoFit/>
          </a:bodyPr>
          <a:lstStyle/>
          <a:p>
            <a:pPr marL="12700">
              <a:lnSpc>
                <a:spcPct val="100000"/>
              </a:lnSpc>
              <a:spcBef>
                <a:spcPts val="100"/>
              </a:spcBef>
            </a:pPr>
            <a:r>
              <a:rPr dirty="0">
                <a:solidFill>
                  <a:srgbClr val="40458B"/>
                </a:solidFill>
              </a:rPr>
              <a:t>第</a:t>
            </a:r>
            <a:r>
              <a:rPr dirty="0" spc="-10">
                <a:solidFill>
                  <a:srgbClr val="40458B"/>
                </a:solidFill>
              </a:rPr>
              <a:t>4</a:t>
            </a:r>
            <a:r>
              <a:rPr dirty="0" spc="-15">
                <a:solidFill>
                  <a:srgbClr val="40458B"/>
                </a:solidFill>
              </a:rPr>
              <a:t>章 向量处理机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113231" y="161289"/>
            <a:ext cx="4903470" cy="513715"/>
          </a:xfrm>
          <a:prstGeom prst="rect"/>
        </p:spPr>
        <p:txBody>
          <a:bodyPr wrap="square" lIns="0" tIns="12700" rIns="0" bIns="0" rtlCol="0" vert="horz">
            <a:spAutoFit/>
          </a:bodyPr>
          <a:lstStyle/>
          <a:p>
            <a:pPr marL="12700">
              <a:lnSpc>
                <a:spcPct val="100000"/>
              </a:lnSpc>
              <a:spcBef>
                <a:spcPts val="100"/>
              </a:spcBef>
            </a:pPr>
            <a:r>
              <a:rPr dirty="0">
                <a:solidFill>
                  <a:srgbClr val="40458B"/>
                </a:solidFill>
              </a:rPr>
              <a:t>第</a:t>
            </a:r>
            <a:r>
              <a:rPr dirty="0" spc="-10">
                <a:solidFill>
                  <a:srgbClr val="40458B"/>
                </a:solidFill>
              </a:rPr>
              <a:t>4</a:t>
            </a:r>
            <a:r>
              <a:rPr dirty="0" spc="-15">
                <a:solidFill>
                  <a:srgbClr val="40458B"/>
                </a:solidFill>
              </a:rPr>
              <a:t>章 向量处理机----引入</a:t>
            </a:r>
          </a:p>
        </p:txBody>
      </p:sp>
      <p:sp>
        <p:nvSpPr>
          <p:cNvPr id="10" name="object 10" descr=""/>
          <p:cNvSpPr txBox="1"/>
          <p:nvPr/>
        </p:nvSpPr>
        <p:spPr>
          <a:xfrm>
            <a:off x="239979" y="914412"/>
            <a:ext cx="8714105" cy="5034280"/>
          </a:xfrm>
          <a:prstGeom prst="rect">
            <a:avLst/>
          </a:prstGeom>
        </p:spPr>
        <p:txBody>
          <a:bodyPr wrap="square" lIns="0" tIns="130175" rIns="0" bIns="0" rtlCol="0" vert="horz">
            <a:spAutoFit/>
          </a:bodyPr>
          <a:lstStyle/>
          <a:p>
            <a:pPr marL="469265" indent="-456565">
              <a:lnSpc>
                <a:spcPct val="100000"/>
              </a:lnSpc>
              <a:spcBef>
                <a:spcPts val="1025"/>
              </a:spcBef>
              <a:buSzPct val="89583"/>
              <a:buFont typeface="Wingdings"/>
              <a:buChar char=""/>
              <a:tabLst>
                <a:tab pos="469265" algn="l"/>
              </a:tabLst>
            </a:pPr>
            <a:r>
              <a:rPr dirty="0" sz="2400" spc="-15">
                <a:solidFill>
                  <a:srgbClr val="40458B"/>
                </a:solidFill>
                <a:latin typeface="黑体"/>
                <a:cs typeface="黑体"/>
              </a:rPr>
              <a:t>传统通用处理器都是标量处理器</a:t>
            </a:r>
            <a:endParaRPr sz="2400">
              <a:latin typeface="黑体"/>
              <a:cs typeface="黑体"/>
            </a:endParaRPr>
          </a:p>
          <a:p>
            <a:pPr lvl="1" marL="1283335" indent="-457200">
              <a:lnSpc>
                <a:spcPct val="100000"/>
              </a:lnSpc>
              <a:spcBef>
                <a:spcPts val="770"/>
              </a:spcBef>
              <a:buClr>
                <a:srgbClr val="4668F5"/>
              </a:buClr>
              <a:buSzPct val="65000"/>
              <a:buFont typeface="Wingdings"/>
              <a:buChar char=""/>
              <a:tabLst>
                <a:tab pos="1283335" algn="l"/>
              </a:tabLst>
            </a:pPr>
            <a:r>
              <a:rPr dirty="0" sz="2000" spc="-20" b="1">
                <a:solidFill>
                  <a:srgbClr val="001F5F"/>
                </a:solidFill>
                <a:latin typeface="宋体"/>
                <a:cs typeface="宋体"/>
              </a:rPr>
              <a:t>一条指令执行只得到一个数据结果</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25" b="1">
                <a:solidFill>
                  <a:srgbClr val="001F5F"/>
                </a:solidFill>
                <a:latin typeface="宋体"/>
                <a:cs typeface="宋体"/>
              </a:rPr>
              <a:t>标量运算一次只能对一对数据进行操作</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10" b="1">
                <a:solidFill>
                  <a:srgbClr val="FF0000"/>
                </a:solidFill>
                <a:latin typeface="宋体"/>
                <a:cs typeface="宋体"/>
              </a:rPr>
              <a:t>但</a:t>
            </a:r>
            <a:r>
              <a:rPr dirty="0" sz="2000" spc="-30" b="1">
                <a:solidFill>
                  <a:srgbClr val="001F5F"/>
                </a:solidFill>
                <a:latin typeface="宋体"/>
                <a:cs typeface="宋体"/>
              </a:rPr>
              <a:t>对于数字图像、通信信号处理等，需要海量数据并行计算操作。</a:t>
            </a:r>
            <a:endParaRPr sz="2000">
              <a:latin typeface="宋体"/>
              <a:cs typeface="宋体"/>
            </a:endParaRPr>
          </a:p>
          <a:p>
            <a:pPr marL="469265" indent="-456565">
              <a:lnSpc>
                <a:spcPct val="100000"/>
              </a:lnSpc>
              <a:spcBef>
                <a:spcPts val="815"/>
              </a:spcBef>
              <a:buClr>
                <a:srgbClr val="40458B"/>
              </a:buClr>
              <a:buSzPct val="89583"/>
              <a:buFont typeface="Wingdings"/>
              <a:buChar char=""/>
              <a:tabLst>
                <a:tab pos="469265" algn="l"/>
              </a:tabLst>
            </a:pPr>
            <a:r>
              <a:rPr dirty="0" sz="2400">
                <a:solidFill>
                  <a:srgbClr val="001F5F"/>
                </a:solidFill>
                <a:latin typeface="Tahoma"/>
                <a:cs typeface="Tahoma"/>
              </a:rPr>
              <a:t>SIMD</a:t>
            </a:r>
            <a:r>
              <a:rPr dirty="0" sz="2400" spc="-65">
                <a:solidFill>
                  <a:srgbClr val="001F5F"/>
                </a:solidFill>
                <a:latin typeface="Tahoma"/>
                <a:cs typeface="Tahoma"/>
              </a:rPr>
              <a:t> </a:t>
            </a:r>
            <a:r>
              <a:rPr dirty="0" sz="2400" spc="-10">
                <a:solidFill>
                  <a:srgbClr val="001F5F"/>
                </a:solidFill>
                <a:latin typeface="黑体"/>
                <a:cs typeface="黑体"/>
              </a:rPr>
              <a:t>单指令流多数据</a:t>
            </a:r>
            <a:endParaRPr sz="2400">
              <a:latin typeface="黑体"/>
              <a:cs typeface="黑体"/>
            </a:endParaRPr>
          </a:p>
          <a:p>
            <a:pPr lvl="1" marL="1283335" indent="-457200">
              <a:lnSpc>
                <a:spcPct val="100000"/>
              </a:lnSpc>
              <a:spcBef>
                <a:spcPts val="775"/>
              </a:spcBef>
              <a:buClr>
                <a:srgbClr val="4668F5"/>
              </a:buClr>
              <a:buSzPct val="65000"/>
              <a:buFont typeface="Wingdings"/>
              <a:buChar char=""/>
              <a:tabLst>
                <a:tab pos="1283335" algn="l"/>
              </a:tabLst>
            </a:pPr>
            <a:r>
              <a:rPr dirty="0" sz="2000" spc="-15" b="1">
                <a:solidFill>
                  <a:srgbClr val="001F5F"/>
                </a:solidFill>
                <a:latin typeface="宋体"/>
                <a:cs typeface="宋体"/>
              </a:rPr>
              <a:t>空间上的并性技术。</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20" b="1">
                <a:solidFill>
                  <a:srgbClr val="001F5F"/>
                </a:solidFill>
                <a:latin typeface="宋体"/>
                <a:cs typeface="宋体"/>
              </a:rPr>
              <a:t>一个指令能同时处理多个数据。</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20" b="1">
                <a:solidFill>
                  <a:srgbClr val="001F5F"/>
                </a:solidFill>
                <a:latin typeface="宋体"/>
                <a:cs typeface="宋体"/>
              </a:rPr>
              <a:t>多个数据即一组数据，即数据向量。</a:t>
            </a:r>
            <a:endParaRPr sz="2000">
              <a:latin typeface="宋体"/>
              <a:cs typeface="宋体"/>
            </a:endParaRPr>
          </a:p>
          <a:p>
            <a:pPr marL="469265" indent="-456565">
              <a:lnSpc>
                <a:spcPct val="100000"/>
              </a:lnSpc>
              <a:spcBef>
                <a:spcPts val="815"/>
              </a:spcBef>
              <a:buSzPct val="89583"/>
              <a:buFont typeface="Wingdings"/>
              <a:buChar char=""/>
              <a:tabLst>
                <a:tab pos="469265" algn="l"/>
              </a:tabLst>
            </a:pPr>
            <a:r>
              <a:rPr dirty="0" sz="2400" spc="-25">
                <a:solidFill>
                  <a:srgbClr val="40458B"/>
                </a:solidFill>
                <a:latin typeface="黑体"/>
                <a:cs typeface="黑体"/>
              </a:rPr>
              <a:t>向量</a:t>
            </a:r>
            <a:endParaRPr sz="2400">
              <a:latin typeface="黑体"/>
              <a:cs typeface="黑体"/>
            </a:endParaRPr>
          </a:p>
          <a:p>
            <a:pPr lvl="1" marL="1283335" indent="-457200">
              <a:lnSpc>
                <a:spcPct val="100000"/>
              </a:lnSpc>
              <a:spcBef>
                <a:spcPts val="770"/>
              </a:spcBef>
              <a:buClr>
                <a:srgbClr val="4668F5"/>
              </a:buClr>
              <a:buSzPct val="65000"/>
              <a:buFont typeface="Wingdings"/>
              <a:buChar char=""/>
              <a:tabLst>
                <a:tab pos="1283335" algn="l"/>
              </a:tabLst>
            </a:pPr>
            <a:r>
              <a:rPr dirty="0" sz="2000" spc="-15" b="1">
                <a:solidFill>
                  <a:srgbClr val="001F5F"/>
                </a:solidFill>
                <a:latin typeface="宋体"/>
                <a:cs typeface="宋体"/>
              </a:rPr>
              <a:t>有序排列的一组数。</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15" b="1">
                <a:solidFill>
                  <a:srgbClr val="001F5F"/>
                </a:solidFill>
                <a:latin typeface="宋体"/>
                <a:cs typeface="宋体"/>
              </a:rPr>
              <a:t>向量指令的基本操作对象。</a:t>
            </a:r>
            <a:endParaRPr sz="2000">
              <a:latin typeface="宋体"/>
              <a:cs typeface="宋体"/>
            </a:endParaRPr>
          </a:p>
          <a:p>
            <a:pPr lvl="1" marL="1283335" indent="-457200">
              <a:lnSpc>
                <a:spcPct val="100000"/>
              </a:lnSpc>
              <a:spcBef>
                <a:spcPts val="725"/>
              </a:spcBef>
              <a:buClr>
                <a:srgbClr val="4668F5"/>
              </a:buClr>
              <a:buSzPct val="65000"/>
              <a:buFont typeface="Wingdings"/>
              <a:buChar char=""/>
              <a:tabLst>
                <a:tab pos="1283335" algn="l"/>
              </a:tabLst>
            </a:pPr>
            <a:r>
              <a:rPr dirty="0" sz="2000" spc="-25" b="1">
                <a:solidFill>
                  <a:srgbClr val="001F5F"/>
                </a:solidFill>
                <a:latin typeface="宋体"/>
                <a:cs typeface="宋体"/>
              </a:rPr>
              <a:t>向量指令规定处理机按同一操作处理向量中的所有分量</a:t>
            </a:r>
            <a:r>
              <a:rPr dirty="0" sz="2000" spc="-50">
                <a:solidFill>
                  <a:srgbClr val="001F5F"/>
                </a:solidFill>
                <a:latin typeface="宋体"/>
                <a:cs typeface="宋体"/>
              </a:rPr>
              <a:t>。</a:t>
            </a:r>
            <a:endParaRPr sz="2000">
              <a:latin typeface="宋体"/>
              <a:cs typeface="宋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39979" y="914412"/>
            <a:ext cx="8457565" cy="3844925"/>
          </a:xfrm>
          <a:prstGeom prst="rect">
            <a:avLst/>
          </a:prstGeom>
        </p:spPr>
        <p:txBody>
          <a:bodyPr wrap="square" lIns="0" tIns="130175" rIns="0" bIns="0" rtlCol="0" vert="horz">
            <a:spAutoFit/>
          </a:bodyPr>
          <a:lstStyle/>
          <a:p>
            <a:pPr marL="469265" indent="-456565">
              <a:lnSpc>
                <a:spcPct val="100000"/>
              </a:lnSpc>
              <a:spcBef>
                <a:spcPts val="1025"/>
              </a:spcBef>
              <a:buClr>
                <a:srgbClr val="40458B"/>
              </a:buClr>
              <a:buSzPct val="89583"/>
              <a:buFont typeface="Wingdings"/>
              <a:buChar char=""/>
              <a:tabLst>
                <a:tab pos="469265" algn="l"/>
              </a:tabLst>
            </a:pPr>
            <a:r>
              <a:rPr dirty="0" sz="2400" spc="-20">
                <a:solidFill>
                  <a:srgbClr val="FF0000"/>
                </a:solidFill>
                <a:latin typeface="黑体"/>
                <a:cs typeface="黑体"/>
              </a:rPr>
              <a:t>向量处理机</a:t>
            </a:r>
            <a:endParaRPr sz="2400">
              <a:latin typeface="黑体"/>
              <a:cs typeface="黑体"/>
            </a:endParaRPr>
          </a:p>
          <a:p>
            <a:pPr lvl="1" marL="1283335" indent="-457200">
              <a:lnSpc>
                <a:spcPct val="100000"/>
              </a:lnSpc>
              <a:spcBef>
                <a:spcPts val="770"/>
              </a:spcBef>
              <a:buClr>
                <a:srgbClr val="4668F5"/>
              </a:buClr>
              <a:buSzPct val="65000"/>
              <a:buFont typeface="Wingdings"/>
              <a:buChar char=""/>
              <a:tabLst>
                <a:tab pos="1283335" algn="l"/>
              </a:tabLst>
            </a:pPr>
            <a:r>
              <a:rPr dirty="0" sz="2000" spc="-20" b="1">
                <a:solidFill>
                  <a:srgbClr val="001F5F"/>
                </a:solidFill>
                <a:latin typeface="宋体"/>
                <a:cs typeface="宋体"/>
              </a:rPr>
              <a:t>专门用于执行向量操作的处理器</a:t>
            </a:r>
            <a:r>
              <a:rPr dirty="0" sz="2000" spc="-50" b="1">
                <a:solidFill>
                  <a:srgbClr val="001F5F"/>
                </a:solidFill>
                <a:latin typeface="Tahoma"/>
                <a:cs typeface="Tahoma"/>
              </a:rPr>
              <a:t>.</a:t>
            </a:r>
            <a:endParaRPr sz="2000">
              <a:latin typeface="Tahoma"/>
              <a:cs typeface="Tahoma"/>
            </a:endParaRPr>
          </a:p>
          <a:p>
            <a:pPr lvl="1" marL="1283335" indent="-457200">
              <a:lnSpc>
                <a:spcPct val="100000"/>
              </a:lnSpc>
              <a:spcBef>
                <a:spcPts val="720"/>
              </a:spcBef>
              <a:buClr>
                <a:srgbClr val="4668F5"/>
              </a:buClr>
              <a:buSzPct val="65000"/>
              <a:buFont typeface="Wingdings"/>
              <a:buChar char=""/>
              <a:tabLst>
                <a:tab pos="1283335" algn="l"/>
              </a:tabLst>
            </a:pPr>
            <a:r>
              <a:rPr dirty="0" sz="2000" spc="-15" b="1">
                <a:solidFill>
                  <a:srgbClr val="001F5F"/>
                </a:solidFill>
                <a:latin typeface="宋体"/>
                <a:cs typeface="宋体"/>
              </a:rPr>
              <a:t>通过在</a:t>
            </a:r>
            <a:r>
              <a:rPr dirty="0" sz="2000" spc="-10" b="1">
                <a:solidFill>
                  <a:srgbClr val="FF0000"/>
                </a:solidFill>
                <a:latin typeface="宋体"/>
                <a:cs typeface="宋体"/>
              </a:rPr>
              <a:t>单个</a:t>
            </a:r>
            <a:r>
              <a:rPr dirty="0" sz="2000" spc="-10" b="1">
                <a:solidFill>
                  <a:srgbClr val="001F5F"/>
                </a:solidFill>
                <a:latin typeface="宋体"/>
                <a:cs typeface="宋体"/>
              </a:rPr>
              <a:t>指令中同时操作</a:t>
            </a:r>
            <a:r>
              <a:rPr dirty="0" sz="2000" spc="-20" b="1">
                <a:solidFill>
                  <a:srgbClr val="FF0000"/>
                </a:solidFill>
                <a:latin typeface="宋体"/>
                <a:cs typeface="宋体"/>
              </a:rPr>
              <a:t>多个数据元素</a:t>
            </a:r>
            <a:r>
              <a:rPr dirty="0" sz="2000" spc="-15" b="1">
                <a:solidFill>
                  <a:srgbClr val="001F5F"/>
                </a:solidFill>
                <a:latin typeface="宋体"/>
                <a:cs typeface="宋体"/>
              </a:rPr>
              <a:t>，以实现</a:t>
            </a:r>
            <a:r>
              <a:rPr dirty="0" sz="2000" spc="-15" b="1">
                <a:solidFill>
                  <a:srgbClr val="FF0000"/>
                </a:solidFill>
                <a:latin typeface="宋体"/>
                <a:cs typeface="宋体"/>
              </a:rPr>
              <a:t>数据级</a:t>
            </a:r>
            <a:r>
              <a:rPr dirty="0" sz="2000" spc="-30" b="1">
                <a:solidFill>
                  <a:srgbClr val="001F5F"/>
                </a:solidFill>
                <a:latin typeface="宋体"/>
                <a:cs typeface="宋体"/>
              </a:rPr>
              <a:t>并行。</a:t>
            </a:r>
            <a:endParaRPr sz="2000">
              <a:latin typeface="宋体"/>
              <a:cs typeface="宋体"/>
            </a:endParaRPr>
          </a:p>
          <a:p>
            <a:pPr marL="469265" indent="-456565">
              <a:lnSpc>
                <a:spcPct val="100000"/>
              </a:lnSpc>
              <a:spcBef>
                <a:spcPts val="815"/>
              </a:spcBef>
              <a:buClr>
                <a:srgbClr val="40458B"/>
              </a:buClr>
              <a:buSzPct val="89583"/>
              <a:buFont typeface="Wingdings"/>
              <a:buChar char=""/>
              <a:tabLst>
                <a:tab pos="469265" algn="l"/>
              </a:tabLst>
            </a:pPr>
            <a:r>
              <a:rPr dirty="0" sz="2400" spc="-15">
                <a:solidFill>
                  <a:srgbClr val="001F5F"/>
                </a:solidFill>
                <a:latin typeface="黑体"/>
                <a:cs typeface="黑体"/>
              </a:rPr>
              <a:t>向量处理机的主要特点</a:t>
            </a:r>
            <a:endParaRPr sz="2400">
              <a:latin typeface="黑体"/>
              <a:cs typeface="黑体"/>
            </a:endParaRPr>
          </a:p>
          <a:p>
            <a:pPr lvl="1" marL="1283335" indent="-457200">
              <a:lnSpc>
                <a:spcPct val="100000"/>
              </a:lnSpc>
              <a:spcBef>
                <a:spcPts val="775"/>
              </a:spcBef>
              <a:buClr>
                <a:srgbClr val="4668F5"/>
              </a:buClr>
              <a:buSzPct val="65000"/>
              <a:buFont typeface="Wingdings"/>
              <a:buChar char=""/>
              <a:tabLst>
                <a:tab pos="1283335" algn="l"/>
              </a:tabLst>
            </a:pPr>
            <a:r>
              <a:rPr dirty="0" sz="2000" spc="-20" b="1">
                <a:solidFill>
                  <a:srgbClr val="001F5F"/>
                </a:solidFill>
                <a:latin typeface="宋体"/>
                <a:cs typeface="宋体"/>
              </a:rPr>
              <a:t>具有特殊的向量寄存器和向量指令。</a:t>
            </a:r>
            <a:endParaRPr sz="2000">
              <a:latin typeface="宋体"/>
              <a:cs typeface="宋体"/>
            </a:endParaRPr>
          </a:p>
          <a:p>
            <a:pPr lvl="1" marL="1283335" indent="-457200">
              <a:lnSpc>
                <a:spcPct val="100000"/>
              </a:lnSpc>
              <a:spcBef>
                <a:spcPts val="720"/>
              </a:spcBef>
              <a:buClr>
                <a:srgbClr val="4668F5"/>
              </a:buClr>
              <a:buSzPct val="65000"/>
              <a:buFont typeface="Wingdings"/>
              <a:buChar char=""/>
              <a:tabLst>
                <a:tab pos="1283335" algn="l"/>
              </a:tabLst>
            </a:pPr>
            <a:r>
              <a:rPr dirty="0" sz="2000" spc="-15" b="1">
                <a:solidFill>
                  <a:srgbClr val="001F5F"/>
                </a:solidFill>
                <a:latin typeface="宋体"/>
                <a:cs typeface="宋体"/>
              </a:rPr>
              <a:t>高效地执行向量计算任务。</a:t>
            </a:r>
            <a:endParaRPr sz="2000">
              <a:latin typeface="宋体"/>
              <a:cs typeface="宋体"/>
            </a:endParaRPr>
          </a:p>
          <a:p>
            <a:pPr marL="469265" indent="-456565">
              <a:lnSpc>
                <a:spcPct val="100000"/>
              </a:lnSpc>
              <a:spcBef>
                <a:spcPts val="810"/>
              </a:spcBef>
              <a:buSzPct val="89583"/>
              <a:buFont typeface="Wingdings"/>
              <a:buChar char=""/>
              <a:tabLst>
                <a:tab pos="469265" algn="l"/>
              </a:tabLst>
            </a:pPr>
            <a:r>
              <a:rPr dirty="0" sz="2400" spc="-15">
                <a:solidFill>
                  <a:srgbClr val="40458B"/>
                </a:solidFill>
                <a:latin typeface="黑体"/>
                <a:cs typeface="黑体"/>
              </a:rPr>
              <a:t>向量处理机分为两类</a:t>
            </a:r>
            <a:endParaRPr sz="2400">
              <a:latin typeface="黑体"/>
              <a:cs typeface="黑体"/>
            </a:endParaRPr>
          </a:p>
          <a:p>
            <a:pPr lvl="1" marL="1282065" indent="-457200">
              <a:lnSpc>
                <a:spcPct val="100000"/>
              </a:lnSpc>
              <a:spcBef>
                <a:spcPts val="775"/>
              </a:spcBef>
              <a:buClr>
                <a:srgbClr val="4668F5"/>
              </a:buClr>
              <a:buSzPct val="65000"/>
              <a:buFont typeface="Wingdings"/>
              <a:buChar char=""/>
              <a:tabLst>
                <a:tab pos="1282065" algn="l"/>
              </a:tabLst>
            </a:pPr>
            <a:r>
              <a:rPr dirty="0" sz="2000" spc="-15" b="1">
                <a:solidFill>
                  <a:srgbClr val="FF0000"/>
                </a:solidFill>
                <a:latin typeface="宋体"/>
                <a:cs typeface="宋体"/>
              </a:rPr>
              <a:t>向量流水处理机</a:t>
            </a:r>
            <a:r>
              <a:rPr dirty="0" sz="2000" spc="-10" b="1">
                <a:solidFill>
                  <a:srgbClr val="00AFEF"/>
                </a:solidFill>
                <a:latin typeface="宋体"/>
                <a:cs typeface="宋体"/>
              </a:rPr>
              <a:t>是以</a:t>
            </a:r>
            <a:r>
              <a:rPr dirty="0" sz="2000" spc="-15" b="1">
                <a:solidFill>
                  <a:srgbClr val="FF0000"/>
                </a:solidFill>
                <a:latin typeface="宋体"/>
                <a:cs typeface="宋体"/>
              </a:rPr>
              <a:t>时间重叠途径</a:t>
            </a:r>
            <a:r>
              <a:rPr dirty="0" sz="2000" spc="-20" b="1">
                <a:solidFill>
                  <a:srgbClr val="00AFEF"/>
                </a:solidFill>
                <a:latin typeface="宋体"/>
                <a:cs typeface="宋体"/>
              </a:rPr>
              <a:t>开发的。</a:t>
            </a:r>
            <a:r>
              <a:rPr dirty="0" sz="2000" spc="-10" b="1">
                <a:solidFill>
                  <a:srgbClr val="00AFEF"/>
                </a:solidFill>
                <a:latin typeface="宋体"/>
                <a:cs typeface="宋体"/>
              </a:rPr>
              <a:t>（</a:t>
            </a:r>
            <a:r>
              <a:rPr dirty="0" sz="2000" spc="-15" b="1">
                <a:solidFill>
                  <a:srgbClr val="00AFEF"/>
                </a:solidFill>
                <a:latin typeface="宋体"/>
                <a:cs typeface="宋体"/>
              </a:rPr>
              <a:t>流水线</a:t>
            </a:r>
            <a:r>
              <a:rPr dirty="0" sz="2000" spc="-50" b="1">
                <a:solidFill>
                  <a:srgbClr val="00AFEF"/>
                </a:solidFill>
                <a:latin typeface="宋体"/>
                <a:cs typeface="宋体"/>
              </a:rPr>
              <a:t>）</a:t>
            </a:r>
            <a:endParaRPr sz="2000">
              <a:latin typeface="宋体"/>
              <a:cs typeface="宋体"/>
            </a:endParaRPr>
          </a:p>
          <a:p>
            <a:pPr lvl="1" marL="1282065" indent="-457200">
              <a:lnSpc>
                <a:spcPct val="100000"/>
              </a:lnSpc>
              <a:spcBef>
                <a:spcPts val="720"/>
              </a:spcBef>
              <a:buClr>
                <a:srgbClr val="4668F5"/>
              </a:buClr>
              <a:buSzPct val="65000"/>
              <a:buFont typeface="Wingdings"/>
              <a:buChar char=""/>
              <a:tabLst>
                <a:tab pos="1282065" algn="l"/>
              </a:tabLst>
            </a:pPr>
            <a:r>
              <a:rPr dirty="0" sz="2000" spc="-15" b="1">
                <a:solidFill>
                  <a:srgbClr val="FF0000"/>
                </a:solidFill>
                <a:latin typeface="宋体"/>
                <a:cs typeface="宋体"/>
              </a:rPr>
              <a:t>阵列处理机</a:t>
            </a:r>
            <a:r>
              <a:rPr dirty="0" sz="2000" spc="-10" b="1">
                <a:solidFill>
                  <a:srgbClr val="00AFEF"/>
                </a:solidFill>
                <a:latin typeface="宋体"/>
                <a:cs typeface="宋体"/>
              </a:rPr>
              <a:t>是以</a:t>
            </a:r>
            <a:r>
              <a:rPr dirty="0" sz="2000" spc="-15" b="1">
                <a:solidFill>
                  <a:srgbClr val="FF0000"/>
                </a:solidFill>
                <a:latin typeface="宋体"/>
                <a:cs typeface="宋体"/>
              </a:rPr>
              <a:t>资源重复途径</a:t>
            </a:r>
            <a:r>
              <a:rPr dirty="0" sz="2000" spc="-25" b="1">
                <a:solidFill>
                  <a:srgbClr val="00AFEF"/>
                </a:solidFill>
                <a:latin typeface="宋体"/>
                <a:cs typeface="宋体"/>
              </a:rPr>
              <a:t>开发。</a:t>
            </a:r>
            <a:endParaRPr sz="2000">
              <a:latin typeface="宋体"/>
              <a:cs typeface="宋体"/>
            </a:endParaRPr>
          </a:p>
        </p:txBody>
      </p:sp>
      <p:sp>
        <p:nvSpPr>
          <p:cNvPr id="10" name="object 10"/>
          <p:cNvSpPr txBox="1">
            <a:spLocks noGrp="1"/>
          </p:cNvSpPr>
          <p:nvPr>
            <p:ph type="title"/>
          </p:nvPr>
        </p:nvSpPr>
        <p:spPr>
          <a:xfrm>
            <a:off x="1050442" y="179577"/>
            <a:ext cx="3785870" cy="513715"/>
          </a:xfrm>
          <a:prstGeom prst="rect"/>
        </p:spPr>
        <p:txBody>
          <a:bodyPr wrap="square" lIns="0" tIns="12700" rIns="0" bIns="0" rtlCol="0" vert="horz">
            <a:spAutoFit/>
          </a:bodyPr>
          <a:lstStyle/>
          <a:p>
            <a:pPr marL="12700">
              <a:lnSpc>
                <a:spcPct val="100000"/>
              </a:lnSpc>
              <a:spcBef>
                <a:spcPts val="100"/>
              </a:spcBef>
              <a:tabLst>
                <a:tab pos="927100" algn="l"/>
              </a:tabLst>
            </a:pPr>
            <a:r>
              <a:rPr dirty="0" spc="-25">
                <a:latin typeface="Tahoma"/>
                <a:cs typeface="Tahoma"/>
              </a:rPr>
              <a:t>4.1</a:t>
            </a:r>
            <a:r>
              <a:rPr dirty="0">
                <a:latin typeface="Tahoma"/>
                <a:cs typeface="Tahoma"/>
              </a:rPr>
              <a:t>	</a:t>
            </a:r>
            <a:r>
              <a:rPr dirty="0" spc="-20"/>
              <a:t>向量的处理方式</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11302" y="1011427"/>
            <a:ext cx="8200390" cy="4733290"/>
          </a:xfrm>
          <a:prstGeom prst="rect">
            <a:avLst/>
          </a:prstGeom>
        </p:spPr>
        <p:txBody>
          <a:bodyPr wrap="square" lIns="0" tIns="12700" rIns="0" bIns="0" rtlCol="0" vert="horz">
            <a:spAutoFit/>
          </a:bodyPr>
          <a:lstStyle/>
          <a:p>
            <a:pPr marL="469900" marR="5080" indent="-457200">
              <a:lnSpc>
                <a:spcPct val="110000"/>
              </a:lnSpc>
              <a:spcBef>
                <a:spcPts val="100"/>
              </a:spcBef>
              <a:buClr>
                <a:srgbClr val="40458B"/>
              </a:buClr>
              <a:buSzPct val="89583"/>
              <a:buFont typeface="Wingdings"/>
              <a:buChar char=""/>
              <a:tabLst>
                <a:tab pos="469900" algn="l"/>
              </a:tabLst>
            </a:pPr>
            <a:r>
              <a:rPr dirty="0" sz="2400">
                <a:solidFill>
                  <a:srgbClr val="FF3300"/>
                </a:solidFill>
                <a:latin typeface="黑体"/>
                <a:cs typeface="黑体"/>
              </a:rPr>
              <a:t>向量</a:t>
            </a:r>
            <a:r>
              <a:rPr dirty="0" sz="2400">
                <a:solidFill>
                  <a:srgbClr val="40458B"/>
                </a:solidFill>
                <a:latin typeface="黑体"/>
                <a:cs typeface="黑体"/>
              </a:rPr>
              <a:t>由</a:t>
            </a:r>
            <a:r>
              <a:rPr dirty="0" sz="2400">
                <a:solidFill>
                  <a:srgbClr val="FF0000"/>
                </a:solidFill>
                <a:latin typeface="黑体"/>
                <a:cs typeface="黑体"/>
              </a:rPr>
              <a:t>一组</a:t>
            </a:r>
            <a:r>
              <a:rPr dirty="0" sz="2400" spc="-30">
                <a:solidFill>
                  <a:srgbClr val="40458B"/>
                </a:solidFill>
                <a:latin typeface="黑体"/>
                <a:cs typeface="黑体"/>
              </a:rPr>
              <a:t>有序、具有相同类型和位数的元素组成。 例如</a:t>
            </a:r>
            <a:r>
              <a:rPr dirty="0" sz="2400">
                <a:solidFill>
                  <a:srgbClr val="40458B"/>
                </a:solidFill>
                <a:latin typeface="黑体"/>
                <a:cs typeface="黑体"/>
              </a:rPr>
              <a:t>数组</a:t>
            </a:r>
            <a:r>
              <a:rPr dirty="0" sz="2400" spc="-20">
                <a:solidFill>
                  <a:srgbClr val="40458B"/>
                </a:solidFill>
                <a:latin typeface="Tahoma"/>
                <a:cs typeface="Tahoma"/>
              </a:rPr>
              <a:t>A={a1,a2,…,an}</a:t>
            </a:r>
            <a:r>
              <a:rPr dirty="0" sz="2400" spc="-10">
                <a:solidFill>
                  <a:srgbClr val="40458B"/>
                </a:solidFill>
                <a:latin typeface="黑体"/>
                <a:cs typeface="黑体"/>
              </a:rPr>
              <a:t>，其中</a:t>
            </a:r>
            <a:r>
              <a:rPr dirty="0" sz="2400" spc="-10">
                <a:solidFill>
                  <a:srgbClr val="40458B"/>
                </a:solidFill>
                <a:latin typeface="Tahoma"/>
                <a:cs typeface="Tahoma"/>
              </a:rPr>
              <a:t>ai</a:t>
            </a:r>
            <a:r>
              <a:rPr dirty="0" sz="2400" spc="-5">
                <a:solidFill>
                  <a:srgbClr val="40458B"/>
                </a:solidFill>
                <a:latin typeface="黑体"/>
                <a:cs typeface="黑体"/>
              </a:rPr>
              <a:t>为标量，</a:t>
            </a:r>
            <a:r>
              <a:rPr dirty="0" sz="2400" spc="-10">
                <a:solidFill>
                  <a:srgbClr val="FF0000"/>
                </a:solidFill>
                <a:latin typeface="Tahoma"/>
                <a:cs typeface="Tahoma"/>
              </a:rPr>
              <a:t>A</a:t>
            </a:r>
            <a:r>
              <a:rPr dirty="0" sz="2400" spc="-20">
                <a:solidFill>
                  <a:srgbClr val="40458B"/>
                </a:solidFill>
                <a:latin typeface="黑体"/>
                <a:cs typeface="黑体"/>
              </a:rPr>
              <a:t>为向量</a:t>
            </a:r>
            <a:endParaRPr sz="2400">
              <a:latin typeface="黑体"/>
              <a:cs typeface="黑体"/>
            </a:endParaRPr>
          </a:p>
          <a:p>
            <a:pPr marL="469900" marR="170815" indent="-457200">
              <a:lnSpc>
                <a:spcPct val="110100"/>
              </a:lnSpc>
              <a:spcBef>
                <a:spcPts val="570"/>
              </a:spcBef>
              <a:buSzPct val="89583"/>
              <a:buFont typeface="Wingdings"/>
              <a:buChar char=""/>
              <a:tabLst>
                <a:tab pos="469900" algn="l"/>
              </a:tabLst>
            </a:pPr>
            <a:r>
              <a:rPr dirty="0" sz="2400" spc="-5">
                <a:solidFill>
                  <a:srgbClr val="40458B"/>
                </a:solidFill>
                <a:latin typeface="黑体"/>
                <a:cs typeface="黑体"/>
              </a:rPr>
              <a:t>在流水线处理机中</a:t>
            </a:r>
            <a:r>
              <a:rPr dirty="0" sz="2400" spc="-10">
                <a:solidFill>
                  <a:srgbClr val="40458B"/>
                </a:solidFill>
                <a:latin typeface="Tahoma"/>
                <a:cs typeface="Tahoma"/>
              </a:rPr>
              <a:t>(</a:t>
            </a:r>
            <a:r>
              <a:rPr dirty="0" sz="2400">
                <a:solidFill>
                  <a:srgbClr val="40458B"/>
                </a:solidFill>
                <a:latin typeface="黑体"/>
                <a:cs typeface="黑体"/>
              </a:rPr>
              <a:t>指令部件具有流水线功能</a:t>
            </a:r>
            <a:r>
              <a:rPr dirty="0" sz="2400" spc="-10">
                <a:solidFill>
                  <a:srgbClr val="40458B"/>
                </a:solidFill>
                <a:latin typeface="Tahoma"/>
                <a:cs typeface="Tahoma"/>
              </a:rPr>
              <a:t>)</a:t>
            </a:r>
            <a:r>
              <a:rPr dirty="0" sz="2400" spc="-15">
                <a:solidFill>
                  <a:srgbClr val="40458B"/>
                </a:solidFill>
                <a:latin typeface="黑体"/>
                <a:cs typeface="黑体"/>
              </a:rPr>
              <a:t>，设置向量</a:t>
            </a:r>
            <a:r>
              <a:rPr dirty="0" sz="2400" spc="-5">
                <a:solidFill>
                  <a:srgbClr val="40458B"/>
                </a:solidFill>
                <a:latin typeface="黑体"/>
                <a:cs typeface="黑体"/>
              </a:rPr>
              <a:t>数据表示和相应的向量指令，称为</a:t>
            </a:r>
            <a:r>
              <a:rPr dirty="0" sz="2400" spc="-10">
                <a:solidFill>
                  <a:srgbClr val="FF0000"/>
                </a:solidFill>
                <a:latin typeface="黑体"/>
                <a:cs typeface="黑体"/>
              </a:rPr>
              <a:t>向量处理机。</a:t>
            </a:r>
            <a:endParaRPr sz="2400">
              <a:latin typeface="黑体"/>
              <a:cs typeface="黑体"/>
            </a:endParaRPr>
          </a:p>
          <a:p>
            <a:pPr marL="469900" marR="94615" indent="-457200">
              <a:lnSpc>
                <a:spcPct val="110000"/>
              </a:lnSpc>
              <a:spcBef>
                <a:spcPts val="580"/>
              </a:spcBef>
              <a:buSzPct val="89583"/>
              <a:buFont typeface="Wingdings"/>
              <a:buChar char=""/>
              <a:tabLst>
                <a:tab pos="469900" algn="l"/>
              </a:tabLst>
            </a:pPr>
            <a:r>
              <a:rPr dirty="0" sz="2400" spc="-5">
                <a:solidFill>
                  <a:srgbClr val="40458B"/>
                </a:solidFill>
                <a:latin typeface="黑体"/>
                <a:cs typeface="黑体"/>
              </a:rPr>
              <a:t>不具有向量数据表示和相应的向量指令的流水线处理机，</a:t>
            </a:r>
            <a:r>
              <a:rPr dirty="0" sz="2400">
                <a:solidFill>
                  <a:srgbClr val="40458B"/>
                </a:solidFill>
                <a:latin typeface="黑体"/>
                <a:cs typeface="黑体"/>
              </a:rPr>
              <a:t>称为</a:t>
            </a:r>
            <a:r>
              <a:rPr dirty="0" sz="2400" spc="-10">
                <a:solidFill>
                  <a:srgbClr val="FF0000"/>
                </a:solidFill>
                <a:latin typeface="黑体"/>
                <a:cs typeface="黑体"/>
              </a:rPr>
              <a:t>标量处理机。</a:t>
            </a:r>
            <a:endParaRPr sz="2400">
              <a:latin typeface="黑体"/>
              <a:cs typeface="黑体"/>
            </a:endParaRPr>
          </a:p>
          <a:p>
            <a:pPr marL="469265" indent="-456565">
              <a:lnSpc>
                <a:spcPct val="100000"/>
              </a:lnSpc>
              <a:spcBef>
                <a:spcPts val="865"/>
              </a:spcBef>
              <a:buClr>
                <a:srgbClr val="40458B"/>
              </a:buClr>
              <a:buSzPct val="89583"/>
              <a:buFont typeface="Wingdings"/>
              <a:buChar char=""/>
              <a:tabLst>
                <a:tab pos="469265" algn="l"/>
              </a:tabLst>
            </a:pPr>
            <a:r>
              <a:rPr dirty="0" u="sng" sz="2400" spc="-5">
                <a:solidFill>
                  <a:srgbClr val="FF0000"/>
                </a:solidFill>
                <a:uFill>
                  <a:solidFill>
                    <a:srgbClr val="FF0000"/>
                  </a:solidFill>
                </a:uFill>
                <a:latin typeface="黑体"/>
                <a:cs typeface="黑体"/>
              </a:rPr>
              <a:t>向量数据表示</a:t>
            </a:r>
            <a:r>
              <a:rPr dirty="0" u="sng" sz="2400" spc="-20">
                <a:solidFill>
                  <a:srgbClr val="FF0000"/>
                </a:solidFill>
                <a:uFill>
                  <a:solidFill>
                    <a:srgbClr val="FF0000"/>
                  </a:solidFill>
                </a:uFill>
                <a:latin typeface="Tahoma"/>
                <a:cs typeface="Tahoma"/>
              </a:rPr>
              <a:t>+</a:t>
            </a:r>
            <a:r>
              <a:rPr dirty="0" u="sng" sz="2400" spc="-5">
                <a:solidFill>
                  <a:srgbClr val="FF0000"/>
                </a:solidFill>
                <a:uFill>
                  <a:solidFill>
                    <a:srgbClr val="FF0000"/>
                  </a:solidFill>
                </a:uFill>
                <a:latin typeface="黑体"/>
                <a:cs typeface="黑体"/>
              </a:rPr>
              <a:t>流水线</a:t>
            </a:r>
            <a:r>
              <a:rPr dirty="0" u="sng" sz="2400" spc="-20">
                <a:solidFill>
                  <a:srgbClr val="FF0000"/>
                </a:solidFill>
                <a:uFill>
                  <a:solidFill>
                    <a:srgbClr val="FF0000"/>
                  </a:solidFill>
                </a:uFill>
                <a:latin typeface="Tahoma"/>
                <a:cs typeface="Tahoma"/>
              </a:rPr>
              <a:t>=</a:t>
            </a:r>
            <a:r>
              <a:rPr dirty="0" u="sng" sz="2400" spc="-10">
                <a:solidFill>
                  <a:srgbClr val="FF0000"/>
                </a:solidFill>
                <a:uFill>
                  <a:solidFill>
                    <a:srgbClr val="FF0000"/>
                  </a:solidFill>
                </a:uFill>
                <a:latin typeface="黑体"/>
                <a:cs typeface="黑体"/>
              </a:rPr>
              <a:t>向量处理机</a:t>
            </a:r>
            <a:endParaRPr sz="2400">
              <a:latin typeface="黑体"/>
              <a:cs typeface="黑体"/>
            </a:endParaRPr>
          </a:p>
          <a:p>
            <a:pPr marL="469265" indent="-456565">
              <a:lnSpc>
                <a:spcPct val="100000"/>
              </a:lnSpc>
              <a:spcBef>
                <a:spcPts val="865"/>
              </a:spcBef>
              <a:buSzPct val="89583"/>
              <a:buFont typeface="Wingdings"/>
              <a:buChar char=""/>
              <a:tabLst>
                <a:tab pos="469265" algn="l"/>
              </a:tabLst>
            </a:pPr>
            <a:r>
              <a:rPr dirty="0" sz="2400" spc="-10">
                <a:solidFill>
                  <a:srgbClr val="40458B"/>
                </a:solidFill>
                <a:latin typeface="黑体"/>
                <a:cs typeface="黑体"/>
              </a:rPr>
              <a:t>向量处理机</a:t>
            </a:r>
            <a:endParaRPr sz="2400">
              <a:latin typeface="黑体"/>
              <a:cs typeface="黑体"/>
            </a:endParaRPr>
          </a:p>
          <a:p>
            <a:pPr lvl="1" marL="1282065" indent="-457200">
              <a:lnSpc>
                <a:spcPct val="100000"/>
              </a:lnSpc>
              <a:spcBef>
                <a:spcPts val="770"/>
              </a:spcBef>
              <a:buClr>
                <a:srgbClr val="4668F5"/>
              </a:buClr>
              <a:buSzPct val="65000"/>
              <a:buFont typeface="Wingdings"/>
              <a:buChar char=""/>
              <a:tabLst>
                <a:tab pos="1282065" algn="l"/>
              </a:tabLst>
            </a:pPr>
            <a:r>
              <a:rPr dirty="0" sz="2000" spc="-15" b="1">
                <a:solidFill>
                  <a:srgbClr val="00AFEF"/>
                </a:solidFill>
                <a:latin typeface="宋体"/>
                <a:cs typeface="宋体"/>
              </a:rPr>
              <a:t>向量内部各元素很少相关</a:t>
            </a:r>
            <a:endParaRPr sz="2000">
              <a:latin typeface="宋体"/>
              <a:cs typeface="宋体"/>
            </a:endParaRPr>
          </a:p>
          <a:p>
            <a:pPr lvl="1" marL="1282065" indent="-457200">
              <a:lnSpc>
                <a:spcPct val="100000"/>
              </a:lnSpc>
              <a:spcBef>
                <a:spcPts val="725"/>
              </a:spcBef>
              <a:buClr>
                <a:srgbClr val="4668F5"/>
              </a:buClr>
              <a:buSzPct val="65000"/>
              <a:buFont typeface="Wingdings"/>
              <a:buChar char=""/>
              <a:tabLst>
                <a:tab pos="1282065" algn="l"/>
              </a:tabLst>
            </a:pPr>
            <a:r>
              <a:rPr dirty="0" sz="2000" spc="-15" b="1">
                <a:solidFill>
                  <a:srgbClr val="00AFEF"/>
                </a:solidFill>
                <a:latin typeface="宋体"/>
                <a:cs typeface="宋体"/>
              </a:rPr>
              <a:t>一般执行同一个操作</a:t>
            </a:r>
            <a:endParaRPr sz="2000">
              <a:latin typeface="宋体"/>
              <a:cs typeface="宋体"/>
            </a:endParaRPr>
          </a:p>
          <a:p>
            <a:pPr lvl="1" marL="1282065" indent="-457200">
              <a:lnSpc>
                <a:spcPct val="100000"/>
              </a:lnSpc>
              <a:spcBef>
                <a:spcPts val="720"/>
              </a:spcBef>
              <a:buClr>
                <a:srgbClr val="4668F5"/>
              </a:buClr>
              <a:buSzPct val="65000"/>
              <a:buFont typeface="Wingdings"/>
              <a:buChar char=""/>
              <a:tabLst>
                <a:tab pos="1282065" algn="l"/>
              </a:tabLst>
            </a:pPr>
            <a:r>
              <a:rPr dirty="0" sz="2000" spc="-15" b="1">
                <a:solidFill>
                  <a:srgbClr val="00AFEF"/>
                </a:solidFill>
                <a:latin typeface="宋体"/>
                <a:cs typeface="宋体"/>
              </a:rPr>
              <a:t>容易发挥流水线的优势</a:t>
            </a:r>
            <a:endParaRPr sz="2000">
              <a:latin typeface="宋体"/>
              <a:cs typeface="宋体"/>
            </a:endParaRPr>
          </a:p>
        </p:txBody>
      </p:sp>
      <p:sp>
        <p:nvSpPr>
          <p:cNvPr id="10" name="object 10"/>
          <p:cNvSpPr txBox="1">
            <a:spLocks noGrp="1"/>
          </p:cNvSpPr>
          <p:nvPr>
            <p:ph type="title"/>
          </p:nvPr>
        </p:nvSpPr>
        <p:spPr>
          <a:xfrm>
            <a:off x="1050442" y="179577"/>
            <a:ext cx="3785870" cy="513715"/>
          </a:xfrm>
          <a:prstGeom prst="rect"/>
        </p:spPr>
        <p:txBody>
          <a:bodyPr wrap="square" lIns="0" tIns="12700" rIns="0" bIns="0" rtlCol="0" vert="horz">
            <a:spAutoFit/>
          </a:bodyPr>
          <a:lstStyle/>
          <a:p>
            <a:pPr marL="12700">
              <a:lnSpc>
                <a:spcPct val="100000"/>
              </a:lnSpc>
              <a:spcBef>
                <a:spcPts val="100"/>
              </a:spcBef>
              <a:tabLst>
                <a:tab pos="927100" algn="l"/>
              </a:tabLst>
            </a:pPr>
            <a:r>
              <a:rPr dirty="0" spc="-25">
                <a:latin typeface="Tahoma"/>
                <a:cs typeface="Tahoma"/>
              </a:rPr>
              <a:t>4.1</a:t>
            </a:r>
            <a:r>
              <a:rPr dirty="0">
                <a:latin typeface="Tahoma"/>
                <a:cs typeface="Tahoma"/>
              </a:rPr>
              <a:t>	</a:t>
            </a:r>
            <a:r>
              <a:rPr dirty="0" spc="-20"/>
              <a:t>向量的处理方式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39979" y="1157732"/>
            <a:ext cx="8528050" cy="3910329"/>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0">
                <a:solidFill>
                  <a:srgbClr val="40458B"/>
                </a:solidFill>
                <a:latin typeface="黑体"/>
                <a:cs typeface="黑体"/>
              </a:rPr>
              <a:t>典型的向量处理机</a:t>
            </a:r>
            <a:endParaRPr sz="2400">
              <a:latin typeface="黑体"/>
              <a:cs typeface="黑体"/>
            </a:endParaRPr>
          </a:p>
          <a:p>
            <a:pPr lvl="1" marL="1097280" indent="-457200">
              <a:lnSpc>
                <a:spcPct val="100000"/>
              </a:lnSpc>
              <a:spcBef>
                <a:spcPts val="1780"/>
              </a:spcBef>
              <a:buClr>
                <a:srgbClr val="4668F5"/>
              </a:buClr>
              <a:buSzPct val="65000"/>
              <a:buFont typeface="Wingdings"/>
              <a:buChar char=""/>
              <a:tabLst>
                <a:tab pos="1097280" algn="l"/>
              </a:tabLst>
            </a:pPr>
            <a:r>
              <a:rPr dirty="0" sz="2000" b="1">
                <a:solidFill>
                  <a:srgbClr val="00AFEF"/>
                </a:solidFill>
                <a:latin typeface="Times New Roman"/>
                <a:cs typeface="Times New Roman"/>
              </a:rPr>
              <a:t>1976</a:t>
            </a:r>
            <a:r>
              <a:rPr dirty="0" sz="2000" spc="-10" b="1">
                <a:solidFill>
                  <a:srgbClr val="00AFEF"/>
                </a:solidFill>
                <a:latin typeface="宋体"/>
                <a:cs typeface="宋体"/>
              </a:rPr>
              <a:t>年 </a:t>
            </a:r>
            <a:r>
              <a:rPr dirty="0" sz="2000" b="1">
                <a:solidFill>
                  <a:srgbClr val="9933FF"/>
                </a:solidFill>
                <a:latin typeface="Times New Roman"/>
                <a:cs typeface="Times New Roman"/>
              </a:rPr>
              <a:t>Cray-</a:t>
            </a:r>
            <a:r>
              <a:rPr dirty="0" sz="2000" spc="-10" b="1">
                <a:solidFill>
                  <a:srgbClr val="9933FF"/>
                </a:solidFill>
                <a:latin typeface="Times New Roman"/>
                <a:cs typeface="Times New Roman"/>
              </a:rPr>
              <a:t>1</a:t>
            </a:r>
            <a:r>
              <a:rPr dirty="0" sz="2000" spc="-25" b="1">
                <a:solidFill>
                  <a:srgbClr val="00AFEF"/>
                </a:solidFill>
                <a:latin typeface="宋体"/>
                <a:cs typeface="宋体"/>
              </a:rPr>
              <a:t>第一台商用的超级计算机</a:t>
            </a:r>
            <a:endParaRPr sz="2000">
              <a:latin typeface="宋体"/>
              <a:cs typeface="宋体"/>
            </a:endParaRPr>
          </a:p>
          <a:p>
            <a:pPr lvl="1" marL="1097280" indent="-457200">
              <a:lnSpc>
                <a:spcPct val="100000"/>
              </a:lnSpc>
              <a:spcBef>
                <a:spcPts val="1680"/>
              </a:spcBef>
              <a:buClr>
                <a:srgbClr val="4668F5"/>
              </a:buClr>
              <a:buSzPct val="65000"/>
              <a:buFont typeface="Wingdings"/>
              <a:buChar char=""/>
              <a:tabLst>
                <a:tab pos="1097280" algn="l"/>
              </a:tabLst>
            </a:pPr>
            <a:r>
              <a:rPr dirty="0" sz="2000" spc="-30" b="1">
                <a:solidFill>
                  <a:srgbClr val="00AFEF"/>
                </a:solidFill>
                <a:latin typeface="宋体"/>
                <a:cs typeface="宋体"/>
              </a:rPr>
              <a:t>特点：向量流水线处理机机构：其计算单元在一条指令的多个阶段</a:t>
            </a:r>
            <a:endParaRPr sz="2000">
              <a:latin typeface="宋体"/>
              <a:cs typeface="宋体"/>
            </a:endParaRPr>
          </a:p>
          <a:p>
            <a:pPr marL="1097280">
              <a:lnSpc>
                <a:spcPct val="100000"/>
              </a:lnSpc>
              <a:spcBef>
                <a:spcPts val="1200"/>
              </a:spcBef>
            </a:pPr>
            <a:r>
              <a:rPr dirty="0" sz="2000" spc="-15" b="1">
                <a:solidFill>
                  <a:srgbClr val="00AFEF"/>
                </a:solidFill>
                <a:latin typeface="宋体"/>
                <a:cs typeface="宋体"/>
              </a:rPr>
              <a:t>处理不同的数据元素</a:t>
            </a:r>
            <a:endParaRPr sz="2000">
              <a:latin typeface="宋体"/>
              <a:cs typeface="宋体"/>
            </a:endParaRPr>
          </a:p>
          <a:p>
            <a:pPr lvl="1" marL="1097280" marR="1363345" indent="-457200">
              <a:lnSpc>
                <a:spcPts val="4079"/>
              </a:lnSpc>
              <a:spcBef>
                <a:spcPts val="415"/>
              </a:spcBef>
              <a:buClr>
                <a:srgbClr val="4668F5"/>
              </a:buClr>
              <a:buSzPct val="65000"/>
              <a:buFont typeface="Wingdings"/>
              <a:buChar char=""/>
              <a:tabLst>
                <a:tab pos="1148080" algn="l"/>
              </a:tabLst>
            </a:pPr>
            <a:r>
              <a:rPr dirty="0" sz="2000" spc="-20" b="1">
                <a:solidFill>
                  <a:srgbClr val="00AFEF"/>
                </a:solidFill>
                <a:latin typeface="宋体"/>
                <a:cs typeface="宋体"/>
              </a:rPr>
              <a:t>性能较高，适合大量数学运用的领域：例如数字图像</a:t>
            </a:r>
            <a:r>
              <a:rPr dirty="0" sz="2000" spc="-10" b="1">
                <a:solidFill>
                  <a:srgbClr val="00AFEF"/>
                </a:solidFill>
                <a:latin typeface="宋体"/>
                <a:cs typeface="宋体"/>
              </a:rPr>
              <a:t>浮	点运算速度达到了</a:t>
            </a:r>
            <a:r>
              <a:rPr dirty="0" sz="2000" spc="-10" b="1">
                <a:solidFill>
                  <a:srgbClr val="D50092"/>
                </a:solidFill>
                <a:latin typeface="宋体"/>
                <a:cs typeface="宋体"/>
              </a:rPr>
              <a:t>每秒</a:t>
            </a:r>
            <a:r>
              <a:rPr dirty="0" sz="2000" spc="-10" b="1">
                <a:solidFill>
                  <a:srgbClr val="D50092"/>
                </a:solidFill>
                <a:latin typeface="Times New Roman"/>
                <a:cs typeface="Times New Roman"/>
              </a:rPr>
              <a:t>1</a:t>
            </a:r>
            <a:r>
              <a:rPr dirty="0" sz="2000" spc="-85" b="1">
                <a:solidFill>
                  <a:srgbClr val="D50092"/>
                </a:solidFill>
                <a:latin typeface="宋体"/>
                <a:cs typeface="宋体"/>
              </a:rPr>
              <a:t>亿次，时钟周期 </a:t>
            </a:r>
            <a:r>
              <a:rPr dirty="0" sz="2000" b="1">
                <a:solidFill>
                  <a:srgbClr val="D50092"/>
                </a:solidFill>
                <a:latin typeface="Times New Roman"/>
                <a:cs typeface="Times New Roman"/>
              </a:rPr>
              <a:t>1</a:t>
            </a:r>
            <a:r>
              <a:rPr dirty="0" sz="2000" spc="10" b="1">
                <a:solidFill>
                  <a:srgbClr val="D50092"/>
                </a:solidFill>
                <a:latin typeface="Times New Roman"/>
                <a:cs typeface="Times New Roman"/>
              </a:rPr>
              <a:t>2</a:t>
            </a:r>
            <a:r>
              <a:rPr dirty="0" sz="2000" b="1">
                <a:solidFill>
                  <a:srgbClr val="D50092"/>
                </a:solidFill>
                <a:latin typeface="Times New Roman"/>
                <a:cs typeface="Times New Roman"/>
              </a:rPr>
              <a:t>.</a:t>
            </a:r>
            <a:r>
              <a:rPr dirty="0" sz="2000" spc="10" b="1">
                <a:solidFill>
                  <a:srgbClr val="D50092"/>
                </a:solidFill>
                <a:latin typeface="Times New Roman"/>
                <a:cs typeface="Times New Roman"/>
              </a:rPr>
              <a:t>5</a:t>
            </a:r>
            <a:r>
              <a:rPr dirty="0" sz="2000" spc="-10" b="1">
                <a:solidFill>
                  <a:srgbClr val="D50092"/>
                </a:solidFill>
                <a:latin typeface="宋体"/>
                <a:cs typeface="宋体"/>
              </a:rPr>
              <a:t>纳秒。</a:t>
            </a:r>
            <a:endParaRPr sz="2000">
              <a:latin typeface="宋体"/>
              <a:cs typeface="宋体"/>
            </a:endParaRPr>
          </a:p>
          <a:p>
            <a:pPr lvl="1" marL="1097280" marR="173990" indent="-457834">
              <a:lnSpc>
                <a:spcPct val="150000"/>
              </a:lnSpc>
              <a:spcBef>
                <a:spcPts val="70"/>
              </a:spcBef>
              <a:buClr>
                <a:srgbClr val="4668F5"/>
              </a:buClr>
              <a:buSzPct val="65000"/>
              <a:buFont typeface="Wingdings"/>
              <a:buChar char=""/>
              <a:tabLst>
                <a:tab pos="1097280" algn="l"/>
              </a:tabLst>
            </a:pPr>
            <a:r>
              <a:rPr dirty="0" sz="2000" b="1">
                <a:solidFill>
                  <a:srgbClr val="9933FF"/>
                </a:solidFill>
                <a:latin typeface="Times New Roman"/>
                <a:cs typeface="Times New Roman"/>
              </a:rPr>
              <a:t>CDC</a:t>
            </a:r>
            <a:r>
              <a:rPr dirty="0" sz="2000" spc="-25" b="1">
                <a:solidFill>
                  <a:srgbClr val="9933FF"/>
                </a:solidFill>
                <a:latin typeface="Times New Roman"/>
                <a:cs typeface="Times New Roman"/>
              </a:rPr>
              <a:t> </a:t>
            </a:r>
            <a:r>
              <a:rPr dirty="0" sz="2000" b="1">
                <a:solidFill>
                  <a:srgbClr val="9933FF"/>
                </a:solidFill>
                <a:latin typeface="Times New Roman"/>
                <a:cs typeface="Times New Roman"/>
              </a:rPr>
              <a:t>Cyber</a:t>
            </a:r>
            <a:r>
              <a:rPr dirty="0" sz="2000" spc="-35" b="1">
                <a:solidFill>
                  <a:srgbClr val="9933FF"/>
                </a:solidFill>
                <a:latin typeface="Times New Roman"/>
                <a:cs typeface="Times New Roman"/>
              </a:rPr>
              <a:t> </a:t>
            </a:r>
            <a:r>
              <a:rPr dirty="0" sz="2000" b="1">
                <a:solidFill>
                  <a:srgbClr val="9933FF"/>
                </a:solidFill>
                <a:latin typeface="Times New Roman"/>
                <a:cs typeface="Times New Roman"/>
              </a:rPr>
              <a:t>205</a:t>
            </a:r>
            <a:r>
              <a:rPr dirty="0" sz="2000" b="1">
                <a:solidFill>
                  <a:srgbClr val="9933FF"/>
                </a:solidFill>
                <a:latin typeface="宋体"/>
                <a:cs typeface="宋体"/>
              </a:rPr>
              <a:t>，</a:t>
            </a:r>
            <a:r>
              <a:rPr dirty="0" sz="2000" b="1">
                <a:solidFill>
                  <a:srgbClr val="9933FF"/>
                </a:solidFill>
                <a:latin typeface="Times New Roman"/>
                <a:cs typeface="Times New Roman"/>
              </a:rPr>
              <a:t>Cray</a:t>
            </a:r>
            <a:r>
              <a:rPr dirty="0" sz="2000" spc="-65" b="1">
                <a:solidFill>
                  <a:srgbClr val="9933FF"/>
                </a:solidFill>
                <a:latin typeface="Times New Roman"/>
                <a:cs typeface="Times New Roman"/>
              </a:rPr>
              <a:t> </a:t>
            </a:r>
            <a:r>
              <a:rPr dirty="0" sz="2000" spc="-10" b="1">
                <a:solidFill>
                  <a:srgbClr val="9933FF"/>
                </a:solidFill>
                <a:latin typeface="Times New Roman"/>
                <a:cs typeface="Times New Roman"/>
              </a:rPr>
              <a:t>Y-</a:t>
            </a:r>
            <a:r>
              <a:rPr dirty="0" sz="2000" b="1">
                <a:solidFill>
                  <a:srgbClr val="9933FF"/>
                </a:solidFill>
                <a:latin typeface="Times New Roman"/>
                <a:cs typeface="Times New Roman"/>
              </a:rPr>
              <a:t>MP</a:t>
            </a:r>
            <a:r>
              <a:rPr dirty="0" sz="2000" b="1">
                <a:solidFill>
                  <a:srgbClr val="9933FF"/>
                </a:solidFill>
                <a:latin typeface="宋体"/>
                <a:cs typeface="宋体"/>
              </a:rPr>
              <a:t>，</a:t>
            </a:r>
            <a:r>
              <a:rPr dirty="0" sz="2000" b="1">
                <a:solidFill>
                  <a:srgbClr val="9933FF"/>
                </a:solidFill>
                <a:latin typeface="Times New Roman"/>
                <a:cs typeface="Times New Roman"/>
              </a:rPr>
              <a:t>NEC</a:t>
            </a:r>
            <a:r>
              <a:rPr dirty="0" sz="2000" spc="-45" b="1">
                <a:solidFill>
                  <a:srgbClr val="9933FF"/>
                </a:solidFill>
                <a:latin typeface="Times New Roman"/>
                <a:cs typeface="Times New Roman"/>
              </a:rPr>
              <a:t> </a:t>
            </a:r>
            <a:r>
              <a:rPr dirty="0" sz="2000" spc="-10" b="1">
                <a:solidFill>
                  <a:srgbClr val="9933FF"/>
                </a:solidFill>
                <a:latin typeface="Times New Roman"/>
                <a:cs typeface="Times New Roman"/>
              </a:rPr>
              <a:t>SX-</a:t>
            </a:r>
            <a:r>
              <a:rPr dirty="0" sz="2000" b="1">
                <a:solidFill>
                  <a:srgbClr val="9933FF"/>
                </a:solidFill>
                <a:latin typeface="Times New Roman"/>
                <a:cs typeface="Times New Roman"/>
              </a:rPr>
              <a:t>X/44</a:t>
            </a:r>
            <a:r>
              <a:rPr dirty="0" sz="2000" b="1">
                <a:solidFill>
                  <a:srgbClr val="9933FF"/>
                </a:solidFill>
                <a:latin typeface="宋体"/>
                <a:cs typeface="宋体"/>
              </a:rPr>
              <a:t>，</a:t>
            </a:r>
            <a:r>
              <a:rPr dirty="0" sz="2000" b="1">
                <a:solidFill>
                  <a:srgbClr val="9933FF"/>
                </a:solidFill>
                <a:latin typeface="Times New Roman"/>
                <a:cs typeface="Times New Roman"/>
              </a:rPr>
              <a:t>Fujitsu</a:t>
            </a:r>
            <a:r>
              <a:rPr dirty="0" sz="2000" spc="-65" b="1">
                <a:solidFill>
                  <a:srgbClr val="9933FF"/>
                </a:solidFill>
                <a:latin typeface="Times New Roman"/>
                <a:cs typeface="Times New Roman"/>
              </a:rPr>
              <a:t> </a:t>
            </a:r>
            <a:r>
              <a:rPr dirty="0" sz="2000" spc="-10" b="1">
                <a:solidFill>
                  <a:srgbClr val="9933FF"/>
                </a:solidFill>
                <a:latin typeface="Times New Roman"/>
                <a:cs typeface="Times New Roman"/>
              </a:rPr>
              <a:t>VP2600</a:t>
            </a:r>
            <a:r>
              <a:rPr dirty="0" sz="2000" spc="-50" b="1">
                <a:solidFill>
                  <a:srgbClr val="00AFEF"/>
                </a:solidFill>
                <a:latin typeface="宋体"/>
                <a:cs typeface="宋体"/>
              </a:rPr>
              <a:t>等</a:t>
            </a:r>
            <a:r>
              <a:rPr dirty="0" sz="2000" spc="-10" b="1">
                <a:solidFill>
                  <a:srgbClr val="00AFEF"/>
                </a:solidFill>
                <a:latin typeface="宋体"/>
                <a:cs typeface="宋体"/>
              </a:rPr>
              <a:t>性能达到了</a:t>
            </a:r>
            <a:r>
              <a:rPr dirty="0" sz="2000" spc="-10" b="1">
                <a:solidFill>
                  <a:srgbClr val="D50092"/>
                </a:solidFill>
                <a:latin typeface="宋体"/>
                <a:cs typeface="宋体"/>
              </a:rPr>
              <a:t>每秒几十亿～</a:t>
            </a:r>
            <a:r>
              <a:rPr dirty="0" sz="2000" spc="-20" b="1">
                <a:solidFill>
                  <a:srgbClr val="D50092"/>
                </a:solidFill>
                <a:latin typeface="宋体"/>
                <a:cs typeface="宋体"/>
              </a:rPr>
              <a:t>几百亿</a:t>
            </a:r>
            <a:r>
              <a:rPr dirty="0" sz="2000" spc="-25" b="1">
                <a:solidFill>
                  <a:srgbClr val="00AFEF"/>
                </a:solidFill>
                <a:latin typeface="宋体"/>
                <a:cs typeface="宋体"/>
              </a:rPr>
              <a:t>次浮点运算。</a:t>
            </a:r>
            <a:endParaRPr sz="2000">
              <a:latin typeface="宋体"/>
              <a:cs typeface="宋体"/>
            </a:endParaRPr>
          </a:p>
        </p:txBody>
      </p:sp>
      <p:sp>
        <p:nvSpPr>
          <p:cNvPr id="10" name="object 10"/>
          <p:cNvSpPr txBox="1">
            <a:spLocks noGrp="1"/>
          </p:cNvSpPr>
          <p:nvPr>
            <p:ph type="title"/>
          </p:nvPr>
        </p:nvSpPr>
        <p:spPr>
          <a:xfrm>
            <a:off x="1050442" y="179577"/>
            <a:ext cx="3785870" cy="513715"/>
          </a:xfrm>
          <a:prstGeom prst="rect"/>
        </p:spPr>
        <p:txBody>
          <a:bodyPr wrap="square" lIns="0" tIns="12700" rIns="0" bIns="0" rtlCol="0" vert="horz">
            <a:spAutoFit/>
          </a:bodyPr>
          <a:lstStyle/>
          <a:p>
            <a:pPr marL="12700">
              <a:lnSpc>
                <a:spcPct val="100000"/>
              </a:lnSpc>
              <a:spcBef>
                <a:spcPts val="100"/>
              </a:spcBef>
              <a:tabLst>
                <a:tab pos="927100" algn="l"/>
              </a:tabLst>
            </a:pPr>
            <a:r>
              <a:rPr dirty="0" spc="-25">
                <a:latin typeface="Tahoma"/>
                <a:cs typeface="Tahoma"/>
              </a:rPr>
              <a:t>4.1</a:t>
            </a:r>
            <a:r>
              <a:rPr dirty="0">
                <a:latin typeface="Tahoma"/>
                <a:cs typeface="Tahoma"/>
              </a:rPr>
              <a:t>	</a:t>
            </a:r>
            <a:r>
              <a:rPr dirty="0" spc="-20"/>
              <a:t>向量的处理方式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92379" y="976629"/>
            <a:ext cx="7649209" cy="2477135"/>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5">
                <a:solidFill>
                  <a:srgbClr val="40458B"/>
                </a:solidFill>
                <a:latin typeface="黑体"/>
                <a:cs typeface="黑体"/>
              </a:rPr>
              <a:t>向量处理机：向量的处理和向量的流水处理</a:t>
            </a:r>
            <a:endParaRPr sz="2400">
              <a:latin typeface="黑体"/>
              <a:cs typeface="黑体"/>
            </a:endParaRPr>
          </a:p>
          <a:p>
            <a:pPr lvl="1" marL="1097280" indent="-457200">
              <a:lnSpc>
                <a:spcPct val="100000"/>
              </a:lnSpc>
              <a:spcBef>
                <a:spcPts val="1780"/>
              </a:spcBef>
              <a:buClr>
                <a:srgbClr val="4668F5"/>
              </a:buClr>
              <a:buSzPct val="65000"/>
              <a:buFont typeface="Wingdings"/>
              <a:buChar char=""/>
              <a:tabLst>
                <a:tab pos="1097280" algn="l"/>
              </a:tabLst>
            </a:pPr>
            <a:r>
              <a:rPr dirty="0" sz="2000" spc="-10" b="1">
                <a:solidFill>
                  <a:srgbClr val="FF0000"/>
                </a:solidFill>
                <a:latin typeface="宋体"/>
                <a:cs typeface="宋体"/>
              </a:rPr>
              <a:t>向量处理方式</a:t>
            </a:r>
            <a:r>
              <a:rPr dirty="0" sz="2000" spc="-20" b="1">
                <a:solidFill>
                  <a:srgbClr val="00AFEF"/>
                </a:solidFill>
                <a:latin typeface="宋体"/>
                <a:cs typeface="宋体"/>
              </a:rPr>
              <a:t>：纵向处理，横向处理，分组纵向</a:t>
            </a:r>
            <a:r>
              <a:rPr dirty="0" sz="2000" spc="-10" b="1">
                <a:solidFill>
                  <a:srgbClr val="00AFEF"/>
                </a:solidFill>
                <a:latin typeface="Times New Roman"/>
                <a:cs typeface="Times New Roman"/>
              </a:rPr>
              <a:t>+</a:t>
            </a:r>
            <a:r>
              <a:rPr dirty="0" sz="2000" spc="-25" b="1">
                <a:solidFill>
                  <a:srgbClr val="00AFEF"/>
                </a:solidFill>
                <a:latin typeface="宋体"/>
                <a:cs typeface="宋体"/>
              </a:rPr>
              <a:t>横向处理</a:t>
            </a:r>
            <a:endParaRPr sz="2000">
              <a:latin typeface="宋体"/>
              <a:cs typeface="宋体"/>
            </a:endParaRPr>
          </a:p>
          <a:p>
            <a:pPr lvl="1" marL="1161415" indent="-521334">
              <a:lnSpc>
                <a:spcPct val="100000"/>
              </a:lnSpc>
              <a:spcBef>
                <a:spcPts val="1680"/>
              </a:spcBef>
              <a:buClr>
                <a:srgbClr val="4668F5"/>
              </a:buClr>
              <a:buSzPct val="65000"/>
              <a:buFont typeface="Wingdings"/>
              <a:buChar char=""/>
              <a:tabLst>
                <a:tab pos="1161415" algn="l"/>
              </a:tabLst>
            </a:pPr>
            <a:r>
              <a:rPr dirty="0" sz="2000" spc="-10" b="1">
                <a:solidFill>
                  <a:srgbClr val="FF0000"/>
                </a:solidFill>
                <a:latin typeface="宋体"/>
                <a:cs typeface="宋体"/>
              </a:rPr>
              <a:t>横向（水平）</a:t>
            </a:r>
            <a:r>
              <a:rPr dirty="0" sz="2000" spc="-20" b="1">
                <a:solidFill>
                  <a:srgbClr val="FF0000"/>
                </a:solidFill>
                <a:latin typeface="宋体"/>
                <a:cs typeface="宋体"/>
              </a:rPr>
              <a:t>处理方式</a:t>
            </a:r>
            <a:r>
              <a:rPr dirty="0" sz="2000" spc="-25" b="1">
                <a:solidFill>
                  <a:srgbClr val="00AFEF"/>
                </a:solidFill>
                <a:latin typeface="宋体"/>
                <a:cs typeface="宋体"/>
              </a:rPr>
              <a:t>：不是向量的流水处理方式</a:t>
            </a:r>
            <a:endParaRPr sz="2000">
              <a:latin typeface="宋体"/>
              <a:cs typeface="宋体"/>
            </a:endParaRPr>
          </a:p>
          <a:p>
            <a:pPr lvl="1" marL="1097280" indent="-457200">
              <a:lnSpc>
                <a:spcPct val="100000"/>
              </a:lnSpc>
              <a:spcBef>
                <a:spcPts val="1680"/>
              </a:spcBef>
              <a:buClr>
                <a:srgbClr val="4668F5"/>
              </a:buClr>
              <a:buSzPct val="65000"/>
              <a:buFont typeface="Wingdings"/>
              <a:buChar char=""/>
              <a:tabLst>
                <a:tab pos="1097280" algn="l"/>
              </a:tabLst>
            </a:pPr>
            <a:r>
              <a:rPr dirty="0" sz="2000" spc="-10" b="1">
                <a:solidFill>
                  <a:srgbClr val="FF0000"/>
                </a:solidFill>
                <a:latin typeface="宋体"/>
                <a:cs typeface="宋体"/>
              </a:rPr>
              <a:t>纵向（垂直）处理方式</a:t>
            </a:r>
            <a:r>
              <a:rPr dirty="0" sz="2000" spc="-25" b="1">
                <a:solidFill>
                  <a:srgbClr val="00AFEF"/>
                </a:solidFill>
                <a:latin typeface="宋体"/>
                <a:cs typeface="宋体"/>
              </a:rPr>
              <a:t>：向量的流水处理方式</a:t>
            </a:r>
            <a:endParaRPr sz="2000">
              <a:latin typeface="宋体"/>
              <a:cs typeface="宋体"/>
            </a:endParaRPr>
          </a:p>
          <a:p>
            <a:pPr lvl="1" marL="1097280" indent="-457200">
              <a:lnSpc>
                <a:spcPct val="100000"/>
              </a:lnSpc>
              <a:spcBef>
                <a:spcPts val="1680"/>
              </a:spcBef>
              <a:buClr>
                <a:srgbClr val="4668F5"/>
              </a:buClr>
              <a:buSzPct val="65000"/>
              <a:buFont typeface="Wingdings"/>
              <a:buChar char=""/>
              <a:tabLst>
                <a:tab pos="1097280" algn="l"/>
              </a:tabLst>
            </a:pPr>
            <a:r>
              <a:rPr dirty="0" sz="2000" spc="-15" b="1">
                <a:solidFill>
                  <a:srgbClr val="FF0000"/>
                </a:solidFill>
                <a:latin typeface="宋体"/>
                <a:cs typeface="宋体"/>
              </a:rPr>
              <a:t>分组纵横处理：</a:t>
            </a:r>
            <a:r>
              <a:rPr dirty="0" sz="2000" spc="-25" b="1">
                <a:solidFill>
                  <a:srgbClr val="00AFEF"/>
                </a:solidFill>
                <a:latin typeface="宋体"/>
                <a:cs typeface="宋体"/>
              </a:rPr>
              <a:t>向量的处理方式及向量的流水处理方式。</a:t>
            </a:r>
            <a:endParaRPr sz="2000">
              <a:latin typeface="宋体"/>
              <a:cs typeface="宋体"/>
            </a:endParaRPr>
          </a:p>
        </p:txBody>
      </p:sp>
      <p:sp>
        <p:nvSpPr>
          <p:cNvPr id="10" name="object 10"/>
          <p:cNvSpPr txBox="1">
            <a:spLocks noGrp="1"/>
          </p:cNvSpPr>
          <p:nvPr>
            <p:ph type="title"/>
          </p:nvPr>
        </p:nvSpPr>
        <p:spPr>
          <a:xfrm>
            <a:off x="1050442" y="179577"/>
            <a:ext cx="3785870" cy="513715"/>
          </a:xfrm>
          <a:prstGeom prst="rect"/>
        </p:spPr>
        <p:txBody>
          <a:bodyPr wrap="square" lIns="0" tIns="12700" rIns="0" bIns="0" rtlCol="0" vert="horz">
            <a:spAutoFit/>
          </a:bodyPr>
          <a:lstStyle/>
          <a:p>
            <a:pPr marL="12700">
              <a:lnSpc>
                <a:spcPct val="100000"/>
              </a:lnSpc>
              <a:spcBef>
                <a:spcPts val="100"/>
              </a:spcBef>
              <a:tabLst>
                <a:tab pos="927100" algn="l"/>
              </a:tabLst>
            </a:pPr>
            <a:r>
              <a:rPr dirty="0" spc="-25">
                <a:latin typeface="Tahoma"/>
                <a:cs typeface="Tahoma"/>
              </a:rPr>
              <a:t>4.1</a:t>
            </a:r>
            <a:r>
              <a:rPr dirty="0">
                <a:latin typeface="Tahoma"/>
                <a:cs typeface="Tahoma"/>
              </a:rPr>
              <a:t>	</a:t>
            </a:r>
            <a:r>
              <a:rPr dirty="0" spc="-20"/>
              <a:t>向量的处理方式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5516371" y="251841"/>
            <a:ext cx="3224530"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黑体"/>
                <a:cs typeface="黑体"/>
              </a:rPr>
              <a:t>4.1</a:t>
            </a:r>
            <a:r>
              <a:rPr dirty="0" sz="2800" spc="-40">
                <a:latin typeface="黑体"/>
                <a:cs typeface="黑体"/>
              </a:rPr>
              <a:t> 向量的处理方式</a:t>
            </a:r>
            <a:endParaRPr sz="2800">
              <a:latin typeface="黑体"/>
              <a:cs typeface="黑体"/>
            </a:endParaRPr>
          </a:p>
        </p:txBody>
      </p:sp>
      <p:sp>
        <p:nvSpPr>
          <p:cNvPr id="10" name="object 10" descr=""/>
          <p:cNvSpPr txBox="1"/>
          <p:nvPr/>
        </p:nvSpPr>
        <p:spPr>
          <a:xfrm>
            <a:off x="1355216" y="1314196"/>
            <a:ext cx="5846445" cy="1452880"/>
          </a:xfrm>
          <a:prstGeom prst="rect">
            <a:avLst/>
          </a:prstGeom>
        </p:spPr>
        <p:txBody>
          <a:bodyPr wrap="square" lIns="0" tIns="12700" rIns="0" bIns="0" rtlCol="0" vert="horz">
            <a:spAutoFit/>
          </a:bodyPr>
          <a:lstStyle/>
          <a:p>
            <a:pPr marL="12700" marR="1037590">
              <a:lnSpc>
                <a:spcPct val="130100"/>
              </a:lnSpc>
              <a:spcBef>
                <a:spcPts val="100"/>
              </a:spcBef>
            </a:pPr>
            <a:r>
              <a:rPr dirty="0" sz="2400" spc="-95" b="1">
                <a:solidFill>
                  <a:srgbClr val="E14B04"/>
                </a:solidFill>
                <a:latin typeface="宋体"/>
                <a:cs typeface="宋体"/>
              </a:rPr>
              <a:t>以计算表达式 </a:t>
            </a:r>
            <a:r>
              <a:rPr dirty="0" sz="2400" spc="-25" b="1">
                <a:solidFill>
                  <a:srgbClr val="E14B04"/>
                </a:solidFill>
                <a:latin typeface="Times New Roman"/>
                <a:cs typeface="Times New Roman"/>
              </a:rPr>
              <a:t>D=A</a:t>
            </a:r>
            <a:r>
              <a:rPr dirty="0" sz="2400" spc="-25" b="1">
                <a:solidFill>
                  <a:srgbClr val="E14B04"/>
                </a:solidFill>
                <a:latin typeface="宋体"/>
                <a:cs typeface="宋体"/>
              </a:rPr>
              <a:t>×（</a:t>
            </a:r>
            <a:r>
              <a:rPr dirty="0" sz="2400" spc="-25" b="1">
                <a:solidFill>
                  <a:srgbClr val="E14B04"/>
                </a:solidFill>
                <a:latin typeface="Times New Roman"/>
                <a:cs typeface="Times New Roman"/>
              </a:rPr>
              <a:t>B</a:t>
            </a:r>
            <a:r>
              <a:rPr dirty="0" sz="2400" spc="-25" b="1">
                <a:solidFill>
                  <a:srgbClr val="E14B04"/>
                </a:solidFill>
                <a:latin typeface="宋体"/>
                <a:cs typeface="宋体"/>
              </a:rPr>
              <a:t>－</a:t>
            </a:r>
            <a:r>
              <a:rPr dirty="0" sz="2400" spc="-25" b="1">
                <a:solidFill>
                  <a:srgbClr val="E14B04"/>
                </a:solidFill>
                <a:latin typeface="Times New Roman"/>
                <a:cs typeface="Times New Roman"/>
              </a:rPr>
              <a:t>C</a:t>
            </a:r>
            <a:r>
              <a:rPr dirty="0" sz="2400" spc="-25" b="1">
                <a:solidFill>
                  <a:srgbClr val="E14B04"/>
                </a:solidFill>
                <a:latin typeface="宋体"/>
                <a:cs typeface="宋体"/>
              </a:rPr>
              <a:t>）</a:t>
            </a:r>
            <a:r>
              <a:rPr dirty="0" sz="2400" spc="-35" b="1">
                <a:solidFill>
                  <a:srgbClr val="E14B04"/>
                </a:solidFill>
                <a:latin typeface="宋体"/>
                <a:cs typeface="宋体"/>
              </a:rPr>
              <a:t>为例</a:t>
            </a:r>
            <a:r>
              <a:rPr dirty="0" sz="2400" spc="-50" b="1">
                <a:solidFill>
                  <a:srgbClr val="E14B04"/>
                </a:solidFill>
                <a:latin typeface="宋体"/>
                <a:cs typeface="宋体"/>
              </a:rPr>
              <a:t> </a:t>
            </a:r>
            <a:r>
              <a:rPr dirty="0" sz="2400" spc="-35" b="1">
                <a:solidFill>
                  <a:srgbClr val="9933FF"/>
                </a:solidFill>
                <a:latin typeface="Times New Roman"/>
                <a:cs typeface="Times New Roman"/>
              </a:rPr>
              <a:t>A</a:t>
            </a:r>
            <a:r>
              <a:rPr dirty="0" sz="2400" spc="-10" b="1">
                <a:solidFill>
                  <a:srgbClr val="9933FF"/>
                </a:solidFill>
                <a:latin typeface="宋体"/>
                <a:cs typeface="宋体"/>
              </a:rPr>
              <a:t>、</a:t>
            </a:r>
            <a:r>
              <a:rPr dirty="0" sz="2400" spc="-10" b="1">
                <a:solidFill>
                  <a:srgbClr val="9933FF"/>
                </a:solidFill>
                <a:latin typeface="Times New Roman"/>
                <a:cs typeface="Times New Roman"/>
              </a:rPr>
              <a:t>B</a:t>
            </a:r>
            <a:r>
              <a:rPr dirty="0" sz="2400" spc="-20" b="1">
                <a:solidFill>
                  <a:srgbClr val="9933FF"/>
                </a:solidFill>
                <a:latin typeface="宋体"/>
                <a:cs typeface="宋体"/>
              </a:rPr>
              <a:t>、</a:t>
            </a:r>
            <a:r>
              <a:rPr dirty="0" sz="2400" spc="-35" b="1">
                <a:solidFill>
                  <a:srgbClr val="9933FF"/>
                </a:solidFill>
                <a:latin typeface="Times New Roman"/>
                <a:cs typeface="Times New Roman"/>
              </a:rPr>
              <a:t>C</a:t>
            </a:r>
            <a:r>
              <a:rPr dirty="0" sz="2400" spc="-20" b="1">
                <a:solidFill>
                  <a:srgbClr val="9933FF"/>
                </a:solidFill>
                <a:latin typeface="宋体"/>
                <a:cs typeface="宋体"/>
              </a:rPr>
              <a:t>、</a:t>
            </a:r>
            <a:r>
              <a:rPr dirty="0" sz="2400" b="1">
                <a:solidFill>
                  <a:srgbClr val="9933FF"/>
                </a:solidFill>
                <a:latin typeface="Times New Roman"/>
                <a:cs typeface="Times New Roman"/>
              </a:rPr>
              <a:t>D</a:t>
            </a:r>
            <a:r>
              <a:rPr dirty="0" sz="2400" spc="35" b="1">
                <a:solidFill>
                  <a:srgbClr val="9933FF"/>
                </a:solidFill>
                <a:latin typeface="Times New Roman"/>
                <a:cs typeface="Times New Roman"/>
              </a:rPr>
              <a:t> </a:t>
            </a:r>
            <a:r>
              <a:rPr dirty="0" sz="2400" spc="-5" b="1">
                <a:solidFill>
                  <a:srgbClr val="E14B04"/>
                </a:solidFill>
                <a:latin typeface="Times New Roman"/>
                <a:cs typeface="Times New Roman"/>
              </a:rPr>
              <a:t>── </a:t>
            </a:r>
            <a:r>
              <a:rPr dirty="0" sz="2400" spc="-170" b="1">
                <a:solidFill>
                  <a:srgbClr val="E14B04"/>
                </a:solidFill>
                <a:latin typeface="宋体"/>
                <a:cs typeface="宋体"/>
              </a:rPr>
              <a:t>长度为 </a:t>
            </a:r>
            <a:r>
              <a:rPr dirty="0" sz="2400" b="1">
                <a:solidFill>
                  <a:srgbClr val="E14B04"/>
                </a:solidFill>
                <a:latin typeface="Times New Roman"/>
                <a:cs typeface="Times New Roman"/>
              </a:rPr>
              <a:t>N</a:t>
            </a:r>
            <a:r>
              <a:rPr dirty="0" sz="2400" spc="10" b="1">
                <a:solidFill>
                  <a:srgbClr val="E14B04"/>
                </a:solidFill>
                <a:latin typeface="Times New Roman"/>
                <a:cs typeface="Times New Roman"/>
              </a:rPr>
              <a:t> </a:t>
            </a:r>
            <a:r>
              <a:rPr dirty="0" sz="2400" spc="-30" b="1">
                <a:solidFill>
                  <a:srgbClr val="E14B04"/>
                </a:solidFill>
                <a:latin typeface="宋体"/>
                <a:cs typeface="宋体"/>
              </a:rPr>
              <a:t>的向量</a:t>
            </a:r>
            <a:endParaRPr sz="2400">
              <a:latin typeface="宋体"/>
              <a:cs typeface="宋体"/>
            </a:endParaRPr>
          </a:p>
          <a:p>
            <a:pPr marL="12700">
              <a:lnSpc>
                <a:spcPct val="100000"/>
              </a:lnSpc>
              <a:spcBef>
                <a:spcPts val="860"/>
              </a:spcBef>
            </a:pPr>
            <a:r>
              <a:rPr dirty="0" sz="2400" spc="-20" b="1">
                <a:solidFill>
                  <a:srgbClr val="FF0000"/>
                </a:solidFill>
                <a:latin typeface="宋体"/>
                <a:cs typeface="宋体"/>
              </a:rPr>
              <a:t>三种</a:t>
            </a:r>
            <a:r>
              <a:rPr dirty="0" sz="2400" spc="-20" b="1">
                <a:solidFill>
                  <a:srgbClr val="E14B04"/>
                </a:solidFill>
                <a:latin typeface="宋体"/>
                <a:cs typeface="宋体"/>
              </a:rPr>
              <a:t>处理方式：横向、纵向和纵横（分组</a:t>
            </a:r>
            <a:r>
              <a:rPr dirty="0" sz="2400" spc="-50" b="1">
                <a:solidFill>
                  <a:srgbClr val="E14B04"/>
                </a:solidFill>
                <a:latin typeface="宋体"/>
                <a:cs typeface="宋体"/>
              </a:rPr>
              <a:t>）</a:t>
            </a:r>
            <a:endParaRPr sz="2400">
              <a:latin typeface="宋体"/>
              <a:cs typeface="宋体"/>
            </a:endParaRPr>
          </a:p>
        </p:txBody>
      </p:sp>
      <p:sp>
        <p:nvSpPr>
          <p:cNvPr id="11" name="object 11"/>
          <p:cNvSpPr txBox="1">
            <a:spLocks noGrp="1"/>
          </p:cNvSpPr>
          <p:nvPr>
            <p:ph type="title"/>
          </p:nvPr>
        </p:nvSpPr>
        <p:spPr>
          <a:xfrm>
            <a:off x="1050442" y="179577"/>
            <a:ext cx="3785870" cy="513715"/>
          </a:xfrm>
          <a:prstGeom prst="rect"/>
        </p:spPr>
        <p:txBody>
          <a:bodyPr wrap="square" lIns="0" tIns="12700" rIns="0" bIns="0" rtlCol="0" vert="horz">
            <a:spAutoFit/>
          </a:bodyPr>
          <a:lstStyle/>
          <a:p>
            <a:pPr marL="12700">
              <a:lnSpc>
                <a:spcPct val="100000"/>
              </a:lnSpc>
              <a:spcBef>
                <a:spcPts val="100"/>
              </a:spcBef>
              <a:tabLst>
                <a:tab pos="927100" algn="l"/>
              </a:tabLst>
            </a:pPr>
            <a:r>
              <a:rPr dirty="0" spc="-25">
                <a:latin typeface="Tahoma"/>
                <a:cs typeface="Tahoma"/>
              </a:rPr>
              <a:t>4.1</a:t>
            </a:r>
            <a:r>
              <a:rPr dirty="0">
                <a:latin typeface="Tahoma"/>
                <a:cs typeface="Tahoma"/>
              </a:rPr>
              <a:t>	</a:t>
            </a:r>
            <a:r>
              <a:rPr dirty="0" spc="-20"/>
              <a:t>向量的处理方式</a:t>
            </a:r>
          </a:p>
        </p:txBody>
      </p:sp>
      <p:grpSp>
        <p:nvGrpSpPr>
          <p:cNvPr id="12" name="object 12" descr=""/>
          <p:cNvGrpSpPr/>
          <p:nvPr/>
        </p:nvGrpSpPr>
        <p:grpSpPr>
          <a:xfrm>
            <a:off x="2767012" y="3711638"/>
            <a:ext cx="3209925" cy="1089025"/>
            <a:chOff x="2767012" y="3711638"/>
            <a:chExt cx="3209925" cy="1089025"/>
          </a:xfrm>
        </p:grpSpPr>
        <p:sp>
          <p:nvSpPr>
            <p:cNvPr id="13" name="object 13" descr=""/>
            <p:cNvSpPr/>
            <p:nvPr/>
          </p:nvSpPr>
          <p:spPr>
            <a:xfrm>
              <a:off x="2771775" y="3716401"/>
              <a:ext cx="3200400" cy="1079500"/>
            </a:xfrm>
            <a:custGeom>
              <a:avLst/>
              <a:gdLst/>
              <a:ahLst/>
              <a:cxnLst/>
              <a:rect l="l" t="t" r="r" b="b"/>
              <a:pathLst>
                <a:path w="3200400" h="1079500">
                  <a:moveTo>
                    <a:pt x="3200400" y="0"/>
                  </a:moveTo>
                  <a:lnTo>
                    <a:pt x="0" y="0"/>
                  </a:lnTo>
                  <a:lnTo>
                    <a:pt x="0" y="1079500"/>
                  </a:lnTo>
                  <a:lnTo>
                    <a:pt x="3200400" y="1079500"/>
                  </a:lnTo>
                  <a:lnTo>
                    <a:pt x="3200400" y="0"/>
                  </a:lnTo>
                  <a:close/>
                </a:path>
              </a:pathLst>
            </a:custGeom>
            <a:solidFill>
              <a:srgbClr val="D4D6EB"/>
            </a:solidFill>
          </p:spPr>
          <p:txBody>
            <a:bodyPr wrap="square" lIns="0" tIns="0" rIns="0" bIns="0" rtlCol="0"/>
            <a:lstStyle/>
            <a:p/>
          </p:txBody>
        </p:sp>
        <p:sp>
          <p:nvSpPr>
            <p:cNvPr id="14" name="object 14" descr=""/>
            <p:cNvSpPr/>
            <p:nvPr/>
          </p:nvSpPr>
          <p:spPr>
            <a:xfrm>
              <a:off x="2771775" y="3716401"/>
              <a:ext cx="3200400" cy="1079500"/>
            </a:xfrm>
            <a:custGeom>
              <a:avLst/>
              <a:gdLst/>
              <a:ahLst/>
              <a:cxnLst/>
              <a:rect l="l" t="t" r="r" b="b"/>
              <a:pathLst>
                <a:path w="3200400" h="1079500">
                  <a:moveTo>
                    <a:pt x="0" y="1079500"/>
                  </a:moveTo>
                  <a:lnTo>
                    <a:pt x="3200400" y="1079500"/>
                  </a:lnTo>
                  <a:lnTo>
                    <a:pt x="3200400" y="0"/>
                  </a:lnTo>
                  <a:lnTo>
                    <a:pt x="0" y="0"/>
                  </a:lnTo>
                  <a:lnTo>
                    <a:pt x="0" y="1079500"/>
                  </a:lnTo>
                  <a:close/>
                </a:path>
              </a:pathLst>
            </a:custGeom>
            <a:ln w="9525">
              <a:solidFill>
                <a:srgbClr val="40458B"/>
              </a:solidFill>
            </a:ln>
          </p:spPr>
          <p:txBody>
            <a:bodyPr wrap="square" lIns="0" tIns="0" rIns="0" bIns="0" rtlCol="0"/>
            <a:lstStyle/>
            <a:p/>
          </p:txBody>
        </p:sp>
      </p:grpSp>
      <p:sp>
        <p:nvSpPr>
          <p:cNvPr id="15" name="object 15" descr=""/>
          <p:cNvSpPr txBox="1"/>
          <p:nvPr/>
        </p:nvSpPr>
        <p:spPr>
          <a:xfrm>
            <a:off x="3028695" y="3674597"/>
            <a:ext cx="3032760" cy="1122680"/>
          </a:xfrm>
          <a:prstGeom prst="rect">
            <a:avLst/>
          </a:prstGeom>
        </p:spPr>
        <p:txBody>
          <a:bodyPr wrap="square" lIns="0" tIns="194945" rIns="0" bIns="0" rtlCol="0" vert="horz">
            <a:spAutoFit/>
          </a:bodyPr>
          <a:lstStyle/>
          <a:p>
            <a:pPr marL="25400">
              <a:lnSpc>
                <a:spcPct val="100000"/>
              </a:lnSpc>
              <a:spcBef>
                <a:spcPts val="1535"/>
              </a:spcBef>
            </a:pPr>
            <a:r>
              <a:rPr dirty="0" sz="2400">
                <a:solidFill>
                  <a:srgbClr val="40458B"/>
                </a:solidFill>
                <a:latin typeface="Tahoma"/>
                <a:cs typeface="Tahoma"/>
              </a:rPr>
              <a:t>for</a:t>
            </a:r>
            <a:r>
              <a:rPr dirty="0" sz="2400" spc="-55">
                <a:solidFill>
                  <a:srgbClr val="40458B"/>
                </a:solidFill>
                <a:latin typeface="Tahoma"/>
                <a:cs typeface="Tahoma"/>
              </a:rPr>
              <a:t> </a:t>
            </a:r>
            <a:r>
              <a:rPr dirty="0" sz="2400" spc="-10">
                <a:solidFill>
                  <a:srgbClr val="40458B"/>
                </a:solidFill>
                <a:latin typeface="黑体"/>
                <a:cs typeface="黑体"/>
              </a:rPr>
              <a:t>（</a:t>
            </a:r>
            <a:r>
              <a:rPr dirty="0" sz="2400" spc="-10">
                <a:solidFill>
                  <a:srgbClr val="40458B"/>
                </a:solidFill>
                <a:latin typeface="Tahoma"/>
                <a:cs typeface="Tahoma"/>
              </a:rPr>
              <a:t>i=1;i&lt;=N;i++</a:t>
            </a:r>
            <a:r>
              <a:rPr dirty="0" sz="2400" spc="-10">
                <a:solidFill>
                  <a:srgbClr val="40458B"/>
                </a:solidFill>
                <a:latin typeface="黑体"/>
                <a:cs typeface="黑体"/>
              </a:rPr>
              <a:t>）</a:t>
            </a:r>
            <a:endParaRPr sz="2400">
              <a:latin typeface="黑体"/>
              <a:cs typeface="黑体"/>
            </a:endParaRPr>
          </a:p>
          <a:p>
            <a:pPr marL="310515">
              <a:lnSpc>
                <a:spcPct val="100000"/>
              </a:lnSpc>
              <a:spcBef>
                <a:spcPts val="1440"/>
              </a:spcBef>
            </a:pPr>
            <a:r>
              <a:rPr dirty="0" sz="2400" spc="-10">
                <a:solidFill>
                  <a:srgbClr val="40458B"/>
                </a:solidFill>
                <a:latin typeface="Tahoma"/>
                <a:cs typeface="Tahoma"/>
              </a:rPr>
              <a:t>di=a</a:t>
            </a:r>
            <a:r>
              <a:rPr dirty="0" baseline="-20833" sz="2400" spc="-15">
                <a:solidFill>
                  <a:srgbClr val="40458B"/>
                </a:solidFill>
                <a:latin typeface="Tahoma"/>
                <a:cs typeface="Tahoma"/>
              </a:rPr>
              <a:t>i</a:t>
            </a:r>
            <a:r>
              <a:rPr dirty="0" sz="2400" spc="-10">
                <a:solidFill>
                  <a:srgbClr val="40458B"/>
                </a:solidFill>
                <a:latin typeface="Tahoma"/>
                <a:cs typeface="Tahoma"/>
              </a:rPr>
              <a:t>*(b</a:t>
            </a:r>
            <a:r>
              <a:rPr dirty="0" baseline="-20833" sz="2400" spc="-15">
                <a:solidFill>
                  <a:srgbClr val="40458B"/>
                </a:solidFill>
                <a:latin typeface="Tahoma"/>
                <a:cs typeface="Tahoma"/>
              </a:rPr>
              <a:t>i</a:t>
            </a:r>
            <a:r>
              <a:rPr dirty="0" sz="2400" spc="-10">
                <a:solidFill>
                  <a:srgbClr val="40458B"/>
                </a:solidFill>
                <a:latin typeface="Tahoma"/>
                <a:cs typeface="Tahoma"/>
              </a:rPr>
              <a:t>-</a:t>
            </a:r>
            <a:r>
              <a:rPr dirty="0" sz="2400">
                <a:solidFill>
                  <a:srgbClr val="40458B"/>
                </a:solidFill>
                <a:latin typeface="Tahoma"/>
                <a:cs typeface="Tahoma"/>
              </a:rPr>
              <a:t>c</a:t>
            </a:r>
            <a:r>
              <a:rPr dirty="0" baseline="-20833" sz="2400">
                <a:solidFill>
                  <a:srgbClr val="40458B"/>
                </a:solidFill>
                <a:latin typeface="Tahoma"/>
                <a:cs typeface="Tahoma"/>
              </a:rPr>
              <a:t>i</a:t>
            </a:r>
            <a:r>
              <a:rPr dirty="0" sz="2400">
                <a:solidFill>
                  <a:srgbClr val="40458B"/>
                </a:solidFill>
                <a:latin typeface="Tahoma"/>
                <a:cs typeface="Tahoma"/>
              </a:rPr>
              <a:t>)</a:t>
            </a:r>
            <a:r>
              <a:rPr dirty="0" sz="2400" spc="-15">
                <a:solidFill>
                  <a:srgbClr val="40458B"/>
                </a:solidFill>
                <a:latin typeface="Tahoma"/>
                <a:cs typeface="Tahoma"/>
              </a:rPr>
              <a:t> </a:t>
            </a:r>
            <a:r>
              <a:rPr dirty="0" sz="2400" spc="-50">
                <a:solidFill>
                  <a:srgbClr val="40458B"/>
                </a:solidFill>
                <a:latin typeface="Tahoma"/>
                <a:cs typeface="Tahoma"/>
              </a:rPr>
              <a:t>;</a:t>
            </a:r>
            <a:endParaRPr sz="240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4.1</a:t>
            </a:r>
            <a:r>
              <a:rPr dirty="0" spc="-20"/>
              <a:t> 向量的处理方式</a:t>
            </a:r>
          </a:p>
        </p:txBody>
      </p:sp>
      <p:sp>
        <p:nvSpPr>
          <p:cNvPr id="10" name="object 10" descr=""/>
          <p:cNvSpPr txBox="1"/>
          <p:nvPr/>
        </p:nvSpPr>
        <p:spPr>
          <a:xfrm>
            <a:off x="13817" y="584073"/>
            <a:ext cx="7282180" cy="976630"/>
          </a:xfrm>
          <a:prstGeom prst="rect">
            <a:avLst/>
          </a:prstGeom>
        </p:spPr>
        <p:txBody>
          <a:bodyPr wrap="square" lIns="0" tIns="122555" rIns="0" bIns="0" rtlCol="0" vert="horz">
            <a:spAutoFit/>
          </a:bodyPr>
          <a:lstStyle/>
          <a:p>
            <a:pPr algn="r" marR="5080">
              <a:lnSpc>
                <a:spcPct val="100000"/>
              </a:lnSpc>
              <a:spcBef>
                <a:spcPts val="965"/>
              </a:spcBef>
              <a:tabLst>
                <a:tab pos="4002404" algn="l"/>
              </a:tabLst>
            </a:pPr>
            <a:r>
              <a:rPr dirty="0" sz="2400" spc="-25">
                <a:solidFill>
                  <a:srgbClr val="FF0000"/>
                </a:solidFill>
                <a:latin typeface="Tahoma"/>
                <a:cs typeface="Tahoma"/>
              </a:rPr>
              <a:t>1</a:t>
            </a:r>
            <a:r>
              <a:rPr dirty="0" sz="2400">
                <a:solidFill>
                  <a:srgbClr val="FF0000"/>
                </a:solidFill>
                <a:latin typeface="黑体"/>
                <a:cs typeface="黑体"/>
              </a:rPr>
              <a:t>、横向</a:t>
            </a:r>
            <a:r>
              <a:rPr dirty="0" sz="2400" spc="-10">
                <a:solidFill>
                  <a:srgbClr val="FF0000"/>
                </a:solidFill>
                <a:latin typeface="Tahoma"/>
                <a:cs typeface="Tahoma"/>
              </a:rPr>
              <a:t>(</a:t>
            </a:r>
            <a:r>
              <a:rPr dirty="0" sz="2400">
                <a:solidFill>
                  <a:srgbClr val="FF0000"/>
                </a:solidFill>
                <a:latin typeface="黑体"/>
                <a:cs typeface="黑体"/>
              </a:rPr>
              <a:t>水平</a:t>
            </a:r>
            <a:r>
              <a:rPr dirty="0" sz="2400" spc="-10">
                <a:solidFill>
                  <a:srgbClr val="FF0000"/>
                </a:solidFill>
                <a:latin typeface="Tahoma"/>
                <a:cs typeface="Tahoma"/>
              </a:rPr>
              <a:t>)</a:t>
            </a:r>
            <a:r>
              <a:rPr dirty="0" sz="2400">
                <a:solidFill>
                  <a:srgbClr val="FF0000"/>
                </a:solidFill>
                <a:latin typeface="黑体"/>
                <a:cs typeface="黑体"/>
              </a:rPr>
              <a:t>处理方</a:t>
            </a:r>
            <a:r>
              <a:rPr dirty="0" sz="2400" spc="-50">
                <a:solidFill>
                  <a:srgbClr val="FF0000"/>
                </a:solidFill>
                <a:latin typeface="黑体"/>
                <a:cs typeface="黑体"/>
              </a:rPr>
              <a:t>式</a:t>
            </a:r>
            <a:r>
              <a:rPr dirty="0" sz="2400">
                <a:solidFill>
                  <a:srgbClr val="FF0000"/>
                </a:solidFill>
                <a:latin typeface="黑体"/>
                <a:cs typeface="黑体"/>
              </a:rPr>
              <a:t>	</a:t>
            </a:r>
            <a:r>
              <a:rPr dirty="0" sz="2400" spc="-20" b="1">
                <a:solidFill>
                  <a:srgbClr val="E14B04"/>
                </a:solidFill>
                <a:latin typeface="宋体"/>
                <a:cs typeface="宋体"/>
              </a:rPr>
              <a:t>表达</a:t>
            </a:r>
            <a:r>
              <a:rPr dirty="0" sz="2400" spc="-30" b="1">
                <a:solidFill>
                  <a:srgbClr val="E14B04"/>
                </a:solidFill>
                <a:latin typeface="宋体"/>
                <a:cs typeface="宋体"/>
              </a:rPr>
              <a:t>式</a:t>
            </a:r>
            <a:r>
              <a:rPr dirty="0" sz="2400" spc="-585" b="1">
                <a:solidFill>
                  <a:srgbClr val="E14B04"/>
                </a:solidFill>
                <a:latin typeface="宋体"/>
                <a:cs typeface="宋体"/>
              </a:rPr>
              <a:t> </a:t>
            </a:r>
            <a:r>
              <a:rPr dirty="0" sz="2400" spc="-10" b="1">
                <a:solidFill>
                  <a:srgbClr val="E14B04"/>
                </a:solidFill>
                <a:latin typeface="Times New Roman"/>
                <a:cs typeface="Times New Roman"/>
              </a:rPr>
              <a:t>D=A</a:t>
            </a:r>
            <a:r>
              <a:rPr dirty="0" sz="2400" spc="-10" b="1">
                <a:solidFill>
                  <a:srgbClr val="E14B04"/>
                </a:solidFill>
                <a:latin typeface="宋体"/>
                <a:cs typeface="宋体"/>
              </a:rPr>
              <a:t>×（</a:t>
            </a:r>
            <a:r>
              <a:rPr dirty="0" sz="2400" spc="-10" b="1">
                <a:solidFill>
                  <a:srgbClr val="E14B04"/>
                </a:solidFill>
                <a:latin typeface="Times New Roman"/>
                <a:cs typeface="Times New Roman"/>
              </a:rPr>
              <a:t>B</a:t>
            </a:r>
            <a:r>
              <a:rPr dirty="0" sz="2400" spc="-10" b="1">
                <a:solidFill>
                  <a:srgbClr val="E14B04"/>
                </a:solidFill>
                <a:latin typeface="宋体"/>
                <a:cs typeface="宋体"/>
              </a:rPr>
              <a:t>－</a:t>
            </a:r>
            <a:r>
              <a:rPr dirty="0" sz="2400" spc="-10" b="1">
                <a:solidFill>
                  <a:srgbClr val="E14B04"/>
                </a:solidFill>
                <a:latin typeface="Times New Roman"/>
                <a:cs typeface="Times New Roman"/>
              </a:rPr>
              <a:t>C</a:t>
            </a:r>
            <a:r>
              <a:rPr dirty="0" sz="2400" spc="-10" b="1">
                <a:solidFill>
                  <a:srgbClr val="E14B04"/>
                </a:solidFill>
                <a:latin typeface="宋体"/>
                <a:cs typeface="宋体"/>
              </a:rPr>
              <a:t>）</a:t>
            </a:r>
            <a:endParaRPr sz="2400">
              <a:latin typeface="宋体"/>
              <a:cs typeface="宋体"/>
            </a:endParaRPr>
          </a:p>
          <a:p>
            <a:pPr algn="r" marL="456565" marR="78740" indent="-456565">
              <a:lnSpc>
                <a:spcPct val="100000"/>
              </a:lnSpc>
              <a:spcBef>
                <a:spcPts val="860"/>
              </a:spcBef>
              <a:buSzPct val="89583"/>
              <a:buFont typeface="Wingdings"/>
              <a:buChar char=""/>
              <a:tabLst>
                <a:tab pos="456565" algn="l"/>
              </a:tabLst>
            </a:pPr>
            <a:r>
              <a:rPr dirty="0" sz="2400" spc="-5">
                <a:solidFill>
                  <a:srgbClr val="40458B"/>
                </a:solidFill>
                <a:latin typeface="黑体"/>
                <a:cs typeface="黑体"/>
              </a:rPr>
              <a:t>向量计算是按行的方式从左到右横向地进行。</a:t>
            </a:r>
            <a:endParaRPr sz="2400">
              <a:latin typeface="黑体"/>
              <a:cs typeface="黑体"/>
            </a:endParaRPr>
          </a:p>
        </p:txBody>
      </p:sp>
      <p:sp>
        <p:nvSpPr>
          <p:cNvPr id="11" name="object 11" descr=""/>
          <p:cNvSpPr txBox="1"/>
          <p:nvPr/>
        </p:nvSpPr>
        <p:spPr>
          <a:xfrm>
            <a:off x="1271142" y="1542135"/>
            <a:ext cx="2147570" cy="817880"/>
          </a:xfrm>
          <a:prstGeom prst="rect">
            <a:avLst/>
          </a:prstGeom>
        </p:spPr>
        <p:txBody>
          <a:bodyPr wrap="square" lIns="0" tIns="104140" rIns="0" bIns="0" rtlCol="0" vert="horz">
            <a:spAutoFit/>
          </a:bodyPr>
          <a:lstStyle/>
          <a:p>
            <a:pPr marL="469265" indent="-456565">
              <a:lnSpc>
                <a:spcPct val="100000"/>
              </a:lnSpc>
              <a:spcBef>
                <a:spcPts val="820"/>
              </a:spcBef>
              <a:buClr>
                <a:srgbClr val="4668F5"/>
              </a:buClr>
              <a:buSzPct val="65000"/>
              <a:buFont typeface="Wingdings"/>
              <a:buChar char=""/>
              <a:tabLst>
                <a:tab pos="469265" algn="l"/>
              </a:tabLst>
            </a:pPr>
            <a:r>
              <a:rPr dirty="0" sz="2000" spc="-10" b="1">
                <a:solidFill>
                  <a:srgbClr val="FF0000"/>
                </a:solidFill>
                <a:latin typeface="宋体"/>
                <a:cs typeface="宋体"/>
              </a:rPr>
              <a:t>先</a:t>
            </a:r>
            <a:r>
              <a:rPr dirty="0" sz="2000" spc="-10" b="1">
                <a:solidFill>
                  <a:srgbClr val="00AFEF"/>
                </a:solidFill>
                <a:latin typeface="宋体"/>
                <a:cs typeface="宋体"/>
              </a:rPr>
              <a:t>计算分量</a:t>
            </a:r>
            <a:r>
              <a:rPr dirty="0" sz="2000" spc="-25" b="1">
                <a:solidFill>
                  <a:srgbClr val="00AFEF"/>
                </a:solidFill>
                <a:latin typeface="宋体"/>
                <a:cs typeface="宋体"/>
              </a:rPr>
              <a:t>1：</a:t>
            </a:r>
            <a:endParaRPr sz="2000">
              <a:latin typeface="宋体"/>
              <a:cs typeface="宋体"/>
            </a:endParaRPr>
          </a:p>
          <a:p>
            <a:pPr marL="469265" indent="-456565">
              <a:lnSpc>
                <a:spcPct val="100000"/>
              </a:lnSpc>
              <a:spcBef>
                <a:spcPts val="720"/>
              </a:spcBef>
              <a:buClr>
                <a:srgbClr val="4668F5"/>
              </a:buClr>
              <a:buSzPct val="65000"/>
              <a:buFont typeface="Wingdings"/>
              <a:buChar char=""/>
              <a:tabLst>
                <a:tab pos="469265" algn="l"/>
              </a:tabLst>
            </a:pPr>
            <a:r>
              <a:rPr dirty="0" sz="2000" spc="-10" b="1">
                <a:solidFill>
                  <a:srgbClr val="FF0000"/>
                </a:solidFill>
                <a:latin typeface="宋体"/>
                <a:cs typeface="宋体"/>
              </a:rPr>
              <a:t>再</a:t>
            </a:r>
            <a:r>
              <a:rPr dirty="0" sz="2000" spc="-10" b="1">
                <a:solidFill>
                  <a:srgbClr val="00AFEF"/>
                </a:solidFill>
                <a:latin typeface="宋体"/>
                <a:cs typeface="宋体"/>
              </a:rPr>
              <a:t>计算分量</a:t>
            </a:r>
            <a:r>
              <a:rPr dirty="0" sz="2000" spc="-25" b="1">
                <a:solidFill>
                  <a:srgbClr val="00AFEF"/>
                </a:solidFill>
                <a:latin typeface="宋体"/>
                <a:cs typeface="宋体"/>
              </a:rPr>
              <a:t>2：</a:t>
            </a:r>
            <a:endParaRPr sz="2000">
              <a:latin typeface="宋体"/>
              <a:cs typeface="宋体"/>
            </a:endParaRPr>
          </a:p>
        </p:txBody>
      </p:sp>
      <p:sp>
        <p:nvSpPr>
          <p:cNvPr id="12" name="object 12" descr=""/>
          <p:cNvSpPr txBox="1"/>
          <p:nvPr/>
        </p:nvSpPr>
        <p:spPr>
          <a:xfrm>
            <a:off x="3751453" y="1542135"/>
            <a:ext cx="1961514" cy="1214120"/>
          </a:xfrm>
          <a:prstGeom prst="rect">
            <a:avLst/>
          </a:prstGeom>
        </p:spPr>
        <p:txBody>
          <a:bodyPr wrap="square" lIns="0" tIns="12700" rIns="0" bIns="0" rtlCol="0" vert="horz">
            <a:spAutoFit/>
          </a:bodyPr>
          <a:lstStyle/>
          <a:p>
            <a:pPr marL="38100" marR="30480">
              <a:lnSpc>
                <a:spcPct val="130000"/>
              </a:lnSpc>
              <a:spcBef>
                <a:spcPts val="100"/>
              </a:spcBef>
            </a:pPr>
            <a:r>
              <a:rPr dirty="0" sz="2000" spc="-10" b="1">
                <a:solidFill>
                  <a:srgbClr val="00AFEF"/>
                </a:solidFill>
                <a:latin typeface="宋体"/>
                <a:cs typeface="宋体"/>
              </a:rPr>
              <a:t>d</a:t>
            </a:r>
            <a:r>
              <a:rPr dirty="0" baseline="-21367" sz="1950" spc="-15" b="1">
                <a:solidFill>
                  <a:srgbClr val="00AFEF"/>
                </a:solidFill>
                <a:latin typeface="宋体"/>
                <a:cs typeface="宋体"/>
              </a:rPr>
              <a:t>1</a:t>
            </a:r>
            <a:r>
              <a:rPr dirty="0" sz="2000" spc="-10" b="1">
                <a:solidFill>
                  <a:srgbClr val="00AFEF"/>
                </a:solidFill>
                <a:latin typeface="宋体"/>
                <a:cs typeface="宋体"/>
              </a:rPr>
              <a:t>←a</a:t>
            </a:r>
            <a:r>
              <a:rPr dirty="0" baseline="-21367" sz="1950" spc="-15" b="1">
                <a:solidFill>
                  <a:srgbClr val="00AFEF"/>
                </a:solidFill>
                <a:latin typeface="宋体"/>
                <a:cs typeface="宋体"/>
              </a:rPr>
              <a:t>1</a:t>
            </a:r>
            <a:r>
              <a:rPr dirty="0" sz="2000" spc="-10" b="1">
                <a:solidFill>
                  <a:srgbClr val="00AFEF"/>
                </a:solidFill>
                <a:latin typeface="宋体"/>
                <a:cs typeface="宋体"/>
              </a:rPr>
              <a:t>×(b</a:t>
            </a:r>
            <a:r>
              <a:rPr dirty="0" baseline="-21367" sz="1950" spc="-15" b="1">
                <a:solidFill>
                  <a:srgbClr val="00AFEF"/>
                </a:solidFill>
                <a:latin typeface="宋体"/>
                <a:cs typeface="宋体"/>
              </a:rPr>
              <a:t>1</a:t>
            </a:r>
            <a:r>
              <a:rPr dirty="0" sz="2000" spc="-10" b="1">
                <a:solidFill>
                  <a:srgbClr val="00AFEF"/>
                </a:solidFill>
                <a:latin typeface="宋体"/>
                <a:cs typeface="宋体"/>
              </a:rPr>
              <a:t>－c</a:t>
            </a:r>
            <a:r>
              <a:rPr dirty="0" baseline="-21367" sz="1950" spc="-15" b="1">
                <a:solidFill>
                  <a:srgbClr val="00AFEF"/>
                </a:solidFill>
                <a:latin typeface="宋体"/>
                <a:cs typeface="宋体"/>
              </a:rPr>
              <a:t>1</a:t>
            </a:r>
            <a:r>
              <a:rPr dirty="0" sz="2000" spc="-10" b="1">
                <a:solidFill>
                  <a:srgbClr val="00AFEF"/>
                </a:solidFill>
                <a:latin typeface="宋体"/>
                <a:cs typeface="宋体"/>
              </a:rPr>
              <a:t>) d</a:t>
            </a:r>
            <a:r>
              <a:rPr dirty="0" baseline="-21367" sz="1950" spc="-15" b="1">
                <a:solidFill>
                  <a:srgbClr val="00AFEF"/>
                </a:solidFill>
                <a:latin typeface="宋体"/>
                <a:cs typeface="宋体"/>
              </a:rPr>
              <a:t>2</a:t>
            </a:r>
            <a:r>
              <a:rPr dirty="0" sz="2000" spc="-10" b="1">
                <a:solidFill>
                  <a:srgbClr val="00AFEF"/>
                </a:solidFill>
                <a:latin typeface="宋体"/>
                <a:cs typeface="宋体"/>
              </a:rPr>
              <a:t>←a</a:t>
            </a:r>
            <a:r>
              <a:rPr dirty="0" baseline="-21367" sz="1950" spc="-15" b="1">
                <a:solidFill>
                  <a:srgbClr val="00AFEF"/>
                </a:solidFill>
                <a:latin typeface="宋体"/>
                <a:cs typeface="宋体"/>
              </a:rPr>
              <a:t>2</a:t>
            </a:r>
            <a:r>
              <a:rPr dirty="0" sz="2000" spc="-10" b="1">
                <a:solidFill>
                  <a:srgbClr val="00AFEF"/>
                </a:solidFill>
                <a:latin typeface="宋体"/>
                <a:cs typeface="宋体"/>
              </a:rPr>
              <a:t>×(b</a:t>
            </a:r>
            <a:r>
              <a:rPr dirty="0" baseline="-21367" sz="1950" spc="-15" b="1">
                <a:solidFill>
                  <a:srgbClr val="00AFEF"/>
                </a:solidFill>
                <a:latin typeface="宋体"/>
                <a:cs typeface="宋体"/>
              </a:rPr>
              <a:t>2</a:t>
            </a:r>
            <a:r>
              <a:rPr dirty="0" sz="2000" spc="-10" b="1">
                <a:solidFill>
                  <a:srgbClr val="00AFEF"/>
                </a:solidFill>
                <a:latin typeface="宋体"/>
                <a:cs typeface="宋体"/>
              </a:rPr>
              <a:t>－c</a:t>
            </a:r>
            <a:r>
              <a:rPr dirty="0" baseline="-21367" sz="1950" spc="-15" b="1">
                <a:solidFill>
                  <a:srgbClr val="00AFEF"/>
                </a:solidFill>
                <a:latin typeface="宋体"/>
                <a:cs typeface="宋体"/>
              </a:rPr>
              <a:t>2</a:t>
            </a:r>
            <a:r>
              <a:rPr dirty="0" sz="2000" spc="-10" b="1">
                <a:solidFill>
                  <a:srgbClr val="00AFEF"/>
                </a:solidFill>
                <a:latin typeface="宋体"/>
                <a:cs typeface="宋体"/>
              </a:rPr>
              <a:t>)</a:t>
            </a:r>
            <a:endParaRPr sz="2000">
              <a:latin typeface="宋体"/>
              <a:cs typeface="宋体"/>
            </a:endParaRPr>
          </a:p>
          <a:p>
            <a:pPr marL="48895">
              <a:lnSpc>
                <a:spcPct val="100000"/>
              </a:lnSpc>
              <a:spcBef>
                <a:spcPts val="720"/>
              </a:spcBef>
            </a:pPr>
            <a:r>
              <a:rPr dirty="0" sz="2000" spc="-25" b="1">
                <a:solidFill>
                  <a:srgbClr val="00AFEF"/>
                </a:solidFill>
                <a:latin typeface="宋体"/>
                <a:cs typeface="宋体"/>
              </a:rPr>
              <a:t>……</a:t>
            </a:r>
            <a:endParaRPr sz="2000">
              <a:latin typeface="宋体"/>
              <a:cs typeface="宋体"/>
            </a:endParaRPr>
          </a:p>
        </p:txBody>
      </p:sp>
      <p:sp>
        <p:nvSpPr>
          <p:cNvPr id="13" name="object 13" descr=""/>
          <p:cNvSpPr txBox="1"/>
          <p:nvPr/>
        </p:nvSpPr>
        <p:spPr>
          <a:xfrm>
            <a:off x="1271142" y="2512313"/>
            <a:ext cx="191135" cy="226695"/>
          </a:xfrm>
          <a:prstGeom prst="rect">
            <a:avLst/>
          </a:prstGeom>
        </p:spPr>
        <p:txBody>
          <a:bodyPr wrap="square" lIns="0" tIns="15240" rIns="0" bIns="0" rtlCol="0" vert="horz">
            <a:spAutoFit/>
          </a:bodyPr>
          <a:lstStyle/>
          <a:p>
            <a:pPr marL="12700">
              <a:lnSpc>
                <a:spcPct val="100000"/>
              </a:lnSpc>
              <a:spcBef>
                <a:spcPts val="120"/>
              </a:spcBef>
            </a:pPr>
            <a:r>
              <a:rPr dirty="0" sz="1300" spc="-50">
                <a:solidFill>
                  <a:srgbClr val="4668F5"/>
                </a:solidFill>
                <a:latin typeface="Wingdings"/>
                <a:cs typeface="Wingdings"/>
              </a:rPr>
              <a:t></a:t>
            </a:r>
            <a:endParaRPr sz="1300">
              <a:latin typeface="Wingdings"/>
              <a:cs typeface="Wingdings"/>
            </a:endParaRPr>
          </a:p>
        </p:txBody>
      </p:sp>
      <p:sp>
        <p:nvSpPr>
          <p:cNvPr id="14" name="object 14" descr=""/>
          <p:cNvSpPr txBox="1"/>
          <p:nvPr/>
        </p:nvSpPr>
        <p:spPr>
          <a:xfrm>
            <a:off x="1245742" y="2821381"/>
            <a:ext cx="4478655" cy="331470"/>
          </a:xfrm>
          <a:prstGeom prst="rect">
            <a:avLst/>
          </a:prstGeom>
        </p:spPr>
        <p:txBody>
          <a:bodyPr wrap="square" lIns="0" tIns="13335" rIns="0" bIns="0" rtlCol="0" vert="horz">
            <a:spAutoFit/>
          </a:bodyPr>
          <a:lstStyle/>
          <a:p>
            <a:pPr marL="494665" indent="-456565">
              <a:lnSpc>
                <a:spcPct val="100000"/>
              </a:lnSpc>
              <a:spcBef>
                <a:spcPts val="105"/>
              </a:spcBef>
              <a:buClr>
                <a:srgbClr val="4668F5"/>
              </a:buClr>
              <a:buSzPct val="65000"/>
              <a:buFont typeface="Wingdings"/>
              <a:buChar char=""/>
              <a:tabLst>
                <a:tab pos="494665" algn="l"/>
              </a:tabLst>
            </a:pPr>
            <a:r>
              <a:rPr dirty="0" sz="2000" spc="-15" b="1">
                <a:solidFill>
                  <a:srgbClr val="FF0000"/>
                </a:solidFill>
                <a:latin typeface="宋体"/>
                <a:cs typeface="宋体"/>
              </a:rPr>
              <a:t>最后</a:t>
            </a:r>
            <a:r>
              <a:rPr dirty="0" sz="2000" spc="-15" b="1">
                <a:solidFill>
                  <a:srgbClr val="00AFEF"/>
                </a:solidFill>
                <a:latin typeface="宋体"/>
                <a:cs typeface="宋体"/>
              </a:rPr>
              <a:t>计算分量</a:t>
            </a:r>
            <a:r>
              <a:rPr dirty="0" sz="2000" b="1">
                <a:solidFill>
                  <a:srgbClr val="00AFEF"/>
                </a:solidFill>
                <a:latin typeface="宋体"/>
                <a:cs typeface="宋体"/>
              </a:rPr>
              <a:t>n</a:t>
            </a:r>
            <a:r>
              <a:rPr dirty="0" sz="2000" spc="-20" b="1">
                <a:solidFill>
                  <a:srgbClr val="00AFEF"/>
                </a:solidFill>
                <a:latin typeface="宋体"/>
                <a:cs typeface="宋体"/>
              </a:rPr>
              <a:t>： </a:t>
            </a:r>
            <a:r>
              <a:rPr dirty="0" sz="2000" spc="-10" b="1">
                <a:solidFill>
                  <a:srgbClr val="00AFEF"/>
                </a:solidFill>
                <a:latin typeface="宋体"/>
                <a:cs typeface="宋体"/>
              </a:rPr>
              <a:t>d</a:t>
            </a:r>
            <a:r>
              <a:rPr dirty="0" baseline="-21367" sz="1950" spc="-15" b="1">
                <a:solidFill>
                  <a:srgbClr val="00AFEF"/>
                </a:solidFill>
                <a:latin typeface="宋体"/>
                <a:cs typeface="宋体"/>
              </a:rPr>
              <a:t>N</a:t>
            </a:r>
            <a:r>
              <a:rPr dirty="0" sz="2000" spc="-10" b="1">
                <a:solidFill>
                  <a:srgbClr val="00AFEF"/>
                </a:solidFill>
                <a:latin typeface="宋体"/>
                <a:cs typeface="宋体"/>
              </a:rPr>
              <a:t>←a</a:t>
            </a:r>
            <a:r>
              <a:rPr dirty="0" baseline="-21367" sz="1950" spc="-15" b="1">
                <a:solidFill>
                  <a:srgbClr val="00AFEF"/>
                </a:solidFill>
                <a:latin typeface="宋体"/>
                <a:cs typeface="宋体"/>
              </a:rPr>
              <a:t>N</a:t>
            </a:r>
            <a:r>
              <a:rPr dirty="0" sz="2000" spc="-10" b="1">
                <a:solidFill>
                  <a:srgbClr val="00AFEF"/>
                </a:solidFill>
                <a:latin typeface="宋体"/>
                <a:cs typeface="宋体"/>
              </a:rPr>
              <a:t>×(b</a:t>
            </a:r>
            <a:r>
              <a:rPr dirty="0" baseline="-21367" sz="1950" spc="-15" b="1">
                <a:solidFill>
                  <a:srgbClr val="00AFEF"/>
                </a:solidFill>
                <a:latin typeface="宋体"/>
                <a:cs typeface="宋体"/>
              </a:rPr>
              <a:t>N</a:t>
            </a:r>
            <a:r>
              <a:rPr dirty="0" sz="2000" spc="-10" b="1">
                <a:solidFill>
                  <a:srgbClr val="00AFEF"/>
                </a:solidFill>
                <a:latin typeface="宋体"/>
                <a:cs typeface="宋体"/>
              </a:rPr>
              <a:t>－c</a:t>
            </a:r>
            <a:r>
              <a:rPr dirty="0" baseline="-21367" sz="1950" spc="-15" b="1">
                <a:solidFill>
                  <a:srgbClr val="00AFEF"/>
                </a:solidFill>
                <a:latin typeface="宋体"/>
                <a:cs typeface="宋体"/>
              </a:rPr>
              <a:t>N</a:t>
            </a:r>
            <a:r>
              <a:rPr dirty="0" sz="2000" spc="-10" b="1">
                <a:solidFill>
                  <a:srgbClr val="00AFEF"/>
                </a:solidFill>
                <a:latin typeface="宋体"/>
                <a:cs typeface="宋体"/>
              </a:rPr>
              <a:t>)</a:t>
            </a:r>
            <a:endParaRPr sz="2000">
              <a:latin typeface="宋体"/>
              <a:cs typeface="宋体"/>
            </a:endParaRPr>
          </a:p>
        </p:txBody>
      </p:sp>
      <p:sp>
        <p:nvSpPr>
          <p:cNvPr id="15" name="object 15" descr=""/>
          <p:cNvSpPr txBox="1"/>
          <p:nvPr/>
        </p:nvSpPr>
        <p:spPr>
          <a:xfrm>
            <a:off x="617829" y="3113561"/>
            <a:ext cx="3898900" cy="1307465"/>
          </a:xfrm>
          <a:prstGeom prst="rect">
            <a:avLst/>
          </a:prstGeom>
        </p:spPr>
        <p:txBody>
          <a:bodyPr wrap="square" lIns="0" tIns="129540" rIns="0" bIns="0" rtlCol="0" vert="horz">
            <a:spAutoFit/>
          </a:bodyPr>
          <a:lstStyle/>
          <a:p>
            <a:pPr marL="494665" indent="-456565">
              <a:lnSpc>
                <a:spcPct val="100000"/>
              </a:lnSpc>
              <a:spcBef>
                <a:spcPts val="1020"/>
              </a:spcBef>
              <a:buSzPct val="89583"/>
              <a:buFont typeface="Wingdings"/>
              <a:buChar char=""/>
              <a:tabLst>
                <a:tab pos="494665" algn="l"/>
              </a:tabLst>
            </a:pPr>
            <a:r>
              <a:rPr dirty="0" sz="2400" spc="-5">
                <a:solidFill>
                  <a:srgbClr val="40458B"/>
                </a:solidFill>
                <a:latin typeface="黑体"/>
                <a:cs typeface="黑体"/>
              </a:rPr>
              <a:t>组成循环程序进行处理。</a:t>
            </a:r>
            <a:endParaRPr sz="2400">
              <a:latin typeface="黑体"/>
              <a:cs typeface="黑体"/>
            </a:endParaRPr>
          </a:p>
          <a:p>
            <a:pPr algn="ctr" marL="134620">
              <a:lnSpc>
                <a:spcPct val="100000"/>
              </a:lnSpc>
              <a:spcBef>
                <a:spcPts val="770"/>
              </a:spcBef>
            </a:pPr>
            <a:r>
              <a:rPr dirty="0" sz="2000" spc="-10" b="1">
                <a:solidFill>
                  <a:srgbClr val="00AFEF"/>
                </a:solidFill>
                <a:latin typeface="宋体"/>
                <a:cs typeface="宋体"/>
              </a:rPr>
              <a:t>q</a:t>
            </a:r>
            <a:r>
              <a:rPr dirty="0" baseline="-21367" sz="1950" spc="-15" b="1">
                <a:solidFill>
                  <a:srgbClr val="00AFEF"/>
                </a:solidFill>
                <a:latin typeface="宋体"/>
                <a:cs typeface="宋体"/>
              </a:rPr>
              <a:t>i</a:t>
            </a:r>
            <a:r>
              <a:rPr dirty="0" sz="2000" spc="-10" b="1">
                <a:solidFill>
                  <a:srgbClr val="00AFEF"/>
                </a:solidFill>
                <a:latin typeface="宋体"/>
                <a:cs typeface="宋体"/>
              </a:rPr>
              <a:t>←b</a:t>
            </a:r>
            <a:r>
              <a:rPr dirty="0" baseline="-21367" sz="1950" spc="-15" b="1">
                <a:solidFill>
                  <a:srgbClr val="00AFEF"/>
                </a:solidFill>
                <a:latin typeface="宋体"/>
                <a:cs typeface="宋体"/>
              </a:rPr>
              <a:t>i</a:t>
            </a:r>
            <a:r>
              <a:rPr dirty="0" sz="2000" spc="-10" b="1">
                <a:solidFill>
                  <a:srgbClr val="00AFEF"/>
                </a:solidFill>
                <a:latin typeface="宋体"/>
                <a:cs typeface="宋体"/>
              </a:rPr>
              <a:t>－c</a:t>
            </a:r>
            <a:r>
              <a:rPr dirty="0" baseline="-21367" sz="1950" spc="-15" b="1">
                <a:solidFill>
                  <a:srgbClr val="00AFEF"/>
                </a:solidFill>
                <a:latin typeface="宋体"/>
                <a:cs typeface="宋体"/>
              </a:rPr>
              <a:t>i</a:t>
            </a:r>
            <a:endParaRPr baseline="-21367" sz="1950">
              <a:latin typeface="宋体"/>
              <a:cs typeface="宋体"/>
            </a:endParaRPr>
          </a:p>
          <a:p>
            <a:pPr algn="ctr" marL="134620">
              <a:lnSpc>
                <a:spcPct val="100000"/>
              </a:lnSpc>
              <a:spcBef>
                <a:spcPts val="720"/>
              </a:spcBef>
            </a:pPr>
            <a:r>
              <a:rPr dirty="0" sz="2000" spc="-10" b="1">
                <a:solidFill>
                  <a:srgbClr val="00AFEF"/>
                </a:solidFill>
                <a:latin typeface="宋体"/>
                <a:cs typeface="宋体"/>
              </a:rPr>
              <a:t>d</a:t>
            </a:r>
            <a:r>
              <a:rPr dirty="0" baseline="-21367" sz="1950" spc="-15" b="1">
                <a:solidFill>
                  <a:srgbClr val="00AFEF"/>
                </a:solidFill>
                <a:latin typeface="宋体"/>
                <a:cs typeface="宋体"/>
              </a:rPr>
              <a:t>i</a:t>
            </a:r>
            <a:r>
              <a:rPr dirty="0" sz="2000" spc="-10" b="1">
                <a:solidFill>
                  <a:srgbClr val="00AFEF"/>
                </a:solidFill>
                <a:latin typeface="宋体"/>
                <a:cs typeface="宋体"/>
              </a:rPr>
              <a:t>←q</a:t>
            </a:r>
            <a:r>
              <a:rPr dirty="0" baseline="-21367" sz="1950" spc="-15" b="1">
                <a:solidFill>
                  <a:srgbClr val="00AFEF"/>
                </a:solidFill>
                <a:latin typeface="宋体"/>
                <a:cs typeface="宋体"/>
              </a:rPr>
              <a:t>i</a:t>
            </a:r>
            <a:r>
              <a:rPr dirty="0" sz="2000" spc="-10" b="1">
                <a:solidFill>
                  <a:srgbClr val="00AFEF"/>
                </a:solidFill>
                <a:latin typeface="宋体"/>
                <a:cs typeface="宋体"/>
              </a:rPr>
              <a:t>×a</a:t>
            </a:r>
            <a:r>
              <a:rPr dirty="0" baseline="-21367" sz="1950" spc="-15" b="1">
                <a:solidFill>
                  <a:srgbClr val="00AFEF"/>
                </a:solidFill>
                <a:latin typeface="宋体"/>
                <a:cs typeface="宋体"/>
              </a:rPr>
              <a:t>i</a:t>
            </a:r>
            <a:endParaRPr baseline="-21367" sz="1950">
              <a:latin typeface="宋体"/>
              <a:cs typeface="宋体"/>
            </a:endParaRPr>
          </a:p>
        </p:txBody>
      </p:sp>
      <p:sp>
        <p:nvSpPr>
          <p:cNvPr id="16" name="object 16" descr=""/>
          <p:cNvSpPr txBox="1"/>
          <p:nvPr/>
        </p:nvSpPr>
        <p:spPr>
          <a:xfrm>
            <a:off x="643229" y="4400378"/>
            <a:ext cx="8445500" cy="1764030"/>
          </a:xfrm>
          <a:prstGeom prst="rect">
            <a:avLst/>
          </a:prstGeom>
        </p:spPr>
        <p:txBody>
          <a:bodyPr wrap="square" lIns="0" tIns="99060" rIns="0" bIns="0" rtlCol="0" vert="horz">
            <a:spAutoFit/>
          </a:bodyPr>
          <a:lstStyle/>
          <a:p>
            <a:pPr marL="1097280" indent="-457200">
              <a:lnSpc>
                <a:spcPct val="100000"/>
              </a:lnSpc>
              <a:spcBef>
                <a:spcPts val="780"/>
              </a:spcBef>
              <a:buClr>
                <a:srgbClr val="4668F5"/>
              </a:buClr>
              <a:buSzPct val="65000"/>
              <a:buFont typeface="Wingdings"/>
              <a:buChar char=""/>
              <a:tabLst>
                <a:tab pos="1097280" algn="l"/>
                <a:tab pos="3145790" algn="l"/>
              </a:tabLst>
            </a:pPr>
            <a:r>
              <a:rPr dirty="0" sz="2000" spc="-10" b="1">
                <a:solidFill>
                  <a:srgbClr val="00AFEF"/>
                </a:solidFill>
                <a:latin typeface="宋体"/>
                <a:cs typeface="宋体"/>
              </a:rPr>
              <a:t>数据相关</a:t>
            </a:r>
            <a:r>
              <a:rPr dirty="0" sz="2000" spc="-20" b="1">
                <a:solidFill>
                  <a:srgbClr val="00AFEF"/>
                </a:solidFill>
                <a:latin typeface="宋体"/>
                <a:cs typeface="宋体"/>
              </a:rPr>
              <a:t>：</a:t>
            </a:r>
            <a:r>
              <a:rPr dirty="0" sz="2000" spc="-20" b="1">
                <a:solidFill>
                  <a:srgbClr val="D50092"/>
                </a:solidFill>
                <a:latin typeface="宋体"/>
                <a:cs typeface="宋体"/>
              </a:rPr>
              <a:t>N</a:t>
            </a:r>
            <a:r>
              <a:rPr dirty="0" sz="2000" spc="-50" b="1">
                <a:solidFill>
                  <a:srgbClr val="D50092"/>
                </a:solidFill>
                <a:latin typeface="宋体"/>
                <a:cs typeface="宋体"/>
              </a:rPr>
              <a:t>次</a:t>
            </a:r>
            <a:r>
              <a:rPr dirty="0" sz="2000" b="1">
                <a:solidFill>
                  <a:srgbClr val="D50092"/>
                </a:solidFill>
                <a:latin typeface="宋体"/>
                <a:cs typeface="宋体"/>
              </a:rPr>
              <a:t>	</a:t>
            </a:r>
            <a:r>
              <a:rPr dirty="0" sz="2000" spc="-10" b="1">
                <a:solidFill>
                  <a:srgbClr val="00AFEF"/>
                </a:solidFill>
                <a:latin typeface="宋体"/>
                <a:cs typeface="宋体"/>
              </a:rPr>
              <a:t>功能切换：</a:t>
            </a:r>
            <a:r>
              <a:rPr dirty="0" sz="2000" spc="-10" b="1">
                <a:solidFill>
                  <a:srgbClr val="D50092"/>
                </a:solidFill>
                <a:latin typeface="宋体"/>
                <a:cs typeface="宋体"/>
              </a:rPr>
              <a:t>2N次</a:t>
            </a:r>
            <a:r>
              <a:rPr dirty="0" sz="2000" spc="-15" b="1">
                <a:solidFill>
                  <a:srgbClr val="D50092"/>
                </a:solidFill>
                <a:latin typeface="宋体"/>
                <a:cs typeface="宋体"/>
              </a:rPr>
              <a:t>(</a:t>
            </a:r>
            <a:r>
              <a:rPr dirty="0" sz="2000" spc="-10" b="1">
                <a:solidFill>
                  <a:srgbClr val="D50092"/>
                </a:solidFill>
                <a:latin typeface="宋体"/>
                <a:cs typeface="宋体"/>
              </a:rPr>
              <a:t>联系</a:t>
            </a:r>
            <a:r>
              <a:rPr dirty="0" sz="2000" spc="-20" b="1">
                <a:solidFill>
                  <a:srgbClr val="D50092"/>
                </a:solidFill>
                <a:latin typeface="宋体"/>
                <a:cs typeface="宋体"/>
              </a:rPr>
              <a:t>循</a:t>
            </a:r>
            <a:r>
              <a:rPr dirty="0" sz="2000" spc="-10" b="1">
                <a:solidFill>
                  <a:srgbClr val="D50092"/>
                </a:solidFill>
                <a:latin typeface="宋体"/>
                <a:cs typeface="宋体"/>
              </a:rPr>
              <a:t>环过</a:t>
            </a:r>
            <a:r>
              <a:rPr dirty="0" sz="2000" spc="-20" b="1">
                <a:solidFill>
                  <a:srgbClr val="D50092"/>
                </a:solidFill>
                <a:latin typeface="宋体"/>
                <a:cs typeface="宋体"/>
              </a:rPr>
              <a:t>程</a:t>
            </a:r>
            <a:r>
              <a:rPr dirty="0" sz="2000" spc="-50" b="1">
                <a:solidFill>
                  <a:srgbClr val="D50092"/>
                </a:solidFill>
                <a:latin typeface="宋体"/>
                <a:cs typeface="宋体"/>
              </a:rPr>
              <a:t>）</a:t>
            </a:r>
            <a:endParaRPr sz="2000">
              <a:latin typeface="宋体"/>
              <a:cs typeface="宋体"/>
            </a:endParaRPr>
          </a:p>
          <a:p>
            <a:pPr marL="469265" indent="-456565">
              <a:lnSpc>
                <a:spcPct val="100000"/>
              </a:lnSpc>
              <a:spcBef>
                <a:spcPts val="810"/>
              </a:spcBef>
              <a:buSzPct val="89583"/>
              <a:buFont typeface="Wingdings"/>
              <a:buChar char=""/>
              <a:tabLst>
                <a:tab pos="469265" algn="l"/>
              </a:tabLst>
            </a:pPr>
            <a:r>
              <a:rPr dirty="0" sz="2400">
                <a:solidFill>
                  <a:srgbClr val="40458B"/>
                </a:solidFill>
                <a:latin typeface="黑体"/>
                <a:cs typeface="黑体"/>
              </a:rPr>
              <a:t>可采用循环实现，但流水线冲突频繁（频繁出现</a:t>
            </a:r>
            <a:r>
              <a:rPr dirty="0" sz="2400" spc="-10">
                <a:solidFill>
                  <a:srgbClr val="40458B"/>
                </a:solidFill>
                <a:latin typeface="Tahoma"/>
                <a:cs typeface="Tahoma"/>
              </a:rPr>
              <a:t>RAW</a:t>
            </a:r>
            <a:r>
              <a:rPr dirty="0" sz="2400">
                <a:solidFill>
                  <a:srgbClr val="40458B"/>
                </a:solidFill>
                <a:latin typeface="黑体"/>
                <a:cs typeface="黑体"/>
              </a:rPr>
              <a:t>冲突</a:t>
            </a:r>
            <a:r>
              <a:rPr dirty="0" sz="2400" spc="-50">
                <a:solidFill>
                  <a:srgbClr val="40458B"/>
                </a:solidFill>
                <a:latin typeface="黑体"/>
                <a:cs typeface="黑体"/>
              </a:rPr>
              <a:t>）</a:t>
            </a:r>
            <a:endParaRPr sz="2400">
              <a:latin typeface="黑体"/>
              <a:cs typeface="黑体"/>
            </a:endParaRPr>
          </a:p>
          <a:p>
            <a:pPr marL="469265" indent="-456565">
              <a:lnSpc>
                <a:spcPct val="100000"/>
              </a:lnSpc>
              <a:spcBef>
                <a:spcPts val="865"/>
              </a:spcBef>
              <a:buSzPct val="89583"/>
              <a:buFont typeface="Wingdings"/>
              <a:buChar char=""/>
              <a:tabLst>
                <a:tab pos="469265" algn="l"/>
              </a:tabLst>
            </a:pPr>
            <a:r>
              <a:rPr dirty="0" sz="2400" spc="-15">
                <a:solidFill>
                  <a:srgbClr val="40458B"/>
                </a:solidFill>
                <a:latin typeface="黑体"/>
                <a:cs typeface="黑体"/>
              </a:rPr>
              <a:t>数据相关和功能切换随着向量长度增长而增长，硬件开销过</a:t>
            </a:r>
            <a:endParaRPr sz="2400">
              <a:latin typeface="黑体"/>
              <a:cs typeface="黑体"/>
            </a:endParaRPr>
          </a:p>
          <a:p>
            <a:pPr marL="469265">
              <a:lnSpc>
                <a:spcPct val="100000"/>
              </a:lnSpc>
              <a:spcBef>
                <a:spcPts val="290"/>
              </a:spcBef>
            </a:pPr>
            <a:r>
              <a:rPr dirty="0" sz="2400" spc="-5">
                <a:solidFill>
                  <a:srgbClr val="40458B"/>
                </a:solidFill>
                <a:latin typeface="黑体"/>
                <a:cs typeface="黑体"/>
              </a:rPr>
              <a:t>大，不适合于向量处理机的并行处理。</a:t>
            </a:r>
            <a:endParaRPr sz="2400">
              <a:latin typeface="黑体"/>
              <a:cs typeface="黑体"/>
            </a:endParaRPr>
          </a:p>
        </p:txBody>
      </p:sp>
      <p:pic>
        <p:nvPicPr>
          <p:cNvPr id="17" name="object 17" descr=""/>
          <p:cNvPicPr/>
          <p:nvPr/>
        </p:nvPicPr>
        <p:blipFill>
          <a:blip r:embed="rId2" cstate="print"/>
          <a:stretch>
            <a:fillRect/>
          </a:stretch>
        </p:blipFill>
        <p:spPr>
          <a:xfrm>
            <a:off x="6011926" y="1528699"/>
            <a:ext cx="2739898" cy="1279525"/>
          </a:xfrm>
          <a:prstGeom prst="rect">
            <a:avLst/>
          </a:prstGeom>
        </p:spPr>
      </p:pic>
      <p:grpSp>
        <p:nvGrpSpPr>
          <p:cNvPr id="18" name="object 18" descr=""/>
          <p:cNvGrpSpPr/>
          <p:nvPr/>
        </p:nvGrpSpPr>
        <p:grpSpPr>
          <a:xfrm>
            <a:off x="5862637" y="2882963"/>
            <a:ext cx="3209925" cy="1522730"/>
            <a:chOff x="5862637" y="2882963"/>
            <a:chExt cx="3209925" cy="1522730"/>
          </a:xfrm>
        </p:grpSpPr>
        <p:sp>
          <p:nvSpPr>
            <p:cNvPr id="19" name="object 19" descr=""/>
            <p:cNvSpPr/>
            <p:nvPr/>
          </p:nvSpPr>
          <p:spPr>
            <a:xfrm>
              <a:off x="5867400" y="2887726"/>
              <a:ext cx="3200400" cy="1513205"/>
            </a:xfrm>
            <a:custGeom>
              <a:avLst/>
              <a:gdLst/>
              <a:ahLst/>
              <a:cxnLst/>
              <a:rect l="l" t="t" r="r" b="b"/>
              <a:pathLst>
                <a:path w="3200400" h="1513204">
                  <a:moveTo>
                    <a:pt x="3200400" y="0"/>
                  </a:moveTo>
                  <a:lnTo>
                    <a:pt x="0" y="0"/>
                  </a:lnTo>
                  <a:lnTo>
                    <a:pt x="0" y="1512824"/>
                  </a:lnTo>
                  <a:lnTo>
                    <a:pt x="3200400" y="1512824"/>
                  </a:lnTo>
                  <a:lnTo>
                    <a:pt x="3200400" y="0"/>
                  </a:lnTo>
                  <a:close/>
                </a:path>
              </a:pathLst>
            </a:custGeom>
            <a:solidFill>
              <a:srgbClr val="D4D6EB"/>
            </a:solidFill>
          </p:spPr>
          <p:txBody>
            <a:bodyPr wrap="square" lIns="0" tIns="0" rIns="0" bIns="0" rtlCol="0"/>
            <a:lstStyle/>
            <a:p/>
          </p:txBody>
        </p:sp>
        <p:sp>
          <p:nvSpPr>
            <p:cNvPr id="20" name="object 20" descr=""/>
            <p:cNvSpPr/>
            <p:nvPr/>
          </p:nvSpPr>
          <p:spPr>
            <a:xfrm>
              <a:off x="5867400" y="2887726"/>
              <a:ext cx="3200400" cy="1513205"/>
            </a:xfrm>
            <a:custGeom>
              <a:avLst/>
              <a:gdLst/>
              <a:ahLst/>
              <a:cxnLst/>
              <a:rect l="l" t="t" r="r" b="b"/>
              <a:pathLst>
                <a:path w="3200400" h="1513204">
                  <a:moveTo>
                    <a:pt x="0" y="1512824"/>
                  </a:moveTo>
                  <a:lnTo>
                    <a:pt x="3200400" y="1512824"/>
                  </a:lnTo>
                  <a:lnTo>
                    <a:pt x="3200400" y="0"/>
                  </a:lnTo>
                  <a:lnTo>
                    <a:pt x="0" y="0"/>
                  </a:lnTo>
                  <a:lnTo>
                    <a:pt x="0" y="1512824"/>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6137528" y="2920949"/>
            <a:ext cx="297561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for</a:t>
            </a:r>
            <a:r>
              <a:rPr dirty="0" sz="2400" spc="-45">
                <a:solidFill>
                  <a:srgbClr val="40458B"/>
                </a:solidFill>
                <a:latin typeface="Tahoma"/>
                <a:cs typeface="Tahoma"/>
              </a:rPr>
              <a:t> </a:t>
            </a:r>
            <a:r>
              <a:rPr dirty="0" sz="2400" spc="-10">
                <a:solidFill>
                  <a:srgbClr val="40458B"/>
                </a:solidFill>
                <a:latin typeface="黑体"/>
                <a:cs typeface="黑体"/>
              </a:rPr>
              <a:t>（</a:t>
            </a:r>
            <a:r>
              <a:rPr dirty="0" sz="2400" spc="-10">
                <a:solidFill>
                  <a:srgbClr val="40458B"/>
                </a:solidFill>
                <a:latin typeface="Tahoma"/>
                <a:cs typeface="Tahoma"/>
              </a:rPr>
              <a:t>i=1;i&lt;=n;i++</a:t>
            </a:r>
            <a:r>
              <a:rPr dirty="0" sz="2400" spc="-10">
                <a:solidFill>
                  <a:srgbClr val="40458B"/>
                </a:solidFill>
                <a:latin typeface="黑体"/>
                <a:cs typeface="黑体"/>
              </a:rPr>
              <a:t>）</a:t>
            </a:r>
            <a:endParaRPr sz="2400">
              <a:latin typeface="黑体"/>
              <a:cs typeface="黑体"/>
            </a:endParaRPr>
          </a:p>
        </p:txBody>
      </p:sp>
      <p:sp>
        <p:nvSpPr>
          <p:cNvPr id="22" name="object 22" descr=""/>
          <p:cNvSpPr txBox="1"/>
          <p:nvPr/>
        </p:nvSpPr>
        <p:spPr>
          <a:xfrm>
            <a:off x="6397116" y="3285871"/>
            <a:ext cx="1591310" cy="1122680"/>
          </a:xfrm>
          <a:prstGeom prst="rect">
            <a:avLst/>
          </a:prstGeom>
        </p:spPr>
        <p:txBody>
          <a:bodyPr wrap="square" lIns="0" tIns="12700" rIns="0" bIns="0" rtlCol="0" vert="horz">
            <a:spAutoFit/>
          </a:bodyPr>
          <a:lstStyle/>
          <a:p>
            <a:pPr marL="324485" marR="30480" indent="-287020">
              <a:lnSpc>
                <a:spcPct val="100000"/>
              </a:lnSpc>
              <a:spcBef>
                <a:spcPts val="100"/>
              </a:spcBef>
            </a:pPr>
            <a:r>
              <a:rPr dirty="0" sz="2400">
                <a:solidFill>
                  <a:srgbClr val="40458B"/>
                </a:solidFill>
                <a:latin typeface="Tahoma"/>
                <a:cs typeface="Tahoma"/>
              </a:rPr>
              <a:t>{q</a:t>
            </a:r>
            <a:r>
              <a:rPr dirty="0" baseline="-20833" sz="2400">
                <a:solidFill>
                  <a:srgbClr val="40458B"/>
                </a:solidFill>
                <a:latin typeface="Tahoma"/>
                <a:cs typeface="Tahoma"/>
              </a:rPr>
              <a:t>i</a:t>
            </a:r>
            <a:r>
              <a:rPr dirty="0" sz="2400">
                <a:solidFill>
                  <a:srgbClr val="40458B"/>
                </a:solidFill>
                <a:latin typeface="Tahoma"/>
                <a:cs typeface="Tahoma"/>
              </a:rPr>
              <a:t>=</a:t>
            </a:r>
            <a:r>
              <a:rPr dirty="0" sz="2400" spc="-10">
                <a:solidFill>
                  <a:srgbClr val="40458B"/>
                </a:solidFill>
                <a:latin typeface="Tahoma"/>
                <a:cs typeface="Tahoma"/>
              </a:rPr>
              <a:t> b</a:t>
            </a:r>
            <a:r>
              <a:rPr dirty="0" baseline="-20833" sz="2400" spc="-15">
                <a:solidFill>
                  <a:srgbClr val="40458B"/>
                </a:solidFill>
                <a:latin typeface="Tahoma"/>
                <a:cs typeface="Tahoma"/>
              </a:rPr>
              <a:t>i</a:t>
            </a:r>
            <a:r>
              <a:rPr dirty="0" sz="2400" spc="-10">
                <a:solidFill>
                  <a:srgbClr val="40458B"/>
                </a:solidFill>
                <a:latin typeface="Tahoma"/>
                <a:cs typeface="Tahoma"/>
              </a:rPr>
              <a:t>-</a:t>
            </a:r>
            <a:r>
              <a:rPr dirty="0" sz="2400" spc="-25">
                <a:solidFill>
                  <a:srgbClr val="40458B"/>
                </a:solidFill>
                <a:latin typeface="Tahoma"/>
                <a:cs typeface="Tahoma"/>
              </a:rPr>
              <a:t>c</a:t>
            </a:r>
            <a:r>
              <a:rPr dirty="0" baseline="-20833" sz="2400" spc="-37">
                <a:solidFill>
                  <a:srgbClr val="40458B"/>
                </a:solidFill>
                <a:latin typeface="Tahoma"/>
                <a:cs typeface="Tahoma"/>
              </a:rPr>
              <a:t>i</a:t>
            </a:r>
            <a:r>
              <a:rPr dirty="0" sz="2400" spc="-25">
                <a:solidFill>
                  <a:srgbClr val="40458B"/>
                </a:solidFill>
                <a:latin typeface="Tahoma"/>
                <a:cs typeface="Tahoma"/>
              </a:rPr>
              <a:t>; </a:t>
            </a:r>
            <a:r>
              <a:rPr dirty="0" sz="2400">
                <a:solidFill>
                  <a:srgbClr val="40458B"/>
                </a:solidFill>
                <a:latin typeface="Tahoma"/>
                <a:cs typeface="Tahoma"/>
              </a:rPr>
              <a:t>d</a:t>
            </a:r>
            <a:r>
              <a:rPr dirty="0" baseline="-20833" sz="2400">
                <a:solidFill>
                  <a:srgbClr val="40458B"/>
                </a:solidFill>
                <a:latin typeface="Tahoma"/>
                <a:cs typeface="Tahoma"/>
              </a:rPr>
              <a:t>i</a:t>
            </a:r>
            <a:r>
              <a:rPr dirty="0" sz="2400">
                <a:solidFill>
                  <a:srgbClr val="40458B"/>
                </a:solidFill>
                <a:latin typeface="Tahoma"/>
                <a:cs typeface="Tahoma"/>
              </a:rPr>
              <a:t>=a</a:t>
            </a:r>
            <a:r>
              <a:rPr dirty="0" baseline="-20833" sz="2400">
                <a:solidFill>
                  <a:srgbClr val="40458B"/>
                </a:solidFill>
                <a:latin typeface="Tahoma"/>
                <a:cs typeface="Tahoma"/>
              </a:rPr>
              <a:t>i</a:t>
            </a:r>
            <a:r>
              <a:rPr dirty="0" sz="2400">
                <a:solidFill>
                  <a:srgbClr val="40458B"/>
                </a:solidFill>
                <a:latin typeface="Tahoma"/>
                <a:cs typeface="Tahoma"/>
              </a:rPr>
              <a:t>*</a:t>
            </a:r>
            <a:r>
              <a:rPr dirty="0" sz="2400" spc="-45">
                <a:solidFill>
                  <a:srgbClr val="40458B"/>
                </a:solidFill>
                <a:latin typeface="Tahoma"/>
                <a:cs typeface="Tahoma"/>
              </a:rPr>
              <a:t> </a:t>
            </a:r>
            <a:r>
              <a:rPr dirty="0" sz="2400" spc="-25">
                <a:solidFill>
                  <a:srgbClr val="40458B"/>
                </a:solidFill>
                <a:latin typeface="Tahoma"/>
                <a:cs typeface="Tahoma"/>
              </a:rPr>
              <a:t>q</a:t>
            </a:r>
            <a:r>
              <a:rPr dirty="0" baseline="-20833" sz="2400" spc="-37">
                <a:solidFill>
                  <a:srgbClr val="40458B"/>
                </a:solidFill>
                <a:latin typeface="Tahoma"/>
                <a:cs typeface="Tahoma"/>
              </a:rPr>
              <a:t>i</a:t>
            </a:r>
            <a:r>
              <a:rPr dirty="0" sz="2400" spc="-25">
                <a:solidFill>
                  <a:srgbClr val="40458B"/>
                </a:solidFill>
                <a:latin typeface="Tahoma"/>
                <a:cs typeface="Tahoma"/>
              </a:rPr>
              <a:t>;</a:t>
            </a:r>
            <a:endParaRPr sz="2400">
              <a:latin typeface="Tahoma"/>
              <a:cs typeface="Tahoma"/>
            </a:endParaRPr>
          </a:p>
          <a:p>
            <a:pPr marL="38100">
              <a:lnSpc>
                <a:spcPct val="100000"/>
              </a:lnSpc>
            </a:pPr>
            <a:r>
              <a:rPr dirty="0" sz="2400" spc="-50">
                <a:solidFill>
                  <a:srgbClr val="40458B"/>
                </a:solidFill>
                <a:latin typeface="Tahoma"/>
                <a:cs typeface="Tahoma"/>
              </a:rPr>
              <a:t>}</a:t>
            </a:r>
            <a:endParaRPr sz="2400">
              <a:latin typeface="Tahoma"/>
              <a:cs typeface="Tahoma"/>
            </a:endParaRPr>
          </a:p>
        </p:txBody>
      </p:sp>
      <p:sp>
        <p:nvSpPr>
          <p:cNvPr id="23" name="object 23" descr=""/>
          <p:cNvSpPr txBox="1"/>
          <p:nvPr/>
        </p:nvSpPr>
        <p:spPr>
          <a:xfrm>
            <a:off x="575767" y="1569847"/>
            <a:ext cx="203200" cy="1480820"/>
          </a:xfrm>
          <a:prstGeom prst="rect">
            <a:avLst/>
          </a:prstGeom>
        </p:spPr>
        <p:txBody>
          <a:bodyPr wrap="square" lIns="0" tIns="14604" rIns="0" bIns="0" rtlCol="0" vert="horz">
            <a:spAutoFit/>
          </a:bodyPr>
          <a:lstStyle/>
          <a:p>
            <a:pPr algn="just">
              <a:lnSpc>
                <a:spcPct val="99000"/>
              </a:lnSpc>
              <a:spcBef>
                <a:spcPts val="114"/>
              </a:spcBef>
            </a:pPr>
            <a:r>
              <a:rPr dirty="0" sz="1600" spc="-50">
                <a:solidFill>
                  <a:srgbClr val="40458B"/>
                </a:solidFill>
                <a:latin typeface="黑体"/>
                <a:cs typeface="黑体"/>
              </a:rPr>
              <a:t>逐个求 </a:t>
            </a:r>
            <a:r>
              <a:rPr dirty="0" sz="1600" spc="-50">
                <a:solidFill>
                  <a:srgbClr val="40458B"/>
                </a:solidFill>
                <a:latin typeface="Tahoma"/>
                <a:cs typeface="Tahoma"/>
              </a:rPr>
              <a:t>D</a:t>
            </a:r>
            <a:endParaRPr sz="1600">
              <a:latin typeface="Tahoma"/>
              <a:cs typeface="Tahoma"/>
            </a:endParaRPr>
          </a:p>
          <a:p>
            <a:pPr>
              <a:lnSpc>
                <a:spcPts val="1860"/>
              </a:lnSpc>
              <a:spcBef>
                <a:spcPts val="170"/>
              </a:spcBef>
            </a:pPr>
            <a:r>
              <a:rPr dirty="0" sz="1600" spc="-50">
                <a:solidFill>
                  <a:srgbClr val="40458B"/>
                </a:solidFill>
                <a:latin typeface="黑体"/>
                <a:cs typeface="黑体"/>
              </a:rPr>
              <a:t>分量</a:t>
            </a:r>
            <a:endParaRPr sz="1600">
              <a:latin typeface="黑体"/>
              <a:cs typeface="黑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322818" y="6581093"/>
            <a:ext cx="414655" cy="203200"/>
          </a:xfrm>
          <a:prstGeom prst="rect">
            <a:avLst/>
          </a:prstGeom>
        </p:spPr>
        <p:txBody>
          <a:bodyPr wrap="square" lIns="0" tIns="0" rIns="0" bIns="0" rtlCol="0" vert="horz">
            <a:spAutoFit/>
          </a:bodyPr>
          <a:lstStyle/>
          <a:p>
            <a:pPr>
              <a:lnSpc>
                <a:spcPts val="1595"/>
              </a:lnSpc>
            </a:pPr>
            <a:r>
              <a:rPr dirty="0" sz="1600" spc="-20" b="1">
                <a:solidFill>
                  <a:srgbClr val="40458B"/>
                </a:solidFill>
                <a:latin typeface="宋体"/>
                <a:cs typeface="宋体"/>
              </a:rPr>
              <a:t>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4.1</a:t>
            </a:r>
            <a:r>
              <a:rPr dirty="0" spc="-20"/>
              <a:t> 向量的处理方式</a:t>
            </a:r>
          </a:p>
        </p:txBody>
      </p:sp>
      <p:sp>
        <p:nvSpPr>
          <p:cNvPr id="10" name="object 10" descr=""/>
          <p:cNvSpPr txBox="1"/>
          <p:nvPr/>
        </p:nvSpPr>
        <p:spPr>
          <a:xfrm>
            <a:off x="78739" y="693801"/>
            <a:ext cx="3265804"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2</a:t>
            </a:r>
            <a:r>
              <a:rPr dirty="0" sz="2400" spc="-110">
                <a:solidFill>
                  <a:srgbClr val="FF0000"/>
                </a:solidFill>
                <a:latin typeface="黑体"/>
                <a:cs typeface="黑体"/>
              </a:rPr>
              <a:t>、纵向 </a:t>
            </a:r>
            <a:r>
              <a:rPr dirty="0" sz="2400" spc="-10">
                <a:solidFill>
                  <a:srgbClr val="FF0000"/>
                </a:solidFill>
                <a:latin typeface="Tahoma"/>
                <a:cs typeface="Tahoma"/>
              </a:rPr>
              <a:t>(</a:t>
            </a:r>
            <a:r>
              <a:rPr dirty="0" sz="2400">
                <a:solidFill>
                  <a:srgbClr val="FF0000"/>
                </a:solidFill>
                <a:latin typeface="黑体"/>
                <a:cs typeface="黑体"/>
              </a:rPr>
              <a:t>垂直</a:t>
            </a:r>
            <a:r>
              <a:rPr dirty="0" sz="2400" spc="-10">
                <a:solidFill>
                  <a:srgbClr val="FF0000"/>
                </a:solidFill>
                <a:latin typeface="Tahoma"/>
                <a:cs typeface="Tahoma"/>
              </a:rPr>
              <a:t>)</a:t>
            </a:r>
            <a:r>
              <a:rPr dirty="0" sz="2400" spc="-15">
                <a:solidFill>
                  <a:srgbClr val="FF0000"/>
                </a:solidFill>
                <a:latin typeface="黑体"/>
                <a:cs typeface="黑体"/>
              </a:rPr>
              <a:t>处理方式</a:t>
            </a:r>
            <a:endParaRPr sz="2400">
              <a:latin typeface="黑体"/>
              <a:cs typeface="黑体"/>
            </a:endParaRPr>
          </a:p>
        </p:txBody>
      </p:sp>
      <p:sp>
        <p:nvSpPr>
          <p:cNvPr id="11" name="object 11" descr=""/>
          <p:cNvSpPr txBox="1"/>
          <p:nvPr/>
        </p:nvSpPr>
        <p:spPr>
          <a:xfrm>
            <a:off x="708151" y="1118962"/>
            <a:ext cx="8180070" cy="754380"/>
          </a:xfrm>
          <a:prstGeom prst="rect">
            <a:avLst/>
          </a:prstGeom>
        </p:spPr>
        <p:txBody>
          <a:bodyPr wrap="square" lIns="0" tIns="62865" rIns="0" bIns="0" rtlCol="0" vert="horz">
            <a:spAutoFit/>
          </a:bodyPr>
          <a:lstStyle/>
          <a:p>
            <a:pPr marL="469900" indent="-457200">
              <a:lnSpc>
                <a:spcPct val="100000"/>
              </a:lnSpc>
              <a:spcBef>
                <a:spcPts val="495"/>
              </a:spcBef>
              <a:buSzPct val="89583"/>
              <a:buFont typeface="Wingdings"/>
              <a:buChar char=""/>
              <a:tabLst>
                <a:tab pos="469900" algn="l"/>
              </a:tabLst>
            </a:pPr>
            <a:r>
              <a:rPr dirty="0" sz="2400">
                <a:solidFill>
                  <a:srgbClr val="40458B"/>
                </a:solidFill>
                <a:latin typeface="黑体"/>
                <a:cs typeface="黑体"/>
              </a:rPr>
              <a:t>向量计算是按列的方式从上到下纵向地进行，</a:t>
            </a:r>
            <a:r>
              <a:rPr dirty="0" sz="1800" spc="-10">
                <a:solidFill>
                  <a:srgbClr val="FF0000"/>
                </a:solidFill>
                <a:latin typeface="黑体"/>
                <a:cs typeface="黑体"/>
              </a:rPr>
              <a:t>先对所有元素执</a:t>
            </a:r>
            <a:endParaRPr sz="1800">
              <a:latin typeface="黑体"/>
              <a:cs typeface="黑体"/>
            </a:endParaRPr>
          </a:p>
          <a:p>
            <a:pPr marL="469900">
              <a:lnSpc>
                <a:spcPct val="100000"/>
              </a:lnSpc>
              <a:spcBef>
                <a:spcPts val="300"/>
              </a:spcBef>
            </a:pPr>
            <a:r>
              <a:rPr dirty="0" sz="1800" spc="-15">
                <a:solidFill>
                  <a:srgbClr val="FF0000"/>
                </a:solidFill>
                <a:latin typeface="黑体"/>
                <a:cs typeface="黑体"/>
              </a:rPr>
              <a:t>行一种相同的运算，再对所有元素执行另一种相同的运算。</a:t>
            </a:r>
            <a:endParaRPr sz="1800">
              <a:latin typeface="黑体"/>
              <a:cs typeface="黑体"/>
            </a:endParaRPr>
          </a:p>
        </p:txBody>
      </p:sp>
      <p:sp>
        <p:nvSpPr>
          <p:cNvPr id="12" name="object 12" descr=""/>
          <p:cNvSpPr txBox="1"/>
          <p:nvPr/>
        </p:nvSpPr>
        <p:spPr>
          <a:xfrm>
            <a:off x="708151" y="3653562"/>
            <a:ext cx="5110480" cy="1703705"/>
          </a:xfrm>
          <a:prstGeom prst="rect">
            <a:avLst/>
          </a:prstGeom>
        </p:spPr>
        <p:txBody>
          <a:bodyPr wrap="square" lIns="0" tIns="128905" rIns="0" bIns="0" rtlCol="0" vert="horz">
            <a:spAutoFit/>
          </a:bodyPr>
          <a:lstStyle/>
          <a:p>
            <a:pPr marL="469900" indent="-457200">
              <a:lnSpc>
                <a:spcPct val="100000"/>
              </a:lnSpc>
              <a:spcBef>
                <a:spcPts val="1015"/>
              </a:spcBef>
              <a:buSzPct val="89583"/>
              <a:buFont typeface="Wingdings"/>
              <a:buChar char=""/>
              <a:tabLst>
                <a:tab pos="469900" algn="l"/>
              </a:tabLst>
            </a:pPr>
            <a:r>
              <a:rPr dirty="0" sz="2400">
                <a:solidFill>
                  <a:srgbClr val="40458B"/>
                </a:solidFill>
                <a:latin typeface="黑体"/>
                <a:cs typeface="黑体"/>
              </a:rPr>
              <a:t>表示成向量指令（两条</a:t>
            </a:r>
            <a:r>
              <a:rPr dirty="0" sz="2400" spc="-25">
                <a:solidFill>
                  <a:srgbClr val="40458B"/>
                </a:solidFill>
                <a:latin typeface="黑体"/>
                <a:cs typeface="黑体"/>
              </a:rPr>
              <a:t>）：</a:t>
            </a:r>
            <a:endParaRPr sz="2400">
              <a:latin typeface="黑体"/>
              <a:cs typeface="黑体"/>
            </a:endParaRPr>
          </a:p>
          <a:p>
            <a:pPr marL="1045844">
              <a:lnSpc>
                <a:spcPct val="100000"/>
              </a:lnSpc>
              <a:spcBef>
                <a:spcPts val="770"/>
              </a:spcBef>
            </a:pPr>
            <a:r>
              <a:rPr dirty="0" sz="2000" spc="-10" b="1">
                <a:solidFill>
                  <a:srgbClr val="FF0000"/>
                </a:solidFill>
                <a:latin typeface="宋体"/>
                <a:cs typeface="宋体"/>
              </a:rPr>
              <a:t>Q</a:t>
            </a:r>
            <a:r>
              <a:rPr dirty="0" sz="2000" spc="-10" b="1">
                <a:solidFill>
                  <a:srgbClr val="00AFEF"/>
                </a:solidFill>
                <a:latin typeface="宋体"/>
                <a:cs typeface="宋体"/>
              </a:rPr>
              <a:t>＝B－C</a:t>
            </a:r>
            <a:endParaRPr sz="2000">
              <a:latin typeface="宋体"/>
              <a:cs typeface="宋体"/>
            </a:endParaRPr>
          </a:p>
          <a:p>
            <a:pPr marL="1045844">
              <a:lnSpc>
                <a:spcPct val="100000"/>
              </a:lnSpc>
              <a:spcBef>
                <a:spcPts val="725"/>
              </a:spcBef>
            </a:pPr>
            <a:r>
              <a:rPr dirty="0" sz="2000" spc="-10" b="1">
                <a:solidFill>
                  <a:srgbClr val="00AFEF"/>
                </a:solidFill>
                <a:latin typeface="宋体"/>
                <a:cs typeface="宋体"/>
              </a:rPr>
              <a:t>D＝</a:t>
            </a:r>
            <a:r>
              <a:rPr dirty="0" sz="2000" spc="-10" b="1">
                <a:solidFill>
                  <a:srgbClr val="FF0000"/>
                </a:solidFill>
                <a:latin typeface="宋体"/>
                <a:cs typeface="宋体"/>
              </a:rPr>
              <a:t>Q</a:t>
            </a:r>
            <a:r>
              <a:rPr dirty="0" sz="2000" spc="-10" b="1">
                <a:solidFill>
                  <a:srgbClr val="00AFEF"/>
                </a:solidFill>
                <a:latin typeface="宋体"/>
                <a:cs typeface="宋体"/>
              </a:rPr>
              <a:t>×A</a:t>
            </a:r>
            <a:endParaRPr sz="2000">
              <a:latin typeface="宋体"/>
              <a:cs typeface="宋体"/>
            </a:endParaRPr>
          </a:p>
          <a:p>
            <a:pPr lvl="1" marL="1097915" indent="-437515">
              <a:lnSpc>
                <a:spcPct val="100000"/>
              </a:lnSpc>
              <a:spcBef>
                <a:spcPts val="720"/>
              </a:spcBef>
              <a:buClr>
                <a:srgbClr val="4668F5"/>
              </a:buClr>
              <a:buSzPct val="65000"/>
              <a:buFont typeface="Wingdings"/>
              <a:buChar char=""/>
              <a:tabLst>
                <a:tab pos="1097915" algn="l"/>
              </a:tabLst>
            </a:pPr>
            <a:r>
              <a:rPr dirty="0" sz="2000" spc="-15" b="1">
                <a:solidFill>
                  <a:srgbClr val="00AFEF"/>
                </a:solidFill>
                <a:latin typeface="宋体"/>
                <a:cs typeface="宋体"/>
              </a:rPr>
              <a:t>两条向量指令之间：数据相关：</a:t>
            </a:r>
            <a:r>
              <a:rPr dirty="0" sz="2000" spc="-10" b="1">
                <a:solidFill>
                  <a:srgbClr val="FF0000"/>
                </a:solidFill>
                <a:latin typeface="Tahoma"/>
                <a:cs typeface="Tahoma"/>
              </a:rPr>
              <a:t>1</a:t>
            </a:r>
            <a:r>
              <a:rPr dirty="0" sz="2000" spc="-50" b="1">
                <a:solidFill>
                  <a:srgbClr val="00AFEF"/>
                </a:solidFill>
                <a:latin typeface="宋体"/>
                <a:cs typeface="宋体"/>
              </a:rPr>
              <a:t>次</a:t>
            </a:r>
            <a:endParaRPr sz="2000">
              <a:latin typeface="宋体"/>
              <a:cs typeface="宋体"/>
            </a:endParaRPr>
          </a:p>
        </p:txBody>
      </p:sp>
      <p:sp>
        <p:nvSpPr>
          <p:cNvPr id="13" name="object 13" descr=""/>
          <p:cNvSpPr txBox="1"/>
          <p:nvPr/>
        </p:nvSpPr>
        <p:spPr>
          <a:xfrm>
            <a:off x="6014084" y="5025897"/>
            <a:ext cx="300418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AFEF"/>
                </a:solidFill>
                <a:latin typeface="宋体"/>
                <a:cs typeface="宋体"/>
              </a:rPr>
              <a:t>功能切换：</a:t>
            </a:r>
            <a:r>
              <a:rPr dirty="0" sz="2000" spc="-10" b="1">
                <a:solidFill>
                  <a:srgbClr val="FF0000"/>
                </a:solidFill>
                <a:latin typeface="Tahoma"/>
                <a:cs typeface="Tahoma"/>
              </a:rPr>
              <a:t>1</a:t>
            </a:r>
            <a:r>
              <a:rPr dirty="0" sz="2000" spc="-20" b="1">
                <a:solidFill>
                  <a:srgbClr val="00AFEF"/>
                </a:solidFill>
                <a:latin typeface="宋体"/>
                <a:cs typeface="宋体"/>
              </a:rPr>
              <a:t>次，这种方式</a:t>
            </a:r>
            <a:endParaRPr sz="2000">
              <a:latin typeface="宋体"/>
              <a:cs typeface="宋体"/>
            </a:endParaRPr>
          </a:p>
        </p:txBody>
      </p:sp>
      <p:sp>
        <p:nvSpPr>
          <p:cNvPr id="14" name="object 14" descr=""/>
          <p:cNvSpPr txBox="1"/>
          <p:nvPr/>
        </p:nvSpPr>
        <p:spPr>
          <a:xfrm>
            <a:off x="540512" y="5331053"/>
            <a:ext cx="8439785" cy="1165860"/>
          </a:xfrm>
          <a:prstGeom prst="rect">
            <a:avLst/>
          </a:prstGeom>
        </p:spPr>
        <p:txBody>
          <a:bodyPr wrap="square" lIns="0" tIns="12700" rIns="0" bIns="0" rtlCol="0" vert="horz">
            <a:spAutoFit/>
          </a:bodyPr>
          <a:lstStyle/>
          <a:p>
            <a:pPr marL="1265555" marR="5080">
              <a:lnSpc>
                <a:spcPct val="110100"/>
              </a:lnSpc>
              <a:spcBef>
                <a:spcPts val="100"/>
              </a:spcBef>
            </a:pPr>
            <a:r>
              <a:rPr dirty="0" sz="2000" spc="-25" b="1">
                <a:solidFill>
                  <a:srgbClr val="00AFEF"/>
                </a:solidFill>
                <a:latin typeface="宋体"/>
                <a:cs typeface="宋体"/>
              </a:rPr>
              <a:t>优化了向量计算的硬件开销，但每次计算都要访问向量中的全部元素。</a:t>
            </a:r>
            <a:endParaRPr sz="2000">
              <a:latin typeface="宋体"/>
              <a:cs typeface="宋体"/>
            </a:endParaRPr>
          </a:p>
          <a:p>
            <a:pPr marL="451484" indent="-438784">
              <a:lnSpc>
                <a:spcPct val="100000"/>
              </a:lnSpc>
              <a:spcBef>
                <a:spcPts val="810"/>
              </a:spcBef>
              <a:buClr>
                <a:srgbClr val="40458B"/>
              </a:buClr>
              <a:buSzPct val="89583"/>
              <a:buFont typeface="Wingdings"/>
              <a:buChar char=""/>
              <a:tabLst>
                <a:tab pos="451484" algn="l"/>
              </a:tabLst>
            </a:pPr>
            <a:r>
              <a:rPr dirty="0" sz="2400" spc="-5">
                <a:solidFill>
                  <a:srgbClr val="FF0000"/>
                </a:solidFill>
                <a:latin typeface="黑体"/>
                <a:cs typeface="黑体"/>
              </a:rPr>
              <a:t>缺点：</a:t>
            </a:r>
            <a:r>
              <a:rPr dirty="0" sz="2400" spc="-5">
                <a:solidFill>
                  <a:srgbClr val="40458B"/>
                </a:solidFill>
                <a:latin typeface="黑体"/>
                <a:cs typeface="黑体"/>
              </a:rPr>
              <a:t>若纵向处理向量太长，向量寄存器个数较少无法处理</a:t>
            </a:r>
            <a:endParaRPr sz="2400">
              <a:latin typeface="黑体"/>
              <a:cs typeface="黑体"/>
            </a:endParaRPr>
          </a:p>
        </p:txBody>
      </p:sp>
      <p:sp>
        <p:nvSpPr>
          <p:cNvPr id="15" name="object 15" descr=""/>
          <p:cNvSpPr txBox="1"/>
          <p:nvPr/>
        </p:nvSpPr>
        <p:spPr>
          <a:xfrm>
            <a:off x="4835778" y="719454"/>
            <a:ext cx="3279775" cy="391160"/>
          </a:xfrm>
          <a:prstGeom prst="rect">
            <a:avLst/>
          </a:prstGeom>
        </p:spPr>
        <p:txBody>
          <a:bodyPr wrap="square" lIns="0" tIns="12700" rIns="0" bIns="0" rtlCol="0" vert="horz">
            <a:spAutoFit/>
          </a:bodyPr>
          <a:lstStyle/>
          <a:p>
            <a:pPr marL="12700">
              <a:lnSpc>
                <a:spcPct val="100000"/>
              </a:lnSpc>
              <a:spcBef>
                <a:spcPts val="100"/>
              </a:spcBef>
            </a:pPr>
            <a:r>
              <a:rPr dirty="0" sz="2400" spc="-165" b="1">
                <a:solidFill>
                  <a:srgbClr val="FF0000"/>
                </a:solidFill>
                <a:latin typeface="宋体"/>
                <a:cs typeface="宋体"/>
              </a:rPr>
              <a:t>表达式 </a:t>
            </a:r>
            <a:r>
              <a:rPr dirty="0" sz="2400" spc="-10" b="1">
                <a:solidFill>
                  <a:srgbClr val="FF0000"/>
                </a:solidFill>
                <a:latin typeface="Times New Roman"/>
                <a:cs typeface="Times New Roman"/>
              </a:rPr>
              <a:t>D=A</a:t>
            </a:r>
            <a:r>
              <a:rPr dirty="0" sz="2400" spc="-10" b="1">
                <a:solidFill>
                  <a:srgbClr val="FF0000"/>
                </a:solidFill>
                <a:latin typeface="宋体"/>
                <a:cs typeface="宋体"/>
              </a:rPr>
              <a:t>×（</a:t>
            </a:r>
            <a:r>
              <a:rPr dirty="0" sz="2400" spc="-10" b="1">
                <a:solidFill>
                  <a:srgbClr val="FF0000"/>
                </a:solidFill>
                <a:latin typeface="Times New Roman"/>
                <a:cs typeface="Times New Roman"/>
              </a:rPr>
              <a:t>B</a:t>
            </a:r>
            <a:r>
              <a:rPr dirty="0" sz="2400" spc="-10" b="1">
                <a:solidFill>
                  <a:srgbClr val="FF0000"/>
                </a:solidFill>
                <a:latin typeface="宋体"/>
                <a:cs typeface="宋体"/>
              </a:rPr>
              <a:t>－</a:t>
            </a:r>
            <a:r>
              <a:rPr dirty="0" sz="2400" spc="-10" b="1">
                <a:solidFill>
                  <a:srgbClr val="FF0000"/>
                </a:solidFill>
                <a:latin typeface="Times New Roman"/>
                <a:cs typeface="Times New Roman"/>
              </a:rPr>
              <a:t>C</a:t>
            </a:r>
            <a:r>
              <a:rPr dirty="0" sz="2400" spc="-10" b="1">
                <a:solidFill>
                  <a:srgbClr val="FF0000"/>
                </a:solidFill>
                <a:latin typeface="宋体"/>
                <a:cs typeface="宋体"/>
              </a:rPr>
              <a:t>）</a:t>
            </a:r>
            <a:endParaRPr sz="2400">
              <a:latin typeface="宋体"/>
              <a:cs typeface="宋体"/>
            </a:endParaRPr>
          </a:p>
        </p:txBody>
      </p:sp>
      <p:sp>
        <p:nvSpPr>
          <p:cNvPr id="16" name="object 16" descr=""/>
          <p:cNvSpPr txBox="1"/>
          <p:nvPr/>
        </p:nvSpPr>
        <p:spPr>
          <a:xfrm>
            <a:off x="71437" y="2085848"/>
            <a:ext cx="1527175" cy="1478280"/>
          </a:xfrm>
          <a:prstGeom prst="rect">
            <a:avLst/>
          </a:prstGeom>
          <a:solidFill>
            <a:srgbClr val="FAF7E6"/>
          </a:solidFill>
        </p:spPr>
        <p:txBody>
          <a:bodyPr wrap="square" lIns="0" tIns="57150" rIns="0" bIns="0" rtlCol="0" vert="horz">
            <a:spAutoFit/>
          </a:bodyPr>
          <a:lstStyle/>
          <a:p>
            <a:pPr marL="90805" marR="113664">
              <a:lnSpc>
                <a:spcPct val="98900"/>
              </a:lnSpc>
              <a:spcBef>
                <a:spcPts val="450"/>
              </a:spcBef>
            </a:pPr>
            <a:r>
              <a:rPr dirty="0" sz="1800" spc="-20" b="1">
                <a:solidFill>
                  <a:srgbClr val="FF0000"/>
                </a:solidFill>
                <a:latin typeface="宋体"/>
                <a:cs typeface="宋体"/>
              </a:rPr>
              <a:t>先计算向量</a:t>
            </a:r>
            <a:r>
              <a:rPr dirty="0" sz="1800" spc="-50" b="1">
                <a:solidFill>
                  <a:srgbClr val="FF0000"/>
                </a:solidFill>
                <a:latin typeface="宋体"/>
                <a:cs typeface="宋体"/>
              </a:rPr>
              <a:t> </a:t>
            </a:r>
            <a:r>
              <a:rPr dirty="0" sz="1800" spc="-10" b="1">
                <a:solidFill>
                  <a:srgbClr val="006FC0"/>
                </a:solidFill>
                <a:latin typeface="Times New Roman"/>
                <a:cs typeface="Times New Roman"/>
              </a:rPr>
              <a:t>B-</a:t>
            </a:r>
            <a:r>
              <a:rPr dirty="0" sz="1800" spc="-25" b="1">
                <a:solidFill>
                  <a:srgbClr val="006FC0"/>
                </a:solidFill>
                <a:latin typeface="Times New Roman"/>
                <a:cs typeface="Times New Roman"/>
              </a:rPr>
              <a:t>C</a:t>
            </a:r>
            <a:r>
              <a:rPr dirty="0" sz="1800" spc="-20" b="1">
                <a:solidFill>
                  <a:srgbClr val="FF0000"/>
                </a:solidFill>
                <a:latin typeface="宋体"/>
                <a:cs typeface="宋体"/>
              </a:rPr>
              <a:t>元素对的整体运算，结果暂存向</a:t>
            </a:r>
            <a:r>
              <a:rPr dirty="0" sz="1800" spc="-10" b="1">
                <a:solidFill>
                  <a:srgbClr val="FF0000"/>
                </a:solidFill>
                <a:latin typeface="宋体"/>
                <a:cs typeface="宋体"/>
              </a:rPr>
              <a:t>量</a:t>
            </a:r>
            <a:r>
              <a:rPr dirty="0" sz="1800" spc="-50" b="1">
                <a:solidFill>
                  <a:srgbClr val="FF0000"/>
                </a:solidFill>
                <a:latin typeface="Times New Roman"/>
                <a:cs typeface="Times New Roman"/>
              </a:rPr>
              <a:t>Q</a:t>
            </a:r>
            <a:endParaRPr sz="1800">
              <a:latin typeface="Times New Roman"/>
              <a:cs typeface="Times New Roman"/>
            </a:endParaRPr>
          </a:p>
        </p:txBody>
      </p:sp>
      <p:sp>
        <p:nvSpPr>
          <p:cNvPr id="17" name="object 17" descr=""/>
          <p:cNvSpPr/>
          <p:nvPr/>
        </p:nvSpPr>
        <p:spPr>
          <a:xfrm>
            <a:off x="2719958" y="2209926"/>
            <a:ext cx="150495" cy="951230"/>
          </a:xfrm>
          <a:custGeom>
            <a:avLst/>
            <a:gdLst/>
            <a:ahLst/>
            <a:cxnLst/>
            <a:rect l="l" t="t" r="r" b="b"/>
            <a:pathLst>
              <a:path w="150494" h="951230">
                <a:moveTo>
                  <a:pt x="144526" y="950722"/>
                </a:moveTo>
                <a:lnTo>
                  <a:pt x="116411" y="944612"/>
                </a:lnTo>
                <a:lnTo>
                  <a:pt x="93440" y="927941"/>
                </a:lnTo>
                <a:lnTo>
                  <a:pt x="77946" y="903198"/>
                </a:lnTo>
                <a:lnTo>
                  <a:pt x="72263" y="872871"/>
                </a:lnTo>
                <a:lnTo>
                  <a:pt x="72263" y="561213"/>
                </a:lnTo>
                <a:lnTo>
                  <a:pt x="66579" y="530865"/>
                </a:lnTo>
                <a:lnTo>
                  <a:pt x="51085" y="506079"/>
                </a:lnTo>
                <a:lnTo>
                  <a:pt x="28114" y="489364"/>
                </a:lnTo>
                <a:lnTo>
                  <a:pt x="0" y="483235"/>
                </a:lnTo>
                <a:lnTo>
                  <a:pt x="28114" y="477125"/>
                </a:lnTo>
                <a:lnTo>
                  <a:pt x="51085" y="460454"/>
                </a:lnTo>
                <a:lnTo>
                  <a:pt x="66579" y="435711"/>
                </a:lnTo>
                <a:lnTo>
                  <a:pt x="72263" y="405384"/>
                </a:lnTo>
                <a:lnTo>
                  <a:pt x="72263" y="93725"/>
                </a:lnTo>
                <a:lnTo>
                  <a:pt x="77946" y="63378"/>
                </a:lnTo>
                <a:lnTo>
                  <a:pt x="93440" y="38592"/>
                </a:lnTo>
                <a:lnTo>
                  <a:pt x="116411" y="21877"/>
                </a:lnTo>
                <a:lnTo>
                  <a:pt x="144526" y="15748"/>
                </a:lnTo>
              </a:path>
              <a:path w="150494" h="951230">
                <a:moveTo>
                  <a:pt x="150368" y="935989"/>
                </a:moveTo>
                <a:lnTo>
                  <a:pt x="122199" y="929860"/>
                </a:lnTo>
                <a:lnTo>
                  <a:pt x="99234" y="913145"/>
                </a:lnTo>
                <a:lnTo>
                  <a:pt x="83770" y="888359"/>
                </a:lnTo>
                <a:lnTo>
                  <a:pt x="78105" y="858012"/>
                </a:lnTo>
                <a:lnTo>
                  <a:pt x="78105" y="545973"/>
                </a:lnTo>
                <a:lnTo>
                  <a:pt x="72421" y="515625"/>
                </a:lnTo>
                <a:lnTo>
                  <a:pt x="56927" y="490839"/>
                </a:lnTo>
                <a:lnTo>
                  <a:pt x="33956" y="474124"/>
                </a:lnTo>
                <a:lnTo>
                  <a:pt x="5842" y="467995"/>
                </a:lnTo>
                <a:lnTo>
                  <a:pt x="33956" y="461865"/>
                </a:lnTo>
                <a:lnTo>
                  <a:pt x="56927" y="445150"/>
                </a:lnTo>
                <a:lnTo>
                  <a:pt x="72421" y="420364"/>
                </a:lnTo>
                <a:lnTo>
                  <a:pt x="78105" y="390017"/>
                </a:lnTo>
                <a:lnTo>
                  <a:pt x="78105" y="77977"/>
                </a:lnTo>
                <a:lnTo>
                  <a:pt x="83770" y="47577"/>
                </a:lnTo>
                <a:lnTo>
                  <a:pt x="99234" y="22796"/>
                </a:lnTo>
                <a:lnTo>
                  <a:pt x="122199" y="6111"/>
                </a:lnTo>
                <a:lnTo>
                  <a:pt x="150368" y="0"/>
                </a:lnTo>
              </a:path>
            </a:pathLst>
          </a:custGeom>
          <a:ln w="9525">
            <a:solidFill>
              <a:srgbClr val="006600"/>
            </a:solidFill>
          </a:ln>
        </p:spPr>
        <p:txBody>
          <a:bodyPr wrap="square" lIns="0" tIns="0" rIns="0" bIns="0" rtlCol="0"/>
          <a:lstStyle/>
          <a:p/>
        </p:txBody>
      </p:sp>
      <p:sp>
        <p:nvSpPr>
          <p:cNvPr id="18" name="object 18" descr=""/>
          <p:cNvSpPr txBox="1"/>
          <p:nvPr/>
        </p:nvSpPr>
        <p:spPr>
          <a:xfrm>
            <a:off x="1771269" y="2473833"/>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先计算</a:t>
            </a:r>
            <a:endParaRPr sz="2400">
              <a:latin typeface="黑体"/>
              <a:cs typeface="黑体"/>
            </a:endParaRPr>
          </a:p>
        </p:txBody>
      </p:sp>
      <p:sp>
        <p:nvSpPr>
          <p:cNvPr id="19" name="object 19" descr=""/>
          <p:cNvSpPr/>
          <p:nvPr/>
        </p:nvSpPr>
        <p:spPr>
          <a:xfrm>
            <a:off x="7097394" y="2245486"/>
            <a:ext cx="144780" cy="1141095"/>
          </a:xfrm>
          <a:custGeom>
            <a:avLst/>
            <a:gdLst/>
            <a:ahLst/>
            <a:cxnLst/>
            <a:rect l="l" t="t" r="r" b="b"/>
            <a:pathLst>
              <a:path w="144779" h="1141095">
                <a:moveTo>
                  <a:pt x="144525" y="1140714"/>
                </a:moveTo>
                <a:lnTo>
                  <a:pt x="116411" y="1134584"/>
                </a:lnTo>
                <a:lnTo>
                  <a:pt x="93440" y="1117869"/>
                </a:lnTo>
                <a:lnTo>
                  <a:pt x="77946" y="1093083"/>
                </a:lnTo>
                <a:lnTo>
                  <a:pt x="72262" y="1062736"/>
                </a:lnTo>
                <a:lnTo>
                  <a:pt x="72262" y="648335"/>
                </a:lnTo>
                <a:lnTo>
                  <a:pt x="66579" y="617987"/>
                </a:lnTo>
                <a:lnTo>
                  <a:pt x="51085" y="593201"/>
                </a:lnTo>
                <a:lnTo>
                  <a:pt x="28114" y="576486"/>
                </a:lnTo>
                <a:lnTo>
                  <a:pt x="0" y="570357"/>
                </a:lnTo>
                <a:lnTo>
                  <a:pt x="28114" y="564227"/>
                </a:lnTo>
                <a:lnTo>
                  <a:pt x="51085" y="547512"/>
                </a:lnTo>
                <a:lnTo>
                  <a:pt x="66579" y="522726"/>
                </a:lnTo>
                <a:lnTo>
                  <a:pt x="72262" y="492378"/>
                </a:lnTo>
                <a:lnTo>
                  <a:pt x="72262" y="77977"/>
                </a:lnTo>
                <a:lnTo>
                  <a:pt x="77946" y="47630"/>
                </a:lnTo>
                <a:lnTo>
                  <a:pt x="93440" y="22844"/>
                </a:lnTo>
                <a:lnTo>
                  <a:pt x="116411" y="6129"/>
                </a:lnTo>
                <a:lnTo>
                  <a:pt x="144525" y="0"/>
                </a:lnTo>
              </a:path>
            </a:pathLst>
          </a:custGeom>
          <a:ln w="9525">
            <a:solidFill>
              <a:srgbClr val="006600"/>
            </a:solidFill>
          </a:ln>
        </p:spPr>
        <p:txBody>
          <a:bodyPr wrap="square" lIns="0" tIns="0" rIns="0" bIns="0" rtlCol="0"/>
          <a:lstStyle/>
          <a:p/>
        </p:txBody>
      </p:sp>
      <p:sp>
        <p:nvSpPr>
          <p:cNvPr id="20" name="object 20" descr=""/>
          <p:cNvSpPr txBox="1"/>
          <p:nvPr/>
        </p:nvSpPr>
        <p:spPr>
          <a:xfrm>
            <a:off x="6091554" y="2618613"/>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再计算</a:t>
            </a:r>
            <a:endParaRPr sz="2400">
              <a:latin typeface="黑体"/>
              <a:cs typeface="黑体"/>
            </a:endParaRPr>
          </a:p>
        </p:txBody>
      </p:sp>
      <p:sp>
        <p:nvSpPr>
          <p:cNvPr id="21" name="object 21" descr=""/>
          <p:cNvSpPr txBox="1"/>
          <p:nvPr/>
        </p:nvSpPr>
        <p:spPr>
          <a:xfrm>
            <a:off x="7340854" y="2057146"/>
            <a:ext cx="1449070" cy="391160"/>
          </a:xfrm>
          <a:prstGeom prst="rect">
            <a:avLst/>
          </a:prstGeom>
        </p:spPr>
        <p:txBody>
          <a:bodyPr wrap="square" lIns="0" tIns="12700" rIns="0" bIns="0" rtlCol="0" vert="horz">
            <a:spAutoFit/>
          </a:bodyPr>
          <a:lstStyle/>
          <a:p>
            <a:pPr marL="38100">
              <a:lnSpc>
                <a:spcPct val="100000"/>
              </a:lnSpc>
              <a:spcBef>
                <a:spcPts val="100"/>
              </a:spcBef>
            </a:pPr>
            <a:r>
              <a:rPr dirty="0" sz="2400" spc="-10">
                <a:solidFill>
                  <a:srgbClr val="40458B"/>
                </a:solidFill>
                <a:latin typeface="宋体"/>
                <a:cs typeface="宋体"/>
              </a:rPr>
              <a:t>d</a:t>
            </a:r>
            <a:r>
              <a:rPr dirty="0" baseline="-20833" sz="2400" spc="-15">
                <a:solidFill>
                  <a:srgbClr val="40458B"/>
                </a:solidFill>
                <a:latin typeface="宋体"/>
                <a:cs typeface="宋体"/>
              </a:rPr>
              <a:t>1</a:t>
            </a:r>
            <a:r>
              <a:rPr dirty="0" sz="2400" spc="-10">
                <a:solidFill>
                  <a:srgbClr val="40458B"/>
                </a:solidFill>
                <a:latin typeface="宋体"/>
                <a:cs typeface="宋体"/>
              </a:rPr>
              <a:t>←q</a:t>
            </a:r>
            <a:r>
              <a:rPr dirty="0" baseline="-20833" sz="2400" spc="-15">
                <a:solidFill>
                  <a:srgbClr val="40458B"/>
                </a:solidFill>
                <a:latin typeface="宋体"/>
                <a:cs typeface="宋体"/>
              </a:rPr>
              <a:t>1</a:t>
            </a:r>
            <a:r>
              <a:rPr dirty="0" sz="2400" spc="-10">
                <a:solidFill>
                  <a:srgbClr val="40458B"/>
                </a:solidFill>
                <a:latin typeface="黑体"/>
                <a:cs typeface="黑体"/>
              </a:rPr>
              <a:t>×</a:t>
            </a:r>
            <a:r>
              <a:rPr dirty="0" sz="2400" spc="-10">
                <a:solidFill>
                  <a:srgbClr val="40458B"/>
                </a:solidFill>
                <a:latin typeface="宋体"/>
                <a:cs typeface="宋体"/>
              </a:rPr>
              <a:t>a</a:t>
            </a:r>
            <a:r>
              <a:rPr dirty="0" baseline="-20833" sz="2400" spc="-15">
                <a:solidFill>
                  <a:srgbClr val="40458B"/>
                </a:solidFill>
                <a:latin typeface="宋体"/>
                <a:cs typeface="宋体"/>
              </a:rPr>
              <a:t>1</a:t>
            </a:r>
            <a:endParaRPr baseline="-20833" sz="2400">
              <a:latin typeface="宋体"/>
              <a:cs typeface="宋体"/>
            </a:endParaRPr>
          </a:p>
        </p:txBody>
      </p:sp>
      <p:sp>
        <p:nvSpPr>
          <p:cNvPr id="22" name="object 22" descr=""/>
          <p:cNvSpPr txBox="1"/>
          <p:nvPr/>
        </p:nvSpPr>
        <p:spPr>
          <a:xfrm>
            <a:off x="7397242" y="2931667"/>
            <a:ext cx="1449070" cy="391160"/>
          </a:xfrm>
          <a:prstGeom prst="rect">
            <a:avLst/>
          </a:prstGeom>
        </p:spPr>
        <p:txBody>
          <a:bodyPr wrap="square" lIns="0" tIns="12700" rIns="0" bIns="0" rtlCol="0" vert="horz">
            <a:spAutoFit/>
          </a:bodyPr>
          <a:lstStyle/>
          <a:p>
            <a:pPr marL="38100">
              <a:lnSpc>
                <a:spcPct val="100000"/>
              </a:lnSpc>
              <a:spcBef>
                <a:spcPts val="100"/>
              </a:spcBef>
            </a:pPr>
            <a:r>
              <a:rPr dirty="0" sz="2400" spc="-10">
                <a:solidFill>
                  <a:srgbClr val="40458B"/>
                </a:solidFill>
                <a:latin typeface="宋体"/>
                <a:cs typeface="宋体"/>
              </a:rPr>
              <a:t>d</a:t>
            </a:r>
            <a:r>
              <a:rPr dirty="0" baseline="-20833" sz="2400" spc="-15">
                <a:solidFill>
                  <a:srgbClr val="40458B"/>
                </a:solidFill>
                <a:latin typeface="宋体"/>
                <a:cs typeface="宋体"/>
              </a:rPr>
              <a:t>N</a:t>
            </a:r>
            <a:r>
              <a:rPr dirty="0" sz="2400" spc="-10">
                <a:solidFill>
                  <a:srgbClr val="40458B"/>
                </a:solidFill>
                <a:latin typeface="宋体"/>
                <a:cs typeface="宋体"/>
              </a:rPr>
              <a:t>←q</a:t>
            </a:r>
            <a:r>
              <a:rPr dirty="0" baseline="-20833" sz="2400" spc="-15">
                <a:solidFill>
                  <a:srgbClr val="40458B"/>
                </a:solidFill>
                <a:latin typeface="宋体"/>
                <a:cs typeface="宋体"/>
              </a:rPr>
              <a:t>N</a:t>
            </a:r>
            <a:r>
              <a:rPr dirty="0" sz="2400" spc="-10">
                <a:solidFill>
                  <a:srgbClr val="40458B"/>
                </a:solidFill>
                <a:latin typeface="黑体"/>
                <a:cs typeface="黑体"/>
              </a:rPr>
              <a:t>×</a:t>
            </a:r>
            <a:r>
              <a:rPr dirty="0" sz="2400" spc="-10">
                <a:solidFill>
                  <a:srgbClr val="40458B"/>
                </a:solidFill>
                <a:latin typeface="宋体"/>
                <a:cs typeface="宋体"/>
              </a:rPr>
              <a:t>a</a:t>
            </a:r>
            <a:r>
              <a:rPr dirty="0" baseline="-20833" sz="2400" spc="-15">
                <a:solidFill>
                  <a:srgbClr val="40458B"/>
                </a:solidFill>
                <a:latin typeface="宋体"/>
                <a:cs typeface="宋体"/>
              </a:rPr>
              <a:t>N</a:t>
            </a:r>
            <a:endParaRPr baseline="-20833" sz="2400">
              <a:latin typeface="宋体"/>
              <a:cs typeface="宋体"/>
            </a:endParaRPr>
          </a:p>
        </p:txBody>
      </p:sp>
      <p:sp>
        <p:nvSpPr>
          <p:cNvPr id="23" name="object 23" descr=""/>
          <p:cNvSpPr txBox="1"/>
          <p:nvPr/>
        </p:nvSpPr>
        <p:spPr>
          <a:xfrm>
            <a:off x="2914523" y="2011121"/>
            <a:ext cx="1449070" cy="391795"/>
          </a:xfrm>
          <a:prstGeom prst="rect">
            <a:avLst/>
          </a:prstGeom>
        </p:spPr>
        <p:txBody>
          <a:bodyPr wrap="square" lIns="0" tIns="12700" rIns="0" bIns="0" rtlCol="0" vert="horz">
            <a:spAutoFit/>
          </a:bodyPr>
          <a:lstStyle/>
          <a:p>
            <a:pPr marL="38100">
              <a:lnSpc>
                <a:spcPct val="100000"/>
              </a:lnSpc>
              <a:spcBef>
                <a:spcPts val="100"/>
              </a:spcBef>
            </a:pPr>
            <a:r>
              <a:rPr dirty="0" sz="2400" spc="-10">
                <a:solidFill>
                  <a:srgbClr val="40458B"/>
                </a:solidFill>
                <a:latin typeface="宋体"/>
                <a:cs typeface="宋体"/>
              </a:rPr>
              <a:t>q</a:t>
            </a:r>
            <a:r>
              <a:rPr dirty="0" baseline="-20833" sz="2400" spc="-15">
                <a:solidFill>
                  <a:srgbClr val="40458B"/>
                </a:solidFill>
                <a:latin typeface="宋体"/>
                <a:cs typeface="宋体"/>
              </a:rPr>
              <a:t>1</a:t>
            </a:r>
            <a:r>
              <a:rPr dirty="0" sz="2400" spc="-10">
                <a:solidFill>
                  <a:srgbClr val="40458B"/>
                </a:solidFill>
                <a:latin typeface="宋体"/>
                <a:cs typeface="宋体"/>
              </a:rPr>
              <a:t>←b</a:t>
            </a:r>
            <a:r>
              <a:rPr dirty="0" baseline="-20833" sz="2400" spc="-15">
                <a:solidFill>
                  <a:srgbClr val="40458B"/>
                </a:solidFill>
                <a:latin typeface="宋体"/>
                <a:cs typeface="宋体"/>
              </a:rPr>
              <a:t>1</a:t>
            </a:r>
            <a:r>
              <a:rPr dirty="0" sz="2400" spc="-10">
                <a:solidFill>
                  <a:srgbClr val="40458B"/>
                </a:solidFill>
                <a:latin typeface="黑体"/>
                <a:cs typeface="黑体"/>
              </a:rPr>
              <a:t>－</a:t>
            </a:r>
            <a:r>
              <a:rPr dirty="0" sz="2400" spc="-10">
                <a:solidFill>
                  <a:srgbClr val="40458B"/>
                </a:solidFill>
                <a:latin typeface="宋体"/>
                <a:cs typeface="宋体"/>
              </a:rPr>
              <a:t>c</a:t>
            </a:r>
            <a:r>
              <a:rPr dirty="0" baseline="-20833" sz="2400" spc="-15">
                <a:solidFill>
                  <a:srgbClr val="40458B"/>
                </a:solidFill>
                <a:latin typeface="宋体"/>
                <a:cs typeface="宋体"/>
              </a:rPr>
              <a:t>1</a:t>
            </a:r>
            <a:endParaRPr baseline="-20833" sz="2400">
              <a:latin typeface="宋体"/>
              <a:cs typeface="宋体"/>
            </a:endParaRPr>
          </a:p>
        </p:txBody>
      </p:sp>
      <p:sp>
        <p:nvSpPr>
          <p:cNvPr id="24" name="object 24" descr=""/>
          <p:cNvSpPr txBox="1"/>
          <p:nvPr/>
        </p:nvSpPr>
        <p:spPr>
          <a:xfrm>
            <a:off x="2997454" y="2796997"/>
            <a:ext cx="1449070" cy="391795"/>
          </a:xfrm>
          <a:prstGeom prst="rect">
            <a:avLst/>
          </a:prstGeom>
        </p:spPr>
        <p:txBody>
          <a:bodyPr wrap="square" lIns="0" tIns="12700" rIns="0" bIns="0" rtlCol="0" vert="horz">
            <a:spAutoFit/>
          </a:bodyPr>
          <a:lstStyle/>
          <a:p>
            <a:pPr marL="38100">
              <a:lnSpc>
                <a:spcPct val="100000"/>
              </a:lnSpc>
              <a:spcBef>
                <a:spcPts val="100"/>
              </a:spcBef>
            </a:pPr>
            <a:r>
              <a:rPr dirty="0" sz="2400" spc="-10">
                <a:solidFill>
                  <a:srgbClr val="40458B"/>
                </a:solidFill>
                <a:latin typeface="宋体"/>
                <a:cs typeface="宋体"/>
              </a:rPr>
              <a:t>q</a:t>
            </a:r>
            <a:r>
              <a:rPr dirty="0" baseline="-20833" sz="2400" spc="-15">
                <a:solidFill>
                  <a:srgbClr val="40458B"/>
                </a:solidFill>
                <a:latin typeface="宋体"/>
                <a:cs typeface="宋体"/>
              </a:rPr>
              <a:t>N</a:t>
            </a:r>
            <a:r>
              <a:rPr dirty="0" sz="2400" spc="-10">
                <a:solidFill>
                  <a:srgbClr val="40458B"/>
                </a:solidFill>
                <a:latin typeface="宋体"/>
                <a:cs typeface="宋体"/>
              </a:rPr>
              <a:t>←b</a:t>
            </a:r>
            <a:r>
              <a:rPr dirty="0" baseline="-20833" sz="2400" spc="-15">
                <a:solidFill>
                  <a:srgbClr val="40458B"/>
                </a:solidFill>
                <a:latin typeface="宋体"/>
                <a:cs typeface="宋体"/>
              </a:rPr>
              <a:t>N</a:t>
            </a:r>
            <a:r>
              <a:rPr dirty="0" sz="2400" spc="-10">
                <a:solidFill>
                  <a:srgbClr val="40458B"/>
                </a:solidFill>
                <a:latin typeface="黑体"/>
                <a:cs typeface="黑体"/>
              </a:rPr>
              <a:t>－</a:t>
            </a:r>
            <a:r>
              <a:rPr dirty="0" sz="2400" spc="-10">
                <a:solidFill>
                  <a:srgbClr val="40458B"/>
                </a:solidFill>
                <a:latin typeface="宋体"/>
                <a:cs typeface="宋体"/>
              </a:rPr>
              <a:t>c</a:t>
            </a:r>
            <a:r>
              <a:rPr dirty="0" baseline="-20833" sz="2400" spc="-15">
                <a:solidFill>
                  <a:srgbClr val="40458B"/>
                </a:solidFill>
                <a:latin typeface="宋体"/>
                <a:cs typeface="宋体"/>
              </a:rPr>
              <a:t>N</a:t>
            </a:r>
            <a:endParaRPr baseline="-20833" sz="2400">
              <a:latin typeface="宋体"/>
              <a:cs typeface="宋体"/>
            </a:endParaRPr>
          </a:p>
        </p:txBody>
      </p:sp>
      <p:sp>
        <p:nvSpPr>
          <p:cNvPr id="25" name="object 25" descr=""/>
          <p:cNvSpPr txBox="1"/>
          <p:nvPr/>
        </p:nvSpPr>
        <p:spPr>
          <a:xfrm>
            <a:off x="4749800" y="1978088"/>
            <a:ext cx="1527175" cy="646430"/>
          </a:xfrm>
          <a:prstGeom prst="rect">
            <a:avLst/>
          </a:prstGeom>
          <a:solidFill>
            <a:srgbClr val="FAF7E6"/>
          </a:solidFill>
        </p:spPr>
        <p:txBody>
          <a:bodyPr wrap="square" lIns="0" tIns="41275" rIns="0" bIns="0" rtlCol="0" vert="horz">
            <a:spAutoFit/>
          </a:bodyPr>
          <a:lstStyle/>
          <a:p>
            <a:pPr marL="147955">
              <a:lnSpc>
                <a:spcPct val="100000"/>
              </a:lnSpc>
              <a:spcBef>
                <a:spcPts val="325"/>
              </a:spcBef>
            </a:pPr>
            <a:r>
              <a:rPr dirty="0" sz="1800" spc="-20" b="1">
                <a:solidFill>
                  <a:srgbClr val="FF0000"/>
                </a:solidFill>
                <a:latin typeface="宋体"/>
                <a:cs typeface="宋体"/>
              </a:rPr>
              <a:t>再计算向量</a:t>
            </a:r>
            <a:endParaRPr sz="1800">
              <a:latin typeface="宋体"/>
              <a:cs typeface="宋体"/>
            </a:endParaRPr>
          </a:p>
          <a:p>
            <a:pPr marL="92075">
              <a:lnSpc>
                <a:spcPct val="100000"/>
              </a:lnSpc>
            </a:pPr>
            <a:r>
              <a:rPr dirty="0" sz="1800" spc="-25" b="1">
                <a:solidFill>
                  <a:srgbClr val="FF0000"/>
                </a:solidFill>
                <a:latin typeface="Times New Roman"/>
                <a:cs typeface="Times New Roman"/>
              </a:rPr>
              <a:t>Q</a:t>
            </a:r>
            <a:r>
              <a:rPr dirty="0" sz="1800" spc="-25" b="1">
                <a:solidFill>
                  <a:srgbClr val="FF0000"/>
                </a:solidFill>
                <a:latin typeface="宋体"/>
                <a:cs typeface="宋体"/>
              </a:rPr>
              <a:t>×</a:t>
            </a:r>
            <a:r>
              <a:rPr dirty="0" sz="1800" spc="-25" b="1">
                <a:solidFill>
                  <a:srgbClr val="FF0000"/>
                </a:solidFill>
                <a:latin typeface="Times New Roman"/>
                <a:cs typeface="Times New Roman"/>
              </a:rPr>
              <a:t>A</a:t>
            </a:r>
            <a:endParaRPr sz="18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4.1</a:t>
            </a:r>
            <a:r>
              <a:rPr dirty="0" spc="-20"/>
              <a:t> 向量的处理方式</a:t>
            </a:r>
          </a:p>
        </p:txBody>
      </p:sp>
      <p:sp>
        <p:nvSpPr>
          <p:cNvPr id="10" name="object 10" descr=""/>
          <p:cNvSpPr txBox="1"/>
          <p:nvPr/>
        </p:nvSpPr>
        <p:spPr>
          <a:xfrm>
            <a:off x="65328" y="828962"/>
            <a:ext cx="8943975" cy="5348605"/>
          </a:xfrm>
          <a:prstGeom prst="rect">
            <a:avLst/>
          </a:prstGeom>
        </p:spPr>
        <p:txBody>
          <a:bodyPr wrap="square" lIns="0" tIns="121920" rIns="0" bIns="0" rtlCol="0" vert="horz">
            <a:spAutoFit/>
          </a:bodyPr>
          <a:lstStyle/>
          <a:p>
            <a:pPr marL="12700">
              <a:lnSpc>
                <a:spcPct val="100000"/>
              </a:lnSpc>
              <a:spcBef>
                <a:spcPts val="960"/>
              </a:spcBef>
              <a:tabLst>
                <a:tab pos="4397375" algn="l"/>
              </a:tabLst>
            </a:pPr>
            <a:r>
              <a:rPr dirty="0" sz="2400" spc="-25">
                <a:solidFill>
                  <a:srgbClr val="FF0000"/>
                </a:solidFill>
                <a:latin typeface="Tahoma"/>
                <a:cs typeface="Tahoma"/>
              </a:rPr>
              <a:t>3</a:t>
            </a:r>
            <a:r>
              <a:rPr dirty="0" sz="2400">
                <a:solidFill>
                  <a:srgbClr val="FF0000"/>
                </a:solidFill>
                <a:latin typeface="黑体"/>
                <a:cs typeface="黑体"/>
              </a:rPr>
              <a:t>、纵横</a:t>
            </a:r>
            <a:r>
              <a:rPr dirty="0" sz="2400" spc="-430">
                <a:solidFill>
                  <a:srgbClr val="FF0000"/>
                </a:solidFill>
                <a:latin typeface="黑体"/>
                <a:cs typeface="黑体"/>
              </a:rPr>
              <a:t> </a:t>
            </a:r>
            <a:r>
              <a:rPr dirty="0" sz="2400" spc="-10">
                <a:solidFill>
                  <a:srgbClr val="FF0000"/>
                </a:solidFill>
                <a:latin typeface="Tahoma"/>
                <a:cs typeface="Tahoma"/>
              </a:rPr>
              <a:t>(</a:t>
            </a:r>
            <a:r>
              <a:rPr dirty="0" sz="2400">
                <a:solidFill>
                  <a:srgbClr val="FF0000"/>
                </a:solidFill>
                <a:latin typeface="黑体"/>
                <a:cs typeface="黑体"/>
              </a:rPr>
              <a:t>分组</a:t>
            </a:r>
            <a:r>
              <a:rPr dirty="0" sz="2400" spc="-10">
                <a:solidFill>
                  <a:srgbClr val="FF0000"/>
                </a:solidFill>
                <a:latin typeface="Tahoma"/>
                <a:cs typeface="Tahoma"/>
              </a:rPr>
              <a:t>)</a:t>
            </a:r>
            <a:r>
              <a:rPr dirty="0" sz="2400">
                <a:solidFill>
                  <a:srgbClr val="FF0000"/>
                </a:solidFill>
                <a:latin typeface="黑体"/>
                <a:cs typeface="黑体"/>
              </a:rPr>
              <a:t>处理方</a:t>
            </a:r>
            <a:r>
              <a:rPr dirty="0" sz="2400" spc="-50">
                <a:solidFill>
                  <a:srgbClr val="FF0000"/>
                </a:solidFill>
                <a:latin typeface="黑体"/>
                <a:cs typeface="黑体"/>
              </a:rPr>
              <a:t>式</a:t>
            </a:r>
            <a:r>
              <a:rPr dirty="0" sz="2400">
                <a:solidFill>
                  <a:srgbClr val="FF0000"/>
                </a:solidFill>
                <a:latin typeface="黑体"/>
                <a:cs typeface="黑体"/>
              </a:rPr>
              <a:t>	</a:t>
            </a:r>
            <a:r>
              <a:rPr dirty="0" sz="2400" spc="-20" b="1">
                <a:solidFill>
                  <a:srgbClr val="E14B04"/>
                </a:solidFill>
                <a:latin typeface="宋体"/>
                <a:cs typeface="宋体"/>
              </a:rPr>
              <a:t>表达</a:t>
            </a:r>
            <a:r>
              <a:rPr dirty="0" sz="2400" spc="-30" b="1">
                <a:solidFill>
                  <a:srgbClr val="E14B04"/>
                </a:solidFill>
                <a:latin typeface="宋体"/>
                <a:cs typeface="宋体"/>
              </a:rPr>
              <a:t>式</a:t>
            </a:r>
            <a:r>
              <a:rPr dirty="0" sz="2400" spc="-580" b="1">
                <a:solidFill>
                  <a:srgbClr val="E14B04"/>
                </a:solidFill>
                <a:latin typeface="宋体"/>
                <a:cs typeface="宋体"/>
              </a:rPr>
              <a:t> </a:t>
            </a:r>
            <a:r>
              <a:rPr dirty="0" sz="2400" spc="-10" b="1">
                <a:solidFill>
                  <a:srgbClr val="E14B04"/>
                </a:solidFill>
                <a:latin typeface="Times New Roman"/>
                <a:cs typeface="Times New Roman"/>
              </a:rPr>
              <a:t>D=A</a:t>
            </a:r>
            <a:r>
              <a:rPr dirty="0" sz="2400" spc="-10" b="1">
                <a:solidFill>
                  <a:srgbClr val="E14B04"/>
                </a:solidFill>
                <a:latin typeface="宋体"/>
                <a:cs typeface="宋体"/>
              </a:rPr>
              <a:t>×（</a:t>
            </a:r>
            <a:r>
              <a:rPr dirty="0" sz="2400" spc="-10" b="1">
                <a:solidFill>
                  <a:srgbClr val="E14B04"/>
                </a:solidFill>
                <a:latin typeface="Times New Roman"/>
                <a:cs typeface="Times New Roman"/>
              </a:rPr>
              <a:t>B</a:t>
            </a:r>
            <a:r>
              <a:rPr dirty="0" sz="2400" spc="-10" b="1">
                <a:solidFill>
                  <a:srgbClr val="E14B04"/>
                </a:solidFill>
                <a:latin typeface="宋体"/>
                <a:cs typeface="宋体"/>
              </a:rPr>
              <a:t>－</a:t>
            </a:r>
            <a:r>
              <a:rPr dirty="0" sz="2400" spc="-10" b="1">
                <a:solidFill>
                  <a:srgbClr val="E14B04"/>
                </a:solidFill>
                <a:latin typeface="Times New Roman"/>
                <a:cs typeface="Times New Roman"/>
              </a:rPr>
              <a:t>C</a:t>
            </a:r>
            <a:r>
              <a:rPr dirty="0" sz="2400" spc="-10" b="1">
                <a:solidFill>
                  <a:srgbClr val="E14B04"/>
                </a:solidFill>
                <a:latin typeface="宋体"/>
                <a:cs typeface="宋体"/>
              </a:rPr>
              <a:t>）</a:t>
            </a:r>
            <a:endParaRPr sz="2400">
              <a:latin typeface="宋体"/>
              <a:cs typeface="宋体"/>
            </a:endParaRPr>
          </a:p>
          <a:p>
            <a:pPr marL="1004569" indent="-457200">
              <a:lnSpc>
                <a:spcPct val="100000"/>
              </a:lnSpc>
              <a:spcBef>
                <a:spcPts val="865"/>
              </a:spcBef>
              <a:buClr>
                <a:srgbClr val="40458B"/>
              </a:buClr>
              <a:buSzPct val="89583"/>
              <a:buFont typeface="Wingdings"/>
              <a:buChar char=""/>
              <a:tabLst>
                <a:tab pos="1004569" algn="l"/>
              </a:tabLst>
            </a:pPr>
            <a:r>
              <a:rPr dirty="0" sz="2400" spc="-5">
                <a:solidFill>
                  <a:srgbClr val="FF0000"/>
                </a:solidFill>
                <a:latin typeface="黑体"/>
                <a:cs typeface="黑体"/>
              </a:rPr>
              <a:t>引入原因</a:t>
            </a:r>
            <a:r>
              <a:rPr dirty="0" sz="2400" spc="-15">
                <a:solidFill>
                  <a:srgbClr val="40458B"/>
                </a:solidFill>
                <a:latin typeface="黑体"/>
                <a:cs typeface="黑体"/>
              </a:rPr>
              <a:t>：纵向每次计算都要访问向量中的全部元素；且</a:t>
            </a:r>
            <a:endParaRPr sz="2400">
              <a:latin typeface="黑体"/>
              <a:cs typeface="黑体"/>
            </a:endParaRPr>
          </a:p>
          <a:p>
            <a:pPr marL="1004569">
              <a:lnSpc>
                <a:spcPct val="100000"/>
              </a:lnSpc>
              <a:spcBef>
                <a:spcPts val="290"/>
              </a:spcBef>
            </a:pPr>
            <a:r>
              <a:rPr dirty="0" sz="2400" spc="-5">
                <a:solidFill>
                  <a:srgbClr val="40458B"/>
                </a:solidFill>
                <a:latin typeface="黑体"/>
                <a:cs typeface="黑体"/>
              </a:rPr>
              <a:t>向量的长度太长，而向量寄存器个数有限，矛盾产生</a:t>
            </a:r>
            <a:endParaRPr sz="2400">
              <a:latin typeface="黑体"/>
              <a:cs typeface="黑体"/>
            </a:endParaRPr>
          </a:p>
          <a:p>
            <a:pPr marL="1004569" indent="-457200">
              <a:lnSpc>
                <a:spcPct val="100000"/>
              </a:lnSpc>
              <a:spcBef>
                <a:spcPts val="860"/>
              </a:spcBef>
              <a:buSzPct val="89583"/>
              <a:buFont typeface="Wingdings"/>
              <a:buChar char=""/>
              <a:tabLst>
                <a:tab pos="1004569" algn="l"/>
              </a:tabLst>
            </a:pPr>
            <a:r>
              <a:rPr dirty="0" sz="2400" spc="-5">
                <a:solidFill>
                  <a:srgbClr val="40458B"/>
                </a:solidFill>
                <a:latin typeface="黑体"/>
                <a:cs typeface="黑体"/>
              </a:rPr>
              <a:t>结合前两种方式，则利用分组完成，又称为</a:t>
            </a:r>
            <a:r>
              <a:rPr dirty="0" sz="2400" spc="-10">
                <a:solidFill>
                  <a:srgbClr val="FF0000"/>
                </a:solidFill>
                <a:latin typeface="黑体"/>
                <a:cs typeface="黑体"/>
              </a:rPr>
              <a:t>分组处理方式。</a:t>
            </a:r>
            <a:endParaRPr sz="2400">
              <a:latin typeface="黑体"/>
              <a:cs typeface="黑体"/>
            </a:endParaRPr>
          </a:p>
          <a:p>
            <a:pPr marL="1004569" indent="-457200">
              <a:lnSpc>
                <a:spcPct val="100000"/>
              </a:lnSpc>
              <a:spcBef>
                <a:spcPts val="865"/>
              </a:spcBef>
              <a:buSzPct val="89583"/>
              <a:buFont typeface="Wingdings"/>
              <a:buChar char=""/>
              <a:tabLst>
                <a:tab pos="1004569" algn="l"/>
              </a:tabLst>
            </a:pPr>
            <a:r>
              <a:rPr dirty="0" sz="2400" spc="-5">
                <a:solidFill>
                  <a:srgbClr val="40458B"/>
                </a:solidFill>
                <a:latin typeface="黑体"/>
                <a:cs typeface="黑体"/>
              </a:rPr>
              <a:t>把向量分成若干组，</a:t>
            </a:r>
            <a:r>
              <a:rPr dirty="0" sz="2400" spc="-10">
                <a:solidFill>
                  <a:srgbClr val="FF0000"/>
                </a:solidFill>
                <a:latin typeface="黑体"/>
                <a:cs typeface="黑体"/>
              </a:rPr>
              <a:t>组内</a:t>
            </a:r>
            <a:r>
              <a:rPr dirty="0" sz="2400" spc="-15">
                <a:solidFill>
                  <a:srgbClr val="40458B"/>
                </a:solidFill>
                <a:latin typeface="黑体"/>
                <a:cs typeface="黑体"/>
              </a:rPr>
              <a:t>按纵向方式处理，组间可利用循</a:t>
            </a:r>
            <a:endParaRPr sz="2400">
              <a:latin typeface="黑体"/>
              <a:cs typeface="黑体"/>
            </a:endParaRPr>
          </a:p>
          <a:p>
            <a:pPr marL="1004569">
              <a:lnSpc>
                <a:spcPct val="100000"/>
              </a:lnSpc>
              <a:spcBef>
                <a:spcPts val="290"/>
              </a:spcBef>
            </a:pPr>
            <a:r>
              <a:rPr dirty="0" sz="2400" spc="-10">
                <a:solidFill>
                  <a:srgbClr val="40458B"/>
                </a:solidFill>
                <a:latin typeface="黑体"/>
                <a:cs typeface="黑体"/>
              </a:rPr>
              <a:t>环依次处理各组。</a:t>
            </a:r>
            <a:endParaRPr sz="2400">
              <a:latin typeface="黑体"/>
              <a:cs typeface="黑体"/>
            </a:endParaRPr>
          </a:p>
          <a:p>
            <a:pPr lvl="1" marL="1818639" indent="-457200">
              <a:lnSpc>
                <a:spcPct val="100000"/>
              </a:lnSpc>
              <a:spcBef>
                <a:spcPts val="775"/>
              </a:spcBef>
              <a:buClr>
                <a:srgbClr val="4668F5"/>
              </a:buClr>
              <a:buSzPct val="65000"/>
              <a:buFont typeface="Wingdings"/>
              <a:buChar char=""/>
              <a:tabLst>
                <a:tab pos="1818639" algn="l"/>
              </a:tabLst>
            </a:pPr>
            <a:r>
              <a:rPr dirty="0" sz="2000" spc="-15" b="1">
                <a:solidFill>
                  <a:srgbClr val="00AFEF"/>
                </a:solidFill>
                <a:latin typeface="宋体"/>
                <a:cs typeface="宋体"/>
              </a:rPr>
              <a:t>组内解决向量长度太长的问题</a:t>
            </a:r>
            <a:endParaRPr sz="2000">
              <a:latin typeface="宋体"/>
              <a:cs typeface="宋体"/>
            </a:endParaRPr>
          </a:p>
          <a:p>
            <a:pPr marL="1004569" indent="-457200">
              <a:lnSpc>
                <a:spcPct val="100000"/>
              </a:lnSpc>
              <a:spcBef>
                <a:spcPts val="810"/>
              </a:spcBef>
              <a:buSzPct val="89583"/>
              <a:buFont typeface="Wingdings"/>
              <a:buChar char=""/>
              <a:tabLst>
                <a:tab pos="1004569" algn="l"/>
              </a:tabLst>
            </a:pPr>
            <a:r>
              <a:rPr dirty="0" sz="2400" spc="-5">
                <a:solidFill>
                  <a:srgbClr val="40458B"/>
                </a:solidFill>
                <a:latin typeface="黑体"/>
                <a:cs typeface="黑体"/>
              </a:rPr>
              <a:t>对于上述的例子，设：</a:t>
            </a:r>
            <a:endParaRPr sz="2400">
              <a:latin typeface="黑体"/>
              <a:cs typeface="黑体"/>
            </a:endParaRPr>
          </a:p>
          <a:p>
            <a:pPr marL="2076450">
              <a:lnSpc>
                <a:spcPct val="100000"/>
              </a:lnSpc>
              <a:spcBef>
                <a:spcPts val="865"/>
              </a:spcBef>
            </a:pPr>
            <a:r>
              <a:rPr dirty="0" sz="2400" spc="-10" b="1">
                <a:solidFill>
                  <a:srgbClr val="9933FF"/>
                </a:solidFill>
                <a:latin typeface="宋体"/>
                <a:cs typeface="宋体"/>
              </a:rPr>
              <a:t>N=S×n＋r</a:t>
            </a:r>
            <a:endParaRPr sz="2400">
              <a:latin typeface="宋体"/>
              <a:cs typeface="宋体"/>
            </a:endParaRPr>
          </a:p>
          <a:p>
            <a:pPr lvl="1" marL="1632585" indent="-457200">
              <a:lnSpc>
                <a:spcPct val="100000"/>
              </a:lnSpc>
              <a:spcBef>
                <a:spcPts val="775"/>
              </a:spcBef>
              <a:buClr>
                <a:srgbClr val="4668F5"/>
              </a:buClr>
              <a:buSzPct val="65000"/>
              <a:buFont typeface="Wingdings"/>
              <a:buChar char=""/>
              <a:tabLst>
                <a:tab pos="1632585" algn="l"/>
              </a:tabLst>
            </a:pPr>
            <a:r>
              <a:rPr dirty="0" sz="2000" spc="-10" b="1">
                <a:solidFill>
                  <a:srgbClr val="00AFEF"/>
                </a:solidFill>
                <a:latin typeface="宋体"/>
                <a:cs typeface="宋体"/>
              </a:rPr>
              <a:t>其中</a:t>
            </a:r>
            <a:r>
              <a:rPr dirty="0" sz="2000" spc="-10" b="1">
                <a:solidFill>
                  <a:srgbClr val="9933FF"/>
                </a:solidFill>
                <a:latin typeface="宋体"/>
                <a:cs typeface="宋体"/>
              </a:rPr>
              <a:t>N</a:t>
            </a:r>
            <a:r>
              <a:rPr dirty="0" sz="2000" spc="-15" b="1">
                <a:solidFill>
                  <a:srgbClr val="00AFEF"/>
                </a:solidFill>
                <a:latin typeface="宋体"/>
                <a:cs typeface="宋体"/>
              </a:rPr>
              <a:t>为向量长度，</a:t>
            </a:r>
            <a:r>
              <a:rPr dirty="0" sz="2000" spc="-20" b="1">
                <a:solidFill>
                  <a:srgbClr val="9933FF"/>
                </a:solidFill>
                <a:latin typeface="宋体"/>
                <a:cs typeface="宋体"/>
              </a:rPr>
              <a:t>S</a:t>
            </a:r>
            <a:r>
              <a:rPr dirty="0" sz="2000" spc="-15" b="1">
                <a:solidFill>
                  <a:srgbClr val="00AFEF"/>
                </a:solidFill>
                <a:latin typeface="宋体"/>
                <a:cs typeface="宋体"/>
              </a:rPr>
              <a:t>为组数，</a:t>
            </a:r>
            <a:r>
              <a:rPr dirty="0" sz="2000" spc="-20" b="1">
                <a:solidFill>
                  <a:srgbClr val="9933FF"/>
                </a:solidFill>
                <a:latin typeface="宋体"/>
                <a:cs typeface="宋体"/>
              </a:rPr>
              <a:t>n</a:t>
            </a:r>
            <a:r>
              <a:rPr dirty="0" sz="2000" spc="-20" b="1">
                <a:solidFill>
                  <a:srgbClr val="00AFEF"/>
                </a:solidFill>
                <a:latin typeface="宋体"/>
                <a:cs typeface="宋体"/>
              </a:rPr>
              <a:t>为每组的长度，</a:t>
            </a:r>
            <a:r>
              <a:rPr dirty="0" sz="2000" spc="-10" b="1">
                <a:solidFill>
                  <a:srgbClr val="9933FF"/>
                </a:solidFill>
                <a:latin typeface="宋体"/>
                <a:cs typeface="宋体"/>
              </a:rPr>
              <a:t>r</a:t>
            </a:r>
            <a:r>
              <a:rPr dirty="0" sz="2000" spc="-25" b="1">
                <a:solidFill>
                  <a:srgbClr val="00AFEF"/>
                </a:solidFill>
                <a:latin typeface="宋体"/>
                <a:cs typeface="宋体"/>
              </a:rPr>
              <a:t>为余数。</a:t>
            </a:r>
            <a:endParaRPr sz="2000">
              <a:latin typeface="宋体"/>
              <a:cs typeface="宋体"/>
            </a:endParaRPr>
          </a:p>
          <a:p>
            <a:pPr lvl="1" marL="1632585" indent="-457200">
              <a:lnSpc>
                <a:spcPct val="100000"/>
              </a:lnSpc>
              <a:spcBef>
                <a:spcPts val="720"/>
              </a:spcBef>
              <a:buClr>
                <a:srgbClr val="4668F5"/>
              </a:buClr>
              <a:buSzPct val="65000"/>
              <a:buFont typeface="Wingdings"/>
              <a:buChar char=""/>
              <a:tabLst>
                <a:tab pos="1632585" algn="l"/>
              </a:tabLst>
            </a:pPr>
            <a:r>
              <a:rPr dirty="0" sz="2000" spc="-15" b="1">
                <a:solidFill>
                  <a:srgbClr val="00AFEF"/>
                </a:solidFill>
                <a:latin typeface="宋体"/>
                <a:cs typeface="宋体"/>
              </a:rPr>
              <a:t>若余下的</a:t>
            </a:r>
            <a:r>
              <a:rPr dirty="0" sz="2000" b="1">
                <a:solidFill>
                  <a:srgbClr val="9933FF"/>
                </a:solidFill>
                <a:latin typeface="宋体"/>
                <a:cs typeface="宋体"/>
              </a:rPr>
              <a:t>r</a:t>
            </a:r>
            <a:r>
              <a:rPr dirty="0" sz="2000" spc="-25" b="1">
                <a:solidFill>
                  <a:srgbClr val="00AFEF"/>
                </a:solidFill>
                <a:latin typeface="宋体"/>
                <a:cs typeface="宋体"/>
              </a:rPr>
              <a:t>个数也作为一组处理，则共有</a:t>
            </a:r>
            <a:r>
              <a:rPr dirty="0" sz="2000" b="1">
                <a:solidFill>
                  <a:srgbClr val="9933FF"/>
                </a:solidFill>
                <a:latin typeface="宋体"/>
                <a:cs typeface="宋体"/>
              </a:rPr>
              <a:t>S+1</a:t>
            </a:r>
            <a:r>
              <a:rPr dirty="0" sz="2000" spc="-40" b="1">
                <a:solidFill>
                  <a:srgbClr val="00AFEF"/>
                </a:solidFill>
                <a:latin typeface="宋体"/>
                <a:cs typeface="宋体"/>
              </a:rPr>
              <a:t>组。</a:t>
            </a:r>
            <a:endParaRPr sz="2000">
              <a:latin typeface="宋体"/>
              <a:cs typeface="宋体"/>
            </a:endParaRPr>
          </a:p>
          <a:p>
            <a:pPr marL="1004569" indent="-457200">
              <a:lnSpc>
                <a:spcPct val="100000"/>
              </a:lnSpc>
              <a:spcBef>
                <a:spcPts val="815"/>
              </a:spcBef>
              <a:buSzPct val="89583"/>
              <a:buFont typeface="Wingdings"/>
              <a:buChar char=""/>
              <a:tabLst>
                <a:tab pos="1004569" algn="l"/>
              </a:tabLst>
            </a:pPr>
            <a:r>
              <a:rPr dirty="0" sz="2400" spc="-10">
                <a:solidFill>
                  <a:srgbClr val="40458B"/>
                </a:solidFill>
                <a:latin typeface="黑体"/>
                <a:cs typeface="黑体"/>
              </a:rPr>
              <a:t>运算过程如下：</a:t>
            </a:r>
            <a:endParaRPr sz="2400">
              <a:latin typeface="黑体"/>
              <a:cs typeface="黑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4.1</a:t>
            </a:r>
            <a:r>
              <a:rPr dirty="0" spc="-20"/>
              <a:t> 向量的处理方式</a:t>
            </a:r>
          </a:p>
        </p:txBody>
      </p:sp>
      <p:sp>
        <p:nvSpPr>
          <p:cNvPr id="10" name="object 10" descr=""/>
          <p:cNvSpPr txBox="1"/>
          <p:nvPr/>
        </p:nvSpPr>
        <p:spPr>
          <a:xfrm>
            <a:off x="2234945" y="1776476"/>
            <a:ext cx="6436360" cy="4446905"/>
          </a:xfrm>
          <a:prstGeom prst="rect">
            <a:avLst/>
          </a:prstGeom>
        </p:spPr>
        <p:txBody>
          <a:bodyPr wrap="square" lIns="0" tIns="13335" rIns="0" bIns="0" rtlCol="0" vert="horz">
            <a:spAutoFit/>
          </a:bodyPr>
          <a:lstStyle/>
          <a:p>
            <a:pPr marL="520065" indent="-456565">
              <a:lnSpc>
                <a:spcPct val="100000"/>
              </a:lnSpc>
              <a:spcBef>
                <a:spcPts val="105"/>
              </a:spcBef>
              <a:buClr>
                <a:srgbClr val="4668F5"/>
              </a:buClr>
              <a:buSzPct val="65000"/>
              <a:buFont typeface="Wingdings"/>
              <a:buChar char=""/>
              <a:tabLst>
                <a:tab pos="520065" algn="l"/>
              </a:tabLst>
            </a:pPr>
            <a:r>
              <a:rPr dirty="0" sz="2000" spc="-10" b="1">
                <a:solidFill>
                  <a:srgbClr val="00AFEF"/>
                </a:solidFill>
                <a:latin typeface="宋体"/>
                <a:cs typeface="宋体"/>
              </a:rPr>
              <a:t>先算第</a:t>
            </a:r>
            <a:r>
              <a:rPr dirty="0" sz="2000" b="1">
                <a:solidFill>
                  <a:srgbClr val="00AFEF"/>
                </a:solidFill>
                <a:latin typeface="宋体"/>
                <a:cs typeface="宋体"/>
              </a:rPr>
              <a:t>1</a:t>
            </a:r>
            <a:r>
              <a:rPr dirty="0" sz="2000" spc="-30" b="1">
                <a:solidFill>
                  <a:srgbClr val="00AFEF"/>
                </a:solidFill>
                <a:latin typeface="宋体"/>
                <a:cs typeface="宋体"/>
              </a:rPr>
              <a:t>组：</a:t>
            </a:r>
            <a:endParaRPr sz="2000">
              <a:latin typeface="宋体"/>
              <a:cs typeface="宋体"/>
            </a:endParaRPr>
          </a:p>
          <a:p>
            <a:pPr marL="835660">
              <a:lnSpc>
                <a:spcPct val="100000"/>
              </a:lnSpc>
              <a:spcBef>
                <a:spcPts val="1689"/>
              </a:spcBef>
            </a:pPr>
            <a:r>
              <a:rPr dirty="0" baseline="13888" sz="3000" spc="-15" b="1">
                <a:solidFill>
                  <a:srgbClr val="9933FF"/>
                </a:solidFill>
                <a:latin typeface="宋体"/>
                <a:cs typeface="宋体"/>
              </a:rPr>
              <a:t>Q</a:t>
            </a:r>
            <a:r>
              <a:rPr dirty="0" sz="1300" spc="-10" b="1">
                <a:solidFill>
                  <a:srgbClr val="9933FF"/>
                </a:solidFill>
                <a:latin typeface="宋体"/>
                <a:cs typeface="宋体"/>
              </a:rPr>
              <a:t>1～n</a:t>
            </a:r>
            <a:r>
              <a:rPr dirty="0" baseline="13888" sz="3000" spc="-15" b="1">
                <a:solidFill>
                  <a:srgbClr val="9933FF"/>
                </a:solidFill>
                <a:latin typeface="宋体"/>
                <a:cs typeface="宋体"/>
              </a:rPr>
              <a:t>←B</a:t>
            </a:r>
            <a:r>
              <a:rPr dirty="0" sz="1300" spc="-10" b="1">
                <a:solidFill>
                  <a:srgbClr val="9933FF"/>
                </a:solidFill>
                <a:latin typeface="宋体"/>
                <a:cs typeface="宋体"/>
              </a:rPr>
              <a:t>1～n</a:t>
            </a:r>
            <a:r>
              <a:rPr dirty="0" baseline="13888" sz="3000" spc="-15" b="1">
                <a:solidFill>
                  <a:srgbClr val="9933FF"/>
                </a:solidFill>
                <a:latin typeface="宋体"/>
                <a:cs typeface="宋体"/>
              </a:rPr>
              <a:t>－C</a:t>
            </a:r>
            <a:r>
              <a:rPr dirty="0" sz="1300" spc="-10" b="1">
                <a:solidFill>
                  <a:srgbClr val="9933FF"/>
                </a:solidFill>
                <a:latin typeface="宋体"/>
                <a:cs typeface="宋体"/>
              </a:rPr>
              <a:t>1～n</a:t>
            </a:r>
            <a:endParaRPr sz="1300">
              <a:latin typeface="宋体"/>
              <a:cs typeface="宋体"/>
            </a:endParaRPr>
          </a:p>
          <a:p>
            <a:pPr marL="835660">
              <a:lnSpc>
                <a:spcPct val="100000"/>
              </a:lnSpc>
              <a:spcBef>
                <a:spcPts val="1200"/>
              </a:spcBef>
            </a:pPr>
            <a:r>
              <a:rPr dirty="0" baseline="13888" sz="3000" spc="-15" b="1">
                <a:solidFill>
                  <a:srgbClr val="9933FF"/>
                </a:solidFill>
                <a:latin typeface="宋体"/>
                <a:cs typeface="宋体"/>
              </a:rPr>
              <a:t>D</a:t>
            </a:r>
            <a:r>
              <a:rPr dirty="0" sz="1300" spc="-10" b="1">
                <a:solidFill>
                  <a:srgbClr val="9933FF"/>
                </a:solidFill>
                <a:latin typeface="宋体"/>
                <a:cs typeface="宋体"/>
              </a:rPr>
              <a:t>1～n</a:t>
            </a:r>
            <a:r>
              <a:rPr dirty="0" baseline="13888" sz="3000" spc="-15" b="1">
                <a:solidFill>
                  <a:srgbClr val="9933FF"/>
                </a:solidFill>
                <a:latin typeface="宋体"/>
                <a:cs typeface="宋体"/>
              </a:rPr>
              <a:t>←Q</a:t>
            </a:r>
            <a:r>
              <a:rPr dirty="0" sz="1300" spc="-10" b="1">
                <a:solidFill>
                  <a:srgbClr val="9933FF"/>
                </a:solidFill>
                <a:latin typeface="宋体"/>
                <a:cs typeface="宋体"/>
              </a:rPr>
              <a:t>1～n</a:t>
            </a:r>
            <a:r>
              <a:rPr dirty="0" baseline="13888" sz="3000" spc="-15" b="1">
                <a:solidFill>
                  <a:srgbClr val="9933FF"/>
                </a:solidFill>
                <a:latin typeface="宋体"/>
                <a:cs typeface="宋体"/>
              </a:rPr>
              <a:t>×A</a:t>
            </a:r>
            <a:r>
              <a:rPr dirty="0" sz="1300" spc="-10" b="1">
                <a:solidFill>
                  <a:srgbClr val="9933FF"/>
                </a:solidFill>
                <a:latin typeface="宋体"/>
                <a:cs typeface="宋体"/>
              </a:rPr>
              <a:t>1～n</a:t>
            </a:r>
            <a:endParaRPr sz="1300">
              <a:latin typeface="宋体"/>
              <a:cs typeface="宋体"/>
            </a:endParaRPr>
          </a:p>
          <a:p>
            <a:pPr marL="520065" indent="-456565">
              <a:lnSpc>
                <a:spcPct val="100000"/>
              </a:lnSpc>
              <a:spcBef>
                <a:spcPts val="710"/>
              </a:spcBef>
              <a:buClr>
                <a:srgbClr val="4668F5"/>
              </a:buClr>
              <a:buSzPct val="65000"/>
              <a:buFont typeface="Wingdings"/>
              <a:buChar char=""/>
              <a:tabLst>
                <a:tab pos="520065" algn="l"/>
              </a:tabLst>
            </a:pPr>
            <a:r>
              <a:rPr dirty="0" sz="2000" spc="-10" b="1">
                <a:solidFill>
                  <a:srgbClr val="00AFEF"/>
                </a:solidFill>
                <a:latin typeface="宋体"/>
                <a:cs typeface="宋体"/>
              </a:rPr>
              <a:t>再算第</a:t>
            </a:r>
            <a:r>
              <a:rPr dirty="0" sz="2000" b="1">
                <a:solidFill>
                  <a:srgbClr val="00AFEF"/>
                </a:solidFill>
                <a:latin typeface="宋体"/>
                <a:cs typeface="宋体"/>
              </a:rPr>
              <a:t>2</a:t>
            </a:r>
            <a:r>
              <a:rPr dirty="0" sz="2000" spc="-30" b="1">
                <a:solidFill>
                  <a:srgbClr val="00AFEF"/>
                </a:solidFill>
                <a:latin typeface="宋体"/>
                <a:cs typeface="宋体"/>
              </a:rPr>
              <a:t>组：</a:t>
            </a:r>
            <a:endParaRPr sz="2000">
              <a:latin typeface="宋体"/>
              <a:cs typeface="宋体"/>
            </a:endParaRPr>
          </a:p>
          <a:p>
            <a:pPr marL="921385">
              <a:lnSpc>
                <a:spcPct val="100000"/>
              </a:lnSpc>
              <a:spcBef>
                <a:spcPts val="1689"/>
              </a:spcBef>
            </a:pPr>
            <a:r>
              <a:rPr dirty="0" baseline="13888" sz="3000" spc="-15" b="1">
                <a:solidFill>
                  <a:srgbClr val="9933FF"/>
                </a:solidFill>
                <a:latin typeface="宋体"/>
                <a:cs typeface="宋体"/>
              </a:rPr>
              <a:t>Q</a:t>
            </a:r>
            <a:r>
              <a:rPr dirty="0" sz="1300" spc="-10" b="1">
                <a:solidFill>
                  <a:srgbClr val="9933FF"/>
                </a:solidFill>
                <a:latin typeface="宋体"/>
                <a:cs typeface="宋体"/>
              </a:rPr>
              <a:t>(n+1)～2n</a:t>
            </a:r>
            <a:r>
              <a:rPr dirty="0" baseline="13888" sz="3000" spc="-15" b="1">
                <a:solidFill>
                  <a:srgbClr val="9933FF"/>
                </a:solidFill>
                <a:latin typeface="宋体"/>
                <a:cs typeface="宋体"/>
              </a:rPr>
              <a:t>←B</a:t>
            </a:r>
            <a:r>
              <a:rPr dirty="0" sz="1300" spc="-10" b="1">
                <a:solidFill>
                  <a:srgbClr val="9933FF"/>
                </a:solidFill>
                <a:latin typeface="宋体"/>
                <a:cs typeface="宋体"/>
              </a:rPr>
              <a:t>(n+1)～2n</a:t>
            </a:r>
            <a:r>
              <a:rPr dirty="0" baseline="13888" sz="3000" spc="-15" b="1">
                <a:solidFill>
                  <a:srgbClr val="9933FF"/>
                </a:solidFill>
                <a:latin typeface="宋体"/>
                <a:cs typeface="宋体"/>
              </a:rPr>
              <a:t>－C</a:t>
            </a:r>
            <a:r>
              <a:rPr dirty="0" sz="1300" spc="-10" b="1">
                <a:solidFill>
                  <a:srgbClr val="9933FF"/>
                </a:solidFill>
                <a:latin typeface="宋体"/>
                <a:cs typeface="宋体"/>
              </a:rPr>
              <a:t>(n+1)～2n</a:t>
            </a:r>
            <a:endParaRPr sz="1300">
              <a:latin typeface="宋体"/>
              <a:cs typeface="宋体"/>
            </a:endParaRPr>
          </a:p>
          <a:p>
            <a:pPr marL="835660">
              <a:lnSpc>
                <a:spcPct val="100000"/>
              </a:lnSpc>
              <a:spcBef>
                <a:spcPts val="1200"/>
              </a:spcBef>
            </a:pPr>
            <a:r>
              <a:rPr dirty="0" baseline="13888" sz="3000" spc="-15" b="1">
                <a:solidFill>
                  <a:srgbClr val="9933FF"/>
                </a:solidFill>
                <a:latin typeface="宋体"/>
                <a:cs typeface="宋体"/>
              </a:rPr>
              <a:t>D</a:t>
            </a:r>
            <a:r>
              <a:rPr dirty="0" sz="1300" spc="-10" b="1">
                <a:solidFill>
                  <a:srgbClr val="9933FF"/>
                </a:solidFill>
                <a:latin typeface="宋体"/>
                <a:cs typeface="宋体"/>
              </a:rPr>
              <a:t>(n+1)～2n</a:t>
            </a:r>
            <a:r>
              <a:rPr dirty="0" baseline="13888" sz="3000" spc="-15" b="1">
                <a:solidFill>
                  <a:srgbClr val="9933FF"/>
                </a:solidFill>
                <a:latin typeface="宋体"/>
                <a:cs typeface="宋体"/>
              </a:rPr>
              <a:t>←Q</a:t>
            </a:r>
            <a:r>
              <a:rPr dirty="0" sz="1300" spc="-10" b="1">
                <a:solidFill>
                  <a:srgbClr val="9933FF"/>
                </a:solidFill>
                <a:latin typeface="宋体"/>
                <a:cs typeface="宋体"/>
              </a:rPr>
              <a:t>(n+1)～2n</a:t>
            </a:r>
            <a:r>
              <a:rPr dirty="0" baseline="13888" sz="3000" spc="-15" b="1">
                <a:solidFill>
                  <a:srgbClr val="9933FF"/>
                </a:solidFill>
                <a:latin typeface="宋体"/>
                <a:cs typeface="宋体"/>
              </a:rPr>
              <a:t>×A</a:t>
            </a:r>
            <a:r>
              <a:rPr dirty="0" sz="1300" spc="-10" b="1">
                <a:solidFill>
                  <a:srgbClr val="9933FF"/>
                </a:solidFill>
                <a:latin typeface="宋体"/>
                <a:cs typeface="宋体"/>
              </a:rPr>
              <a:t>(n+1)～2n</a:t>
            </a:r>
            <a:endParaRPr sz="1300">
              <a:latin typeface="宋体"/>
              <a:cs typeface="宋体"/>
            </a:endParaRPr>
          </a:p>
          <a:p>
            <a:pPr marL="520065" indent="-456565">
              <a:lnSpc>
                <a:spcPct val="100000"/>
              </a:lnSpc>
              <a:spcBef>
                <a:spcPts val="710"/>
              </a:spcBef>
              <a:buClr>
                <a:srgbClr val="4668F5"/>
              </a:buClr>
              <a:buSzPct val="65000"/>
              <a:buFont typeface="Wingdings"/>
              <a:buChar char=""/>
              <a:tabLst>
                <a:tab pos="520065" algn="l"/>
              </a:tabLst>
            </a:pPr>
            <a:r>
              <a:rPr dirty="0" sz="2000" spc="-15" b="1">
                <a:solidFill>
                  <a:srgbClr val="00AFEF"/>
                </a:solidFill>
                <a:latin typeface="宋体"/>
                <a:cs typeface="宋体"/>
              </a:rPr>
              <a:t>依次进行下去，直到最后一组：第</a:t>
            </a:r>
            <a:r>
              <a:rPr dirty="0" sz="2000" spc="-20" b="1">
                <a:solidFill>
                  <a:srgbClr val="9933FF"/>
                </a:solidFill>
                <a:latin typeface="宋体"/>
                <a:cs typeface="宋体"/>
              </a:rPr>
              <a:t>S+1</a:t>
            </a:r>
            <a:r>
              <a:rPr dirty="0" sz="2000" spc="-35" b="1">
                <a:solidFill>
                  <a:srgbClr val="00AFEF"/>
                </a:solidFill>
                <a:latin typeface="宋体"/>
                <a:cs typeface="宋体"/>
              </a:rPr>
              <a:t>组。</a:t>
            </a:r>
            <a:endParaRPr sz="2000">
              <a:latin typeface="宋体"/>
              <a:cs typeface="宋体"/>
            </a:endParaRPr>
          </a:p>
          <a:p>
            <a:pPr marL="520065" indent="-456565">
              <a:lnSpc>
                <a:spcPct val="100000"/>
              </a:lnSpc>
              <a:spcBef>
                <a:spcPts val="1200"/>
              </a:spcBef>
              <a:buClr>
                <a:srgbClr val="4668F5"/>
              </a:buClr>
              <a:buSzPct val="65000"/>
              <a:buFont typeface="Wingdings"/>
              <a:buChar char=""/>
              <a:tabLst>
                <a:tab pos="520065" algn="l"/>
              </a:tabLst>
            </a:pPr>
            <a:r>
              <a:rPr dirty="0" sz="2000" spc="-15" b="1">
                <a:solidFill>
                  <a:srgbClr val="00AFEF"/>
                </a:solidFill>
                <a:latin typeface="宋体"/>
                <a:cs typeface="宋体"/>
              </a:rPr>
              <a:t>每组内各用两条向量指令。</a:t>
            </a:r>
            <a:endParaRPr sz="2000">
              <a:latin typeface="宋体"/>
              <a:cs typeface="宋体"/>
            </a:endParaRPr>
          </a:p>
          <a:p>
            <a:pPr marL="448945">
              <a:lnSpc>
                <a:spcPct val="100000"/>
              </a:lnSpc>
              <a:spcBef>
                <a:spcPts val="1200"/>
              </a:spcBef>
              <a:tabLst>
                <a:tab pos="2369185" algn="l"/>
              </a:tabLst>
            </a:pPr>
            <a:r>
              <a:rPr dirty="0" sz="2000" spc="-15" b="1">
                <a:solidFill>
                  <a:srgbClr val="00AFEF"/>
                </a:solidFill>
                <a:latin typeface="宋体"/>
                <a:cs typeface="宋体"/>
              </a:rPr>
              <a:t>数据相关</a:t>
            </a:r>
            <a:r>
              <a:rPr dirty="0" sz="2000" spc="-10" b="1">
                <a:solidFill>
                  <a:srgbClr val="00AFEF"/>
                </a:solidFill>
                <a:latin typeface="宋体"/>
                <a:cs typeface="宋体"/>
              </a:rPr>
              <a:t>：</a:t>
            </a:r>
            <a:r>
              <a:rPr dirty="0" sz="2000" spc="-10" b="1">
                <a:solidFill>
                  <a:srgbClr val="D50092"/>
                </a:solidFill>
                <a:latin typeface="宋体"/>
                <a:cs typeface="宋体"/>
              </a:rPr>
              <a:t>1</a:t>
            </a:r>
            <a:r>
              <a:rPr dirty="0" sz="2000" spc="-50" b="1">
                <a:solidFill>
                  <a:srgbClr val="D50092"/>
                </a:solidFill>
                <a:latin typeface="宋体"/>
                <a:cs typeface="宋体"/>
              </a:rPr>
              <a:t>次</a:t>
            </a:r>
            <a:r>
              <a:rPr dirty="0" sz="2000" b="1">
                <a:solidFill>
                  <a:srgbClr val="D50092"/>
                </a:solidFill>
                <a:latin typeface="宋体"/>
                <a:cs typeface="宋体"/>
              </a:rPr>
              <a:t>	</a:t>
            </a:r>
            <a:r>
              <a:rPr dirty="0" sz="2000" spc="-15" b="1">
                <a:solidFill>
                  <a:srgbClr val="00AFEF"/>
                </a:solidFill>
                <a:latin typeface="宋体"/>
                <a:cs typeface="宋体"/>
              </a:rPr>
              <a:t>功能切换</a:t>
            </a:r>
            <a:r>
              <a:rPr dirty="0" sz="2000" spc="-10" b="1">
                <a:solidFill>
                  <a:srgbClr val="00AFEF"/>
                </a:solidFill>
                <a:latin typeface="宋体"/>
                <a:cs typeface="宋体"/>
              </a:rPr>
              <a:t>：</a:t>
            </a:r>
            <a:r>
              <a:rPr dirty="0" sz="2000" spc="-10" b="1">
                <a:solidFill>
                  <a:srgbClr val="D50092"/>
                </a:solidFill>
                <a:latin typeface="宋体"/>
                <a:cs typeface="宋体"/>
              </a:rPr>
              <a:t>2</a:t>
            </a:r>
            <a:r>
              <a:rPr dirty="0" sz="2000" spc="-15" b="1">
                <a:solidFill>
                  <a:srgbClr val="D50092"/>
                </a:solidFill>
                <a:latin typeface="宋体"/>
                <a:cs typeface="宋体"/>
              </a:rPr>
              <a:t>次（从</a:t>
            </a:r>
            <a:r>
              <a:rPr dirty="0" sz="2000" spc="-20" b="1">
                <a:solidFill>
                  <a:srgbClr val="D50092"/>
                </a:solidFill>
                <a:latin typeface="宋体"/>
                <a:cs typeface="宋体"/>
              </a:rPr>
              <a:t>循</a:t>
            </a:r>
            <a:r>
              <a:rPr dirty="0" sz="2000" spc="-15" b="1">
                <a:solidFill>
                  <a:srgbClr val="D50092"/>
                </a:solidFill>
                <a:latin typeface="宋体"/>
                <a:cs typeface="宋体"/>
              </a:rPr>
              <a:t>环角</a:t>
            </a:r>
            <a:r>
              <a:rPr dirty="0" sz="2000" spc="-20" b="1">
                <a:solidFill>
                  <a:srgbClr val="D50092"/>
                </a:solidFill>
                <a:latin typeface="宋体"/>
                <a:cs typeface="宋体"/>
              </a:rPr>
              <a:t>度</a:t>
            </a:r>
            <a:r>
              <a:rPr dirty="0" sz="2000" spc="-15" b="1">
                <a:solidFill>
                  <a:srgbClr val="D50092"/>
                </a:solidFill>
                <a:latin typeface="宋体"/>
                <a:cs typeface="宋体"/>
              </a:rPr>
              <a:t>考虑</a:t>
            </a:r>
            <a:r>
              <a:rPr dirty="0" sz="2000" spc="-50" b="1">
                <a:solidFill>
                  <a:srgbClr val="D50092"/>
                </a:solidFill>
                <a:latin typeface="宋体"/>
                <a:cs typeface="宋体"/>
              </a:rPr>
              <a:t>）</a:t>
            </a:r>
            <a:endParaRPr sz="2000">
              <a:latin typeface="宋体"/>
              <a:cs typeface="宋体"/>
            </a:endParaRPr>
          </a:p>
          <a:p>
            <a:pPr marL="578485">
              <a:lnSpc>
                <a:spcPct val="100000"/>
              </a:lnSpc>
              <a:spcBef>
                <a:spcPts val="1205"/>
              </a:spcBef>
            </a:pPr>
            <a:r>
              <a:rPr dirty="0" sz="2000" spc="-20" b="1">
                <a:solidFill>
                  <a:srgbClr val="D50092"/>
                </a:solidFill>
                <a:latin typeface="宋体"/>
                <a:cs typeface="宋体"/>
              </a:rPr>
              <a:t>组间循环，循环次数也减少</a:t>
            </a:r>
            <a:endParaRPr sz="2000">
              <a:latin typeface="宋体"/>
              <a:cs typeface="宋体"/>
            </a:endParaRPr>
          </a:p>
        </p:txBody>
      </p:sp>
      <p:sp>
        <p:nvSpPr>
          <p:cNvPr id="11" name="object 11" descr=""/>
          <p:cNvSpPr txBox="1"/>
          <p:nvPr/>
        </p:nvSpPr>
        <p:spPr>
          <a:xfrm>
            <a:off x="455777" y="758317"/>
            <a:ext cx="7663815" cy="1123950"/>
          </a:xfrm>
          <a:prstGeom prst="rect">
            <a:avLst/>
          </a:prstGeom>
        </p:spPr>
        <p:txBody>
          <a:bodyPr wrap="square" lIns="0" tIns="195580" rIns="0" bIns="0" rtlCol="0" vert="horz">
            <a:spAutoFit/>
          </a:bodyPr>
          <a:lstStyle/>
          <a:p>
            <a:pPr marL="12700">
              <a:lnSpc>
                <a:spcPct val="100000"/>
              </a:lnSpc>
              <a:spcBef>
                <a:spcPts val="1540"/>
              </a:spcBef>
              <a:tabLst>
                <a:tab pos="4396105" algn="l"/>
              </a:tabLst>
            </a:pPr>
            <a:r>
              <a:rPr dirty="0" sz="2400" spc="-25">
                <a:solidFill>
                  <a:srgbClr val="FF0000"/>
                </a:solidFill>
                <a:latin typeface="Tahoma"/>
                <a:cs typeface="Tahoma"/>
              </a:rPr>
              <a:t>3</a:t>
            </a:r>
            <a:r>
              <a:rPr dirty="0" sz="2400">
                <a:solidFill>
                  <a:srgbClr val="FF0000"/>
                </a:solidFill>
                <a:latin typeface="黑体"/>
                <a:cs typeface="黑体"/>
              </a:rPr>
              <a:t>、纵横</a:t>
            </a:r>
            <a:r>
              <a:rPr dirty="0" sz="2400" spc="-430">
                <a:solidFill>
                  <a:srgbClr val="FF0000"/>
                </a:solidFill>
                <a:latin typeface="黑体"/>
                <a:cs typeface="黑体"/>
              </a:rPr>
              <a:t> </a:t>
            </a:r>
            <a:r>
              <a:rPr dirty="0" sz="2400" spc="-10">
                <a:solidFill>
                  <a:srgbClr val="FF0000"/>
                </a:solidFill>
                <a:latin typeface="Tahoma"/>
                <a:cs typeface="Tahoma"/>
              </a:rPr>
              <a:t>(</a:t>
            </a:r>
            <a:r>
              <a:rPr dirty="0" sz="2400">
                <a:solidFill>
                  <a:srgbClr val="FF0000"/>
                </a:solidFill>
                <a:latin typeface="黑体"/>
                <a:cs typeface="黑体"/>
              </a:rPr>
              <a:t>分组</a:t>
            </a:r>
            <a:r>
              <a:rPr dirty="0" sz="2400" spc="-10">
                <a:solidFill>
                  <a:srgbClr val="FF0000"/>
                </a:solidFill>
                <a:latin typeface="Tahoma"/>
                <a:cs typeface="Tahoma"/>
              </a:rPr>
              <a:t>)</a:t>
            </a:r>
            <a:r>
              <a:rPr dirty="0" sz="2400">
                <a:solidFill>
                  <a:srgbClr val="FF0000"/>
                </a:solidFill>
                <a:latin typeface="黑体"/>
                <a:cs typeface="黑体"/>
              </a:rPr>
              <a:t>处理方</a:t>
            </a:r>
            <a:r>
              <a:rPr dirty="0" sz="2400" spc="-50">
                <a:solidFill>
                  <a:srgbClr val="FF0000"/>
                </a:solidFill>
                <a:latin typeface="黑体"/>
                <a:cs typeface="黑体"/>
              </a:rPr>
              <a:t>式</a:t>
            </a:r>
            <a:r>
              <a:rPr dirty="0" sz="2400">
                <a:solidFill>
                  <a:srgbClr val="FF0000"/>
                </a:solidFill>
                <a:latin typeface="黑体"/>
                <a:cs typeface="黑体"/>
              </a:rPr>
              <a:t>	</a:t>
            </a:r>
            <a:r>
              <a:rPr dirty="0" sz="2400" spc="-20" b="1">
                <a:solidFill>
                  <a:srgbClr val="40458B"/>
                </a:solidFill>
                <a:latin typeface="宋体"/>
                <a:cs typeface="宋体"/>
              </a:rPr>
              <a:t>表达</a:t>
            </a:r>
            <a:r>
              <a:rPr dirty="0" sz="2400" spc="-30" b="1">
                <a:solidFill>
                  <a:srgbClr val="40458B"/>
                </a:solidFill>
                <a:latin typeface="宋体"/>
                <a:cs typeface="宋体"/>
              </a:rPr>
              <a:t>式</a:t>
            </a:r>
            <a:r>
              <a:rPr dirty="0" sz="2400" spc="-590" b="1">
                <a:solidFill>
                  <a:srgbClr val="40458B"/>
                </a:solidFill>
                <a:latin typeface="宋体"/>
                <a:cs typeface="宋体"/>
              </a:rPr>
              <a:t> </a:t>
            </a:r>
            <a:r>
              <a:rPr dirty="0" sz="2400" spc="-10" b="1">
                <a:solidFill>
                  <a:srgbClr val="40458B"/>
                </a:solidFill>
                <a:latin typeface="Times New Roman"/>
                <a:cs typeface="Times New Roman"/>
              </a:rPr>
              <a:t>D=A</a:t>
            </a:r>
            <a:r>
              <a:rPr dirty="0" sz="2400" spc="-10" b="1">
                <a:solidFill>
                  <a:srgbClr val="40458B"/>
                </a:solidFill>
                <a:latin typeface="宋体"/>
                <a:cs typeface="宋体"/>
              </a:rPr>
              <a:t>×（</a:t>
            </a:r>
            <a:r>
              <a:rPr dirty="0" sz="2400" spc="-10" b="1">
                <a:solidFill>
                  <a:srgbClr val="40458B"/>
                </a:solidFill>
                <a:latin typeface="Times New Roman"/>
                <a:cs typeface="Times New Roman"/>
              </a:rPr>
              <a:t>B</a:t>
            </a:r>
            <a:r>
              <a:rPr dirty="0" sz="2400" spc="-10" b="1">
                <a:solidFill>
                  <a:srgbClr val="40458B"/>
                </a:solidFill>
                <a:latin typeface="宋体"/>
                <a:cs typeface="宋体"/>
              </a:rPr>
              <a:t>－</a:t>
            </a:r>
            <a:r>
              <a:rPr dirty="0" sz="2400" spc="-10" b="1">
                <a:solidFill>
                  <a:srgbClr val="40458B"/>
                </a:solidFill>
                <a:latin typeface="Times New Roman"/>
                <a:cs typeface="Times New Roman"/>
              </a:rPr>
              <a:t>C</a:t>
            </a:r>
            <a:r>
              <a:rPr dirty="0" sz="2400" spc="-10" b="1">
                <a:solidFill>
                  <a:srgbClr val="40458B"/>
                </a:solidFill>
                <a:latin typeface="宋体"/>
                <a:cs typeface="宋体"/>
              </a:rPr>
              <a:t>）</a:t>
            </a:r>
            <a:endParaRPr sz="2400">
              <a:latin typeface="宋体"/>
              <a:cs typeface="宋体"/>
            </a:endParaRPr>
          </a:p>
          <a:p>
            <a:pPr marL="12700">
              <a:lnSpc>
                <a:spcPct val="100000"/>
              </a:lnSpc>
              <a:spcBef>
                <a:spcPts val="1445"/>
              </a:spcBef>
            </a:pPr>
            <a:r>
              <a:rPr dirty="0" sz="2400" spc="-10">
                <a:solidFill>
                  <a:srgbClr val="40458B"/>
                </a:solidFill>
                <a:latin typeface="黑体"/>
                <a:cs typeface="黑体"/>
              </a:rPr>
              <a:t>运算过程为：</a:t>
            </a:r>
            <a:endParaRPr sz="2400">
              <a:latin typeface="黑体"/>
              <a:cs typeface="黑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676452" y="972820"/>
            <a:ext cx="6280150" cy="3837304"/>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SzPct val="89583"/>
              <a:buFont typeface="Wingdings"/>
              <a:buChar char=""/>
              <a:tabLst>
                <a:tab pos="469265" algn="l"/>
              </a:tabLst>
            </a:pPr>
            <a:r>
              <a:rPr dirty="0" sz="2400" spc="-5">
                <a:solidFill>
                  <a:srgbClr val="006FC0"/>
                </a:solidFill>
                <a:latin typeface="黑体"/>
                <a:cs typeface="黑体"/>
              </a:rPr>
              <a:t>向量处理机的结构因具体机器不同而不同。</a:t>
            </a:r>
            <a:endParaRPr sz="2400">
              <a:latin typeface="黑体"/>
              <a:cs typeface="黑体"/>
            </a:endParaRPr>
          </a:p>
          <a:p>
            <a:pPr algn="ctr" marL="213995">
              <a:lnSpc>
                <a:spcPct val="100000"/>
              </a:lnSpc>
              <a:spcBef>
                <a:spcPts val="865"/>
              </a:spcBef>
            </a:pPr>
            <a:r>
              <a:rPr dirty="0" sz="2400" spc="-25" b="1">
                <a:solidFill>
                  <a:srgbClr val="FF5CFF"/>
                </a:solidFill>
                <a:latin typeface="宋体"/>
                <a:cs typeface="宋体"/>
              </a:rPr>
              <a:t>由所采用的向量处理方式决定。</a:t>
            </a:r>
            <a:endParaRPr sz="2400">
              <a:latin typeface="宋体"/>
              <a:cs typeface="宋体"/>
            </a:endParaRPr>
          </a:p>
          <a:p>
            <a:pPr marL="469265" indent="-456565">
              <a:lnSpc>
                <a:spcPct val="100000"/>
              </a:lnSpc>
              <a:spcBef>
                <a:spcPts val="865"/>
              </a:spcBef>
              <a:buClr>
                <a:srgbClr val="40458B"/>
              </a:buClr>
              <a:buSzPct val="89583"/>
              <a:buFont typeface="Wingdings"/>
              <a:buChar char=""/>
              <a:tabLst>
                <a:tab pos="469265" algn="l"/>
              </a:tabLst>
            </a:pPr>
            <a:r>
              <a:rPr dirty="0" sz="2400" spc="-10">
                <a:solidFill>
                  <a:srgbClr val="006FC0"/>
                </a:solidFill>
                <a:latin typeface="黑体"/>
                <a:cs typeface="黑体"/>
              </a:rPr>
              <a:t>有两种典型的结构</a:t>
            </a:r>
            <a:endParaRPr sz="2400">
              <a:latin typeface="黑体"/>
              <a:cs typeface="黑体"/>
            </a:endParaRPr>
          </a:p>
          <a:p>
            <a:pPr lvl="1" marL="1097915" indent="-457200">
              <a:lnSpc>
                <a:spcPct val="100000"/>
              </a:lnSpc>
              <a:spcBef>
                <a:spcPts val="770"/>
              </a:spcBef>
              <a:buClr>
                <a:srgbClr val="4668F5"/>
              </a:buClr>
              <a:buSzPct val="65000"/>
              <a:buFont typeface="Wingdings"/>
              <a:buChar char=""/>
              <a:tabLst>
                <a:tab pos="1097915" algn="l"/>
              </a:tabLst>
            </a:pPr>
            <a:r>
              <a:rPr dirty="0" sz="2000" spc="-10" b="1">
                <a:solidFill>
                  <a:srgbClr val="FF3300"/>
                </a:solidFill>
                <a:latin typeface="宋体"/>
                <a:cs typeface="宋体"/>
              </a:rPr>
              <a:t>存储器</a:t>
            </a:r>
            <a:r>
              <a:rPr dirty="0" sz="2000" spc="-10" b="1">
                <a:solidFill>
                  <a:srgbClr val="FF3300"/>
                </a:solidFill>
                <a:latin typeface="黑体"/>
                <a:cs typeface="黑体"/>
              </a:rPr>
              <a:t>-</a:t>
            </a:r>
            <a:r>
              <a:rPr dirty="0" sz="2000" spc="-20" b="1">
                <a:solidFill>
                  <a:srgbClr val="FF3300"/>
                </a:solidFill>
                <a:latin typeface="宋体"/>
                <a:cs typeface="宋体"/>
              </a:rPr>
              <a:t>存储器型结构</a:t>
            </a:r>
            <a:endParaRPr sz="2000">
              <a:latin typeface="宋体"/>
              <a:cs typeface="宋体"/>
            </a:endParaRPr>
          </a:p>
          <a:p>
            <a:pPr lvl="2" marL="1658620" indent="-381000">
              <a:lnSpc>
                <a:spcPct val="100000"/>
              </a:lnSpc>
              <a:spcBef>
                <a:spcPts val="725"/>
              </a:spcBef>
              <a:buClr>
                <a:srgbClr val="008000"/>
              </a:buClr>
              <a:buSzPct val="67500"/>
              <a:buFont typeface="Wingdings"/>
              <a:buChar char=""/>
              <a:tabLst>
                <a:tab pos="1658620" algn="l"/>
              </a:tabLst>
            </a:pPr>
            <a:r>
              <a:rPr dirty="0" sz="2000" spc="-20" b="1">
                <a:solidFill>
                  <a:srgbClr val="2C44A3"/>
                </a:solidFill>
                <a:latin typeface="宋体"/>
                <a:cs typeface="宋体"/>
              </a:rPr>
              <a:t>多个独立的存储器模块并行工作</a:t>
            </a:r>
            <a:endParaRPr sz="2000">
              <a:latin typeface="宋体"/>
              <a:cs typeface="宋体"/>
            </a:endParaRPr>
          </a:p>
          <a:p>
            <a:pPr lvl="2" marL="1658620" indent="-381000">
              <a:lnSpc>
                <a:spcPct val="100000"/>
              </a:lnSpc>
              <a:spcBef>
                <a:spcPts val="720"/>
              </a:spcBef>
              <a:buClr>
                <a:srgbClr val="008000"/>
              </a:buClr>
              <a:buSzPct val="67500"/>
              <a:buFont typeface="Wingdings"/>
              <a:buChar char=""/>
              <a:tabLst>
                <a:tab pos="1658620" algn="l"/>
              </a:tabLst>
            </a:pPr>
            <a:r>
              <a:rPr dirty="0" sz="2000" spc="-20" b="1">
                <a:solidFill>
                  <a:srgbClr val="40458B"/>
                </a:solidFill>
                <a:latin typeface="宋体"/>
                <a:cs typeface="宋体"/>
              </a:rPr>
              <a:t>纵向处理方式采用</a:t>
            </a:r>
            <a:endParaRPr sz="2000">
              <a:latin typeface="宋体"/>
              <a:cs typeface="宋体"/>
            </a:endParaRPr>
          </a:p>
          <a:p>
            <a:pPr lvl="1" marL="1097915" indent="-457200">
              <a:lnSpc>
                <a:spcPct val="100000"/>
              </a:lnSpc>
              <a:spcBef>
                <a:spcPts val="720"/>
              </a:spcBef>
              <a:buClr>
                <a:srgbClr val="4668F5"/>
              </a:buClr>
              <a:buSzPct val="65000"/>
              <a:buFont typeface="Wingdings"/>
              <a:buChar char=""/>
              <a:tabLst>
                <a:tab pos="1097915" algn="l"/>
              </a:tabLst>
            </a:pPr>
            <a:r>
              <a:rPr dirty="0" sz="2000" spc="-10" b="1">
                <a:solidFill>
                  <a:srgbClr val="FF3300"/>
                </a:solidFill>
                <a:latin typeface="宋体"/>
                <a:cs typeface="宋体"/>
              </a:rPr>
              <a:t>寄存器</a:t>
            </a:r>
            <a:r>
              <a:rPr dirty="0" sz="2000" spc="-10" b="1">
                <a:solidFill>
                  <a:srgbClr val="FF3300"/>
                </a:solidFill>
                <a:latin typeface="黑体"/>
                <a:cs typeface="黑体"/>
              </a:rPr>
              <a:t>-</a:t>
            </a:r>
            <a:r>
              <a:rPr dirty="0" sz="2000" spc="-20" b="1">
                <a:solidFill>
                  <a:srgbClr val="FF3300"/>
                </a:solidFill>
                <a:latin typeface="宋体"/>
                <a:cs typeface="宋体"/>
              </a:rPr>
              <a:t>寄存器型结构</a:t>
            </a:r>
            <a:endParaRPr sz="2000">
              <a:latin typeface="宋体"/>
              <a:cs typeface="宋体"/>
            </a:endParaRPr>
          </a:p>
          <a:p>
            <a:pPr lvl="2" marL="1658620" indent="-381000">
              <a:lnSpc>
                <a:spcPct val="100000"/>
              </a:lnSpc>
              <a:spcBef>
                <a:spcPts val="720"/>
              </a:spcBef>
              <a:buClr>
                <a:srgbClr val="008000"/>
              </a:buClr>
              <a:buSzPct val="67500"/>
              <a:buFont typeface="Wingdings"/>
              <a:buChar char=""/>
              <a:tabLst>
                <a:tab pos="1658620" algn="l"/>
              </a:tabLst>
            </a:pPr>
            <a:r>
              <a:rPr dirty="0" sz="2000" spc="-20" b="1">
                <a:solidFill>
                  <a:srgbClr val="2C44A3"/>
                </a:solidFill>
                <a:latin typeface="宋体"/>
                <a:cs typeface="宋体"/>
              </a:rPr>
              <a:t>运算通过向量寄存器进行</a:t>
            </a:r>
            <a:endParaRPr sz="2000">
              <a:latin typeface="宋体"/>
              <a:cs typeface="宋体"/>
            </a:endParaRPr>
          </a:p>
          <a:p>
            <a:pPr lvl="2" marL="1658620" indent="-381000">
              <a:lnSpc>
                <a:spcPct val="100000"/>
              </a:lnSpc>
              <a:spcBef>
                <a:spcPts val="720"/>
              </a:spcBef>
              <a:buClr>
                <a:srgbClr val="008000"/>
              </a:buClr>
              <a:buSzPct val="67500"/>
              <a:buFont typeface="Wingdings"/>
              <a:buChar char=""/>
              <a:tabLst>
                <a:tab pos="1658620" algn="l"/>
              </a:tabLst>
            </a:pPr>
            <a:r>
              <a:rPr dirty="0" sz="2000" spc="-20" b="1">
                <a:solidFill>
                  <a:srgbClr val="40458B"/>
                </a:solidFill>
                <a:latin typeface="宋体"/>
                <a:cs typeface="宋体"/>
              </a:rPr>
              <a:t>分组处理方式采用</a:t>
            </a:r>
            <a:endParaRPr sz="2000">
              <a:latin typeface="宋体"/>
              <a:cs typeface="宋体"/>
            </a:endParaRPr>
          </a:p>
        </p:txBody>
      </p:sp>
      <p:sp>
        <p:nvSpPr>
          <p:cNvPr id="10" name="object 10"/>
          <p:cNvSpPr txBox="1">
            <a:spLocks noGrp="1"/>
          </p:cNvSpPr>
          <p:nvPr>
            <p:ph type="title"/>
          </p:nvPr>
        </p:nvSpPr>
        <p:spPr>
          <a:xfrm>
            <a:off x="1196136" y="233883"/>
            <a:ext cx="3580765" cy="452120"/>
          </a:xfrm>
          <a:prstGeom prst="rect"/>
        </p:spPr>
        <p:txBody>
          <a:bodyPr wrap="square" lIns="0" tIns="12065" rIns="0" bIns="0" rtlCol="0" vert="horz">
            <a:spAutoFit/>
          </a:bodyPr>
          <a:lstStyle/>
          <a:p>
            <a:pPr marL="12700">
              <a:lnSpc>
                <a:spcPct val="100000"/>
              </a:lnSpc>
              <a:spcBef>
                <a:spcPts val="95"/>
              </a:spcBef>
            </a:pPr>
            <a:r>
              <a:rPr dirty="0" sz="2800">
                <a:solidFill>
                  <a:srgbClr val="006FC0"/>
                </a:solidFill>
              </a:rPr>
              <a:t>4.2</a:t>
            </a:r>
            <a:r>
              <a:rPr dirty="0" sz="2800" spc="-40">
                <a:solidFill>
                  <a:srgbClr val="006FC0"/>
                </a:solidFill>
              </a:rPr>
              <a:t> 向量处理机的结构</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455777" y="740156"/>
            <a:ext cx="8519795" cy="5041900"/>
          </a:xfrm>
          <a:prstGeom prst="rect">
            <a:avLst/>
          </a:prstGeom>
        </p:spPr>
        <p:txBody>
          <a:bodyPr wrap="square" lIns="0" tIns="13335" rIns="0" bIns="0" rtlCol="0" vert="horz">
            <a:spAutoFit/>
          </a:bodyPr>
          <a:lstStyle/>
          <a:p>
            <a:pPr marL="175260">
              <a:lnSpc>
                <a:spcPct val="100000"/>
              </a:lnSpc>
              <a:spcBef>
                <a:spcPts val="105"/>
              </a:spcBef>
            </a:pPr>
            <a:r>
              <a:rPr dirty="0" sz="2600">
                <a:solidFill>
                  <a:srgbClr val="0000CC"/>
                </a:solidFill>
                <a:latin typeface="黑体"/>
                <a:cs typeface="黑体"/>
              </a:rPr>
              <a:t>4.2.1</a:t>
            </a:r>
            <a:r>
              <a:rPr dirty="0" sz="2600" spc="10">
                <a:solidFill>
                  <a:srgbClr val="0000CC"/>
                </a:solidFill>
                <a:latin typeface="黑体"/>
                <a:cs typeface="黑体"/>
              </a:rPr>
              <a:t> </a:t>
            </a:r>
            <a:r>
              <a:rPr dirty="0" sz="2600" spc="-10">
                <a:solidFill>
                  <a:srgbClr val="0000CC"/>
                </a:solidFill>
                <a:latin typeface="Times New Roman"/>
                <a:cs typeface="Times New Roman"/>
              </a:rPr>
              <a:t>“</a:t>
            </a:r>
            <a:r>
              <a:rPr dirty="0" sz="2600" spc="-15">
                <a:solidFill>
                  <a:srgbClr val="0000CC"/>
                </a:solidFill>
                <a:latin typeface="黑体"/>
                <a:cs typeface="黑体"/>
              </a:rPr>
              <a:t>存储器-存储器”结构</a:t>
            </a:r>
            <a:endParaRPr sz="2600">
              <a:latin typeface="黑体"/>
              <a:cs typeface="黑体"/>
            </a:endParaRPr>
          </a:p>
          <a:p>
            <a:pPr marL="469265" indent="-456565">
              <a:lnSpc>
                <a:spcPct val="100000"/>
              </a:lnSpc>
              <a:spcBef>
                <a:spcPts val="2710"/>
              </a:spcBef>
              <a:buSzPct val="89583"/>
              <a:buFont typeface="Wingdings"/>
              <a:buChar char=""/>
              <a:tabLst>
                <a:tab pos="469265" algn="l"/>
              </a:tabLst>
            </a:pPr>
            <a:r>
              <a:rPr dirty="0" sz="2400" spc="-5">
                <a:solidFill>
                  <a:srgbClr val="40458B"/>
                </a:solidFill>
                <a:latin typeface="黑体"/>
                <a:cs typeface="黑体"/>
              </a:rPr>
              <a:t>采用纵向处理方式</a:t>
            </a:r>
            <a:r>
              <a:rPr dirty="0" sz="2400" spc="-35">
                <a:solidFill>
                  <a:srgbClr val="40458B"/>
                </a:solidFill>
                <a:latin typeface="Tahoma"/>
                <a:cs typeface="Tahoma"/>
              </a:rPr>
              <a:t>—</a:t>
            </a:r>
            <a:r>
              <a:rPr dirty="0" sz="2400" spc="-10">
                <a:solidFill>
                  <a:srgbClr val="40458B"/>
                </a:solidFill>
                <a:latin typeface="黑体"/>
                <a:cs typeface="黑体"/>
              </a:rPr>
              <a:t>向量长度</a:t>
            </a:r>
            <a:r>
              <a:rPr dirty="0" sz="2400" spc="-10">
                <a:solidFill>
                  <a:srgbClr val="40458B"/>
                </a:solidFill>
                <a:latin typeface="Tahoma"/>
                <a:cs typeface="Tahoma"/>
              </a:rPr>
              <a:t>N</a:t>
            </a:r>
            <a:r>
              <a:rPr dirty="0" sz="2400" spc="-20">
                <a:solidFill>
                  <a:srgbClr val="40458B"/>
                </a:solidFill>
                <a:latin typeface="黑体"/>
                <a:cs typeface="黑体"/>
              </a:rPr>
              <a:t>大小不受限制</a:t>
            </a:r>
            <a:endParaRPr sz="2400">
              <a:latin typeface="黑体"/>
              <a:cs typeface="黑体"/>
            </a:endParaRPr>
          </a:p>
          <a:p>
            <a:pPr lvl="1" marL="982980" indent="-227965">
              <a:lnSpc>
                <a:spcPct val="100000"/>
              </a:lnSpc>
              <a:spcBef>
                <a:spcPts val="1780"/>
              </a:spcBef>
              <a:buClr>
                <a:srgbClr val="006600"/>
              </a:buClr>
              <a:buSzPct val="65000"/>
              <a:buFont typeface="Wingdings"/>
              <a:buChar char=""/>
              <a:tabLst>
                <a:tab pos="982980" algn="l"/>
              </a:tabLst>
            </a:pPr>
            <a:r>
              <a:rPr dirty="0" sz="2000" spc="-10" b="1">
                <a:solidFill>
                  <a:srgbClr val="FF5CFF"/>
                </a:solidFill>
                <a:latin typeface="宋体"/>
                <a:cs typeface="宋体"/>
              </a:rPr>
              <a:t>无论</a:t>
            </a:r>
            <a:r>
              <a:rPr dirty="0" sz="2000" b="1">
                <a:solidFill>
                  <a:srgbClr val="FF5CFF"/>
                </a:solidFill>
                <a:latin typeface="Tahoma"/>
                <a:cs typeface="Tahoma"/>
              </a:rPr>
              <a:t>N</a:t>
            </a:r>
            <a:r>
              <a:rPr dirty="0" sz="2000" spc="-20" b="1">
                <a:solidFill>
                  <a:srgbClr val="FF5CFF"/>
                </a:solidFill>
                <a:latin typeface="宋体"/>
                <a:cs typeface="宋体"/>
              </a:rPr>
              <a:t>多大，相同的运算都用一条向量指令完成</a:t>
            </a:r>
            <a:r>
              <a:rPr dirty="0" sz="2000" spc="-10" b="1">
                <a:solidFill>
                  <a:srgbClr val="FF5CFF"/>
                </a:solidFill>
                <a:latin typeface="Tahoma"/>
                <a:cs typeface="Tahoma"/>
              </a:rPr>
              <a:t>(</a:t>
            </a:r>
            <a:r>
              <a:rPr dirty="0" sz="2000" spc="-15" b="1">
                <a:solidFill>
                  <a:srgbClr val="FF5CFF"/>
                </a:solidFill>
                <a:latin typeface="宋体"/>
                <a:cs typeface="宋体"/>
              </a:rPr>
              <a:t>联系静态流水线</a:t>
            </a:r>
            <a:r>
              <a:rPr dirty="0" sz="2000" spc="-50" b="1">
                <a:solidFill>
                  <a:srgbClr val="FF5CFF"/>
                </a:solidFill>
                <a:latin typeface="Tahoma"/>
                <a:cs typeface="Tahoma"/>
              </a:rPr>
              <a:t>)</a:t>
            </a:r>
            <a:endParaRPr sz="2000">
              <a:latin typeface="Tahoma"/>
              <a:cs typeface="Tahoma"/>
            </a:endParaRPr>
          </a:p>
          <a:p>
            <a:pPr marL="469265" indent="-456565">
              <a:lnSpc>
                <a:spcPct val="100000"/>
              </a:lnSpc>
              <a:spcBef>
                <a:spcPts val="1920"/>
              </a:spcBef>
              <a:buSzPct val="89583"/>
              <a:buFont typeface="Wingdings"/>
              <a:buChar char=""/>
              <a:tabLst>
                <a:tab pos="469265" algn="l"/>
              </a:tabLst>
            </a:pPr>
            <a:r>
              <a:rPr dirty="0" sz="2400" spc="-5">
                <a:solidFill>
                  <a:srgbClr val="40458B"/>
                </a:solidFill>
                <a:latin typeface="黑体"/>
                <a:cs typeface="黑体"/>
              </a:rPr>
              <a:t>向量指令的源向量和目的向量都是存放在存储器中，运算的</a:t>
            </a:r>
            <a:endParaRPr sz="2400">
              <a:latin typeface="黑体"/>
              <a:cs typeface="黑体"/>
            </a:endParaRPr>
          </a:p>
          <a:p>
            <a:pPr marL="469900">
              <a:lnSpc>
                <a:spcPct val="100000"/>
              </a:lnSpc>
              <a:spcBef>
                <a:spcPts val="1440"/>
              </a:spcBef>
            </a:pPr>
            <a:r>
              <a:rPr dirty="0" sz="2400" spc="-5">
                <a:solidFill>
                  <a:srgbClr val="40458B"/>
                </a:solidFill>
                <a:latin typeface="黑体"/>
                <a:cs typeface="黑体"/>
              </a:rPr>
              <a:t>中间结果需要送回存储器。</a:t>
            </a:r>
            <a:endParaRPr sz="2400">
              <a:latin typeface="黑体"/>
              <a:cs typeface="黑体"/>
            </a:endParaRPr>
          </a:p>
          <a:p>
            <a:pPr marL="469900" marR="5080" indent="-457200">
              <a:lnSpc>
                <a:spcPct val="150100"/>
              </a:lnSpc>
              <a:spcBef>
                <a:spcPts val="575"/>
              </a:spcBef>
              <a:buSzPct val="89583"/>
              <a:buFont typeface="Wingdings"/>
              <a:buChar char=""/>
              <a:tabLst>
                <a:tab pos="469900" algn="l"/>
              </a:tabLst>
            </a:pPr>
            <a:r>
              <a:rPr dirty="0" sz="2400">
                <a:solidFill>
                  <a:srgbClr val="40458B"/>
                </a:solidFill>
                <a:latin typeface="黑体"/>
                <a:cs typeface="黑体"/>
              </a:rPr>
              <a:t>流水线运算部件的输入和输出端都直接（或经过缓冲器）</a:t>
            </a:r>
            <a:r>
              <a:rPr dirty="0" sz="2400" spc="-50">
                <a:solidFill>
                  <a:srgbClr val="40458B"/>
                </a:solidFill>
                <a:latin typeface="黑体"/>
                <a:cs typeface="黑体"/>
              </a:rPr>
              <a:t>与</a:t>
            </a:r>
            <a:r>
              <a:rPr dirty="0" sz="2400" spc="-5">
                <a:solidFill>
                  <a:srgbClr val="40458B"/>
                </a:solidFill>
                <a:latin typeface="黑体"/>
                <a:cs typeface="黑体"/>
              </a:rPr>
              <a:t>存储器相联，从而构成存储器</a:t>
            </a:r>
            <a:r>
              <a:rPr dirty="0" sz="2400" spc="-10">
                <a:solidFill>
                  <a:srgbClr val="40458B"/>
                </a:solidFill>
                <a:latin typeface="Tahoma"/>
                <a:cs typeface="Tahoma"/>
              </a:rPr>
              <a:t>-</a:t>
            </a:r>
            <a:r>
              <a:rPr dirty="0" sz="2400" spc="-5">
                <a:solidFill>
                  <a:srgbClr val="40458B"/>
                </a:solidFill>
                <a:latin typeface="黑体"/>
                <a:cs typeface="黑体"/>
              </a:rPr>
              <a:t>存储器型操作的运算流水线。</a:t>
            </a:r>
            <a:endParaRPr sz="2400">
              <a:latin typeface="黑体"/>
              <a:cs typeface="黑体"/>
            </a:endParaRPr>
          </a:p>
          <a:p>
            <a:pPr marL="1097915" indent="-457834">
              <a:lnSpc>
                <a:spcPct val="100000"/>
              </a:lnSpc>
              <a:spcBef>
                <a:spcPts val="1780"/>
              </a:spcBef>
              <a:buClr>
                <a:srgbClr val="4668F5"/>
              </a:buClr>
              <a:buSzPct val="60000"/>
              <a:buFont typeface="Wingdings"/>
              <a:buChar char=""/>
              <a:tabLst>
                <a:tab pos="1097915" algn="l"/>
              </a:tabLst>
            </a:pPr>
            <a:r>
              <a:rPr dirty="0" sz="2000" spc="-10" b="1">
                <a:solidFill>
                  <a:srgbClr val="080808"/>
                </a:solidFill>
                <a:latin typeface="宋体"/>
                <a:cs typeface="宋体"/>
              </a:rPr>
              <a:t>例如：</a:t>
            </a:r>
            <a:r>
              <a:rPr dirty="0" sz="2000" spc="-10" b="1">
                <a:solidFill>
                  <a:srgbClr val="9933FF"/>
                </a:solidFill>
                <a:latin typeface="宋体"/>
                <a:cs typeface="宋体"/>
              </a:rPr>
              <a:t>STAR-</a:t>
            </a:r>
            <a:r>
              <a:rPr dirty="0" sz="2000" spc="-20" b="1">
                <a:solidFill>
                  <a:srgbClr val="9933FF"/>
                </a:solidFill>
                <a:latin typeface="宋体"/>
                <a:cs typeface="宋体"/>
              </a:rPr>
              <a:t>100</a:t>
            </a:r>
            <a:r>
              <a:rPr dirty="0" sz="2000" spc="-10" b="1">
                <a:solidFill>
                  <a:srgbClr val="9933FF"/>
                </a:solidFill>
                <a:latin typeface="宋体"/>
                <a:cs typeface="宋体"/>
              </a:rPr>
              <a:t>、</a:t>
            </a:r>
            <a:r>
              <a:rPr dirty="0" sz="2000" spc="-20" b="1">
                <a:solidFill>
                  <a:srgbClr val="9933FF"/>
                </a:solidFill>
                <a:latin typeface="宋体"/>
                <a:cs typeface="宋体"/>
              </a:rPr>
              <a:t>CYBER-</a:t>
            </a:r>
            <a:r>
              <a:rPr dirty="0" sz="2000" spc="-25" b="1">
                <a:solidFill>
                  <a:srgbClr val="9933FF"/>
                </a:solidFill>
                <a:latin typeface="宋体"/>
                <a:cs typeface="宋体"/>
              </a:rPr>
              <a:t>205</a:t>
            </a:r>
            <a:endParaRPr sz="2000">
              <a:latin typeface="宋体"/>
              <a:cs typeface="宋体"/>
            </a:endParaRPr>
          </a:p>
          <a:p>
            <a:pPr marL="640080">
              <a:lnSpc>
                <a:spcPct val="100000"/>
              </a:lnSpc>
              <a:spcBef>
                <a:spcPts val="1680"/>
              </a:spcBef>
            </a:pPr>
            <a:r>
              <a:rPr dirty="0" sz="2000" spc="-20" b="1">
                <a:solidFill>
                  <a:srgbClr val="9933FF"/>
                </a:solidFill>
                <a:latin typeface="宋体"/>
                <a:cs typeface="宋体"/>
              </a:rPr>
              <a:t>如下图所示：</a:t>
            </a:r>
            <a:endParaRPr sz="200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905967" y="4102989"/>
            <a:ext cx="7378700" cy="1220470"/>
          </a:xfrm>
          <a:prstGeom prst="rect">
            <a:avLst/>
          </a:prstGeom>
        </p:spPr>
        <p:txBody>
          <a:bodyPr wrap="square" lIns="0" tIns="12700" rIns="0" bIns="0" rtlCol="0" vert="horz">
            <a:spAutoFit/>
          </a:bodyPr>
          <a:lstStyle/>
          <a:p>
            <a:pPr algn="ctr" marL="95885">
              <a:lnSpc>
                <a:spcPct val="100000"/>
              </a:lnSpc>
              <a:spcBef>
                <a:spcPts val="100"/>
              </a:spcBef>
            </a:pPr>
            <a:r>
              <a:rPr dirty="0" sz="2000" spc="-25" b="1">
                <a:solidFill>
                  <a:srgbClr val="40458B"/>
                </a:solidFill>
                <a:latin typeface="宋体"/>
                <a:cs typeface="宋体"/>
              </a:rPr>
              <a:t>“存储器－存储器”型操作的运算流水线</a:t>
            </a:r>
            <a:endParaRPr sz="2000">
              <a:latin typeface="宋体"/>
              <a:cs typeface="宋体"/>
            </a:endParaRPr>
          </a:p>
          <a:p>
            <a:pPr>
              <a:lnSpc>
                <a:spcPct val="100000"/>
              </a:lnSpc>
              <a:spcBef>
                <a:spcPts val="1525"/>
              </a:spcBef>
            </a:pPr>
            <a:endParaRPr sz="2000">
              <a:latin typeface="宋体"/>
              <a:cs typeface="宋体"/>
            </a:endParaRPr>
          </a:p>
          <a:p>
            <a:pPr marL="12700">
              <a:lnSpc>
                <a:spcPct val="100000"/>
              </a:lnSpc>
            </a:pPr>
            <a:r>
              <a:rPr dirty="0" sz="2400" spc="-20" b="1">
                <a:solidFill>
                  <a:srgbClr val="FF0000"/>
                </a:solidFill>
                <a:latin typeface="宋体"/>
                <a:cs typeface="宋体"/>
              </a:rPr>
              <a:t>每拍</a:t>
            </a:r>
            <a:r>
              <a:rPr dirty="0" sz="2400" spc="-25" b="1">
                <a:solidFill>
                  <a:srgbClr val="080808"/>
                </a:solidFill>
                <a:latin typeface="宋体"/>
                <a:cs typeface="宋体"/>
              </a:rPr>
              <a:t>从存储器读取</a:t>
            </a:r>
            <a:r>
              <a:rPr dirty="0" sz="2400" spc="-20" b="1">
                <a:solidFill>
                  <a:srgbClr val="FF5CFF"/>
                </a:solidFill>
                <a:latin typeface="宋体"/>
                <a:cs typeface="宋体"/>
              </a:rPr>
              <a:t>两个</a:t>
            </a:r>
            <a:r>
              <a:rPr dirty="0" sz="2400" spc="-20" b="1">
                <a:solidFill>
                  <a:srgbClr val="080808"/>
                </a:solidFill>
                <a:latin typeface="宋体"/>
                <a:cs typeface="宋体"/>
              </a:rPr>
              <a:t>数据，并向存储器写回</a:t>
            </a:r>
            <a:r>
              <a:rPr dirty="0" sz="2400" spc="-20" b="1">
                <a:solidFill>
                  <a:srgbClr val="FF5CFF"/>
                </a:solidFill>
                <a:latin typeface="宋体"/>
                <a:cs typeface="宋体"/>
              </a:rPr>
              <a:t>一个</a:t>
            </a:r>
            <a:r>
              <a:rPr dirty="0" sz="2400" spc="-35" b="1">
                <a:solidFill>
                  <a:srgbClr val="080808"/>
                </a:solidFill>
                <a:latin typeface="宋体"/>
                <a:cs typeface="宋体"/>
              </a:rPr>
              <a:t>结果</a:t>
            </a:r>
            <a:endParaRPr sz="2400">
              <a:latin typeface="宋体"/>
              <a:cs typeface="宋体"/>
            </a:endParaRPr>
          </a:p>
        </p:txBody>
      </p:sp>
      <p:grpSp>
        <p:nvGrpSpPr>
          <p:cNvPr id="11" name="object 11" descr=""/>
          <p:cNvGrpSpPr/>
          <p:nvPr/>
        </p:nvGrpSpPr>
        <p:grpSpPr>
          <a:xfrm>
            <a:off x="2211081" y="2194449"/>
            <a:ext cx="692150" cy="101600"/>
            <a:chOff x="2211081" y="2194449"/>
            <a:chExt cx="692150" cy="101600"/>
          </a:xfrm>
        </p:grpSpPr>
        <p:sp>
          <p:nvSpPr>
            <p:cNvPr id="12" name="object 12" descr=""/>
            <p:cNvSpPr/>
            <p:nvPr/>
          </p:nvSpPr>
          <p:spPr>
            <a:xfrm>
              <a:off x="2212798" y="2196169"/>
              <a:ext cx="688340" cy="98425"/>
            </a:xfrm>
            <a:custGeom>
              <a:avLst/>
              <a:gdLst/>
              <a:ahLst/>
              <a:cxnLst/>
              <a:rect l="l" t="t" r="r" b="b"/>
              <a:pathLst>
                <a:path w="688339" h="98425">
                  <a:moveTo>
                    <a:pt x="540252" y="0"/>
                  </a:moveTo>
                  <a:lnTo>
                    <a:pt x="587303" y="47803"/>
                  </a:lnTo>
                  <a:lnTo>
                    <a:pt x="540252" y="98035"/>
                  </a:lnTo>
                  <a:lnTo>
                    <a:pt x="654291" y="59306"/>
                  </a:lnTo>
                  <a:lnTo>
                    <a:pt x="593421" y="59306"/>
                  </a:lnTo>
                  <a:lnTo>
                    <a:pt x="599540" y="53248"/>
                  </a:lnTo>
                  <a:lnTo>
                    <a:pt x="599540" y="44786"/>
                  </a:lnTo>
                  <a:lnTo>
                    <a:pt x="596481" y="38728"/>
                  </a:lnTo>
                  <a:lnTo>
                    <a:pt x="593421" y="35711"/>
                  </a:lnTo>
                  <a:lnTo>
                    <a:pt x="650749" y="35711"/>
                  </a:lnTo>
                  <a:lnTo>
                    <a:pt x="540252" y="0"/>
                  </a:lnTo>
                  <a:close/>
                </a:path>
                <a:path w="688339" h="98425">
                  <a:moveTo>
                    <a:pt x="575401" y="35711"/>
                  </a:moveTo>
                  <a:lnTo>
                    <a:pt x="6118" y="35711"/>
                  </a:lnTo>
                  <a:lnTo>
                    <a:pt x="3059" y="38728"/>
                  </a:lnTo>
                  <a:lnTo>
                    <a:pt x="0" y="44786"/>
                  </a:lnTo>
                  <a:lnTo>
                    <a:pt x="0" y="53248"/>
                  </a:lnTo>
                  <a:lnTo>
                    <a:pt x="6118" y="59306"/>
                  </a:lnTo>
                  <a:lnTo>
                    <a:pt x="576528" y="59306"/>
                  </a:lnTo>
                  <a:lnTo>
                    <a:pt x="587303" y="47803"/>
                  </a:lnTo>
                  <a:lnTo>
                    <a:pt x="575401" y="35711"/>
                  </a:lnTo>
                  <a:close/>
                </a:path>
                <a:path w="688339" h="98425">
                  <a:moveTo>
                    <a:pt x="650749" y="35711"/>
                  </a:moveTo>
                  <a:lnTo>
                    <a:pt x="593421" y="35711"/>
                  </a:lnTo>
                  <a:lnTo>
                    <a:pt x="596481" y="38728"/>
                  </a:lnTo>
                  <a:lnTo>
                    <a:pt x="599540" y="44786"/>
                  </a:lnTo>
                  <a:lnTo>
                    <a:pt x="599540" y="53248"/>
                  </a:lnTo>
                  <a:lnTo>
                    <a:pt x="593421" y="59306"/>
                  </a:lnTo>
                  <a:lnTo>
                    <a:pt x="654291" y="59306"/>
                  </a:lnTo>
                  <a:lnTo>
                    <a:pt x="688164" y="47803"/>
                  </a:lnTo>
                  <a:lnTo>
                    <a:pt x="650749" y="35711"/>
                  </a:lnTo>
                  <a:close/>
                </a:path>
              </a:pathLst>
            </a:custGeom>
            <a:solidFill>
              <a:srgbClr val="000000"/>
            </a:solidFill>
          </p:spPr>
          <p:txBody>
            <a:bodyPr wrap="square" lIns="0" tIns="0" rIns="0" bIns="0" rtlCol="0"/>
            <a:lstStyle/>
            <a:p/>
          </p:txBody>
        </p:sp>
        <p:sp>
          <p:nvSpPr>
            <p:cNvPr id="13" name="object 13" descr=""/>
            <p:cNvSpPr/>
            <p:nvPr/>
          </p:nvSpPr>
          <p:spPr>
            <a:xfrm>
              <a:off x="2212798" y="2196169"/>
              <a:ext cx="688340" cy="98425"/>
            </a:xfrm>
            <a:custGeom>
              <a:avLst/>
              <a:gdLst/>
              <a:ahLst/>
              <a:cxnLst/>
              <a:rect l="l" t="t" r="r" b="b"/>
              <a:pathLst>
                <a:path w="688339" h="98425">
                  <a:moveTo>
                    <a:pt x="12237" y="35711"/>
                  </a:moveTo>
                  <a:lnTo>
                    <a:pt x="587303" y="35711"/>
                  </a:lnTo>
                  <a:lnTo>
                    <a:pt x="593421" y="35711"/>
                  </a:lnTo>
                  <a:lnTo>
                    <a:pt x="596481" y="38728"/>
                  </a:lnTo>
                  <a:lnTo>
                    <a:pt x="599540" y="44786"/>
                  </a:lnTo>
                  <a:lnTo>
                    <a:pt x="599540" y="47803"/>
                  </a:lnTo>
                  <a:lnTo>
                    <a:pt x="599540" y="53248"/>
                  </a:lnTo>
                  <a:lnTo>
                    <a:pt x="596481" y="56289"/>
                  </a:lnTo>
                  <a:lnTo>
                    <a:pt x="593421" y="59306"/>
                  </a:lnTo>
                  <a:lnTo>
                    <a:pt x="587303" y="59306"/>
                  </a:lnTo>
                  <a:lnTo>
                    <a:pt x="12237" y="59306"/>
                  </a:lnTo>
                  <a:lnTo>
                    <a:pt x="6118" y="59306"/>
                  </a:lnTo>
                  <a:lnTo>
                    <a:pt x="3059" y="56289"/>
                  </a:lnTo>
                  <a:lnTo>
                    <a:pt x="0" y="53248"/>
                  </a:lnTo>
                  <a:lnTo>
                    <a:pt x="0" y="47803"/>
                  </a:lnTo>
                  <a:lnTo>
                    <a:pt x="0" y="44786"/>
                  </a:lnTo>
                  <a:lnTo>
                    <a:pt x="3059" y="38728"/>
                  </a:lnTo>
                  <a:lnTo>
                    <a:pt x="6118" y="35711"/>
                  </a:lnTo>
                  <a:lnTo>
                    <a:pt x="12237" y="35711"/>
                  </a:lnTo>
                  <a:close/>
                </a:path>
                <a:path w="688339" h="98425">
                  <a:moveTo>
                    <a:pt x="587303" y="47803"/>
                  </a:moveTo>
                  <a:lnTo>
                    <a:pt x="540252" y="0"/>
                  </a:lnTo>
                  <a:lnTo>
                    <a:pt x="688164" y="47803"/>
                  </a:lnTo>
                  <a:lnTo>
                    <a:pt x="540252" y="98035"/>
                  </a:lnTo>
                  <a:lnTo>
                    <a:pt x="587303" y="47803"/>
                  </a:lnTo>
                  <a:close/>
                </a:path>
              </a:pathLst>
            </a:custGeom>
            <a:ln w="3443">
              <a:solidFill>
                <a:srgbClr val="000000"/>
              </a:solidFill>
            </a:ln>
          </p:spPr>
          <p:txBody>
            <a:bodyPr wrap="square" lIns="0" tIns="0" rIns="0" bIns="0" rtlCol="0"/>
            <a:lstStyle/>
            <a:p/>
          </p:txBody>
        </p:sp>
      </p:grpSp>
      <p:grpSp>
        <p:nvGrpSpPr>
          <p:cNvPr id="14" name="object 14" descr=""/>
          <p:cNvGrpSpPr/>
          <p:nvPr/>
        </p:nvGrpSpPr>
        <p:grpSpPr>
          <a:xfrm>
            <a:off x="3976075" y="1884033"/>
            <a:ext cx="950594" cy="100965"/>
            <a:chOff x="3976075" y="1884033"/>
            <a:chExt cx="950594" cy="100965"/>
          </a:xfrm>
        </p:grpSpPr>
        <p:sp>
          <p:nvSpPr>
            <p:cNvPr id="15" name="object 15" descr=""/>
            <p:cNvSpPr/>
            <p:nvPr/>
          </p:nvSpPr>
          <p:spPr>
            <a:xfrm>
              <a:off x="3977792" y="1885753"/>
              <a:ext cx="946785" cy="97790"/>
            </a:xfrm>
            <a:custGeom>
              <a:avLst/>
              <a:gdLst/>
              <a:ahLst/>
              <a:cxnLst/>
              <a:rect l="l" t="t" r="r" b="b"/>
              <a:pathLst>
                <a:path w="946785" h="97789">
                  <a:moveTo>
                    <a:pt x="798228" y="0"/>
                  </a:moveTo>
                  <a:lnTo>
                    <a:pt x="848313" y="50207"/>
                  </a:lnTo>
                  <a:lnTo>
                    <a:pt x="798228" y="97421"/>
                  </a:lnTo>
                  <a:lnTo>
                    <a:pt x="908640" y="62323"/>
                  </a:lnTo>
                  <a:lnTo>
                    <a:pt x="848313" y="62323"/>
                  </a:lnTo>
                  <a:lnTo>
                    <a:pt x="851273" y="59282"/>
                  </a:lnTo>
                  <a:lnTo>
                    <a:pt x="857441" y="59282"/>
                  </a:lnTo>
                  <a:lnTo>
                    <a:pt x="860402" y="53248"/>
                  </a:lnTo>
                  <a:lnTo>
                    <a:pt x="860402" y="44173"/>
                  </a:lnTo>
                  <a:lnTo>
                    <a:pt x="857441" y="41132"/>
                  </a:lnTo>
                  <a:lnTo>
                    <a:pt x="851273" y="38115"/>
                  </a:lnTo>
                  <a:lnTo>
                    <a:pt x="848313" y="35687"/>
                  </a:lnTo>
                  <a:lnTo>
                    <a:pt x="903801" y="35687"/>
                  </a:lnTo>
                  <a:lnTo>
                    <a:pt x="798228" y="0"/>
                  </a:lnTo>
                  <a:close/>
                </a:path>
                <a:path w="946785" h="97789">
                  <a:moveTo>
                    <a:pt x="833828" y="35687"/>
                  </a:moveTo>
                  <a:lnTo>
                    <a:pt x="12212" y="35687"/>
                  </a:lnTo>
                  <a:lnTo>
                    <a:pt x="6118" y="38115"/>
                  </a:lnTo>
                  <a:lnTo>
                    <a:pt x="0" y="44173"/>
                  </a:lnTo>
                  <a:lnTo>
                    <a:pt x="0" y="53248"/>
                  </a:lnTo>
                  <a:lnTo>
                    <a:pt x="3059" y="59282"/>
                  </a:lnTo>
                  <a:lnTo>
                    <a:pt x="6118" y="59282"/>
                  </a:lnTo>
                  <a:lnTo>
                    <a:pt x="12212" y="62323"/>
                  </a:lnTo>
                  <a:lnTo>
                    <a:pt x="835460" y="62323"/>
                  </a:lnTo>
                  <a:lnTo>
                    <a:pt x="848313" y="50207"/>
                  </a:lnTo>
                  <a:lnTo>
                    <a:pt x="833828" y="35687"/>
                  </a:lnTo>
                  <a:close/>
                </a:path>
                <a:path w="946785" h="97789">
                  <a:moveTo>
                    <a:pt x="903801" y="35687"/>
                  </a:moveTo>
                  <a:lnTo>
                    <a:pt x="848313" y="35687"/>
                  </a:lnTo>
                  <a:lnTo>
                    <a:pt x="851273" y="38115"/>
                  </a:lnTo>
                  <a:lnTo>
                    <a:pt x="857441" y="41132"/>
                  </a:lnTo>
                  <a:lnTo>
                    <a:pt x="860402" y="44173"/>
                  </a:lnTo>
                  <a:lnTo>
                    <a:pt x="860402" y="53248"/>
                  </a:lnTo>
                  <a:lnTo>
                    <a:pt x="857441" y="59282"/>
                  </a:lnTo>
                  <a:lnTo>
                    <a:pt x="851273" y="59282"/>
                  </a:lnTo>
                  <a:lnTo>
                    <a:pt x="848313" y="62323"/>
                  </a:lnTo>
                  <a:lnTo>
                    <a:pt x="908640" y="62323"/>
                  </a:lnTo>
                  <a:lnTo>
                    <a:pt x="946756" y="50207"/>
                  </a:lnTo>
                  <a:lnTo>
                    <a:pt x="903801" y="35687"/>
                  </a:lnTo>
                  <a:close/>
                </a:path>
              </a:pathLst>
            </a:custGeom>
            <a:solidFill>
              <a:srgbClr val="000000"/>
            </a:solidFill>
          </p:spPr>
          <p:txBody>
            <a:bodyPr wrap="square" lIns="0" tIns="0" rIns="0" bIns="0" rtlCol="0"/>
            <a:lstStyle/>
            <a:p/>
          </p:txBody>
        </p:sp>
        <p:sp>
          <p:nvSpPr>
            <p:cNvPr id="16" name="object 16" descr=""/>
            <p:cNvSpPr/>
            <p:nvPr/>
          </p:nvSpPr>
          <p:spPr>
            <a:xfrm>
              <a:off x="3977792" y="1885753"/>
              <a:ext cx="946785" cy="97790"/>
            </a:xfrm>
            <a:custGeom>
              <a:avLst/>
              <a:gdLst/>
              <a:ahLst/>
              <a:cxnLst/>
              <a:rect l="l" t="t" r="r" b="b"/>
              <a:pathLst>
                <a:path w="946785" h="97789">
                  <a:moveTo>
                    <a:pt x="12212" y="35687"/>
                  </a:moveTo>
                  <a:lnTo>
                    <a:pt x="848313" y="35687"/>
                  </a:lnTo>
                  <a:lnTo>
                    <a:pt x="851273" y="38115"/>
                  </a:lnTo>
                  <a:lnTo>
                    <a:pt x="857441" y="41132"/>
                  </a:lnTo>
                  <a:lnTo>
                    <a:pt x="860402" y="44173"/>
                  </a:lnTo>
                  <a:lnTo>
                    <a:pt x="860402" y="50207"/>
                  </a:lnTo>
                  <a:lnTo>
                    <a:pt x="860402" y="53248"/>
                  </a:lnTo>
                  <a:lnTo>
                    <a:pt x="857441" y="59282"/>
                  </a:lnTo>
                  <a:lnTo>
                    <a:pt x="851273" y="59282"/>
                  </a:lnTo>
                  <a:lnTo>
                    <a:pt x="848313" y="62323"/>
                  </a:lnTo>
                  <a:lnTo>
                    <a:pt x="12212" y="62323"/>
                  </a:lnTo>
                  <a:lnTo>
                    <a:pt x="6118" y="59282"/>
                  </a:lnTo>
                  <a:lnTo>
                    <a:pt x="3059" y="59282"/>
                  </a:lnTo>
                  <a:lnTo>
                    <a:pt x="0" y="53248"/>
                  </a:lnTo>
                  <a:lnTo>
                    <a:pt x="0" y="50207"/>
                  </a:lnTo>
                  <a:lnTo>
                    <a:pt x="0" y="44173"/>
                  </a:lnTo>
                  <a:lnTo>
                    <a:pt x="3059" y="41132"/>
                  </a:lnTo>
                  <a:lnTo>
                    <a:pt x="6118" y="38115"/>
                  </a:lnTo>
                  <a:lnTo>
                    <a:pt x="12212" y="35687"/>
                  </a:lnTo>
                  <a:close/>
                </a:path>
                <a:path w="946785" h="97789">
                  <a:moveTo>
                    <a:pt x="848313" y="50207"/>
                  </a:moveTo>
                  <a:lnTo>
                    <a:pt x="798228" y="0"/>
                  </a:lnTo>
                  <a:lnTo>
                    <a:pt x="946756" y="50207"/>
                  </a:lnTo>
                  <a:lnTo>
                    <a:pt x="798228" y="97421"/>
                  </a:lnTo>
                  <a:lnTo>
                    <a:pt x="848313" y="50207"/>
                  </a:lnTo>
                  <a:close/>
                </a:path>
              </a:pathLst>
            </a:custGeom>
            <a:ln w="3443">
              <a:solidFill>
                <a:srgbClr val="000000"/>
              </a:solidFill>
            </a:ln>
          </p:spPr>
          <p:txBody>
            <a:bodyPr wrap="square" lIns="0" tIns="0" rIns="0" bIns="0" rtlCol="0"/>
            <a:lstStyle/>
            <a:p/>
          </p:txBody>
        </p:sp>
      </p:grpSp>
      <p:grpSp>
        <p:nvGrpSpPr>
          <p:cNvPr id="17" name="object 17" descr=""/>
          <p:cNvGrpSpPr/>
          <p:nvPr/>
        </p:nvGrpSpPr>
        <p:grpSpPr>
          <a:xfrm>
            <a:off x="3976075" y="2194449"/>
            <a:ext cx="950594" cy="101600"/>
            <a:chOff x="3976075" y="2194449"/>
            <a:chExt cx="950594" cy="101600"/>
          </a:xfrm>
        </p:grpSpPr>
        <p:sp>
          <p:nvSpPr>
            <p:cNvPr id="18" name="object 18" descr=""/>
            <p:cNvSpPr/>
            <p:nvPr/>
          </p:nvSpPr>
          <p:spPr>
            <a:xfrm>
              <a:off x="3977792" y="2196169"/>
              <a:ext cx="946785" cy="98425"/>
            </a:xfrm>
            <a:custGeom>
              <a:avLst/>
              <a:gdLst/>
              <a:ahLst/>
              <a:cxnLst/>
              <a:rect l="l" t="t" r="r" b="b"/>
              <a:pathLst>
                <a:path w="946785" h="98425">
                  <a:moveTo>
                    <a:pt x="798228" y="0"/>
                  </a:moveTo>
                  <a:lnTo>
                    <a:pt x="848313" y="47803"/>
                  </a:lnTo>
                  <a:lnTo>
                    <a:pt x="798228" y="98035"/>
                  </a:lnTo>
                  <a:lnTo>
                    <a:pt x="912742" y="59306"/>
                  </a:lnTo>
                  <a:lnTo>
                    <a:pt x="851273" y="59306"/>
                  </a:lnTo>
                  <a:lnTo>
                    <a:pt x="857441" y="56289"/>
                  </a:lnTo>
                  <a:lnTo>
                    <a:pt x="860402" y="53248"/>
                  </a:lnTo>
                  <a:lnTo>
                    <a:pt x="860402" y="44786"/>
                  </a:lnTo>
                  <a:lnTo>
                    <a:pt x="857441" y="38728"/>
                  </a:lnTo>
                  <a:lnTo>
                    <a:pt x="851273" y="35711"/>
                  </a:lnTo>
                  <a:lnTo>
                    <a:pt x="909185" y="35711"/>
                  </a:lnTo>
                  <a:lnTo>
                    <a:pt x="798228" y="0"/>
                  </a:lnTo>
                  <a:close/>
                </a:path>
                <a:path w="946785" h="98425">
                  <a:moveTo>
                    <a:pt x="835644" y="35711"/>
                  </a:moveTo>
                  <a:lnTo>
                    <a:pt x="6118" y="35711"/>
                  </a:lnTo>
                  <a:lnTo>
                    <a:pt x="3059" y="38728"/>
                  </a:lnTo>
                  <a:lnTo>
                    <a:pt x="0" y="44786"/>
                  </a:lnTo>
                  <a:lnTo>
                    <a:pt x="0" y="53248"/>
                  </a:lnTo>
                  <a:lnTo>
                    <a:pt x="6118" y="59306"/>
                  </a:lnTo>
                  <a:lnTo>
                    <a:pt x="836843" y="59306"/>
                  </a:lnTo>
                  <a:lnTo>
                    <a:pt x="848313" y="47803"/>
                  </a:lnTo>
                  <a:lnTo>
                    <a:pt x="835644" y="35711"/>
                  </a:lnTo>
                  <a:close/>
                </a:path>
                <a:path w="946785" h="98425">
                  <a:moveTo>
                    <a:pt x="909185" y="35711"/>
                  </a:moveTo>
                  <a:lnTo>
                    <a:pt x="851273" y="35711"/>
                  </a:lnTo>
                  <a:lnTo>
                    <a:pt x="857441" y="38728"/>
                  </a:lnTo>
                  <a:lnTo>
                    <a:pt x="860402" y="44786"/>
                  </a:lnTo>
                  <a:lnTo>
                    <a:pt x="860402" y="53248"/>
                  </a:lnTo>
                  <a:lnTo>
                    <a:pt x="857441" y="56289"/>
                  </a:lnTo>
                  <a:lnTo>
                    <a:pt x="851273" y="59306"/>
                  </a:lnTo>
                  <a:lnTo>
                    <a:pt x="912742" y="59306"/>
                  </a:lnTo>
                  <a:lnTo>
                    <a:pt x="946756" y="47803"/>
                  </a:lnTo>
                  <a:lnTo>
                    <a:pt x="909185" y="35711"/>
                  </a:lnTo>
                  <a:close/>
                </a:path>
              </a:pathLst>
            </a:custGeom>
            <a:solidFill>
              <a:srgbClr val="000000"/>
            </a:solidFill>
          </p:spPr>
          <p:txBody>
            <a:bodyPr wrap="square" lIns="0" tIns="0" rIns="0" bIns="0" rtlCol="0"/>
            <a:lstStyle/>
            <a:p/>
          </p:txBody>
        </p:sp>
        <p:sp>
          <p:nvSpPr>
            <p:cNvPr id="19" name="object 19" descr=""/>
            <p:cNvSpPr/>
            <p:nvPr/>
          </p:nvSpPr>
          <p:spPr>
            <a:xfrm>
              <a:off x="3977792" y="2196169"/>
              <a:ext cx="946785" cy="98425"/>
            </a:xfrm>
            <a:custGeom>
              <a:avLst/>
              <a:gdLst/>
              <a:ahLst/>
              <a:cxnLst/>
              <a:rect l="l" t="t" r="r" b="b"/>
              <a:pathLst>
                <a:path w="946785" h="98425">
                  <a:moveTo>
                    <a:pt x="12212" y="35711"/>
                  </a:moveTo>
                  <a:lnTo>
                    <a:pt x="848313" y="35711"/>
                  </a:lnTo>
                  <a:lnTo>
                    <a:pt x="851273" y="35711"/>
                  </a:lnTo>
                  <a:lnTo>
                    <a:pt x="857441" y="38728"/>
                  </a:lnTo>
                  <a:lnTo>
                    <a:pt x="860402" y="44786"/>
                  </a:lnTo>
                  <a:lnTo>
                    <a:pt x="860402" y="47803"/>
                  </a:lnTo>
                  <a:lnTo>
                    <a:pt x="860402" y="53248"/>
                  </a:lnTo>
                  <a:lnTo>
                    <a:pt x="857441" y="56289"/>
                  </a:lnTo>
                  <a:lnTo>
                    <a:pt x="851273" y="59306"/>
                  </a:lnTo>
                  <a:lnTo>
                    <a:pt x="848313" y="59306"/>
                  </a:lnTo>
                  <a:lnTo>
                    <a:pt x="12212" y="59306"/>
                  </a:lnTo>
                  <a:lnTo>
                    <a:pt x="6118" y="59306"/>
                  </a:lnTo>
                  <a:lnTo>
                    <a:pt x="3059" y="56289"/>
                  </a:lnTo>
                  <a:lnTo>
                    <a:pt x="0" y="53248"/>
                  </a:lnTo>
                  <a:lnTo>
                    <a:pt x="0" y="47803"/>
                  </a:lnTo>
                  <a:lnTo>
                    <a:pt x="0" y="44786"/>
                  </a:lnTo>
                  <a:lnTo>
                    <a:pt x="3059" y="38728"/>
                  </a:lnTo>
                  <a:lnTo>
                    <a:pt x="6118" y="35711"/>
                  </a:lnTo>
                  <a:lnTo>
                    <a:pt x="12212" y="35711"/>
                  </a:lnTo>
                  <a:close/>
                </a:path>
                <a:path w="946785" h="98425">
                  <a:moveTo>
                    <a:pt x="848313" y="47803"/>
                  </a:moveTo>
                  <a:lnTo>
                    <a:pt x="798228" y="0"/>
                  </a:lnTo>
                  <a:lnTo>
                    <a:pt x="946756" y="47803"/>
                  </a:lnTo>
                  <a:lnTo>
                    <a:pt x="798228" y="98035"/>
                  </a:lnTo>
                  <a:lnTo>
                    <a:pt x="848313" y="47803"/>
                  </a:lnTo>
                  <a:close/>
                </a:path>
              </a:pathLst>
            </a:custGeom>
            <a:ln w="3443">
              <a:solidFill>
                <a:srgbClr val="000000"/>
              </a:solidFill>
            </a:ln>
          </p:spPr>
          <p:txBody>
            <a:bodyPr wrap="square" lIns="0" tIns="0" rIns="0" bIns="0" rtlCol="0"/>
            <a:lstStyle/>
            <a:p/>
          </p:txBody>
        </p:sp>
      </p:grpSp>
      <p:grpSp>
        <p:nvGrpSpPr>
          <p:cNvPr id="20" name="object 20" descr=""/>
          <p:cNvGrpSpPr/>
          <p:nvPr/>
        </p:nvGrpSpPr>
        <p:grpSpPr>
          <a:xfrm>
            <a:off x="2223316" y="3417423"/>
            <a:ext cx="692150" cy="100965"/>
            <a:chOff x="2223316" y="3417423"/>
            <a:chExt cx="692150" cy="100965"/>
          </a:xfrm>
        </p:grpSpPr>
        <p:sp>
          <p:nvSpPr>
            <p:cNvPr id="21" name="object 21" descr=""/>
            <p:cNvSpPr/>
            <p:nvPr/>
          </p:nvSpPr>
          <p:spPr>
            <a:xfrm>
              <a:off x="2225036" y="3419143"/>
              <a:ext cx="688340" cy="97790"/>
            </a:xfrm>
            <a:custGeom>
              <a:avLst/>
              <a:gdLst/>
              <a:ahLst/>
              <a:cxnLst/>
              <a:rect l="l" t="t" r="r" b="b"/>
              <a:pathLst>
                <a:path w="688339" h="97789">
                  <a:moveTo>
                    <a:pt x="147886" y="0"/>
                  </a:moveTo>
                  <a:lnTo>
                    <a:pt x="0" y="50231"/>
                  </a:lnTo>
                  <a:lnTo>
                    <a:pt x="147886" y="97421"/>
                  </a:lnTo>
                  <a:lnTo>
                    <a:pt x="109991" y="61734"/>
                  </a:lnTo>
                  <a:lnTo>
                    <a:pt x="97776" y="61734"/>
                  </a:lnTo>
                  <a:lnTo>
                    <a:pt x="94717" y="58693"/>
                  </a:lnTo>
                  <a:lnTo>
                    <a:pt x="88598" y="58693"/>
                  </a:lnTo>
                  <a:lnTo>
                    <a:pt x="88598" y="53248"/>
                  </a:lnTo>
                  <a:lnTo>
                    <a:pt x="86156" y="50231"/>
                  </a:lnTo>
                  <a:lnTo>
                    <a:pt x="88598" y="44173"/>
                  </a:lnTo>
                  <a:lnTo>
                    <a:pt x="88598" y="41156"/>
                  </a:lnTo>
                  <a:lnTo>
                    <a:pt x="94717" y="38139"/>
                  </a:lnTo>
                  <a:lnTo>
                    <a:pt x="97776" y="35098"/>
                  </a:lnTo>
                  <a:lnTo>
                    <a:pt x="112873" y="35098"/>
                  </a:lnTo>
                  <a:lnTo>
                    <a:pt x="147886" y="0"/>
                  </a:lnTo>
                  <a:close/>
                </a:path>
                <a:path w="688339" h="97789">
                  <a:moveTo>
                    <a:pt x="112873" y="35098"/>
                  </a:moveTo>
                  <a:lnTo>
                    <a:pt x="97776" y="35098"/>
                  </a:lnTo>
                  <a:lnTo>
                    <a:pt x="94717" y="38139"/>
                  </a:lnTo>
                  <a:lnTo>
                    <a:pt x="88598" y="41156"/>
                  </a:lnTo>
                  <a:lnTo>
                    <a:pt x="88598" y="44173"/>
                  </a:lnTo>
                  <a:lnTo>
                    <a:pt x="86156" y="50231"/>
                  </a:lnTo>
                  <a:lnTo>
                    <a:pt x="88598" y="53248"/>
                  </a:lnTo>
                  <a:lnTo>
                    <a:pt x="88598" y="58693"/>
                  </a:lnTo>
                  <a:lnTo>
                    <a:pt x="94717" y="58693"/>
                  </a:lnTo>
                  <a:lnTo>
                    <a:pt x="97776" y="61734"/>
                  </a:lnTo>
                  <a:lnTo>
                    <a:pt x="109991" y="61734"/>
                  </a:lnTo>
                  <a:lnTo>
                    <a:pt x="97776" y="50231"/>
                  </a:lnTo>
                  <a:lnTo>
                    <a:pt x="112873" y="35098"/>
                  </a:lnTo>
                  <a:close/>
                </a:path>
                <a:path w="688339" h="97789">
                  <a:moveTo>
                    <a:pt x="675926" y="35098"/>
                  </a:moveTo>
                  <a:lnTo>
                    <a:pt x="112873" y="35098"/>
                  </a:lnTo>
                  <a:lnTo>
                    <a:pt x="97776" y="50231"/>
                  </a:lnTo>
                  <a:lnTo>
                    <a:pt x="109991" y="61734"/>
                  </a:lnTo>
                  <a:lnTo>
                    <a:pt x="675926" y="61734"/>
                  </a:lnTo>
                  <a:lnTo>
                    <a:pt x="678961" y="58693"/>
                  </a:lnTo>
                  <a:lnTo>
                    <a:pt x="685080" y="58693"/>
                  </a:lnTo>
                  <a:lnTo>
                    <a:pt x="685080" y="53248"/>
                  </a:lnTo>
                  <a:lnTo>
                    <a:pt x="688139" y="50231"/>
                  </a:lnTo>
                  <a:lnTo>
                    <a:pt x="685080" y="44173"/>
                  </a:lnTo>
                  <a:lnTo>
                    <a:pt x="685080" y="41156"/>
                  </a:lnTo>
                  <a:lnTo>
                    <a:pt x="678961" y="38139"/>
                  </a:lnTo>
                  <a:lnTo>
                    <a:pt x="675926" y="35098"/>
                  </a:lnTo>
                  <a:close/>
                </a:path>
              </a:pathLst>
            </a:custGeom>
            <a:solidFill>
              <a:srgbClr val="000000"/>
            </a:solidFill>
          </p:spPr>
          <p:txBody>
            <a:bodyPr wrap="square" lIns="0" tIns="0" rIns="0" bIns="0" rtlCol="0"/>
            <a:lstStyle/>
            <a:p/>
          </p:txBody>
        </p:sp>
        <p:sp>
          <p:nvSpPr>
            <p:cNvPr id="22" name="object 22" descr=""/>
            <p:cNvSpPr/>
            <p:nvPr/>
          </p:nvSpPr>
          <p:spPr>
            <a:xfrm>
              <a:off x="2225036" y="3419143"/>
              <a:ext cx="688340" cy="97790"/>
            </a:xfrm>
            <a:custGeom>
              <a:avLst/>
              <a:gdLst/>
              <a:ahLst/>
              <a:cxnLst/>
              <a:rect l="l" t="t" r="r" b="b"/>
              <a:pathLst>
                <a:path w="688339" h="97789">
                  <a:moveTo>
                    <a:pt x="675926" y="61734"/>
                  </a:moveTo>
                  <a:lnTo>
                    <a:pt x="97776" y="61734"/>
                  </a:lnTo>
                  <a:lnTo>
                    <a:pt x="94717" y="58693"/>
                  </a:lnTo>
                  <a:lnTo>
                    <a:pt x="88598" y="58693"/>
                  </a:lnTo>
                  <a:lnTo>
                    <a:pt x="88598" y="53248"/>
                  </a:lnTo>
                  <a:lnTo>
                    <a:pt x="86156" y="50231"/>
                  </a:lnTo>
                  <a:lnTo>
                    <a:pt x="88598" y="44173"/>
                  </a:lnTo>
                  <a:lnTo>
                    <a:pt x="88598" y="41156"/>
                  </a:lnTo>
                  <a:lnTo>
                    <a:pt x="94717" y="38139"/>
                  </a:lnTo>
                  <a:lnTo>
                    <a:pt x="97776" y="35098"/>
                  </a:lnTo>
                  <a:lnTo>
                    <a:pt x="675926" y="35098"/>
                  </a:lnTo>
                  <a:lnTo>
                    <a:pt x="678961" y="38139"/>
                  </a:lnTo>
                  <a:lnTo>
                    <a:pt x="685080" y="41156"/>
                  </a:lnTo>
                  <a:lnTo>
                    <a:pt x="685080" y="44173"/>
                  </a:lnTo>
                  <a:lnTo>
                    <a:pt x="688139" y="50231"/>
                  </a:lnTo>
                  <a:lnTo>
                    <a:pt x="685080" y="53248"/>
                  </a:lnTo>
                  <a:lnTo>
                    <a:pt x="685080" y="58693"/>
                  </a:lnTo>
                  <a:lnTo>
                    <a:pt x="678961" y="58693"/>
                  </a:lnTo>
                  <a:lnTo>
                    <a:pt x="675926" y="61734"/>
                  </a:lnTo>
                  <a:close/>
                </a:path>
                <a:path w="688339" h="97789">
                  <a:moveTo>
                    <a:pt x="97776" y="50231"/>
                  </a:moveTo>
                  <a:lnTo>
                    <a:pt x="147886" y="97421"/>
                  </a:lnTo>
                  <a:lnTo>
                    <a:pt x="0" y="50231"/>
                  </a:lnTo>
                  <a:lnTo>
                    <a:pt x="147886" y="0"/>
                  </a:lnTo>
                  <a:lnTo>
                    <a:pt x="97776" y="50231"/>
                  </a:lnTo>
                  <a:close/>
                </a:path>
              </a:pathLst>
            </a:custGeom>
            <a:ln w="3443">
              <a:solidFill>
                <a:srgbClr val="000000"/>
              </a:solidFill>
            </a:ln>
          </p:spPr>
          <p:txBody>
            <a:bodyPr wrap="square" lIns="0" tIns="0" rIns="0" bIns="0" rtlCol="0"/>
            <a:lstStyle/>
            <a:p/>
          </p:txBody>
        </p:sp>
      </p:grpSp>
      <p:grpSp>
        <p:nvGrpSpPr>
          <p:cNvPr id="23" name="object 23" descr=""/>
          <p:cNvGrpSpPr/>
          <p:nvPr/>
        </p:nvGrpSpPr>
        <p:grpSpPr>
          <a:xfrm>
            <a:off x="2211081" y="1887049"/>
            <a:ext cx="692150" cy="104139"/>
            <a:chOff x="2211081" y="1887049"/>
            <a:chExt cx="692150" cy="104139"/>
          </a:xfrm>
        </p:grpSpPr>
        <p:sp>
          <p:nvSpPr>
            <p:cNvPr id="24" name="object 24" descr=""/>
            <p:cNvSpPr/>
            <p:nvPr/>
          </p:nvSpPr>
          <p:spPr>
            <a:xfrm>
              <a:off x="2212798" y="1888770"/>
              <a:ext cx="688340" cy="100965"/>
            </a:xfrm>
            <a:custGeom>
              <a:avLst/>
              <a:gdLst/>
              <a:ahLst/>
              <a:cxnLst/>
              <a:rect l="l" t="t" r="r" b="b"/>
              <a:pathLst>
                <a:path w="688339" h="100964">
                  <a:moveTo>
                    <a:pt x="540252" y="0"/>
                  </a:moveTo>
                  <a:lnTo>
                    <a:pt x="587303" y="50231"/>
                  </a:lnTo>
                  <a:lnTo>
                    <a:pt x="540252" y="100438"/>
                  </a:lnTo>
                  <a:lnTo>
                    <a:pt x="654347" y="61710"/>
                  </a:lnTo>
                  <a:lnTo>
                    <a:pt x="593421" y="61710"/>
                  </a:lnTo>
                  <a:lnTo>
                    <a:pt x="596481" y="59306"/>
                  </a:lnTo>
                  <a:lnTo>
                    <a:pt x="599540" y="56265"/>
                  </a:lnTo>
                  <a:lnTo>
                    <a:pt x="599540" y="44173"/>
                  </a:lnTo>
                  <a:lnTo>
                    <a:pt x="593421" y="38115"/>
                  </a:lnTo>
                  <a:lnTo>
                    <a:pt x="652486" y="38115"/>
                  </a:lnTo>
                  <a:lnTo>
                    <a:pt x="540252" y="0"/>
                  </a:lnTo>
                  <a:close/>
                </a:path>
                <a:path w="688339" h="100964">
                  <a:moveTo>
                    <a:pt x="575954" y="38115"/>
                  </a:moveTo>
                  <a:lnTo>
                    <a:pt x="6118" y="38115"/>
                  </a:lnTo>
                  <a:lnTo>
                    <a:pt x="0" y="44173"/>
                  </a:lnTo>
                  <a:lnTo>
                    <a:pt x="0" y="56265"/>
                  </a:lnTo>
                  <a:lnTo>
                    <a:pt x="3059" y="59306"/>
                  </a:lnTo>
                  <a:lnTo>
                    <a:pt x="6118" y="61710"/>
                  </a:lnTo>
                  <a:lnTo>
                    <a:pt x="576546" y="61710"/>
                  </a:lnTo>
                  <a:lnTo>
                    <a:pt x="587303" y="50231"/>
                  </a:lnTo>
                  <a:lnTo>
                    <a:pt x="575954" y="38115"/>
                  </a:lnTo>
                  <a:close/>
                </a:path>
                <a:path w="688339" h="100964">
                  <a:moveTo>
                    <a:pt x="652486" y="38115"/>
                  </a:moveTo>
                  <a:lnTo>
                    <a:pt x="593421" y="38115"/>
                  </a:lnTo>
                  <a:lnTo>
                    <a:pt x="599540" y="44173"/>
                  </a:lnTo>
                  <a:lnTo>
                    <a:pt x="599540" y="56265"/>
                  </a:lnTo>
                  <a:lnTo>
                    <a:pt x="596481" y="59306"/>
                  </a:lnTo>
                  <a:lnTo>
                    <a:pt x="593421" y="61710"/>
                  </a:lnTo>
                  <a:lnTo>
                    <a:pt x="654347" y="61710"/>
                  </a:lnTo>
                  <a:lnTo>
                    <a:pt x="688164" y="50231"/>
                  </a:lnTo>
                  <a:lnTo>
                    <a:pt x="652486" y="38115"/>
                  </a:lnTo>
                  <a:close/>
                </a:path>
              </a:pathLst>
            </a:custGeom>
            <a:solidFill>
              <a:srgbClr val="000000"/>
            </a:solidFill>
          </p:spPr>
          <p:txBody>
            <a:bodyPr wrap="square" lIns="0" tIns="0" rIns="0" bIns="0" rtlCol="0"/>
            <a:lstStyle/>
            <a:p/>
          </p:txBody>
        </p:sp>
        <p:sp>
          <p:nvSpPr>
            <p:cNvPr id="25" name="object 25" descr=""/>
            <p:cNvSpPr/>
            <p:nvPr/>
          </p:nvSpPr>
          <p:spPr>
            <a:xfrm>
              <a:off x="2212798" y="1888770"/>
              <a:ext cx="688340" cy="100965"/>
            </a:xfrm>
            <a:custGeom>
              <a:avLst/>
              <a:gdLst/>
              <a:ahLst/>
              <a:cxnLst/>
              <a:rect l="l" t="t" r="r" b="b"/>
              <a:pathLst>
                <a:path w="688339" h="100964">
                  <a:moveTo>
                    <a:pt x="12237" y="38115"/>
                  </a:moveTo>
                  <a:lnTo>
                    <a:pt x="587303" y="38115"/>
                  </a:lnTo>
                  <a:lnTo>
                    <a:pt x="593421" y="38115"/>
                  </a:lnTo>
                  <a:lnTo>
                    <a:pt x="596481" y="41156"/>
                  </a:lnTo>
                  <a:lnTo>
                    <a:pt x="599540" y="44173"/>
                  </a:lnTo>
                  <a:lnTo>
                    <a:pt x="599540" y="50231"/>
                  </a:lnTo>
                  <a:lnTo>
                    <a:pt x="599540" y="56265"/>
                  </a:lnTo>
                  <a:lnTo>
                    <a:pt x="596481" y="59306"/>
                  </a:lnTo>
                  <a:lnTo>
                    <a:pt x="593421" y="61710"/>
                  </a:lnTo>
                  <a:lnTo>
                    <a:pt x="587303" y="61710"/>
                  </a:lnTo>
                  <a:lnTo>
                    <a:pt x="12237" y="61710"/>
                  </a:lnTo>
                  <a:lnTo>
                    <a:pt x="6118" y="61710"/>
                  </a:lnTo>
                  <a:lnTo>
                    <a:pt x="3059" y="59306"/>
                  </a:lnTo>
                  <a:lnTo>
                    <a:pt x="0" y="56265"/>
                  </a:lnTo>
                  <a:lnTo>
                    <a:pt x="0" y="50231"/>
                  </a:lnTo>
                  <a:lnTo>
                    <a:pt x="0" y="44173"/>
                  </a:lnTo>
                  <a:lnTo>
                    <a:pt x="3059" y="41156"/>
                  </a:lnTo>
                  <a:lnTo>
                    <a:pt x="6118" y="38115"/>
                  </a:lnTo>
                  <a:lnTo>
                    <a:pt x="12237" y="38115"/>
                  </a:lnTo>
                  <a:close/>
                </a:path>
                <a:path w="688339" h="100964">
                  <a:moveTo>
                    <a:pt x="587303" y="50231"/>
                  </a:moveTo>
                  <a:lnTo>
                    <a:pt x="540252" y="0"/>
                  </a:lnTo>
                  <a:lnTo>
                    <a:pt x="688164" y="50231"/>
                  </a:lnTo>
                  <a:lnTo>
                    <a:pt x="540252" y="100438"/>
                  </a:lnTo>
                  <a:lnTo>
                    <a:pt x="587303" y="50231"/>
                  </a:lnTo>
                  <a:close/>
                </a:path>
              </a:pathLst>
            </a:custGeom>
            <a:ln w="3443">
              <a:solidFill>
                <a:srgbClr val="000000"/>
              </a:solidFill>
            </a:ln>
          </p:spPr>
          <p:txBody>
            <a:bodyPr wrap="square" lIns="0" tIns="0" rIns="0" bIns="0" rtlCol="0"/>
            <a:lstStyle/>
            <a:p/>
          </p:txBody>
        </p:sp>
      </p:grpSp>
      <p:sp>
        <p:nvSpPr>
          <p:cNvPr id="26" name="object 26" descr=""/>
          <p:cNvSpPr txBox="1"/>
          <p:nvPr/>
        </p:nvSpPr>
        <p:spPr>
          <a:xfrm>
            <a:off x="1598600" y="1704200"/>
            <a:ext cx="622935" cy="2143760"/>
          </a:xfrm>
          <a:prstGeom prst="rect">
            <a:avLst/>
          </a:prstGeom>
          <a:solidFill>
            <a:srgbClr val="FFFF99"/>
          </a:solidFill>
          <a:ln w="17715">
            <a:solidFill>
              <a:srgbClr val="000000"/>
            </a:solidFill>
          </a:ln>
        </p:spPr>
        <p:txBody>
          <a:bodyPr wrap="square" lIns="0" tIns="79375" rIns="0" bIns="0" rtlCol="0" vert="horz">
            <a:spAutoFit/>
          </a:bodyPr>
          <a:lstStyle/>
          <a:p>
            <a:pPr>
              <a:lnSpc>
                <a:spcPct val="100000"/>
              </a:lnSpc>
              <a:spcBef>
                <a:spcPts val="625"/>
              </a:spcBef>
            </a:pPr>
            <a:endParaRPr sz="1750">
              <a:latin typeface="Times New Roman"/>
              <a:cs typeface="Times New Roman"/>
            </a:endParaRPr>
          </a:p>
          <a:p>
            <a:pPr algn="just" marL="201930" marR="187960">
              <a:lnSpc>
                <a:spcPct val="122800"/>
              </a:lnSpc>
            </a:pPr>
            <a:r>
              <a:rPr dirty="0" sz="1750" spc="-50">
                <a:solidFill>
                  <a:srgbClr val="003366"/>
                </a:solidFill>
                <a:latin typeface="宋体"/>
                <a:cs typeface="宋体"/>
              </a:rPr>
              <a:t>存储系统</a:t>
            </a:r>
            <a:endParaRPr sz="1750">
              <a:latin typeface="宋体"/>
              <a:cs typeface="宋体"/>
            </a:endParaRPr>
          </a:p>
        </p:txBody>
      </p:sp>
      <p:sp>
        <p:nvSpPr>
          <p:cNvPr id="27" name="object 27" descr=""/>
          <p:cNvSpPr txBox="1"/>
          <p:nvPr/>
        </p:nvSpPr>
        <p:spPr>
          <a:xfrm>
            <a:off x="4920847" y="1704203"/>
            <a:ext cx="1922145" cy="767080"/>
          </a:xfrm>
          <a:prstGeom prst="rect">
            <a:avLst/>
          </a:prstGeom>
          <a:solidFill>
            <a:srgbClr val="CCFFFF"/>
          </a:solidFill>
          <a:ln w="17633">
            <a:solidFill>
              <a:srgbClr val="000000"/>
            </a:solidFill>
          </a:ln>
        </p:spPr>
        <p:txBody>
          <a:bodyPr wrap="square" lIns="0" tIns="212725" rIns="0" bIns="0" rtlCol="0" vert="horz">
            <a:spAutoFit/>
          </a:bodyPr>
          <a:lstStyle/>
          <a:p>
            <a:pPr marL="320040">
              <a:lnSpc>
                <a:spcPct val="100000"/>
              </a:lnSpc>
              <a:spcBef>
                <a:spcPts val="1675"/>
              </a:spcBef>
            </a:pPr>
            <a:r>
              <a:rPr dirty="0" sz="1750" spc="-25">
                <a:solidFill>
                  <a:srgbClr val="003366"/>
                </a:solidFill>
                <a:latin typeface="宋体"/>
                <a:cs typeface="宋体"/>
              </a:rPr>
              <a:t>流水处理部件</a:t>
            </a:r>
            <a:endParaRPr sz="1750">
              <a:latin typeface="宋体"/>
              <a:cs typeface="宋体"/>
            </a:endParaRPr>
          </a:p>
        </p:txBody>
      </p:sp>
      <p:sp>
        <p:nvSpPr>
          <p:cNvPr id="28" name="object 28" descr=""/>
          <p:cNvSpPr txBox="1"/>
          <p:nvPr/>
        </p:nvSpPr>
        <p:spPr>
          <a:xfrm>
            <a:off x="2897286" y="1781660"/>
            <a:ext cx="1089660" cy="612775"/>
          </a:xfrm>
          <a:prstGeom prst="rect">
            <a:avLst/>
          </a:prstGeom>
          <a:solidFill>
            <a:srgbClr val="CCFFCC"/>
          </a:solidFill>
          <a:ln w="19100">
            <a:solidFill>
              <a:srgbClr val="000000"/>
            </a:solidFill>
          </a:ln>
        </p:spPr>
        <p:txBody>
          <a:bodyPr wrap="square" lIns="0" tIns="153035" rIns="0" bIns="0" rtlCol="0" vert="horz">
            <a:spAutoFit/>
          </a:bodyPr>
          <a:lstStyle/>
          <a:p>
            <a:pPr marL="207645">
              <a:lnSpc>
                <a:spcPct val="100000"/>
              </a:lnSpc>
              <a:spcBef>
                <a:spcPts val="1205"/>
              </a:spcBef>
            </a:pPr>
            <a:r>
              <a:rPr dirty="0" sz="1750" spc="-25">
                <a:solidFill>
                  <a:srgbClr val="003366"/>
                </a:solidFill>
                <a:latin typeface="宋体"/>
                <a:cs typeface="宋体"/>
              </a:rPr>
              <a:t>缓冲器</a:t>
            </a:r>
            <a:endParaRPr sz="1750">
              <a:latin typeface="宋体"/>
              <a:cs typeface="宋体"/>
            </a:endParaRPr>
          </a:p>
        </p:txBody>
      </p:sp>
      <p:sp>
        <p:nvSpPr>
          <p:cNvPr id="29" name="object 29" descr=""/>
          <p:cNvSpPr txBox="1"/>
          <p:nvPr/>
        </p:nvSpPr>
        <p:spPr>
          <a:xfrm>
            <a:off x="2897286" y="3157722"/>
            <a:ext cx="1089660" cy="613410"/>
          </a:xfrm>
          <a:prstGeom prst="rect">
            <a:avLst/>
          </a:prstGeom>
          <a:solidFill>
            <a:srgbClr val="CCFFCC"/>
          </a:solidFill>
          <a:ln w="17644">
            <a:solidFill>
              <a:srgbClr val="000000"/>
            </a:solidFill>
          </a:ln>
        </p:spPr>
        <p:txBody>
          <a:bodyPr wrap="square" lIns="0" tIns="150495" rIns="0" bIns="0" rtlCol="0" vert="horz">
            <a:spAutoFit/>
          </a:bodyPr>
          <a:lstStyle/>
          <a:p>
            <a:pPr marL="207645">
              <a:lnSpc>
                <a:spcPct val="100000"/>
              </a:lnSpc>
              <a:spcBef>
                <a:spcPts val="1185"/>
              </a:spcBef>
            </a:pPr>
            <a:r>
              <a:rPr dirty="0" sz="1750" spc="-25">
                <a:solidFill>
                  <a:srgbClr val="003366"/>
                </a:solidFill>
                <a:latin typeface="宋体"/>
                <a:cs typeface="宋体"/>
              </a:rPr>
              <a:t>缓冲器</a:t>
            </a:r>
            <a:endParaRPr sz="1750">
              <a:latin typeface="宋体"/>
              <a:cs typeface="宋体"/>
            </a:endParaRPr>
          </a:p>
        </p:txBody>
      </p:sp>
      <p:sp>
        <p:nvSpPr>
          <p:cNvPr id="30" name="object 30" descr=""/>
          <p:cNvSpPr/>
          <p:nvPr/>
        </p:nvSpPr>
        <p:spPr>
          <a:xfrm>
            <a:off x="3986353" y="2089059"/>
            <a:ext cx="3375660" cy="1376680"/>
          </a:xfrm>
          <a:custGeom>
            <a:avLst/>
            <a:gdLst/>
            <a:ahLst/>
            <a:cxnLst/>
            <a:rect l="l" t="t" r="r" b="b"/>
            <a:pathLst>
              <a:path w="3375659" h="1376679">
                <a:moveTo>
                  <a:pt x="2856478" y="0"/>
                </a:moveTo>
                <a:lnTo>
                  <a:pt x="3375340" y="0"/>
                </a:lnTo>
              </a:path>
              <a:path w="3375659" h="1376679">
                <a:moveTo>
                  <a:pt x="0" y="1376685"/>
                </a:moveTo>
                <a:lnTo>
                  <a:pt x="3375340" y="1376685"/>
                </a:lnTo>
              </a:path>
              <a:path w="3375659" h="1376679">
                <a:moveTo>
                  <a:pt x="3375340" y="0"/>
                </a:moveTo>
                <a:lnTo>
                  <a:pt x="3375340" y="1376685"/>
                </a:lnTo>
              </a:path>
            </a:pathLst>
          </a:custGeom>
          <a:ln w="23764">
            <a:solidFill>
              <a:srgbClr val="000000"/>
            </a:solidFill>
          </a:ln>
        </p:spPr>
        <p:txBody>
          <a:bodyPr wrap="square" lIns="0" tIns="0" rIns="0" bIns="0" rtlCol="0"/>
          <a:lstStyle/>
          <a:p/>
        </p:txBody>
      </p:sp>
      <p:sp>
        <p:nvSpPr>
          <p:cNvPr id="31" name="object 31" descr=""/>
          <p:cNvSpPr txBox="1"/>
          <p:nvPr/>
        </p:nvSpPr>
        <p:spPr>
          <a:xfrm>
            <a:off x="618540" y="740156"/>
            <a:ext cx="4305935"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4.2.1</a:t>
            </a:r>
            <a:r>
              <a:rPr dirty="0" sz="2600" spc="10">
                <a:solidFill>
                  <a:srgbClr val="0000CC"/>
                </a:solidFill>
                <a:latin typeface="黑体"/>
                <a:cs typeface="黑体"/>
              </a:rPr>
              <a:t> </a:t>
            </a:r>
            <a:r>
              <a:rPr dirty="0" sz="2600" spc="-10">
                <a:solidFill>
                  <a:srgbClr val="0000CC"/>
                </a:solidFill>
                <a:latin typeface="Times New Roman"/>
                <a:cs typeface="Times New Roman"/>
              </a:rPr>
              <a:t>“</a:t>
            </a:r>
            <a:r>
              <a:rPr dirty="0" sz="2600" spc="-15">
                <a:solidFill>
                  <a:srgbClr val="0000CC"/>
                </a:solidFill>
                <a:latin typeface="黑体"/>
                <a:cs typeface="黑体"/>
              </a:rPr>
              <a:t>存储器-存储器”结构</a:t>
            </a:r>
            <a:endParaRPr sz="2600">
              <a:latin typeface="黑体"/>
              <a:cs typeface="黑体"/>
            </a:endParaRPr>
          </a:p>
        </p:txBody>
      </p:sp>
      <p:sp>
        <p:nvSpPr>
          <p:cNvPr id="32" name="object 32" descr=""/>
          <p:cNvSpPr txBox="1"/>
          <p:nvPr/>
        </p:nvSpPr>
        <p:spPr>
          <a:xfrm>
            <a:off x="2274570" y="1378458"/>
            <a:ext cx="177800" cy="391160"/>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1</a:t>
            </a:r>
            <a:endParaRPr sz="2400">
              <a:latin typeface="Times New Roman"/>
              <a:cs typeface="Times New Roman"/>
            </a:endParaRPr>
          </a:p>
        </p:txBody>
      </p:sp>
      <p:sp>
        <p:nvSpPr>
          <p:cNvPr id="33" name="object 33" descr=""/>
          <p:cNvSpPr txBox="1"/>
          <p:nvPr/>
        </p:nvSpPr>
        <p:spPr>
          <a:xfrm>
            <a:off x="4301997" y="1449400"/>
            <a:ext cx="178435" cy="391795"/>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2</a:t>
            </a:r>
            <a:endParaRPr sz="2400">
              <a:latin typeface="Times New Roman"/>
              <a:cs typeface="Times New Roman"/>
            </a:endParaRPr>
          </a:p>
        </p:txBody>
      </p:sp>
      <p:sp>
        <p:nvSpPr>
          <p:cNvPr id="34" name="object 34" descr=""/>
          <p:cNvSpPr txBox="1"/>
          <p:nvPr/>
        </p:nvSpPr>
        <p:spPr>
          <a:xfrm>
            <a:off x="5126228" y="3092907"/>
            <a:ext cx="178435" cy="391795"/>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3</a:t>
            </a:r>
            <a:endParaRPr sz="2400">
              <a:latin typeface="Times New Roman"/>
              <a:cs typeface="Times New Roman"/>
            </a:endParaRPr>
          </a:p>
        </p:txBody>
      </p:sp>
      <p:sp>
        <p:nvSpPr>
          <p:cNvPr id="35" name="object 35" descr=""/>
          <p:cNvSpPr txBox="1"/>
          <p:nvPr/>
        </p:nvSpPr>
        <p:spPr>
          <a:xfrm>
            <a:off x="2439670" y="3092907"/>
            <a:ext cx="178435" cy="391795"/>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4</a:t>
            </a:r>
            <a:endParaRPr sz="24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223215" y="879728"/>
            <a:ext cx="8733155" cy="5246370"/>
          </a:xfrm>
          <a:prstGeom prst="rect">
            <a:avLst/>
          </a:prstGeom>
        </p:spPr>
        <p:txBody>
          <a:bodyPr wrap="square" lIns="0" tIns="13335" rIns="0" bIns="0" rtlCol="0" vert="horz">
            <a:spAutoFit/>
          </a:bodyPr>
          <a:lstStyle/>
          <a:p>
            <a:pPr marL="336550">
              <a:lnSpc>
                <a:spcPct val="100000"/>
              </a:lnSpc>
              <a:spcBef>
                <a:spcPts val="105"/>
              </a:spcBef>
            </a:pPr>
            <a:r>
              <a:rPr dirty="0" sz="2600">
                <a:solidFill>
                  <a:srgbClr val="0000CC"/>
                </a:solidFill>
                <a:latin typeface="黑体"/>
                <a:cs typeface="黑体"/>
              </a:rPr>
              <a:t>4.2.1</a:t>
            </a:r>
            <a:r>
              <a:rPr dirty="0" sz="2600" spc="15">
                <a:solidFill>
                  <a:srgbClr val="0000CC"/>
                </a:solidFill>
                <a:latin typeface="黑体"/>
                <a:cs typeface="黑体"/>
              </a:rPr>
              <a:t> </a:t>
            </a:r>
            <a:r>
              <a:rPr dirty="0" sz="2600" spc="-10">
                <a:solidFill>
                  <a:srgbClr val="0000CC"/>
                </a:solidFill>
                <a:latin typeface="Times New Roman"/>
                <a:cs typeface="Times New Roman"/>
              </a:rPr>
              <a:t>“</a:t>
            </a:r>
            <a:r>
              <a:rPr dirty="0" sz="2600" spc="-15">
                <a:solidFill>
                  <a:srgbClr val="0000CC"/>
                </a:solidFill>
                <a:latin typeface="黑体"/>
                <a:cs typeface="黑体"/>
              </a:rPr>
              <a:t>存储器-存储器”结构</a:t>
            </a:r>
            <a:endParaRPr sz="2600">
              <a:latin typeface="黑体"/>
              <a:cs typeface="黑体"/>
            </a:endParaRPr>
          </a:p>
          <a:p>
            <a:pPr marL="469900" marR="24765" indent="-457200">
              <a:lnSpc>
                <a:spcPct val="110000"/>
              </a:lnSpc>
              <a:spcBef>
                <a:spcPts val="2160"/>
              </a:spcBef>
              <a:buClr>
                <a:srgbClr val="40458B"/>
              </a:buClr>
              <a:buFont typeface="Tahoma"/>
              <a:buAutoNum type="arabicPeriod" startAt="2"/>
              <a:tabLst>
                <a:tab pos="469900" algn="l"/>
              </a:tabLst>
            </a:pPr>
            <a:r>
              <a:rPr dirty="0" sz="2400" spc="-5">
                <a:solidFill>
                  <a:srgbClr val="E14B04"/>
                </a:solidFill>
                <a:latin typeface="黑体"/>
                <a:cs typeface="黑体"/>
              </a:rPr>
              <a:t>要充分发挥这种结构的流水线效率，存储器要不断地提供源操作数，并不断地从运算部件接收结果。</a:t>
            </a:r>
            <a:endParaRPr sz="2400">
              <a:latin typeface="黑体"/>
              <a:cs typeface="黑体"/>
            </a:endParaRPr>
          </a:p>
          <a:p>
            <a:pPr marL="706120">
              <a:lnSpc>
                <a:spcPct val="100000"/>
              </a:lnSpc>
              <a:spcBef>
                <a:spcPts val="770"/>
              </a:spcBef>
            </a:pPr>
            <a:r>
              <a:rPr dirty="0" sz="2000" spc="-10" b="1">
                <a:solidFill>
                  <a:srgbClr val="080808"/>
                </a:solidFill>
                <a:latin typeface="宋体"/>
                <a:cs typeface="宋体"/>
              </a:rPr>
              <a:t>（</a:t>
            </a:r>
            <a:r>
              <a:rPr dirty="0" sz="2000" spc="-15" b="1">
                <a:solidFill>
                  <a:srgbClr val="FF0000"/>
                </a:solidFill>
                <a:latin typeface="宋体"/>
                <a:cs typeface="宋体"/>
              </a:rPr>
              <a:t>每拍</a:t>
            </a:r>
            <a:r>
              <a:rPr dirty="0" sz="2000" spc="-25" b="1">
                <a:solidFill>
                  <a:srgbClr val="080808"/>
                </a:solidFill>
                <a:latin typeface="宋体"/>
                <a:cs typeface="宋体"/>
              </a:rPr>
              <a:t>从存储器读取两个数据，并向存储器写回一个结果</a:t>
            </a:r>
            <a:r>
              <a:rPr dirty="0" sz="2000" spc="-50" b="1">
                <a:solidFill>
                  <a:srgbClr val="080808"/>
                </a:solidFill>
                <a:latin typeface="宋体"/>
                <a:cs typeface="宋体"/>
              </a:rPr>
              <a:t>）</a:t>
            </a:r>
            <a:endParaRPr sz="2000">
              <a:latin typeface="宋体"/>
              <a:cs typeface="宋体"/>
            </a:endParaRPr>
          </a:p>
          <a:p>
            <a:pPr lvl="1" marL="1099185" marR="5080" indent="-457834">
              <a:lnSpc>
                <a:spcPct val="110000"/>
              </a:lnSpc>
              <a:spcBef>
                <a:spcPts val="530"/>
              </a:spcBef>
              <a:buSzPct val="89583"/>
              <a:buFont typeface="Wingdings"/>
              <a:buChar char=""/>
              <a:tabLst>
                <a:tab pos="1099185" algn="l"/>
              </a:tabLst>
            </a:pPr>
            <a:r>
              <a:rPr dirty="0" sz="2400" spc="-5">
                <a:solidFill>
                  <a:srgbClr val="40458B"/>
                </a:solidFill>
                <a:latin typeface="黑体"/>
                <a:cs typeface="黑体"/>
              </a:rPr>
              <a:t>对存储器的带宽以及存储器与处理部件的通信带宽提出了</a:t>
            </a:r>
            <a:r>
              <a:rPr dirty="0" sz="2400" spc="-10">
                <a:solidFill>
                  <a:srgbClr val="40458B"/>
                </a:solidFill>
                <a:latin typeface="黑体"/>
                <a:cs typeface="黑体"/>
              </a:rPr>
              <a:t>非常高的要求。</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spc="-10">
                <a:solidFill>
                  <a:srgbClr val="D50092"/>
                </a:solidFill>
                <a:latin typeface="黑体"/>
                <a:cs typeface="黑体"/>
              </a:rPr>
              <a:t>解决方法：</a:t>
            </a:r>
            <a:r>
              <a:rPr dirty="0" sz="2400" spc="-15">
                <a:solidFill>
                  <a:srgbClr val="40458B"/>
                </a:solidFill>
                <a:latin typeface="黑体"/>
                <a:cs typeface="黑体"/>
              </a:rPr>
              <a:t>一般是通过采用多体交叉并行存储器和缓冲器</a:t>
            </a:r>
            <a:endParaRPr sz="2400">
              <a:latin typeface="黑体"/>
              <a:cs typeface="黑体"/>
            </a:endParaRPr>
          </a:p>
          <a:p>
            <a:pPr marL="1099185">
              <a:lnSpc>
                <a:spcPct val="100000"/>
              </a:lnSpc>
              <a:spcBef>
                <a:spcPts val="290"/>
              </a:spcBef>
            </a:pPr>
            <a:r>
              <a:rPr dirty="0" sz="2400" spc="-20">
                <a:solidFill>
                  <a:srgbClr val="40458B"/>
                </a:solidFill>
                <a:latin typeface="黑体"/>
                <a:cs typeface="黑体"/>
              </a:rPr>
              <a:t>技术。</a:t>
            </a:r>
            <a:endParaRPr sz="2400">
              <a:latin typeface="黑体"/>
              <a:cs typeface="黑体"/>
            </a:endParaRPr>
          </a:p>
          <a:p>
            <a:pPr marL="1270000">
              <a:lnSpc>
                <a:spcPct val="100000"/>
              </a:lnSpc>
              <a:spcBef>
                <a:spcPts val="770"/>
              </a:spcBef>
            </a:pPr>
            <a:r>
              <a:rPr dirty="0" sz="2000" spc="-10" b="1">
                <a:solidFill>
                  <a:srgbClr val="00AFEF"/>
                </a:solidFill>
                <a:latin typeface="宋体"/>
                <a:cs typeface="宋体"/>
              </a:rPr>
              <a:t>例如，</a:t>
            </a:r>
            <a:r>
              <a:rPr dirty="0" sz="2000" b="1">
                <a:solidFill>
                  <a:srgbClr val="00AFEF"/>
                </a:solidFill>
                <a:latin typeface="Times New Roman"/>
                <a:cs typeface="Times New Roman"/>
              </a:rPr>
              <a:t>70</a:t>
            </a:r>
            <a:r>
              <a:rPr dirty="0" sz="2000" spc="-15" b="1">
                <a:solidFill>
                  <a:srgbClr val="00AFEF"/>
                </a:solidFill>
                <a:latin typeface="宋体"/>
                <a:cs typeface="宋体"/>
              </a:rPr>
              <a:t>年代初问世的</a:t>
            </a:r>
            <a:r>
              <a:rPr dirty="0" sz="2000" b="1">
                <a:solidFill>
                  <a:srgbClr val="9933FF"/>
                </a:solidFill>
                <a:latin typeface="Times New Roman"/>
                <a:cs typeface="Times New Roman"/>
              </a:rPr>
              <a:t>Star</a:t>
            </a:r>
            <a:r>
              <a:rPr dirty="0" sz="2000" spc="-50" b="1">
                <a:solidFill>
                  <a:srgbClr val="9933FF"/>
                </a:solidFill>
                <a:latin typeface="Times New Roman"/>
                <a:cs typeface="Times New Roman"/>
              </a:rPr>
              <a:t> </a:t>
            </a:r>
            <a:r>
              <a:rPr dirty="0" sz="2000" spc="-25" b="1">
                <a:solidFill>
                  <a:srgbClr val="9933FF"/>
                </a:solidFill>
                <a:latin typeface="Times New Roman"/>
                <a:cs typeface="Times New Roman"/>
              </a:rPr>
              <a:t>100</a:t>
            </a:r>
            <a:endParaRPr sz="2000">
              <a:latin typeface="Times New Roman"/>
              <a:cs typeface="Times New Roman"/>
            </a:endParaRPr>
          </a:p>
          <a:p>
            <a:pPr lvl="2" marL="1727200" indent="-457200">
              <a:lnSpc>
                <a:spcPct val="100000"/>
              </a:lnSpc>
              <a:spcBef>
                <a:spcPts val="720"/>
              </a:spcBef>
              <a:buClr>
                <a:srgbClr val="4668F5"/>
              </a:buClr>
              <a:buSzPct val="65000"/>
              <a:buFont typeface="Wingdings"/>
              <a:buChar char=""/>
              <a:tabLst>
                <a:tab pos="1727200" algn="l"/>
              </a:tabLst>
            </a:pPr>
            <a:r>
              <a:rPr dirty="0" sz="2000" spc="-15" b="1">
                <a:solidFill>
                  <a:srgbClr val="00AFEF"/>
                </a:solidFill>
                <a:latin typeface="宋体"/>
                <a:cs typeface="宋体"/>
              </a:rPr>
              <a:t>存储器：</a:t>
            </a:r>
            <a:r>
              <a:rPr dirty="0" sz="2000" spc="-10" b="1">
                <a:solidFill>
                  <a:srgbClr val="9933FF"/>
                </a:solidFill>
                <a:latin typeface="Times New Roman"/>
                <a:cs typeface="Times New Roman"/>
              </a:rPr>
              <a:t>32</a:t>
            </a:r>
            <a:r>
              <a:rPr dirty="0" sz="2000" spc="-15" b="1">
                <a:solidFill>
                  <a:srgbClr val="9933FF"/>
                </a:solidFill>
                <a:latin typeface="宋体"/>
                <a:cs typeface="宋体"/>
              </a:rPr>
              <a:t>个体</a:t>
            </a:r>
            <a:r>
              <a:rPr dirty="0" sz="2000" spc="-35" b="1">
                <a:solidFill>
                  <a:srgbClr val="00AFEF"/>
                </a:solidFill>
                <a:latin typeface="宋体"/>
                <a:cs typeface="宋体"/>
              </a:rPr>
              <a:t>交叉</a:t>
            </a:r>
            <a:endParaRPr sz="2000">
              <a:latin typeface="宋体"/>
              <a:cs typeface="宋体"/>
            </a:endParaRPr>
          </a:p>
          <a:p>
            <a:pPr lvl="2" marL="1727200" indent="-457200">
              <a:lnSpc>
                <a:spcPct val="100000"/>
              </a:lnSpc>
              <a:spcBef>
                <a:spcPts val="725"/>
              </a:spcBef>
              <a:buClr>
                <a:srgbClr val="4668F5"/>
              </a:buClr>
              <a:buSzPct val="65000"/>
              <a:buFont typeface="Wingdings"/>
              <a:buChar char=""/>
              <a:tabLst>
                <a:tab pos="1727200" algn="l"/>
              </a:tabLst>
            </a:pPr>
            <a:r>
              <a:rPr dirty="0" sz="2000" spc="-10" b="1">
                <a:solidFill>
                  <a:srgbClr val="00AFEF"/>
                </a:solidFill>
                <a:latin typeface="宋体"/>
                <a:cs typeface="宋体"/>
              </a:rPr>
              <a:t>每个体的数据宽度：</a:t>
            </a:r>
            <a:r>
              <a:rPr dirty="0" sz="2000" spc="-10" b="1">
                <a:solidFill>
                  <a:srgbClr val="9933FF"/>
                </a:solidFill>
                <a:latin typeface="Times New Roman"/>
                <a:cs typeface="Times New Roman"/>
              </a:rPr>
              <a:t>8</a:t>
            </a:r>
            <a:r>
              <a:rPr dirty="0" sz="2000" spc="-20" b="1">
                <a:solidFill>
                  <a:srgbClr val="9933FF"/>
                </a:solidFill>
                <a:latin typeface="宋体"/>
                <a:cs typeface="宋体"/>
              </a:rPr>
              <a:t>个字</a:t>
            </a:r>
            <a:r>
              <a:rPr dirty="0" sz="2000" spc="-10" b="1">
                <a:solidFill>
                  <a:srgbClr val="00AFEF"/>
                </a:solidFill>
                <a:latin typeface="宋体"/>
                <a:cs typeface="宋体"/>
              </a:rPr>
              <a:t>（</a:t>
            </a:r>
            <a:r>
              <a:rPr dirty="0" sz="2000" spc="-15" b="1">
                <a:solidFill>
                  <a:srgbClr val="00AFEF"/>
                </a:solidFill>
                <a:latin typeface="宋体"/>
                <a:cs typeface="宋体"/>
              </a:rPr>
              <a:t>字长</a:t>
            </a:r>
            <a:r>
              <a:rPr dirty="0" sz="2000" spc="-10" b="1">
                <a:solidFill>
                  <a:srgbClr val="9933FF"/>
                </a:solidFill>
                <a:latin typeface="Times New Roman"/>
                <a:cs typeface="Times New Roman"/>
              </a:rPr>
              <a:t>64</a:t>
            </a:r>
            <a:r>
              <a:rPr dirty="0" sz="2000" spc="-10" b="1">
                <a:solidFill>
                  <a:srgbClr val="9933FF"/>
                </a:solidFill>
                <a:latin typeface="宋体"/>
                <a:cs typeface="宋体"/>
              </a:rPr>
              <a:t>位</a:t>
            </a:r>
            <a:r>
              <a:rPr dirty="0" sz="2000" spc="-50" b="1">
                <a:solidFill>
                  <a:srgbClr val="00AFEF"/>
                </a:solidFill>
                <a:latin typeface="宋体"/>
                <a:cs typeface="宋体"/>
              </a:rPr>
              <a:t>）</a:t>
            </a:r>
            <a:endParaRPr sz="2000">
              <a:latin typeface="宋体"/>
              <a:cs typeface="宋体"/>
            </a:endParaRPr>
          </a:p>
          <a:p>
            <a:pPr lvl="2" marL="1727200" indent="-457200">
              <a:lnSpc>
                <a:spcPct val="100000"/>
              </a:lnSpc>
              <a:spcBef>
                <a:spcPts val="720"/>
              </a:spcBef>
              <a:buClr>
                <a:srgbClr val="4668F5"/>
              </a:buClr>
              <a:buSzPct val="65000"/>
              <a:buFont typeface="Wingdings"/>
              <a:buChar char=""/>
              <a:tabLst>
                <a:tab pos="1727200" algn="l"/>
              </a:tabLst>
            </a:pPr>
            <a:r>
              <a:rPr dirty="0" sz="2000" spc="-10" b="1">
                <a:solidFill>
                  <a:srgbClr val="00AFEF"/>
                </a:solidFill>
                <a:latin typeface="宋体"/>
                <a:cs typeface="宋体"/>
              </a:rPr>
              <a:t>最大数据流量：</a:t>
            </a:r>
            <a:r>
              <a:rPr dirty="0" sz="2000" spc="-10" b="1">
                <a:solidFill>
                  <a:srgbClr val="9933FF"/>
                </a:solidFill>
                <a:latin typeface="宋体"/>
                <a:cs typeface="宋体"/>
              </a:rPr>
              <a:t>每秒</a:t>
            </a:r>
            <a:r>
              <a:rPr dirty="0" sz="2000" b="1">
                <a:solidFill>
                  <a:srgbClr val="9933FF"/>
                </a:solidFill>
                <a:latin typeface="Times New Roman"/>
                <a:cs typeface="Times New Roman"/>
              </a:rPr>
              <a:t>2</a:t>
            </a:r>
            <a:r>
              <a:rPr dirty="0" sz="2000" spc="-35" b="1">
                <a:solidFill>
                  <a:srgbClr val="9933FF"/>
                </a:solidFill>
                <a:latin typeface="宋体"/>
                <a:cs typeface="宋体"/>
              </a:rPr>
              <a:t>亿字</a:t>
            </a:r>
            <a:endParaRPr sz="2000">
              <a:latin typeface="宋体"/>
              <a:cs typeface="宋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459740" y="1300204"/>
            <a:ext cx="8656320" cy="4513580"/>
          </a:xfrm>
          <a:prstGeom prst="rect">
            <a:avLst/>
          </a:prstGeom>
        </p:spPr>
        <p:txBody>
          <a:bodyPr wrap="square" lIns="0" tIns="12065" rIns="0" bIns="0" rtlCol="0" vert="horz">
            <a:spAutoFit/>
          </a:bodyPr>
          <a:lstStyle/>
          <a:p>
            <a:pPr marL="88900" marR="32384" indent="-76200">
              <a:lnSpc>
                <a:spcPct val="150000"/>
              </a:lnSpc>
              <a:spcBef>
                <a:spcPts val="95"/>
              </a:spcBef>
            </a:pPr>
            <a:r>
              <a:rPr dirty="0" sz="2400">
                <a:solidFill>
                  <a:srgbClr val="E14B04"/>
                </a:solidFill>
                <a:latin typeface="黑体"/>
                <a:cs typeface="黑体"/>
              </a:rPr>
              <a:t>在向量的分组处理方式中，对向量长度</a:t>
            </a:r>
            <a:r>
              <a:rPr dirty="0" sz="2400" spc="-35">
                <a:solidFill>
                  <a:srgbClr val="9933FF"/>
                </a:solidFill>
                <a:latin typeface="Times New Roman"/>
                <a:cs typeface="Times New Roman"/>
              </a:rPr>
              <a:t>N</a:t>
            </a:r>
            <a:r>
              <a:rPr dirty="0" sz="2400">
                <a:solidFill>
                  <a:srgbClr val="E14B04"/>
                </a:solidFill>
                <a:latin typeface="黑体"/>
                <a:cs typeface="黑体"/>
              </a:rPr>
              <a:t>没有限制，但组的长度</a:t>
            </a:r>
            <a:r>
              <a:rPr dirty="0" sz="2400" spc="-50">
                <a:solidFill>
                  <a:srgbClr val="9933FF"/>
                </a:solidFill>
                <a:latin typeface="Times New Roman"/>
                <a:cs typeface="Times New Roman"/>
              </a:rPr>
              <a:t>n</a:t>
            </a:r>
            <a:r>
              <a:rPr dirty="0" sz="2400" spc="-10">
                <a:solidFill>
                  <a:srgbClr val="E14B04"/>
                </a:solidFill>
                <a:latin typeface="黑体"/>
                <a:cs typeface="黑体"/>
              </a:rPr>
              <a:t>却是固定不变的。</a:t>
            </a:r>
            <a:endParaRPr sz="2400">
              <a:latin typeface="黑体"/>
              <a:cs typeface="黑体"/>
            </a:endParaRPr>
          </a:p>
          <a:p>
            <a:pPr algn="just" marL="718185" indent="-457200">
              <a:lnSpc>
                <a:spcPct val="100000"/>
              </a:lnSpc>
              <a:spcBef>
                <a:spcPts val="2020"/>
              </a:spcBef>
              <a:buSzPct val="89583"/>
              <a:buFont typeface="Wingdings"/>
              <a:buChar char=""/>
              <a:tabLst>
                <a:tab pos="718185" algn="l"/>
              </a:tabLst>
            </a:pPr>
            <a:r>
              <a:rPr dirty="0" sz="2400">
                <a:solidFill>
                  <a:srgbClr val="40458B"/>
                </a:solidFill>
                <a:latin typeface="黑体"/>
                <a:cs typeface="黑体"/>
              </a:rPr>
              <a:t>对处理机结构的要求：</a:t>
            </a:r>
            <a:r>
              <a:rPr dirty="0" sz="2400" spc="-10">
                <a:solidFill>
                  <a:srgbClr val="D50092"/>
                </a:solidFill>
                <a:latin typeface="黑体"/>
                <a:cs typeface="黑体"/>
              </a:rPr>
              <a:t>寄存器－寄存器结构</a:t>
            </a:r>
            <a:endParaRPr sz="2400">
              <a:latin typeface="黑体"/>
              <a:cs typeface="黑体"/>
            </a:endParaRPr>
          </a:p>
          <a:p>
            <a:pPr algn="just" marL="718185" marR="5080" indent="-457834">
              <a:lnSpc>
                <a:spcPct val="150000"/>
              </a:lnSpc>
              <a:spcBef>
                <a:spcPts val="575"/>
              </a:spcBef>
              <a:buSzPct val="89583"/>
              <a:buFont typeface="Wingdings"/>
              <a:buChar char=""/>
              <a:tabLst>
                <a:tab pos="718185" algn="l"/>
              </a:tabLst>
            </a:pPr>
            <a:r>
              <a:rPr dirty="0" sz="2400" spc="-15">
                <a:solidFill>
                  <a:srgbClr val="40458B"/>
                </a:solidFill>
                <a:latin typeface="黑体"/>
                <a:cs typeface="黑体"/>
              </a:rPr>
              <a:t>设置能快速访问的向量寄存器，用于存放源向量、目的向量</a:t>
            </a:r>
            <a:r>
              <a:rPr dirty="0" sz="2400" spc="-5">
                <a:solidFill>
                  <a:srgbClr val="40458B"/>
                </a:solidFill>
                <a:latin typeface="黑体"/>
                <a:cs typeface="黑体"/>
              </a:rPr>
              <a:t>及中间结果。让运算部件的输入、输出端都与向量寄存器相联，就构成了“寄存器－寄存器”型操作的运算流水线。</a:t>
            </a:r>
            <a:endParaRPr sz="2400">
              <a:latin typeface="黑体"/>
              <a:cs typeface="黑体"/>
            </a:endParaRPr>
          </a:p>
          <a:p>
            <a:pPr lvl="1" marL="1346200" marR="2696210" indent="-457200">
              <a:lnSpc>
                <a:spcPct val="170000"/>
              </a:lnSpc>
              <a:spcBef>
                <a:spcPts val="105"/>
              </a:spcBef>
              <a:buClr>
                <a:srgbClr val="4668F5"/>
              </a:buClr>
              <a:buSzPct val="65000"/>
              <a:buFont typeface="Wingdings"/>
              <a:buChar char=""/>
              <a:tabLst>
                <a:tab pos="1661795" algn="l"/>
              </a:tabLst>
            </a:pPr>
            <a:r>
              <a:rPr dirty="0" sz="2000" spc="-25" b="1">
                <a:solidFill>
                  <a:srgbClr val="00AFEF"/>
                </a:solidFill>
                <a:latin typeface="宋体"/>
                <a:cs typeface="宋体"/>
              </a:rPr>
              <a:t>典型的寄存器－寄存器结构的向量处理机</a:t>
            </a:r>
            <a:r>
              <a:rPr dirty="0" sz="2000" spc="-25" b="1">
                <a:solidFill>
                  <a:srgbClr val="00AFEF"/>
                </a:solidFill>
                <a:latin typeface="宋体"/>
                <a:cs typeface="宋体"/>
              </a:rPr>
              <a:t>	</a:t>
            </a:r>
            <a:r>
              <a:rPr dirty="0" sz="2000" spc="-10" b="1">
                <a:solidFill>
                  <a:srgbClr val="008000"/>
                </a:solidFill>
                <a:latin typeface="宋体"/>
                <a:cs typeface="宋体"/>
              </a:rPr>
              <a:t>美国的CRAY-1</a:t>
            </a:r>
            <a:r>
              <a:rPr dirty="0" sz="2000" spc="-20" b="1">
                <a:solidFill>
                  <a:srgbClr val="008000"/>
                </a:solidFill>
                <a:latin typeface="宋体"/>
                <a:cs typeface="宋体"/>
              </a:rPr>
              <a:t>、我国的</a:t>
            </a:r>
            <a:r>
              <a:rPr dirty="0" sz="2000" spc="-10" b="1">
                <a:solidFill>
                  <a:srgbClr val="008000"/>
                </a:solidFill>
                <a:latin typeface="宋体"/>
                <a:cs typeface="宋体"/>
              </a:rPr>
              <a:t>YH-</a:t>
            </a:r>
            <a:r>
              <a:rPr dirty="0" sz="2000" spc="-15" b="1">
                <a:solidFill>
                  <a:srgbClr val="008000"/>
                </a:solidFill>
                <a:latin typeface="宋体"/>
                <a:cs typeface="宋体"/>
              </a:rPr>
              <a:t>1</a:t>
            </a:r>
            <a:r>
              <a:rPr dirty="0" sz="2000" spc="-30" b="1">
                <a:solidFill>
                  <a:srgbClr val="008000"/>
                </a:solidFill>
                <a:latin typeface="宋体"/>
                <a:cs typeface="宋体"/>
              </a:rPr>
              <a:t>巨型机</a:t>
            </a:r>
            <a:endParaRPr sz="2000">
              <a:latin typeface="宋体"/>
              <a:cs typeface="宋体"/>
            </a:endParaRPr>
          </a:p>
        </p:txBody>
      </p:sp>
      <p:sp>
        <p:nvSpPr>
          <p:cNvPr id="11" name="object 11" descr=""/>
          <p:cNvSpPr txBox="1"/>
          <p:nvPr/>
        </p:nvSpPr>
        <p:spPr>
          <a:xfrm>
            <a:off x="5372227" y="227202"/>
            <a:ext cx="331977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0000CC"/>
                </a:solidFill>
                <a:latin typeface="黑体"/>
                <a:cs typeface="黑体"/>
              </a:rPr>
              <a:t>4.2.2 </a:t>
            </a:r>
            <a:r>
              <a:rPr dirty="0" sz="2000" spc="-10">
                <a:solidFill>
                  <a:srgbClr val="0000CC"/>
                </a:solidFill>
                <a:latin typeface="Times New Roman"/>
                <a:cs typeface="Times New Roman"/>
              </a:rPr>
              <a:t>“</a:t>
            </a:r>
            <a:r>
              <a:rPr dirty="0" sz="2000" spc="-15">
                <a:solidFill>
                  <a:srgbClr val="0000CC"/>
                </a:solidFill>
                <a:latin typeface="黑体"/>
                <a:cs typeface="黑体"/>
              </a:rPr>
              <a:t>寄存器-寄存器”结构</a:t>
            </a:r>
            <a:endParaRPr sz="2000">
              <a:latin typeface="黑体"/>
              <a:cs typeface="黑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2340610" y="4151479"/>
            <a:ext cx="254635" cy="254635"/>
          </a:xfrm>
          <a:prstGeom prst="rect">
            <a:avLst/>
          </a:prstGeom>
        </p:spPr>
        <p:txBody>
          <a:bodyPr wrap="square" lIns="0" tIns="0" rIns="0" bIns="0" rtlCol="0" vert="horz">
            <a:spAutoFit/>
          </a:bodyPr>
          <a:lstStyle/>
          <a:p>
            <a:pPr>
              <a:lnSpc>
                <a:spcPts val="2005"/>
              </a:lnSpc>
            </a:pPr>
            <a:r>
              <a:rPr dirty="0" sz="2000" spc="-50" b="1">
                <a:solidFill>
                  <a:srgbClr val="40458B"/>
                </a:solidFill>
                <a:latin typeface="宋体"/>
                <a:cs typeface="宋体"/>
              </a:rPr>
              <a:t>“</a:t>
            </a:r>
            <a:endParaRPr sz="2000">
              <a:latin typeface="宋体"/>
              <a:cs typeface="宋体"/>
            </a:endParaRPr>
          </a:p>
        </p:txBody>
      </p:sp>
      <p:sp>
        <p:nvSpPr>
          <p:cNvPr id="11" name="object 11" descr=""/>
          <p:cNvSpPr txBox="1"/>
          <p:nvPr/>
        </p:nvSpPr>
        <p:spPr>
          <a:xfrm>
            <a:off x="2583942" y="4102989"/>
            <a:ext cx="4375150"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40458B"/>
                </a:solidFill>
                <a:latin typeface="宋体"/>
                <a:cs typeface="宋体"/>
              </a:rPr>
              <a:t>寄存器－寄存器”型操作的运算流水线</a:t>
            </a:r>
            <a:endParaRPr sz="2000">
              <a:latin typeface="宋体"/>
              <a:cs typeface="宋体"/>
            </a:endParaRPr>
          </a:p>
        </p:txBody>
      </p:sp>
      <p:grpSp>
        <p:nvGrpSpPr>
          <p:cNvPr id="12" name="object 12" descr=""/>
          <p:cNvGrpSpPr/>
          <p:nvPr/>
        </p:nvGrpSpPr>
        <p:grpSpPr>
          <a:xfrm>
            <a:off x="2595068" y="2964919"/>
            <a:ext cx="2715895" cy="630555"/>
            <a:chOff x="2595068" y="2964919"/>
            <a:chExt cx="2715895" cy="630555"/>
          </a:xfrm>
        </p:grpSpPr>
        <p:sp>
          <p:nvSpPr>
            <p:cNvPr id="13" name="object 13" descr=""/>
            <p:cNvSpPr/>
            <p:nvPr/>
          </p:nvSpPr>
          <p:spPr>
            <a:xfrm>
              <a:off x="2596973" y="3388318"/>
              <a:ext cx="688340" cy="98425"/>
            </a:xfrm>
            <a:custGeom>
              <a:avLst/>
              <a:gdLst/>
              <a:ahLst/>
              <a:cxnLst/>
              <a:rect l="l" t="t" r="r" b="b"/>
              <a:pathLst>
                <a:path w="688339" h="98425">
                  <a:moveTo>
                    <a:pt x="540252" y="0"/>
                  </a:moveTo>
                  <a:lnTo>
                    <a:pt x="587303" y="47803"/>
                  </a:lnTo>
                  <a:lnTo>
                    <a:pt x="540252" y="98035"/>
                  </a:lnTo>
                  <a:lnTo>
                    <a:pt x="654291" y="59306"/>
                  </a:lnTo>
                  <a:lnTo>
                    <a:pt x="593421" y="59306"/>
                  </a:lnTo>
                  <a:lnTo>
                    <a:pt x="599540" y="53248"/>
                  </a:lnTo>
                  <a:lnTo>
                    <a:pt x="599540" y="44786"/>
                  </a:lnTo>
                  <a:lnTo>
                    <a:pt x="596481" y="38728"/>
                  </a:lnTo>
                  <a:lnTo>
                    <a:pt x="593421" y="35711"/>
                  </a:lnTo>
                  <a:lnTo>
                    <a:pt x="650749" y="35711"/>
                  </a:lnTo>
                  <a:lnTo>
                    <a:pt x="540252" y="0"/>
                  </a:lnTo>
                  <a:close/>
                </a:path>
                <a:path w="688339" h="98425">
                  <a:moveTo>
                    <a:pt x="575401" y="35711"/>
                  </a:moveTo>
                  <a:lnTo>
                    <a:pt x="6118" y="35711"/>
                  </a:lnTo>
                  <a:lnTo>
                    <a:pt x="3059" y="38728"/>
                  </a:lnTo>
                  <a:lnTo>
                    <a:pt x="0" y="44786"/>
                  </a:lnTo>
                  <a:lnTo>
                    <a:pt x="0" y="53248"/>
                  </a:lnTo>
                  <a:lnTo>
                    <a:pt x="6118" y="59306"/>
                  </a:lnTo>
                  <a:lnTo>
                    <a:pt x="576528" y="59306"/>
                  </a:lnTo>
                  <a:lnTo>
                    <a:pt x="587303" y="47803"/>
                  </a:lnTo>
                  <a:lnTo>
                    <a:pt x="575401" y="35711"/>
                  </a:lnTo>
                  <a:close/>
                </a:path>
                <a:path w="688339" h="98425">
                  <a:moveTo>
                    <a:pt x="650749" y="35711"/>
                  </a:moveTo>
                  <a:lnTo>
                    <a:pt x="593421" y="35711"/>
                  </a:lnTo>
                  <a:lnTo>
                    <a:pt x="596481" y="38728"/>
                  </a:lnTo>
                  <a:lnTo>
                    <a:pt x="599540" y="44786"/>
                  </a:lnTo>
                  <a:lnTo>
                    <a:pt x="599540" y="53248"/>
                  </a:lnTo>
                  <a:lnTo>
                    <a:pt x="593421" y="59306"/>
                  </a:lnTo>
                  <a:lnTo>
                    <a:pt x="654291" y="59306"/>
                  </a:lnTo>
                  <a:lnTo>
                    <a:pt x="688164" y="47803"/>
                  </a:lnTo>
                  <a:lnTo>
                    <a:pt x="650749" y="35711"/>
                  </a:lnTo>
                  <a:close/>
                </a:path>
              </a:pathLst>
            </a:custGeom>
            <a:solidFill>
              <a:srgbClr val="000000"/>
            </a:solidFill>
          </p:spPr>
          <p:txBody>
            <a:bodyPr wrap="square" lIns="0" tIns="0" rIns="0" bIns="0" rtlCol="0"/>
            <a:lstStyle/>
            <a:p/>
          </p:txBody>
        </p:sp>
        <p:sp>
          <p:nvSpPr>
            <p:cNvPr id="14" name="object 14" descr=""/>
            <p:cNvSpPr/>
            <p:nvPr/>
          </p:nvSpPr>
          <p:spPr>
            <a:xfrm>
              <a:off x="2596973" y="3388318"/>
              <a:ext cx="688340" cy="98425"/>
            </a:xfrm>
            <a:custGeom>
              <a:avLst/>
              <a:gdLst/>
              <a:ahLst/>
              <a:cxnLst/>
              <a:rect l="l" t="t" r="r" b="b"/>
              <a:pathLst>
                <a:path w="688339" h="98425">
                  <a:moveTo>
                    <a:pt x="12237" y="35711"/>
                  </a:moveTo>
                  <a:lnTo>
                    <a:pt x="587303" y="35711"/>
                  </a:lnTo>
                  <a:lnTo>
                    <a:pt x="593421" y="35711"/>
                  </a:lnTo>
                  <a:lnTo>
                    <a:pt x="596481" y="38728"/>
                  </a:lnTo>
                  <a:lnTo>
                    <a:pt x="599540" y="44786"/>
                  </a:lnTo>
                  <a:lnTo>
                    <a:pt x="599540" y="47803"/>
                  </a:lnTo>
                  <a:lnTo>
                    <a:pt x="599540" y="53248"/>
                  </a:lnTo>
                  <a:lnTo>
                    <a:pt x="596481" y="56289"/>
                  </a:lnTo>
                  <a:lnTo>
                    <a:pt x="593421" y="59306"/>
                  </a:lnTo>
                  <a:lnTo>
                    <a:pt x="587303" y="59306"/>
                  </a:lnTo>
                  <a:lnTo>
                    <a:pt x="12237" y="59306"/>
                  </a:lnTo>
                  <a:lnTo>
                    <a:pt x="6118" y="59306"/>
                  </a:lnTo>
                  <a:lnTo>
                    <a:pt x="3059" y="56289"/>
                  </a:lnTo>
                  <a:lnTo>
                    <a:pt x="0" y="53248"/>
                  </a:lnTo>
                  <a:lnTo>
                    <a:pt x="0" y="47803"/>
                  </a:lnTo>
                  <a:lnTo>
                    <a:pt x="0" y="44786"/>
                  </a:lnTo>
                  <a:lnTo>
                    <a:pt x="3059" y="38728"/>
                  </a:lnTo>
                  <a:lnTo>
                    <a:pt x="6118" y="35711"/>
                  </a:lnTo>
                  <a:lnTo>
                    <a:pt x="12237" y="35711"/>
                  </a:lnTo>
                  <a:close/>
                </a:path>
                <a:path w="688339" h="98425">
                  <a:moveTo>
                    <a:pt x="587303" y="47803"/>
                  </a:moveTo>
                  <a:lnTo>
                    <a:pt x="540252" y="0"/>
                  </a:lnTo>
                  <a:lnTo>
                    <a:pt x="688164" y="47803"/>
                  </a:lnTo>
                  <a:lnTo>
                    <a:pt x="540252" y="98035"/>
                  </a:lnTo>
                  <a:lnTo>
                    <a:pt x="587303" y="47803"/>
                  </a:lnTo>
                  <a:close/>
                </a:path>
              </a:pathLst>
            </a:custGeom>
            <a:ln w="3443">
              <a:solidFill>
                <a:srgbClr val="000000"/>
              </a:solidFill>
            </a:ln>
          </p:spPr>
          <p:txBody>
            <a:bodyPr wrap="square" lIns="0" tIns="0" rIns="0" bIns="0" rtlCol="0"/>
            <a:lstStyle/>
            <a:p/>
          </p:txBody>
        </p:sp>
        <p:sp>
          <p:nvSpPr>
            <p:cNvPr id="15" name="object 15" descr=""/>
            <p:cNvSpPr/>
            <p:nvPr/>
          </p:nvSpPr>
          <p:spPr>
            <a:xfrm>
              <a:off x="4361967" y="3077902"/>
              <a:ext cx="946785" cy="97790"/>
            </a:xfrm>
            <a:custGeom>
              <a:avLst/>
              <a:gdLst/>
              <a:ahLst/>
              <a:cxnLst/>
              <a:rect l="l" t="t" r="r" b="b"/>
              <a:pathLst>
                <a:path w="946785" h="97789">
                  <a:moveTo>
                    <a:pt x="798228" y="0"/>
                  </a:moveTo>
                  <a:lnTo>
                    <a:pt x="848313" y="50207"/>
                  </a:lnTo>
                  <a:lnTo>
                    <a:pt x="798228" y="97421"/>
                  </a:lnTo>
                  <a:lnTo>
                    <a:pt x="908640" y="62323"/>
                  </a:lnTo>
                  <a:lnTo>
                    <a:pt x="848313" y="62323"/>
                  </a:lnTo>
                  <a:lnTo>
                    <a:pt x="851273" y="59282"/>
                  </a:lnTo>
                  <a:lnTo>
                    <a:pt x="857441" y="59282"/>
                  </a:lnTo>
                  <a:lnTo>
                    <a:pt x="860402" y="53248"/>
                  </a:lnTo>
                  <a:lnTo>
                    <a:pt x="860402" y="44173"/>
                  </a:lnTo>
                  <a:lnTo>
                    <a:pt x="857441" y="41132"/>
                  </a:lnTo>
                  <a:lnTo>
                    <a:pt x="851273" y="38115"/>
                  </a:lnTo>
                  <a:lnTo>
                    <a:pt x="848313" y="35687"/>
                  </a:lnTo>
                  <a:lnTo>
                    <a:pt x="903801" y="35687"/>
                  </a:lnTo>
                  <a:lnTo>
                    <a:pt x="798228" y="0"/>
                  </a:lnTo>
                  <a:close/>
                </a:path>
                <a:path w="946785" h="97789">
                  <a:moveTo>
                    <a:pt x="833828" y="35687"/>
                  </a:moveTo>
                  <a:lnTo>
                    <a:pt x="12212" y="35687"/>
                  </a:lnTo>
                  <a:lnTo>
                    <a:pt x="6118" y="38115"/>
                  </a:lnTo>
                  <a:lnTo>
                    <a:pt x="0" y="44173"/>
                  </a:lnTo>
                  <a:lnTo>
                    <a:pt x="0" y="53248"/>
                  </a:lnTo>
                  <a:lnTo>
                    <a:pt x="3059" y="59282"/>
                  </a:lnTo>
                  <a:lnTo>
                    <a:pt x="6118" y="59282"/>
                  </a:lnTo>
                  <a:lnTo>
                    <a:pt x="12212" y="62323"/>
                  </a:lnTo>
                  <a:lnTo>
                    <a:pt x="835460" y="62323"/>
                  </a:lnTo>
                  <a:lnTo>
                    <a:pt x="848313" y="50207"/>
                  </a:lnTo>
                  <a:lnTo>
                    <a:pt x="833828" y="35687"/>
                  </a:lnTo>
                  <a:close/>
                </a:path>
                <a:path w="946785" h="97789">
                  <a:moveTo>
                    <a:pt x="903801" y="35687"/>
                  </a:moveTo>
                  <a:lnTo>
                    <a:pt x="848313" y="35687"/>
                  </a:lnTo>
                  <a:lnTo>
                    <a:pt x="851273" y="38115"/>
                  </a:lnTo>
                  <a:lnTo>
                    <a:pt x="857441" y="41132"/>
                  </a:lnTo>
                  <a:lnTo>
                    <a:pt x="860402" y="44173"/>
                  </a:lnTo>
                  <a:lnTo>
                    <a:pt x="860402" y="53248"/>
                  </a:lnTo>
                  <a:lnTo>
                    <a:pt x="857441" y="59282"/>
                  </a:lnTo>
                  <a:lnTo>
                    <a:pt x="851273" y="59282"/>
                  </a:lnTo>
                  <a:lnTo>
                    <a:pt x="848313" y="62323"/>
                  </a:lnTo>
                  <a:lnTo>
                    <a:pt x="908640" y="62323"/>
                  </a:lnTo>
                  <a:lnTo>
                    <a:pt x="946756" y="50207"/>
                  </a:lnTo>
                  <a:lnTo>
                    <a:pt x="903801" y="35687"/>
                  </a:lnTo>
                  <a:close/>
                </a:path>
              </a:pathLst>
            </a:custGeom>
            <a:solidFill>
              <a:srgbClr val="000000"/>
            </a:solidFill>
          </p:spPr>
          <p:txBody>
            <a:bodyPr wrap="square" lIns="0" tIns="0" rIns="0" bIns="0" rtlCol="0"/>
            <a:lstStyle/>
            <a:p/>
          </p:txBody>
        </p:sp>
        <p:sp>
          <p:nvSpPr>
            <p:cNvPr id="16" name="object 16" descr=""/>
            <p:cNvSpPr/>
            <p:nvPr/>
          </p:nvSpPr>
          <p:spPr>
            <a:xfrm>
              <a:off x="4361967" y="3077902"/>
              <a:ext cx="946785" cy="97790"/>
            </a:xfrm>
            <a:custGeom>
              <a:avLst/>
              <a:gdLst/>
              <a:ahLst/>
              <a:cxnLst/>
              <a:rect l="l" t="t" r="r" b="b"/>
              <a:pathLst>
                <a:path w="946785" h="97789">
                  <a:moveTo>
                    <a:pt x="12212" y="35687"/>
                  </a:moveTo>
                  <a:lnTo>
                    <a:pt x="848313" y="35687"/>
                  </a:lnTo>
                  <a:lnTo>
                    <a:pt x="851273" y="38115"/>
                  </a:lnTo>
                  <a:lnTo>
                    <a:pt x="857441" y="41132"/>
                  </a:lnTo>
                  <a:lnTo>
                    <a:pt x="860402" y="44173"/>
                  </a:lnTo>
                  <a:lnTo>
                    <a:pt x="860402" y="50207"/>
                  </a:lnTo>
                  <a:lnTo>
                    <a:pt x="860402" y="53248"/>
                  </a:lnTo>
                  <a:lnTo>
                    <a:pt x="857441" y="59282"/>
                  </a:lnTo>
                  <a:lnTo>
                    <a:pt x="851273" y="59282"/>
                  </a:lnTo>
                  <a:lnTo>
                    <a:pt x="848313" y="62323"/>
                  </a:lnTo>
                  <a:lnTo>
                    <a:pt x="12212" y="62323"/>
                  </a:lnTo>
                  <a:lnTo>
                    <a:pt x="6118" y="59282"/>
                  </a:lnTo>
                  <a:lnTo>
                    <a:pt x="3059" y="59282"/>
                  </a:lnTo>
                  <a:lnTo>
                    <a:pt x="0" y="53248"/>
                  </a:lnTo>
                  <a:lnTo>
                    <a:pt x="0" y="50207"/>
                  </a:lnTo>
                  <a:lnTo>
                    <a:pt x="0" y="44173"/>
                  </a:lnTo>
                  <a:lnTo>
                    <a:pt x="3059" y="41132"/>
                  </a:lnTo>
                  <a:lnTo>
                    <a:pt x="6118" y="38115"/>
                  </a:lnTo>
                  <a:lnTo>
                    <a:pt x="12212" y="35687"/>
                  </a:lnTo>
                  <a:close/>
                </a:path>
                <a:path w="946785" h="97789">
                  <a:moveTo>
                    <a:pt x="848313" y="50207"/>
                  </a:moveTo>
                  <a:lnTo>
                    <a:pt x="798228" y="0"/>
                  </a:lnTo>
                  <a:lnTo>
                    <a:pt x="946756" y="50207"/>
                  </a:lnTo>
                  <a:lnTo>
                    <a:pt x="798228" y="97421"/>
                  </a:lnTo>
                  <a:lnTo>
                    <a:pt x="848313" y="50207"/>
                  </a:lnTo>
                  <a:close/>
                </a:path>
              </a:pathLst>
            </a:custGeom>
            <a:ln w="3443">
              <a:solidFill>
                <a:srgbClr val="000000"/>
              </a:solidFill>
            </a:ln>
          </p:spPr>
          <p:txBody>
            <a:bodyPr wrap="square" lIns="0" tIns="0" rIns="0" bIns="0" rtlCol="0"/>
            <a:lstStyle/>
            <a:p/>
          </p:txBody>
        </p:sp>
        <p:sp>
          <p:nvSpPr>
            <p:cNvPr id="17" name="object 17" descr=""/>
            <p:cNvSpPr/>
            <p:nvPr/>
          </p:nvSpPr>
          <p:spPr>
            <a:xfrm>
              <a:off x="4361967" y="3388318"/>
              <a:ext cx="946785" cy="98425"/>
            </a:xfrm>
            <a:custGeom>
              <a:avLst/>
              <a:gdLst/>
              <a:ahLst/>
              <a:cxnLst/>
              <a:rect l="l" t="t" r="r" b="b"/>
              <a:pathLst>
                <a:path w="946785" h="98425">
                  <a:moveTo>
                    <a:pt x="798228" y="0"/>
                  </a:moveTo>
                  <a:lnTo>
                    <a:pt x="848313" y="47803"/>
                  </a:lnTo>
                  <a:lnTo>
                    <a:pt x="798228" y="98035"/>
                  </a:lnTo>
                  <a:lnTo>
                    <a:pt x="912742" y="59306"/>
                  </a:lnTo>
                  <a:lnTo>
                    <a:pt x="851273" y="59306"/>
                  </a:lnTo>
                  <a:lnTo>
                    <a:pt x="857441" y="56289"/>
                  </a:lnTo>
                  <a:lnTo>
                    <a:pt x="860402" y="53248"/>
                  </a:lnTo>
                  <a:lnTo>
                    <a:pt x="860402" y="44786"/>
                  </a:lnTo>
                  <a:lnTo>
                    <a:pt x="857441" y="38728"/>
                  </a:lnTo>
                  <a:lnTo>
                    <a:pt x="851273" y="35711"/>
                  </a:lnTo>
                  <a:lnTo>
                    <a:pt x="909185" y="35711"/>
                  </a:lnTo>
                  <a:lnTo>
                    <a:pt x="798228" y="0"/>
                  </a:lnTo>
                  <a:close/>
                </a:path>
                <a:path w="946785" h="98425">
                  <a:moveTo>
                    <a:pt x="835644" y="35711"/>
                  </a:moveTo>
                  <a:lnTo>
                    <a:pt x="6118" y="35711"/>
                  </a:lnTo>
                  <a:lnTo>
                    <a:pt x="3059" y="38728"/>
                  </a:lnTo>
                  <a:lnTo>
                    <a:pt x="0" y="44786"/>
                  </a:lnTo>
                  <a:lnTo>
                    <a:pt x="0" y="53248"/>
                  </a:lnTo>
                  <a:lnTo>
                    <a:pt x="6118" y="59306"/>
                  </a:lnTo>
                  <a:lnTo>
                    <a:pt x="836843" y="59306"/>
                  </a:lnTo>
                  <a:lnTo>
                    <a:pt x="848313" y="47803"/>
                  </a:lnTo>
                  <a:lnTo>
                    <a:pt x="835644" y="35711"/>
                  </a:lnTo>
                  <a:close/>
                </a:path>
                <a:path w="946785" h="98425">
                  <a:moveTo>
                    <a:pt x="909185" y="35711"/>
                  </a:moveTo>
                  <a:lnTo>
                    <a:pt x="851273" y="35711"/>
                  </a:lnTo>
                  <a:lnTo>
                    <a:pt x="857441" y="38728"/>
                  </a:lnTo>
                  <a:lnTo>
                    <a:pt x="860402" y="44786"/>
                  </a:lnTo>
                  <a:lnTo>
                    <a:pt x="860402" y="53248"/>
                  </a:lnTo>
                  <a:lnTo>
                    <a:pt x="857441" y="56289"/>
                  </a:lnTo>
                  <a:lnTo>
                    <a:pt x="851273" y="59306"/>
                  </a:lnTo>
                  <a:lnTo>
                    <a:pt x="912742" y="59306"/>
                  </a:lnTo>
                  <a:lnTo>
                    <a:pt x="946756" y="47803"/>
                  </a:lnTo>
                  <a:lnTo>
                    <a:pt x="909185" y="35711"/>
                  </a:lnTo>
                  <a:close/>
                </a:path>
              </a:pathLst>
            </a:custGeom>
            <a:solidFill>
              <a:srgbClr val="000000"/>
            </a:solidFill>
          </p:spPr>
          <p:txBody>
            <a:bodyPr wrap="square" lIns="0" tIns="0" rIns="0" bIns="0" rtlCol="0"/>
            <a:lstStyle/>
            <a:p/>
          </p:txBody>
        </p:sp>
        <p:sp>
          <p:nvSpPr>
            <p:cNvPr id="18" name="object 18" descr=""/>
            <p:cNvSpPr/>
            <p:nvPr/>
          </p:nvSpPr>
          <p:spPr>
            <a:xfrm>
              <a:off x="4361967" y="3388318"/>
              <a:ext cx="946785" cy="98425"/>
            </a:xfrm>
            <a:custGeom>
              <a:avLst/>
              <a:gdLst/>
              <a:ahLst/>
              <a:cxnLst/>
              <a:rect l="l" t="t" r="r" b="b"/>
              <a:pathLst>
                <a:path w="946785" h="98425">
                  <a:moveTo>
                    <a:pt x="12212" y="35711"/>
                  </a:moveTo>
                  <a:lnTo>
                    <a:pt x="848313" y="35711"/>
                  </a:lnTo>
                  <a:lnTo>
                    <a:pt x="851273" y="35711"/>
                  </a:lnTo>
                  <a:lnTo>
                    <a:pt x="857441" y="38728"/>
                  </a:lnTo>
                  <a:lnTo>
                    <a:pt x="860402" y="44786"/>
                  </a:lnTo>
                  <a:lnTo>
                    <a:pt x="860402" y="47803"/>
                  </a:lnTo>
                  <a:lnTo>
                    <a:pt x="860402" y="53248"/>
                  </a:lnTo>
                  <a:lnTo>
                    <a:pt x="857441" y="56289"/>
                  </a:lnTo>
                  <a:lnTo>
                    <a:pt x="851273" y="59306"/>
                  </a:lnTo>
                  <a:lnTo>
                    <a:pt x="848313" y="59306"/>
                  </a:lnTo>
                  <a:lnTo>
                    <a:pt x="12212" y="59306"/>
                  </a:lnTo>
                  <a:lnTo>
                    <a:pt x="6118" y="59306"/>
                  </a:lnTo>
                  <a:lnTo>
                    <a:pt x="3059" y="56289"/>
                  </a:lnTo>
                  <a:lnTo>
                    <a:pt x="0" y="53248"/>
                  </a:lnTo>
                  <a:lnTo>
                    <a:pt x="0" y="47803"/>
                  </a:lnTo>
                  <a:lnTo>
                    <a:pt x="0" y="44786"/>
                  </a:lnTo>
                  <a:lnTo>
                    <a:pt x="3059" y="38728"/>
                  </a:lnTo>
                  <a:lnTo>
                    <a:pt x="6118" y="35711"/>
                  </a:lnTo>
                  <a:lnTo>
                    <a:pt x="12212" y="35711"/>
                  </a:lnTo>
                  <a:close/>
                </a:path>
                <a:path w="946785" h="98425">
                  <a:moveTo>
                    <a:pt x="848313" y="47803"/>
                  </a:moveTo>
                  <a:lnTo>
                    <a:pt x="798228" y="0"/>
                  </a:lnTo>
                  <a:lnTo>
                    <a:pt x="946756" y="47803"/>
                  </a:lnTo>
                  <a:lnTo>
                    <a:pt x="798228" y="98035"/>
                  </a:lnTo>
                  <a:lnTo>
                    <a:pt x="848313" y="47803"/>
                  </a:lnTo>
                  <a:close/>
                </a:path>
              </a:pathLst>
            </a:custGeom>
            <a:ln w="3443">
              <a:solidFill>
                <a:srgbClr val="000000"/>
              </a:solidFill>
            </a:ln>
          </p:spPr>
          <p:txBody>
            <a:bodyPr wrap="square" lIns="0" tIns="0" rIns="0" bIns="0" rtlCol="0"/>
            <a:lstStyle/>
            <a:p/>
          </p:txBody>
        </p:sp>
        <p:sp>
          <p:nvSpPr>
            <p:cNvPr id="19" name="object 19" descr=""/>
            <p:cNvSpPr/>
            <p:nvPr/>
          </p:nvSpPr>
          <p:spPr>
            <a:xfrm>
              <a:off x="2596973" y="3080919"/>
              <a:ext cx="688340" cy="100965"/>
            </a:xfrm>
            <a:custGeom>
              <a:avLst/>
              <a:gdLst/>
              <a:ahLst/>
              <a:cxnLst/>
              <a:rect l="l" t="t" r="r" b="b"/>
              <a:pathLst>
                <a:path w="688339" h="100964">
                  <a:moveTo>
                    <a:pt x="540252" y="0"/>
                  </a:moveTo>
                  <a:lnTo>
                    <a:pt x="587303" y="50231"/>
                  </a:lnTo>
                  <a:lnTo>
                    <a:pt x="540252" y="100438"/>
                  </a:lnTo>
                  <a:lnTo>
                    <a:pt x="654347" y="61710"/>
                  </a:lnTo>
                  <a:lnTo>
                    <a:pt x="593421" y="61710"/>
                  </a:lnTo>
                  <a:lnTo>
                    <a:pt x="596481" y="59306"/>
                  </a:lnTo>
                  <a:lnTo>
                    <a:pt x="599540" y="56265"/>
                  </a:lnTo>
                  <a:lnTo>
                    <a:pt x="599540" y="44173"/>
                  </a:lnTo>
                  <a:lnTo>
                    <a:pt x="593421" y="38115"/>
                  </a:lnTo>
                  <a:lnTo>
                    <a:pt x="652486" y="38115"/>
                  </a:lnTo>
                  <a:lnTo>
                    <a:pt x="540252" y="0"/>
                  </a:lnTo>
                  <a:close/>
                </a:path>
                <a:path w="688339" h="100964">
                  <a:moveTo>
                    <a:pt x="575954" y="38115"/>
                  </a:moveTo>
                  <a:lnTo>
                    <a:pt x="6118" y="38115"/>
                  </a:lnTo>
                  <a:lnTo>
                    <a:pt x="0" y="44173"/>
                  </a:lnTo>
                  <a:lnTo>
                    <a:pt x="0" y="56265"/>
                  </a:lnTo>
                  <a:lnTo>
                    <a:pt x="3059" y="59306"/>
                  </a:lnTo>
                  <a:lnTo>
                    <a:pt x="6118" y="61710"/>
                  </a:lnTo>
                  <a:lnTo>
                    <a:pt x="576546" y="61710"/>
                  </a:lnTo>
                  <a:lnTo>
                    <a:pt x="587303" y="50231"/>
                  </a:lnTo>
                  <a:lnTo>
                    <a:pt x="575954" y="38115"/>
                  </a:lnTo>
                  <a:close/>
                </a:path>
                <a:path w="688339" h="100964">
                  <a:moveTo>
                    <a:pt x="652486" y="38115"/>
                  </a:moveTo>
                  <a:lnTo>
                    <a:pt x="593421" y="38115"/>
                  </a:lnTo>
                  <a:lnTo>
                    <a:pt x="599540" y="44173"/>
                  </a:lnTo>
                  <a:lnTo>
                    <a:pt x="599540" y="56265"/>
                  </a:lnTo>
                  <a:lnTo>
                    <a:pt x="596481" y="59306"/>
                  </a:lnTo>
                  <a:lnTo>
                    <a:pt x="593421" y="61710"/>
                  </a:lnTo>
                  <a:lnTo>
                    <a:pt x="654347" y="61710"/>
                  </a:lnTo>
                  <a:lnTo>
                    <a:pt x="688164" y="50231"/>
                  </a:lnTo>
                  <a:lnTo>
                    <a:pt x="652486" y="38115"/>
                  </a:lnTo>
                  <a:close/>
                </a:path>
              </a:pathLst>
            </a:custGeom>
            <a:solidFill>
              <a:srgbClr val="000000"/>
            </a:solidFill>
          </p:spPr>
          <p:txBody>
            <a:bodyPr wrap="square" lIns="0" tIns="0" rIns="0" bIns="0" rtlCol="0"/>
            <a:lstStyle/>
            <a:p/>
          </p:txBody>
        </p:sp>
        <p:sp>
          <p:nvSpPr>
            <p:cNvPr id="20" name="object 20" descr=""/>
            <p:cNvSpPr/>
            <p:nvPr/>
          </p:nvSpPr>
          <p:spPr>
            <a:xfrm>
              <a:off x="2596973" y="3080919"/>
              <a:ext cx="688340" cy="100965"/>
            </a:xfrm>
            <a:custGeom>
              <a:avLst/>
              <a:gdLst/>
              <a:ahLst/>
              <a:cxnLst/>
              <a:rect l="l" t="t" r="r" b="b"/>
              <a:pathLst>
                <a:path w="688339" h="100964">
                  <a:moveTo>
                    <a:pt x="12237" y="38115"/>
                  </a:moveTo>
                  <a:lnTo>
                    <a:pt x="587303" y="38115"/>
                  </a:lnTo>
                  <a:lnTo>
                    <a:pt x="593421" y="38115"/>
                  </a:lnTo>
                  <a:lnTo>
                    <a:pt x="596481" y="41156"/>
                  </a:lnTo>
                  <a:lnTo>
                    <a:pt x="599540" y="44173"/>
                  </a:lnTo>
                  <a:lnTo>
                    <a:pt x="599540" y="50231"/>
                  </a:lnTo>
                  <a:lnTo>
                    <a:pt x="599540" y="56265"/>
                  </a:lnTo>
                  <a:lnTo>
                    <a:pt x="596481" y="59306"/>
                  </a:lnTo>
                  <a:lnTo>
                    <a:pt x="593421" y="61710"/>
                  </a:lnTo>
                  <a:lnTo>
                    <a:pt x="587303" y="61710"/>
                  </a:lnTo>
                  <a:lnTo>
                    <a:pt x="12237" y="61710"/>
                  </a:lnTo>
                  <a:lnTo>
                    <a:pt x="6118" y="61710"/>
                  </a:lnTo>
                  <a:lnTo>
                    <a:pt x="3059" y="59306"/>
                  </a:lnTo>
                  <a:lnTo>
                    <a:pt x="0" y="56265"/>
                  </a:lnTo>
                  <a:lnTo>
                    <a:pt x="0" y="50231"/>
                  </a:lnTo>
                  <a:lnTo>
                    <a:pt x="0" y="44173"/>
                  </a:lnTo>
                  <a:lnTo>
                    <a:pt x="3059" y="41156"/>
                  </a:lnTo>
                  <a:lnTo>
                    <a:pt x="6118" y="38115"/>
                  </a:lnTo>
                  <a:lnTo>
                    <a:pt x="12237" y="38115"/>
                  </a:lnTo>
                  <a:close/>
                </a:path>
                <a:path w="688339" h="100964">
                  <a:moveTo>
                    <a:pt x="587303" y="50231"/>
                  </a:moveTo>
                  <a:lnTo>
                    <a:pt x="540252" y="0"/>
                  </a:lnTo>
                  <a:lnTo>
                    <a:pt x="688164" y="50231"/>
                  </a:lnTo>
                  <a:lnTo>
                    <a:pt x="540252" y="100438"/>
                  </a:lnTo>
                  <a:lnTo>
                    <a:pt x="587303" y="50231"/>
                  </a:lnTo>
                  <a:close/>
                </a:path>
              </a:pathLst>
            </a:custGeom>
            <a:ln w="3443">
              <a:solidFill>
                <a:srgbClr val="000000"/>
              </a:solidFill>
            </a:ln>
          </p:spPr>
          <p:txBody>
            <a:bodyPr wrap="square" lIns="0" tIns="0" rIns="0" bIns="0" rtlCol="0"/>
            <a:lstStyle/>
            <a:p/>
          </p:txBody>
        </p:sp>
        <p:sp>
          <p:nvSpPr>
            <p:cNvPr id="21" name="object 21" descr=""/>
            <p:cNvSpPr/>
            <p:nvPr/>
          </p:nvSpPr>
          <p:spPr>
            <a:xfrm>
              <a:off x="3281461" y="2973809"/>
              <a:ext cx="1089660" cy="612775"/>
            </a:xfrm>
            <a:custGeom>
              <a:avLst/>
              <a:gdLst/>
              <a:ahLst/>
              <a:cxnLst/>
              <a:rect l="l" t="t" r="r" b="b"/>
              <a:pathLst>
                <a:path w="1089660" h="612775">
                  <a:moveTo>
                    <a:pt x="1089066" y="0"/>
                  </a:moveTo>
                  <a:lnTo>
                    <a:pt x="0" y="0"/>
                  </a:lnTo>
                  <a:lnTo>
                    <a:pt x="0" y="612394"/>
                  </a:lnTo>
                  <a:lnTo>
                    <a:pt x="1089067" y="612394"/>
                  </a:lnTo>
                  <a:lnTo>
                    <a:pt x="1089066" y="0"/>
                  </a:lnTo>
                  <a:close/>
                </a:path>
              </a:pathLst>
            </a:custGeom>
            <a:solidFill>
              <a:srgbClr val="CCFFCC"/>
            </a:solidFill>
          </p:spPr>
          <p:txBody>
            <a:bodyPr wrap="square" lIns="0" tIns="0" rIns="0" bIns="0" rtlCol="0"/>
            <a:lstStyle/>
            <a:p/>
          </p:txBody>
        </p:sp>
        <p:sp>
          <p:nvSpPr>
            <p:cNvPr id="22" name="object 22" descr=""/>
            <p:cNvSpPr/>
            <p:nvPr/>
          </p:nvSpPr>
          <p:spPr>
            <a:xfrm>
              <a:off x="3281461" y="2973809"/>
              <a:ext cx="1089660" cy="612775"/>
            </a:xfrm>
            <a:custGeom>
              <a:avLst/>
              <a:gdLst/>
              <a:ahLst/>
              <a:cxnLst/>
              <a:rect l="l" t="t" r="r" b="b"/>
              <a:pathLst>
                <a:path w="1089660" h="612775">
                  <a:moveTo>
                    <a:pt x="0" y="612394"/>
                  </a:moveTo>
                  <a:lnTo>
                    <a:pt x="1089067" y="612394"/>
                  </a:lnTo>
                  <a:lnTo>
                    <a:pt x="1089066" y="0"/>
                  </a:lnTo>
                  <a:lnTo>
                    <a:pt x="0" y="0"/>
                  </a:lnTo>
                  <a:lnTo>
                    <a:pt x="0" y="612394"/>
                  </a:lnTo>
                  <a:close/>
                </a:path>
              </a:pathLst>
            </a:custGeom>
            <a:ln w="17643">
              <a:solidFill>
                <a:srgbClr val="000000"/>
              </a:solidFill>
            </a:ln>
          </p:spPr>
          <p:txBody>
            <a:bodyPr wrap="square" lIns="0" tIns="0" rIns="0" bIns="0" rtlCol="0"/>
            <a:lstStyle/>
            <a:p/>
          </p:txBody>
        </p:sp>
      </p:grpSp>
      <p:grpSp>
        <p:nvGrpSpPr>
          <p:cNvPr id="23" name="object 23" descr=""/>
          <p:cNvGrpSpPr/>
          <p:nvPr/>
        </p:nvGrpSpPr>
        <p:grpSpPr>
          <a:xfrm>
            <a:off x="2607306" y="4340981"/>
            <a:ext cx="1772285" cy="631190"/>
            <a:chOff x="2607306" y="4340981"/>
            <a:chExt cx="1772285" cy="631190"/>
          </a:xfrm>
        </p:grpSpPr>
        <p:sp>
          <p:nvSpPr>
            <p:cNvPr id="24" name="object 24" descr=""/>
            <p:cNvSpPr/>
            <p:nvPr/>
          </p:nvSpPr>
          <p:spPr>
            <a:xfrm>
              <a:off x="2609211" y="4611292"/>
              <a:ext cx="688340" cy="97790"/>
            </a:xfrm>
            <a:custGeom>
              <a:avLst/>
              <a:gdLst/>
              <a:ahLst/>
              <a:cxnLst/>
              <a:rect l="l" t="t" r="r" b="b"/>
              <a:pathLst>
                <a:path w="688339" h="97789">
                  <a:moveTo>
                    <a:pt x="147886" y="0"/>
                  </a:moveTo>
                  <a:lnTo>
                    <a:pt x="0" y="50231"/>
                  </a:lnTo>
                  <a:lnTo>
                    <a:pt x="147886" y="97421"/>
                  </a:lnTo>
                  <a:lnTo>
                    <a:pt x="109991" y="61734"/>
                  </a:lnTo>
                  <a:lnTo>
                    <a:pt x="97776" y="61734"/>
                  </a:lnTo>
                  <a:lnTo>
                    <a:pt x="94717" y="58693"/>
                  </a:lnTo>
                  <a:lnTo>
                    <a:pt x="88598" y="58693"/>
                  </a:lnTo>
                  <a:lnTo>
                    <a:pt x="88598" y="53248"/>
                  </a:lnTo>
                  <a:lnTo>
                    <a:pt x="86156" y="50231"/>
                  </a:lnTo>
                  <a:lnTo>
                    <a:pt x="88598" y="44173"/>
                  </a:lnTo>
                  <a:lnTo>
                    <a:pt x="88598" y="41156"/>
                  </a:lnTo>
                  <a:lnTo>
                    <a:pt x="94717" y="38139"/>
                  </a:lnTo>
                  <a:lnTo>
                    <a:pt x="97776" y="35098"/>
                  </a:lnTo>
                  <a:lnTo>
                    <a:pt x="112873" y="35098"/>
                  </a:lnTo>
                  <a:lnTo>
                    <a:pt x="147886" y="0"/>
                  </a:lnTo>
                  <a:close/>
                </a:path>
                <a:path w="688339" h="97789">
                  <a:moveTo>
                    <a:pt x="112873" y="35098"/>
                  </a:moveTo>
                  <a:lnTo>
                    <a:pt x="97776" y="35098"/>
                  </a:lnTo>
                  <a:lnTo>
                    <a:pt x="94717" y="38139"/>
                  </a:lnTo>
                  <a:lnTo>
                    <a:pt x="88598" y="41156"/>
                  </a:lnTo>
                  <a:lnTo>
                    <a:pt x="88598" y="44173"/>
                  </a:lnTo>
                  <a:lnTo>
                    <a:pt x="86156" y="50231"/>
                  </a:lnTo>
                  <a:lnTo>
                    <a:pt x="88598" y="53248"/>
                  </a:lnTo>
                  <a:lnTo>
                    <a:pt x="88598" y="58693"/>
                  </a:lnTo>
                  <a:lnTo>
                    <a:pt x="94717" y="58693"/>
                  </a:lnTo>
                  <a:lnTo>
                    <a:pt x="97776" y="61734"/>
                  </a:lnTo>
                  <a:lnTo>
                    <a:pt x="109991" y="61734"/>
                  </a:lnTo>
                  <a:lnTo>
                    <a:pt x="97776" y="50231"/>
                  </a:lnTo>
                  <a:lnTo>
                    <a:pt x="112873" y="35098"/>
                  </a:lnTo>
                  <a:close/>
                </a:path>
                <a:path w="688339" h="97789">
                  <a:moveTo>
                    <a:pt x="675926" y="35098"/>
                  </a:moveTo>
                  <a:lnTo>
                    <a:pt x="112873" y="35098"/>
                  </a:lnTo>
                  <a:lnTo>
                    <a:pt x="97776" y="50231"/>
                  </a:lnTo>
                  <a:lnTo>
                    <a:pt x="109991" y="61734"/>
                  </a:lnTo>
                  <a:lnTo>
                    <a:pt x="675926" y="61734"/>
                  </a:lnTo>
                  <a:lnTo>
                    <a:pt x="678961" y="58693"/>
                  </a:lnTo>
                  <a:lnTo>
                    <a:pt x="685080" y="58693"/>
                  </a:lnTo>
                  <a:lnTo>
                    <a:pt x="685080" y="53248"/>
                  </a:lnTo>
                  <a:lnTo>
                    <a:pt x="688139" y="50231"/>
                  </a:lnTo>
                  <a:lnTo>
                    <a:pt x="685080" y="44173"/>
                  </a:lnTo>
                  <a:lnTo>
                    <a:pt x="685080" y="41156"/>
                  </a:lnTo>
                  <a:lnTo>
                    <a:pt x="678961" y="38139"/>
                  </a:lnTo>
                  <a:lnTo>
                    <a:pt x="675926" y="35098"/>
                  </a:lnTo>
                  <a:close/>
                </a:path>
              </a:pathLst>
            </a:custGeom>
            <a:solidFill>
              <a:srgbClr val="000000"/>
            </a:solidFill>
          </p:spPr>
          <p:txBody>
            <a:bodyPr wrap="square" lIns="0" tIns="0" rIns="0" bIns="0" rtlCol="0"/>
            <a:lstStyle/>
            <a:p/>
          </p:txBody>
        </p:sp>
        <p:sp>
          <p:nvSpPr>
            <p:cNvPr id="25" name="object 25" descr=""/>
            <p:cNvSpPr/>
            <p:nvPr/>
          </p:nvSpPr>
          <p:spPr>
            <a:xfrm>
              <a:off x="2609211" y="4611292"/>
              <a:ext cx="688340" cy="97790"/>
            </a:xfrm>
            <a:custGeom>
              <a:avLst/>
              <a:gdLst/>
              <a:ahLst/>
              <a:cxnLst/>
              <a:rect l="l" t="t" r="r" b="b"/>
              <a:pathLst>
                <a:path w="688339" h="97789">
                  <a:moveTo>
                    <a:pt x="675926" y="61734"/>
                  </a:moveTo>
                  <a:lnTo>
                    <a:pt x="97776" y="61734"/>
                  </a:lnTo>
                  <a:lnTo>
                    <a:pt x="94717" y="58693"/>
                  </a:lnTo>
                  <a:lnTo>
                    <a:pt x="88598" y="58693"/>
                  </a:lnTo>
                  <a:lnTo>
                    <a:pt x="88598" y="53248"/>
                  </a:lnTo>
                  <a:lnTo>
                    <a:pt x="86156" y="50231"/>
                  </a:lnTo>
                  <a:lnTo>
                    <a:pt x="88598" y="44173"/>
                  </a:lnTo>
                  <a:lnTo>
                    <a:pt x="88598" y="41156"/>
                  </a:lnTo>
                  <a:lnTo>
                    <a:pt x="94717" y="38139"/>
                  </a:lnTo>
                  <a:lnTo>
                    <a:pt x="97776" y="35098"/>
                  </a:lnTo>
                  <a:lnTo>
                    <a:pt x="675926" y="35098"/>
                  </a:lnTo>
                  <a:lnTo>
                    <a:pt x="678961" y="38139"/>
                  </a:lnTo>
                  <a:lnTo>
                    <a:pt x="685080" y="41156"/>
                  </a:lnTo>
                  <a:lnTo>
                    <a:pt x="685080" y="44173"/>
                  </a:lnTo>
                  <a:lnTo>
                    <a:pt x="688139" y="50231"/>
                  </a:lnTo>
                  <a:lnTo>
                    <a:pt x="685080" y="53248"/>
                  </a:lnTo>
                  <a:lnTo>
                    <a:pt x="685080" y="58693"/>
                  </a:lnTo>
                  <a:lnTo>
                    <a:pt x="678961" y="58693"/>
                  </a:lnTo>
                  <a:lnTo>
                    <a:pt x="675926" y="61734"/>
                  </a:lnTo>
                  <a:close/>
                </a:path>
                <a:path w="688339" h="97789">
                  <a:moveTo>
                    <a:pt x="97776" y="50231"/>
                  </a:moveTo>
                  <a:lnTo>
                    <a:pt x="147886" y="97421"/>
                  </a:lnTo>
                  <a:lnTo>
                    <a:pt x="0" y="50231"/>
                  </a:lnTo>
                  <a:lnTo>
                    <a:pt x="147886" y="0"/>
                  </a:lnTo>
                  <a:lnTo>
                    <a:pt x="97776" y="50231"/>
                  </a:lnTo>
                  <a:close/>
                </a:path>
              </a:pathLst>
            </a:custGeom>
            <a:ln w="3443">
              <a:solidFill>
                <a:srgbClr val="000000"/>
              </a:solidFill>
            </a:ln>
          </p:spPr>
          <p:txBody>
            <a:bodyPr wrap="square" lIns="0" tIns="0" rIns="0" bIns="0" rtlCol="0"/>
            <a:lstStyle/>
            <a:p/>
          </p:txBody>
        </p:sp>
        <p:sp>
          <p:nvSpPr>
            <p:cNvPr id="26" name="object 26" descr=""/>
            <p:cNvSpPr/>
            <p:nvPr/>
          </p:nvSpPr>
          <p:spPr>
            <a:xfrm>
              <a:off x="3281451" y="4349876"/>
              <a:ext cx="1089660" cy="613410"/>
            </a:xfrm>
            <a:custGeom>
              <a:avLst/>
              <a:gdLst/>
              <a:ahLst/>
              <a:cxnLst/>
              <a:rect l="l" t="t" r="r" b="b"/>
              <a:pathLst>
                <a:path w="1089660" h="613410">
                  <a:moveTo>
                    <a:pt x="1089075" y="609473"/>
                  </a:moveTo>
                  <a:lnTo>
                    <a:pt x="0" y="609473"/>
                  </a:lnTo>
                  <a:lnTo>
                    <a:pt x="0" y="613003"/>
                  </a:lnTo>
                  <a:lnTo>
                    <a:pt x="1089075" y="613003"/>
                  </a:lnTo>
                  <a:lnTo>
                    <a:pt x="1089075" y="609473"/>
                  </a:lnTo>
                  <a:close/>
                </a:path>
                <a:path w="1089660" h="613410">
                  <a:moveTo>
                    <a:pt x="1089075" y="0"/>
                  </a:moveTo>
                  <a:lnTo>
                    <a:pt x="0" y="0"/>
                  </a:lnTo>
                  <a:lnTo>
                    <a:pt x="0" y="18923"/>
                  </a:lnTo>
                  <a:lnTo>
                    <a:pt x="1089075" y="18923"/>
                  </a:lnTo>
                  <a:lnTo>
                    <a:pt x="1089075" y="0"/>
                  </a:lnTo>
                  <a:close/>
                </a:path>
              </a:pathLst>
            </a:custGeom>
            <a:solidFill>
              <a:srgbClr val="CCFFCC"/>
            </a:solidFill>
          </p:spPr>
          <p:txBody>
            <a:bodyPr wrap="square" lIns="0" tIns="0" rIns="0" bIns="0" rtlCol="0"/>
            <a:lstStyle/>
            <a:p/>
          </p:txBody>
        </p:sp>
        <p:sp>
          <p:nvSpPr>
            <p:cNvPr id="27" name="object 27" descr=""/>
            <p:cNvSpPr/>
            <p:nvPr/>
          </p:nvSpPr>
          <p:spPr>
            <a:xfrm>
              <a:off x="3281461" y="4349871"/>
              <a:ext cx="1089660" cy="613410"/>
            </a:xfrm>
            <a:custGeom>
              <a:avLst/>
              <a:gdLst/>
              <a:ahLst/>
              <a:cxnLst/>
              <a:rect l="l" t="t" r="r" b="b"/>
              <a:pathLst>
                <a:path w="1089660" h="613410">
                  <a:moveTo>
                    <a:pt x="0" y="613007"/>
                  </a:moveTo>
                  <a:lnTo>
                    <a:pt x="1089067" y="613007"/>
                  </a:lnTo>
                  <a:lnTo>
                    <a:pt x="1089066" y="0"/>
                  </a:lnTo>
                  <a:lnTo>
                    <a:pt x="0" y="0"/>
                  </a:lnTo>
                  <a:lnTo>
                    <a:pt x="0" y="613007"/>
                  </a:lnTo>
                  <a:close/>
                </a:path>
              </a:pathLst>
            </a:custGeom>
            <a:ln w="17643">
              <a:solidFill>
                <a:srgbClr val="000000"/>
              </a:solidFill>
            </a:ln>
          </p:spPr>
          <p:txBody>
            <a:bodyPr wrap="square" lIns="0" tIns="0" rIns="0" bIns="0" rtlCol="0"/>
            <a:lstStyle/>
            <a:p/>
          </p:txBody>
        </p:sp>
      </p:grpSp>
      <p:sp>
        <p:nvSpPr>
          <p:cNvPr id="28" name="object 28" descr=""/>
          <p:cNvSpPr txBox="1"/>
          <p:nvPr/>
        </p:nvSpPr>
        <p:spPr>
          <a:xfrm>
            <a:off x="1982775" y="2896349"/>
            <a:ext cx="622935" cy="2143760"/>
          </a:xfrm>
          <a:prstGeom prst="rect">
            <a:avLst/>
          </a:prstGeom>
          <a:solidFill>
            <a:srgbClr val="FFFF99"/>
          </a:solidFill>
          <a:ln w="17715">
            <a:solidFill>
              <a:srgbClr val="000000"/>
            </a:solidFill>
          </a:ln>
        </p:spPr>
        <p:txBody>
          <a:bodyPr wrap="square" lIns="0" tIns="79375" rIns="0" bIns="0" rtlCol="0" vert="horz">
            <a:spAutoFit/>
          </a:bodyPr>
          <a:lstStyle/>
          <a:p>
            <a:pPr>
              <a:lnSpc>
                <a:spcPct val="100000"/>
              </a:lnSpc>
              <a:spcBef>
                <a:spcPts val="625"/>
              </a:spcBef>
            </a:pPr>
            <a:endParaRPr sz="1750">
              <a:latin typeface="Times New Roman"/>
              <a:cs typeface="Times New Roman"/>
            </a:endParaRPr>
          </a:p>
          <a:p>
            <a:pPr algn="just" marL="201930" marR="187960">
              <a:lnSpc>
                <a:spcPct val="122800"/>
              </a:lnSpc>
            </a:pPr>
            <a:r>
              <a:rPr dirty="0" sz="1750" spc="-50">
                <a:solidFill>
                  <a:srgbClr val="003366"/>
                </a:solidFill>
                <a:latin typeface="宋体"/>
                <a:cs typeface="宋体"/>
              </a:rPr>
              <a:t>存储系统</a:t>
            </a:r>
            <a:endParaRPr sz="1750">
              <a:latin typeface="宋体"/>
              <a:cs typeface="宋体"/>
            </a:endParaRPr>
          </a:p>
        </p:txBody>
      </p:sp>
      <p:sp>
        <p:nvSpPr>
          <p:cNvPr id="29" name="object 29" descr=""/>
          <p:cNvSpPr txBox="1"/>
          <p:nvPr/>
        </p:nvSpPr>
        <p:spPr>
          <a:xfrm>
            <a:off x="5305022" y="2896352"/>
            <a:ext cx="1922145" cy="767080"/>
          </a:xfrm>
          <a:prstGeom prst="rect">
            <a:avLst/>
          </a:prstGeom>
          <a:solidFill>
            <a:srgbClr val="CCFFFF"/>
          </a:solidFill>
          <a:ln w="17633">
            <a:solidFill>
              <a:srgbClr val="000000"/>
            </a:solidFill>
          </a:ln>
        </p:spPr>
        <p:txBody>
          <a:bodyPr wrap="square" lIns="0" tIns="212725" rIns="0" bIns="0" rtlCol="0" vert="horz">
            <a:spAutoFit/>
          </a:bodyPr>
          <a:lstStyle/>
          <a:p>
            <a:pPr marL="320040">
              <a:lnSpc>
                <a:spcPct val="100000"/>
              </a:lnSpc>
              <a:spcBef>
                <a:spcPts val="1675"/>
              </a:spcBef>
            </a:pPr>
            <a:r>
              <a:rPr dirty="0" sz="1750" spc="-25">
                <a:solidFill>
                  <a:srgbClr val="003366"/>
                </a:solidFill>
                <a:latin typeface="宋体"/>
                <a:cs typeface="宋体"/>
              </a:rPr>
              <a:t>流水处理部件</a:t>
            </a:r>
            <a:endParaRPr sz="1750">
              <a:latin typeface="宋体"/>
              <a:cs typeface="宋体"/>
            </a:endParaRPr>
          </a:p>
        </p:txBody>
      </p:sp>
      <p:sp>
        <p:nvSpPr>
          <p:cNvPr id="30" name="object 30" descr=""/>
          <p:cNvSpPr txBox="1"/>
          <p:nvPr/>
        </p:nvSpPr>
        <p:spPr>
          <a:xfrm>
            <a:off x="3489252" y="3157975"/>
            <a:ext cx="672465" cy="223520"/>
          </a:xfrm>
          <a:prstGeom prst="rect">
            <a:avLst/>
          </a:prstGeom>
        </p:spPr>
        <p:txBody>
          <a:bodyPr wrap="square" lIns="0" tIns="0" rIns="0" bIns="0" rtlCol="0" vert="horz">
            <a:spAutoFit/>
          </a:bodyPr>
          <a:lstStyle/>
          <a:p>
            <a:pPr>
              <a:lnSpc>
                <a:spcPts val="1755"/>
              </a:lnSpc>
            </a:pPr>
            <a:r>
              <a:rPr dirty="0" sz="1750" spc="-25">
                <a:solidFill>
                  <a:srgbClr val="003366"/>
                </a:solidFill>
                <a:latin typeface="宋体"/>
                <a:cs typeface="宋体"/>
              </a:rPr>
              <a:t>缓冲器</a:t>
            </a:r>
            <a:endParaRPr sz="1750">
              <a:latin typeface="宋体"/>
              <a:cs typeface="宋体"/>
            </a:endParaRPr>
          </a:p>
        </p:txBody>
      </p:sp>
      <p:sp>
        <p:nvSpPr>
          <p:cNvPr id="31" name="object 31" descr=""/>
          <p:cNvSpPr txBox="1"/>
          <p:nvPr/>
        </p:nvSpPr>
        <p:spPr>
          <a:xfrm>
            <a:off x="3489253" y="4531031"/>
            <a:ext cx="672465" cy="223520"/>
          </a:xfrm>
          <a:prstGeom prst="rect">
            <a:avLst/>
          </a:prstGeom>
        </p:spPr>
        <p:txBody>
          <a:bodyPr wrap="square" lIns="0" tIns="0" rIns="0" bIns="0" rtlCol="0" vert="horz">
            <a:spAutoFit/>
          </a:bodyPr>
          <a:lstStyle/>
          <a:p>
            <a:pPr>
              <a:lnSpc>
                <a:spcPts val="1755"/>
              </a:lnSpc>
            </a:pPr>
            <a:r>
              <a:rPr dirty="0" sz="1750" spc="-25">
                <a:solidFill>
                  <a:srgbClr val="003366"/>
                </a:solidFill>
                <a:latin typeface="宋体"/>
                <a:cs typeface="宋体"/>
              </a:rPr>
              <a:t>缓冲器</a:t>
            </a:r>
            <a:endParaRPr sz="1750">
              <a:latin typeface="宋体"/>
              <a:cs typeface="宋体"/>
            </a:endParaRPr>
          </a:p>
        </p:txBody>
      </p:sp>
      <p:grpSp>
        <p:nvGrpSpPr>
          <p:cNvPr id="32" name="object 32" descr=""/>
          <p:cNvGrpSpPr/>
          <p:nvPr/>
        </p:nvGrpSpPr>
        <p:grpSpPr>
          <a:xfrm>
            <a:off x="3283013" y="3269361"/>
            <a:ext cx="4474845" cy="1694814"/>
            <a:chOff x="3283013" y="3269361"/>
            <a:chExt cx="4474845" cy="1694814"/>
          </a:xfrm>
        </p:grpSpPr>
        <p:sp>
          <p:nvSpPr>
            <p:cNvPr id="33" name="object 33" descr=""/>
            <p:cNvSpPr/>
            <p:nvPr/>
          </p:nvSpPr>
          <p:spPr>
            <a:xfrm>
              <a:off x="7227007" y="3281208"/>
              <a:ext cx="519430" cy="0"/>
            </a:xfrm>
            <a:custGeom>
              <a:avLst/>
              <a:gdLst/>
              <a:ahLst/>
              <a:cxnLst/>
              <a:rect l="l" t="t" r="r" b="b"/>
              <a:pathLst>
                <a:path w="519429" h="0">
                  <a:moveTo>
                    <a:pt x="0" y="0"/>
                  </a:moveTo>
                  <a:lnTo>
                    <a:pt x="518861" y="0"/>
                  </a:lnTo>
                </a:path>
              </a:pathLst>
            </a:custGeom>
            <a:ln w="23694">
              <a:solidFill>
                <a:srgbClr val="000000"/>
              </a:solidFill>
            </a:ln>
          </p:spPr>
          <p:txBody>
            <a:bodyPr wrap="square" lIns="0" tIns="0" rIns="0" bIns="0" rtlCol="0"/>
            <a:lstStyle/>
            <a:p/>
          </p:txBody>
        </p:sp>
        <p:sp>
          <p:nvSpPr>
            <p:cNvPr id="34" name="object 34" descr=""/>
            <p:cNvSpPr/>
            <p:nvPr/>
          </p:nvSpPr>
          <p:spPr>
            <a:xfrm>
              <a:off x="4427601" y="4657894"/>
              <a:ext cx="3318510" cy="0"/>
            </a:xfrm>
            <a:custGeom>
              <a:avLst/>
              <a:gdLst/>
              <a:ahLst/>
              <a:cxnLst/>
              <a:rect l="l" t="t" r="r" b="b"/>
              <a:pathLst>
                <a:path w="3318509" h="0">
                  <a:moveTo>
                    <a:pt x="0" y="0"/>
                  </a:moveTo>
                  <a:lnTo>
                    <a:pt x="3318268" y="0"/>
                  </a:lnTo>
                </a:path>
              </a:pathLst>
            </a:custGeom>
            <a:ln w="23694">
              <a:solidFill>
                <a:srgbClr val="000000"/>
              </a:solidFill>
            </a:ln>
          </p:spPr>
          <p:txBody>
            <a:bodyPr wrap="square" lIns="0" tIns="0" rIns="0" bIns="0" rtlCol="0"/>
            <a:lstStyle/>
            <a:p/>
          </p:txBody>
        </p:sp>
        <p:sp>
          <p:nvSpPr>
            <p:cNvPr id="35" name="object 35" descr=""/>
            <p:cNvSpPr/>
            <p:nvPr/>
          </p:nvSpPr>
          <p:spPr>
            <a:xfrm>
              <a:off x="7745869" y="3281208"/>
              <a:ext cx="0" cy="1376680"/>
            </a:xfrm>
            <a:custGeom>
              <a:avLst/>
              <a:gdLst/>
              <a:ahLst/>
              <a:cxnLst/>
              <a:rect l="l" t="t" r="r" b="b"/>
              <a:pathLst>
                <a:path w="0" h="1376679">
                  <a:moveTo>
                    <a:pt x="0" y="0"/>
                  </a:moveTo>
                  <a:lnTo>
                    <a:pt x="0" y="1376685"/>
                  </a:lnTo>
                </a:path>
              </a:pathLst>
            </a:custGeom>
            <a:ln w="23834">
              <a:solidFill>
                <a:srgbClr val="000000"/>
              </a:solidFill>
            </a:ln>
          </p:spPr>
          <p:txBody>
            <a:bodyPr wrap="square" lIns="0" tIns="0" rIns="0" bIns="0" rtlCol="0"/>
            <a:lstStyle/>
            <a:p/>
          </p:txBody>
        </p:sp>
        <p:sp>
          <p:nvSpPr>
            <p:cNvPr id="36" name="object 36" descr=""/>
            <p:cNvSpPr/>
            <p:nvPr/>
          </p:nvSpPr>
          <p:spPr>
            <a:xfrm>
              <a:off x="3287776" y="4368800"/>
              <a:ext cx="1139825" cy="590550"/>
            </a:xfrm>
            <a:custGeom>
              <a:avLst/>
              <a:gdLst/>
              <a:ahLst/>
              <a:cxnLst/>
              <a:rect l="l" t="t" r="r" b="b"/>
              <a:pathLst>
                <a:path w="1139825" h="590550">
                  <a:moveTo>
                    <a:pt x="0" y="590550"/>
                  </a:moveTo>
                  <a:lnTo>
                    <a:pt x="1139825" y="590550"/>
                  </a:lnTo>
                  <a:lnTo>
                    <a:pt x="1139825" y="0"/>
                  </a:lnTo>
                  <a:lnTo>
                    <a:pt x="0" y="0"/>
                  </a:lnTo>
                  <a:lnTo>
                    <a:pt x="0" y="590550"/>
                  </a:lnTo>
                  <a:close/>
                </a:path>
              </a:pathLst>
            </a:custGeom>
            <a:ln w="9525">
              <a:solidFill>
                <a:srgbClr val="40458B"/>
              </a:solidFill>
            </a:ln>
          </p:spPr>
          <p:txBody>
            <a:bodyPr wrap="square" lIns="0" tIns="0" rIns="0" bIns="0" rtlCol="0"/>
            <a:lstStyle/>
            <a:p/>
          </p:txBody>
        </p:sp>
      </p:grpSp>
      <p:sp>
        <p:nvSpPr>
          <p:cNvPr id="37" name="object 37" descr=""/>
          <p:cNvSpPr txBox="1"/>
          <p:nvPr/>
        </p:nvSpPr>
        <p:spPr>
          <a:xfrm>
            <a:off x="690168" y="690752"/>
            <a:ext cx="4305935"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4.2.1</a:t>
            </a:r>
            <a:r>
              <a:rPr dirty="0" sz="2600" spc="10">
                <a:solidFill>
                  <a:srgbClr val="0000CC"/>
                </a:solidFill>
                <a:latin typeface="黑体"/>
                <a:cs typeface="黑体"/>
              </a:rPr>
              <a:t> </a:t>
            </a:r>
            <a:r>
              <a:rPr dirty="0" sz="2600" spc="-10">
                <a:solidFill>
                  <a:srgbClr val="0000CC"/>
                </a:solidFill>
                <a:latin typeface="Times New Roman"/>
                <a:cs typeface="Times New Roman"/>
              </a:rPr>
              <a:t>“</a:t>
            </a:r>
            <a:r>
              <a:rPr dirty="0" sz="2600" spc="-15">
                <a:solidFill>
                  <a:srgbClr val="0000CC"/>
                </a:solidFill>
                <a:latin typeface="黑体"/>
                <a:cs typeface="黑体"/>
              </a:rPr>
              <a:t>存储器-存储器”结构</a:t>
            </a:r>
            <a:endParaRPr sz="2600">
              <a:latin typeface="黑体"/>
              <a:cs typeface="黑体"/>
            </a:endParaRPr>
          </a:p>
        </p:txBody>
      </p:sp>
      <p:sp>
        <p:nvSpPr>
          <p:cNvPr id="38" name="object 38" descr=""/>
          <p:cNvSpPr txBox="1"/>
          <p:nvPr/>
        </p:nvSpPr>
        <p:spPr>
          <a:xfrm>
            <a:off x="2587498" y="5355742"/>
            <a:ext cx="30734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缓冲器改成向量寄存器</a:t>
            </a:r>
            <a:endParaRPr sz="2400">
              <a:latin typeface="黑体"/>
              <a:cs typeface="黑体"/>
            </a:endParaRPr>
          </a:p>
        </p:txBody>
      </p:sp>
      <p:sp>
        <p:nvSpPr>
          <p:cNvPr id="39" name="object 39" descr=""/>
          <p:cNvSpPr txBox="1"/>
          <p:nvPr/>
        </p:nvSpPr>
        <p:spPr>
          <a:xfrm>
            <a:off x="2274570" y="1378458"/>
            <a:ext cx="177800" cy="391160"/>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1</a:t>
            </a:r>
            <a:endParaRPr sz="2400">
              <a:latin typeface="Times New Roman"/>
              <a:cs typeface="Times New Roman"/>
            </a:endParaRPr>
          </a:p>
        </p:txBody>
      </p:sp>
      <p:sp>
        <p:nvSpPr>
          <p:cNvPr id="40" name="object 40" descr=""/>
          <p:cNvSpPr txBox="1"/>
          <p:nvPr/>
        </p:nvSpPr>
        <p:spPr>
          <a:xfrm>
            <a:off x="4301997" y="1449400"/>
            <a:ext cx="178435" cy="391795"/>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2</a:t>
            </a:r>
            <a:endParaRPr sz="2400">
              <a:latin typeface="Times New Roman"/>
              <a:cs typeface="Times New Roman"/>
            </a:endParaRPr>
          </a:p>
        </p:txBody>
      </p:sp>
      <p:sp>
        <p:nvSpPr>
          <p:cNvPr id="41" name="object 41" descr=""/>
          <p:cNvSpPr txBox="1"/>
          <p:nvPr/>
        </p:nvSpPr>
        <p:spPr>
          <a:xfrm>
            <a:off x="5126228" y="3092907"/>
            <a:ext cx="178435" cy="391795"/>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FF0000"/>
                </a:solidFill>
                <a:latin typeface="Times New Roman"/>
                <a:cs typeface="Times New Roman"/>
              </a:rPr>
              <a:t>3</a:t>
            </a:r>
            <a:endParaRPr sz="2400">
              <a:latin typeface="Times New Roman"/>
              <a:cs typeface="Times New Roman"/>
            </a:endParaRPr>
          </a:p>
        </p:txBody>
      </p:sp>
      <p:sp>
        <p:nvSpPr>
          <p:cNvPr id="42" name="object 42" descr=""/>
          <p:cNvSpPr/>
          <p:nvPr/>
        </p:nvSpPr>
        <p:spPr>
          <a:xfrm>
            <a:off x="3276600" y="2978150"/>
            <a:ext cx="1079500" cy="590550"/>
          </a:xfrm>
          <a:custGeom>
            <a:avLst/>
            <a:gdLst/>
            <a:ahLst/>
            <a:cxnLst/>
            <a:rect l="l" t="t" r="r" b="b"/>
            <a:pathLst>
              <a:path w="1079500" h="590550">
                <a:moveTo>
                  <a:pt x="1079500" y="0"/>
                </a:moveTo>
                <a:lnTo>
                  <a:pt x="0" y="0"/>
                </a:lnTo>
                <a:lnTo>
                  <a:pt x="0" y="590550"/>
                </a:lnTo>
                <a:lnTo>
                  <a:pt x="1079500" y="590550"/>
                </a:lnTo>
                <a:lnTo>
                  <a:pt x="1079500" y="0"/>
                </a:lnTo>
                <a:close/>
              </a:path>
            </a:pathLst>
          </a:custGeom>
          <a:solidFill>
            <a:srgbClr val="EBD782"/>
          </a:solidFill>
        </p:spPr>
        <p:txBody>
          <a:bodyPr wrap="square" lIns="0" tIns="0" rIns="0" bIns="0" rtlCol="0"/>
          <a:lstStyle/>
          <a:p/>
        </p:txBody>
      </p:sp>
      <p:sp>
        <p:nvSpPr>
          <p:cNvPr id="43" name="object 43" descr=""/>
          <p:cNvSpPr txBox="1"/>
          <p:nvPr/>
        </p:nvSpPr>
        <p:spPr>
          <a:xfrm>
            <a:off x="3276600" y="2978150"/>
            <a:ext cx="1079500" cy="590550"/>
          </a:xfrm>
          <a:prstGeom prst="rect">
            <a:avLst/>
          </a:prstGeom>
          <a:ln w="9525">
            <a:solidFill>
              <a:srgbClr val="40458B"/>
            </a:solidFill>
          </a:ln>
        </p:spPr>
        <p:txBody>
          <a:bodyPr wrap="square" lIns="0" tIns="46355" rIns="0" bIns="0" rtlCol="0" vert="horz">
            <a:spAutoFit/>
          </a:bodyPr>
          <a:lstStyle/>
          <a:p>
            <a:pPr marL="92075">
              <a:lnSpc>
                <a:spcPct val="100000"/>
              </a:lnSpc>
              <a:spcBef>
                <a:spcPts val="365"/>
              </a:spcBef>
            </a:pPr>
            <a:r>
              <a:rPr dirty="0" sz="2400" spc="-25">
                <a:solidFill>
                  <a:srgbClr val="40458B"/>
                </a:solidFill>
                <a:latin typeface="黑体"/>
                <a:cs typeface="黑体"/>
              </a:rPr>
              <a:t>寄存器</a:t>
            </a:r>
            <a:endParaRPr sz="2400">
              <a:latin typeface="黑体"/>
              <a:cs typeface="黑体"/>
            </a:endParaRPr>
          </a:p>
        </p:txBody>
      </p:sp>
      <p:sp>
        <p:nvSpPr>
          <p:cNvPr id="44" name="object 44" descr=""/>
          <p:cNvSpPr txBox="1"/>
          <p:nvPr/>
        </p:nvSpPr>
        <p:spPr>
          <a:xfrm>
            <a:off x="2752598" y="2561082"/>
            <a:ext cx="3345179" cy="391160"/>
          </a:xfrm>
          <a:prstGeom prst="rect">
            <a:avLst/>
          </a:prstGeom>
        </p:spPr>
        <p:txBody>
          <a:bodyPr wrap="square" lIns="0" tIns="12700" rIns="0" bIns="0" rtlCol="0" vert="horz">
            <a:spAutoFit/>
          </a:bodyPr>
          <a:lstStyle/>
          <a:p>
            <a:pPr marL="38100">
              <a:lnSpc>
                <a:spcPct val="100000"/>
              </a:lnSpc>
              <a:spcBef>
                <a:spcPts val="100"/>
              </a:spcBef>
            </a:pPr>
            <a:r>
              <a:rPr dirty="0" baseline="-31250" sz="3600" b="1">
                <a:solidFill>
                  <a:srgbClr val="FF0000"/>
                </a:solidFill>
                <a:latin typeface="Times New Roman"/>
                <a:cs typeface="Times New Roman"/>
              </a:rPr>
              <a:t>4</a:t>
            </a:r>
            <a:r>
              <a:rPr dirty="0" baseline="-31250" sz="3600" spc="-135" b="1">
                <a:solidFill>
                  <a:srgbClr val="FF0000"/>
                </a:solidFill>
                <a:latin typeface="Times New Roman"/>
                <a:cs typeface="Times New Roman"/>
              </a:rPr>
              <a:t> </a:t>
            </a:r>
            <a:r>
              <a:rPr dirty="0" sz="2400" spc="-5">
                <a:solidFill>
                  <a:srgbClr val="40458B"/>
                </a:solidFill>
                <a:latin typeface="黑体"/>
                <a:cs typeface="黑体"/>
              </a:rPr>
              <a:t>缓冲栈改成向量寄存器</a:t>
            </a:r>
            <a:endParaRPr sz="2400">
              <a:latin typeface="黑体"/>
              <a:cs typeface="黑体"/>
            </a:endParaRPr>
          </a:p>
        </p:txBody>
      </p:sp>
      <p:sp>
        <p:nvSpPr>
          <p:cNvPr id="45" name="object 45" descr=""/>
          <p:cNvSpPr txBox="1"/>
          <p:nvPr/>
        </p:nvSpPr>
        <p:spPr>
          <a:xfrm>
            <a:off x="3287776" y="4368800"/>
            <a:ext cx="1139825" cy="590550"/>
          </a:xfrm>
          <a:prstGeom prst="rect">
            <a:avLst/>
          </a:prstGeom>
          <a:solidFill>
            <a:srgbClr val="EBD782"/>
          </a:solidFill>
        </p:spPr>
        <p:txBody>
          <a:bodyPr wrap="square" lIns="0" tIns="46990" rIns="0" bIns="0" rtlCol="0" vert="horz">
            <a:spAutoFit/>
          </a:bodyPr>
          <a:lstStyle/>
          <a:p>
            <a:pPr marL="91440">
              <a:lnSpc>
                <a:spcPct val="100000"/>
              </a:lnSpc>
              <a:spcBef>
                <a:spcPts val="370"/>
              </a:spcBef>
            </a:pPr>
            <a:r>
              <a:rPr dirty="0" sz="2400" spc="-20">
                <a:solidFill>
                  <a:srgbClr val="40458B"/>
                </a:solidFill>
                <a:latin typeface="黑体"/>
                <a:cs typeface="黑体"/>
              </a:rPr>
              <a:t>寄存器</a:t>
            </a:r>
            <a:endParaRPr sz="24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graphicFrame>
        <p:nvGraphicFramePr>
          <p:cNvPr id="10" name="object 10" descr=""/>
          <p:cNvGraphicFramePr>
            <a:graphicFrameLocks noGrp="1"/>
          </p:cNvGraphicFramePr>
          <p:nvPr/>
        </p:nvGraphicFramePr>
        <p:xfrm>
          <a:off x="942975" y="3351148"/>
          <a:ext cx="7494905" cy="3332480"/>
        </p:xfrm>
        <a:graphic>
          <a:graphicData uri="http://schemas.openxmlformats.org/drawingml/2006/table">
            <a:tbl>
              <a:tblPr firstRow="1" bandRow="1">
                <a:tableStyleId>{2D5ABB26-0587-4C30-8999-92F81FD0307C}</a:tableStyleId>
              </a:tblPr>
              <a:tblGrid>
                <a:gridCol w="3644265"/>
                <a:gridCol w="3761740"/>
              </a:tblGrid>
              <a:tr h="370205">
                <a:tc>
                  <a:txBody>
                    <a:bodyPr/>
                    <a:lstStyle/>
                    <a:p>
                      <a:pPr algn="ctr">
                        <a:lnSpc>
                          <a:spcPct val="100000"/>
                        </a:lnSpc>
                        <a:spcBef>
                          <a:spcPts val="365"/>
                        </a:spcBef>
                      </a:pPr>
                      <a:r>
                        <a:rPr dirty="0" sz="1800" spc="-30" b="1">
                          <a:solidFill>
                            <a:srgbClr val="40458B"/>
                          </a:solidFill>
                          <a:latin typeface="黑体"/>
                          <a:cs typeface="黑体"/>
                        </a:rPr>
                        <a:t>功能部件</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AF7E6"/>
                    </a:solidFill>
                  </a:tcPr>
                </a:tc>
                <a:tc>
                  <a:txBody>
                    <a:bodyPr/>
                    <a:lstStyle/>
                    <a:p>
                      <a:pPr marL="92075">
                        <a:lnSpc>
                          <a:spcPct val="100000"/>
                        </a:lnSpc>
                        <a:spcBef>
                          <a:spcPts val="365"/>
                        </a:spcBef>
                      </a:pPr>
                      <a:r>
                        <a:rPr dirty="0" sz="1800" spc="-20" b="1">
                          <a:solidFill>
                            <a:srgbClr val="40458B"/>
                          </a:solidFill>
                          <a:latin typeface="黑体"/>
                          <a:cs typeface="黑体"/>
                        </a:rPr>
                        <a:t>流水经过时间（拍）每拍</a:t>
                      </a:r>
                      <a:r>
                        <a:rPr dirty="0" sz="1800" spc="-10" b="1">
                          <a:solidFill>
                            <a:srgbClr val="40458B"/>
                          </a:solidFill>
                          <a:latin typeface="Tahoma"/>
                          <a:cs typeface="Tahoma"/>
                        </a:rPr>
                        <a:t>12.5ns</a:t>
                      </a:r>
                      <a:endParaRPr sz="1800">
                        <a:latin typeface="Tahoma"/>
                        <a:cs typeface="Tahoma"/>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AF7E6"/>
                    </a:solidFill>
                  </a:tcPr>
                </a:tc>
              </a:tr>
              <a:tr h="370205">
                <a:tc>
                  <a:txBody>
                    <a:bodyPr/>
                    <a:lstStyle/>
                    <a:p>
                      <a:pPr algn="ctr">
                        <a:lnSpc>
                          <a:spcPct val="100000"/>
                        </a:lnSpc>
                        <a:spcBef>
                          <a:spcPts val="365"/>
                        </a:spcBef>
                      </a:pPr>
                      <a:r>
                        <a:rPr dirty="0" sz="1800" spc="-20">
                          <a:solidFill>
                            <a:srgbClr val="40458B"/>
                          </a:solidFill>
                          <a:latin typeface="黑体"/>
                          <a:cs typeface="黑体"/>
                        </a:rPr>
                        <a:t>整数加</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c>
                  <a:txBody>
                    <a:bodyPr/>
                    <a:lstStyle/>
                    <a:p>
                      <a:pPr algn="ctr" marL="1905">
                        <a:lnSpc>
                          <a:spcPct val="100000"/>
                        </a:lnSpc>
                        <a:spcBef>
                          <a:spcPts val="355"/>
                        </a:spcBef>
                      </a:pPr>
                      <a:r>
                        <a:rPr dirty="0" sz="1800" spc="-50">
                          <a:solidFill>
                            <a:srgbClr val="40458B"/>
                          </a:solidFill>
                          <a:latin typeface="Tahoma"/>
                          <a:cs typeface="Tahoma"/>
                        </a:rPr>
                        <a:t>3</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r>
              <a:tr h="370840">
                <a:tc>
                  <a:txBody>
                    <a:bodyPr/>
                    <a:lstStyle/>
                    <a:p>
                      <a:pPr algn="ctr">
                        <a:lnSpc>
                          <a:spcPct val="100000"/>
                        </a:lnSpc>
                        <a:spcBef>
                          <a:spcPts val="365"/>
                        </a:spcBef>
                      </a:pPr>
                      <a:r>
                        <a:rPr dirty="0" sz="1800" spc="-15">
                          <a:solidFill>
                            <a:srgbClr val="40458B"/>
                          </a:solidFill>
                          <a:latin typeface="黑体"/>
                          <a:cs typeface="黑体"/>
                        </a:rPr>
                        <a:t>逻辑运算</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algn="ctr" marL="1905">
                        <a:lnSpc>
                          <a:spcPct val="100000"/>
                        </a:lnSpc>
                        <a:spcBef>
                          <a:spcPts val="355"/>
                        </a:spcBef>
                      </a:pPr>
                      <a:r>
                        <a:rPr dirty="0" sz="1800" spc="-50">
                          <a:solidFill>
                            <a:srgbClr val="40458B"/>
                          </a:solidFill>
                          <a:latin typeface="Tahoma"/>
                          <a:cs typeface="Tahoma"/>
                        </a:rPr>
                        <a:t>2</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r h="370205">
                <a:tc>
                  <a:txBody>
                    <a:bodyPr/>
                    <a:lstStyle/>
                    <a:p>
                      <a:pPr algn="ctr">
                        <a:lnSpc>
                          <a:spcPct val="100000"/>
                        </a:lnSpc>
                        <a:spcBef>
                          <a:spcPts val="365"/>
                        </a:spcBef>
                      </a:pPr>
                      <a:r>
                        <a:rPr dirty="0" sz="1800" spc="-30">
                          <a:solidFill>
                            <a:srgbClr val="40458B"/>
                          </a:solidFill>
                          <a:latin typeface="黑体"/>
                          <a:cs typeface="黑体"/>
                        </a:rPr>
                        <a:t>移位</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c>
                  <a:txBody>
                    <a:bodyPr/>
                    <a:lstStyle/>
                    <a:p>
                      <a:pPr algn="ctr" marL="1905">
                        <a:lnSpc>
                          <a:spcPct val="100000"/>
                        </a:lnSpc>
                        <a:spcBef>
                          <a:spcPts val="355"/>
                        </a:spcBef>
                      </a:pPr>
                      <a:r>
                        <a:rPr dirty="0" sz="1800" spc="-50">
                          <a:solidFill>
                            <a:srgbClr val="40458B"/>
                          </a:solidFill>
                          <a:latin typeface="Tahoma"/>
                          <a:cs typeface="Tahoma"/>
                        </a:rPr>
                        <a:t>4</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r>
              <a:tr h="370205">
                <a:tc>
                  <a:txBody>
                    <a:bodyPr/>
                    <a:lstStyle/>
                    <a:p>
                      <a:pPr algn="ctr">
                        <a:lnSpc>
                          <a:spcPct val="100000"/>
                        </a:lnSpc>
                        <a:spcBef>
                          <a:spcPts val="365"/>
                        </a:spcBef>
                      </a:pPr>
                      <a:r>
                        <a:rPr dirty="0" sz="1800" spc="-20">
                          <a:solidFill>
                            <a:srgbClr val="40458B"/>
                          </a:solidFill>
                          <a:latin typeface="黑体"/>
                          <a:cs typeface="黑体"/>
                        </a:rPr>
                        <a:t>浮点加</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algn="ctr" marL="1905">
                        <a:lnSpc>
                          <a:spcPct val="100000"/>
                        </a:lnSpc>
                        <a:spcBef>
                          <a:spcPts val="355"/>
                        </a:spcBef>
                      </a:pPr>
                      <a:r>
                        <a:rPr dirty="0" sz="1800" spc="-50">
                          <a:solidFill>
                            <a:srgbClr val="40458B"/>
                          </a:solidFill>
                          <a:latin typeface="Tahoma"/>
                          <a:cs typeface="Tahoma"/>
                        </a:rPr>
                        <a:t>6</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r h="370205">
                <a:tc>
                  <a:txBody>
                    <a:bodyPr/>
                    <a:lstStyle/>
                    <a:p>
                      <a:pPr algn="ctr">
                        <a:lnSpc>
                          <a:spcPct val="100000"/>
                        </a:lnSpc>
                        <a:spcBef>
                          <a:spcPts val="370"/>
                        </a:spcBef>
                      </a:pPr>
                      <a:r>
                        <a:rPr dirty="0" sz="1800" spc="-20">
                          <a:solidFill>
                            <a:srgbClr val="40458B"/>
                          </a:solidFill>
                          <a:latin typeface="黑体"/>
                          <a:cs typeface="黑体"/>
                        </a:rPr>
                        <a:t>浮点乘</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c>
                  <a:txBody>
                    <a:bodyPr/>
                    <a:lstStyle/>
                    <a:p>
                      <a:pPr algn="ctr" marL="1905">
                        <a:lnSpc>
                          <a:spcPct val="100000"/>
                        </a:lnSpc>
                        <a:spcBef>
                          <a:spcPts val="355"/>
                        </a:spcBef>
                      </a:pPr>
                      <a:r>
                        <a:rPr dirty="0" sz="1800" spc="-50">
                          <a:solidFill>
                            <a:srgbClr val="40458B"/>
                          </a:solidFill>
                          <a:latin typeface="Tahoma"/>
                          <a:cs typeface="Tahoma"/>
                        </a:rPr>
                        <a:t>7</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r>
              <a:tr h="370205">
                <a:tc>
                  <a:txBody>
                    <a:bodyPr/>
                    <a:lstStyle/>
                    <a:p>
                      <a:pPr algn="ctr" marL="635">
                        <a:lnSpc>
                          <a:spcPct val="100000"/>
                        </a:lnSpc>
                        <a:spcBef>
                          <a:spcPts val="370"/>
                        </a:spcBef>
                      </a:pPr>
                      <a:r>
                        <a:rPr dirty="0" sz="1800" spc="-10">
                          <a:solidFill>
                            <a:srgbClr val="40458B"/>
                          </a:solidFill>
                          <a:latin typeface="黑体"/>
                          <a:cs typeface="黑体"/>
                        </a:rPr>
                        <a:t>浮点迭代求倒数</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algn="ctr" marL="1905">
                        <a:lnSpc>
                          <a:spcPct val="100000"/>
                        </a:lnSpc>
                        <a:spcBef>
                          <a:spcPts val="359"/>
                        </a:spcBef>
                      </a:pPr>
                      <a:r>
                        <a:rPr dirty="0" sz="1800" spc="-25">
                          <a:solidFill>
                            <a:srgbClr val="40458B"/>
                          </a:solidFill>
                          <a:latin typeface="Tahoma"/>
                          <a:cs typeface="Tahoma"/>
                        </a:rPr>
                        <a:t>14</a:t>
                      </a:r>
                      <a:endParaRPr sz="1800">
                        <a:latin typeface="Tahoma"/>
                        <a:cs typeface="Tahoma"/>
                      </a:endParaRPr>
                    </a:p>
                  </a:txBody>
                  <a:tcPr marL="0" marR="0" marB="0" marT="45719">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r h="370205">
                <a:tc>
                  <a:txBody>
                    <a:bodyPr/>
                    <a:lstStyle/>
                    <a:p>
                      <a:pPr algn="ctr">
                        <a:lnSpc>
                          <a:spcPct val="100000"/>
                        </a:lnSpc>
                        <a:spcBef>
                          <a:spcPts val="370"/>
                        </a:spcBef>
                      </a:pPr>
                      <a:r>
                        <a:rPr dirty="0" sz="1800" spc="-25">
                          <a:solidFill>
                            <a:srgbClr val="40458B"/>
                          </a:solidFill>
                          <a:latin typeface="黑体"/>
                          <a:cs typeface="黑体"/>
                        </a:rPr>
                        <a:t>访存</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c>
                  <a:txBody>
                    <a:bodyPr/>
                    <a:lstStyle/>
                    <a:p>
                      <a:pPr algn="ctr" marL="1905">
                        <a:lnSpc>
                          <a:spcPct val="100000"/>
                        </a:lnSpc>
                        <a:spcBef>
                          <a:spcPts val="355"/>
                        </a:spcBef>
                      </a:pPr>
                      <a:r>
                        <a:rPr dirty="0" sz="1800" spc="-50">
                          <a:solidFill>
                            <a:srgbClr val="40458B"/>
                          </a:solidFill>
                          <a:latin typeface="Tahoma"/>
                          <a:cs typeface="Tahoma"/>
                        </a:rPr>
                        <a:t>6</a:t>
                      </a:r>
                      <a:endParaRPr sz="1800">
                        <a:latin typeface="Tahoma"/>
                        <a:cs typeface="Tahoma"/>
                      </a:endParaRPr>
                    </a:p>
                  </a:txBody>
                  <a:tcPr marL="0" marR="0" marB="0" marT="4508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E3E3E3"/>
                    </a:solidFill>
                  </a:tcPr>
                </a:tc>
              </a:tr>
              <a:tr h="370205">
                <a:tc>
                  <a:txBody>
                    <a:bodyPr/>
                    <a:lstStyle/>
                    <a:p>
                      <a:pPr algn="ctr">
                        <a:lnSpc>
                          <a:spcPct val="100000"/>
                        </a:lnSpc>
                        <a:spcBef>
                          <a:spcPts val="370"/>
                        </a:spcBef>
                      </a:pPr>
                      <a:r>
                        <a:rPr dirty="0" sz="1800" spc="-15">
                          <a:solidFill>
                            <a:srgbClr val="40458B"/>
                          </a:solidFill>
                          <a:latin typeface="黑体"/>
                          <a:cs typeface="黑体"/>
                        </a:rPr>
                        <a:t>存寄存器</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algn="ctr" marL="1905">
                        <a:lnSpc>
                          <a:spcPct val="100000"/>
                        </a:lnSpc>
                        <a:spcBef>
                          <a:spcPts val="359"/>
                        </a:spcBef>
                      </a:pPr>
                      <a:r>
                        <a:rPr dirty="0" sz="1800" spc="-50">
                          <a:solidFill>
                            <a:srgbClr val="40458B"/>
                          </a:solidFill>
                          <a:latin typeface="Tahoma"/>
                          <a:cs typeface="Tahoma"/>
                        </a:rPr>
                        <a:t>1</a:t>
                      </a:r>
                      <a:endParaRPr sz="1800">
                        <a:latin typeface="Tahoma"/>
                        <a:cs typeface="Tahoma"/>
                      </a:endParaRPr>
                    </a:p>
                  </a:txBody>
                  <a:tcPr marL="0" marR="0" marB="0" marT="45719">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bl>
          </a:graphicData>
        </a:graphic>
      </p:graphicFrame>
      <p:sp>
        <p:nvSpPr>
          <p:cNvPr id="11" name="object 11" descr=""/>
          <p:cNvSpPr txBox="1"/>
          <p:nvPr/>
        </p:nvSpPr>
        <p:spPr>
          <a:xfrm>
            <a:off x="186639" y="685926"/>
            <a:ext cx="8733790" cy="5944235"/>
          </a:xfrm>
          <a:prstGeom prst="rect">
            <a:avLst/>
          </a:prstGeom>
        </p:spPr>
        <p:txBody>
          <a:bodyPr wrap="square" lIns="0" tIns="158750" rIns="0" bIns="0" rtlCol="0" vert="horz">
            <a:spAutoFit/>
          </a:bodyPr>
          <a:lstStyle/>
          <a:p>
            <a:pPr marL="12700">
              <a:lnSpc>
                <a:spcPct val="100000"/>
              </a:lnSpc>
              <a:spcBef>
                <a:spcPts val="1250"/>
              </a:spcBef>
            </a:pPr>
            <a:r>
              <a:rPr dirty="0" sz="2400" spc="-10">
                <a:solidFill>
                  <a:srgbClr val="C00000"/>
                </a:solidFill>
                <a:latin typeface="Tahoma"/>
                <a:cs typeface="Tahoma"/>
              </a:rPr>
              <a:t>CRAY-</a:t>
            </a:r>
            <a:r>
              <a:rPr dirty="0" sz="2400" spc="-25">
                <a:solidFill>
                  <a:srgbClr val="C00000"/>
                </a:solidFill>
                <a:latin typeface="Tahoma"/>
                <a:cs typeface="Tahoma"/>
              </a:rPr>
              <a:t>1</a:t>
            </a:r>
            <a:r>
              <a:rPr dirty="0" sz="2400">
                <a:solidFill>
                  <a:srgbClr val="C00000"/>
                </a:solidFill>
                <a:latin typeface="黑体"/>
                <a:cs typeface="黑体"/>
              </a:rPr>
              <a:t>的基本结构（为例</a:t>
            </a:r>
            <a:r>
              <a:rPr dirty="0" sz="2400" spc="-50">
                <a:solidFill>
                  <a:srgbClr val="C00000"/>
                </a:solidFill>
                <a:latin typeface="黑体"/>
                <a:cs typeface="黑体"/>
              </a:rPr>
              <a:t>）</a:t>
            </a:r>
            <a:endParaRPr sz="2400">
              <a:latin typeface="黑体"/>
              <a:cs typeface="黑体"/>
            </a:endParaRPr>
          </a:p>
          <a:p>
            <a:pPr marL="1099185" marR="5080" indent="-457200">
              <a:lnSpc>
                <a:spcPct val="110000"/>
              </a:lnSpc>
              <a:spcBef>
                <a:spcPts val="865"/>
              </a:spcBef>
              <a:buClr>
                <a:srgbClr val="40458B"/>
              </a:buClr>
              <a:buSzPct val="89583"/>
              <a:buFont typeface="Wingdings"/>
              <a:buChar char=""/>
              <a:tabLst>
                <a:tab pos="1099185" algn="l"/>
              </a:tabLst>
            </a:pPr>
            <a:r>
              <a:rPr dirty="0" sz="2400">
                <a:solidFill>
                  <a:srgbClr val="FF0000"/>
                </a:solidFill>
                <a:latin typeface="黑体"/>
                <a:cs typeface="黑体"/>
              </a:rPr>
              <a:t>功能部件：</a:t>
            </a:r>
            <a:r>
              <a:rPr dirty="0" sz="2400">
                <a:solidFill>
                  <a:srgbClr val="40458B"/>
                </a:solidFill>
                <a:latin typeface="黑体"/>
                <a:cs typeface="黑体"/>
              </a:rPr>
              <a:t>共有</a:t>
            </a:r>
            <a:r>
              <a:rPr dirty="0" sz="2400">
                <a:solidFill>
                  <a:srgbClr val="9933FF"/>
                </a:solidFill>
                <a:latin typeface="宋体"/>
                <a:cs typeface="宋体"/>
              </a:rPr>
              <a:t>12</a:t>
            </a:r>
            <a:r>
              <a:rPr dirty="0" sz="2400">
                <a:solidFill>
                  <a:srgbClr val="080808"/>
                </a:solidFill>
                <a:latin typeface="黑体"/>
                <a:cs typeface="黑体"/>
              </a:rPr>
              <a:t>条</a:t>
            </a:r>
            <a:r>
              <a:rPr dirty="0" sz="2400" spc="-5">
                <a:solidFill>
                  <a:srgbClr val="40458B"/>
                </a:solidFill>
                <a:latin typeface="黑体"/>
                <a:cs typeface="黑体"/>
              </a:rPr>
              <a:t>可并行工作的</a:t>
            </a:r>
            <a:r>
              <a:rPr dirty="0" sz="2400">
                <a:solidFill>
                  <a:srgbClr val="080808"/>
                </a:solidFill>
                <a:latin typeface="黑体"/>
                <a:cs typeface="黑体"/>
              </a:rPr>
              <a:t>单功能流水线</a:t>
            </a:r>
            <a:r>
              <a:rPr dirty="0" sz="2400" spc="-15">
                <a:solidFill>
                  <a:srgbClr val="40458B"/>
                </a:solidFill>
                <a:latin typeface="黑体"/>
                <a:cs typeface="黑体"/>
              </a:rPr>
              <a:t>，可分别流水地进行地址、向量、标量的各种运算。</a:t>
            </a:r>
            <a:endParaRPr sz="2400">
              <a:latin typeface="黑体"/>
              <a:cs typeface="黑体"/>
            </a:endParaRPr>
          </a:p>
          <a:p>
            <a:pPr marL="12700">
              <a:lnSpc>
                <a:spcPct val="100000"/>
              </a:lnSpc>
              <a:spcBef>
                <a:spcPts val="2130"/>
              </a:spcBef>
            </a:pPr>
            <a:r>
              <a:rPr dirty="0" sz="2400" spc="-10">
                <a:solidFill>
                  <a:srgbClr val="FF0000"/>
                </a:solidFill>
                <a:latin typeface="黑体"/>
                <a:cs typeface="黑体"/>
              </a:rPr>
              <a:t>向量的流水处理</a:t>
            </a:r>
            <a:r>
              <a:rPr dirty="0" sz="2400" spc="-35">
                <a:solidFill>
                  <a:srgbClr val="FF0000"/>
                </a:solidFill>
                <a:latin typeface="Tahoma"/>
                <a:cs typeface="Tahoma"/>
              </a:rPr>
              <a:t>:</a:t>
            </a:r>
            <a:r>
              <a:rPr dirty="0" sz="2400" spc="-35">
                <a:solidFill>
                  <a:srgbClr val="FF0000"/>
                </a:solidFill>
                <a:latin typeface="黑体"/>
                <a:cs typeface="黑体"/>
              </a:rPr>
              <a:t>（</a:t>
            </a:r>
            <a:r>
              <a:rPr dirty="0" sz="2400" spc="-35">
                <a:solidFill>
                  <a:srgbClr val="FF0000"/>
                </a:solidFill>
                <a:latin typeface="Tahoma"/>
                <a:cs typeface="Tahoma"/>
              </a:rPr>
              <a:t>cray-</a:t>
            </a:r>
            <a:r>
              <a:rPr dirty="0" sz="2400" spc="-25">
                <a:solidFill>
                  <a:srgbClr val="FF0000"/>
                </a:solidFill>
                <a:latin typeface="Tahoma"/>
                <a:cs typeface="Tahoma"/>
              </a:rPr>
              <a:t>1</a:t>
            </a:r>
            <a:r>
              <a:rPr dirty="0" sz="2400" spc="-10">
                <a:solidFill>
                  <a:srgbClr val="FF0000"/>
                </a:solidFill>
                <a:latin typeface="黑体"/>
                <a:cs typeface="黑体"/>
              </a:rPr>
              <a:t>向量流水处理机</a:t>
            </a:r>
            <a:r>
              <a:rPr dirty="0" sz="2400" spc="-50">
                <a:solidFill>
                  <a:srgbClr val="FF0000"/>
                </a:solidFill>
                <a:latin typeface="黑体"/>
                <a:cs typeface="黑体"/>
              </a:rPr>
              <a:t>）</a:t>
            </a:r>
            <a:endParaRPr sz="2400">
              <a:latin typeface="黑体"/>
              <a:cs typeface="黑体"/>
            </a:endParaRPr>
          </a:p>
          <a:p>
            <a:pPr marL="2262505">
              <a:lnSpc>
                <a:spcPct val="100000"/>
              </a:lnSpc>
              <a:spcBef>
                <a:spcPts val="745"/>
              </a:spcBef>
            </a:pPr>
            <a:r>
              <a:rPr dirty="0" sz="1800" spc="-10">
                <a:solidFill>
                  <a:srgbClr val="40458B"/>
                </a:solidFill>
                <a:latin typeface="Tahoma"/>
                <a:cs typeface="Tahoma"/>
              </a:rPr>
              <a:t>6</a:t>
            </a:r>
            <a:r>
              <a:rPr dirty="0" sz="1800" spc="-5">
                <a:solidFill>
                  <a:srgbClr val="40458B"/>
                </a:solidFill>
                <a:latin typeface="黑体"/>
                <a:cs typeface="黑体"/>
              </a:rPr>
              <a:t>个单功能流水部件：进行向量运算</a:t>
            </a:r>
            <a:endParaRPr sz="1800">
              <a:latin typeface="黑体"/>
              <a:cs typeface="黑体"/>
            </a:endParaRPr>
          </a:p>
          <a:p>
            <a:pPr algn="just" marL="80645" marR="8339455">
              <a:lnSpc>
                <a:spcPct val="99700"/>
              </a:lnSpc>
              <a:spcBef>
                <a:spcPts val="1610"/>
              </a:spcBef>
            </a:pPr>
            <a:r>
              <a:rPr dirty="0" sz="2400" spc="-50">
                <a:solidFill>
                  <a:srgbClr val="40458B"/>
                </a:solidFill>
                <a:latin typeface="黑体"/>
                <a:cs typeface="黑体"/>
              </a:rPr>
              <a:t>每拍为一个时钟周期</a:t>
            </a:r>
            <a:endParaRPr sz="2400">
              <a:latin typeface="黑体"/>
              <a:cs typeface="黑体"/>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3535171" y="6043066"/>
            <a:ext cx="1871345" cy="299720"/>
          </a:xfrm>
          <a:prstGeom prst="rect">
            <a:avLst/>
          </a:prstGeom>
        </p:spPr>
        <p:txBody>
          <a:bodyPr wrap="square" lIns="0" tIns="12700" rIns="0" bIns="0" rtlCol="0" vert="horz">
            <a:spAutoFit/>
          </a:bodyPr>
          <a:lstStyle/>
          <a:p>
            <a:pPr marL="12700">
              <a:lnSpc>
                <a:spcPct val="100000"/>
              </a:lnSpc>
              <a:spcBef>
                <a:spcPts val="100"/>
              </a:spcBef>
            </a:pPr>
            <a:r>
              <a:rPr dirty="0" sz="1800" spc="-10" b="1">
                <a:latin typeface="宋体"/>
                <a:cs typeface="宋体"/>
              </a:rPr>
              <a:t>CRAY-1</a:t>
            </a:r>
            <a:r>
              <a:rPr dirty="0" sz="1800" spc="-20" b="1">
                <a:latin typeface="宋体"/>
                <a:cs typeface="宋体"/>
              </a:rPr>
              <a:t>的基本结构</a:t>
            </a:r>
            <a:endParaRPr sz="1800">
              <a:latin typeface="宋体"/>
              <a:cs typeface="宋体"/>
            </a:endParaRPr>
          </a:p>
        </p:txBody>
      </p:sp>
      <p:pic>
        <p:nvPicPr>
          <p:cNvPr id="11" name="object 11" descr=""/>
          <p:cNvPicPr/>
          <p:nvPr/>
        </p:nvPicPr>
        <p:blipFill>
          <a:blip r:embed="rId2" cstate="print"/>
          <a:stretch>
            <a:fillRect/>
          </a:stretch>
        </p:blipFill>
        <p:spPr>
          <a:xfrm>
            <a:off x="854075" y="1222375"/>
            <a:ext cx="7435850" cy="4654550"/>
          </a:xfrm>
          <a:prstGeom prst="rect">
            <a:avLst/>
          </a:prstGeom>
        </p:spPr>
      </p:pic>
      <p:sp>
        <p:nvSpPr>
          <p:cNvPr id="12" name="object 12" descr=""/>
          <p:cNvSpPr txBox="1"/>
          <p:nvPr/>
        </p:nvSpPr>
        <p:spPr>
          <a:xfrm>
            <a:off x="505764" y="767841"/>
            <a:ext cx="871410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40458B"/>
                </a:solidFill>
                <a:latin typeface="黑体"/>
                <a:cs typeface="黑体"/>
              </a:rPr>
              <a:t>一个寄存组相当于完成一个操作，即</a:t>
            </a:r>
            <a:r>
              <a:rPr dirty="0" sz="1800">
                <a:solidFill>
                  <a:srgbClr val="40458B"/>
                </a:solidFill>
                <a:latin typeface="宋体"/>
                <a:cs typeface="宋体"/>
              </a:rPr>
              <a:t>64</a:t>
            </a:r>
            <a:r>
              <a:rPr dirty="0" sz="1800" spc="-5">
                <a:solidFill>
                  <a:srgbClr val="40458B"/>
                </a:solidFill>
                <a:latin typeface="黑体"/>
                <a:cs typeface="黑体"/>
              </a:rPr>
              <a:t>个数的操作，标量一次处理</a:t>
            </a:r>
            <a:r>
              <a:rPr dirty="0" sz="1800">
                <a:solidFill>
                  <a:srgbClr val="40458B"/>
                </a:solidFill>
                <a:latin typeface="宋体"/>
                <a:cs typeface="宋体"/>
              </a:rPr>
              <a:t>32</a:t>
            </a:r>
            <a:r>
              <a:rPr dirty="0" sz="1800">
                <a:solidFill>
                  <a:srgbClr val="40458B"/>
                </a:solidFill>
                <a:latin typeface="黑体"/>
                <a:cs typeface="黑体"/>
              </a:rPr>
              <a:t>位数（联系</a:t>
            </a:r>
            <a:r>
              <a:rPr dirty="0" sz="1800" spc="-10">
                <a:solidFill>
                  <a:srgbClr val="40458B"/>
                </a:solidFill>
                <a:latin typeface="宋体"/>
                <a:cs typeface="宋体"/>
              </a:rPr>
              <a:t>MIPS</a:t>
            </a:r>
            <a:r>
              <a:rPr dirty="0" sz="1800" spc="-10">
                <a:solidFill>
                  <a:srgbClr val="40458B"/>
                </a:solidFill>
                <a:latin typeface="黑体"/>
                <a:cs typeface="黑体"/>
              </a:rPr>
              <a:t>）</a:t>
            </a:r>
            <a:endParaRPr sz="1800">
              <a:latin typeface="黑体"/>
              <a:cs typeface="黑体"/>
            </a:endParaRPr>
          </a:p>
        </p:txBody>
      </p:sp>
      <p:sp>
        <p:nvSpPr>
          <p:cNvPr id="13" name="object 13" descr=""/>
          <p:cNvSpPr txBox="1"/>
          <p:nvPr/>
        </p:nvSpPr>
        <p:spPr>
          <a:xfrm>
            <a:off x="7047356" y="4742433"/>
            <a:ext cx="2082800" cy="566420"/>
          </a:xfrm>
          <a:prstGeom prst="rect">
            <a:avLst/>
          </a:prstGeom>
        </p:spPr>
        <p:txBody>
          <a:bodyPr wrap="square" lIns="0" tIns="27939" rIns="0" bIns="0" rtlCol="0" vert="horz">
            <a:spAutoFit/>
          </a:bodyPr>
          <a:lstStyle/>
          <a:p>
            <a:pPr marL="12700" marR="5080">
              <a:lnSpc>
                <a:spcPts val="2100"/>
              </a:lnSpc>
              <a:spcBef>
                <a:spcPts val="219"/>
              </a:spcBef>
            </a:pPr>
            <a:r>
              <a:rPr dirty="0" sz="1800" spc="-10">
                <a:solidFill>
                  <a:srgbClr val="40458B"/>
                </a:solidFill>
                <a:latin typeface="黑体"/>
                <a:cs typeface="黑体"/>
              </a:rPr>
              <a:t>例如：完成一条向量</a:t>
            </a:r>
            <a:r>
              <a:rPr dirty="0" sz="1800">
                <a:solidFill>
                  <a:srgbClr val="40458B"/>
                </a:solidFill>
                <a:latin typeface="黑体"/>
                <a:cs typeface="黑体"/>
              </a:rPr>
              <a:t>指令计算</a:t>
            </a:r>
            <a:r>
              <a:rPr dirty="0" sz="1800" spc="-25">
                <a:solidFill>
                  <a:srgbClr val="40458B"/>
                </a:solidFill>
                <a:latin typeface="Tahoma"/>
                <a:cs typeface="Tahoma"/>
              </a:rPr>
              <a:t>B+C</a:t>
            </a:r>
            <a:endParaRPr sz="1800">
              <a:latin typeface="Tahoma"/>
              <a:cs typeface="Tahoma"/>
            </a:endParaRPr>
          </a:p>
        </p:txBody>
      </p:sp>
      <p:sp>
        <p:nvSpPr>
          <p:cNvPr id="14" name="object 14" descr=""/>
          <p:cNvSpPr txBox="1"/>
          <p:nvPr/>
        </p:nvSpPr>
        <p:spPr>
          <a:xfrm>
            <a:off x="7288276" y="2254250"/>
            <a:ext cx="1735455" cy="415925"/>
          </a:xfrm>
          <a:prstGeom prst="rect">
            <a:avLst/>
          </a:prstGeom>
          <a:ln w="9525">
            <a:solidFill>
              <a:srgbClr val="FF0000"/>
            </a:solidFill>
          </a:ln>
        </p:spPr>
        <p:txBody>
          <a:bodyPr wrap="square" lIns="0" tIns="46355" rIns="0" bIns="0" rtlCol="0" vert="horz">
            <a:spAutoFit/>
          </a:bodyPr>
          <a:lstStyle/>
          <a:p>
            <a:pPr marL="92075">
              <a:lnSpc>
                <a:spcPct val="100000"/>
              </a:lnSpc>
              <a:spcBef>
                <a:spcPts val="365"/>
              </a:spcBef>
            </a:pPr>
            <a:r>
              <a:rPr dirty="0" sz="2100" spc="-10">
                <a:solidFill>
                  <a:srgbClr val="40458B"/>
                </a:solidFill>
                <a:latin typeface="Tahoma"/>
                <a:cs typeface="Tahoma"/>
              </a:rPr>
              <a:t>6</a:t>
            </a:r>
            <a:r>
              <a:rPr dirty="0" sz="2100" spc="-10">
                <a:solidFill>
                  <a:srgbClr val="40458B"/>
                </a:solidFill>
                <a:latin typeface="黑体"/>
                <a:cs typeface="黑体"/>
              </a:rPr>
              <a:t>种功能部件</a:t>
            </a:r>
            <a:endParaRPr sz="2100">
              <a:latin typeface="黑体"/>
              <a:cs typeface="黑体"/>
            </a:endParaRPr>
          </a:p>
        </p:txBody>
      </p:sp>
      <p:grpSp>
        <p:nvGrpSpPr>
          <p:cNvPr id="15" name="object 15" descr=""/>
          <p:cNvGrpSpPr/>
          <p:nvPr/>
        </p:nvGrpSpPr>
        <p:grpSpPr>
          <a:xfrm>
            <a:off x="2111375" y="1130300"/>
            <a:ext cx="2467610" cy="1840864"/>
            <a:chOff x="2111375" y="1130300"/>
            <a:chExt cx="2467610" cy="1840864"/>
          </a:xfrm>
        </p:grpSpPr>
        <p:sp>
          <p:nvSpPr>
            <p:cNvPr id="16" name="object 16" descr=""/>
            <p:cNvSpPr/>
            <p:nvPr/>
          </p:nvSpPr>
          <p:spPr>
            <a:xfrm>
              <a:off x="2124075" y="1143000"/>
              <a:ext cx="1800225" cy="269875"/>
            </a:xfrm>
            <a:custGeom>
              <a:avLst/>
              <a:gdLst/>
              <a:ahLst/>
              <a:cxnLst/>
              <a:rect l="l" t="t" r="r" b="b"/>
              <a:pathLst>
                <a:path w="1800225" h="269875">
                  <a:moveTo>
                    <a:pt x="0" y="269875"/>
                  </a:moveTo>
                  <a:lnTo>
                    <a:pt x="1800225" y="269875"/>
                  </a:lnTo>
                  <a:lnTo>
                    <a:pt x="1800225" y="0"/>
                  </a:lnTo>
                  <a:lnTo>
                    <a:pt x="0" y="0"/>
                  </a:lnTo>
                  <a:lnTo>
                    <a:pt x="0" y="269875"/>
                  </a:lnTo>
                  <a:close/>
                </a:path>
              </a:pathLst>
            </a:custGeom>
            <a:ln w="25400">
              <a:solidFill>
                <a:srgbClr val="FF0000"/>
              </a:solidFill>
            </a:ln>
          </p:spPr>
          <p:txBody>
            <a:bodyPr wrap="square" lIns="0" tIns="0" rIns="0" bIns="0" rtlCol="0"/>
            <a:lstStyle/>
            <a:p/>
          </p:txBody>
        </p:sp>
        <p:sp>
          <p:nvSpPr>
            <p:cNvPr id="17" name="object 17" descr=""/>
            <p:cNvSpPr/>
            <p:nvPr/>
          </p:nvSpPr>
          <p:spPr>
            <a:xfrm>
              <a:off x="4287647" y="1551431"/>
              <a:ext cx="286385" cy="1414780"/>
            </a:xfrm>
            <a:custGeom>
              <a:avLst/>
              <a:gdLst/>
              <a:ahLst/>
              <a:cxnLst/>
              <a:rect l="l" t="t" r="r" b="b"/>
              <a:pathLst>
                <a:path w="286385" h="1414780">
                  <a:moveTo>
                    <a:pt x="286003" y="0"/>
                  </a:moveTo>
                  <a:lnTo>
                    <a:pt x="167639" y="254380"/>
                  </a:lnTo>
                  <a:lnTo>
                    <a:pt x="0" y="1414398"/>
                  </a:lnTo>
                </a:path>
              </a:pathLst>
            </a:custGeom>
            <a:ln w="9525">
              <a:solidFill>
                <a:srgbClr val="FF0000"/>
              </a:solidFill>
            </a:ln>
          </p:spPr>
          <p:txBody>
            <a:bodyPr wrap="square" lIns="0" tIns="0" rIns="0" bIns="0" rtlCol="0"/>
            <a:lstStyle/>
            <a:p/>
          </p:txBody>
        </p:sp>
      </p:grpSp>
      <p:sp>
        <p:nvSpPr>
          <p:cNvPr id="18" name="object 18" descr=""/>
          <p:cNvSpPr txBox="1"/>
          <p:nvPr/>
        </p:nvSpPr>
        <p:spPr>
          <a:xfrm>
            <a:off x="4572825" y="1439862"/>
            <a:ext cx="2341245" cy="595630"/>
          </a:xfrm>
          <a:prstGeom prst="rect">
            <a:avLst/>
          </a:prstGeom>
          <a:ln w="9525">
            <a:solidFill>
              <a:srgbClr val="FF0000"/>
            </a:solidFill>
          </a:ln>
        </p:spPr>
        <p:txBody>
          <a:bodyPr wrap="square" lIns="0" tIns="45085" rIns="0" bIns="0" rtlCol="0" vert="horz">
            <a:spAutoFit/>
          </a:bodyPr>
          <a:lstStyle/>
          <a:p>
            <a:pPr marL="91440">
              <a:lnSpc>
                <a:spcPct val="100000"/>
              </a:lnSpc>
              <a:spcBef>
                <a:spcPts val="355"/>
              </a:spcBef>
            </a:pPr>
            <a:r>
              <a:rPr dirty="0" sz="1600" spc="-30">
                <a:solidFill>
                  <a:srgbClr val="40458B"/>
                </a:solidFill>
                <a:latin typeface="黑体"/>
                <a:cs typeface="黑体"/>
              </a:rPr>
              <a:t>每个向量寄存器通过总线</a:t>
            </a:r>
            <a:endParaRPr sz="1600">
              <a:latin typeface="黑体"/>
              <a:cs typeface="黑体"/>
            </a:endParaRPr>
          </a:p>
          <a:p>
            <a:pPr marL="91440" marR="21590">
              <a:lnSpc>
                <a:spcPct val="100000"/>
              </a:lnSpc>
            </a:pPr>
            <a:r>
              <a:rPr dirty="0" sz="1600" spc="-35">
                <a:solidFill>
                  <a:srgbClr val="40458B"/>
                </a:solidFill>
                <a:latin typeface="黑体"/>
                <a:cs typeface="黑体"/>
              </a:rPr>
              <a:t>连接到每个功能部件</a:t>
            </a:r>
            <a:endParaRPr sz="1600">
              <a:latin typeface="黑体"/>
              <a:cs typeface="黑体"/>
            </a:endParaRPr>
          </a:p>
        </p:txBody>
      </p:sp>
      <p:sp>
        <p:nvSpPr>
          <p:cNvPr id="19" name="object 19" descr=""/>
          <p:cNvSpPr txBox="1"/>
          <p:nvPr/>
        </p:nvSpPr>
        <p:spPr>
          <a:xfrm>
            <a:off x="6947407" y="5919012"/>
            <a:ext cx="2082800" cy="566420"/>
          </a:xfrm>
          <a:prstGeom prst="rect">
            <a:avLst/>
          </a:prstGeom>
        </p:spPr>
        <p:txBody>
          <a:bodyPr wrap="square" lIns="0" tIns="27940" rIns="0" bIns="0" rtlCol="0" vert="horz">
            <a:spAutoFit/>
          </a:bodyPr>
          <a:lstStyle/>
          <a:p>
            <a:pPr marL="12700" marR="5080">
              <a:lnSpc>
                <a:spcPts val="2100"/>
              </a:lnSpc>
              <a:spcBef>
                <a:spcPts val="220"/>
              </a:spcBef>
            </a:pPr>
            <a:r>
              <a:rPr dirty="0" sz="1800" spc="-10">
                <a:solidFill>
                  <a:srgbClr val="40458B"/>
                </a:solidFill>
                <a:latin typeface="黑体"/>
                <a:cs typeface="黑体"/>
              </a:rPr>
              <a:t>访存存取的向量计算时的元素个数</a:t>
            </a:r>
            <a:endParaRPr sz="1800">
              <a:latin typeface="黑体"/>
              <a:cs typeface="黑体"/>
            </a:endParaRPr>
          </a:p>
        </p:txBody>
      </p:sp>
      <p:sp>
        <p:nvSpPr>
          <p:cNvPr id="20" name="object 20" descr=""/>
          <p:cNvSpPr/>
          <p:nvPr/>
        </p:nvSpPr>
        <p:spPr>
          <a:xfrm>
            <a:off x="4067175" y="4292663"/>
            <a:ext cx="1081405" cy="144780"/>
          </a:xfrm>
          <a:custGeom>
            <a:avLst/>
            <a:gdLst/>
            <a:ahLst/>
            <a:cxnLst/>
            <a:rect l="l" t="t" r="r" b="b"/>
            <a:pathLst>
              <a:path w="1081404" h="144779">
                <a:moveTo>
                  <a:pt x="0" y="144462"/>
                </a:moveTo>
                <a:lnTo>
                  <a:pt x="1081087" y="144462"/>
                </a:lnTo>
                <a:lnTo>
                  <a:pt x="1081087" y="0"/>
                </a:lnTo>
                <a:lnTo>
                  <a:pt x="0" y="0"/>
                </a:lnTo>
                <a:lnTo>
                  <a:pt x="0" y="144462"/>
                </a:lnTo>
                <a:close/>
              </a:path>
            </a:pathLst>
          </a:custGeom>
          <a:ln w="25400">
            <a:solidFill>
              <a:srgbClr val="FF0000"/>
            </a:solidFill>
          </a:ln>
        </p:spPr>
        <p:txBody>
          <a:bodyPr wrap="square" lIns="0" tIns="0" rIns="0" bIns="0" rtlCol="0"/>
          <a:lstStyl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404977" y="1132160"/>
            <a:ext cx="8373745" cy="4039870"/>
          </a:xfrm>
          <a:prstGeom prst="rect">
            <a:avLst/>
          </a:prstGeom>
        </p:spPr>
        <p:txBody>
          <a:bodyPr wrap="square" lIns="0" tIns="129539" rIns="0" bIns="0" rtlCol="0" vert="horz">
            <a:spAutoFit/>
          </a:bodyPr>
          <a:lstStyle/>
          <a:p>
            <a:pPr marL="334010" indent="-270510">
              <a:lnSpc>
                <a:spcPct val="100000"/>
              </a:lnSpc>
              <a:spcBef>
                <a:spcPts val="1019"/>
              </a:spcBef>
              <a:buSzPct val="89583"/>
              <a:buFont typeface="Wingdings"/>
              <a:buChar char=""/>
              <a:tabLst>
                <a:tab pos="334010" algn="l"/>
              </a:tabLst>
            </a:pPr>
            <a:r>
              <a:rPr dirty="0" sz="2400">
                <a:solidFill>
                  <a:srgbClr val="40458B"/>
                </a:solidFill>
                <a:latin typeface="黑体"/>
                <a:cs typeface="黑体"/>
              </a:rPr>
              <a:t>向量寄存组</a:t>
            </a:r>
            <a:r>
              <a:rPr dirty="0" sz="2400" spc="-50">
                <a:solidFill>
                  <a:srgbClr val="9933FF"/>
                </a:solidFill>
                <a:latin typeface="黑体"/>
                <a:cs typeface="黑体"/>
              </a:rPr>
              <a:t>V</a:t>
            </a:r>
            <a:endParaRPr sz="2400">
              <a:latin typeface="黑体"/>
              <a:cs typeface="黑体"/>
            </a:endParaRPr>
          </a:p>
          <a:p>
            <a:pPr lvl="1" marL="1148715" indent="-457834">
              <a:lnSpc>
                <a:spcPct val="100000"/>
              </a:lnSpc>
              <a:spcBef>
                <a:spcPts val="775"/>
              </a:spcBef>
              <a:buClr>
                <a:srgbClr val="4668F5"/>
              </a:buClr>
              <a:buSzPct val="65000"/>
              <a:buFont typeface="Wingdings"/>
              <a:buChar char=""/>
              <a:tabLst>
                <a:tab pos="1148715" algn="l"/>
              </a:tabLst>
            </a:pPr>
            <a:r>
              <a:rPr dirty="0" sz="2000" spc="-10" b="1">
                <a:solidFill>
                  <a:srgbClr val="00AFEF"/>
                </a:solidFill>
                <a:latin typeface="宋体"/>
                <a:cs typeface="宋体"/>
              </a:rPr>
              <a:t>由</a:t>
            </a:r>
            <a:r>
              <a:rPr dirty="0" sz="2000" spc="-10" b="1">
                <a:solidFill>
                  <a:srgbClr val="9933FF"/>
                </a:solidFill>
                <a:latin typeface="宋体"/>
                <a:cs typeface="宋体"/>
              </a:rPr>
              <a:t>512</a:t>
            </a:r>
            <a:r>
              <a:rPr dirty="0" sz="2000" spc="-10" b="1">
                <a:solidFill>
                  <a:srgbClr val="080808"/>
                </a:solidFill>
                <a:latin typeface="宋体"/>
                <a:cs typeface="宋体"/>
              </a:rPr>
              <a:t>个</a:t>
            </a:r>
            <a:r>
              <a:rPr dirty="0" sz="2000" spc="-10" b="1">
                <a:solidFill>
                  <a:srgbClr val="9933FF"/>
                </a:solidFill>
                <a:latin typeface="宋体"/>
                <a:cs typeface="宋体"/>
              </a:rPr>
              <a:t>64</a:t>
            </a:r>
            <a:r>
              <a:rPr dirty="0" sz="2000" spc="-10" b="1">
                <a:solidFill>
                  <a:srgbClr val="080808"/>
                </a:solidFill>
                <a:latin typeface="宋体"/>
                <a:cs typeface="宋体"/>
              </a:rPr>
              <a:t>位</a:t>
            </a:r>
            <a:r>
              <a:rPr dirty="0" sz="2000" spc="-20" b="1">
                <a:solidFill>
                  <a:srgbClr val="00AFEF"/>
                </a:solidFill>
                <a:latin typeface="宋体"/>
                <a:cs typeface="宋体"/>
              </a:rPr>
              <a:t>的寄存器组成，分成</a:t>
            </a:r>
            <a:r>
              <a:rPr dirty="0" sz="2000" spc="-10" b="1">
                <a:solidFill>
                  <a:srgbClr val="9933FF"/>
                </a:solidFill>
                <a:latin typeface="宋体"/>
                <a:cs typeface="宋体"/>
              </a:rPr>
              <a:t>8</a:t>
            </a:r>
            <a:r>
              <a:rPr dirty="0" sz="2000" spc="-20" b="1">
                <a:solidFill>
                  <a:srgbClr val="080808"/>
                </a:solidFill>
                <a:latin typeface="宋体"/>
                <a:cs typeface="宋体"/>
              </a:rPr>
              <a:t>块</a:t>
            </a:r>
            <a:r>
              <a:rPr dirty="0" sz="2000" spc="-50" b="1">
                <a:solidFill>
                  <a:srgbClr val="00AFEF"/>
                </a:solidFill>
                <a:latin typeface="宋体"/>
                <a:cs typeface="宋体"/>
              </a:rPr>
              <a:t>。</a:t>
            </a:r>
            <a:endParaRPr sz="2000">
              <a:latin typeface="宋体"/>
              <a:cs typeface="宋体"/>
            </a:endParaRPr>
          </a:p>
          <a:p>
            <a:pPr lvl="1" marL="1148715" indent="-457834">
              <a:lnSpc>
                <a:spcPct val="100000"/>
              </a:lnSpc>
              <a:spcBef>
                <a:spcPts val="720"/>
              </a:spcBef>
              <a:buClr>
                <a:srgbClr val="4668F5"/>
              </a:buClr>
              <a:buSzPct val="65000"/>
              <a:buFont typeface="Wingdings"/>
              <a:buChar char=""/>
              <a:tabLst>
                <a:tab pos="1148715" algn="l"/>
              </a:tabLst>
            </a:pPr>
            <a:r>
              <a:rPr dirty="0" sz="2000" spc="-10" b="1">
                <a:solidFill>
                  <a:srgbClr val="00AFEF"/>
                </a:solidFill>
                <a:latin typeface="宋体"/>
                <a:cs typeface="宋体"/>
              </a:rPr>
              <a:t>编号：</a:t>
            </a:r>
            <a:r>
              <a:rPr dirty="0" sz="2000" spc="-10" b="1">
                <a:solidFill>
                  <a:srgbClr val="9933FF"/>
                </a:solidFill>
                <a:latin typeface="宋体"/>
                <a:cs typeface="宋体"/>
              </a:rPr>
              <a:t>V</a:t>
            </a:r>
            <a:r>
              <a:rPr dirty="0" baseline="-21367" sz="1950" spc="-15" b="1">
                <a:solidFill>
                  <a:srgbClr val="9933FF"/>
                </a:solidFill>
                <a:latin typeface="宋体"/>
                <a:cs typeface="宋体"/>
              </a:rPr>
              <a:t>0</a:t>
            </a:r>
            <a:r>
              <a:rPr dirty="0" sz="2000" spc="-10" b="1">
                <a:solidFill>
                  <a:srgbClr val="9933FF"/>
                </a:solidFill>
                <a:latin typeface="宋体"/>
                <a:cs typeface="宋体"/>
              </a:rPr>
              <a:t>～V</a:t>
            </a:r>
            <a:r>
              <a:rPr dirty="0" baseline="-21367" sz="1950" spc="-15" b="1">
                <a:solidFill>
                  <a:srgbClr val="9933FF"/>
                </a:solidFill>
                <a:latin typeface="宋体"/>
                <a:cs typeface="宋体"/>
              </a:rPr>
              <a:t>7</a:t>
            </a:r>
            <a:endParaRPr baseline="-21367" sz="1950">
              <a:latin typeface="宋体"/>
              <a:cs typeface="宋体"/>
            </a:endParaRPr>
          </a:p>
          <a:p>
            <a:pPr lvl="1" marL="1148715" indent="-457834">
              <a:lnSpc>
                <a:spcPct val="100000"/>
              </a:lnSpc>
              <a:spcBef>
                <a:spcPts val="720"/>
              </a:spcBef>
              <a:buClr>
                <a:srgbClr val="4668F5"/>
              </a:buClr>
              <a:buSzPct val="65000"/>
              <a:buFont typeface="Wingdings"/>
              <a:buChar char=""/>
              <a:tabLst>
                <a:tab pos="1148715" algn="l"/>
              </a:tabLst>
            </a:pPr>
            <a:r>
              <a:rPr dirty="0" sz="2000" spc="-10" b="1">
                <a:solidFill>
                  <a:srgbClr val="00AFEF"/>
                </a:solidFill>
                <a:latin typeface="宋体"/>
                <a:cs typeface="宋体"/>
              </a:rPr>
              <a:t>每一个块称为一个</a:t>
            </a:r>
            <a:r>
              <a:rPr dirty="0" sz="2000" spc="-15" b="1">
                <a:solidFill>
                  <a:srgbClr val="FF0000"/>
                </a:solidFill>
                <a:latin typeface="宋体"/>
                <a:cs typeface="宋体"/>
              </a:rPr>
              <a:t>向量寄存器</a:t>
            </a:r>
            <a:r>
              <a:rPr dirty="0" sz="2000" spc="-20" b="1">
                <a:solidFill>
                  <a:srgbClr val="00AFEF"/>
                </a:solidFill>
                <a:latin typeface="宋体"/>
                <a:cs typeface="宋体"/>
              </a:rPr>
              <a:t>，可存放一个长度</a:t>
            </a:r>
            <a:r>
              <a:rPr dirty="0" sz="2000" spc="-10" b="1">
                <a:solidFill>
                  <a:srgbClr val="00AFEF"/>
                </a:solidFill>
                <a:latin typeface="宋体"/>
                <a:cs typeface="宋体"/>
              </a:rPr>
              <a:t>（</a:t>
            </a:r>
            <a:r>
              <a:rPr dirty="0" sz="2000" spc="-20" b="1">
                <a:solidFill>
                  <a:srgbClr val="00AFEF"/>
                </a:solidFill>
                <a:latin typeface="宋体"/>
                <a:cs typeface="宋体"/>
              </a:rPr>
              <a:t>即元素个数</a:t>
            </a:r>
            <a:r>
              <a:rPr dirty="0" sz="2000" spc="-50" b="1">
                <a:solidFill>
                  <a:srgbClr val="00AFEF"/>
                </a:solidFill>
                <a:latin typeface="宋体"/>
                <a:cs typeface="宋体"/>
              </a:rPr>
              <a:t>）</a:t>
            </a:r>
            <a:endParaRPr sz="2000">
              <a:latin typeface="宋体"/>
              <a:cs typeface="宋体"/>
            </a:endParaRPr>
          </a:p>
          <a:p>
            <a:pPr marL="1148715">
              <a:lnSpc>
                <a:spcPct val="100000"/>
              </a:lnSpc>
              <a:spcBef>
                <a:spcPts val="240"/>
              </a:spcBef>
            </a:pPr>
            <a:r>
              <a:rPr dirty="0" sz="2000" spc="-15" b="1">
                <a:solidFill>
                  <a:srgbClr val="00AFEF"/>
                </a:solidFill>
                <a:latin typeface="宋体"/>
                <a:cs typeface="宋体"/>
              </a:rPr>
              <a:t>不超过</a:t>
            </a:r>
            <a:r>
              <a:rPr dirty="0" sz="2000" b="1">
                <a:solidFill>
                  <a:srgbClr val="9933FF"/>
                </a:solidFill>
                <a:latin typeface="宋体"/>
                <a:cs typeface="宋体"/>
              </a:rPr>
              <a:t>64</a:t>
            </a:r>
            <a:r>
              <a:rPr dirty="0" sz="2000" spc="-25" b="1">
                <a:solidFill>
                  <a:srgbClr val="00AFEF"/>
                </a:solidFill>
                <a:latin typeface="宋体"/>
                <a:cs typeface="宋体"/>
              </a:rPr>
              <a:t>的向量。</a:t>
            </a:r>
            <a:endParaRPr sz="2000">
              <a:latin typeface="宋体"/>
              <a:cs typeface="宋体"/>
            </a:endParaRPr>
          </a:p>
          <a:p>
            <a:pPr lvl="1" marL="1148715" marR="55880" indent="-457834">
              <a:lnSpc>
                <a:spcPct val="110000"/>
              </a:lnSpc>
              <a:spcBef>
                <a:spcPts val="484"/>
              </a:spcBef>
              <a:buClr>
                <a:srgbClr val="4668F5"/>
              </a:buClr>
              <a:buSzPct val="65000"/>
              <a:buFont typeface="Wingdings"/>
              <a:buChar char=""/>
              <a:tabLst>
                <a:tab pos="1148715" algn="l"/>
              </a:tabLst>
            </a:pPr>
            <a:r>
              <a:rPr dirty="0" sz="2000" spc="-25" b="1">
                <a:solidFill>
                  <a:srgbClr val="00AFEF"/>
                </a:solidFill>
                <a:latin typeface="宋体"/>
                <a:cs typeface="宋体"/>
              </a:rPr>
              <a:t>每个向量寄存器可以每拍向功能部件提供一个数据元素，或者每拍接收一个从功能部件来的结果元素。</a:t>
            </a:r>
            <a:endParaRPr sz="2000">
              <a:latin typeface="宋体"/>
              <a:cs typeface="宋体"/>
            </a:endParaRPr>
          </a:p>
          <a:p>
            <a:pPr marL="334010" indent="-270510">
              <a:lnSpc>
                <a:spcPct val="100000"/>
              </a:lnSpc>
              <a:spcBef>
                <a:spcPts val="810"/>
              </a:spcBef>
              <a:buSzPct val="89583"/>
              <a:buFont typeface="Wingdings"/>
              <a:buChar char=""/>
              <a:tabLst>
                <a:tab pos="334010" algn="l"/>
              </a:tabLst>
            </a:pPr>
            <a:r>
              <a:rPr dirty="0" sz="2400">
                <a:solidFill>
                  <a:srgbClr val="40458B"/>
                </a:solidFill>
                <a:latin typeface="黑体"/>
                <a:cs typeface="黑体"/>
              </a:rPr>
              <a:t>标量寄存器</a:t>
            </a:r>
            <a:r>
              <a:rPr dirty="0" sz="2400">
                <a:solidFill>
                  <a:srgbClr val="9933FF"/>
                </a:solidFill>
                <a:latin typeface="黑体"/>
                <a:cs typeface="黑体"/>
              </a:rPr>
              <a:t>S</a:t>
            </a:r>
            <a:r>
              <a:rPr dirty="0" sz="2400">
                <a:solidFill>
                  <a:srgbClr val="40458B"/>
                </a:solidFill>
                <a:latin typeface="黑体"/>
                <a:cs typeface="黑体"/>
              </a:rPr>
              <a:t>和快速暂存器</a:t>
            </a:r>
            <a:r>
              <a:rPr dirty="0" sz="2400" spc="-50">
                <a:solidFill>
                  <a:srgbClr val="9933FF"/>
                </a:solidFill>
                <a:latin typeface="黑体"/>
                <a:cs typeface="黑体"/>
              </a:rPr>
              <a:t>T</a:t>
            </a:r>
            <a:endParaRPr sz="2400">
              <a:latin typeface="黑体"/>
              <a:cs typeface="黑体"/>
            </a:endParaRPr>
          </a:p>
          <a:p>
            <a:pPr lvl="1" marL="1148715" indent="-457834">
              <a:lnSpc>
                <a:spcPct val="100000"/>
              </a:lnSpc>
              <a:spcBef>
                <a:spcPts val="775"/>
              </a:spcBef>
              <a:buClr>
                <a:srgbClr val="4668F5"/>
              </a:buClr>
              <a:buSzPct val="65000"/>
              <a:buFont typeface="Wingdings"/>
              <a:buChar char=""/>
              <a:tabLst>
                <a:tab pos="1148715" algn="l"/>
                <a:tab pos="4391660" algn="l"/>
              </a:tabLst>
            </a:pPr>
            <a:r>
              <a:rPr dirty="0" sz="2000" spc="-10" b="1">
                <a:solidFill>
                  <a:srgbClr val="00AFEF"/>
                </a:solidFill>
                <a:latin typeface="宋体"/>
                <a:cs typeface="宋体"/>
              </a:rPr>
              <a:t>标量寄存器有</a:t>
            </a:r>
            <a:r>
              <a:rPr dirty="0" sz="2000" spc="-10" b="1">
                <a:solidFill>
                  <a:srgbClr val="9933FF"/>
                </a:solidFill>
                <a:latin typeface="宋体"/>
                <a:cs typeface="宋体"/>
              </a:rPr>
              <a:t>8</a:t>
            </a:r>
            <a:r>
              <a:rPr dirty="0" sz="2000" spc="-10" b="1">
                <a:solidFill>
                  <a:srgbClr val="080808"/>
                </a:solidFill>
                <a:latin typeface="宋体"/>
                <a:cs typeface="宋体"/>
              </a:rPr>
              <a:t>个</a:t>
            </a:r>
            <a:r>
              <a:rPr dirty="0" sz="2000" spc="-10" b="1">
                <a:solidFill>
                  <a:srgbClr val="00AFEF"/>
                </a:solidFill>
                <a:latin typeface="宋体"/>
                <a:cs typeface="宋体"/>
              </a:rPr>
              <a:t>：</a:t>
            </a:r>
            <a:r>
              <a:rPr dirty="0" sz="2000" spc="-10" b="1">
                <a:solidFill>
                  <a:srgbClr val="9933FF"/>
                </a:solidFill>
                <a:latin typeface="宋体"/>
                <a:cs typeface="宋体"/>
              </a:rPr>
              <a:t>S</a:t>
            </a:r>
            <a:r>
              <a:rPr dirty="0" baseline="-21367" sz="1950" spc="-15" b="1">
                <a:solidFill>
                  <a:srgbClr val="9933FF"/>
                </a:solidFill>
                <a:latin typeface="宋体"/>
                <a:cs typeface="宋体"/>
              </a:rPr>
              <a:t>0</a:t>
            </a:r>
            <a:r>
              <a:rPr dirty="0" sz="2000" spc="-10" b="1">
                <a:solidFill>
                  <a:srgbClr val="9933FF"/>
                </a:solidFill>
                <a:latin typeface="宋体"/>
                <a:cs typeface="宋体"/>
              </a:rPr>
              <a:t>～S</a:t>
            </a:r>
            <a:r>
              <a:rPr dirty="0" baseline="-21367" sz="1950" spc="-15" b="1">
                <a:solidFill>
                  <a:srgbClr val="9933FF"/>
                </a:solidFill>
                <a:latin typeface="宋体"/>
                <a:cs typeface="宋体"/>
              </a:rPr>
              <a:t>7</a:t>
            </a:r>
            <a:r>
              <a:rPr dirty="0" baseline="-21367" sz="1950" b="1">
                <a:solidFill>
                  <a:srgbClr val="9933FF"/>
                </a:solidFill>
                <a:latin typeface="宋体"/>
                <a:cs typeface="宋体"/>
              </a:rPr>
              <a:t>	</a:t>
            </a:r>
            <a:r>
              <a:rPr dirty="0" sz="2000" spc="-10" b="1">
                <a:solidFill>
                  <a:srgbClr val="9933FF"/>
                </a:solidFill>
                <a:latin typeface="宋体"/>
                <a:cs typeface="宋体"/>
              </a:rPr>
              <a:t>64</a:t>
            </a:r>
            <a:r>
              <a:rPr dirty="0" sz="2000" spc="-50" b="1">
                <a:solidFill>
                  <a:srgbClr val="9933FF"/>
                </a:solidFill>
                <a:latin typeface="宋体"/>
                <a:cs typeface="宋体"/>
              </a:rPr>
              <a:t>位</a:t>
            </a:r>
            <a:endParaRPr sz="2000">
              <a:latin typeface="宋体"/>
              <a:cs typeface="宋体"/>
            </a:endParaRPr>
          </a:p>
          <a:p>
            <a:pPr lvl="1" marL="1148715" indent="-457834">
              <a:lnSpc>
                <a:spcPct val="100000"/>
              </a:lnSpc>
              <a:spcBef>
                <a:spcPts val="720"/>
              </a:spcBef>
              <a:buClr>
                <a:srgbClr val="4668F5"/>
              </a:buClr>
              <a:buSzPct val="65000"/>
              <a:buFont typeface="Wingdings"/>
              <a:buChar char=""/>
              <a:tabLst>
                <a:tab pos="1148715" algn="l"/>
              </a:tabLst>
            </a:pPr>
            <a:r>
              <a:rPr dirty="0" sz="2000" spc="-10" b="1">
                <a:solidFill>
                  <a:srgbClr val="00AFEF"/>
                </a:solidFill>
                <a:latin typeface="宋体"/>
                <a:cs typeface="宋体"/>
              </a:rPr>
              <a:t>快速暂存器</a:t>
            </a:r>
            <a:r>
              <a:rPr dirty="0" sz="2000" spc="-10" b="1">
                <a:solidFill>
                  <a:srgbClr val="9933FF"/>
                </a:solidFill>
                <a:latin typeface="宋体"/>
                <a:cs typeface="宋体"/>
              </a:rPr>
              <a:t>T</a:t>
            </a:r>
            <a:r>
              <a:rPr dirty="0" sz="2000" spc="-25" b="1">
                <a:solidFill>
                  <a:srgbClr val="00AFEF"/>
                </a:solidFill>
                <a:latin typeface="宋体"/>
                <a:cs typeface="宋体"/>
              </a:rPr>
              <a:t>用于在标量寄存器和存储器之间提供缓冲。</a:t>
            </a:r>
            <a:endParaRPr sz="2000">
              <a:latin typeface="宋体"/>
              <a:cs typeface="宋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220167" y="1091895"/>
            <a:ext cx="8910955" cy="3861435"/>
          </a:xfrm>
          <a:prstGeom prst="rect">
            <a:avLst/>
          </a:prstGeom>
        </p:spPr>
        <p:txBody>
          <a:bodyPr wrap="square" lIns="0" tIns="12700" rIns="0" bIns="0" rtlCol="0" vert="horz">
            <a:spAutoFit/>
          </a:bodyPr>
          <a:lstStyle/>
          <a:p>
            <a:pPr marL="1137285" indent="-457200">
              <a:lnSpc>
                <a:spcPct val="100000"/>
              </a:lnSpc>
              <a:spcBef>
                <a:spcPts val="100"/>
              </a:spcBef>
              <a:buSzPct val="89583"/>
              <a:buFont typeface="Wingdings"/>
              <a:buChar char=""/>
              <a:tabLst>
                <a:tab pos="1137285" algn="l"/>
              </a:tabLst>
            </a:pPr>
            <a:r>
              <a:rPr dirty="0" sz="2400" spc="-10">
                <a:solidFill>
                  <a:srgbClr val="40458B"/>
                </a:solidFill>
                <a:latin typeface="黑体"/>
                <a:cs typeface="黑体"/>
              </a:rPr>
              <a:t>向量屏蔽寄存器</a:t>
            </a:r>
            <a:r>
              <a:rPr dirty="0" sz="2400" spc="-25">
                <a:solidFill>
                  <a:srgbClr val="9933FF"/>
                </a:solidFill>
                <a:latin typeface="黑体"/>
                <a:cs typeface="黑体"/>
              </a:rPr>
              <a:t>VM</a:t>
            </a:r>
            <a:endParaRPr sz="2400">
              <a:latin typeface="黑体"/>
              <a:cs typeface="黑体"/>
            </a:endParaRPr>
          </a:p>
          <a:p>
            <a:pPr lvl="1" marL="1765300" indent="-457200">
              <a:lnSpc>
                <a:spcPct val="100000"/>
              </a:lnSpc>
              <a:spcBef>
                <a:spcPts val="1495"/>
              </a:spcBef>
              <a:buClr>
                <a:srgbClr val="4668F5"/>
              </a:buClr>
              <a:buSzPct val="65000"/>
              <a:buFont typeface="Wingdings"/>
              <a:buChar char=""/>
              <a:tabLst>
                <a:tab pos="1765300" algn="l"/>
              </a:tabLst>
            </a:pPr>
            <a:r>
              <a:rPr dirty="0" sz="2000" spc="-10" b="1">
                <a:solidFill>
                  <a:srgbClr val="9933FF"/>
                </a:solidFill>
                <a:latin typeface="宋体"/>
                <a:cs typeface="宋体"/>
              </a:rPr>
              <a:t>64</a:t>
            </a:r>
            <a:r>
              <a:rPr dirty="0" sz="2000" spc="-10" b="1">
                <a:solidFill>
                  <a:srgbClr val="080808"/>
                </a:solidFill>
                <a:latin typeface="宋体"/>
                <a:cs typeface="宋体"/>
              </a:rPr>
              <a:t>位</a:t>
            </a:r>
            <a:r>
              <a:rPr dirty="0" sz="2000" spc="-25" b="1">
                <a:solidFill>
                  <a:srgbClr val="00AFEF"/>
                </a:solidFill>
                <a:latin typeface="宋体"/>
                <a:cs typeface="宋体"/>
              </a:rPr>
              <a:t>，每一位对应于向量寄存器的一个单元。</a:t>
            </a:r>
            <a:endParaRPr sz="2000">
              <a:latin typeface="宋体"/>
              <a:cs typeface="宋体"/>
            </a:endParaRPr>
          </a:p>
          <a:p>
            <a:pPr lvl="1" marL="1765300" marR="233679" indent="-457834">
              <a:lnSpc>
                <a:spcPct val="150100"/>
              </a:lnSpc>
              <a:spcBef>
                <a:spcPts val="480"/>
              </a:spcBef>
              <a:buClr>
                <a:srgbClr val="4668F5"/>
              </a:buClr>
              <a:buSzPct val="65000"/>
              <a:buFont typeface="Wingdings"/>
              <a:buChar char=""/>
              <a:tabLst>
                <a:tab pos="1765300" algn="l"/>
              </a:tabLst>
            </a:pPr>
            <a:r>
              <a:rPr dirty="0" sz="2000" spc="-10" b="1">
                <a:solidFill>
                  <a:srgbClr val="080808"/>
                </a:solidFill>
                <a:latin typeface="宋体"/>
                <a:cs typeface="宋体"/>
              </a:rPr>
              <a:t>作用：</a:t>
            </a:r>
            <a:r>
              <a:rPr dirty="0" sz="2000" spc="-25" b="1">
                <a:solidFill>
                  <a:srgbClr val="00AFEF"/>
                </a:solidFill>
                <a:latin typeface="宋体"/>
                <a:cs typeface="宋体"/>
              </a:rPr>
              <a:t>用于向量的归并、压缩、还原和测试操作、对向量某些</a:t>
            </a:r>
            <a:r>
              <a:rPr dirty="0" sz="2000" spc="-15" b="1">
                <a:solidFill>
                  <a:srgbClr val="00AFEF"/>
                </a:solidFill>
                <a:latin typeface="宋体"/>
                <a:cs typeface="宋体"/>
              </a:rPr>
              <a:t>元素的单独运算等。</a:t>
            </a:r>
            <a:endParaRPr sz="2000">
              <a:latin typeface="宋体"/>
              <a:cs typeface="宋体"/>
            </a:endParaRPr>
          </a:p>
          <a:p>
            <a:pPr marL="507365" indent="-456565">
              <a:lnSpc>
                <a:spcPct val="100000"/>
              </a:lnSpc>
              <a:spcBef>
                <a:spcPts val="1914"/>
              </a:spcBef>
              <a:buClr>
                <a:srgbClr val="40458B"/>
              </a:buClr>
              <a:buAutoNum type="arabicPeriod" startAt="2"/>
              <a:tabLst>
                <a:tab pos="507365" algn="l"/>
              </a:tabLst>
            </a:pPr>
            <a:r>
              <a:rPr dirty="0" sz="2400">
                <a:solidFill>
                  <a:srgbClr val="E14B04"/>
                </a:solidFill>
                <a:latin typeface="黑体"/>
                <a:cs typeface="黑体"/>
              </a:rPr>
              <a:t>CRAY-1</a:t>
            </a:r>
            <a:r>
              <a:rPr dirty="0" sz="2400" spc="-5">
                <a:solidFill>
                  <a:srgbClr val="E14B04"/>
                </a:solidFill>
                <a:latin typeface="黑体"/>
                <a:cs typeface="黑体"/>
              </a:rPr>
              <a:t>向量处理的一个</a:t>
            </a:r>
            <a:r>
              <a:rPr dirty="0" sz="2400" spc="-15">
                <a:solidFill>
                  <a:srgbClr val="D50092"/>
                </a:solidFill>
                <a:latin typeface="黑体"/>
                <a:cs typeface="黑体"/>
              </a:rPr>
              <a:t>显著特点</a:t>
            </a:r>
            <a:endParaRPr sz="2400">
              <a:latin typeface="黑体"/>
              <a:cs typeface="黑体"/>
            </a:endParaRPr>
          </a:p>
          <a:p>
            <a:pPr lvl="1" marL="1137285" indent="-457200">
              <a:lnSpc>
                <a:spcPct val="100000"/>
              </a:lnSpc>
              <a:spcBef>
                <a:spcPts val="1150"/>
              </a:spcBef>
              <a:buSzPct val="89583"/>
              <a:buFont typeface="Wingdings"/>
              <a:buChar char=""/>
              <a:tabLst>
                <a:tab pos="1137285" algn="l"/>
              </a:tabLst>
            </a:pPr>
            <a:r>
              <a:rPr dirty="0" sz="2400" spc="-10">
                <a:solidFill>
                  <a:srgbClr val="40458B"/>
                </a:solidFill>
                <a:latin typeface="黑体"/>
                <a:cs typeface="黑体"/>
              </a:rPr>
              <a:t>每个向量寄存器</a:t>
            </a:r>
            <a:r>
              <a:rPr dirty="0" sz="2400" spc="-10">
                <a:solidFill>
                  <a:srgbClr val="9933FF"/>
                </a:solidFill>
                <a:latin typeface="黑体"/>
                <a:cs typeface="黑体"/>
              </a:rPr>
              <a:t>V</a:t>
            </a:r>
            <a:r>
              <a:rPr dirty="0" baseline="-20833" sz="2400" spc="-15">
                <a:solidFill>
                  <a:srgbClr val="9933FF"/>
                </a:solidFill>
                <a:latin typeface="黑体"/>
                <a:cs typeface="黑体"/>
              </a:rPr>
              <a:t>i</a:t>
            </a:r>
            <a:r>
              <a:rPr dirty="0" sz="2400" spc="-10">
                <a:solidFill>
                  <a:srgbClr val="40458B"/>
                </a:solidFill>
                <a:latin typeface="黑体"/>
                <a:cs typeface="黑体"/>
              </a:rPr>
              <a:t>都有连到</a:t>
            </a:r>
            <a:r>
              <a:rPr dirty="0" sz="2400" spc="-10">
                <a:solidFill>
                  <a:srgbClr val="9933FF"/>
                </a:solidFill>
                <a:latin typeface="黑体"/>
                <a:cs typeface="黑体"/>
              </a:rPr>
              <a:t>6</a:t>
            </a:r>
            <a:r>
              <a:rPr dirty="0" sz="2400" spc="-15">
                <a:solidFill>
                  <a:srgbClr val="40458B"/>
                </a:solidFill>
                <a:latin typeface="黑体"/>
                <a:cs typeface="黑体"/>
              </a:rPr>
              <a:t>个向量功能部件的单独总线。</a:t>
            </a:r>
            <a:endParaRPr sz="2400">
              <a:latin typeface="黑体"/>
              <a:cs typeface="黑体"/>
            </a:endParaRPr>
          </a:p>
          <a:p>
            <a:pPr lvl="1" marL="1137285" marR="145415" indent="-457834">
              <a:lnSpc>
                <a:spcPct val="110000"/>
              </a:lnSpc>
              <a:spcBef>
                <a:spcPts val="580"/>
              </a:spcBef>
              <a:buSzPct val="89583"/>
              <a:buFont typeface="Wingdings"/>
              <a:buChar char=""/>
              <a:tabLst>
                <a:tab pos="1137285" algn="l"/>
              </a:tabLst>
            </a:pPr>
            <a:r>
              <a:rPr dirty="0" sz="2400" spc="-5">
                <a:solidFill>
                  <a:srgbClr val="40458B"/>
                </a:solidFill>
                <a:latin typeface="黑体"/>
                <a:cs typeface="黑体"/>
              </a:rPr>
              <a:t>每个向量功能部件也都有把运算结果送回向量寄存器组的</a:t>
            </a:r>
            <a:r>
              <a:rPr dirty="0" sz="2400" spc="-20">
                <a:solidFill>
                  <a:srgbClr val="40458B"/>
                </a:solidFill>
                <a:latin typeface="黑体"/>
                <a:cs typeface="黑体"/>
              </a:rPr>
              <a:t>总线。</a:t>
            </a:r>
            <a:endParaRPr sz="2400">
              <a:latin typeface="黑体"/>
              <a:cs typeface="黑体"/>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212242" y="1005078"/>
            <a:ext cx="321754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C00000"/>
                </a:solidFill>
                <a:latin typeface="Tahoma"/>
                <a:cs typeface="Tahoma"/>
              </a:rPr>
              <a:t>3.</a:t>
            </a:r>
            <a:r>
              <a:rPr dirty="0" sz="2400" spc="25">
                <a:solidFill>
                  <a:srgbClr val="C00000"/>
                </a:solidFill>
                <a:latin typeface="Tahoma"/>
                <a:cs typeface="Tahoma"/>
              </a:rPr>
              <a:t> </a:t>
            </a:r>
            <a:r>
              <a:rPr dirty="0" sz="2400" spc="-20">
                <a:solidFill>
                  <a:srgbClr val="C00000"/>
                </a:solidFill>
                <a:latin typeface="Tahoma"/>
                <a:cs typeface="Tahoma"/>
              </a:rPr>
              <a:t>CRAY-</a:t>
            </a:r>
            <a:r>
              <a:rPr dirty="0" sz="2400" spc="-25">
                <a:solidFill>
                  <a:srgbClr val="C00000"/>
                </a:solidFill>
                <a:latin typeface="Tahoma"/>
                <a:cs typeface="Tahoma"/>
              </a:rPr>
              <a:t>1</a:t>
            </a:r>
            <a:r>
              <a:rPr dirty="0" sz="2400" spc="-10">
                <a:solidFill>
                  <a:srgbClr val="C00000"/>
                </a:solidFill>
                <a:latin typeface="黑体"/>
                <a:cs typeface="黑体"/>
              </a:rPr>
              <a:t>向量指令类型</a:t>
            </a:r>
            <a:endParaRPr sz="2400">
              <a:latin typeface="黑体"/>
              <a:cs typeface="黑体"/>
            </a:endParaRPr>
          </a:p>
        </p:txBody>
      </p:sp>
      <p:graphicFrame>
        <p:nvGraphicFramePr>
          <p:cNvPr id="11" name="object 11" descr=""/>
          <p:cNvGraphicFramePr>
            <a:graphicFrameLocks noGrp="1"/>
          </p:cNvGraphicFramePr>
          <p:nvPr/>
        </p:nvGraphicFramePr>
        <p:xfrm>
          <a:off x="878992" y="1516864"/>
          <a:ext cx="2266950" cy="1097280"/>
        </p:xfrm>
        <a:graphic>
          <a:graphicData uri="http://schemas.openxmlformats.org/drawingml/2006/table">
            <a:tbl>
              <a:tblPr firstRow="1" bandRow="1">
                <a:tableStyleId>{2D5ABB26-0587-4C30-8999-92F81FD0307C}</a:tableStyleId>
              </a:tblPr>
              <a:tblGrid>
                <a:gridCol w="767715"/>
                <a:gridCol w="384175"/>
                <a:gridCol w="729615"/>
                <a:gridCol w="310514"/>
              </a:tblGrid>
              <a:tr h="746760">
                <a:tc>
                  <a:txBody>
                    <a:bodyPr/>
                    <a:lstStyle/>
                    <a:p>
                      <a:pPr marL="488315" indent="-456565">
                        <a:lnSpc>
                          <a:spcPts val="2120"/>
                        </a:lnSpc>
                        <a:buClr>
                          <a:srgbClr val="4668F5"/>
                        </a:buClr>
                        <a:buSzPct val="65000"/>
                        <a:buFont typeface="Wingdings"/>
                        <a:buChar char=""/>
                        <a:tabLst>
                          <a:tab pos="488315" algn="l"/>
                        </a:tabLst>
                      </a:pPr>
                      <a:r>
                        <a:rPr dirty="0" sz="2000" spc="-25" b="1">
                          <a:solidFill>
                            <a:srgbClr val="00AFEF"/>
                          </a:solidFill>
                          <a:latin typeface="宋体"/>
                          <a:cs typeface="宋体"/>
                        </a:rPr>
                        <a:t>V</a:t>
                      </a:r>
                      <a:r>
                        <a:rPr dirty="0" baseline="-21367" sz="1950" spc="-37" b="1">
                          <a:solidFill>
                            <a:srgbClr val="00AFEF"/>
                          </a:solidFill>
                          <a:latin typeface="宋体"/>
                          <a:cs typeface="宋体"/>
                        </a:rPr>
                        <a:t>k</a:t>
                      </a:r>
                      <a:endParaRPr baseline="-21367" sz="1950">
                        <a:latin typeface="宋体"/>
                        <a:cs typeface="宋体"/>
                      </a:endParaRPr>
                    </a:p>
                    <a:p>
                      <a:pPr marL="488315" indent="-456565">
                        <a:lnSpc>
                          <a:spcPct val="100000"/>
                        </a:lnSpc>
                        <a:spcBef>
                          <a:spcPts val="720"/>
                        </a:spcBef>
                        <a:buClr>
                          <a:srgbClr val="4668F5"/>
                        </a:buClr>
                        <a:buSzPct val="65000"/>
                        <a:buFont typeface="Wingdings"/>
                        <a:buChar char=""/>
                        <a:tabLst>
                          <a:tab pos="488315" algn="l"/>
                        </a:tabLst>
                      </a:pPr>
                      <a:r>
                        <a:rPr dirty="0" sz="2000" spc="-25" b="1">
                          <a:solidFill>
                            <a:srgbClr val="00AFEF"/>
                          </a:solidFill>
                          <a:latin typeface="宋体"/>
                          <a:cs typeface="宋体"/>
                        </a:rPr>
                        <a:t>V</a:t>
                      </a:r>
                      <a:r>
                        <a:rPr dirty="0" baseline="-21367" sz="1950" spc="-37" b="1">
                          <a:solidFill>
                            <a:srgbClr val="00AFEF"/>
                          </a:solidFill>
                          <a:latin typeface="宋体"/>
                          <a:cs typeface="宋体"/>
                        </a:rPr>
                        <a:t>k</a:t>
                      </a:r>
                      <a:endParaRPr baseline="-21367" sz="1950">
                        <a:latin typeface="宋体"/>
                        <a:cs typeface="宋体"/>
                      </a:endParaRPr>
                    </a:p>
                  </a:txBody>
                  <a:tcPr marL="0" marR="0" marB="0" marT="0"/>
                </a:tc>
                <a:tc>
                  <a:txBody>
                    <a:bodyPr/>
                    <a:lstStyle/>
                    <a:p>
                      <a:pPr marL="64135">
                        <a:lnSpc>
                          <a:spcPts val="2120"/>
                        </a:lnSpc>
                      </a:pPr>
                      <a:r>
                        <a:rPr dirty="0" sz="2000" spc="-50" b="1">
                          <a:solidFill>
                            <a:srgbClr val="00AFEF"/>
                          </a:solidFill>
                          <a:latin typeface="宋体"/>
                          <a:cs typeface="宋体"/>
                        </a:rPr>
                        <a:t>←</a:t>
                      </a:r>
                      <a:endParaRPr sz="2000">
                        <a:latin typeface="宋体"/>
                        <a:cs typeface="宋体"/>
                      </a:endParaRPr>
                    </a:p>
                    <a:p>
                      <a:pPr marL="64135">
                        <a:lnSpc>
                          <a:spcPct val="100000"/>
                        </a:lnSpc>
                        <a:spcBef>
                          <a:spcPts val="720"/>
                        </a:spcBef>
                      </a:pPr>
                      <a:r>
                        <a:rPr dirty="0" sz="2000" spc="-50" b="1">
                          <a:solidFill>
                            <a:srgbClr val="00AFEF"/>
                          </a:solidFill>
                          <a:latin typeface="宋体"/>
                          <a:cs typeface="宋体"/>
                        </a:rPr>
                        <a:t>←</a:t>
                      </a:r>
                      <a:endParaRPr sz="2000">
                        <a:latin typeface="宋体"/>
                        <a:cs typeface="宋体"/>
                      </a:endParaRPr>
                    </a:p>
                  </a:txBody>
                  <a:tcPr marL="0" marR="0" marB="0" marT="0"/>
                </a:tc>
                <a:tc>
                  <a:txBody>
                    <a:bodyPr/>
                    <a:lstStyle/>
                    <a:p>
                      <a:pPr marL="64769">
                        <a:lnSpc>
                          <a:spcPts val="2120"/>
                        </a:lnSpc>
                        <a:tabLst>
                          <a:tab pos="407670" algn="l"/>
                        </a:tabLst>
                      </a:pPr>
                      <a:r>
                        <a:rPr dirty="0" sz="2000" spc="-25" b="1">
                          <a:solidFill>
                            <a:srgbClr val="00AFEF"/>
                          </a:solidFill>
                          <a:latin typeface="宋体"/>
                          <a:cs typeface="宋体"/>
                        </a:rPr>
                        <a:t>V</a:t>
                      </a:r>
                      <a:r>
                        <a:rPr dirty="0" baseline="-21367" sz="1950" spc="-37" b="1">
                          <a:solidFill>
                            <a:srgbClr val="00AFEF"/>
                          </a:solidFill>
                          <a:latin typeface="宋体"/>
                          <a:cs typeface="宋体"/>
                        </a:rPr>
                        <a:t>i</a:t>
                      </a:r>
                      <a:r>
                        <a:rPr dirty="0" baseline="-21367" sz="1950" b="1">
                          <a:solidFill>
                            <a:srgbClr val="00AFEF"/>
                          </a:solidFill>
                          <a:latin typeface="宋体"/>
                          <a:cs typeface="宋体"/>
                        </a:rPr>
                        <a:t>	</a:t>
                      </a:r>
                      <a:r>
                        <a:rPr dirty="0" sz="2000" spc="-25" b="1">
                          <a:solidFill>
                            <a:srgbClr val="00AFEF"/>
                          </a:solidFill>
                          <a:latin typeface="宋体"/>
                          <a:cs typeface="宋体"/>
                        </a:rPr>
                        <a:t>op</a:t>
                      </a:r>
                      <a:endParaRPr sz="2000">
                        <a:latin typeface="宋体"/>
                        <a:cs typeface="宋体"/>
                      </a:endParaRPr>
                    </a:p>
                    <a:p>
                      <a:pPr marL="64769">
                        <a:lnSpc>
                          <a:spcPct val="100000"/>
                        </a:lnSpc>
                        <a:spcBef>
                          <a:spcPts val="720"/>
                        </a:spcBef>
                        <a:tabLst>
                          <a:tab pos="407670" algn="l"/>
                        </a:tabLst>
                      </a:pPr>
                      <a:r>
                        <a:rPr dirty="0" sz="2000" spc="-25" b="1">
                          <a:solidFill>
                            <a:srgbClr val="00AFEF"/>
                          </a:solidFill>
                          <a:latin typeface="宋体"/>
                          <a:cs typeface="宋体"/>
                        </a:rPr>
                        <a:t>S</a:t>
                      </a:r>
                      <a:r>
                        <a:rPr dirty="0" baseline="-21367" sz="1950" spc="-37" b="1">
                          <a:solidFill>
                            <a:srgbClr val="00AFEF"/>
                          </a:solidFill>
                          <a:latin typeface="宋体"/>
                          <a:cs typeface="宋体"/>
                        </a:rPr>
                        <a:t>i</a:t>
                      </a:r>
                      <a:r>
                        <a:rPr dirty="0" baseline="-21367" sz="1950" b="1">
                          <a:solidFill>
                            <a:srgbClr val="00AFEF"/>
                          </a:solidFill>
                          <a:latin typeface="宋体"/>
                          <a:cs typeface="宋体"/>
                        </a:rPr>
                        <a:t>	</a:t>
                      </a:r>
                      <a:r>
                        <a:rPr dirty="0" sz="2000" spc="-25" b="1">
                          <a:solidFill>
                            <a:srgbClr val="00AFEF"/>
                          </a:solidFill>
                          <a:latin typeface="宋体"/>
                          <a:cs typeface="宋体"/>
                        </a:rPr>
                        <a:t>op</a:t>
                      </a:r>
                      <a:endParaRPr sz="2000">
                        <a:latin typeface="宋体"/>
                        <a:cs typeface="宋体"/>
                      </a:endParaRPr>
                    </a:p>
                  </a:txBody>
                  <a:tcPr marL="0" marR="0" marB="0" marT="0"/>
                </a:tc>
                <a:tc>
                  <a:txBody>
                    <a:bodyPr/>
                    <a:lstStyle/>
                    <a:p>
                      <a:pPr marL="64135">
                        <a:lnSpc>
                          <a:spcPts val="2120"/>
                        </a:lnSpc>
                      </a:pPr>
                      <a:r>
                        <a:rPr dirty="0" sz="2000" spc="-25" b="1">
                          <a:solidFill>
                            <a:srgbClr val="00AFEF"/>
                          </a:solidFill>
                          <a:latin typeface="宋体"/>
                          <a:cs typeface="宋体"/>
                        </a:rPr>
                        <a:t>V</a:t>
                      </a:r>
                      <a:r>
                        <a:rPr dirty="0" baseline="-21367" sz="1950" spc="-37" b="1">
                          <a:solidFill>
                            <a:srgbClr val="00AFEF"/>
                          </a:solidFill>
                          <a:latin typeface="宋体"/>
                          <a:cs typeface="宋体"/>
                        </a:rPr>
                        <a:t>j</a:t>
                      </a:r>
                      <a:endParaRPr baseline="-21367" sz="1950">
                        <a:latin typeface="宋体"/>
                        <a:cs typeface="宋体"/>
                      </a:endParaRPr>
                    </a:p>
                    <a:p>
                      <a:pPr marL="64135">
                        <a:lnSpc>
                          <a:spcPct val="100000"/>
                        </a:lnSpc>
                        <a:spcBef>
                          <a:spcPts val="720"/>
                        </a:spcBef>
                      </a:pPr>
                      <a:r>
                        <a:rPr dirty="0" sz="2000" spc="-25" b="1">
                          <a:solidFill>
                            <a:srgbClr val="00AFEF"/>
                          </a:solidFill>
                          <a:latin typeface="宋体"/>
                          <a:cs typeface="宋体"/>
                        </a:rPr>
                        <a:t>V</a:t>
                      </a:r>
                      <a:r>
                        <a:rPr dirty="0" baseline="-21367" sz="1950" spc="-37" b="1">
                          <a:solidFill>
                            <a:srgbClr val="00AFEF"/>
                          </a:solidFill>
                          <a:latin typeface="宋体"/>
                          <a:cs typeface="宋体"/>
                        </a:rPr>
                        <a:t>j</a:t>
                      </a:r>
                      <a:endParaRPr baseline="-21367" sz="1950">
                        <a:latin typeface="宋体"/>
                        <a:cs typeface="宋体"/>
                      </a:endParaRPr>
                    </a:p>
                  </a:txBody>
                  <a:tcPr marL="0" marR="0" marB="0" marT="0"/>
                </a:tc>
              </a:tr>
              <a:tr h="350520">
                <a:tc>
                  <a:txBody>
                    <a:bodyPr/>
                    <a:lstStyle/>
                    <a:p>
                      <a:pPr marL="488315" indent="-456565">
                        <a:lnSpc>
                          <a:spcPct val="100000"/>
                        </a:lnSpc>
                        <a:spcBef>
                          <a:spcPts val="80"/>
                        </a:spcBef>
                        <a:buClr>
                          <a:srgbClr val="4668F5"/>
                        </a:buClr>
                        <a:buSzPct val="65000"/>
                        <a:buFont typeface="Wingdings"/>
                        <a:buChar char=""/>
                        <a:tabLst>
                          <a:tab pos="488315" algn="l"/>
                        </a:tabLst>
                      </a:pPr>
                      <a:r>
                        <a:rPr dirty="0" sz="2000" spc="-25" b="1">
                          <a:solidFill>
                            <a:srgbClr val="00AFEF"/>
                          </a:solidFill>
                          <a:latin typeface="宋体"/>
                          <a:cs typeface="宋体"/>
                        </a:rPr>
                        <a:t>V</a:t>
                      </a:r>
                      <a:r>
                        <a:rPr dirty="0" baseline="-21367" sz="1950" spc="-37" b="1">
                          <a:solidFill>
                            <a:srgbClr val="00AFEF"/>
                          </a:solidFill>
                          <a:latin typeface="宋体"/>
                          <a:cs typeface="宋体"/>
                        </a:rPr>
                        <a:t>k</a:t>
                      </a:r>
                      <a:endParaRPr baseline="-21367" sz="1950">
                        <a:latin typeface="宋体"/>
                        <a:cs typeface="宋体"/>
                      </a:endParaRPr>
                    </a:p>
                  </a:txBody>
                  <a:tcPr marL="0" marR="0" marB="0" marT="10160"/>
                </a:tc>
                <a:tc>
                  <a:txBody>
                    <a:bodyPr/>
                    <a:lstStyle/>
                    <a:p>
                      <a:pPr marL="64135">
                        <a:lnSpc>
                          <a:spcPct val="100000"/>
                        </a:lnSpc>
                        <a:spcBef>
                          <a:spcPts val="80"/>
                        </a:spcBef>
                      </a:pPr>
                      <a:r>
                        <a:rPr dirty="0" sz="2000" spc="-50" b="1">
                          <a:solidFill>
                            <a:srgbClr val="00AFEF"/>
                          </a:solidFill>
                          <a:latin typeface="宋体"/>
                          <a:cs typeface="宋体"/>
                        </a:rPr>
                        <a:t>←</a:t>
                      </a:r>
                      <a:endParaRPr sz="2000">
                        <a:latin typeface="宋体"/>
                        <a:cs typeface="宋体"/>
                      </a:endParaRPr>
                    </a:p>
                  </a:txBody>
                  <a:tcPr marL="0" marR="0" marB="0" marT="10160"/>
                </a:tc>
                <a:tc>
                  <a:txBody>
                    <a:bodyPr/>
                    <a:lstStyle/>
                    <a:p>
                      <a:pPr marL="64769">
                        <a:lnSpc>
                          <a:spcPct val="100000"/>
                        </a:lnSpc>
                        <a:spcBef>
                          <a:spcPts val="80"/>
                        </a:spcBef>
                      </a:pPr>
                      <a:r>
                        <a:rPr dirty="0" sz="2000" spc="-30" b="1">
                          <a:solidFill>
                            <a:srgbClr val="00AFEF"/>
                          </a:solidFill>
                          <a:latin typeface="宋体"/>
                          <a:cs typeface="宋体"/>
                        </a:rPr>
                        <a:t>主存</a:t>
                      </a:r>
                      <a:endParaRPr sz="2000">
                        <a:latin typeface="宋体"/>
                        <a:cs typeface="宋体"/>
                      </a:endParaRPr>
                    </a:p>
                  </a:txBody>
                  <a:tcPr marL="0" marR="0" marB="0" marT="10160"/>
                </a:tc>
                <a:tc>
                  <a:txBody>
                    <a:bodyPr/>
                    <a:lstStyle/>
                    <a:p>
                      <a:pPr>
                        <a:lnSpc>
                          <a:spcPct val="100000"/>
                        </a:lnSpc>
                      </a:pPr>
                      <a:endParaRPr sz="1800">
                        <a:latin typeface="Times New Roman"/>
                        <a:cs typeface="Times New Roman"/>
                      </a:endParaRPr>
                    </a:p>
                  </a:txBody>
                  <a:tcPr marL="0" marR="0" marB="0" marT="0"/>
                </a:tc>
              </a:tr>
            </a:tbl>
          </a:graphicData>
        </a:graphic>
      </p:graphicFrame>
      <p:sp>
        <p:nvSpPr>
          <p:cNvPr id="12" name="object 12" descr=""/>
          <p:cNvSpPr txBox="1"/>
          <p:nvPr/>
        </p:nvSpPr>
        <p:spPr>
          <a:xfrm>
            <a:off x="872642" y="2657348"/>
            <a:ext cx="1772285" cy="330835"/>
          </a:xfrm>
          <a:prstGeom prst="rect">
            <a:avLst/>
          </a:prstGeom>
        </p:spPr>
        <p:txBody>
          <a:bodyPr wrap="square" lIns="0" tIns="13335" rIns="0" bIns="0" rtlCol="0" vert="horz">
            <a:spAutoFit/>
          </a:bodyPr>
          <a:lstStyle/>
          <a:p>
            <a:pPr marL="494665" indent="-456565">
              <a:lnSpc>
                <a:spcPct val="100000"/>
              </a:lnSpc>
              <a:spcBef>
                <a:spcPts val="105"/>
              </a:spcBef>
              <a:buClr>
                <a:srgbClr val="4668F5"/>
              </a:buClr>
              <a:buSzPct val="65000"/>
              <a:buFont typeface="Wingdings"/>
              <a:buChar char=""/>
              <a:tabLst>
                <a:tab pos="494665" algn="l"/>
              </a:tabLst>
            </a:pPr>
            <a:r>
              <a:rPr dirty="0" sz="2000" spc="-10" b="1">
                <a:solidFill>
                  <a:srgbClr val="00AFEF"/>
                </a:solidFill>
                <a:latin typeface="宋体"/>
                <a:cs typeface="宋体"/>
              </a:rPr>
              <a:t>主存 ← </a:t>
            </a:r>
            <a:r>
              <a:rPr dirty="0" sz="2000" spc="-25" b="1">
                <a:solidFill>
                  <a:srgbClr val="00AFEF"/>
                </a:solidFill>
                <a:latin typeface="宋体"/>
                <a:cs typeface="宋体"/>
              </a:rPr>
              <a:t>V</a:t>
            </a:r>
            <a:r>
              <a:rPr dirty="0" baseline="-21367" sz="1950" spc="-37" b="1">
                <a:solidFill>
                  <a:srgbClr val="00AFEF"/>
                </a:solidFill>
                <a:latin typeface="宋体"/>
                <a:cs typeface="宋体"/>
              </a:rPr>
              <a:t>i</a:t>
            </a:r>
            <a:endParaRPr baseline="-21367" sz="1950">
              <a:latin typeface="宋体"/>
              <a:cs typeface="宋体"/>
            </a:endParaRPr>
          </a:p>
        </p:txBody>
      </p:sp>
      <p:sp>
        <p:nvSpPr>
          <p:cNvPr id="13" name="object 13" descr=""/>
          <p:cNvSpPr txBox="1"/>
          <p:nvPr/>
        </p:nvSpPr>
        <p:spPr>
          <a:xfrm>
            <a:off x="3714750" y="667892"/>
            <a:ext cx="3379470" cy="391160"/>
          </a:xfrm>
          <a:prstGeom prst="rect">
            <a:avLst/>
          </a:prstGeom>
        </p:spPr>
        <p:txBody>
          <a:bodyPr wrap="square" lIns="0" tIns="12700" rIns="0" bIns="0" rtlCol="0" vert="horz">
            <a:spAutoFit/>
          </a:bodyPr>
          <a:lstStyle/>
          <a:p>
            <a:pPr marL="12700">
              <a:lnSpc>
                <a:spcPct val="100000"/>
              </a:lnSpc>
              <a:spcBef>
                <a:spcPts val="100"/>
              </a:spcBef>
              <a:tabLst>
                <a:tab pos="2298700" algn="l"/>
              </a:tabLst>
            </a:pPr>
            <a:r>
              <a:rPr dirty="0" sz="2400">
                <a:solidFill>
                  <a:srgbClr val="FF09FF"/>
                </a:solidFill>
                <a:latin typeface="宋体"/>
                <a:cs typeface="宋体"/>
              </a:rPr>
              <a:t>V:</a:t>
            </a:r>
            <a:r>
              <a:rPr dirty="0" sz="2400">
                <a:solidFill>
                  <a:srgbClr val="FF09FF"/>
                </a:solidFill>
                <a:latin typeface="黑体"/>
                <a:cs typeface="黑体"/>
              </a:rPr>
              <a:t>向量寄存</a:t>
            </a:r>
            <a:r>
              <a:rPr dirty="0" sz="2400" spc="-50">
                <a:solidFill>
                  <a:srgbClr val="FF09FF"/>
                </a:solidFill>
                <a:latin typeface="黑体"/>
                <a:cs typeface="黑体"/>
              </a:rPr>
              <a:t>器</a:t>
            </a:r>
            <a:r>
              <a:rPr dirty="0" sz="2400">
                <a:solidFill>
                  <a:srgbClr val="FF09FF"/>
                </a:solidFill>
                <a:latin typeface="黑体"/>
                <a:cs typeface="黑体"/>
              </a:rPr>
              <a:t>	</a:t>
            </a:r>
            <a:r>
              <a:rPr dirty="0" sz="2400">
                <a:solidFill>
                  <a:srgbClr val="FF09FF"/>
                </a:solidFill>
                <a:latin typeface="宋体"/>
                <a:cs typeface="宋体"/>
              </a:rPr>
              <a:t>S</a:t>
            </a:r>
            <a:r>
              <a:rPr dirty="0" sz="2400">
                <a:solidFill>
                  <a:srgbClr val="FF09FF"/>
                </a:solidFill>
                <a:latin typeface="黑体"/>
                <a:cs typeface="黑体"/>
              </a:rPr>
              <a:t>：标</a:t>
            </a:r>
            <a:r>
              <a:rPr dirty="0" sz="2400" spc="-50">
                <a:solidFill>
                  <a:srgbClr val="FF09FF"/>
                </a:solidFill>
                <a:latin typeface="黑体"/>
                <a:cs typeface="黑体"/>
              </a:rPr>
              <a:t>量</a:t>
            </a:r>
            <a:endParaRPr sz="2400">
              <a:latin typeface="黑体"/>
              <a:cs typeface="黑体"/>
            </a:endParaRPr>
          </a:p>
        </p:txBody>
      </p:sp>
      <p:sp>
        <p:nvSpPr>
          <p:cNvPr id="14" name="object 14" descr=""/>
          <p:cNvSpPr txBox="1"/>
          <p:nvPr/>
        </p:nvSpPr>
        <p:spPr>
          <a:xfrm>
            <a:off x="3714750" y="1024509"/>
            <a:ext cx="47504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9FF"/>
                </a:solidFill>
                <a:latin typeface="黑体"/>
                <a:cs typeface="黑体"/>
              </a:rPr>
              <a:t>共包括</a:t>
            </a:r>
            <a:r>
              <a:rPr dirty="0" sz="2400">
                <a:solidFill>
                  <a:srgbClr val="FF09FF"/>
                </a:solidFill>
                <a:latin typeface="宋体"/>
                <a:cs typeface="宋体"/>
              </a:rPr>
              <a:t>128</a:t>
            </a:r>
            <a:r>
              <a:rPr dirty="0" sz="2400" spc="-5">
                <a:solidFill>
                  <a:srgbClr val="FF09FF"/>
                </a:solidFill>
                <a:latin typeface="黑体"/>
                <a:cs typeface="黑体"/>
              </a:rPr>
              <a:t>条标量类和向量类指令。</a:t>
            </a:r>
            <a:endParaRPr sz="2400">
              <a:latin typeface="黑体"/>
              <a:cs typeface="黑体"/>
            </a:endParaRPr>
          </a:p>
        </p:txBody>
      </p:sp>
      <p:pic>
        <p:nvPicPr>
          <p:cNvPr id="15" name="object 15"/>
          <p:cNvPicPr/>
          <p:nvPr/>
        </p:nvPicPr>
        <p:blipFill>
          <a:blip r:embed="rId2" cstate="print"/>
          <a:stretch>
            <a:fillRect/>
          </a:stretch>
        </p:blipFill>
        <p:spPr>
          <a:xfrm>
            <a:off x="693737" y="3068637"/>
            <a:ext cx="7467600" cy="3009900"/>
          </a:xfrm>
          <a:prstGeom prst="rect">
            <a:avLst/>
          </a:prstGeom>
        </p:spPr>
      </p:pic>
      <p:sp>
        <p:nvSpPr>
          <p:cNvPr id="16" name="object 16" descr=""/>
          <p:cNvSpPr txBox="1"/>
          <p:nvPr/>
        </p:nvSpPr>
        <p:spPr>
          <a:xfrm>
            <a:off x="2687447" y="5833364"/>
            <a:ext cx="1562735" cy="661670"/>
          </a:xfrm>
          <a:prstGeom prst="rect">
            <a:avLst/>
          </a:prstGeom>
        </p:spPr>
        <p:txBody>
          <a:bodyPr wrap="square" lIns="0" tIns="15240" rIns="0" bIns="0" rtlCol="0" vert="horz">
            <a:spAutoFit/>
          </a:bodyPr>
          <a:lstStyle/>
          <a:p>
            <a:pPr marL="38100" marR="30480">
              <a:lnSpc>
                <a:spcPct val="98900"/>
              </a:lnSpc>
              <a:spcBef>
                <a:spcPts val="120"/>
              </a:spcBef>
            </a:pPr>
            <a:r>
              <a:rPr dirty="0" sz="1400">
                <a:solidFill>
                  <a:srgbClr val="FF0000"/>
                </a:solidFill>
                <a:latin typeface="宋体"/>
                <a:cs typeface="宋体"/>
              </a:rPr>
              <a:t>S</a:t>
            </a:r>
            <a:r>
              <a:rPr dirty="0" sz="1400">
                <a:solidFill>
                  <a:srgbClr val="FF0000"/>
                </a:solidFill>
                <a:latin typeface="黑体"/>
                <a:cs typeface="黑体"/>
              </a:rPr>
              <a:t>：标量和</a:t>
            </a:r>
            <a:r>
              <a:rPr dirty="0" sz="1400">
                <a:solidFill>
                  <a:srgbClr val="FF0000"/>
                </a:solidFill>
                <a:latin typeface="宋体"/>
                <a:cs typeface="宋体"/>
              </a:rPr>
              <a:t>V</a:t>
            </a:r>
            <a:r>
              <a:rPr dirty="0" baseline="-21604" sz="1350">
                <a:solidFill>
                  <a:srgbClr val="FF0000"/>
                </a:solidFill>
                <a:latin typeface="宋体"/>
                <a:cs typeface="宋体"/>
              </a:rPr>
              <a:t>k</a:t>
            </a:r>
            <a:r>
              <a:rPr dirty="0" sz="1400" spc="-25">
                <a:solidFill>
                  <a:srgbClr val="FF0000"/>
                </a:solidFill>
                <a:latin typeface="黑体"/>
                <a:cs typeface="黑体"/>
              </a:rPr>
              <a:t>向量中</a:t>
            </a:r>
            <a:r>
              <a:rPr dirty="0" sz="1400" spc="-15">
                <a:solidFill>
                  <a:srgbClr val="FF0000"/>
                </a:solidFill>
                <a:latin typeface="黑体"/>
                <a:cs typeface="黑体"/>
              </a:rPr>
              <a:t>的每一个元素计算</a:t>
            </a:r>
            <a:r>
              <a:rPr dirty="0" sz="1400">
                <a:solidFill>
                  <a:srgbClr val="FF0000"/>
                </a:solidFill>
                <a:latin typeface="黑体"/>
                <a:cs typeface="黑体"/>
              </a:rPr>
              <a:t>例如 向量</a:t>
            </a:r>
            <a:r>
              <a:rPr dirty="0" sz="1400" spc="-25">
                <a:solidFill>
                  <a:srgbClr val="FF0000"/>
                </a:solidFill>
                <a:latin typeface="宋体"/>
                <a:cs typeface="宋体"/>
              </a:rPr>
              <a:t>B+2</a:t>
            </a:r>
            <a:endParaRPr sz="1400">
              <a:latin typeface="宋体"/>
              <a:cs typeface="宋体"/>
            </a:endParaRPr>
          </a:p>
        </p:txBody>
      </p:sp>
      <p:sp>
        <p:nvSpPr>
          <p:cNvPr id="17" name="object 17" descr=""/>
          <p:cNvSpPr txBox="1"/>
          <p:nvPr/>
        </p:nvSpPr>
        <p:spPr>
          <a:xfrm>
            <a:off x="4626228" y="5874207"/>
            <a:ext cx="1652270" cy="662305"/>
          </a:xfrm>
          <a:prstGeom prst="rect">
            <a:avLst/>
          </a:prstGeom>
        </p:spPr>
        <p:txBody>
          <a:bodyPr wrap="square" lIns="0" tIns="15240" rIns="0" bIns="0" rtlCol="0" vert="horz">
            <a:spAutoFit/>
          </a:bodyPr>
          <a:lstStyle/>
          <a:p>
            <a:pPr marL="38100" marR="30480">
              <a:lnSpc>
                <a:spcPct val="99000"/>
              </a:lnSpc>
              <a:spcBef>
                <a:spcPts val="120"/>
              </a:spcBef>
            </a:pPr>
            <a:r>
              <a:rPr dirty="0" sz="1400" spc="-20">
                <a:solidFill>
                  <a:srgbClr val="FF0000"/>
                </a:solidFill>
                <a:latin typeface="黑体"/>
                <a:cs typeface="黑体"/>
              </a:rPr>
              <a:t>从主存中读取向量</a:t>
            </a:r>
            <a:r>
              <a:rPr dirty="0" sz="1400">
                <a:solidFill>
                  <a:srgbClr val="FF0000"/>
                </a:solidFill>
                <a:latin typeface="黑体"/>
                <a:cs typeface="黑体"/>
              </a:rPr>
              <a:t>送入</a:t>
            </a:r>
            <a:r>
              <a:rPr dirty="0" sz="1400">
                <a:solidFill>
                  <a:srgbClr val="FF0000"/>
                </a:solidFill>
                <a:latin typeface="宋体"/>
                <a:cs typeface="宋体"/>
              </a:rPr>
              <a:t>V</a:t>
            </a:r>
            <a:r>
              <a:rPr dirty="0" baseline="-21604" sz="1350">
                <a:solidFill>
                  <a:srgbClr val="FF0000"/>
                </a:solidFill>
                <a:latin typeface="宋体"/>
                <a:cs typeface="宋体"/>
              </a:rPr>
              <a:t>k</a:t>
            </a:r>
            <a:r>
              <a:rPr dirty="0" sz="1400" spc="-15">
                <a:solidFill>
                  <a:srgbClr val="FF0000"/>
                </a:solidFill>
                <a:latin typeface="黑体"/>
                <a:cs typeface="黑体"/>
              </a:rPr>
              <a:t>向量，例如相</a:t>
            </a:r>
            <a:r>
              <a:rPr dirty="0" sz="1400">
                <a:solidFill>
                  <a:srgbClr val="FF0000"/>
                </a:solidFill>
                <a:latin typeface="黑体"/>
                <a:cs typeface="黑体"/>
              </a:rPr>
              <a:t>当于</a:t>
            </a:r>
            <a:r>
              <a:rPr dirty="0" sz="1400" spc="-10">
                <a:solidFill>
                  <a:srgbClr val="FF0000"/>
                </a:solidFill>
                <a:latin typeface="宋体"/>
                <a:cs typeface="宋体"/>
              </a:rPr>
              <a:t>load</a:t>
            </a:r>
            <a:r>
              <a:rPr dirty="0" sz="1400" spc="-25">
                <a:solidFill>
                  <a:srgbClr val="FF0000"/>
                </a:solidFill>
                <a:latin typeface="黑体"/>
                <a:cs typeface="黑体"/>
              </a:rPr>
              <a:t>指令</a:t>
            </a:r>
            <a:endParaRPr sz="1400">
              <a:latin typeface="黑体"/>
              <a:cs typeface="黑体"/>
            </a:endParaRPr>
          </a:p>
        </p:txBody>
      </p:sp>
      <p:sp>
        <p:nvSpPr>
          <p:cNvPr id="18" name="object 18" descr=""/>
          <p:cNvSpPr txBox="1"/>
          <p:nvPr/>
        </p:nvSpPr>
        <p:spPr>
          <a:xfrm>
            <a:off x="6742430" y="5874207"/>
            <a:ext cx="1654810" cy="662305"/>
          </a:xfrm>
          <a:prstGeom prst="rect">
            <a:avLst/>
          </a:prstGeom>
        </p:spPr>
        <p:txBody>
          <a:bodyPr wrap="square" lIns="0" tIns="15240" rIns="0" bIns="0" rtlCol="0" vert="horz">
            <a:spAutoFit/>
          </a:bodyPr>
          <a:lstStyle/>
          <a:p>
            <a:pPr marL="38100" marR="30480">
              <a:lnSpc>
                <a:spcPct val="99000"/>
              </a:lnSpc>
              <a:spcBef>
                <a:spcPts val="120"/>
              </a:spcBef>
            </a:pPr>
            <a:r>
              <a:rPr dirty="0" sz="1400">
                <a:solidFill>
                  <a:srgbClr val="FF0000"/>
                </a:solidFill>
                <a:latin typeface="宋体"/>
                <a:cs typeface="宋体"/>
              </a:rPr>
              <a:t>V</a:t>
            </a:r>
            <a:r>
              <a:rPr dirty="0" baseline="-21604" sz="1350">
                <a:solidFill>
                  <a:srgbClr val="FF0000"/>
                </a:solidFill>
                <a:latin typeface="宋体"/>
                <a:cs typeface="宋体"/>
              </a:rPr>
              <a:t>k</a:t>
            </a:r>
            <a:r>
              <a:rPr dirty="0" sz="1400" spc="-15">
                <a:solidFill>
                  <a:srgbClr val="FF0000"/>
                </a:solidFill>
                <a:latin typeface="黑体"/>
                <a:cs typeface="黑体"/>
              </a:rPr>
              <a:t>向量送入主存，例如流水线中相当于</a:t>
            </a:r>
            <a:r>
              <a:rPr dirty="0" sz="1400">
                <a:solidFill>
                  <a:srgbClr val="FF0000"/>
                </a:solidFill>
                <a:latin typeface="黑体"/>
                <a:cs typeface="黑体"/>
              </a:rPr>
              <a:t>的</a:t>
            </a:r>
            <a:r>
              <a:rPr dirty="0" sz="1400" spc="-10">
                <a:solidFill>
                  <a:srgbClr val="FF0000"/>
                </a:solidFill>
                <a:latin typeface="宋体"/>
                <a:cs typeface="宋体"/>
              </a:rPr>
              <a:t>stroke</a:t>
            </a:r>
            <a:r>
              <a:rPr dirty="0" sz="1400" spc="-25">
                <a:solidFill>
                  <a:srgbClr val="FF0000"/>
                </a:solidFill>
                <a:latin typeface="黑体"/>
                <a:cs typeface="黑体"/>
              </a:rPr>
              <a:t>指令</a:t>
            </a:r>
            <a:endParaRPr sz="1400">
              <a:latin typeface="黑体"/>
              <a:cs typeface="黑体"/>
            </a:endParaRPr>
          </a:p>
        </p:txBody>
      </p:sp>
      <p:sp>
        <p:nvSpPr>
          <p:cNvPr id="19" name="object 19" descr=""/>
          <p:cNvSpPr txBox="1"/>
          <p:nvPr/>
        </p:nvSpPr>
        <p:spPr>
          <a:xfrm>
            <a:off x="3355975" y="1184122"/>
            <a:ext cx="1892300" cy="968375"/>
          </a:xfrm>
          <a:prstGeom prst="rect">
            <a:avLst/>
          </a:prstGeom>
        </p:spPr>
        <p:txBody>
          <a:bodyPr wrap="square" lIns="0" tIns="179070" rIns="0" bIns="0" rtlCol="0" vert="horz">
            <a:spAutoFit/>
          </a:bodyPr>
          <a:lstStyle/>
          <a:p>
            <a:pPr marL="100330" indent="-97155">
              <a:lnSpc>
                <a:spcPct val="100000"/>
              </a:lnSpc>
              <a:spcBef>
                <a:spcPts val="1410"/>
              </a:spcBef>
              <a:buSzPct val="95000"/>
              <a:buFont typeface="Arial"/>
              <a:buChar char="•"/>
              <a:tabLst>
                <a:tab pos="100330" algn="l"/>
              </a:tabLst>
            </a:pPr>
            <a:r>
              <a:rPr dirty="0" sz="2000" spc="-20">
                <a:solidFill>
                  <a:srgbClr val="40458B"/>
                </a:solidFill>
                <a:latin typeface="黑体"/>
                <a:cs typeface="黑体"/>
              </a:rPr>
              <a:t>向量和向量计算</a:t>
            </a:r>
            <a:endParaRPr sz="2000">
              <a:latin typeface="黑体"/>
              <a:cs typeface="黑体"/>
            </a:endParaRPr>
          </a:p>
          <a:p>
            <a:pPr marL="100330" indent="-97155">
              <a:lnSpc>
                <a:spcPct val="100000"/>
              </a:lnSpc>
              <a:spcBef>
                <a:spcPts val="1310"/>
              </a:spcBef>
              <a:buSzPct val="95000"/>
              <a:buFont typeface="Arial"/>
              <a:buChar char="•"/>
              <a:tabLst>
                <a:tab pos="100330" algn="l"/>
              </a:tabLst>
            </a:pPr>
            <a:r>
              <a:rPr dirty="0" sz="2000" spc="-20">
                <a:solidFill>
                  <a:srgbClr val="40458B"/>
                </a:solidFill>
                <a:latin typeface="黑体"/>
                <a:cs typeface="黑体"/>
              </a:rPr>
              <a:t>向量和标量计算</a:t>
            </a:r>
            <a:endParaRPr sz="2000">
              <a:latin typeface="黑体"/>
              <a:cs typeface="黑体"/>
            </a:endParaRPr>
          </a:p>
        </p:txBody>
      </p:sp>
      <p:sp>
        <p:nvSpPr>
          <p:cNvPr id="20" name="object 20" descr=""/>
          <p:cNvSpPr txBox="1"/>
          <p:nvPr/>
        </p:nvSpPr>
        <p:spPr>
          <a:xfrm>
            <a:off x="3355975" y="2126716"/>
            <a:ext cx="5570855" cy="964565"/>
          </a:xfrm>
          <a:prstGeom prst="rect">
            <a:avLst/>
          </a:prstGeom>
        </p:spPr>
        <p:txBody>
          <a:bodyPr wrap="square" lIns="0" tIns="177165" rIns="0" bIns="0" rtlCol="0" vert="horz">
            <a:spAutoFit/>
          </a:bodyPr>
          <a:lstStyle/>
          <a:p>
            <a:pPr marL="100330" indent="-97155">
              <a:lnSpc>
                <a:spcPct val="100000"/>
              </a:lnSpc>
              <a:spcBef>
                <a:spcPts val="1395"/>
              </a:spcBef>
              <a:buSzPct val="95000"/>
              <a:buFont typeface="Arial"/>
              <a:buChar char="•"/>
              <a:tabLst>
                <a:tab pos="100330" algn="l"/>
              </a:tabLst>
            </a:pPr>
            <a:r>
              <a:rPr dirty="0" sz="2000" spc="-15">
                <a:solidFill>
                  <a:srgbClr val="40458B"/>
                </a:solidFill>
                <a:latin typeface="黑体"/>
                <a:cs typeface="黑体"/>
              </a:rPr>
              <a:t>从主存里面取数据放入向量寄存器</a:t>
            </a:r>
            <a:r>
              <a:rPr dirty="0" sz="2000">
                <a:solidFill>
                  <a:srgbClr val="40458B"/>
                </a:solidFill>
                <a:latin typeface="黑体"/>
                <a:cs typeface="黑体"/>
              </a:rPr>
              <a:t>（</a:t>
            </a:r>
            <a:r>
              <a:rPr dirty="0" sz="2000" spc="204">
                <a:solidFill>
                  <a:srgbClr val="40458B"/>
                </a:solidFill>
                <a:latin typeface="黑体"/>
                <a:cs typeface="黑体"/>
              </a:rPr>
              <a:t>访存</a:t>
            </a:r>
            <a:r>
              <a:rPr dirty="0" sz="2000" spc="-10">
                <a:solidFill>
                  <a:srgbClr val="40458B"/>
                </a:solidFill>
                <a:latin typeface="Calibri"/>
                <a:cs typeface="Calibri"/>
              </a:rPr>
              <a:t>LOAD</a:t>
            </a:r>
            <a:r>
              <a:rPr dirty="0" sz="2000" spc="-10">
                <a:solidFill>
                  <a:srgbClr val="40458B"/>
                </a:solidFill>
                <a:latin typeface="黑体"/>
                <a:cs typeface="黑体"/>
              </a:rPr>
              <a:t>）</a:t>
            </a:r>
            <a:endParaRPr sz="2000">
              <a:latin typeface="黑体"/>
              <a:cs typeface="黑体"/>
            </a:endParaRPr>
          </a:p>
          <a:p>
            <a:pPr marL="100330" indent="-97155">
              <a:lnSpc>
                <a:spcPct val="100000"/>
              </a:lnSpc>
              <a:spcBef>
                <a:spcPts val="1295"/>
              </a:spcBef>
              <a:buSzPct val="95000"/>
              <a:buFont typeface="Arial"/>
              <a:buChar char="•"/>
              <a:tabLst>
                <a:tab pos="100330" algn="l"/>
              </a:tabLst>
            </a:pPr>
            <a:r>
              <a:rPr dirty="0" sz="2000" spc="30">
                <a:solidFill>
                  <a:srgbClr val="40458B"/>
                </a:solidFill>
                <a:latin typeface="黑体"/>
                <a:cs typeface="黑体"/>
              </a:rPr>
              <a:t>从向量寄存器写入主存</a:t>
            </a:r>
            <a:r>
              <a:rPr dirty="0" sz="2000" spc="-10">
                <a:solidFill>
                  <a:srgbClr val="40458B"/>
                </a:solidFill>
                <a:latin typeface="黑体"/>
                <a:cs typeface="黑体"/>
              </a:rPr>
              <a:t>（</a:t>
            </a:r>
            <a:r>
              <a:rPr dirty="0" sz="2000" spc="-10">
                <a:solidFill>
                  <a:srgbClr val="40458B"/>
                </a:solidFill>
                <a:latin typeface="Calibri"/>
                <a:cs typeface="Calibri"/>
              </a:rPr>
              <a:t>STORE</a:t>
            </a:r>
            <a:r>
              <a:rPr dirty="0" sz="2000" spc="-10">
                <a:solidFill>
                  <a:srgbClr val="40458B"/>
                </a:solidFill>
                <a:latin typeface="黑体"/>
                <a:cs typeface="黑体"/>
              </a:rPr>
              <a:t>）</a:t>
            </a:r>
            <a:endParaRPr sz="2000">
              <a:latin typeface="黑体"/>
              <a:cs typeface="黑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4090670" cy="514350"/>
          </a:xfrm>
          <a:prstGeom prst="rect"/>
        </p:spPr>
        <p:txBody>
          <a:bodyPr wrap="square" lIns="0" tIns="13335" rIns="0" bIns="0" rtlCol="0" vert="horz">
            <a:spAutoFit/>
          </a:bodyPr>
          <a:lstStyle/>
          <a:p>
            <a:pPr marL="12700">
              <a:lnSpc>
                <a:spcPct val="100000"/>
              </a:lnSpc>
              <a:spcBef>
                <a:spcPts val="105"/>
              </a:spcBef>
            </a:pPr>
            <a:r>
              <a:rPr dirty="0"/>
              <a:t>4.2</a:t>
            </a:r>
            <a:r>
              <a:rPr dirty="0" spc="-25"/>
              <a:t> 向量处理机的结构</a:t>
            </a:r>
          </a:p>
        </p:txBody>
      </p:sp>
      <p:sp>
        <p:nvSpPr>
          <p:cNvPr id="10" name="object 10" descr=""/>
          <p:cNvSpPr txBox="1"/>
          <p:nvPr/>
        </p:nvSpPr>
        <p:spPr>
          <a:xfrm>
            <a:off x="2003805" y="2855468"/>
            <a:ext cx="1097915" cy="330835"/>
          </a:xfrm>
          <a:prstGeom prst="rect">
            <a:avLst/>
          </a:prstGeom>
        </p:spPr>
        <p:txBody>
          <a:bodyPr wrap="square" lIns="0" tIns="13335" rIns="0" bIns="0" rtlCol="0" vert="horz">
            <a:spAutoFit/>
          </a:bodyPr>
          <a:lstStyle/>
          <a:p>
            <a:pPr marL="12700">
              <a:lnSpc>
                <a:spcPct val="100000"/>
              </a:lnSpc>
              <a:spcBef>
                <a:spcPts val="105"/>
              </a:spcBef>
            </a:pPr>
            <a:r>
              <a:rPr dirty="0" sz="2000" spc="-20" b="1">
                <a:solidFill>
                  <a:srgbClr val="40458B"/>
                </a:solidFill>
                <a:latin typeface="宋体"/>
                <a:cs typeface="宋体"/>
              </a:rPr>
              <a:t>V</a:t>
            </a:r>
            <a:r>
              <a:rPr dirty="0" sz="2000" spc="-310" b="1">
                <a:solidFill>
                  <a:srgbClr val="40458B"/>
                </a:solidFill>
                <a:latin typeface="宋体"/>
                <a:cs typeface="宋体"/>
              </a:rPr>
              <a:t> </a:t>
            </a:r>
            <a:r>
              <a:rPr dirty="0" sz="2000" spc="-15" b="1">
                <a:solidFill>
                  <a:srgbClr val="40458B"/>
                </a:solidFill>
                <a:latin typeface="宋体"/>
                <a:cs typeface="宋体"/>
              </a:rPr>
              <a:t>←</a:t>
            </a:r>
            <a:r>
              <a:rPr dirty="0" sz="2000" spc="-15" b="1">
                <a:solidFill>
                  <a:srgbClr val="FF33CC"/>
                </a:solidFill>
                <a:latin typeface="宋体"/>
                <a:cs typeface="宋体"/>
              </a:rPr>
              <a:t>V</a:t>
            </a:r>
            <a:r>
              <a:rPr dirty="0" sz="2000" spc="-310" b="1">
                <a:solidFill>
                  <a:srgbClr val="FF33CC"/>
                </a:solidFill>
                <a:latin typeface="宋体"/>
                <a:cs typeface="宋体"/>
              </a:rPr>
              <a:t> </a:t>
            </a:r>
            <a:r>
              <a:rPr dirty="0" sz="2000" spc="-25" b="1">
                <a:solidFill>
                  <a:srgbClr val="40458B"/>
                </a:solidFill>
                <a:latin typeface="宋体"/>
                <a:cs typeface="宋体"/>
              </a:rPr>
              <a:t>＋V</a:t>
            </a:r>
            <a:endParaRPr sz="2000">
              <a:latin typeface="宋体"/>
              <a:cs typeface="宋体"/>
            </a:endParaRPr>
          </a:p>
        </p:txBody>
      </p:sp>
      <p:sp>
        <p:nvSpPr>
          <p:cNvPr id="11" name="object 11" descr=""/>
          <p:cNvSpPr txBox="1"/>
          <p:nvPr/>
        </p:nvSpPr>
        <p:spPr>
          <a:xfrm>
            <a:off x="2133345" y="3003295"/>
            <a:ext cx="1053465" cy="228600"/>
          </a:xfrm>
          <a:prstGeom prst="rect">
            <a:avLst/>
          </a:prstGeom>
        </p:spPr>
        <p:txBody>
          <a:bodyPr wrap="square" lIns="0" tIns="16510" rIns="0" bIns="0" rtlCol="0" vert="horz">
            <a:spAutoFit/>
          </a:bodyPr>
          <a:lstStyle/>
          <a:p>
            <a:pPr marL="12700">
              <a:lnSpc>
                <a:spcPct val="100000"/>
              </a:lnSpc>
              <a:spcBef>
                <a:spcPts val="130"/>
              </a:spcBef>
              <a:tabLst>
                <a:tab pos="484505" algn="l"/>
                <a:tab pos="955675" algn="l"/>
              </a:tabLst>
            </a:pPr>
            <a:r>
              <a:rPr dirty="0" sz="1300" spc="-50" b="1">
                <a:solidFill>
                  <a:srgbClr val="40458B"/>
                </a:solidFill>
                <a:latin typeface="宋体"/>
                <a:cs typeface="宋体"/>
              </a:rPr>
              <a:t>3</a:t>
            </a:r>
            <a:r>
              <a:rPr dirty="0" sz="1300" b="1">
                <a:solidFill>
                  <a:srgbClr val="40458B"/>
                </a:solidFill>
                <a:latin typeface="宋体"/>
                <a:cs typeface="宋体"/>
              </a:rPr>
              <a:t>	</a:t>
            </a:r>
            <a:r>
              <a:rPr dirty="0" sz="1300" spc="-50" b="1">
                <a:solidFill>
                  <a:srgbClr val="FF33CC"/>
                </a:solidFill>
                <a:latin typeface="宋体"/>
                <a:cs typeface="宋体"/>
              </a:rPr>
              <a:t>1</a:t>
            </a:r>
            <a:r>
              <a:rPr dirty="0" sz="1300" b="1">
                <a:solidFill>
                  <a:srgbClr val="FF33CC"/>
                </a:solidFill>
                <a:latin typeface="宋体"/>
                <a:cs typeface="宋体"/>
              </a:rPr>
              <a:t>	</a:t>
            </a:r>
            <a:r>
              <a:rPr dirty="0" sz="1300" spc="-50" b="1">
                <a:solidFill>
                  <a:srgbClr val="40458B"/>
                </a:solidFill>
                <a:latin typeface="宋体"/>
                <a:cs typeface="宋体"/>
              </a:rPr>
              <a:t>2</a:t>
            </a:r>
            <a:endParaRPr sz="1300">
              <a:latin typeface="宋体"/>
              <a:cs typeface="宋体"/>
            </a:endParaRPr>
          </a:p>
        </p:txBody>
      </p:sp>
      <p:sp>
        <p:nvSpPr>
          <p:cNvPr id="12" name="object 12" descr=""/>
          <p:cNvSpPr txBox="1"/>
          <p:nvPr/>
        </p:nvSpPr>
        <p:spPr>
          <a:xfrm>
            <a:off x="70103" y="736854"/>
            <a:ext cx="9000490" cy="2310130"/>
          </a:xfrm>
          <a:prstGeom prst="rect">
            <a:avLst/>
          </a:prstGeom>
        </p:spPr>
        <p:txBody>
          <a:bodyPr wrap="square" lIns="0" tIns="12700" rIns="0" bIns="0" rtlCol="0" vert="horz">
            <a:spAutoFit/>
          </a:bodyPr>
          <a:lstStyle/>
          <a:p>
            <a:pPr marL="307975" marR="148590" indent="-270510">
              <a:lnSpc>
                <a:spcPct val="111200"/>
              </a:lnSpc>
              <a:spcBef>
                <a:spcPts val="100"/>
              </a:spcBef>
              <a:buClr>
                <a:srgbClr val="40458B"/>
              </a:buClr>
              <a:buSzPct val="89583"/>
              <a:buFont typeface="Wingdings"/>
              <a:buChar char=""/>
              <a:tabLst>
                <a:tab pos="309245" algn="l"/>
              </a:tabLst>
            </a:pPr>
            <a:r>
              <a:rPr dirty="0" sz="2400">
                <a:solidFill>
                  <a:srgbClr val="FF0000"/>
                </a:solidFill>
                <a:latin typeface="黑体"/>
                <a:cs typeface="黑体"/>
              </a:rPr>
              <a:t>向量处理的特点：</a:t>
            </a:r>
            <a:r>
              <a:rPr dirty="0" sz="2400">
                <a:solidFill>
                  <a:srgbClr val="40458B"/>
                </a:solidFill>
                <a:latin typeface="黑体"/>
                <a:cs typeface="黑体"/>
              </a:rPr>
              <a:t>只要不出现</a:t>
            </a:r>
            <a:r>
              <a:rPr dirty="0" sz="2400" spc="-10">
                <a:solidFill>
                  <a:srgbClr val="FF0000"/>
                </a:solidFill>
                <a:latin typeface="黑体"/>
                <a:cs typeface="黑体"/>
              </a:rPr>
              <a:t>V</a:t>
            </a:r>
            <a:r>
              <a:rPr dirty="0" baseline="-20833" sz="2400" spc="-15">
                <a:solidFill>
                  <a:srgbClr val="FF0000"/>
                </a:solidFill>
                <a:latin typeface="黑体"/>
                <a:cs typeface="黑体"/>
              </a:rPr>
              <a:t>i</a:t>
            </a:r>
            <a:r>
              <a:rPr dirty="0" sz="2400">
                <a:solidFill>
                  <a:srgbClr val="FF0000"/>
                </a:solidFill>
                <a:latin typeface="黑体"/>
                <a:cs typeface="黑体"/>
              </a:rPr>
              <a:t>冲突</a:t>
            </a:r>
            <a:r>
              <a:rPr dirty="0" sz="2400">
                <a:solidFill>
                  <a:srgbClr val="40458B"/>
                </a:solidFill>
                <a:latin typeface="黑体"/>
                <a:cs typeface="黑体"/>
              </a:rPr>
              <a:t>和</a:t>
            </a:r>
            <a:r>
              <a:rPr dirty="0" sz="2400">
                <a:solidFill>
                  <a:srgbClr val="FF0000"/>
                </a:solidFill>
                <a:latin typeface="黑体"/>
                <a:cs typeface="黑体"/>
              </a:rPr>
              <a:t>功能部件冲突</a:t>
            </a:r>
            <a:r>
              <a:rPr dirty="0" sz="2400">
                <a:solidFill>
                  <a:srgbClr val="40458B"/>
                </a:solidFill>
                <a:latin typeface="黑体"/>
                <a:cs typeface="黑体"/>
              </a:rPr>
              <a:t>，各</a:t>
            </a:r>
            <a:r>
              <a:rPr dirty="0" sz="2400" spc="-10">
                <a:solidFill>
                  <a:srgbClr val="40458B"/>
                </a:solidFill>
                <a:latin typeface="黑体"/>
                <a:cs typeface="黑体"/>
              </a:rPr>
              <a:t>V</a:t>
            </a:r>
            <a:r>
              <a:rPr dirty="0" baseline="-20833" sz="2400" spc="-15">
                <a:solidFill>
                  <a:srgbClr val="40458B"/>
                </a:solidFill>
                <a:latin typeface="黑体"/>
                <a:cs typeface="黑体"/>
              </a:rPr>
              <a:t>i</a:t>
            </a:r>
            <a:r>
              <a:rPr dirty="0" sz="2400" spc="-25">
                <a:solidFill>
                  <a:srgbClr val="40458B"/>
                </a:solidFill>
                <a:latin typeface="黑体"/>
                <a:cs typeface="黑体"/>
              </a:rPr>
              <a:t>之间</a:t>
            </a:r>
            <a:r>
              <a:rPr dirty="0" sz="2400" spc="-25">
                <a:solidFill>
                  <a:srgbClr val="40458B"/>
                </a:solidFill>
                <a:latin typeface="黑体"/>
                <a:cs typeface="黑体"/>
              </a:rPr>
              <a:t>	</a:t>
            </a:r>
            <a:r>
              <a:rPr dirty="0" sz="2400" spc="-5">
                <a:solidFill>
                  <a:srgbClr val="40458B"/>
                </a:solidFill>
                <a:latin typeface="黑体"/>
                <a:cs typeface="黑体"/>
              </a:rPr>
              <a:t>和各功能部件之间都能并行工作，大大加快了向量指令的处理。</a:t>
            </a:r>
            <a:endParaRPr sz="2400">
              <a:latin typeface="黑体"/>
              <a:cs typeface="黑体"/>
            </a:endParaRPr>
          </a:p>
          <a:p>
            <a:pPr lvl="1" marL="1122680" indent="-457200">
              <a:lnSpc>
                <a:spcPct val="100000"/>
              </a:lnSpc>
              <a:spcBef>
                <a:spcPts val="975"/>
              </a:spcBef>
              <a:buClr>
                <a:srgbClr val="4668F5"/>
              </a:buClr>
              <a:buSzPct val="65000"/>
              <a:buFont typeface="Wingdings"/>
              <a:buChar char=""/>
              <a:tabLst>
                <a:tab pos="1122680" algn="l"/>
              </a:tabLst>
            </a:pPr>
            <a:r>
              <a:rPr dirty="0" sz="2000" b="1">
                <a:solidFill>
                  <a:srgbClr val="FF0000"/>
                </a:solidFill>
                <a:latin typeface="宋体"/>
                <a:cs typeface="宋体"/>
              </a:rPr>
              <a:t>V</a:t>
            </a:r>
            <a:r>
              <a:rPr dirty="0" baseline="-21367" sz="1950" b="1">
                <a:solidFill>
                  <a:srgbClr val="FF0000"/>
                </a:solidFill>
                <a:latin typeface="宋体"/>
                <a:cs typeface="宋体"/>
              </a:rPr>
              <a:t>i</a:t>
            </a:r>
            <a:r>
              <a:rPr dirty="0" sz="2000" spc="-15" b="1">
                <a:solidFill>
                  <a:srgbClr val="FF0000"/>
                </a:solidFill>
                <a:latin typeface="宋体"/>
                <a:cs typeface="宋体"/>
              </a:rPr>
              <a:t>冲突：</a:t>
            </a:r>
            <a:r>
              <a:rPr dirty="0" sz="2000" spc="-20" b="1">
                <a:solidFill>
                  <a:srgbClr val="00AFEF"/>
                </a:solidFill>
                <a:latin typeface="宋体"/>
                <a:cs typeface="宋体"/>
              </a:rPr>
              <a:t>并行工作的各向量指令的</a:t>
            </a:r>
            <a:r>
              <a:rPr dirty="0" sz="2000" spc="-20" b="1">
                <a:solidFill>
                  <a:srgbClr val="FF0000"/>
                </a:solidFill>
                <a:latin typeface="宋体"/>
                <a:cs typeface="宋体"/>
              </a:rPr>
              <a:t>源向量或结果向量</a:t>
            </a:r>
            <a:r>
              <a:rPr dirty="0" sz="2000" spc="-15" b="1">
                <a:solidFill>
                  <a:srgbClr val="00AFEF"/>
                </a:solidFill>
                <a:latin typeface="宋体"/>
                <a:cs typeface="宋体"/>
              </a:rPr>
              <a:t>使用了相同的</a:t>
            </a:r>
            <a:r>
              <a:rPr dirty="0" sz="2000" b="1">
                <a:solidFill>
                  <a:srgbClr val="00AFEF"/>
                </a:solidFill>
                <a:latin typeface="宋体"/>
                <a:cs typeface="宋体"/>
              </a:rPr>
              <a:t>V</a:t>
            </a:r>
            <a:r>
              <a:rPr dirty="0" baseline="-21367" sz="1950" b="1">
                <a:solidFill>
                  <a:srgbClr val="00AFEF"/>
                </a:solidFill>
                <a:latin typeface="宋体"/>
                <a:cs typeface="宋体"/>
              </a:rPr>
              <a:t>i</a:t>
            </a:r>
            <a:r>
              <a:rPr dirty="0" sz="2000" spc="-50" b="1">
                <a:solidFill>
                  <a:srgbClr val="00AFEF"/>
                </a:solidFill>
                <a:latin typeface="宋体"/>
                <a:cs typeface="宋体"/>
              </a:rPr>
              <a:t>。</a:t>
            </a:r>
            <a:endParaRPr sz="2000">
              <a:latin typeface="宋体"/>
              <a:cs typeface="宋体"/>
            </a:endParaRPr>
          </a:p>
          <a:p>
            <a:pPr marL="1122680">
              <a:lnSpc>
                <a:spcPts val="2345"/>
              </a:lnSpc>
              <a:spcBef>
                <a:spcPts val="495"/>
              </a:spcBef>
            </a:pPr>
            <a:r>
              <a:rPr dirty="0" sz="2000" spc="-15" b="1">
                <a:solidFill>
                  <a:srgbClr val="00AFEF"/>
                </a:solidFill>
                <a:latin typeface="宋体"/>
                <a:cs typeface="宋体"/>
              </a:rPr>
              <a:t>（例如两条并行的指令</a:t>
            </a:r>
            <a:r>
              <a:rPr dirty="0" sz="2000" spc="-50" b="1">
                <a:solidFill>
                  <a:srgbClr val="00AFEF"/>
                </a:solidFill>
                <a:latin typeface="宋体"/>
                <a:cs typeface="宋体"/>
              </a:rPr>
              <a:t>）</a:t>
            </a:r>
            <a:endParaRPr sz="2000">
              <a:latin typeface="宋体"/>
              <a:cs typeface="宋体"/>
            </a:endParaRPr>
          </a:p>
          <a:p>
            <a:pPr algn="r" marR="1391285">
              <a:lnSpc>
                <a:spcPts val="1255"/>
              </a:lnSpc>
            </a:pPr>
            <a:r>
              <a:rPr dirty="0" sz="1400" spc="-15">
                <a:solidFill>
                  <a:srgbClr val="FF0000"/>
                </a:solidFill>
                <a:latin typeface="黑体"/>
                <a:cs typeface="黑体"/>
              </a:rPr>
              <a:t>联系标量处理对比</a:t>
            </a:r>
            <a:endParaRPr sz="1400">
              <a:latin typeface="黑体"/>
              <a:cs typeface="黑体"/>
            </a:endParaRPr>
          </a:p>
          <a:p>
            <a:pPr marL="665480">
              <a:lnSpc>
                <a:spcPts val="2030"/>
              </a:lnSpc>
            </a:pPr>
            <a:r>
              <a:rPr dirty="0" sz="2000" spc="-10" b="1">
                <a:solidFill>
                  <a:srgbClr val="E14B04"/>
                </a:solidFill>
                <a:latin typeface="宋体"/>
                <a:cs typeface="宋体"/>
              </a:rPr>
              <a:t>例如：</a:t>
            </a:r>
            <a:r>
              <a:rPr dirty="0" sz="2000" spc="-20" b="1">
                <a:solidFill>
                  <a:srgbClr val="00AFEF"/>
                </a:solidFill>
                <a:latin typeface="宋体"/>
                <a:cs typeface="宋体"/>
              </a:rPr>
              <a:t>源向量相同</a:t>
            </a:r>
            <a:endParaRPr sz="2000">
              <a:latin typeface="宋体"/>
              <a:cs typeface="宋体"/>
            </a:endParaRPr>
          </a:p>
          <a:p>
            <a:pPr marL="4594225">
              <a:lnSpc>
                <a:spcPct val="100000"/>
              </a:lnSpc>
              <a:spcBef>
                <a:spcPts val="160"/>
              </a:spcBef>
            </a:pPr>
            <a:r>
              <a:rPr dirty="0" sz="1600" spc="-10">
                <a:solidFill>
                  <a:srgbClr val="FF5CFF"/>
                </a:solidFill>
                <a:latin typeface="宋体"/>
                <a:cs typeface="宋体"/>
              </a:rPr>
              <a:t>V1</a:t>
            </a:r>
            <a:r>
              <a:rPr dirty="0" sz="1600" spc="-35">
                <a:solidFill>
                  <a:srgbClr val="FF5CFF"/>
                </a:solidFill>
                <a:latin typeface="黑体"/>
                <a:cs typeface="黑体"/>
              </a:rPr>
              <a:t>的操作是连续若干个周期，这两条向量指令的</a:t>
            </a:r>
            <a:endParaRPr sz="1600">
              <a:latin typeface="黑体"/>
              <a:cs typeface="黑体"/>
            </a:endParaRPr>
          </a:p>
        </p:txBody>
      </p:sp>
      <p:sp>
        <p:nvSpPr>
          <p:cNvPr id="13" name="object 13" descr=""/>
          <p:cNvSpPr txBox="1"/>
          <p:nvPr/>
        </p:nvSpPr>
        <p:spPr>
          <a:xfrm>
            <a:off x="1978405" y="3259023"/>
            <a:ext cx="1234440" cy="331470"/>
          </a:xfrm>
          <a:prstGeom prst="rect">
            <a:avLst/>
          </a:prstGeom>
        </p:spPr>
        <p:txBody>
          <a:bodyPr wrap="square" lIns="0" tIns="13335" rIns="0" bIns="0" rtlCol="0" vert="horz">
            <a:spAutoFit/>
          </a:bodyPr>
          <a:lstStyle/>
          <a:p>
            <a:pPr marL="38100">
              <a:lnSpc>
                <a:spcPct val="100000"/>
              </a:lnSpc>
              <a:spcBef>
                <a:spcPts val="105"/>
              </a:spcBef>
            </a:pPr>
            <a:r>
              <a:rPr dirty="0" sz="2000" spc="-10" b="1">
                <a:solidFill>
                  <a:srgbClr val="40458B"/>
                </a:solidFill>
                <a:latin typeface="宋体"/>
                <a:cs typeface="宋体"/>
              </a:rPr>
              <a:t>V</a:t>
            </a:r>
            <a:r>
              <a:rPr dirty="0" baseline="-21367" sz="1950" spc="-15" b="1">
                <a:solidFill>
                  <a:srgbClr val="40458B"/>
                </a:solidFill>
                <a:latin typeface="宋体"/>
                <a:cs typeface="宋体"/>
              </a:rPr>
              <a:t>5</a:t>
            </a:r>
            <a:r>
              <a:rPr dirty="0" sz="2000" spc="-10" b="1">
                <a:solidFill>
                  <a:srgbClr val="40458B"/>
                </a:solidFill>
                <a:latin typeface="宋体"/>
                <a:cs typeface="宋体"/>
              </a:rPr>
              <a:t>←V</a:t>
            </a:r>
            <a:r>
              <a:rPr dirty="0" baseline="-21367" sz="1950" spc="-15" b="1">
                <a:solidFill>
                  <a:srgbClr val="40458B"/>
                </a:solidFill>
                <a:latin typeface="宋体"/>
                <a:cs typeface="宋体"/>
              </a:rPr>
              <a:t>4</a:t>
            </a:r>
            <a:r>
              <a:rPr dirty="0" sz="2000" spc="-10" b="1">
                <a:solidFill>
                  <a:srgbClr val="40458B"/>
                </a:solidFill>
                <a:latin typeface="宋体"/>
                <a:cs typeface="宋体"/>
              </a:rPr>
              <a:t>∧</a:t>
            </a:r>
            <a:r>
              <a:rPr dirty="0" sz="2000" spc="-10" b="1">
                <a:solidFill>
                  <a:srgbClr val="FF33CC"/>
                </a:solidFill>
                <a:latin typeface="宋体"/>
                <a:cs typeface="宋体"/>
              </a:rPr>
              <a:t>V</a:t>
            </a:r>
            <a:r>
              <a:rPr dirty="0" baseline="-21367" sz="1950" spc="-15" b="1">
                <a:solidFill>
                  <a:srgbClr val="FF33CC"/>
                </a:solidFill>
                <a:latin typeface="宋体"/>
                <a:cs typeface="宋体"/>
              </a:rPr>
              <a:t>1</a:t>
            </a:r>
            <a:endParaRPr baseline="-21367" sz="1950">
              <a:latin typeface="宋体"/>
              <a:cs typeface="宋体"/>
            </a:endParaRPr>
          </a:p>
        </p:txBody>
      </p:sp>
      <p:sp>
        <p:nvSpPr>
          <p:cNvPr id="14" name="object 14" descr=""/>
          <p:cNvSpPr txBox="1"/>
          <p:nvPr/>
        </p:nvSpPr>
        <p:spPr>
          <a:xfrm>
            <a:off x="697991" y="3949039"/>
            <a:ext cx="7841615" cy="2204720"/>
          </a:xfrm>
          <a:prstGeom prst="rect">
            <a:avLst/>
          </a:prstGeom>
        </p:spPr>
        <p:txBody>
          <a:bodyPr wrap="square" lIns="0" tIns="12700" rIns="0" bIns="0" rtlCol="0" vert="horz">
            <a:spAutoFit/>
          </a:bodyPr>
          <a:lstStyle/>
          <a:p>
            <a:pPr marL="38100" marR="182245" indent="456565">
              <a:lnSpc>
                <a:spcPct val="132500"/>
              </a:lnSpc>
              <a:spcBef>
                <a:spcPts val="100"/>
              </a:spcBef>
              <a:buClr>
                <a:srgbClr val="4668F5"/>
              </a:buClr>
              <a:buSzPct val="65000"/>
              <a:buFont typeface="Wingdings"/>
              <a:buChar char=""/>
              <a:tabLst>
                <a:tab pos="494665" algn="l"/>
              </a:tabLst>
            </a:pPr>
            <a:r>
              <a:rPr dirty="0" sz="2000" spc="-10" b="1">
                <a:solidFill>
                  <a:srgbClr val="FF0000"/>
                </a:solidFill>
                <a:latin typeface="宋体"/>
                <a:cs typeface="宋体"/>
              </a:rPr>
              <a:t>功能部件冲突：</a:t>
            </a:r>
            <a:r>
              <a:rPr dirty="0" sz="2000" spc="-25" b="1">
                <a:solidFill>
                  <a:srgbClr val="00AFEF"/>
                </a:solidFill>
                <a:latin typeface="宋体"/>
                <a:cs typeface="宋体"/>
              </a:rPr>
              <a:t>并行工作的各向量指令要使用同一个功能部件。</a:t>
            </a:r>
            <a:r>
              <a:rPr dirty="0" sz="2000" spc="-10" b="1">
                <a:solidFill>
                  <a:srgbClr val="E14B04"/>
                </a:solidFill>
                <a:latin typeface="宋体"/>
                <a:cs typeface="宋体"/>
              </a:rPr>
              <a:t>例如：</a:t>
            </a:r>
            <a:r>
              <a:rPr dirty="0" sz="2000" spc="-15" b="1">
                <a:solidFill>
                  <a:srgbClr val="00AFEF"/>
                </a:solidFill>
                <a:latin typeface="宋体"/>
                <a:cs typeface="宋体"/>
              </a:rPr>
              <a:t>都需使用</a:t>
            </a:r>
            <a:r>
              <a:rPr dirty="0" sz="2000" spc="-20" b="1">
                <a:solidFill>
                  <a:srgbClr val="FF0000"/>
                </a:solidFill>
                <a:latin typeface="宋体"/>
                <a:cs typeface="宋体"/>
              </a:rPr>
              <a:t>乘法功能部件</a:t>
            </a:r>
            <a:endParaRPr sz="2000">
              <a:latin typeface="宋体"/>
              <a:cs typeface="宋体"/>
            </a:endParaRPr>
          </a:p>
          <a:p>
            <a:pPr marL="1318260" marR="5357495">
              <a:lnSpc>
                <a:spcPct val="132500"/>
              </a:lnSpc>
            </a:pPr>
            <a:r>
              <a:rPr dirty="0" sz="2000" spc="-10" b="1">
                <a:solidFill>
                  <a:srgbClr val="40458B"/>
                </a:solidFill>
                <a:latin typeface="宋体"/>
                <a:cs typeface="宋体"/>
              </a:rPr>
              <a:t>V</a:t>
            </a:r>
            <a:r>
              <a:rPr dirty="0" baseline="-21367" sz="1950" spc="-15" b="1">
                <a:solidFill>
                  <a:srgbClr val="40458B"/>
                </a:solidFill>
                <a:latin typeface="宋体"/>
                <a:cs typeface="宋体"/>
              </a:rPr>
              <a:t>3</a:t>
            </a:r>
            <a:r>
              <a:rPr dirty="0" sz="2000" spc="-10" b="1">
                <a:solidFill>
                  <a:srgbClr val="40458B"/>
                </a:solidFill>
                <a:latin typeface="宋体"/>
                <a:cs typeface="宋体"/>
              </a:rPr>
              <a:t>←V</a:t>
            </a:r>
            <a:r>
              <a:rPr dirty="0" baseline="-21367" sz="1950" spc="-15" b="1">
                <a:solidFill>
                  <a:srgbClr val="40458B"/>
                </a:solidFill>
                <a:latin typeface="宋体"/>
                <a:cs typeface="宋体"/>
              </a:rPr>
              <a:t>1</a:t>
            </a:r>
            <a:r>
              <a:rPr dirty="0" sz="2000" spc="-10" b="1">
                <a:solidFill>
                  <a:srgbClr val="FF33CC"/>
                </a:solidFill>
                <a:latin typeface="宋体"/>
                <a:cs typeface="宋体"/>
              </a:rPr>
              <a:t>×</a:t>
            </a:r>
            <a:r>
              <a:rPr dirty="0" sz="2000" spc="-10" b="1">
                <a:solidFill>
                  <a:srgbClr val="40458B"/>
                </a:solidFill>
                <a:latin typeface="宋体"/>
                <a:cs typeface="宋体"/>
              </a:rPr>
              <a:t>V</a:t>
            </a:r>
            <a:r>
              <a:rPr dirty="0" baseline="-21367" sz="1950" spc="-15" b="1">
                <a:solidFill>
                  <a:srgbClr val="40458B"/>
                </a:solidFill>
                <a:latin typeface="宋体"/>
                <a:cs typeface="宋体"/>
              </a:rPr>
              <a:t>2 </a:t>
            </a:r>
            <a:r>
              <a:rPr dirty="0" sz="2000" spc="-10" b="1">
                <a:solidFill>
                  <a:srgbClr val="40458B"/>
                </a:solidFill>
                <a:latin typeface="宋体"/>
                <a:cs typeface="宋体"/>
              </a:rPr>
              <a:t>V</a:t>
            </a:r>
            <a:r>
              <a:rPr dirty="0" baseline="-21367" sz="1950" spc="-15" b="1">
                <a:solidFill>
                  <a:srgbClr val="40458B"/>
                </a:solidFill>
                <a:latin typeface="宋体"/>
                <a:cs typeface="宋体"/>
              </a:rPr>
              <a:t>5</a:t>
            </a:r>
            <a:r>
              <a:rPr dirty="0" sz="2000" spc="-10" b="1">
                <a:solidFill>
                  <a:srgbClr val="40458B"/>
                </a:solidFill>
                <a:latin typeface="宋体"/>
                <a:cs typeface="宋体"/>
              </a:rPr>
              <a:t>←V</a:t>
            </a:r>
            <a:r>
              <a:rPr dirty="0" baseline="-21367" sz="1950" spc="-15" b="1">
                <a:solidFill>
                  <a:srgbClr val="40458B"/>
                </a:solidFill>
                <a:latin typeface="宋体"/>
                <a:cs typeface="宋体"/>
              </a:rPr>
              <a:t>4</a:t>
            </a:r>
            <a:r>
              <a:rPr dirty="0" sz="2000" spc="-10" b="1">
                <a:solidFill>
                  <a:srgbClr val="FF33CC"/>
                </a:solidFill>
                <a:latin typeface="宋体"/>
                <a:cs typeface="宋体"/>
              </a:rPr>
              <a:t>×</a:t>
            </a:r>
            <a:r>
              <a:rPr dirty="0" sz="2000" spc="-10" b="1">
                <a:solidFill>
                  <a:srgbClr val="40458B"/>
                </a:solidFill>
                <a:latin typeface="宋体"/>
                <a:cs typeface="宋体"/>
              </a:rPr>
              <a:t>V</a:t>
            </a:r>
            <a:r>
              <a:rPr dirty="0" baseline="-21367" sz="1950" spc="-15" b="1">
                <a:solidFill>
                  <a:srgbClr val="40458B"/>
                </a:solidFill>
                <a:latin typeface="宋体"/>
                <a:cs typeface="宋体"/>
              </a:rPr>
              <a:t>6</a:t>
            </a:r>
            <a:endParaRPr baseline="-21367" sz="1950">
              <a:latin typeface="宋体"/>
              <a:cs typeface="宋体"/>
            </a:endParaRPr>
          </a:p>
          <a:p>
            <a:pPr algn="r" marR="30480">
              <a:lnSpc>
                <a:spcPct val="100000"/>
              </a:lnSpc>
              <a:spcBef>
                <a:spcPts val="1075"/>
              </a:spcBef>
            </a:pPr>
            <a:r>
              <a:rPr dirty="0" sz="2800" spc="-40">
                <a:solidFill>
                  <a:srgbClr val="FF5CFF"/>
                </a:solidFill>
                <a:latin typeface="黑体"/>
                <a:cs typeface="黑体"/>
              </a:rPr>
              <a:t>冲突如何解决？</a:t>
            </a:r>
            <a:endParaRPr sz="2800">
              <a:latin typeface="黑体"/>
              <a:cs typeface="黑体"/>
            </a:endParaRPr>
          </a:p>
        </p:txBody>
      </p:sp>
      <p:sp>
        <p:nvSpPr>
          <p:cNvPr id="15" name="object 15" descr=""/>
          <p:cNvSpPr txBox="1"/>
          <p:nvPr/>
        </p:nvSpPr>
        <p:spPr>
          <a:xfrm>
            <a:off x="4651628" y="3022218"/>
            <a:ext cx="4299585" cy="505459"/>
          </a:xfrm>
          <a:prstGeom prst="rect">
            <a:avLst/>
          </a:prstGeom>
        </p:spPr>
        <p:txBody>
          <a:bodyPr wrap="square" lIns="0" tIns="26034" rIns="0" bIns="0" rtlCol="0" vert="horz">
            <a:spAutoFit/>
          </a:bodyPr>
          <a:lstStyle/>
          <a:p>
            <a:pPr marL="12700" marR="5080">
              <a:lnSpc>
                <a:spcPts val="1860"/>
              </a:lnSpc>
              <a:spcBef>
                <a:spcPts val="204"/>
              </a:spcBef>
            </a:pPr>
            <a:r>
              <a:rPr dirty="0" sz="1600" spc="-20">
                <a:solidFill>
                  <a:srgbClr val="FF5CFF"/>
                </a:solidFill>
                <a:latin typeface="黑体"/>
                <a:cs typeface="黑体"/>
              </a:rPr>
              <a:t>源向量之一都取自</a:t>
            </a:r>
            <a:r>
              <a:rPr dirty="0" sz="1600" spc="-20">
                <a:solidFill>
                  <a:srgbClr val="FF5CFF"/>
                </a:solidFill>
                <a:latin typeface="宋体"/>
                <a:cs typeface="宋体"/>
              </a:rPr>
              <a:t>V1</a:t>
            </a:r>
            <a:r>
              <a:rPr dirty="0" sz="1600" spc="-30">
                <a:solidFill>
                  <a:srgbClr val="FF5CFF"/>
                </a:solidFill>
                <a:latin typeface="黑体"/>
                <a:cs typeface="黑体"/>
              </a:rPr>
              <a:t>，但首元素和向量长度可能</a:t>
            </a:r>
            <a:r>
              <a:rPr dirty="0" sz="1600" spc="-20">
                <a:solidFill>
                  <a:srgbClr val="FF5CFF"/>
                </a:solidFill>
                <a:latin typeface="黑体"/>
                <a:cs typeface="黑体"/>
              </a:rPr>
              <a:t>不同，难以同时由</a:t>
            </a:r>
            <a:r>
              <a:rPr dirty="0" sz="1600" spc="-20">
                <a:solidFill>
                  <a:srgbClr val="FF5CFF"/>
                </a:solidFill>
                <a:latin typeface="宋体"/>
                <a:cs typeface="宋体"/>
              </a:rPr>
              <a:t>V1</a:t>
            </a:r>
            <a:r>
              <a:rPr dirty="0" sz="1600" spc="-30">
                <a:solidFill>
                  <a:srgbClr val="FF5CFF"/>
                </a:solidFill>
                <a:latin typeface="黑体"/>
                <a:cs typeface="黑体"/>
              </a:rPr>
              <a:t>来提供</a:t>
            </a:r>
            <a:endParaRPr sz="1600">
              <a:latin typeface="黑体"/>
              <a:cs typeface="黑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5" name="object 5"/>
          <p:cNvSpPr txBox="1">
            <a:spLocks noGrp="1"/>
          </p:cNvSpPr>
          <p:nvPr>
            <p:ph type="title"/>
          </p:nvPr>
        </p:nvSpPr>
        <p:spPr>
          <a:xfrm>
            <a:off x="1410969" y="1489913"/>
            <a:ext cx="4103370" cy="422909"/>
          </a:xfrm>
          <a:prstGeom prst="rect"/>
        </p:spPr>
        <p:txBody>
          <a:bodyPr wrap="square" lIns="0" tIns="13335" rIns="0" bIns="0" rtlCol="0" vert="horz">
            <a:spAutoFit/>
          </a:bodyPr>
          <a:lstStyle/>
          <a:p>
            <a:pPr marL="12700">
              <a:lnSpc>
                <a:spcPct val="100000"/>
              </a:lnSpc>
              <a:spcBef>
                <a:spcPts val="105"/>
              </a:spcBef>
              <a:tabLst>
                <a:tab pos="3427729" algn="l"/>
              </a:tabLst>
            </a:pPr>
            <a:r>
              <a:rPr dirty="0" sz="2600" spc="-10">
                <a:solidFill>
                  <a:srgbClr val="006FC0"/>
                </a:solidFill>
                <a:latin typeface="微软雅黑"/>
                <a:cs typeface="微软雅黑"/>
              </a:rPr>
              <a:t>Cray-1的流水线是</a:t>
            </a:r>
            <a:r>
              <a:rPr dirty="0" sz="2600" spc="-50">
                <a:solidFill>
                  <a:srgbClr val="006FC0"/>
                </a:solidFill>
                <a:latin typeface="微软雅黑"/>
                <a:cs typeface="微软雅黑"/>
              </a:rPr>
              <a:t>（</a:t>
            </a:r>
            <a:r>
              <a:rPr dirty="0" sz="2600">
                <a:solidFill>
                  <a:srgbClr val="006FC0"/>
                </a:solidFill>
                <a:latin typeface="微软雅黑"/>
                <a:cs typeface="微软雅黑"/>
              </a:rPr>
              <a:t>	）</a:t>
            </a:r>
            <a:r>
              <a:rPr dirty="0" sz="2600" spc="-50">
                <a:solidFill>
                  <a:srgbClr val="006FC0"/>
                </a:solidFill>
                <a:latin typeface="微软雅黑"/>
                <a:cs typeface="微软雅黑"/>
              </a:rPr>
              <a:t>。</a:t>
            </a:r>
            <a:endParaRPr sz="2600">
              <a:latin typeface="微软雅黑"/>
              <a:cs typeface="微软雅黑"/>
            </a:endParaRPr>
          </a:p>
        </p:txBody>
      </p:sp>
      <p:sp>
        <p:nvSpPr>
          <p:cNvPr id="6" name="object 6" descr=""/>
          <p:cNvSpPr txBox="1"/>
          <p:nvPr/>
        </p:nvSpPr>
        <p:spPr>
          <a:xfrm>
            <a:off x="2426970" y="2883788"/>
            <a:ext cx="267398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多条单功能流水线</a:t>
            </a:r>
            <a:endParaRPr sz="2600">
              <a:latin typeface="微软雅黑"/>
              <a:cs typeface="微软雅黑"/>
            </a:endParaRPr>
          </a:p>
        </p:txBody>
      </p:sp>
      <p:sp>
        <p:nvSpPr>
          <p:cNvPr id="7" name="object 7" descr=""/>
          <p:cNvSpPr txBox="1"/>
          <p:nvPr/>
        </p:nvSpPr>
        <p:spPr>
          <a:xfrm>
            <a:off x="2426970" y="3741165"/>
            <a:ext cx="267398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一条单功能流水线</a:t>
            </a:r>
            <a:endParaRPr sz="2600">
              <a:latin typeface="微软雅黑"/>
              <a:cs typeface="微软雅黑"/>
            </a:endParaRPr>
          </a:p>
        </p:txBody>
      </p:sp>
      <p:sp>
        <p:nvSpPr>
          <p:cNvPr id="8" name="object 8" descr=""/>
          <p:cNvSpPr txBox="1"/>
          <p:nvPr/>
        </p:nvSpPr>
        <p:spPr>
          <a:xfrm>
            <a:off x="2426970" y="4598670"/>
            <a:ext cx="267398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多条多功能流水线</a:t>
            </a:r>
            <a:endParaRPr sz="2600">
              <a:latin typeface="微软雅黑"/>
              <a:cs typeface="微软雅黑"/>
            </a:endParaRPr>
          </a:p>
        </p:txBody>
      </p:sp>
      <p:sp>
        <p:nvSpPr>
          <p:cNvPr id="9" name="object 9" descr=""/>
          <p:cNvSpPr txBox="1"/>
          <p:nvPr/>
        </p:nvSpPr>
        <p:spPr>
          <a:xfrm>
            <a:off x="2426970" y="5456021"/>
            <a:ext cx="267398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一条多功能流水线</a:t>
            </a:r>
            <a:endParaRPr sz="2600">
              <a:latin typeface="微软雅黑"/>
              <a:cs typeface="微软雅黑"/>
            </a:endParaRPr>
          </a:p>
        </p:txBody>
      </p:sp>
      <p:grpSp>
        <p:nvGrpSpPr>
          <p:cNvPr id="10" name="object 10" descr=""/>
          <p:cNvGrpSpPr/>
          <p:nvPr/>
        </p:nvGrpSpPr>
        <p:grpSpPr>
          <a:xfrm>
            <a:off x="1620900" y="2836926"/>
            <a:ext cx="539750" cy="539750"/>
            <a:chOff x="1620900" y="2836926"/>
            <a:chExt cx="539750" cy="539750"/>
          </a:xfrm>
        </p:grpSpPr>
        <p:sp>
          <p:nvSpPr>
            <p:cNvPr id="11" name="object 11" descr=""/>
            <p:cNvSpPr/>
            <p:nvPr/>
          </p:nvSpPr>
          <p:spPr>
            <a:xfrm>
              <a:off x="1633600" y="2849626"/>
              <a:ext cx="514350" cy="514350"/>
            </a:xfrm>
            <a:custGeom>
              <a:avLst/>
              <a:gdLst/>
              <a:ahLst/>
              <a:cxnLst/>
              <a:rect l="l" t="t" r="r" b="b"/>
              <a:pathLst>
                <a:path w="514350" h="514350">
                  <a:moveTo>
                    <a:pt x="257175" y="0"/>
                  </a:moveTo>
                  <a:lnTo>
                    <a:pt x="210926" y="4140"/>
                  </a:lnTo>
                  <a:lnTo>
                    <a:pt x="167406" y="16080"/>
                  </a:lnTo>
                  <a:lnTo>
                    <a:pt x="127338" y="35094"/>
                  </a:lnTo>
                  <a:lnTo>
                    <a:pt x="91447" y="60458"/>
                  </a:lnTo>
                  <a:lnTo>
                    <a:pt x="60458" y="91447"/>
                  </a:lnTo>
                  <a:lnTo>
                    <a:pt x="35094" y="127338"/>
                  </a:lnTo>
                  <a:lnTo>
                    <a:pt x="16080" y="167406"/>
                  </a:lnTo>
                  <a:lnTo>
                    <a:pt x="4140" y="210926"/>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12" name="object 12" descr=""/>
            <p:cNvSpPr/>
            <p:nvPr/>
          </p:nvSpPr>
          <p:spPr>
            <a:xfrm>
              <a:off x="1633600" y="2849626"/>
              <a:ext cx="514350" cy="514350"/>
            </a:xfrm>
            <a:custGeom>
              <a:avLst/>
              <a:gdLst/>
              <a:ahLst/>
              <a:cxnLst/>
              <a:rect l="l" t="t" r="r" b="b"/>
              <a:pathLst>
                <a:path w="514350" h="514350">
                  <a:moveTo>
                    <a:pt x="0" y="257175"/>
                  </a:moveTo>
                  <a:lnTo>
                    <a:pt x="4140" y="210926"/>
                  </a:lnTo>
                  <a:lnTo>
                    <a:pt x="16080" y="167406"/>
                  </a:lnTo>
                  <a:lnTo>
                    <a:pt x="35094" y="127338"/>
                  </a:lnTo>
                  <a:lnTo>
                    <a:pt x="60458" y="91447"/>
                  </a:lnTo>
                  <a:lnTo>
                    <a:pt x="91447" y="60458"/>
                  </a:lnTo>
                  <a:lnTo>
                    <a:pt x="127338" y="35094"/>
                  </a:lnTo>
                  <a:lnTo>
                    <a:pt x="167406" y="16080"/>
                  </a:lnTo>
                  <a:lnTo>
                    <a:pt x="21092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25400">
              <a:solidFill>
                <a:srgbClr val="000000"/>
              </a:solidFill>
            </a:ln>
          </p:spPr>
          <p:txBody>
            <a:bodyPr wrap="square" lIns="0" tIns="0" rIns="0" bIns="0" rtlCol="0"/>
            <a:lstStyle/>
            <a:p/>
          </p:txBody>
        </p:sp>
      </p:grpSp>
      <p:sp>
        <p:nvSpPr>
          <p:cNvPr id="13" name="object 13" descr=""/>
          <p:cNvSpPr txBox="1"/>
          <p:nvPr/>
        </p:nvSpPr>
        <p:spPr>
          <a:xfrm>
            <a:off x="1806955"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4" name="object 14" descr=""/>
          <p:cNvGrpSpPr/>
          <p:nvPr/>
        </p:nvGrpSpPr>
        <p:grpSpPr>
          <a:xfrm>
            <a:off x="1627251" y="3700526"/>
            <a:ext cx="527050" cy="527050"/>
            <a:chOff x="1627251" y="3700526"/>
            <a:chExt cx="527050" cy="527050"/>
          </a:xfrm>
        </p:grpSpPr>
        <p:sp>
          <p:nvSpPr>
            <p:cNvPr id="15" name="object 15" descr=""/>
            <p:cNvSpPr/>
            <p:nvPr/>
          </p:nvSpPr>
          <p:spPr>
            <a:xfrm>
              <a:off x="1633601" y="3706876"/>
              <a:ext cx="514350" cy="514350"/>
            </a:xfrm>
            <a:custGeom>
              <a:avLst/>
              <a:gdLst/>
              <a:ahLst/>
              <a:cxnLst/>
              <a:rect l="l" t="t" r="r" b="b"/>
              <a:pathLst>
                <a:path w="514350" h="514350">
                  <a:moveTo>
                    <a:pt x="257175" y="0"/>
                  </a:moveTo>
                  <a:lnTo>
                    <a:pt x="210926" y="4140"/>
                  </a:lnTo>
                  <a:lnTo>
                    <a:pt x="167406" y="16080"/>
                  </a:lnTo>
                  <a:lnTo>
                    <a:pt x="127338" y="35094"/>
                  </a:lnTo>
                  <a:lnTo>
                    <a:pt x="91447" y="60458"/>
                  </a:lnTo>
                  <a:lnTo>
                    <a:pt x="60458" y="91447"/>
                  </a:lnTo>
                  <a:lnTo>
                    <a:pt x="35094" y="127338"/>
                  </a:lnTo>
                  <a:lnTo>
                    <a:pt x="16080" y="167406"/>
                  </a:lnTo>
                  <a:lnTo>
                    <a:pt x="4140" y="210926"/>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6" name="object 16" descr=""/>
            <p:cNvSpPr/>
            <p:nvPr/>
          </p:nvSpPr>
          <p:spPr>
            <a:xfrm>
              <a:off x="1633601" y="3706876"/>
              <a:ext cx="514350" cy="514350"/>
            </a:xfrm>
            <a:custGeom>
              <a:avLst/>
              <a:gdLst/>
              <a:ahLst/>
              <a:cxnLst/>
              <a:rect l="l" t="t" r="r" b="b"/>
              <a:pathLst>
                <a:path w="514350" h="514350">
                  <a:moveTo>
                    <a:pt x="0" y="257175"/>
                  </a:moveTo>
                  <a:lnTo>
                    <a:pt x="4140" y="210926"/>
                  </a:lnTo>
                  <a:lnTo>
                    <a:pt x="16080" y="167406"/>
                  </a:lnTo>
                  <a:lnTo>
                    <a:pt x="35094" y="127338"/>
                  </a:lnTo>
                  <a:lnTo>
                    <a:pt x="60458" y="91447"/>
                  </a:lnTo>
                  <a:lnTo>
                    <a:pt x="91447" y="60458"/>
                  </a:lnTo>
                  <a:lnTo>
                    <a:pt x="127338" y="35094"/>
                  </a:lnTo>
                  <a:lnTo>
                    <a:pt x="167406" y="16080"/>
                  </a:lnTo>
                  <a:lnTo>
                    <a:pt x="21092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17" name="object 17" descr=""/>
          <p:cNvSpPr txBox="1"/>
          <p:nvPr/>
        </p:nvSpPr>
        <p:spPr>
          <a:xfrm>
            <a:off x="1814829"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8" name="object 18" descr=""/>
          <p:cNvGrpSpPr/>
          <p:nvPr/>
        </p:nvGrpSpPr>
        <p:grpSpPr>
          <a:xfrm>
            <a:off x="1627251" y="4557776"/>
            <a:ext cx="527050" cy="527050"/>
            <a:chOff x="1627251" y="4557776"/>
            <a:chExt cx="527050" cy="527050"/>
          </a:xfrm>
        </p:grpSpPr>
        <p:sp>
          <p:nvSpPr>
            <p:cNvPr id="19" name="object 19" descr=""/>
            <p:cNvSpPr/>
            <p:nvPr/>
          </p:nvSpPr>
          <p:spPr>
            <a:xfrm>
              <a:off x="1633601" y="4564126"/>
              <a:ext cx="514350" cy="514350"/>
            </a:xfrm>
            <a:custGeom>
              <a:avLst/>
              <a:gdLst/>
              <a:ahLst/>
              <a:cxnLst/>
              <a:rect l="l" t="t" r="r" b="b"/>
              <a:pathLst>
                <a:path w="514350" h="514350">
                  <a:moveTo>
                    <a:pt x="257175" y="0"/>
                  </a:moveTo>
                  <a:lnTo>
                    <a:pt x="210926" y="4140"/>
                  </a:lnTo>
                  <a:lnTo>
                    <a:pt x="167406" y="16080"/>
                  </a:lnTo>
                  <a:lnTo>
                    <a:pt x="127338" y="35094"/>
                  </a:lnTo>
                  <a:lnTo>
                    <a:pt x="91447" y="60458"/>
                  </a:lnTo>
                  <a:lnTo>
                    <a:pt x="60458" y="91447"/>
                  </a:lnTo>
                  <a:lnTo>
                    <a:pt x="35094" y="127338"/>
                  </a:lnTo>
                  <a:lnTo>
                    <a:pt x="16080" y="167406"/>
                  </a:lnTo>
                  <a:lnTo>
                    <a:pt x="4140" y="210926"/>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20" name="object 20" descr=""/>
            <p:cNvSpPr/>
            <p:nvPr/>
          </p:nvSpPr>
          <p:spPr>
            <a:xfrm>
              <a:off x="1633601" y="4564126"/>
              <a:ext cx="514350" cy="514350"/>
            </a:xfrm>
            <a:custGeom>
              <a:avLst/>
              <a:gdLst/>
              <a:ahLst/>
              <a:cxnLst/>
              <a:rect l="l" t="t" r="r" b="b"/>
              <a:pathLst>
                <a:path w="514350" h="514350">
                  <a:moveTo>
                    <a:pt x="0" y="257175"/>
                  </a:moveTo>
                  <a:lnTo>
                    <a:pt x="4140" y="210926"/>
                  </a:lnTo>
                  <a:lnTo>
                    <a:pt x="16080" y="167406"/>
                  </a:lnTo>
                  <a:lnTo>
                    <a:pt x="35094" y="127338"/>
                  </a:lnTo>
                  <a:lnTo>
                    <a:pt x="60458" y="91447"/>
                  </a:lnTo>
                  <a:lnTo>
                    <a:pt x="91447" y="60458"/>
                  </a:lnTo>
                  <a:lnTo>
                    <a:pt x="127338" y="35094"/>
                  </a:lnTo>
                  <a:lnTo>
                    <a:pt x="167406" y="16080"/>
                  </a:lnTo>
                  <a:lnTo>
                    <a:pt x="21092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21" name="object 21" descr=""/>
          <p:cNvSpPr txBox="1"/>
          <p:nvPr/>
        </p:nvSpPr>
        <p:spPr>
          <a:xfrm>
            <a:off x="181000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2" name="object 22" descr=""/>
          <p:cNvGrpSpPr/>
          <p:nvPr/>
        </p:nvGrpSpPr>
        <p:grpSpPr>
          <a:xfrm>
            <a:off x="1627251" y="5415026"/>
            <a:ext cx="527050" cy="527050"/>
            <a:chOff x="1627251" y="5415026"/>
            <a:chExt cx="527050" cy="527050"/>
          </a:xfrm>
        </p:grpSpPr>
        <p:sp>
          <p:nvSpPr>
            <p:cNvPr id="23" name="object 23" descr=""/>
            <p:cNvSpPr/>
            <p:nvPr/>
          </p:nvSpPr>
          <p:spPr>
            <a:xfrm>
              <a:off x="1633601" y="5421376"/>
              <a:ext cx="514350" cy="514350"/>
            </a:xfrm>
            <a:custGeom>
              <a:avLst/>
              <a:gdLst/>
              <a:ahLst/>
              <a:cxnLst/>
              <a:rect l="l" t="t" r="r" b="b"/>
              <a:pathLst>
                <a:path w="514350" h="514350">
                  <a:moveTo>
                    <a:pt x="257175" y="0"/>
                  </a:moveTo>
                  <a:lnTo>
                    <a:pt x="210926" y="4140"/>
                  </a:lnTo>
                  <a:lnTo>
                    <a:pt x="167406" y="16079"/>
                  </a:lnTo>
                  <a:lnTo>
                    <a:pt x="127338" y="35091"/>
                  </a:lnTo>
                  <a:lnTo>
                    <a:pt x="91447" y="60452"/>
                  </a:lnTo>
                  <a:lnTo>
                    <a:pt x="60458" y="91436"/>
                  </a:lnTo>
                  <a:lnTo>
                    <a:pt x="35094" y="127319"/>
                  </a:lnTo>
                  <a:lnTo>
                    <a:pt x="16080" y="167376"/>
                  </a:lnTo>
                  <a:lnTo>
                    <a:pt x="4140" y="210882"/>
                  </a:lnTo>
                  <a:lnTo>
                    <a:pt x="0" y="257111"/>
                  </a:lnTo>
                  <a:lnTo>
                    <a:pt x="4140" y="303339"/>
                  </a:lnTo>
                  <a:lnTo>
                    <a:pt x="16080" y="346849"/>
                  </a:lnTo>
                  <a:lnTo>
                    <a:pt x="35094" y="386913"/>
                  </a:lnTo>
                  <a:lnTo>
                    <a:pt x="60458" y="422807"/>
                  </a:lnTo>
                  <a:lnTo>
                    <a:pt x="91447" y="453803"/>
                  </a:lnTo>
                  <a:lnTo>
                    <a:pt x="127338" y="479175"/>
                  </a:lnTo>
                  <a:lnTo>
                    <a:pt x="167406" y="498197"/>
                  </a:lnTo>
                  <a:lnTo>
                    <a:pt x="210926"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4" name="object 24" descr=""/>
            <p:cNvSpPr/>
            <p:nvPr/>
          </p:nvSpPr>
          <p:spPr>
            <a:xfrm>
              <a:off x="1633601" y="5421376"/>
              <a:ext cx="514350" cy="514350"/>
            </a:xfrm>
            <a:custGeom>
              <a:avLst/>
              <a:gdLst/>
              <a:ahLst/>
              <a:cxnLst/>
              <a:rect l="l" t="t" r="r" b="b"/>
              <a:pathLst>
                <a:path w="514350" h="514350">
                  <a:moveTo>
                    <a:pt x="0" y="257111"/>
                  </a:moveTo>
                  <a:lnTo>
                    <a:pt x="4140" y="210882"/>
                  </a:lnTo>
                  <a:lnTo>
                    <a:pt x="16080" y="167376"/>
                  </a:lnTo>
                  <a:lnTo>
                    <a:pt x="35094" y="127319"/>
                  </a:lnTo>
                  <a:lnTo>
                    <a:pt x="60458" y="91436"/>
                  </a:lnTo>
                  <a:lnTo>
                    <a:pt x="91447" y="60452"/>
                  </a:lnTo>
                  <a:lnTo>
                    <a:pt x="127338" y="35091"/>
                  </a:lnTo>
                  <a:lnTo>
                    <a:pt x="167406" y="16079"/>
                  </a:lnTo>
                  <a:lnTo>
                    <a:pt x="210926"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26" y="510143"/>
                  </a:lnTo>
                  <a:lnTo>
                    <a:pt x="167406" y="498197"/>
                  </a:lnTo>
                  <a:lnTo>
                    <a:pt x="127338" y="479175"/>
                  </a:lnTo>
                  <a:lnTo>
                    <a:pt x="91447" y="453803"/>
                  </a:lnTo>
                  <a:lnTo>
                    <a:pt x="60458" y="422807"/>
                  </a:lnTo>
                  <a:lnTo>
                    <a:pt x="35094" y="386913"/>
                  </a:lnTo>
                  <a:lnTo>
                    <a:pt x="16080" y="346849"/>
                  </a:lnTo>
                  <a:lnTo>
                    <a:pt x="4140" y="303339"/>
                  </a:lnTo>
                  <a:lnTo>
                    <a:pt x="0" y="257111"/>
                  </a:lnTo>
                  <a:close/>
                </a:path>
              </a:pathLst>
            </a:custGeom>
            <a:ln w="12699">
              <a:solidFill>
                <a:srgbClr val="000000"/>
              </a:solidFill>
            </a:ln>
          </p:spPr>
          <p:txBody>
            <a:bodyPr wrap="square" lIns="0" tIns="0" rIns="0" bIns="0" rtlCol="0"/>
            <a:lstStyle/>
            <a:p/>
          </p:txBody>
        </p:sp>
      </p:grpSp>
      <p:sp>
        <p:nvSpPr>
          <p:cNvPr id="25" name="object 25" descr=""/>
          <p:cNvSpPr txBox="1"/>
          <p:nvPr/>
        </p:nvSpPr>
        <p:spPr>
          <a:xfrm>
            <a:off x="1800605"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6" name="object 26" descr=""/>
          <p:cNvGrpSpPr/>
          <p:nvPr/>
        </p:nvGrpSpPr>
        <p:grpSpPr>
          <a:xfrm>
            <a:off x="6978650" y="5505450"/>
            <a:ext cx="1581150" cy="449580"/>
            <a:chOff x="6978650" y="5505450"/>
            <a:chExt cx="1581150" cy="449580"/>
          </a:xfrm>
        </p:grpSpPr>
        <p:sp>
          <p:nvSpPr>
            <p:cNvPr id="27" name="object 27" descr=""/>
            <p:cNvSpPr/>
            <p:nvPr/>
          </p:nvSpPr>
          <p:spPr>
            <a:xfrm>
              <a:off x="6997700" y="5524500"/>
              <a:ext cx="1543050" cy="411480"/>
            </a:xfrm>
            <a:custGeom>
              <a:avLst/>
              <a:gdLst/>
              <a:ahLst/>
              <a:cxnLst/>
              <a:rect l="l" t="t" r="r" b="b"/>
              <a:pathLst>
                <a:path w="1543050" h="411479">
                  <a:moveTo>
                    <a:pt x="1474470" y="0"/>
                  </a:moveTo>
                  <a:lnTo>
                    <a:pt x="68579" y="0"/>
                  </a:lnTo>
                  <a:lnTo>
                    <a:pt x="41898" y="5392"/>
                  </a:lnTo>
                  <a:lnTo>
                    <a:pt x="20097" y="20091"/>
                  </a:lnTo>
                  <a:lnTo>
                    <a:pt x="5393" y="41876"/>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76"/>
                  </a:lnTo>
                  <a:lnTo>
                    <a:pt x="1522952" y="20091"/>
                  </a:lnTo>
                  <a:lnTo>
                    <a:pt x="1501151" y="5392"/>
                  </a:lnTo>
                  <a:lnTo>
                    <a:pt x="1474470" y="0"/>
                  </a:lnTo>
                  <a:close/>
                </a:path>
              </a:pathLst>
            </a:custGeom>
            <a:solidFill>
              <a:srgbClr val="808080"/>
            </a:solidFill>
          </p:spPr>
          <p:txBody>
            <a:bodyPr wrap="square" lIns="0" tIns="0" rIns="0" bIns="0" rtlCol="0"/>
            <a:lstStyle/>
            <a:p/>
          </p:txBody>
        </p:sp>
        <p:sp>
          <p:nvSpPr>
            <p:cNvPr id="28" name="object 28" descr=""/>
            <p:cNvSpPr/>
            <p:nvPr/>
          </p:nvSpPr>
          <p:spPr>
            <a:xfrm>
              <a:off x="6997700" y="5524500"/>
              <a:ext cx="1543050" cy="411480"/>
            </a:xfrm>
            <a:custGeom>
              <a:avLst/>
              <a:gdLst/>
              <a:ahLst/>
              <a:cxnLst/>
              <a:rect l="l" t="t" r="r" b="b"/>
              <a:pathLst>
                <a:path w="1543050" h="411479">
                  <a:moveTo>
                    <a:pt x="0" y="68529"/>
                  </a:moveTo>
                  <a:lnTo>
                    <a:pt x="5393" y="41876"/>
                  </a:lnTo>
                  <a:lnTo>
                    <a:pt x="20097" y="20091"/>
                  </a:lnTo>
                  <a:lnTo>
                    <a:pt x="41898" y="5392"/>
                  </a:lnTo>
                  <a:lnTo>
                    <a:pt x="68579" y="0"/>
                  </a:lnTo>
                  <a:lnTo>
                    <a:pt x="1474470" y="0"/>
                  </a:lnTo>
                  <a:lnTo>
                    <a:pt x="1501151" y="5392"/>
                  </a:lnTo>
                  <a:lnTo>
                    <a:pt x="1522952" y="20091"/>
                  </a:lnTo>
                  <a:lnTo>
                    <a:pt x="1537656" y="41876"/>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29" name="object 29" descr=""/>
          <p:cNvSpPr txBox="1"/>
          <p:nvPr/>
        </p:nvSpPr>
        <p:spPr>
          <a:xfrm>
            <a:off x="7554594" y="5589219"/>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grpSp>
        <p:nvGrpSpPr>
          <p:cNvPr id="30" name="object 30" descr=""/>
          <p:cNvGrpSpPr/>
          <p:nvPr/>
        </p:nvGrpSpPr>
        <p:grpSpPr>
          <a:xfrm>
            <a:off x="0" y="0"/>
            <a:ext cx="9144000" cy="635000"/>
            <a:chOff x="0" y="0"/>
            <a:chExt cx="9144000" cy="635000"/>
          </a:xfrm>
        </p:grpSpPr>
        <p:sp>
          <p:nvSpPr>
            <p:cNvPr id="31" name="object 31" descr=""/>
            <p:cNvSpPr/>
            <p:nvPr/>
          </p:nvSpPr>
          <p:spPr>
            <a:xfrm>
              <a:off x="190500" y="0"/>
              <a:ext cx="8953500" cy="635000"/>
            </a:xfrm>
            <a:custGeom>
              <a:avLst/>
              <a:gdLst/>
              <a:ahLst/>
              <a:cxnLst/>
              <a:rect l="l" t="t" r="r" b="b"/>
              <a:pathLst>
                <a:path w="8953500" h="635000">
                  <a:moveTo>
                    <a:pt x="0" y="635000"/>
                  </a:moveTo>
                  <a:lnTo>
                    <a:pt x="8953500" y="635000"/>
                  </a:lnTo>
                  <a:lnTo>
                    <a:pt x="8953500" y="0"/>
                  </a:lnTo>
                  <a:lnTo>
                    <a:pt x="0" y="0"/>
                  </a:lnTo>
                  <a:lnTo>
                    <a:pt x="0" y="635000"/>
                  </a:lnTo>
                  <a:close/>
                </a:path>
              </a:pathLst>
            </a:custGeom>
            <a:solidFill>
              <a:srgbClr val="F6F7F8"/>
            </a:solidFill>
          </p:spPr>
          <p:txBody>
            <a:bodyPr wrap="square" lIns="0" tIns="0" rIns="0" bIns="0" rtlCol="0"/>
            <a:lstStyle/>
            <a:p/>
          </p:txBody>
        </p:sp>
        <p:sp>
          <p:nvSpPr>
            <p:cNvPr id="32" name="object 32"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33" name="object 33"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单选题</a:t>
            </a:r>
            <a:endParaRPr sz="2600">
              <a:latin typeface="微软雅黑"/>
              <a:cs typeface="微软雅黑"/>
            </a:endParaRPr>
          </a:p>
        </p:txBody>
      </p:sp>
      <p:sp>
        <p:nvSpPr>
          <p:cNvPr id="34" name="object 34"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35" name="object 35" descr=""/>
          <p:cNvPicPr/>
          <p:nvPr/>
        </p:nvPicPr>
        <p:blipFill>
          <a:blip r:embed="rId2" cstate="print"/>
          <a:stretch>
            <a:fillRect/>
          </a:stretch>
        </p:blipFill>
        <p:spPr>
          <a:xfrm>
            <a:off x="7594600" y="63500"/>
            <a:ext cx="1422400" cy="50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051966" y="1243029"/>
            <a:ext cx="6904990" cy="2770505"/>
          </a:xfrm>
          <a:prstGeom prst="rect">
            <a:avLst/>
          </a:prstGeom>
        </p:spPr>
        <p:txBody>
          <a:bodyPr wrap="square" lIns="0" tIns="196215" rIns="0" bIns="0" rtlCol="0" vert="horz">
            <a:spAutoFit/>
          </a:bodyPr>
          <a:lstStyle/>
          <a:p>
            <a:pPr marL="12700">
              <a:lnSpc>
                <a:spcPct val="100000"/>
              </a:lnSpc>
              <a:spcBef>
                <a:spcPts val="1545"/>
              </a:spcBef>
            </a:pPr>
            <a:r>
              <a:rPr dirty="0" sz="2400" spc="-15">
                <a:solidFill>
                  <a:srgbClr val="E14B04"/>
                </a:solidFill>
                <a:latin typeface="黑体"/>
                <a:cs typeface="黑体"/>
              </a:rPr>
              <a:t>提高向量处理机性能的方法</a:t>
            </a:r>
            <a:endParaRPr sz="2400">
              <a:latin typeface="黑体"/>
              <a:cs typeface="黑体"/>
            </a:endParaRPr>
          </a:p>
          <a:p>
            <a:pPr marL="1099185" indent="-457200">
              <a:lnSpc>
                <a:spcPct val="100000"/>
              </a:lnSpc>
              <a:spcBef>
                <a:spcPts val="1440"/>
              </a:spcBef>
              <a:buSzPct val="89583"/>
              <a:buFont typeface="Wingdings"/>
              <a:buChar char=""/>
              <a:tabLst>
                <a:tab pos="1099185" algn="l"/>
              </a:tabLst>
            </a:pPr>
            <a:r>
              <a:rPr dirty="0" sz="2400" spc="-5">
                <a:solidFill>
                  <a:srgbClr val="40458B"/>
                </a:solidFill>
                <a:latin typeface="黑体"/>
                <a:cs typeface="黑体"/>
              </a:rPr>
              <a:t>设置多个功能部件，使它们并行工作；</a:t>
            </a:r>
            <a:endParaRPr sz="2400">
              <a:latin typeface="黑体"/>
              <a:cs typeface="黑体"/>
            </a:endParaRPr>
          </a:p>
          <a:p>
            <a:pPr marL="1099185" indent="-457200">
              <a:lnSpc>
                <a:spcPct val="100000"/>
              </a:lnSpc>
              <a:spcBef>
                <a:spcPts val="1440"/>
              </a:spcBef>
              <a:buClr>
                <a:srgbClr val="40458B"/>
              </a:buClr>
              <a:buSzPct val="89583"/>
              <a:buFont typeface="Wingdings"/>
              <a:buChar char=""/>
              <a:tabLst>
                <a:tab pos="1099185" algn="l"/>
              </a:tabLst>
            </a:pPr>
            <a:r>
              <a:rPr dirty="0" sz="2400">
                <a:solidFill>
                  <a:srgbClr val="FF0000"/>
                </a:solidFill>
                <a:latin typeface="黑体"/>
                <a:cs typeface="黑体"/>
              </a:rPr>
              <a:t>采用链接技术，加快一串向量指令的执行</a:t>
            </a:r>
            <a:r>
              <a:rPr dirty="0" sz="2400" spc="-50">
                <a:solidFill>
                  <a:srgbClr val="40458B"/>
                </a:solidFill>
                <a:latin typeface="黑体"/>
                <a:cs typeface="黑体"/>
              </a:rPr>
              <a:t>；</a:t>
            </a:r>
            <a:endParaRPr sz="2400">
              <a:latin typeface="黑体"/>
              <a:cs typeface="黑体"/>
            </a:endParaRPr>
          </a:p>
          <a:p>
            <a:pPr marL="1099185" indent="-457200">
              <a:lnSpc>
                <a:spcPct val="100000"/>
              </a:lnSpc>
              <a:spcBef>
                <a:spcPts val="1445"/>
              </a:spcBef>
              <a:buSzPct val="89583"/>
              <a:buFont typeface="Wingdings"/>
              <a:buChar char=""/>
              <a:tabLst>
                <a:tab pos="1099185" algn="l"/>
              </a:tabLst>
            </a:pPr>
            <a:r>
              <a:rPr dirty="0" sz="2400" spc="-5">
                <a:solidFill>
                  <a:srgbClr val="40458B"/>
                </a:solidFill>
                <a:latin typeface="黑体"/>
                <a:cs typeface="黑体"/>
              </a:rPr>
              <a:t>采用循环开采技术，加快循环的处理；</a:t>
            </a:r>
            <a:endParaRPr sz="2400">
              <a:latin typeface="黑体"/>
              <a:cs typeface="黑体"/>
            </a:endParaRPr>
          </a:p>
          <a:p>
            <a:pPr marL="1099185" indent="-457200">
              <a:lnSpc>
                <a:spcPct val="100000"/>
              </a:lnSpc>
              <a:spcBef>
                <a:spcPts val="1440"/>
              </a:spcBef>
              <a:buSzPct val="89583"/>
              <a:buFont typeface="Wingdings"/>
              <a:buChar char=""/>
              <a:tabLst>
                <a:tab pos="1099185" algn="l"/>
              </a:tabLst>
            </a:pPr>
            <a:r>
              <a:rPr dirty="0" sz="2400" spc="-5">
                <a:solidFill>
                  <a:srgbClr val="40458B"/>
                </a:solidFill>
                <a:latin typeface="黑体"/>
                <a:cs typeface="黑体"/>
              </a:rPr>
              <a:t>采用多处理机系统，进一步提高性能。</a:t>
            </a:r>
            <a:endParaRPr sz="2400">
              <a:latin typeface="黑体"/>
              <a:cs typeface="黑体"/>
            </a:endParaRPr>
          </a:p>
        </p:txBody>
      </p:sp>
      <p:sp>
        <p:nvSpPr>
          <p:cNvPr id="10" name="object 10"/>
          <p:cNvSpPr txBox="1">
            <a:spLocks noGrp="1"/>
          </p:cNvSpPr>
          <p:nvPr>
            <p:ph type="title"/>
          </p:nvPr>
        </p:nvSpPr>
        <p:spPr>
          <a:xfrm>
            <a:off x="1136396" y="233883"/>
            <a:ext cx="5713730"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4.3</a:t>
            </a:r>
            <a:r>
              <a:rPr dirty="0" sz="2800" spc="-40">
                <a:solidFill>
                  <a:srgbClr val="000000"/>
                </a:solidFill>
              </a:rPr>
              <a:t> 提高向量处理机性能的常用技术</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311302" y="807161"/>
            <a:ext cx="8720455" cy="4434840"/>
          </a:xfrm>
          <a:prstGeom prst="rect">
            <a:avLst/>
          </a:prstGeom>
        </p:spPr>
        <p:txBody>
          <a:bodyPr wrap="square" lIns="0" tIns="13335" rIns="0" bIns="0" rtlCol="0" vert="horz">
            <a:spAutoFit/>
          </a:bodyPr>
          <a:lstStyle/>
          <a:p>
            <a:pPr marL="680085">
              <a:lnSpc>
                <a:spcPct val="100000"/>
              </a:lnSpc>
              <a:spcBef>
                <a:spcPts val="105"/>
              </a:spcBef>
            </a:pPr>
            <a:r>
              <a:rPr dirty="0" sz="2600">
                <a:solidFill>
                  <a:srgbClr val="0000CC"/>
                </a:solidFill>
                <a:latin typeface="黑体"/>
                <a:cs typeface="黑体"/>
              </a:rPr>
              <a:t>4.3.1</a:t>
            </a:r>
            <a:r>
              <a:rPr dirty="0" sz="2600" spc="-25">
                <a:solidFill>
                  <a:srgbClr val="0000CC"/>
                </a:solidFill>
                <a:latin typeface="黑体"/>
                <a:cs typeface="黑体"/>
              </a:rPr>
              <a:t> 设置多个功能部件</a:t>
            </a:r>
            <a:endParaRPr sz="2600">
              <a:latin typeface="黑体"/>
              <a:cs typeface="黑体"/>
            </a:endParaRPr>
          </a:p>
          <a:p>
            <a:pPr marL="469900" marR="5080" indent="-457200">
              <a:lnSpc>
                <a:spcPct val="150000"/>
              </a:lnSpc>
              <a:spcBef>
                <a:spcPts val="2445"/>
              </a:spcBef>
              <a:buSzPct val="89583"/>
              <a:buFont typeface="Wingdings"/>
              <a:buChar char=""/>
              <a:tabLst>
                <a:tab pos="469900" algn="l"/>
              </a:tabLst>
            </a:pPr>
            <a:r>
              <a:rPr dirty="0" sz="2400" spc="-5">
                <a:solidFill>
                  <a:srgbClr val="40458B"/>
                </a:solidFill>
                <a:latin typeface="黑体"/>
                <a:cs typeface="黑体"/>
              </a:rPr>
              <a:t>设置多个独立的功能部件。这些部件能并行工作，并各自按</a:t>
            </a:r>
            <a:r>
              <a:rPr dirty="0" sz="2400" spc="-50">
                <a:solidFill>
                  <a:srgbClr val="40458B"/>
                </a:solidFill>
                <a:latin typeface="黑体"/>
                <a:cs typeface="黑体"/>
              </a:rPr>
              <a:t> </a:t>
            </a:r>
            <a:r>
              <a:rPr dirty="0" sz="2400" spc="-5">
                <a:solidFill>
                  <a:srgbClr val="40458B"/>
                </a:solidFill>
                <a:latin typeface="黑体"/>
                <a:cs typeface="黑体"/>
              </a:rPr>
              <a:t>流水方式工作，从而形成了多条并行工作的运算操作流水线。</a:t>
            </a:r>
            <a:endParaRPr sz="2400">
              <a:latin typeface="黑体"/>
              <a:cs typeface="黑体"/>
            </a:endParaRPr>
          </a:p>
          <a:p>
            <a:pPr marL="640080">
              <a:lnSpc>
                <a:spcPct val="100000"/>
              </a:lnSpc>
              <a:spcBef>
                <a:spcPts val="1780"/>
              </a:spcBef>
            </a:pPr>
            <a:r>
              <a:rPr dirty="0" sz="2000" spc="-10" b="1">
                <a:solidFill>
                  <a:srgbClr val="E14B04"/>
                </a:solidFill>
                <a:latin typeface="宋体"/>
                <a:cs typeface="宋体"/>
              </a:rPr>
              <a:t>例如：</a:t>
            </a:r>
            <a:r>
              <a:rPr dirty="0" sz="2000" spc="-10" b="1">
                <a:solidFill>
                  <a:srgbClr val="9933FF"/>
                </a:solidFill>
                <a:latin typeface="宋体"/>
                <a:cs typeface="宋体"/>
              </a:rPr>
              <a:t>CRAY-</a:t>
            </a:r>
            <a:r>
              <a:rPr dirty="0" sz="2000" spc="-15" b="1">
                <a:solidFill>
                  <a:srgbClr val="9933FF"/>
                </a:solidFill>
                <a:latin typeface="宋体"/>
                <a:cs typeface="宋体"/>
              </a:rPr>
              <a:t>1</a:t>
            </a:r>
            <a:r>
              <a:rPr dirty="0" sz="2000" spc="-15" b="1">
                <a:solidFill>
                  <a:srgbClr val="00AFEF"/>
                </a:solidFill>
                <a:latin typeface="宋体"/>
                <a:cs typeface="宋体"/>
              </a:rPr>
              <a:t>向量处理机有</a:t>
            </a:r>
            <a:r>
              <a:rPr dirty="0" sz="2000" spc="-15" b="1">
                <a:solidFill>
                  <a:srgbClr val="9933FF"/>
                </a:solidFill>
                <a:latin typeface="宋体"/>
                <a:cs typeface="宋体"/>
              </a:rPr>
              <a:t>4</a:t>
            </a:r>
            <a:r>
              <a:rPr dirty="0" sz="2000" spc="-10" b="1">
                <a:solidFill>
                  <a:srgbClr val="080808"/>
                </a:solidFill>
                <a:latin typeface="宋体"/>
                <a:cs typeface="宋体"/>
              </a:rPr>
              <a:t>组</a:t>
            </a:r>
            <a:r>
              <a:rPr dirty="0" sz="2000" spc="-15" b="1">
                <a:solidFill>
                  <a:srgbClr val="9933FF"/>
                </a:solidFill>
                <a:latin typeface="宋体"/>
                <a:cs typeface="宋体"/>
              </a:rPr>
              <a:t>12</a:t>
            </a:r>
            <a:r>
              <a:rPr dirty="0" sz="2000" spc="-10" b="1">
                <a:solidFill>
                  <a:srgbClr val="080808"/>
                </a:solidFill>
                <a:latin typeface="宋体"/>
                <a:cs typeface="宋体"/>
              </a:rPr>
              <a:t>个</a:t>
            </a:r>
            <a:r>
              <a:rPr dirty="0" sz="2000" spc="-25" b="1">
                <a:solidFill>
                  <a:srgbClr val="00AFEF"/>
                </a:solidFill>
                <a:latin typeface="宋体"/>
                <a:cs typeface="宋体"/>
              </a:rPr>
              <a:t>单功能流水部件：</a:t>
            </a:r>
            <a:endParaRPr sz="2000">
              <a:latin typeface="宋体"/>
              <a:cs typeface="宋体"/>
            </a:endParaRPr>
          </a:p>
          <a:p>
            <a:pPr lvl="1" marL="1658620" indent="-381000">
              <a:lnSpc>
                <a:spcPct val="100000"/>
              </a:lnSpc>
              <a:spcBef>
                <a:spcPts val="1680"/>
              </a:spcBef>
              <a:buClr>
                <a:srgbClr val="006600"/>
              </a:buClr>
              <a:buSzPct val="65000"/>
              <a:buFont typeface="Wingdings"/>
              <a:buChar char=""/>
              <a:tabLst>
                <a:tab pos="1658620" algn="l"/>
              </a:tabLst>
            </a:pPr>
            <a:r>
              <a:rPr dirty="0" sz="2000" spc="-20" b="1">
                <a:solidFill>
                  <a:srgbClr val="40458B"/>
                </a:solidFill>
                <a:latin typeface="宋体"/>
                <a:cs typeface="宋体"/>
              </a:rPr>
              <a:t>向量部件：向量加，移位，逻辑运算</a:t>
            </a:r>
            <a:endParaRPr sz="2000">
              <a:latin typeface="宋体"/>
              <a:cs typeface="宋体"/>
            </a:endParaRPr>
          </a:p>
          <a:p>
            <a:pPr lvl="1" marL="1658620" indent="-381000">
              <a:lnSpc>
                <a:spcPct val="100000"/>
              </a:lnSpc>
              <a:spcBef>
                <a:spcPts val="1680"/>
              </a:spcBef>
              <a:buClr>
                <a:srgbClr val="006600"/>
              </a:buClr>
              <a:buSzPct val="65000"/>
              <a:buFont typeface="Wingdings"/>
              <a:buChar char=""/>
              <a:tabLst>
                <a:tab pos="1658620" algn="l"/>
              </a:tabLst>
            </a:pPr>
            <a:r>
              <a:rPr dirty="0" sz="2000" spc="-30" b="1">
                <a:solidFill>
                  <a:srgbClr val="40458B"/>
                </a:solidFill>
                <a:latin typeface="宋体"/>
                <a:cs typeface="宋体"/>
              </a:rPr>
              <a:t>浮点部件：浮点加，浮点乘，浮点求倒数</a:t>
            </a:r>
            <a:endParaRPr sz="2000">
              <a:latin typeface="宋体"/>
              <a:cs typeface="宋体"/>
            </a:endParaRPr>
          </a:p>
          <a:p>
            <a:pPr lvl="1" marL="1658620" indent="-381000">
              <a:lnSpc>
                <a:spcPct val="100000"/>
              </a:lnSpc>
              <a:spcBef>
                <a:spcPts val="1685"/>
              </a:spcBef>
              <a:buClr>
                <a:srgbClr val="006600"/>
              </a:buClr>
              <a:buSzPct val="65000"/>
              <a:buFont typeface="Wingdings"/>
              <a:buChar char=""/>
              <a:tabLst>
                <a:tab pos="1658620" algn="l"/>
              </a:tabLst>
            </a:pPr>
            <a:r>
              <a:rPr dirty="0" sz="2000" spc="-20" b="1">
                <a:solidFill>
                  <a:srgbClr val="40458B"/>
                </a:solidFill>
                <a:latin typeface="宋体"/>
                <a:cs typeface="宋体"/>
              </a:rPr>
              <a:t>标量部件：标量加，移位，逻辑运算，数“1</a:t>
            </a:r>
            <a:r>
              <a:rPr dirty="0" sz="2000" spc="-30" b="1">
                <a:solidFill>
                  <a:srgbClr val="40458B"/>
                </a:solidFill>
                <a:latin typeface="宋体"/>
                <a:cs typeface="宋体"/>
              </a:rPr>
              <a:t>”/计数</a:t>
            </a:r>
            <a:endParaRPr sz="2000">
              <a:latin typeface="宋体"/>
              <a:cs typeface="宋体"/>
            </a:endParaRPr>
          </a:p>
          <a:p>
            <a:pPr lvl="1" marL="1658620" indent="-381000">
              <a:lnSpc>
                <a:spcPct val="100000"/>
              </a:lnSpc>
              <a:spcBef>
                <a:spcPts val="1680"/>
              </a:spcBef>
              <a:buClr>
                <a:srgbClr val="006600"/>
              </a:buClr>
              <a:buSzPct val="65000"/>
              <a:buFont typeface="Wingdings"/>
              <a:buChar char=""/>
              <a:tabLst>
                <a:tab pos="1658620" algn="l"/>
              </a:tabLst>
            </a:pPr>
            <a:r>
              <a:rPr dirty="0" sz="2000" spc="-20" b="1">
                <a:solidFill>
                  <a:srgbClr val="40458B"/>
                </a:solidFill>
                <a:latin typeface="宋体"/>
                <a:cs typeface="宋体"/>
              </a:rPr>
              <a:t>地址运算部件：整数加，整数乘</a:t>
            </a:r>
            <a:endParaRPr sz="2000">
              <a:latin typeface="宋体"/>
              <a:cs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02791" y="218897"/>
            <a:ext cx="8204200" cy="452120"/>
          </a:xfrm>
          <a:prstGeom prst="rect"/>
        </p:spPr>
        <p:txBody>
          <a:bodyPr wrap="square" lIns="0" tIns="12065" rIns="0" bIns="0" rtlCol="0" vert="horz">
            <a:spAutoFit/>
          </a:bodyPr>
          <a:lstStyle/>
          <a:p>
            <a:pPr marL="38100">
              <a:lnSpc>
                <a:spcPct val="100000"/>
              </a:lnSpc>
              <a:spcBef>
                <a:spcPts val="95"/>
              </a:spcBef>
            </a:pPr>
            <a:r>
              <a:rPr dirty="0" sz="2800"/>
              <a:t>4.3</a:t>
            </a:r>
            <a:r>
              <a:rPr dirty="0" sz="2800" spc="-60"/>
              <a:t> 提高向量处理机性能的常用技术 </a:t>
            </a:r>
            <a:r>
              <a:rPr dirty="0" baseline="-9615" sz="3900">
                <a:solidFill>
                  <a:srgbClr val="0000CC"/>
                </a:solidFill>
              </a:rPr>
              <a:t>4.3.2</a:t>
            </a:r>
            <a:r>
              <a:rPr dirty="0" baseline="-9615" sz="3900" spc="-15">
                <a:solidFill>
                  <a:srgbClr val="0000CC"/>
                </a:solidFill>
              </a:rPr>
              <a:t> 链接技术</a:t>
            </a:r>
            <a:endParaRPr baseline="-9615" sz="3900"/>
          </a:p>
        </p:txBody>
      </p:sp>
      <p:sp>
        <p:nvSpPr>
          <p:cNvPr id="10" name="object 10" descr=""/>
          <p:cNvSpPr txBox="1"/>
          <p:nvPr/>
        </p:nvSpPr>
        <p:spPr>
          <a:xfrm>
            <a:off x="-67259" y="887095"/>
            <a:ext cx="9030970" cy="1993900"/>
          </a:xfrm>
          <a:prstGeom prst="rect">
            <a:avLst/>
          </a:prstGeom>
        </p:spPr>
        <p:txBody>
          <a:bodyPr wrap="square" lIns="0" tIns="12700" rIns="0" bIns="0" rtlCol="0" vert="horz">
            <a:spAutoFit/>
          </a:bodyPr>
          <a:lstStyle/>
          <a:p>
            <a:pPr marL="158115">
              <a:lnSpc>
                <a:spcPct val="100000"/>
              </a:lnSpc>
              <a:spcBef>
                <a:spcPts val="100"/>
              </a:spcBef>
            </a:pPr>
            <a:r>
              <a:rPr dirty="0" sz="2400">
                <a:solidFill>
                  <a:srgbClr val="FF0000"/>
                </a:solidFill>
                <a:latin typeface="黑体"/>
                <a:cs typeface="黑体"/>
              </a:rPr>
              <a:t>链接技术</a:t>
            </a:r>
            <a:r>
              <a:rPr dirty="0" sz="2400" spc="-5">
                <a:solidFill>
                  <a:srgbClr val="40458B"/>
                </a:solidFill>
                <a:latin typeface="黑体"/>
                <a:cs typeface="黑体"/>
              </a:rPr>
              <a:t>是提高计算机整体运算速度的一个非常重要的措施。</a:t>
            </a:r>
            <a:endParaRPr sz="2400">
              <a:latin typeface="黑体"/>
              <a:cs typeface="黑体"/>
            </a:endParaRPr>
          </a:p>
          <a:p>
            <a:pPr marL="788035" marR="5080">
              <a:lnSpc>
                <a:spcPct val="100800"/>
              </a:lnSpc>
            </a:pPr>
            <a:r>
              <a:rPr dirty="0" sz="2400" spc="-5">
                <a:solidFill>
                  <a:srgbClr val="40458B"/>
                </a:solidFill>
                <a:latin typeface="黑体"/>
                <a:cs typeface="黑体"/>
              </a:rPr>
              <a:t>只要</a:t>
            </a:r>
            <a:r>
              <a:rPr dirty="0" sz="2400">
                <a:solidFill>
                  <a:srgbClr val="FF0000"/>
                </a:solidFill>
                <a:latin typeface="黑体"/>
                <a:cs typeface="黑体"/>
              </a:rPr>
              <a:t>不出现</a:t>
            </a:r>
            <a:r>
              <a:rPr dirty="0" sz="2400" spc="-5">
                <a:solidFill>
                  <a:srgbClr val="40458B"/>
                </a:solidFill>
                <a:latin typeface="黑体"/>
                <a:cs typeface="黑体"/>
              </a:rPr>
              <a:t>功能部件使用冲突和源向量寄存器使用冲突，链接机构可使有数据相关的向量指令仍能大部分时间并行执行。</a:t>
            </a:r>
            <a:endParaRPr sz="2400">
              <a:latin typeface="黑体"/>
              <a:cs typeface="黑体"/>
            </a:endParaRPr>
          </a:p>
          <a:p>
            <a:pPr>
              <a:lnSpc>
                <a:spcPct val="100000"/>
              </a:lnSpc>
              <a:spcBef>
                <a:spcPts val="810"/>
              </a:spcBef>
            </a:pPr>
            <a:endParaRPr sz="2400">
              <a:latin typeface="黑体"/>
              <a:cs typeface="黑体"/>
            </a:endParaRPr>
          </a:p>
          <a:p>
            <a:pPr marL="12700">
              <a:lnSpc>
                <a:spcPct val="100000"/>
              </a:lnSpc>
            </a:pPr>
            <a:r>
              <a:rPr dirty="0" sz="2400" spc="-25">
                <a:solidFill>
                  <a:srgbClr val="E14B04"/>
                </a:solidFill>
                <a:latin typeface="Tahoma"/>
                <a:cs typeface="Tahoma"/>
              </a:rPr>
              <a:t>1</a:t>
            </a:r>
            <a:r>
              <a:rPr dirty="0" sz="2400" spc="-10">
                <a:solidFill>
                  <a:srgbClr val="E14B04"/>
                </a:solidFill>
                <a:latin typeface="黑体"/>
                <a:cs typeface="黑体"/>
              </a:rPr>
              <a:t>、两条向量指令占用功能流水线和向量寄存器的</a:t>
            </a:r>
            <a:r>
              <a:rPr dirty="0" sz="2400" spc="-10">
                <a:solidFill>
                  <a:srgbClr val="9933FF"/>
                </a:solidFill>
                <a:latin typeface="Times New Roman"/>
                <a:cs typeface="Times New Roman"/>
              </a:rPr>
              <a:t>4</a:t>
            </a:r>
            <a:r>
              <a:rPr dirty="0" sz="2400" spc="-20">
                <a:solidFill>
                  <a:srgbClr val="E14B04"/>
                </a:solidFill>
                <a:latin typeface="黑体"/>
                <a:cs typeface="黑体"/>
              </a:rPr>
              <a:t>种情况</a:t>
            </a:r>
            <a:endParaRPr sz="2400">
              <a:latin typeface="黑体"/>
              <a:cs typeface="黑体"/>
            </a:endParaRPr>
          </a:p>
        </p:txBody>
      </p:sp>
      <p:sp>
        <p:nvSpPr>
          <p:cNvPr id="11" name="object 11" descr=""/>
          <p:cNvSpPr txBox="1"/>
          <p:nvPr/>
        </p:nvSpPr>
        <p:spPr>
          <a:xfrm>
            <a:off x="562152" y="3111753"/>
            <a:ext cx="200850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0">
                <a:solidFill>
                  <a:srgbClr val="40458B"/>
                </a:solidFill>
                <a:latin typeface="黑体"/>
                <a:cs typeface="黑体"/>
              </a:rPr>
              <a:t>指令不相关</a:t>
            </a:r>
            <a:endParaRPr sz="2400">
              <a:latin typeface="黑体"/>
              <a:cs typeface="黑体"/>
            </a:endParaRPr>
          </a:p>
        </p:txBody>
      </p:sp>
      <p:sp>
        <p:nvSpPr>
          <p:cNvPr id="12" name="object 12" descr=""/>
          <p:cNvSpPr txBox="1"/>
          <p:nvPr/>
        </p:nvSpPr>
        <p:spPr>
          <a:xfrm>
            <a:off x="1190345" y="3432175"/>
            <a:ext cx="7386955" cy="601980"/>
          </a:xfrm>
          <a:prstGeom prst="rect">
            <a:avLst/>
          </a:prstGeom>
        </p:spPr>
        <p:txBody>
          <a:bodyPr wrap="square" lIns="0" tIns="13335" rIns="0" bIns="0" rtlCol="0" vert="horz">
            <a:spAutoFit/>
          </a:bodyPr>
          <a:lstStyle/>
          <a:p>
            <a:pPr algn="r" marR="837565">
              <a:lnSpc>
                <a:spcPts val="2265"/>
              </a:lnSpc>
              <a:spcBef>
                <a:spcPts val="105"/>
              </a:spcBef>
            </a:pPr>
            <a:r>
              <a:rPr dirty="0" sz="2000" spc="-10">
                <a:solidFill>
                  <a:srgbClr val="40458B"/>
                </a:solidFill>
                <a:latin typeface="Times New Roman"/>
                <a:cs typeface="Times New Roman"/>
              </a:rPr>
              <a:t>V6←V4*V5</a:t>
            </a:r>
            <a:endParaRPr sz="2000">
              <a:latin typeface="Times New Roman"/>
              <a:cs typeface="Times New Roman"/>
            </a:endParaRPr>
          </a:p>
          <a:p>
            <a:pPr marL="469265" indent="-456565">
              <a:lnSpc>
                <a:spcPts val="2265"/>
              </a:lnSpc>
              <a:buClr>
                <a:srgbClr val="4668F5"/>
              </a:buClr>
              <a:buSzPct val="65000"/>
              <a:buFont typeface="Wingdings"/>
              <a:buChar char=""/>
              <a:tabLst>
                <a:tab pos="469265" algn="l"/>
              </a:tabLst>
            </a:pPr>
            <a:r>
              <a:rPr dirty="0" sz="2000" spc="-30" b="1">
                <a:solidFill>
                  <a:srgbClr val="00AFEF"/>
                </a:solidFill>
                <a:latin typeface="宋体"/>
                <a:cs typeface="宋体"/>
              </a:rPr>
              <a:t>这两条指令分别使用各自所需的流水线和向量寄存器，可以并</a:t>
            </a:r>
            <a:endParaRPr sz="2000">
              <a:latin typeface="宋体"/>
              <a:cs typeface="宋体"/>
            </a:endParaRPr>
          </a:p>
        </p:txBody>
      </p:sp>
      <p:sp>
        <p:nvSpPr>
          <p:cNvPr id="13" name="object 13" descr=""/>
          <p:cNvSpPr txBox="1"/>
          <p:nvPr/>
        </p:nvSpPr>
        <p:spPr>
          <a:xfrm>
            <a:off x="1647570" y="4160646"/>
            <a:ext cx="1049655" cy="330835"/>
          </a:xfrm>
          <a:prstGeom prst="rect">
            <a:avLst/>
          </a:prstGeom>
        </p:spPr>
        <p:txBody>
          <a:bodyPr wrap="square" lIns="0" tIns="12700" rIns="0" bIns="0" rtlCol="0" vert="horz">
            <a:spAutoFit/>
          </a:bodyPr>
          <a:lstStyle/>
          <a:p>
            <a:pPr marL="12700">
              <a:lnSpc>
                <a:spcPct val="100000"/>
              </a:lnSpc>
              <a:spcBef>
                <a:spcPts val="100"/>
              </a:spcBef>
            </a:pPr>
            <a:r>
              <a:rPr dirty="0" sz="2000" spc="-20" b="1">
                <a:solidFill>
                  <a:srgbClr val="00AFEF"/>
                </a:solidFill>
                <a:latin typeface="宋体"/>
                <a:cs typeface="宋体"/>
              </a:rPr>
              <a:t>行执行。</a:t>
            </a:r>
            <a:endParaRPr sz="2000">
              <a:latin typeface="宋体"/>
              <a:cs typeface="宋体"/>
            </a:endParaRPr>
          </a:p>
        </p:txBody>
      </p:sp>
      <p:sp>
        <p:nvSpPr>
          <p:cNvPr id="14" name="object 14" descr=""/>
          <p:cNvSpPr txBox="1"/>
          <p:nvPr/>
        </p:nvSpPr>
        <p:spPr>
          <a:xfrm>
            <a:off x="562152" y="4709286"/>
            <a:ext cx="231330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0">
                <a:solidFill>
                  <a:srgbClr val="40458B"/>
                </a:solidFill>
                <a:latin typeface="黑体"/>
                <a:cs typeface="黑体"/>
              </a:rPr>
              <a:t>功能部件冲突</a:t>
            </a:r>
            <a:endParaRPr sz="2400">
              <a:latin typeface="黑体"/>
              <a:cs typeface="黑体"/>
            </a:endParaRPr>
          </a:p>
        </p:txBody>
      </p:sp>
      <p:sp>
        <p:nvSpPr>
          <p:cNvPr id="15" name="object 15" descr=""/>
          <p:cNvSpPr txBox="1"/>
          <p:nvPr/>
        </p:nvSpPr>
        <p:spPr>
          <a:xfrm>
            <a:off x="1376299" y="5149037"/>
            <a:ext cx="7386320" cy="1397635"/>
          </a:xfrm>
          <a:prstGeom prst="rect">
            <a:avLst/>
          </a:prstGeom>
        </p:spPr>
        <p:txBody>
          <a:bodyPr wrap="square" lIns="0" tIns="12700" rIns="0" bIns="0" rtlCol="0" vert="horz">
            <a:spAutoFit/>
          </a:bodyPr>
          <a:lstStyle/>
          <a:p>
            <a:pPr algn="just" marL="469900" marR="5080" indent="-457200">
              <a:lnSpc>
                <a:spcPct val="150000"/>
              </a:lnSpc>
              <a:spcBef>
                <a:spcPts val="100"/>
              </a:spcBef>
              <a:buClr>
                <a:srgbClr val="4668F5"/>
              </a:buClr>
              <a:buSzPct val="65000"/>
              <a:buFont typeface="Wingdings"/>
              <a:buChar char=""/>
              <a:tabLst>
                <a:tab pos="469900" algn="l"/>
              </a:tabLst>
            </a:pPr>
            <a:r>
              <a:rPr dirty="0" sz="2000" spc="-20" b="1">
                <a:solidFill>
                  <a:srgbClr val="00AFEF"/>
                </a:solidFill>
                <a:latin typeface="宋体"/>
                <a:cs typeface="宋体"/>
              </a:rPr>
              <a:t>这两条指令都要使用加法流水线，发生了功能部件冲突</a:t>
            </a:r>
            <a:r>
              <a:rPr dirty="0" sz="2000" spc="-10" b="1">
                <a:solidFill>
                  <a:srgbClr val="00AFEF"/>
                </a:solidFill>
                <a:latin typeface="宋体"/>
                <a:cs typeface="宋体"/>
              </a:rPr>
              <a:t>（</a:t>
            </a:r>
            <a:r>
              <a:rPr dirty="0" sz="2000" spc="-35" b="1">
                <a:solidFill>
                  <a:srgbClr val="00AFEF"/>
                </a:solidFill>
                <a:latin typeface="宋体"/>
                <a:cs typeface="宋体"/>
              </a:rPr>
              <a:t>但向</a:t>
            </a:r>
            <a:r>
              <a:rPr dirty="0" sz="2000" spc="-10" b="1">
                <a:solidFill>
                  <a:srgbClr val="00AFEF"/>
                </a:solidFill>
                <a:latin typeface="宋体"/>
                <a:cs typeface="宋体"/>
              </a:rPr>
              <a:t>量寄存器不冲突）</a:t>
            </a:r>
            <a:r>
              <a:rPr dirty="0" sz="2000" spc="-25" b="1">
                <a:solidFill>
                  <a:srgbClr val="00AFEF"/>
                </a:solidFill>
                <a:latin typeface="宋体"/>
                <a:cs typeface="宋体"/>
              </a:rPr>
              <a:t>。当第一条指令流出时，占用加法流水线。第二条指令要等加法流水线变成空闲后，才能流出。</a:t>
            </a:r>
            <a:endParaRPr sz="2000">
              <a:latin typeface="宋体"/>
              <a:cs typeface="宋体"/>
            </a:endParaRPr>
          </a:p>
        </p:txBody>
      </p:sp>
      <p:sp>
        <p:nvSpPr>
          <p:cNvPr id="16" name="object 16" descr=""/>
          <p:cNvSpPr txBox="1"/>
          <p:nvPr/>
        </p:nvSpPr>
        <p:spPr>
          <a:xfrm>
            <a:off x="5642228" y="2974975"/>
            <a:ext cx="2235835" cy="330835"/>
          </a:xfrm>
          <a:prstGeom prst="rect">
            <a:avLst/>
          </a:prstGeom>
        </p:spPr>
        <p:txBody>
          <a:bodyPr wrap="square" lIns="0" tIns="13335" rIns="0" bIns="0" rtlCol="0" vert="horz">
            <a:spAutoFit/>
          </a:bodyPr>
          <a:lstStyle/>
          <a:p>
            <a:pPr marL="12700">
              <a:lnSpc>
                <a:spcPct val="100000"/>
              </a:lnSpc>
              <a:spcBef>
                <a:spcPts val="105"/>
              </a:spcBef>
            </a:pPr>
            <a:r>
              <a:rPr dirty="0" sz="2000" spc="-5">
                <a:solidFill>
                  <a:srgbClr val="D50092"/>
                </a:solidFill>
                <a:latin typeface="黑体"/>
                <a:cs typeface="黑体"/>
              </a:rPr>
              <a:t>例如：</a:t>
            </a:r>
            <a:r>
              <a:rPr dirty="0" sz="2000" spc="-10">
                <a:solidFill>
                  <a:srgbClr val="40458B"/>
                </a:solidFill>
                <a:latin typeface="Times New Roman"/>
                <a:cs typeface="Times New Roman"/>
              </a:rPr>
              <a:t>V0←V1</a:t>
            </a:r>
            <a:r>
              <a:rPr dirty="0" sz="2000" spc="-10">
                <a:solidFill>
                  <a:srgbClr val="40458B"/>
                </a:solidFill>
                <a:latin typeface="黑体"/>
                <a:cs typeface="黑体"/>
              </a:rPr>
              <a:t>＋</a:t>
            </a:r>
            <a:r>
              <a:rPr dirty="0" sz="2000" spc="-10">
                <a:solidFill>
                  <a:srgbClr val="40458B"/>
                </a:solidFill>
                <a:latin typeface="Times New Roman"/>
                <a:cs typeface="Times New Roman"/>
              </a:rPr>
              <a:t>V2</a:t>
            </a:r>
            <a:endParaRPr sz="2000">
              <a:latin typeface="Times New Roman"/>
              <a:cs typeface="Times New Roman"/>
            </a:endParaRPr>
          </a:p>
        </p:txBody>
      </p:sp>
      <p:sp>
        <p:nvSpPr>
          <p:cNvPr id="17" name="object 17" descr=""/>
          <p:cNvSpPr txBox="1"/>
          <p:nvPr/>
        </p:nvSpPr>
        <p:spPr>
          <a:xfrm>
            <a:off x="5853429" y="3920464"/>
            <a:ext cx="2235835" cy="939800"/>
          </a:xfrm>
          <a:prstGeom prst="rect">
            <a:avLst/>
          </a:prstGeom>
        </p:spPr>
        <p:txBody>
          <a:bodyPr wrap="square" lIns="0" tIns="165100" rIns="0" bIns="0" rtlCol="0" vert="horz">
            <a:spAutoFit/>
          </a:bodyPr>
          <a:lstStyle/>
          <a:p>
            <a:pPr marL="12700">
              <a:lnSpc>
                <a:spcPct val="100000"/>
              </a:lnSpc>
              <a:spcBef>
                <a:spcPts val="1300"/>
              </a:spcBef>
            </a:pPr>
            <a:r>
              <a:rPr dirty="0" sz="2000" spc="-5">
                <a:solidFill>
                  <a:srgbClr val="D50092"/>
                </a:solidFill>
                <a:latin typeface="黑体"/>
                <a:cs typeface="黑体"/>
              </a:rPr>
              <a:t>例如：</a:t>
            </a:r>
            <a:r>
              <a:rPr dirty="0" sz="2000" spc="-10">
                <a:solidFill>
                  <a:srgbClr val="40458B"/>
                </a:solidFill>
                <a:latin typeface="Times New Roman"/>
                <a:cs typeface="Times New Roman"/>
              </a:rPr>
              <a:t>V3←V1</a:t>
            </a:r>
            <a:r>
              <a:rPr dirty="0" sz="2000" spc="-10">
                <a:solidFill>
                  <a:srgbClr val="9933FF"/>
                </a:solidFill>
                <a:latin typeface="黑体"/>
                <a:cs typeface="黑体"/>
              </a:rPr>
              <a:t>＋</a:t>
            </a:r>
            <a:r>
              <a:rPr dirty="0" sz="2000" spc="-10">
                <a:solidFill>
                  <a:srgbClr val="40458B"/>
                </a:solidFill>
                <a:latin typeface="Times New Roman"/>
                <a:cs typeface="Times New Roman"/>
              </a:rPr>
              <a:t>V2</a:t>
            </a:r>
            <a:endParaRPr sz="2000">
              <a:latin typeface="Times New Roman"/>
              <a:cs typeface="Times New Roman"/>
            </a:endParaRPr>
          </a:p>
          <a:p>
            <a:pPr marL="769620">
              <a:lnSpc>
                <a:spcPct val="100000"/>
              </a:lnSpc>
              <a:spcBef>
                <a:spcPts val="1200"/>
              </a:spcBef>
            </a:pPr>
            <a:r>
              <a:rPr dirty="0" sz="2000" spc="-10">
                <a:solidFill>
                  <a:srgbClr val="40458B"/>
                </a:solidFill>
                <a:latin typeface="Times New Roman"/>
                <a:cs typeface="Times New Roman"/>
              </a:rPr>
              <a:t>V6←V4</a:t>
            </a:r>
            <a:r>
              <a:rPr dirty="0" sz="2000" spc="-10">
                <a:solidFill>
                  <a:srgbClr val="9933FF"/>
                </a:solidFill>
                <a:latin typeface="黑体"/>
                <a:cs typeface="黑体"/>
              </a:rPr>
              <a:t>＋</a:t>
            </a:r>
            <a:r>
              <a:rPr dirty="0" sz="2000" spc="-10">
                <a:solidFill>
                  <a:srgbClr val="40458B"/>
                </a:solidFill>
                <a:latin typeface="Times New Roman"/>
                <a:cs typeface="Times New Roman"/>
              </a:rPr>
              <a:t>V5</a:t>
            </a:r>
            <a:endParaRPr sz="20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444804" y="624914"/>
            <a:ext cx="8605520" cy="4451350"/>
          </a:xfrm>
          <a:prstGeom prst="rect">
            <a:avLst/>
          </a:prstGeom>
        </p:spPr>
        <p:txBody>
          <a:bodyPr wrap="square" lIns="0" tIns="84455" rIns="0" bIns="0" rtlCol="0" vert="horz">
            <a:spAutoFit/>
          </a:bodyPr>
          <a:lstStyle/>
          <a:p>
            <a:pPr marL="6235700">
              <a:lnSpc>
                <a:spcPct val="100000"/>
              </a:lnSpc>
              <a:spcBef>
                <a:spcPts val="665"/>
              </a:spcBef>
            </a:pPr>
            <a:r>
              <a:rPr dirty="0" sz="2600">
                <a:solidFill>
                  <a:srgbClr val="0000CC"/>
                </a:solidFill>
                <a:latin typeface="黑体"/>
                <a:cs typeface="黑体"/>
              </a:rPr>
              <a:t>4.3.2</a:t>
            </a:r>
            <a:r>
              <a:rPr dirty="0" sz="2600" spc="-15">
                <a:solidFill>
                  <a:srgbClr val="0000CC"/>
                </a:solidFill>
                <a:latin typeface="黑体"/>
                <a:cs typeface="黑体"/>
              </a:rPr>
              <a:t> 链接技术</a:t>
            </a:r>
            <a:endParaRPr sz="2600">
              <a:latin typeface="黑体"/>
              <a:cs typeface="黑体"/>
            </a:endParaRPr>
          </a:p>
          <a:p>
            <a:pPr marL="12700">
              <a:lnSpc>
                <a:spcPct val="100000"/>
              </a:lnSpc>
              <a:spcBef>
                <a:spcPts val="525"/>
              </a:spcBef>
            </a:pPr>
            <a:r>
              <a:rPr dirty="0" sz="2400" spc="-25">
                <a:solidFill>
                  <a:srgbClr val="FF0000"/>
                </a:solidFill>
                <a:latin typeface="Tahoma"/>
                <a:cs typeface="Tahoma"/>
              </a:rPr>
              <a:t>1</a:t>
            </a:r>
            <a:r>
              <a:rPr dirty="0" sz="2400">
                <a:solidFill>
                  <a:srgbClr val="FF0000"/>
                </a:solidFill>
                <a:latin typeface="黑体"/>
                <a:cs typeface="黑体"/>
              </a:rPr>
              <a:t>、两条向量指令占用功能流水线和向量寄存器的</a:t>
            </a:r>
            <a:r>
              <a:rPr dirty="0" sz="2400">
                <a:solidFill>
                  <a:srgbClr val="FF0000"/>
                </a:solidFill>
                <a:latin typeface="Times New Roman"/>
                <a:cs typeface="Times New Roman"/>
              </a:rPr>
              <a:t>4</a:t>
            </a:r>
            <a:r>
              <a:rPr dirty="0" sz="2400" spc="-20">
                <a:solidFill>
                  <a:srgbClr val="FF0000"/>
                </a:solidFill>
                <a:latin typeface="黑体"/>
                <a:cs typeface="黑体"/>
              </a:rPr>
              <a:t>种情况</a:t>
            </a:r>
            <a:endParaRPr sz="2400">
              <a:latin typeface="黑体"/>
              <a:cs typeface="黑体"/>
            </a:endParaRPr>
          </a:p>
          <a:p>
            <a:pPr marL="469265" indent="-456565">
              <a:lnSpc>
                <a:spcPct val="100000"/>
              </a:lnSpc>
              <a:spcBef>
                <a:spcPts val="620"/>
              </a:spcBef>
              <a:buSzPct val="89583"/>
              <a:buFont typeface="Wingdings"/>
              <a:buChar char=""/>
              <a:tabLst>
                <a:tab pos="469265" algn="l"/>
              </a:tabLst>
            </a:pPr>
            <a:r>
              <a:rPr dirty="0" sz="2400" spc="-20">
                <a:solidFill>
                  <a:srgbClr val="40458B"/>
                </a:solidFill>
                <a:latin typeface="黑体"/>
                <a:cs typeface="黑体"/>
              </a:rPr>
              <a:t>源寄存器冲突</a:t>
            </a:r>
            <a:endParaRPr sz="2400">
              <a:latin typeface="黑体"/>
              <a:cs typeface="黑体"/>
            </a:endParaRPr>
          </a:p>
          <a:p>
            <a:pPr marL="640080">
              <a:lnSpc>
                <a:spcPct val="100000"/>
              </a:lnSpc>
              <a:spcBef>
                <a:spcPts val="1210"/>
              </a:spcBef>
            </a:pPr>
            <a:r>
              <a:rPr dirty="0" sz="2000" spc="-10" b="1">
                <a:solidFill>
                  <a:srgbClr val="D50092"/>
                </a:solidFill>
                <a:latin typeface="宋体"/>
                <a:cs typeface="宋体"/>
              </a:rPr>
              <a:t>例如：</a:t>
            </a:r>
            <a:r>
              <a:rPr dirty="0" sz="2000" spc="-10" b="1">
                <a:solidFill>
                  <a:srgbClr val="00AFEF"/>
                </a:solidFill>
                <a:latin typeface="Times New Roman"/>
                <a:cs typeface="Times New Roman"/>
              </a:rPr>
              <a:t>V3←</a:t>
            </a:r>
            <a:r>
              <a:rPr dirty="0" sz="2000" spc="-10" b="1">
                <a:solidFill>
                  <a:srgbClr val="9933FF"/>
                </a:solidFill>
                <a:latin typeface="Times New Roman"/>
                <a:cs typeface="Times New Roman"/>
              </a:rPr>
              <a:t>V1</a:t>
            </a:r>
            <a:r>
              <a:rPr dirty="0" sz="2000" spc="-10" b="1">
                <a:solidFill>
                  <a:srgbClr val="00AFEF"/>
                </a:solidFill>
                <a:latin typeface="宋体"/>
                <a:cs typeface="宋体"/>
              </a:rPr>
              <a:t>＋</a:t>
            </a:r>
            <a:r>
              <a:rPr dirty="0" sz="2000" spc="-10" b="1">
                <a:solidFill>
                  <a:srgbClr val="00AFEF"/>
                </a:solidFill>
                <a:latin typeface="Times New Roman"/>
                <a:cs typeface="Times New Roman"/>
              </a:rPr>
              <a:t>V2</a:t>
            </a:r>
            <a:endParaRPr sz="2000">
              <a:latin typeface="Times New Roman"/>
              <a:cs typeface="Times New Roman"/>
            </a:endParaRPr>
          </a:p>
          <a:p>
            <a:pPr marL="1466215">
              <a:lnSpc>
                <a:spcPct val="100000"/>
              </a:lnSpc>
              <a:spcBef>
                <a:spcPts val="1285"/>
              </a:spcBef>
            </a:pPr>
            <a:r>
              <a:rPr dirty="0" sz="2000" spc="-10" b="1">
                <a:solidFill>
                  <a:srgbClr val="00AFEF"/>
                </a:solidFill>
                <a:latin typeface="Times New Roman"/>
                <a:cs typeface="Times New Roman"/>
              </a:rPr>
              <a:t>V6←</a:t>
            </a:r>
            <a:r>
              <a:rPr dirty="0" sz="2000" spc="-10" b="1">
                <a:solidFill>
                  <a:srgbClr val="9933FF"/>
                </a:solidFill>
                <a:latin typeface="Times New Roman"/>
                <a:cs typeface="Times New Roman"/>
              </a:rPr>
              <a:t>V1</a:t>
            </a:r>
            <a:r>
              <a:rPr dirty="0" sz="2000" spc="-10" b="1">
                <a:solidFill>
                  <a:srgbClr val="00AFEF"/>
                </a:solidFill>
                <a:latin typeface="Times New Roman"/>
                <a:cs typeface="Times New Roman"/>
              </a:rPr>
              <a:t>*V4</a:t>
            </a:r>
            <a:endParaRPr sz="2000">
              <a:latin typeface="Times New Roman"/>
              <a:cs typeface="Times New Roman"/>
            </a:endParaRPr>
          </a:p>
          <a:p>
            <a:pPr algn="just" lvl="1" marL="607060" marR="5715" indent="-360045">
              <a:lnSpc>
                <a:spcPct val="133500"/>
              </a:lnSpc>
              <a:spcBef>
                <a:spcPts val="470"/>
              </a:spcBef>
              <a:buClr>
                <a:srgbClr val="4668F5"/>
              </a:buClr>
              <a:buSzPct val="65000"/>
              <a:buFont typeface="Wingdings"/>
              <a:buChar char=""/>
              <a:tabLst>
                <a:tab pos="607060" algn="l"/>
              </a:tabLst>
            </a:pPr>
            <a:r>
              <a:rPr dirty="0" sz="2000" spc="-20" b="1">
                <a:solidFill>
                  <a:srgbClr val="00AFEF"/>
                </a:solidFill>
                <a:latin typeface="宋体"/>
                <a:cs typeface="宋体"/>
              </a:rPr>
              <a:t>这两条向量指令的源向量之一都取自</a:t>
            </a:r>
            <a:r>
              <a:rPr dirty="0" sz="2000" spc="-10" b="1">
                <a:solidFill>
                  <a:srgbClr val="9933FF"/>
                </a:solidFill>
                <a:latin typeface="Times New Roman"/>
                <a:cs typeface="Times New Roman"/>
              </a:rPr>
              <a:t>V1</a:t>
            </a:r>
            <a:r>
              <a:rPr dirty="0" sz="2000" spc="-25" b="1">
                <a:solidFill>
                  <a:srgbClr val="00AFEF"/>
                </a:solidFill>
                <a:latin typeface="宋体"/>
                <a:cs typeface="宋体"/>
              </a:rPr>
              <a:t>。由于两者的首元素下标可能不</a:t>
            </a:r>
            <a:r>
              <a:rPr dirty="0" sz="2000" spc="-20" b="1">
                <a:solidFill>
                  <a:srgbClr val="00AFEF"/>
                </a:solidFill>
                <a:latin typeface="宋体"/>
                <a:cs typeface="宋体"/>
              </a:rPr>
              <a:t>同，向量长度也可能不同，所以难以由</a:t>
            </a:r>
            <a:r>
              <a:rPr dirty="0" sz="2000" spc="-20" b="1">
                <a:solidFill>
                  <a:srgbClr val="9933FF"/>
                </a:solidFill>
                <a:latin typeface="Times New Roman"/>
                <a:cs typeface="Times New Roman"/>
              </a:rPr>
              <a:t>V1</a:t>
            </a:r>
            <a:r>
              <a:rPr dirty="0" sz="2000" spc="-25" b="1">
                <a:solidFill>
                  <a:srgbClr val="00AFEF"/>
                </a:solidFill>
                <a:latin typeface="宋体"/>
                <a:cs typeface="宋体"/>
              </a:rPr>
              <a:t>同时提供两条指令所需要的源向量。</a:t>
            </a:r>
            <a:endParaRPr sz="2000">
              <a:latin typeface="宋体"/>
              <a:cs typeface="宋体"/>
            </a:endParaRPr>
          </a:p>
          <a:p>
            <a:pPr algn="just" lvl="1" marL="605790" indent="-358775">
              <a:lnSpc>
                <a:spcPct val="100000"/>
              </a:lnSpc>
              <a:spcBef>
                <a:spcPts val="1270"/>
              </a:spcBef>
              <a:buClr>
                <a:srgbClr val="4668F5"/>
              </a:buClr>
              <a:buSzPct val="65000"/>
              <a:buFont typeface="Wingdings"/>
              <a:buChar char=""/>
              <a:tabLst>
                <a:tab pos="605790" algn="l"/>
              </a:tabLst>
            </a:pPr>
            <a:r>
              <a:rPr dirty="0" sz="2000" spc="-25" b="1">
                <a:solidFill>
                  <a:srgbClr val="00AFEF"/>
                </a:solidFill>
                <a:latin typeface="宋体"/>
                <a:cs typeface="宋体"/>
              </a:rPr>
              <a:t>这两条向量指令不能同时执行。只有等第一条向量指令执行完、释放</a:t>
            </a:r>
            <a:r>
              <a:rPr dirty="0" sz="2000" spc="-25" b="1">
                <a:solidFill>
                  <a:srgbClr val="9933FF"/>
                </a:solidFill>
                <a:latin typeface="Times New Roman"/>
                <a:cs typeface="Times New Roman"/>
              </a:rPr>
              <a:t>V1</a:t>
            </a:r>
            <a:endParaRPr sz="2000">
              <a:latin typeface="Times New Roman"/>
              <a:cs typeface="Times New Roman"/>
            </a:endParaRPr>
          </a:p>
          <a:p>
            <a:pPr marL="607060">
              <a:lnSpc>
                <a:spcPct val="100000"/>
              </a:lnSpc>
              <a:spcBef>
                <a:spcPts val="805"/>
              </a:spcBef>
            </a:pPr>
            <a:r>
              <a:rPr dirty="0" sz="2000" spc="-25" b="1">
                <a:solidFill>
                  <a:srgbClr val="00AFEF"/>
                </a:solidFill>
                <a:latin typeface="宋体"/>
                <a:cs typeface="宋体"/>
              </a:rPr>
              <a:t>之后，第二条向量指令才能开始执行。</a:t>
            </a:r>
            <a:endParaRPr sz="2000">
              <a:latin typeface="宋体"/>
              <a:cs typeface="宋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905967" y="179070"/>
            <a:ext cx="6532880" cy="513715"/>
          </a:xfrm>
          <a:prstGeom prst="rect"/>
        </p:spPr>
        <p:txBody>
          <a:bodyPr wrap="square" lIns="0" tIns="12700" rIns="0" bIns="0" rtlCol="0" vert="horz">
            <a:spAutoFit/>
          </a:bodyPr>
          <a:lstStyle/>
          <a:p>
            <a:pPr marL="12700">
              <a:lnSpc>
                <a:spcPct val="100000"/>
              </a:lnSpc>
              <a:spcBef>
                <a:spcPts val="100"/>
              </a:spcBef>
            </a:pPr>
            <a:r>
              <a:rPr dirty="0"/>
              <a:t>4.3</a:t>
            </a:r>
            <a:r>
              <a:rPr dirty="0" spc="-15"/>
              <a:t> 提高向量处理机性能的常用技术</a:t>
            </a:r>
          </a:p>
        </p:txBody>
      </p:sp>
      <p:sp>
        <p:nvSpPr>
          <p:cNvPr id="10" name="object 10" descr=""/>
          <p:cNvSpPr txBox="1"/>
          <p:nvPr/>
        </p:nvSpPr>
        <p:spPr>
          <a:xfrm>
            <a:off x="140614" y="559226"/>
            <a:ext cx="8884920" cy="5512435"/>
          </a:xfrm>
          <a:prstGeom prst="rect">
            <a:avLst/>
          </a:prstGeom>
        </p:spPr>
        <p:txBody>
          <a:bodyPr wrap="square" lIns="0" tIns="96520" rIns="0" bIns="0" rtlCol="0" vert="horz">
            <a:spAutoFit/>
          </a:bodyPr>
          <a:lstStyle/>
          <a:p>
            <a:pPr marL="6468110">
              <a:lnSpc>
                <a:spcPct val="100000"/>
              </a:lnSpc>
              <a:spcBef>
                <a:spcPts val="760"/>
              </a:spcBef>
            </a:pPr>
            <a:r>
              <a:rPr dirty="0" sz="2600">
                <a:solidFill>
                  <a:srgbClr val="0000CC"/>
                </a:solidFill>
                <a:latin typeface="黑体"/>
                <a:cs typeface="黑体"/>
              </a:rPr>
              <a:t>4.3.2</a:t>
            </a:r>
            <a:r>
              <a:rPr dirty="0" sz="2600" spc="-15">
                <a:solidFill>
                  <a:srgbClr val="0000CC"/>
                </a:solidFill>
                <a:latin typeface="黑体"/>
                <a:cs typeface="黑体"/>
              </a:rPr>
              <a:t> 链接技术</a:t>
            </a:r>
            <a:endParaRPr sz="2600">
              <a:latin typeface="黑体"/>
              <a:cs typeface="黑体"/>
            </a:endParaRPr>
          </a:p>
          <a:p>
            <a:pPr marL="194945">
              <a:lnSpc>
                <a:spcPct val="100000"/>
              </a:lnSpc>
              <a:spcBef>
                <a:spcPts val="605"/>
              </a:spcBef>
            </a:pPr>
            <a:r>
              <a:rPr dirty="0" sz="2400" spc="-25">
                <a:solidFill>
                  <a:srgbClr val="FF0000"/>
                </a:solidFill>
                <a:latin typeface="Tahoma"/>
                <a:cs typeface="Tahoma"/>
              </a:rPr>
              <a:t>1</a:t>
            </a:r>
            <a:r>
              <a:rPr dirty="0" sz="2400">
                <a:solidFill>
                  <a:srgbClr val="FF0000"/>
                </a:solidFill>
                <a:latin typeface="黑体"/>
                <a:cs typeface="黑体"/>
              </a:rPr>
              <a:t>、两条向量指令占用功能流水线和向量寄存器的</a:t>
            </a:r>
            <a:r>
              <a:rPr dirty="0" sz="2400">
                <a:solidFill>
                  <a:srgbClr val="FF0000"/>
                </a:solidFill>
                <a:latin typeface="Times New Roman"/>
                <a:cs typeface="Times New Roman"/>
              </a:rPr>
              <a:t>4</a:t>
            </a:r>
            <a:r>
              <a:rPr dirty="0" sz="2400" spc="-20">
                <a:solidFill>
                  <a:srgbClr val="FF0000"/>
                </a:solidFill>
                <a:latin typeface="黑体"/>
                <a:cs typeface="黑体"/>
              </a:rPr>
              <a:t>种情况</a:t>
            </a:r>
            <a:endParaRPr sz="2400">
              <a:latin typeface="黑体"/>
              <a:cs typeface="黑体"/>
            </a:endParaRPr>
          </a:p>
          <a:p>
            <a:pPr marL="1011555" indent="-457200">
              <a:lnSpc>
                <a:spcPct val="100000"/>
              </a:lnSpc>
              <a:spcBef>
                <a:spcPts val="1000"/>
              </a:spcBef>
              <a:buSzPct val="89583"/>
              <a:buFont typeface="Wingdings"/>
              <a:buChar char=""/>
              <a:tabLst>
                <a:tab pos="1011555" algn="l"/>
              </a:tabLst>
            </a:pPr>
            <a:r>
              <a:rPr dirty="0" sz="2400" spc="-10">
                <a:solidFill>
                  <a:srgbClr val="40458B"/>
                </a:solidFill>
                <a:latin typeface="黑体"/>
                <a:cs typeface="黑体"/>
              </a:rPr>
              <a:t>结果寄存器冲突</a:t>
            </a:r>
            <a:endParaRPr sz="2400">
              <a:latin typeface="黑体"/>
              <a:cs typeface="黑体"/>
            </a:endParaRPr>
          </a:p>
          <a:p>
            <a:pPr marL="1029969">
              <a:lnSpc>
                <a:spcPct val="100000"/>
              </a:lnSpc>
              <a:spcBef>
                <a:spcPts val="395"/>
              </a:spcBef>
            </a:pPr>
            <a:r>
              <a:rPr dirty="0" sz="2400" spc="-5">
                <a:solidFill>
                  <a:srgbClr val="40458B"/>
                </a:solidFill>
                <a:latin typeface="黑体"/>
                <a:cs typeface="黑体"/>
              </a:rPr>
              <a:t>两条向量指令使用了相同的结果向量寄存器。</a:t>
            </a:r>
            <a:endParaRPr sz="2400">
              <a:latin typeface="黑体"/>
              <a:cs typeface="黑体"/>
            </a:endParaRPr>
          </a:p>
          <a:p>
            <a:pPr marL="1182370">
              <a:lnSpc>
                <a:spcPct val="100000"/>
              </a:lnSpc>
              <a:spcBef>
                <a:spcPts val="1180"/>
              </a:spcBef>
            </a:pPr>
            <a:r>
              <a:rPr dirty="0" sz="2000" spc="-10" b="1">
                <a:solidFill>
                  <a:srgbClr val="D50092"/>
                </a:solidFill>
                <a:latin typeface="宋体"/>
                <a:cs typeface="宋体"/>
              </a:rPr>
              <a:t>例如：</a:t>
            </a:r>
            <a:r>
              <a:rPr dirty="0" sz="2000" spc="-10" b="1">
                <a:solidFill>
                  <a:srgbClr val="9933FF"/>
                </a:solidFill>
                <a:latin typeface="Times New Roman"/>
                <a:cs typeface="Times New Roman"/>
              </a:rPr>
              <a:t>V4</a:t>
            </a:r>
            <a:r>
              <a:rPr dirty="0" sz="2000" spc="-10" b="1">
                <a:solidFill>
                  <a:srgbClr val="00AFEF"/>
                </a:solidFill>
                <a:latin typeface="Times New Roman"/>
                <a:cs typeface="Times New Roman"/>
              </a:rPr>
              <a:t>←V1</a:t>
            </a:r>
            <a:r>
              <a:rPr dirty="0" sz="2000" spc="-10" b="1">
                <a:solidFill>
                  <a:srgbClr val="00AFEF"/>
                </a:solidFill>
                <a:latin typeface="宋体"/>
                <a:cs typeface="宋体"/>
              </a:rPr>
              <a:t>＋</a:t>
            </a:r>
            <a:r>
              <a:rPr dirty="0" sz="2000" spc="-10" b="1">
                <a:solidFill>
                  <a:srgbClr val="00AFEF"/>
                </a:solidFill>
                <a:latin typeface="Times New Roman"/>
                <a:cs typeface="Times New Roman"/>
              </a:rPr>
              <a:t>V2</a:t>
            </a:r>
            <a:endParaRPr sz="2000">
              <a:latin typeface="Times New Roman"/>
              <a:cs typeface="Times New Roman"/>
            </a:endParaRPr>
          </a:p>
          <a:p>
            <a:pPr marL="2008505">
              <a:lnSpc>
                <a:spcPct val="100000"/>
              </a:lnSpc>
              <a:spcBef>
                <a:spcPts val="1680"/>
              </a:spcBef>
            </a:pPr>
            <a:r>
              <a:rPr dirty="0" sz="2000" spc="-10" b="1">
                <a:solidFill>
                  <a:srgbClr val="9933FF"/>
                </a:solidFill>
                <a:latin typeface="Times New Roman"/>
                <a:cs typeface="Times New Roman"/>
              </a:rPr>
              <a:t>V4</a:t>
            </a:r>
            <a:r>
              <a:rPr dirty="0" sz="2000" spc="-10" b="1">
                <a:solidFill>
                  <a:srgbClr val="00AFEF"/>
                </a:solidFill>
                <a:latin typeface="Times New Roman"/>
                <a:cs typeface="Times New Roman"/>
              </a:rPr>
              <a:t>←V3*V5</a:t>
            </a:r>
            <a:endParaRPr sz="2000">
              <a:latin typeface="Times New Roman"/>
              <a:cs typeface="Times New Roman"/>
            </a:endParaRPr>
          </a:p>
          <a:p>
            <a:pPr lvl="1" marL="1640205" indent="-457834">
              <a:lnSpc>
                <a:spcPct val="100000"/>
              </a:lnSpc>
              <a:spcBef>
                <a:spcPts val="1680"/>
              </a:spcBef>
              <a:buClr>
                <a:srgbClr val="4668F5"/>
              </a:buClr>
              <a:buSzPct val="65000"/>
              <a:buFont typeface="Wingdings"/>
              <a:buChar char=""/>
              <a:tabLst>
                <a:tab pos="1640205" algn="l"/>
              </a:tabLst>
            </a:pPr>
            <a:r>
              <a:rPr dirty="0" sz="2000" spc="-15" b="1">
                <a:solidFill>
                  <a:srgbClr val="00AFEF"/>
                </a:solidFill>
                <a:latin typeface="宋体"/>
                <a:cs typeface="宋体"/>
              </a:rPr>
              <a:t>这两条指令都要访问目的寄存器</a:t>
            </a:r>
            <a:r>
              <a:rPr dirty="0" sz="2000" spc="-20" b="1">
                <a:solidFill>
                  <a:srgbClr val="9933FF"/>
                </a:solidFill>
                <a:latin typeface="Times New Roman"/>
                <a:cs typeface="Times New Roman"/>
              </a:rPr>
              <a:t>V4</a:t>
            </a:r>
            <a:r>
              <a:rPr dirty="0" sz="2000" spc="-25" b="1">
                <a:solidFill>
                  <a:srgbClr val="00AFEF"/>
                </a:solidFill>
                <a:latin typeface="宋体"/>
                <a:cs typeface="宋体"/>
              </a:rPr>
              <a:t>。由于第一条指令在先，所</a:t>
            </a:r>
            <a:endParaRPr sz="2000">
              <a:latin typeface="宋体"/>
              <a:cs typeface="宋体"/>
            </a:endParaRPr>
          </a:p>
          <a:p>
            <a:pPr marL="1640205">
              <a:lnSpc>
                <a:spcPct val="100000"/>
              </a:lnSpc>
              <a:spcBef>
                <a:spcPts val="1200"/>
              </a:spcBef>
            </a:pPr>
            <a:r>
              <a:rPr dirty="0" sz="2000" spc="-15" b="1">
                <a:solidFill>
                  <a:srgbClr val="00AFEF"/>
                </a:solidFill>
                <a:latin typeface="宋体"/>
                <a:cs typeface="宋体"/>
              </a:rPr>
              <a:t>以它先占用</a:t>
            </a:r>
            <a:r>
              <a:rPr dirty="0" sz="2000" b="1">
                <a:solidFill>
                  <a:srgbClr val="9933FF"/>
                </a:solidFill>
                <a:latin typeface="Times New Roman"/>
                <a:cs typeface="Times New Roman"/>
              </a:rPr>
              <a:t>V4</a:t>
            </a:r>
            <a:r>
              <a:rPr dirty="0" sz="2000" spc="-25" b="1">
                <a:solidFill>
                  <a:srgbClr val="00AFEF"/>
                </a:solidFill>
                <a:latin typeface="宋体"/>
                <a:cs typeface="宋体"/>
              </a:rPr>
              <a:t>直到运算完成，然后再流出后一条指令。</a:t>
            </a:r>
            <a:endParaRPr sz="2000">
              <a:latin typeface="宋体"/>
              <a:cs typeface="宋体"/>
            </a:endParaRPr>
          </a:p>
          <a:p>
            <a:pPr>
              <a:lnSpc>
                <a:spcPct val="100000"/>
              </a:lnSpc>
              <a:spcBef>
                <a:spcPts val="1555"/>
              </a:spcBef>
            </a:pPr>
            <a:endParaRPr sz="2000">
              <a:latin typeface="宋体"/>
              <a:cs typeface="宋体"/>
            </a:endParaRPr>
          </a:p>
          <a:p>
            <a:pPr marL="641985" marR="302895" indent="-629920">
              <a:lnSpc>
                <a:spcPct val="107500"/>
              </a:lnSpc>
            </a:pPr>
            <a:r>
              <a:rPr dirty="0" sz="2400">
                <a:solidFill>
                  <a:srgbClr val="FF0000"/>
                </a:solidFill>
                <a:latin typeface="黑体"/>
                <a:cs typeface="黑体"/>
              </a:rPr>
              <a:t>链接技术</a:t>
            </a:r>
            <a:r>
              <a:rPr dirty="0" sz="2400" spc="-5">
                <a:solidFill>
                  <a:srgbClr val="40458B"/>
                </a:solidFill>
                <a:latin typeface="黑体"/>
                <a:cs typeface="黑体"/>
              </a:rPr>
              <a:t>是提高计算机整体运算速度的一个非常重要的措施。</a:t>
            </a:r>
            <a:r>
              <a:rPr dirty="0" sz="2400" spc="-50">
                <a:solidFill>
                  <a:srgbClr val="40458B"/>
                </a:solidFill>
                <a:latin typeface="黑体"/>
                <a:cs typeface="黑体"/>
              </a:rPr>
              <a:t> </a:t>
            </a:r>
            <a:r>
              <a:rPr dirty="0" sz="2400">
                <a:solidFill>
                  <a:srgbClr val="40458B"/>
                </a:solidFill>
                <a:latin typeface="黑体"/>
                <a:cs typeface="黑体"/>
              </a:rPr>
              <a:t>只要</a:t>
            </a:r>
            <a:r>
              <a:rPr dirty="0" sz="2400">
                <a:solidFill>
                  <a:srgbClr val="FF0000"/>
                </a:solidFill>
                <a:latin typeface="黑体"/>
                <a:cs typeface="黑体"/>
              </a:rPr>
              <a:t>不出现</a:t>
            </a:r>
            <a:r>
              <a:rPr dirty="0" sz="2400" spc="-5">
                <a:solidFill>
                  <a:srgbClr val="40458B"/>
                </a:solidFill>
                <a:latin typeface="黑体"/>
                <a:cs typeface="黑体"/>
              </a:rPr>
              <a:t>功能部件使用冲突和源向量寄存器使用冲突，链</a:t>
            </a:r>
            <a:endParaRPr sz="2400">
              <a:latin typeface="黑体"/>
              <a:cs typeface="黑体"/>
            </a:endParaRPr>
          </a:p>
          <a:p>
            <a:pPr marL="641985">
              <a:lnSpc>
                <a:spcPct val="100000"/>
              </a:lnSpc>
              <a:spcBef>
                <a:spcPts val="215"/>
              </a:spcBef>
            </a:pPr>
            <a:r>
              <a:rPr dirty="0" sz="2400" spc="-15">
                <a:solidFill>
                  <a:srgbClr val="40458B"/>
                </a:solidFill>
                <a:latin typeface="黑体"/>
                <a:cs typeface="黑体"/>
              </a:rPr>
              <a:t>接机构可使有数据相关的向量指令仍能大部分时间并行执行。</a:t>
            </a:r>
            <a:endParaRPr sz="2400">
              <a:latin typeface="黑体"/>
              <a:cs typeface="黑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905967" y="179070"/>
            <a:ext cx="6532880" cy="513715"/>
          </a:xfrm>
          <a:prstGeom prst="rect"/>
        </p:spPr>
        <p:txBody>
          <a:bodyPr wrap="square" lIns="0" tIns="12700" rIns="0" bIns="0" rtlCol="0" vert="horz">
            <a:spAutoFit/>
          </a:bodyPr>
          <a:lstStyle/>
          <a:p>
            <a:pPr marL="12700">
              <a:lnSpc>
                <a:spcPct val="100000"/>
              </a:lnSpc>
              <a:spcBef>
                <a:spcPts val="100"/>
              </a:spcBef>
            </a:pPr>
            <a:r>
              <a:rPr dirty="0"/>
              <a:t>4.3</a:t>
            </a:r>
            <a:r>
              <a:rPr dirty="0" spc="-15"/>
              <a:t> 提高向量处理机性能的常用技术</a:t>
            </a:r>
          </a:p>
        </p:txBody>
      </p:sp>
      <p:sp>
        <p:nvSpPr>
          <p:cNvPr id="10" name="object 10" descr=""/>
          <p:cNvSpPr txBox="1"/>
          <p:nvPr/>
        </p:nvSpPr>
        <p:spPr>
          <a:xfrm>
            <a:off x="167436" y="927353"/>
            <a:ext cx="8653145" cy="4113529"/>
          </a:xfrm>
          <a:prstGeom prst="rect">
            <a:avLst/>
          </a:prstGeom>
        </p:spPr>
        <p:txBody>
          <a:bodyPr wrap="square" lIns="0" tIns="133350" rIns="0" bIns="0" rtlCol="0" vert="horz">
            <a:spAutoFit/>
          </a:bodyPr>
          <a:lstStyle/>
          <a:p>
            <a:pPr marL="12700">
              <a:lnSpc>
                <a:spcPct val="100000"/>
              </a:lnSpc>
              <a:spcBef>
                <a:spcPts val="1050"/>
              </a:spcBef>
            </a:pPr>
            <a:r>
              <a:rPr dirty="0" sz="2400" spc="-25">
                <a:solidFill>
                  <a:srgbClr val="FF0000"/>
                </a:solidFill>
                <a:latin typeface="Tahoma"/>
                <a:cs typeface="Tahoma"/>
              </a:rPr>
              <a:t>2</a:t>
            </a:r>
            <a:r>
              <a:rPr dirty="0" sz="2400" spc="-10">
                <a:solidFill>
                  <a:srgbClr val="FF0000"/>
                </a:solidFill>
                <a:latin typeface="黑体"/>
                <a:cs typeface="黑体"/>
              </a:rPr>
              <a:t>、链接技术条件</a:t>
            </a:r>
            <a:endParaRPr sz="2400">
              <a:latin typeface="黑体"/>
              <a:cs typeface="黑体"/>
            </a:endParaRPr>
          </a:p>
          <a:p>
            <a:pPr marL="829310" indent="-457200">
              <a:lnSpc>
                <a:spcPct val="100000"/>
              </a:lnSpc>
              <a:spcBef>
                <a:spcPts val="950"/>
              </a:spcBef>
              <a:buSzPct val="89583"/>
              <a:buFont typeface="Wingdings"/>
              <a:buChar char=""/>
              <a:tabLst>
                <a:tab pos="829310" algn="l"/>
              </a:tabLst>
            </a:pPr>
            <a:r>
              <a:rPr dirty="0" sz="2400" spc="-5">
                <a:solidFill>
                  <a:srgbClr val="40458B"/>
                </a:solidFill>
                <a:latin typeface="黑体"/>
                <a:cs typeface="黑体"/>
              </a:rPr>
              <a:t>空间：没有向量寄存器和功能部件冲突。</a:t>
            </a:r>
            <a:endParaRPr sz="2400">
              <a:latin typeface="黑体"/>
              <a:cs typeface="黑体"/>
            </a:endParaRPr>
          </a:p>
          <a:p>
            <a:pPr marL="829310" indent="-457200">
              <a:lnSpc>
                <a:spcPct val="100000"/>
              </a:lnSpc>
              <a:spcBef>
                <a:spcPts val="600"/>
              </a:spcBef>
              <a:buSzPct val="89583"/>
              <a:buFont typeface="Wingdings"/>
              <a:buChar char=""/>
              <a:tabLst>
                <a:tab pos="829310" algn="l"/>
              </a:tabLst>
            </a:pPr>
            <a:r>
              <a:rPr dirty="0" sz="2400" spc="-20">
                <a:solidFill>
                  <a:srgbClr val="40458B"/>
                </a:solidFill>
                <a:latin typeface="黑体"/>
                <a:cs typeface="黑体"/>
              </a:rPr>
              <a:t>时间：</a:t>
            </a:r>
            <a:endParaRPr sz="2400">
              <a:latin typeface="黑体"/>
              <a:cs typeface="黑体"/>
            </a:endParaRPr>
          </a:p>
          <a:p>
            <a:pPr lvl="1" marL="1643380" indent="-457200">
              <a:lnSpc>
                <a:spcPct val="100000"/>
              </a:lnSpc>
              <a:spcBef>
                <a:spcPts val="905"/>
              </a:spcBef>
              <a:buClr>
                <a:srgbClr val="4668F5"/>
              </a:buClr>
              <a:buSzPct val="65000"/>
              <a:buFont typeface="Wingdings"/>
              <a:buChar char=""/>
              <a:tabLst>
                <a:tab pos="1643380" algn="l"/>
              </a:tabLst>
            </a:pPr>
            <a:r>
              <a:rPr dirty="0" sz="2000" spc="-15" b="1">
                <a:solidFill>
                  <a:srgbClr val="00AFEF"/>
                </a:solidFill>
                <a:latin typeface="宋体"/>
                <a:cs typeface="宋体"/>
              </a:rPr>
              <a:t>具有先写后读相关。</a:t>
            </a:r>
            <a:endParaRPr sz="2000">
              <a:latin typeface="宋体"/>
              <a:cs typeface="宋体"/>
            </a:endParaRPr>
          </a:p>
          <a:p>
            <a:pPr lvl="1" marL="1643380" indent="-457200">
              <a:lnSpc>
                <a:spcPct val="100000"/>
              </a:lnSpc>
              <a:spcBef>
                <a:spcPts val="975"/>
              </a:spcBef>
              <a:buClr>
                <a:srgbClr val="4668F5"/>
              </a:buClr>
              <a:buSzPct val="65000"/>
              <a:buFont typeface="Wingdings"/>
              <a:buChar char=""/>
              <a:tabLst>
                <a:tab pos="1643380" algn="l"/>
              </a:tabLst>
            </a:pPr>
            <a:r>
              <a:rPr dirty="0" sz="2000" spc="-15" b="1">
                <a:solidFill>
                  <a:srgbClr val="00AFEF"/>
                </a:solidFill>
                <a:latin typeface="宋体"/>
                <a:cs typeface="宋体"/>
              </a:rPr>
              <a:t>向量长度必须相等。</a:t>
            </a:r>
            <a:endParaRPr sz="2000">
              <a:latin typeface="宋体"/>
              <a:cs typeface="宋体"/>
            </a:endParaRPr>
          </a:p>
          <a:p>
            <a:pPr marL="829310" marR="5080" indent="-273050">
              <a:lnSpc>
                <a:spcPct val="100800"/>
              </a:lnSpc>
              <a:spcBef>
                <a:spcPts val="655"/>
              </a:spcBef>
              <a:buFont typeface="Wingdings"/>
              <a:buChar char=""/>
              <a:tabLst>
                <a:tab pos="829310" algn="l"/>
                <a:tab pos="1019810" algn="l"/>
              </a:tabLst>
            </a:pPr>
            <a:r>
              <a:rPr dirty="0" sz="2150">
                <a:solidFill>
                  <a:srgbClr val="40458B"/>
                </a:solidFill>
                <a:latin typeface="Times New Roman"/>
                <a:cs typeface="Times New Roman"/>
              </a:rPr>
              <a:t>	</a:t>
            </a:r>
            <a:r>
              <a:rPr dirty="0" sz="2400" spc="-5">
                <a:solidFill>
                  <a:srgbClr val="40458B"/>
                </a:solidFill>
                <a:latin typeface="黑体"/>
                <a:cs typeface="黑体"/>
              </a:rPr>
              <a:t>当前一条指令的结果寄存器是后一条指令的源寄存器、且</a:t>
            </a:r>
            <a:r>
              <a:rPr dirty="0" sz="2400" spc="-55">
                <a:solidFill>
                  <a:srgbClr val="40458B"/>
                </a:solidFill>
                <a:latin typeface="黑体"/>
                <a:cs typeface="黑体"/>
              </a:rPr>
              <a:t>不存 在任何其他冲突时，就可以用链接技术来提高性能。</a:t>
            </a:r>
            <a:endParaRPr sz="2400">
              <a:latin typeface="黑体"/>
              <a:cs typeface="黑体"/>
            </a:endParaRPr>
          </a:p>
          <a:p>
            <a:pPr marL="1000125">
              <a:lnSpc>
                <a:spcPct val="100000"/>
              </a:lnSpc>
              <a:spcBef>
                <a:spcPts val="1420"/>
              </a:spcBef>
            </a:pPr>
            <a:r>
              <a:rPr dirty="0" sz="2000" spc="-10" b="1">
                <a:solidFill>
                  <a:srgbClr val="D50092"/>
                </a:solidFill>
                <a:latin typeface="宋体"/>
                <a:cs typeface="宋体"/>
              </a:rPr>
              <a:t>例如：</a:t>
            </a:r>
            <a:r>
              <a:rPr dirty="0" sz="2000" spc="-10" b="1">
                <a:solidFill>
                  <a:srgbClr val="9933FF"/>
                </a:solidFill>
                <a:latin typeface="Times New Roman"/>
                <a:cs typeface="Times New Roman"/>
              </a:rPr>
              <a:t>V3</a:t>
            </a:r>
            <a:r>
              <a:rPr dirty="0" sz="2000" spc="-10" b="1">
                <a:solidFill>
                  <a:srgbClr val="00AFEF"/>
                </a:solidFill>
                <a:latin typeface="Times New Roman"/>
                <a:cs typeface="Times New Roman"/>
              </a:rPr>
              <a:t>←V1</a:t>
            </a:r>
            <a:r>
              <a:rPr dirty="0" sz="2000" spc="-10" b="1">
                <a:solidFill>
                  <a:srgbClr val="00AFEF"/>
                </a:solidFill>
                <a:latin typeface="宋体"/>
                <a:cs typeface="宋体"/>
              </a:rPr>
              <a:t>＋</a:t>
            </a:r>
            <a:r>
              <a:rPr dirty="0" sz="2000" spc="-10" b="1">
                <a:solidFill>
                  <a:srgbClr val="00AFEF"/>
                </a:solidFill>
                <a:latin typeface="Times New Roman"/>
                <a:cs typeface="Times New Roman"/>
              </a:rPr>
              <a:t>V2</a:t>
            </a:r>
            <a:endParaRPr sz="2000">
              <a:latin typeface="Times New Roman"/>
              <a:cs typeface="Times New Roman"/>
            </a:endParaRPr>
          </a:p>
          <a:p>
            <a:pPr marL="1762125">
              <a:lnSpc>
                <a:spcPct val="100000"/>
              </a:lnSpc>
              <a:spcBef>
                <a:spcPts val="1680"/>
              </a:spcBef>
            </a:pPr>
            <a:r>
              <a:rPr dirty="0" sz="2000" spc="-10" b="1">
                <a:solidFill>
                  <a:srgbClr val="00AFEF"/>
                </a:solidFill>
                <a:latin typeface="Times New Roman"/>
                <a:cs typeface="Times New Roman"/>
              </a:rPr>
              <a:t>V6←</a:t>
            </a:r>
            <a:r>
              <a:rPr dirty="0" sz="2000" spc="-10" b="1">
                <a:solidFill>
                  <a:srgbClr val="9933FF"/>
                </a:solidFill>
                <a:latin typeface="Times New Roman"/>
                <a:cs typeface="Times New Roman"/>
              </a:rPr>
              <a:t>V3</a:t>
            </a:r>
            <a:r>
              <a:rPr dirty="0" sz="2000" spc="-10" b="1">
                <a:solidFill>
                  <a:srgbClr val="00AFEF"/>
                </a:solidFill>
                <a:latin typeface="Times New Roman"/>
                <a:cs typeface="Times New Roman"/>
              </a:rPr>
              <a:t>*V4</a:t>
            </a:r>
            <a:endParaRPr sz="2000">
              <a:latin typeface="Times New Roman"/>
              <a:cs typeface="Times New Roman"/>
            </a:endParaRPr>
          </a:p>
        </p:txBody>
      </p:sp>
      <p:sp>
        <p:nvSpPr>
          <p:cNvPr id="11" name="object 11" descr=""/>
          <p:cNvSpPr txBox="1"/>
          <p:nvPr/>
        </p:nvSpPr>
        <p:spPr>
          <a:xfrm>
            <a:off x="6596633" y="642620"/>
            <a:ext cx="2339340"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4.3.2</a:t>
            </a:r>
            <a:r>
              <a:rPr dirty="0" sz="2600" spc="-15">
                <a:solidFill>
                  <a:srgbClr val="0000CC"/>
                </a:solidFill>
                <a:latin typeface="黑体"/>
                <a:cs typeface="黑体"/>
              </a:rPr>
              <a:t> 链接技术</a:t>
            </a:r>
            <a:endParaRPr sz="2600">
              <a:latin typeface="黑体"/>
              <a:cs typeface="黑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166827" y="1023620"/>
            <a:ext cx="8720455" cy="3415029"/>
          </a:xfrm>
          <a:prstGeom prst="rect">
            <a:avLst/>
          </a:prstGeom>
        </p:spPr>
        <p:txBody>
          <a:bodyPr wrap="square" lIns="0" tIns="13335" rIns="0" bIns="0" rtlCol="0" vert="horz">
            <a:spAutoFit/>
          </a:bodyPr>
          <a:lstStyle/>
          <a:p>
            <a:pPr algn="just" marL="610235">
              <a:lnSpc>
                <a:spcPct val="100000"/>
              </a:lnSpc>
              <a:spcBef>
                <a:spcPts val="105"/>
              </a:spcBef>
            </a:pPr>
            <a:r>
              <a:rPr dirty="0" sz="2600">
                <a:solidFill>
                  <a:srgbClr val="0000CC"/>
                </a:solidFill>
                <a:latin typeface="黑体"/>
                <a:cs typeface="黑体"/>
              </a:rPr>
              <a:t>4.3.2</a:t>
            </a:r>
            <a:r>
              <a:rPr dirty="0" sz="2600" spc="-20">
                <a:solidFill>
                  <a:srgbClr val="0000CC"/>
                </a:solidFill>
                <a:latin typeface="黑体"/>
                <a:cs typeface="黑体"/>
              </a:rPr>
              <a:t> 链接技术</a:t>
            </a:r>
            <a:endParaRPr sz="2600">
              <a:latin typeface="黑体"/>
              <a:cs typeface="黑体"/>
            </a:endParaRPr>
          </a:p>
          <a:p>
            <a:pPr algn="just" marL="469900" marR="5080" indent="-457200">
              <a:lnSpc>
                <a:spcPct val="130000"/>
              </a:lnSpc>
              <a:spcBef>
                <a:spcPts val="1445"/>
              </a:spcBef>
              <a:buClr>
                <a:srgbClr val="40458B"/>
              </a:buClr>
              <a:buSzPct val="89583"/>
              <a:buFont typeface="Wingdings"/>
              <a:buChar char=""/>
              <a:tabLst>
                <a:tab pos="469900" algn="l"/>
              </a:tabLst>
            </a:pPr>
            <a:r>
              <a:rPr dirty="0" sz="2400" spc="-5">
                <a:solidFill>
                  <a:srgbClr val="FF0000"/>
                </a:solidFill>
                <a:latin typeface="黑体"/>
                <a:cs typeface="黑体"/>
              </a:rPr>
              <a:t>向量流水线链接</a:t>
            </a:r>
            <a:r>
              <a:rPr dirty="0" sz="2400" spc="-5">
                <a:solidFill>
                  <a:srgbClr val="40458B"/>
                </a:solidFill>
                <a:latin typeface="黑体"/>
                <a:cs typeface="黑体"/>
              </a:rPr>
              <a:t>：具有先写后读相关的两条指令，在不出现功能部件冲突和源向量冲突的情况下，可以把功能部件链接起来进行流水处理，以达到加快执行的目的。</a:t>
            </a:r>
            <a:endParaRPr sz="2400">
              <a:latin typeface="黑体"/>
              <a:cs typeface="黑体"/>
            </a:endParaRPr>
          </a:p>
          <a:p>
            <a:pPr algn="just" lvl="1" marL="1097280" indent="-457200">
              <a:lnSpc>
                <a:spcPct val="100000"/>
              </a:lnSpc>
              <a:spcBef>
                <a:spcPts val="1275"/>
              </a:spcBef>
              <a:buClr>
                <a:srgbClr val="4668F5"/>
              </a:buClr>
              <a:buSzPct val="65000"/>
              <a:buFont typeface="Wingdings"/>
              <a:buChar char=""/>
              <a:tabLst>
                <a:tab pos="1097280" algn="l"/>
              </a:tabLst>
            </a:pPr>
            <a:r>
              <a:rPr dirty="0" sz="2000" b="1">
                <a:solidFill>
                  <a:srgbClr val="00AFEF"/>
                </a:solidFill>
                <a:latin typeface="Times New Roman"/>
                <a:cs typeface="Times New Roman"/>
              </a:rPr>
              <a:t>Cray-1</a:t>
            </a:r>
            <a:r>
              <a:rPr dirty="0" sz="2000" spc="-25" b="1">
                <a:solidFill>
                  <a:srgbClr val="00AFEF"/>
                </a:solidFill>
                <a:latin typeface="宋体"/>
                <a:cs typeface="宋体"/>
              </a:rPr>
              <a:t>向量处理的一个显著特点</a:t>
            </a:r>
            <a:endParaRPr sz="2000">
              <a:latin typeface="宋体"/>
              <a:cs typeface="宋体"/>
            </a:endParaRPr>
          </a:p>
          <a:p>
            <a:pPr algn="just" lvl="1" marL="1097280" indent="-457200">
              <a:lnSpc>
                <a:spcPct val="100000"/>
              </a:lnSpc>
              <a:spcBef>
                <a:spcPts val="1205"/>
              </a:spcBef>
              <a:buClr>
                <a:srgbClr val="4668F5"/>
              </a:buClr>
              <a:buSzPct val="65000"/>
              <a:buFont typeface="Wingdings"/>
              <a:buChar char=""/>
              <a:tabLst>
                <a:tab pos="1097280" algn="l"/>
              </a:tabLst>
            </a:pPr>
            <a:r>
              <a:rPr dirty="0" sz="2000" spc="-10" b="1">
                <a:solidFill>
                  <a:srgbClr val="00AFEF"/>
                </a:solidFill>
                <a:latin typeface="宋体"/>
                <a:cs typeface="宋体"/>
              </a:rPr>
              <a:t>链接特性的</a:t>
            </a:r>
            <a:r>
              <a:rPr dirty="0" sz="2000" spc="-35" b="1">
                <a:solidFill>
                  <a:srgbClr val="D50092"/>
                </a:solidFill>
                <a:latin typeface="宋体"/>
                <a:cs typeface="宋体"/>
              </a:rPr>
              <a:t>实质</a:t>
            </a:r>
            <a:endParaRPr sz="2000">
              <a:latin typeface="宋体"/>
              <a:cs typeface="宋体"/>
            </a:endParaRPr>
          </a:p>
          <a:p>
            <a:pPr marL="1088390">
              <a:lnSpc>
                <a:spcPct val="100000"/>
              </a:lnSpc>
              <a:spcBef>
                <a:spcPts val="1200"/>
              </a:spcBef>
            </a:pPr>
            <a:r>
              <a:rPr dirty="0" sz="2000" spc="-10" b="1">
                <a:solidFill>
                  <a:srgbClr val="00AFEF"/>
                </a:solidFill>
                <a:latin typeface="宋体"/>
                <a:cs typeface="宋体"/>
              </a:rPr>
              <a:t>把流水线</a:t>
            </a:r>
            <a:r>
              <a:rPr dirty="0" sz="2000" spc="-10" b="1">
                <a:solidFill>
                  <a:srgbClr val="D50092"/>
                </a:solidFill>
                <a:latin typeface="宋体"/>
                <a:cs typeface="宋体"/>
              </a:rPr>
              <a:t>定向</a:t>
            </a:r>
            <a:r>
              <a:rPr dirty="0" sz="2000" spc="-20" b="1">
                <a:solidFill>
                  <a:srgbClr val="00AFEF"/>
                </a:solidFill>
                <a:latin typeface="宋体"/>
                <a:cs typeface="宋体"/>
              </a:rPr>
              <a:t>的思想引入到向量执行过程的结果</a:t>
            </a:r>
            <a:r>
              <a:rPr dirty="0" sz="2000" spc="-50">
                <a:solidFill>
                  <a:srgbClr val="00AFEF"/>
                </a:solidFill>
                <a:latin typeface="宋体"/>
                <a:cs typeface="宋体"/>
              </a:rPr>
              <a:t>。</a:t>
            </a:r>
            <a:endParaRPr sz="2000">
              <a:latin typeface="宋体"/>
              <a:cs typeface="宋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460552" y="921669"/>
            <a:ext cx="8709025" cy="2617470"/>
          </a:xfrm>
          <a:prstGeom prst="rect">
            <a:avLst/>
          </a:prstGeom>
        </p:spPr>
        <p:txBody>
          <a:bodyPr wrap="square" lIns="0" tIns="236854" rIns="0" bIns="0" rtlCol="0" vert="horz">
            <a:spAutoFit/>
          </a:bodyPr>
          <a:lstStyle/>
          <a:p>
            <a:pPr marL="598805">
              <a:lnSpc>
                <a:spcPct val="100000"/>
              </a:lnSpc>
              <a:spcBef>
                <a:spcPts val="1864"/>
              </a:spcBef>
            </a:pPr>
            <a:r>
              <a:rPr dirty="0" sz="2800" spc="-25" b="1">
                <a:solidFill>
                  <a:srgbClr val="E14B04"/>
                </a:solidFill>
                <a:latin typeface="宋体"/>
                <a:cs typeface="宋体"/>
              </a:rPr>
              <a:t>例</a:t>
            </a:r>
            <a:r>
              <a:rPr dirty="0" sz="2800" b="1">
                <a:solidFill>
                  <a:srgbClr val="E14B04"/>
                </a:solidFill>
                <a:latin typeface="宋体"/>
                <a:cs typeface="宋体"/>
              </a:rPr>
              <a:t>4.2</a:t>
            </a:r>
            <a:r>
              <a:rPr dirty="0" sz="2800" spc="80" b="1">
                <a:solidFill>
                  <a:srgbClr val="E14B04"/>
                </a:solidFill>
                <a:latin typeface="宋体"/>
                <a:cs typeface="宋体"/>
              </a:rPr>
              <a:t> </a:t>
            </a:r>
            <a:r>
              <a:rPr dirty="0" sz="2800" spc="-30" b="1">
                <a:latin typeface="宋体"/>
                <a:cs typeface="宋体"/>
              </a:rPr>
              <a:t>在</a:t>
            </a:r>
            <a:r>
              <a:rPr dirty="0" sz="2800" b="1">
                <a:solidFill>
                  <a:srgbClr val="9933FF"/>
                </a:solidFill>
                <a:latin typeface="宋体"/>
                <a:cs typeface="宋体"/>
              </a:rPr>
              <a:t>CRAY-1</a:t>
            </a:r>
            <a:r>
              <a:rPr dirty="0" sz="2800" spc="-35" b="1">
                <a:latin typeface="宋体"/>
                <a:cs typeface="宋体"/>
              </a:rPr>
              <a:t>上用链接技术进行向量运算</a:t>
            </a:r>
            <a:endParaRPr sz="2800">
              <a:latin typeface="宋体"/>
              <a:cs typeface="宋体"/>
            </a:endParaRPr>
          </a:p>
          <a:p>
            <a:pPr algn="ctr" marR="421005">
              <a:lnSpc>
                <a:spcPct val="100000"/>
              </a:lnSpc>
              <a:spcBef>
                <a:spcPts val="1520"/>
              </a:spcBef>
            </a:pPr>
            <a:r>
              <a:rPr dirty="0" sz="2400" spc="-10" b="1">
                <a:solidFill>
                  <a:srgbClr val="9933FF"/>
                </a:solidFill>
                <a:latin typeface="宋体"/>
                <a:cs typeface="宋体"/>
              </a:rPr>
              <a:t>D=A×（B+C）</a:t>
            </a:r>
            <a:endParaRPr sz="2400">
              <a:latin typeface="宋体"/>
              <a:cs typeface="宋体"/>
            </a:endParaRPr>
          </a:p>
          <a:p>
            <a:pPr marL="423545">
              <a:lnSpc>
                <a:spcPct val="100000"/>
              </a:lnSpc>
              <a:spcBef>
                <a:spcPts val="1275"/>
              </a:spcBef>
            </a:pPr>
            <a:r>
              <a:rPr dirty="0" sz="2000" spc="-10" b="1">
                <a:latin typeface="宋体"/>
                <a:cs typeface="宋体"/>
              </a:rPr>
              <a:t>假设向量长度</a:t>
            </a:r>
            <a:r>
              <a:rPr dirty="0" sz="2000" spc="-10" b="1">
                <a:solidFill>
                  <a:srgbClr val="9933FF"/>
                </a:solidFill>
                <a:latin typeface="宋体"/>
                <a:cs typeface="宋体"/>
              </a:rPr>
              <a:t>N≤64</a:t>
            </a:r>
            <a:r>
              <a:rPr dirty="0" sz="2000" spc="-20" b="1">
                <a:latin typeface="宋体"/>
                <a:cs typeface="宋体"/>
              </a:rPr>
              <a:t>，向量元素为浮点数，</a:t>
            </a:r>
            <a:r>
              <a:rPr dirty="0" sz="2000" spc="-10" b="1">
                <a:solidFill>
                  <a:srgbClr val="FF0000"/>
                </a:solidFill>
                <a:latin typeface="宋体"/>
                <a:cs typeface="宋体"/>
              </a:rPr>
              <a:t>且</a:t>
            </a:r>
            <a:r>
              <a:rPr dirty="0" sz="2000" spc="-15" b="1">
                <a:latin typeface="宋体"/>
                <a:cs typeface="宋体"/>
              </a:rPr>
              <a:t>向量</a:t>
            </a:r>
            <a:r>
              <a:rPr dirty="0" sz="2000" spc="-15" b="1">
                <a:solidFill>
                  <a:srgbClr val="9933FF"/>
                </a:solidFill>
                <a:latin typeface="宋体"/>
                <a:cs typeface="宋体"/>
              </a:rPr>
              <a:t>B</a:t>
            </a:r>
            <a:r>
              <a:rPr dirty="0" sz="2000" spc="-10" b="1">
                <a:solidFill>
                  <a:srgbClr val="9933FF"/>
                </a:solidFill>
                <a:latin typeface="宋体"/>
                <a:cs typeface="宋体"/>
              </a:rPr>
              <a:t>、</a:t>
            </a:r>
            <a:r>
              <a:rPr dirty="0" sz="2000" spc="-15" b="1">
                <a:solidFill>
                  <a:srgbClr val="9933FF"/>
                </a:solidFill>
                <a:latin typeface="宋体"/>
                <a:cs typeface="宋体"/>
              </a:rPr>
              <a:t>C</a:t>
            </a:r>
            <a:r>
              <a:rPr dirty="0" sz="2000" spc="-15" b="1">
                <a:latin typeface="宋体"/>
                <a:cs typeface="宋体"/>
              </a:rPr>
              <a:t>已存放在</a:t>
            </a:r>
            <a:r>
              <a:rPr dirty="0" sz="2000" b="1">
                <a:solidFill>
                  <a:srgbClr val="9933FF"/>
                </a:solidFill>
                <a:latin typeface="宋体"/>
                <a:cs typeface="宋体"/>
              </a:rPr>
              <a:t>V</a:t>
            </a:r>
            <a:r>
              <a:rPr dirty="0" baseline="-21367" sz="1950" b="1">
                <a:solidFill>
                  <a:srgbClr val="9933FF"/>
                </a:solidFill>
                <a:latin typeface="宋体"/>
                <a:cs typeface="宋体"/>
              </a:rPr>
              <a:t>0</a:t>
            </a:r>
            <a:r>
              <a:rPr dirty="0" sz="2000" spc="-10" b="1">
                <a:latin typeface="宋体"/>
                <a:cs typeface="宋体"/>
              </a:rPr>
              <a:t>和</a:t>
            </a:r>
            <a:r>
              <a:rPr dirty="0" sz="2000" b="1">
                <a:solidFill>
                  <a:srgbClr val="9933FF"/>
                </a:solidFill>
                <a:latin typeface="宋体"/>
                <a:cs typeface="宋体"/>
              </a:rPr>
              <a:t>V</a:t>
            </a:r>
            <a:r>
              <a:rPr dirty="0" baseline="-21367" sz="1950" b="1">
                <a:solidFill>
                  <a:srgbClr val="9933FF"/>
                </a:solidFill>
                <a:latin typeface="宋体"/>
                <a:cs typeface="宋体"/>
              </a:rPr>
              <a:t>1</a:t>
            </a:r>
            <a:r>
              <a:rPr dirty="0" sz="2000" spc="-30" b="1">
                <a:latin typeface="宋体"/>
                <a:cs typeface="宋体"/>
              </a:rPr>
              <a:t>中。</a:t>
            </a:r>
            <a:endParaRPr sz="2000">
              <a:latin typeface="宋体"/>
              <a:cs typeface="宋体"/>
            </a:endParaRPr>
          </a:p>
          <a:p>
            <a:pPr marL="423545">
              <a:lnSpc>
                <a:spcPct val="100000"/>
              </a:lnSpc>
              <a:spcBef>
                <a:spcPts val="1200"/>
              </a:spcBef>
            </a:pPr>
            <a:r>
              <a:rPr dirty="0" sz="2000" spc="-30" b="1">
                <a:latin typeface="宋体"/>
                <a:cs typeface="宋体"/>
              </a:rPr>
              <a:t>画出链接示意图，并分析非链接执行和链接执行两种情况下的执行时间。</a:t>
            </a:r>
            <a:endParaRPr sz="2000">
              <a:latin typeface="宋体"/>
              <a:cs typeface="宋体"/>
            </a:endParaRPr>
          </a:p>
          <a:p>
            <a:pPr marL="38100">
              <a:lnSpc>
                <a:spcPct val="100000"/>
              </a:lnSpc>
              <a:spcBef>
                <a:spcPts val="1205"/>
              </a:spcBef>
              <a:tabLst>
                <a:tab pos="548005" algn="l"/>
              </a:tabLst>
            </a:pPr>
            <a:r>
              <a:rPr dirty="0" sz="2000" spc="-50" b="1">
                <a:solidFill>
                  <a:srgbClr val="E14B04"/>
                </a:solidFill>
                <a:latin typeface="宋体"/>
                <a:cs typeface="宋体"/>
              </a:rPr>
              <a:t>解</a:t>
            </a:r>
            <a:r>
              <a:rPr dirty="0" sz="2000" b="1">
                <a:solidFill>
                  <a:srgbClr val="E14B04"/>
                </a:solidFill>
                <a:latin typeface="宋体"/>
                <a:cs typeface="宋体"/>
              </a:rPr>
              <a:t>	</a:t>
            </a:r>
            <a:r>
              <a:rPr dirty="0" sz="2000" spc="-10" b="1">
                <a:solidFill>
                  <a:srgbClr val="E14B04"/>
                </a:solidFill>
                <a:latin typeface="宋体"/>
                <a:cs typeface="宋体"/>
              </a:rPr>
              <a:t>用以下三条向量完</a:t>
            </a:r>
            <a:r>
              <a:rPr dirty="0" sz="2000" spc="-20" b="1">
                <a:solidFill>
                  <a:srgbClr val="E14B04"/>
                </a:solidFill>
                <a:latin typeface="宋体"/>
                <a:cs typeface="宋体"/>
              </a:rPr>
              <a:t>成</a:t>
            </a:r>
            <a:r>
              <a:rPr dirty="0" sz="2000" spc="-10" b="1">
                <a:solidFill>
                  <a:srgbClr val="E14B04"/>
                </a:solidFill>
                <a:latin typeface="宋体"/>
                <a:cs typeface="宋体"/>
              </a:rPr>
              <a:t>上述</a:t>
            </a:r>
            <a:r>
              <a:rPr dirty="0" sz="2000" spc="-20" b="1">
                <a:solidFill>
                  <a:srgbClr val="E14B04"/>
                </a:solidFill>
                <a:latin typeface="宋体"/>
                <a:cs typeface="宋体"/>
              </a:rPr>
              <a:t>运</a:t>
            </a:r>
            <a:r>
              <a:rPr dirty="0" sz="2000" spc="-10" b="1">
                <a:solidFill>
                  <a:srgbClr val="E14B04"/>
                </a:solidFill>
                <a:latin typeface="宋体"/>
                <a:cs typeface="宋体"/>
              </a:rPr>
              <a:t>算</a:t>
            </a:r>
            <a:r>
              <a:rPr dirty="0" sz="2000" spc="-50" b="1">
                <a:solidFill>
                  <a:srgbClr val="E14B04"/>
                </a:solidFill>
                <a:latin typeface="宋体"/>
                <a:cs typeface="宋体"/>
              </a:rPr>
              <a:t>：</a:t>
            </a:r>
            <a:endParaRPr sz="2000">
              <a:latin typeface="宋体"/>
              <a:cs typeface="宋体"/>
            </a:endParaRPr>
          </a:p>
        </p:txBody>
      </p:sp>
      <p:sp>
        <p:nvSpPr>
          <p:cNvPr id="11" name="object 11" descr=""/>
          <p:cNvSpPr txBox="1"/>
          <p:nvPr/>
        </p:nvSpPr>
        <p:spPr>
          <a:xfrm>
            <a:off x="1331086" y="3513661"/>
            <a:ext cx="1659255" cy="1397000"/>
          </a:xfrm>
          <a:prstGeom prst="rect">
            <a:avLst/>
          </a:prstGeom>
        </p:spPr>
        <p:txBody>
          <a:bodyPr wrap="square" lIns="0" tIns="11430" rIns="0" bIns="0" rtlCol="0" vert="horz">
            <a:spAutoFit/>
          </a:bodyPr>
          <a:lstStyle/>
          <a:p>
            <a:pPr marL="38100" marR="30480">
              <a:lnSpc>
                <a:spcPct val="150100"/>
              </a:lnSpc>
              <a:spcBef>
                <a:spcPts val="90"/>
              </a:spcBef>
            </a:pPr>
            <a:r>
              <a:rPr dirty="0" sz="2000" b="1">
                <a:solidFill>
                  <a:srgbClr val="FF33CC"/>
                </a:solidFill>
                <a:latin typeface="宋体"/>
                <a:cs typeface="宋体"/>
              </a:rPr>
              <a:t>V</a:t>
            </a:r>
            <a:r>
              <a:rPr dirty="0" baseline="-21367" sz="1950" b="1">
                <a:solidFill>
                  <a:srgbClr val="FF33CC"/>
                </a:solidFill>
                <a:latin typeface="宋体"/>
                <a:cs typeface="宋体"/>
              </a:rPr>
              <a:t>3</a:t>
            </a:r>
            <a:r>
              <a:rPr dirty="0" baseline="-21367" sz="1950" spc="22" b="1">
                <a:solidFill>
                  <a:srgbClr val="FF33CC"/>
                </a:solidFill>
                <a:latin typeface="宋体"/>
                <a:cs typeface="宋体"/>
              </a:rPr>
              <a:t> </a:t>
            </a:r>
            <a:r>
              <a:rPr dirty="0" sz="2000" spc="-20" b="1">
                <a:solidFill>
                  <a:srgbClr val="00AFEF"/>
                </a:solidFill>
                <a:latin typeface="宋体"/>
                <a:cs typeface="宋体"/>
              </a:rPr>
              <a:t>← 存储器</a:t>
            </a:r>
            <a:r>
              <a:rPr dirty="0" sz="2000" spc="-50" b="1">
                <a:solidFill>
                  <a:srgbClr val="00AFEF"/>
                </a:solidFill>
                <a:latin typeface="宋体"/>
                <a:cs typeface="宋体"/>
              </a:rPr>
              <a:t> </a:t>
            </a:r>
            <a:r>
              <a:rPr dirty="0" sz="2000" b="1">
                <a:solidFill>
                  <a:srgbClr val="008000"/>
                </a:solidFill>
                <a:latin typeface="宋体"/>
                <a:cs typeface="宋体"/>
              </a:rPr>
              <a:t>V</a:t>
            </a:r>
            <a:r>
              <a:rPr dirty="0" baseline="-21367" sz="1950" b="1">
                <a:solidFill>
                  <a:srgbClr val="008000"/>
                </a:solidFill>
                <a:latin typeface="宋体"/>
                <a:cs typeface="宋体"/>
              </a:rPr>
              <a:t>2</a:t>
            </a:r>
            <a:r>
              <a:rPr dirty="0" baseline="-21367" sz="1950" spc="30" b="1">
                <a:solidFill>
                  <a:srgbClr val="008000"/>
                </a:solidFill>
                <a:latin typeface="宋体"/>
                <a:cs typeface="宋体"/>
              </a:rPr>
              <a:t> </a:t>
            </a:r>
            <a:r>
              <a:rPr dirty="0" sz="2000" b="1">
                <a:solidFill>
                  <a:srgbClr val="00AFEF"/>
                </a:solidFill>
                <a:latin typeface="宋体"/>
                <a:cs typeface="宋体"/>
              </a:rPr>
              <a:t>← V</a:t>
            </a:r>
            <a:r>
              <a:rPr dirty="0" baseline="-21367" sz="1950" b="1">
                <a:solidFill>
                  <a:srgbClr val="00AFEF"/>
                </a:solidFill>
                <a:latin typeface="宋体"/>
                <a:cs typeface="宋体"/>
              </a:rPr>
              <a:t>0</a:t>
            </a:r>
            <a:r>
              <a:rPr dirty="0" baseline="-21367" sz="1950" spc="30" b="1">
                <a:solidFill>
                  <a:srgbClr val="00AFEF"/>
                </a:solidFill>
                <a:latin typeface="宋体"/>
                <a:cs typeface="宋体"/>
              </a:rPr>
              <a:t> </a:t>
            </a:r>
            <a:r>
              <a:rPr dirty="0" sz="2000" b="1">
                <a:solidFill>
                  <a:srgbClr val="00AFEF"/>
                </a:solidFill>
                <a:latin typeface="宋体"/>
                <a:cs typeface="宋体"/>
              </a:rPr>
              <a:t>＋ </a:t>
            </a:r>
            <a:r>
              <a:rPr dirty="0" sz="2000" spc="-25" b="1">
                <a:solidFill>
                  <a:srgbClr val="00AFEF"/>
                </a:solidFill>
                <a:latin typeface="宋体"/>
                <a:cs typeface="宋体"/>
              </a:rPr>
              <a:t>V</a:t>
            </a:r>
            <a:r>
              <a:rPr dirty="0" baseline="-21367" sz="1950" spc="-37" b="1">
                <a:solidFill>
                  <a:srgbClr val="00AFEF"/>
                </a:solidFill>
                <a:latin typeface="宋体"/>
                <a:cs typeface="宋体"/>
              </a:rPr>
              <a:t>1 </a:t>
            </a:r>
            <a:r>
              <a:rPr dirty="0" sz="2000" b="1">
                <a:solidFill>
                  <a:srgbClr val="00AFEF"/>
                </a:solidFill>
                <a:latin typeface="宋体"/>
                <a:cs typeface="宋体"/>
              </a:rPr>
              <a:t>V</a:t>
            </a:r>
            <a:r>
              <a:rPr dirty="0" baseline="-21367" sz="1950" b="1">
                <a:solidFill>
                  <a:srgbClr val="00AFEF"/>
                </a:solidFill>
                <a:latin typeface="宋体"/>
                <a:cs typeface="宋体"/>
              </a:rPr>
              <a:t>4</a:t>
            </a:r>
            <a:r>
              <a:rPr dirty="0" baseline="-21367" sz="1950" spc="22" b="1">
                <a:solidFill>
                  <a:srgbClr val="00AFEF"/>
                </a:solidFill>
                <a:latin typeface="宋体"/>
                <a:cs typeface="宋体"/>
              </a:rPr>
              <a:t> </a:t>
            </a:r>
            <a:r>
              <a:rPr dirty="0" sz="2000" b="1">
                <a:solidFill>
                  <a:srgbClr val="00AFEF"/>
                </a:solidFill>
                <a:latin typeface="宋体"/>
                <a:cs typeface="宋体"/>
              </a:rPr>
              <a:t>← </a:t>
            </a:r>
            <a:r>
              <a:rPr dirty="0" sz="2000" b="1">
                <a:solidFill>
                  <a:srgbClr val="008000"/>
                </a:solidFill>
                <a:latin typeface="宋体"/>
                <a:cs typeface="宋体"/>
              </a:rPr>
              <a:t>V</a:t>
            </a:r>
            <a:r>
              <a:rPr dirty="0" baseline="-21367" sz="1950" b="1">
                <a:solidFill>
                  <a:srgbClr val="008000"/>
                </a:solidFill>
                <a:latin typeface="宋体"/>
                <a:cs typeface="宋体"/>
              </a:rPr>
              <a:t>2</a:t>
            </a:r>
            <a:r>
              <a:rPr dirty="0" baseline="-21367" sz="1950" spc="22" b="1">
                <a:solidFill>
                  <a:srgbClr val="008000"/>
                </a:solidFill>
                <a:latin typeface="宋体"/>
                <a:cs typeface="宋体"/>
              </a:rPr>
              <a:t> </a:t>
            </a:r>
            <a:r>
              <a:rPr dirty="0" sz="2000" b="1">
                <a:solidFill>
                  <a:srgbClr val="00AFEF"/>
                </a:solidFill>
                <a:latin typeface="宋体"/>
                <a:cs typeface="宋体"/>
              </a:rPr>
              <a:t>× </a:t>
            </a:r>
            <a:r>
              <a:rPr dirty="0" sz="2000" spc="-25" b="1">
                <a:solidFill>
                  <a:srgbClr val="FF33CC"/>
                </a:solidFill>
                <a:latin typeface="宋体"/>
                <a:cs typeface="宋体"/>
              </a:rPr>
              <a:t>V</a:t>
            </a:r>
            <a:r>
              <a:rPr dirty="0" baseline="-21367" sz="1950" spc="-37" b="1">
                <a:solidFill>
                  <a:srgbClr val="FF33CC"/>
                </a:solidFill>
                <a:latin typeface="宋体"/>
                <a:cs typeface="宋体"/>
              </a:rPr>
              <a:t>3</a:t>
            </a:r>
            <a:endParaRPr baseline="-21367" sz="1950">
              <a:latin typeface="宋体"/>
              <a:cs typeface="宋体"/>
            </a:endParaRPr>
          </a:p>
        </p:txBody>
      </p:sp>
      <p:sp>
        <p:nvSpPr>
          <p:cNvPr id="12" name="object 12" descr=""/>
          <p:cNvSpPr txBox="1"/>
          <p:nvPr/>
        </p:nvSpPr>
        <p:spPr>
          <a:xfrm>
            <a:off x="3629025" y="3664965"/>
            <a:ext cx="181927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AFEF"/>
                </a:solidFill>
                <a:latin typeface="宋体"/>
                <a:cs typeface="宋体"/>
              </a:rPr>
              <a:t>// 访存取向量</a:t>
            </a:r>
            <a:r>
              <a:rPr dirty="0" sz="2000" spc="-50" b="1">
                <a:solidFill>
                  <a:srgbClr val="00AFEF"/>
                </a:solidFill>
                <a:latin typeface="宋体"/>
                <a:cs typeface="宋体"/>
              </a:rPr>
              <a:t>A</a:t>
            </a:r>
            <a:endParaRPr sz="2000">
              <a:latin typeface="宋体"/>
              <a:cs typeface="宋体"/>
            </a:endParaRPr>
          </a:p>
        </p:txBody>
      </p:sp>
      <p:sp>
        <p:nvSpPr>
          <p:cNvPr id="13" name="object 13" descr=""/>
          <p:cNvSpPr txBox="1"/>
          <p:nvPr/>
        </p:nvSpPr>
        <p:spPr>
          <a:xfrm>
            <a:off x="3583304" y="4121861"/>
            <a:ext cx="5657215" cy="331470"/>
          </a:xfrm>
          <a:prstGeom prst="rect">
            <a:avLst/>
          </a:prstGeom>
        </p:spPr>
        <p:txBody>
          <a:bodyPr wrap="square" lIns="0" tIns="13335" rIns="0" bIns="0" rtlCol="0" vert="horz">
            <a:spAutoFit/>
          </a:bodyPr>
          <a:lstStyle/>
          <a:p>
            <a:pPr marL="12700">
              <a:lnSpc>
                <a:spcPct val="100000"/>
              </a:lnSpc>
              <a:spcBef>
                <a:spcPts val="105"/>
              </a:spcBef>
            </a:pPr>
            <a:r>
              <a:rPr dirty="0" sz="2000" spc="-5" b="1">
                <a:solidFill>
                  <a:srgbClr val="00AFEF"/>
                </a:solidFill>
                <a:latin typeface="宋体"/>
                <a:cs typeface="宋体"/>
              </a:rPr>
              <a:t>// 向量</a:t>
            </a:r>
            <a:r>
              <a:rPr dirty="0" sz="2000" b="1">
                <a:solidFill>
                  <a:srgbClr val="00AFEF"/>
                </a:solidFill>
                <a:latin typeface="宋体"/>
                <a:cs typeface="宋体"/>
              </a:rPr>
              <a:t>B</a:t>
            </a:r>
            <a:r>
              <a:rPr dirty="0" sz="2000" spc="-15" b="1">
                <a:solidFill>
                  <a:srgbClr val="00AFEF"/>
                </a:solidFill>
                <a:latin typeface="宋体"/>
                <a:cs typeface="宋体"/>
              </a:rPr>
              <a:t>和向量</a:t>
            </a:r>
            <a:r>
              <a:rPr dirty="0" sz="2000" b="1">
                <a:solidFill>
                  <a:srgbClr val="00AFEF"/>
                </a:solidFill>
                <a:latin typeface="宋体"/>
                <a:cs typeface="宋体"/>
              </a:rPr>
              <a:t>C</a:t>
            </a:r>
            <a:r>
              <a:rPr dirty="0" sz="2000" spc="-20" b="1">
                <a:solidFill>
                  <a:srgbClr val="00AFEF"/>
                </a:solidFill>
                <a:latin typeface="宋体"/>
                <a:cs typeface="宋体"/>
              </a:rPr>
              <a:t>进行浮点加，</a:t>
            </a:r>
            <a:r>
              <a:rPr dirty="0" sz="2000" spc="-25" b="1">
                <a:solidFill>
                  <a:srgbClr val="FF0000"/>
                </a:solidFill>
                <a:latin typeface="宋体"/>
                <a:cs typeface="宋体"/>
              </a:rPr>
              <a:t>先做完+，纵向完成</a:t>
            </a:r>
            <a:endParaRPr sz="2000">
              <a:latin typeface="宋体"/>
              <a:cs typeface="宋体"/>
            </a:endParaRPr>
          </a:p>
        </p:txBody>
      </p:sp>
      <p:sp>
        <p:nvSpPr>
          <p:cNvPr id="14" name="object 14" descr=""/>
          <p:cNvSpPr/>
          <p:nvPr/>
        </p:nvSpPr>
        <p:spPr>
          <a:xfrm>
            <a:off x="1057414" y="3579876"/>
            <a:ext cx="166370" cy="720725"/>
          </a:xfrm>
          <a:custGeom>
            <a:avLst/>
            <a:gdLst/>
            <a:ahLst/>
            <a:cxnLst/>
            <a:rect l="l" t="t" r="r" b="b"/>
            <a:pathLst>
              <a:path w="166369" h="720725">
                <a:moveTo>
                  <a:pt x="166230" y="720725"/>
                </a:moveTo>
                <a:lnTo>
                  <a:pt x="101525" y="719631"/>
                </a:lnTo>
                <a:lnTo>
                  <a:pt x="48687" y="716645"/>
                </a:lnTo>
                <a:lnTo>
                  <a:pt x="13062" y="712206"/>
                </a:lnTo>
                <a:lnTo>
                  <a:pt x="0" y="706755"/>
                </a:lnTo>
                <a:lnTo>
                  <a:pt x="0" y="13843"/>
                </a:lnTo>
                <a:lnTo>
                  <a:pt x="13062" y="8411"/>
                </a:lnTo>
                <a:lnTo>
                  <a:pt x="48687" y="4016"/>
                </a:lnTo>
                <a:lnTo>
                  <a:pt x="101525" y="1073"/>
                </a:lnTo>
                <a:lnTo>
                  <a:pt x="166230" y="0"/>
                </a:lnTo>
              </a:path>
            </a:pathLst>
          </a:custGeom>
          <a:ln w="9525">
            <a:solidFill>
              <a:srgbClr val="FF0000"/>
            </a:solidFill>
          </a:ln>
        </p:spPr>
        <p:txBody>
          <a:bodyPr wrap="square" lIns="0" tIns="0" rIns="0" bIns="0" rtlCol="0"/>
          <a:lstStyle/>
          <a:p/>
        </p:txBody>
      </p:sp>
      <p:sp>
        <p:nvSpPr>
          <p:cNvPr id="15" name="object 15" descr=""/>
          <p:cNvSpPr txBox="1"/>
          <p:nvPr/>
        </p:nvSpPr>
        <p:spPr>
          <a:xfrm>
            <a:off x="78739" y="3753992"/>
            <a:ext cx="10922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0458B"/>
                </a:solidFill>
                <a:latin typeface="黑体"/>
                <a:cs typeface="黑体"/>
              </a:rPr>
              <a:t>不相关，可并行</a:t>
            </a:r>
            <a:endParaRPr sz="1200">
              <a:latin typeface="黑体"/>
              <a:cs typeface="黑体"/>
            </a:endParaRPr>
          </a:p>
        </p:txBody>
      </p:sp>
      <p:sp>
        <p:nvSpPr>
          <p:cNvPr id="16" name="object 16" descr=""/>
          <p:cNvSpPr/>
          <p:nvPr/>
        </p:nvSpPr>
        <p:spPr>
          <a:xfrm>
            <a:off x="1214882" y="4341876"/>
            <a:ext cx="166370" cy="719455"/>
          </a:xfrm>
          <a:custGeom>
            <a:avLst/>
            <a:gdLst/>
            <a:ahLst/>
            <a:cxnLst/>
            <a:rect l="l" t="t" r="r" b="b"/>
            <a:pathLst>
              <a:path w="166369" h="719454">
                <a:moveTo>
                  <a:pt x="166370" y="719074"/>
                </a:moveTo>
                <a:lnTo>
                  <a:pt x="101637" y="717982"/>
                </a:lnTo>
                <a:lnTo>
                  <a:pt x="48752" y="715010"/>
                </a:lnTo>
                <a:lnTo>
                  <a:pt x="13082" y="710608"/>
                </a:lnTo>
                <a:lnTo>
                  <a:pt x="0" y="705231"/>
                </a:lnTo>
                <a:lnTo>
                  <a:pt x="0" y="13843"/>
                </a:lnTo>
                <a:lnTo>
                  <a:pt x="13082" y="8411"/>
                </a:lnTo>
                <a:lnTo>
                  <a:pt x="48752" y="4016"/>
                </a:lnTo>
                <a:lnTo>
                  <a:pt x="101637" y="1073"/>
                </a:lnTo>
                <a:lnTo>
                  <a:pt x="166370" y="0"/>
                </a:lnTo>
              </a:path>
            </a:pathLst>
          </a:custGeom>
          <a:ln w="9525">
            <a:solidFill>
              <a:srgbClr val="FF0000"/>
            </a:solidFill>
          </a:ln>
        </p:spPr>
        <p:txBody>
          <a:bodyPr wrap="square" lIns="0" tIns="0" rIns="0" bIns="0" rtlCol="0"/>
          <a:lstStyle/>
          <a:p/>
        </p:txBody>
      </p:sp>
      <p:sp>
        <p:nvSpPr>
          <p:cNvPr id="17" name="object 17" descr=""/>
          <p:cNvSpPr txBox="1"/>
          <p:nvPr/>
        </p:nvSpPr>
        <p:spPr>
          <a:xfrm>
            <a:off x="90017" y="4515739"/>
            <a:ext cx="1092200" cy="391795"/>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0458B"/>
                </a:solidFill>
                <a:latin typeface="黑体"/>
                <a:cs typeface="黑体"/>
              </a:rPr>
              <a:t>相关，可链接</a:t>
            </a:r>
            <a:endParaRPr sz="1200">
              <a:latin typeface="黑体"/>
              <a:cs typeface="黑体"/>
            </a:endParaRPr>
          </a:p>
          <a:p>
            <a:pPr marL="12700">
              <a:lnSpc>
                <a:spcPct val="100000"/>
              </a:lnSpc>
            </a:pPr>
            <a:r>
              <a:rPr dirty="0" sz="1200" spc="-20">
                <a:solidFill>
                  <a:srgbClr val="40458B"/>
                </a:solidFill>
                <a:latin typeface="黑体"/>
                <a:cs typeface="黑体"/>
              </a:rPr>
              <a:t>功能部件无冲突</a:t>
            </a:r>
            <a:endParaRPr sz="1200">
              <a:latin typeface="黑体"/>
              <a:cs typeface="黑体"/>
            </a:endParaRPr>
          </a:p>
        </p:txBody>
      </p:sp>
      <p:grpSp>
        <p:nvGrpSpPr>
          <p:cNvPr id="18" name="object 18" descr=""/>
          <p:cNvGrpSpPr/>
          <p:nvPr/>
        </p:nvGrpSpPr>
        <p:grpSpPr>
          <a:xfrm>
            <a:off x="3954208" y="5462206"/>
            <a:ext cx="1162050" cy="225425"/>
            <a:chOff x="3954208" y="5462206"/>
            <a:chExt cx="1162050" cy="225425"/>
          </a:xfrm>
        </p:grpSpPr>
        <p:sp>
          <p:nvSpPr>
            <p:cNvPr id="19" name="object 19" descr=""/>
            <p:cNvSpPr/>
            <p:nvPr/>
          </p:nvSpPr>
          <p:spPr>
            <a:xfrm>
              <a:off x="3958971" y="5466969"/>
              <a:ext cx="1152525" cy="215900"/>
            </a:xfrm>
            <a:custGeom>
              <a:avLst/>
              <a:gdLst/>
              <a:ahLst/>
              <a:cxnLst/>
              <a:rect l="l" t="t" r="r" b="b"/>
              <a:pathLst>
                <a:path w="1152525" h="215900">
                  <a:moveTo>
                    <a:pt x="1044575" y="0"/>
                  </a:moveTo>
                  <a:lnTo>
                    <a:pt x="1044575" y="53974"/>
                  </a:lnTo>
                  <a:lnTo>
                    <a:pt x="107950" y="53974"/>
                  </a:lnTo>
                  <a:lnTo>
                    <a:pt x="107950" y="0"/>
                  </a:lnTo>
                  <a:lnTo>
                    <a:pt x="0" y="107949"/>
                  </a:lnTo>
                  <a:lnTo>
                    <a:pt x="107950" y="215823"/>
                  </a:lnTo>
                  <a:lnTo>
                    <a:pt x="107950" y="161874"/>
                  </a:lnTo>
                  <a:lnTo>
                    <a:pt x="1044575" y="161874"/>
                  </a:lnTo>
                  <a:lnTo>
                    <a:pt x="1044575" y="215823"/>
                  </a:lnTo>
                  <a:lnTo>
                    <a:pt x="1152398" y="107949"/>
                  </a:lnTo>
                  <a:lnTo>
                    <a:pt x="1044575" y="0"/>
                  </a:lnTo>
                  <a:close/>
                </a:path>
              </a:pathLst>
            </a:custGeom>
            <a:solidFill>
              <a:srgbClr val="EBD782"/>
            </a:solidFill>
          </p:spPr>
          <p:txBody>
            <a:bodyPr wrap="square" lIns="0" tIns="0" rIns="0" bIns="0" rtlCol="0"/>
            <a:lstStyle/>
            <a:p/>
          </p:txBody>
        </p:sp>
        <p:sp>
          <p:nvSpPr>
            <p:cNvPr id="20" name="object 20" descr=""/>
            <p:cNvSpPr/>
            <p:nvPr/>
          </p:nvSpPr>
          <p:spPr>
            <a:xfrm>
              <a:off x="3958971" y="5466969"/>
              <a:ext cx="1152525" cy="215900"/>
            </a:xfrm>
            <a:custGeom>
              <a:avLst/>
              <a:gdLst/>
              <a:ahLst/>
              <a:cxnLst/>
              <a:rect l="l" t="t" r="r" b="b"/>
              <a:pathLst>
                <a:path w="1152525" h="215900">
                  <a:moveTo>
                    <a:pt x="0" y="107949"/>
                  </a:moveTo>
                  <a:lnTo>
                    <a:pt x="107950" y="0"/>
                  </a:lnTo>
                  <a:lnTo>
                    <a:pt x="107950" y="53974"/>
                  </a:lnTo>
                  <a:lnTo>
                    <a:pt x="1044575" y="53974"/>
                  </a:lnTo>
                  <a:lnTo>
                    <a:pt x="1044575" y="0"/>
                  </a:lnTo>
                  <a:lnTo>
                    <a:pt x="1152398" y="107949"/>
                  </a:lnTo>
                  <a:lnTo>
                    <a:pt x="1044575" y="215823"/>
                  </a:lnTo>
                  <a:lnTo>
                    <a:pt x="1044575" y="161874"/>
                  </a:lnTo>
                  <a:lnTo>
                    <a:pt x="107950" y="161874"/>
                  </a:lnTo>
                  <a:lnTo>
                    <a:pt x="107950" y="215823"/>
                  </a:lnTo>
                  <a:lnTo>
                    <a:pt x="0" y="107949"/>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2309622" y="5378602"/>
            <a:ext cx="4270375" cy="391160"/>
          </a:xfrm>
          <a:prstGeom prst="rect">
            <a:avLst/>
          </a:prstGeom>
        </p:spPr>
        <p:txBody>
          <a:bodyPr wrap="square" lIns="0" tIns="12700" rIns="0" bIns="0" rtlCol="0" vert="horz">
            <a:spAutoFit/>
          </a:bodyPr>
          <a:lstStyle/>
          <a:p>
            <a:pPr marL="12700">
              <a:lnSpc>
                <a:spcPct val="100000"/>
              </a:lnSpc>
              <a:spcBef>
                <a:spcPts val="100"/>
              </a:spcBef>
              <a:tabLst>
                <a:tab pos="3037840" algn="l"/>
              </a:tabLst>
            </a:pPr>
            <a:r>
              <a:rPr dirty="0" sz="2400">
                <a:solidFill>
                  <a:srgbClr val="FF0000"/>
                </a:solidFill>
                <a:latin typeface="黑体"/>
                <a:cs typeface="黑体"/>
              </a:rPr>
              <a:t>假设：</a:t>
            </a:r>
            <a:r>
              <a:rPr dirty="0" sz="2400">
                <a:solidFill>
                  <a:srgbClr val="40458B"/>
                </a:solidFill>
                <a:latin typeface="黑体"/>
                <a:cs typeface="黑体"/>
              </a:rPr>
              <a:t>向</a:t>
            </a:r>
            <a:r>
              <a:rPr dirty="0" sz="2400" spc="-50">
                <a:solidFill>
                  <a:srgbClr val="40458B"/>
                </a:solidFill>
                <a:latin typeface="黑体"/>
                <a:cs typeface="黑体"/>
              </a:rPr>
              <a:t>量</a:t>
            </a:r>
            <a:r>
              <a:rPr dirty="0" sz="2400">
                <a:solidFill>
                  <a:srgbClr val="40458B"/>
                </a:solidFill>
                <a:latin typeface="黑体"/>
                <a:cs typeface="黑体"/>
              </a:rPr>
              <a:t>	功能部</a:t>
            </a:r>
            <a:r>
              <a:rPr dirty="0" sz="2400" spc="-50">
                <a:solidFill>
                  <a:srgbClr val="40458B"/>
                </a:solidFill>
                <a:latin typeface="黑体"/>
                <a:cs typeface="黑体"/>
              </a:rPr>
              <a:t>件</a:t>
            </a:r>
            <a:endParaRPr sz="2400">
              <a:latin typeface="黑体"/>
              <a:cs typeface="黑体"/>
            </a:endParaRPr>
          </a:p>
        </p:txBody>
      </p:sp>
      <p:sp>
        <p:nvSpPr>
          <p:cNvPr id="22" name="object 22" descr=""/>
          <p:cNvSpPr txBox="1"/>
          <p:nvPr/>
        </p:nvSpPr>
        <p:spPr>
          <a:xfrm>
            <a:off x="3590925" y="4579746"/>
            <a:ext cx="3675379" cy="852805"/>
          </a:xfrm>
          <a:prstGeom prst="rect">
            <a:avLst/>
          </a:prstGeom>
        </p:spPr>
        <p:txBody>
          <a:bodyPr wrap="square" lIns="0" tIns="12700" rIns="0" bIns="0" rtlCol="0" vert="horz">
            <a:spAutoFit/>
          </a:bodyPr>
          <a:lstStyle/>
          <a:p>
            <a:pPr marL="50800">
              <a:lnSpc>
                <a:spcPct val="100000"/>
              </a:lnSpc>
              <a:spcBef>
                <a:spcPts val="100"/>
              </a:spcBef>
              <a:tabLst>
                <a:tab pos="2868930" algn="l"/>
              </a:tabLst>
            </a:pPr>
            <a:r>
              <a:rPr dirty="0" sz="2000" b="1">
                <a:solidFill>
                  <a:srgbClr val="00AFEF"/>
                </a:solidFill>
                <a:latin typeface="宋体"/>
                <a:cs typeface="宋体"/>
              </a:rPr>
              <a:t>//</a:t>
            </a:r>
            <a:r>
              <a:rPr dirty="0" sz="2000" spc="-25" b="1">
                <a:solidFill>
                  <a:srgbClr val="00AFEF"/>
                </a:solidFill>
                <a:latin typeface="宋体"/>
                <a:cs typeface="宋体"/>
              </a:rPr>
              <a:t> </a:t>
            </a:r>
            <a:r>
              <a:rPr dirty="0" sz="2000" spc="-10" b="1">
                <a:solidFill>
                  <a:srgbClr val="00AFEF"/>
                </a:solidFill>
                <a:latin typeface="宋体"/>
                <a:cs typeface="宋体"/>
              </a:rPr>
              <a:t>浮点乘，结果存入</a:t>
            </a:r>
            <a:r>
              <a:rPr dirty="0" sz="2000" spc="-25" b="1">
                <a:solidFill>
                  <a:srgbClr val="00AFEF"/>
                </a:solidFill>
                <a:latin typeface="宋体"/>
                <a:cs typeface="宋体"/>
              </a:rPr>
              <a:t>V</a:t>
            </a:r>
            <a:r>
              <a:rPr dirty="0" baseline="-21367" sz="1950" spc="-37" b="1">
                <a:solidFill>
                  <a:srgbClr val="00AFEF"/>
                </a:solidFill>
                <a:latin typeface="宋体"/>
                <a:cs typeface="宋体"/>
              </a:rPr>
              <a:t>4</a:t>
            </a:r>
            <a:r>
              <a:rPr dirty="0" baseline="-21367" sz="1950" b="1">
                <a:solidFill>
                  <a:srgbClr val="00AFEF"/>
                </a:solidFill>
                <a:latin typeface="宋体"/>
                <a:cs typeface="宋体"/>
              </a:rPr>
              <a:t>	</a:t>
            </a:r>
            <a:r>
              <a:rPr dirty="0" sz="2000" spc="-10" b="1">
                <a:solidFill>
                  <a:srgbClr val="FF0000"/>
                </a:solidFill>
                <a:latin typeface="宋体"/>
                <a:cs typeface="宋体"/>
              </a:rPr>
              <a:t>后做</a:t>
            </a:r>
            <a:r>
              <a:rPr dirty="0" sz="2000" spc="-50" b="1">
                <a:solidFill>
                  <a:srgbClr val="FF0000"/>
                </a:solidFill>
                <a:latin typeface="宋体"/>
                <a:cs typeface="宋体"/>
              </a:rPr>
              <a:t>乘</a:t>
            </a:r>
            <a:endParaRPr sz="2000">
              <a:latin typeface="宋体"/>
              <a:cs typeface="宋体"/>
            </a:endParaRPr>
          </a:p>
          <a:p>
            <a:pPr marL="708025">
              <a:lnSpc>
                <a:spcPct val="100000"/>
              </a:lnSpc>
              <a:spcBef>
                <a:spcPts val="1710"/>
              </a:spcBef>
            </a:pPr>
            <a:r>
              <a:rPr dirty="0" sz="2000" spc="-25">
                <a:solidFill>
                  <a:srgbClr val="FF0000"/>
                </a:solidFill>
                <a:latin typeface="黑体"/>
                <a:cs typeface="黑体"/>
              </a:rPr>
              <a:t>一拍</a:t>
            </a:r>
            <a:endParaRPr sz="2000">
              <a:latin typeface="黑体"/>
              <a:cs typeface="黑体"/>
            </a:endParaRPr>
          </a:p>
        </p:txBody>
      </p:sp>
      <p:sp>
        <p:nvSpPr>
          <p:cNvPr id="23" name="object 23" descr=""/>
          <p:cNvSpPr txBox="1"/>
          <p:nvPr/>
        </p:nvSpPr>
        <p:spPr>
          <a:xfrm>
            <a:off x="2806445" y="6008319"/>
            <a:ext cx="941069"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存储器</a:t>
            </a:r>
            <a:endParaRPr sz="2400">
              <a:latin typeface="黑体"/>
              <a:cs typeface="黑体"/>
            </a:endParaRPr>
          </a:p>
        </p:txBody>
      </p:sp>
      <p:sp>
        <p:nvSpPr>
          <p:cNvPr id="24" name="object 24" descr=""/>
          <p:cNvSpPr txBox="1"/>
          <p:nvPr/>
        </p:nvSpPr>
        <p:spPr>
          <a:xfrm>
            <a:off x="5335015" y="5972657"/>
            <a:ext cx="124587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访存部件</a:t>
            </a:r>
            <a:endParaRPr sz="2400">
              <a:latin typeface="黑体"/>
              <a:cs typeface="黑体"/>
            </a:endParaRPr>
          </a:p>
        </p:txBody>
      </p:sp>
      <p:sp>
        <p:nvSpPr>
          <p:cNvPr id="25" name="object 25" descr=""/>
          <p:cNvSpPr txBox="1"/>
          <p:nvPr/>
        </p:nvSpPr>
        <p:spPr>
          <a:xfrm>
            <a:off x="4286503" y="5800140"/>
            <a:ext cx="534670" cy="330835"/>
          </a:xfrm>
          <a:prstGeom prst="rect">
            <a:avLst/>
          </a:prstGeom>
        </p:spPr>
        <p:txBody>
          <a:bodyPr wrap="square" lIns="0" tIns="12700" rIns="0" bIns="0" rtlCol="0" vert="horz">
            <a:spAutoFit/>
          </a:bodyPr>
          <a:lstStyle/>
          <a:p>
            <a:pPr marL="12700">
              <a:lnSpc>
                <a:spcPct val="100000"/>
              </a:lnSpc>
              <a:spcBef>
                <a:spcPts val="100"/>
              </a:spcBef>
            </a:pPr>
            <a:r>
              <a:rPr dirty="0" sz="2000" spc="-25">
                <a:solidFill>
                  <a:srgbClr val="FF0000"/>
                </a:solidFill>
                <a:latin typeface="黑体"/>
                <a:cs typeface="黑体"/>
              </a:rPr>
              <a:t>一拍</a:t>
            </a:r>
            <a:endParaRPr sz="2000">
              <a:latin typeface="黑体"/>
              <a:cs typeface="黑体"/>
            </a:endParaRPr>
          </a:p>
        </p:txBody>
      </p:sp>
      <p:grpSp>
        <p:nvGrpSpPr>
          <p:cNvPr id="26" name="object 26" descr=""/>
          <p:cNvGrpSpPr/>
          <p:nvPr/>
        </p:nvGrpSpPr>
        <p:grpSpPr>
          <a:xfrm>
            <a:off x="4210113" y="6140450"/>
            <a:ext cx="652780" cy="259079"/>
            <a:chOff x="4210113" y="6140450"/>
            <a:chExt cx="652780" cy="259079"/>
          </a:xfrm>
        </p:grpSpPr>
        <p:sp>
          <p:nvSpPr>
            <p:cNvPr id="27" name="object 27" descr=""/>
            <p:cNvSpPr/>
            <p:nvPr/>
          </p:nvSpPr>
          <p:spPr>
            <a:xfrm>
              <a:off x="4214876" y="6145212"/>
              <a:ext cx="643255" cy="249554"/>
            </a:xfrm>
            <a:custGeom>
              <a:avLst/>
              <a:gdLst/>
              <a:ahLst/>
              <a:cxnLst/>
              <a:rect l="l" t="t" r="r" b="b"/>
              <a:pathLst>
                <a:path w="643254" h="249554">
                  <a:moveTo>
                    <a:pt x="518160" y="0"/>
                  </a:moveTo>
                  <a:lnTo>
                    <a:pt x="518160" y="62306"/>
                  </a:lnTo>
                  <a:lnTo>
                    <a:pt x="0" y="62306"/>
                  </a:lnTo>
                  <a:lnTo>
                    <a:pt x="0" y="186931"/>
                  </a:lnTo>
                  <a:lnTo>
                    <a:pt x="518160" y="186931"/>
                  </a:lnTo>
                  <a:lnTo>
                    <a:pt x="518160" y="249237"/>
                  </a:lnTo>
                  <a:lnTo>
                    <a:pt x="642874" y="124612"/>
                  </a:lnTo>
                  <a:lnTo>
                    <a:pt x="518160" y="0"/>
                  </a:lnTo>
                  <a:close/>
                </a:path>
              </a:pathLst>
            </a:custGeom>
            <a:solidFill>
              <a:srgbClr val="EBD782"/>
            </a:solidFill>
          </p:spPr>
          <p:txBody>
            <a:bodyPr wrap="square" lIns="0" tIns="0" rIns="0" bIns="0" rtlCol="0"/>
            <a:lstStyle/>
            <a:p/>
          </p:txBody>
        </p:sp>
        <p:sp>
          <p:nvSpPr>
            <p:cNvPr id="28" name="object 28" descr=""/>
            <p:cNvSpPr/>
            <p:nvPr/>
          </p:nvSpPr>
          <p:spPr>
            <a:xfrm>
              <a:off x="4214876" y="6145212"/>
              <a:ext cx="643255" cy="249554"/>
            </a:xfrm>
            <a:custGeom>
              <a:avLst/>
              <a:gdLst/>
              <a:ahLst/>
              <a:cxnLst/>
              <a:rect l="l" t="t" r="r" b="b"/>
              <a:pathLst>
                <a:path w="643254" h="249554">
                  <a:moveTo>
                    <a:pt x="0" y="62306"/>
                  </a:moveTo>
                  <a:lnTo>
                    <a:pt x="518160" y="62306"/>
                  </a:lnTo>
                  <a:lnTo>
                    <a:pt x="518160" y="0"/>
                  </a:lnTo>
                  <a:lnTo>
                    <a:pt x="642874" y="124612"/>
                  </a:lnTo>
                  <a:lnTo>
                    <a:pt x="518160" y="249237"/>
                  </a:lnTo>
                  <a:lnTo>
                    <a:pt x="518160" y="186931"/>
                  </a:lnTo>
                  <a:lnTo>
                    <a:pt x="0" y="186931"/>
                  </a:lnTo>
                  <a:lnTo>
                    <a:pt x="0" y="62306"/>
                  </a:lnTo>
                  <a:close/>
                </a:path>
              </a:pathLst>
            </a:custGeom>
            <a:ln w="9525">
              <a:solidFill>
                <a:srgbClr val="40458B"/>
              </a:solidFill>
            </a:ln>
          </p:spPr>
          <p:txBody>
            <a:bodyPr wrap="square" lIns="0" tIns="0" rIns="0" bIns="0" rtlCol="0"/>
            <a:lstStyle/>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grpSp>
        <p:nvGrpSpPr>
          <p:cNvPr id="10" name="object 10" descr=""/>
          <p:cNvGrpSpPr/>
          <p:nvPr/>
        </p:nvGrpSpPr>
        <p:grpSpPr>
          <a:xfrm>
            <a:off x="2619438" y="5526087"/>
            <a:ext cx="1162685" cy="225425"/>
            <a:chOff x="2619438" y="5526087"/>
            <a:chExt cx="1162685" cy="225425"/>
          </a:xfrm>
        </p:grpSpPr>
        <p:sp>
          <p:nvSpPr>
            <p:cNvPr id="11" name="object 11" descr=""/>
            <p:cNvSpPr/>
            <p:nvPr/>
          </p:nvSpPr>
          <p:spPr>
            <a:xfrm>
              <a:off x="2624201" y="5530850"/>
              <a:ext cx="1153160" cy="215900"/>
            </a:xfrm>
            <a:custGeom>
              <a:avLst/>
              <a:gdLst/>
              <a:ahLst/>
              <a:cxnLst/>
              <a:rect l="l" t="t" r="r" b="b"/>
              <a:pathLst>
                <a:path w="1153160" h="215900">
                  <a:moveTo>
                    <a:pt x="1044701" y="0"/>
                  </a:moveTo>
                  <a:lnTo>
                    <a:pt x="1044701" y="53975"/>
                  </a:lnTo>
                  <a:lnTo>
                    <a:pt x="107950" y="53975"/>
                  </a:lnTo>
                  <a:lnTo>
                    <a:pt x="107950" y="0"/>
                  </a:lnTo>
                  <a:lnTo>
                    <a:pt x="0" y="107924"/>
                  </a:lnTo>
                  <a:lnTo>
                    <a:pt x="107950" y="215836"/>
                  </a:lnTo>
                  <a:lnTo>
                    <a:pt x="107950" y="161886"/>
                  </a:lnTo>
                  <a:lnTo>
                    <a:pt x="1044701" y="161886"/>
                  </a:lnTo>
                  <a:lnTo>
                    <a:pt x="1044701" y="215836"/>
                  </a:lnTo>
                  <a:lnTo>
                    <a:pt x="1152652" y="107924"/>
                  </a:lnTo>
                  <a:lnTo>
                    <a:pt x="1044701" y="0"/>
                  </a:lnTo>
                  <a:close/>
                </a:path>
              </a:pathLst>
            </a:custGeom>
            <a:solidFill>
              <a:srgbClr val="EBD782"/>
            </a:solidFill>
          </p:spPr>
          <p:txBody>
            <a:bodyPr wrap="square" lIns="0" tIns="0" rIns="0" bIns="0" rtlCol="0"/>
            <a:lstStyle/>
            <a:p/>
          </p:txBody>
        </p:sp>
        <p:sp>
          <p:nvSpPr>
            <p:cNvPr id="12" name="object 12" descr=""/>
            <p:cNvSpPr/>
            <p:nvPr/>
          </p:nvSpPr>
          <p:spPr>
            <a:xfrm>
              <a:off x="2624201" y="5530850"/>
              <a:ext cx="1153160" cy="215900"/>
            </a:xfrm>
            <a:custGeom>
              <a:avLst/>
              <a:gdLst/>
              <a:ahLst/>
              <a:cxnLst/>
              <a:rect l="l" t="t" r="r" b="b"/>
              <a:pathLst>
                <a:path w="1153160" h="215900">
                  <a:moveTo>
                    <a:pt x="0" y="107924"/>
                  </a:moveTo>
                  <a:lnTo>
                    <a:pt x="107950" y="0"/>
                  </a:lnTo>
                  <a:lnTo>
                    <a:pt x="107950" y="53975"/>
                  </a:lnTo>
                  <a:lnTo>
                    <a:pt x="1044701" y="53975"/>
                  </a:lnTo>
                  <a:lnTo>
                    <a:pt x="1044701" y="0"/>
                  </a:lnTo>
                  <a:lnTo>
                    <a:pt x="1152652" y="107924"/>
                  </a:lnTo>
                  <a:lnTo>
                    <a:pt x="1044701" y="215836"/>
                  </a:lnTo>
                  <a:lnTo>
                    <a:pt x="1044701" y="161886"/>
                  </a:lnTo>
                  <a:lnTo>
                    <a:pt x="107950" y="161886"/>
                  </a:lnTo>
                  <a:lnTo>
                    <a:pt x="107950" y="215836"/>
                  </a:lnTo>
                  <a:lnTo>
                    <a:pt x="0" y="107924"/>
                  </a:lnTo>
                  <a:close/>
                </a:path>
              </a:pathLst>
            </a:custGeom>
            <a:ln w="9525">
              <a:solidFill>
                <a:srgbClr val="40458B"/>
              </a:solidFill>
            </a:ln>
          </p:spPr>
          <p:txBody>
            <a:bodyPr wrap="square" lIns="0" tIns="0" rIns="0" bIns="0" rtlCol="0"/>
            <a:lstStyle/>
            <a:p/>
          </p:txBody>
        </p:sp>
      </p:grpSp>
      <p:sp>
        <p:nvSpPr>
          <p:cNvPr id="13" name="object 13" descr=""/>
          <p:cNvSpPr txBox="1"/>
          <p:nvPr/>
        </p:nvSpPr>
        <p:spPr>
          <a:xfrm>
            <a:off x="1047394" y="5467603"/>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假设：</a:t>
            </a:r>
            <a:r>
              <a:rPr dirty="0" sz="2400" spc="-25">
                <a:solidFill>
                  <a:srgbClr val="40458B"/>
                </a:solidFill>
                <a:latin typeface="黑体"/>
                <a:cs typeface="黑体"/>
              </a:rPr>
              <a:t>向量</a:t>
            </a:r>
            <a:endParaRPr sz="2400">
              <a:latin typeface="黑体"/>
              <a:cs typeface="黑体"/>
            </a:endParaRPr>
          </a:p>
        </p:txBody>
      </p:sp>
      <p:sp>
        <p:nvSpPr>
          <p:cNvPr id="14" name="object 14" descr=""/>
          <p:cNvSpPr txBox="1"/>
          <p:nvPr/>
        </p:nvSpPr>
        <p:spPr>
          <a:xfrm>
            <a:off x="3983482" y="5432856"/>
            <a:ext cx="12446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功能部件</a:t>
            </a:r>
            <a:endParaRPr sz="2400">
              <a:latin typeface="黑体"/>
              <a:cs typeface="黑体"/>
            </a:endParaRPr>
          </a:p>
        </p:txBody>
      </p:sp>
      <p:sp>
        <p:nvSpPr>
          <p:cNvPr id="15" name="object 15" descr=""/>
          <p:cNvSpPr txBox="1"/>
          <p:nvPr/>
        </p:nvSpPr>
        <p:spPr>
          <a:xfrm>
            <a:off x="3027679" y="5232857"/>
            <a:ext cx="534670" cy="331470"/>
          </a:xfrm>
          <a:prstGeom prst="rect">
            <a:avLst/>
          </a:prstGeom>
        </p:spPr>
        <p:txBody>
          <a:bodyPr wrap="square" lIns="0" tIns="13335" rIns="0" bIns="0" rtlCol="0" vert="horz">
            <a:spAutoFit/>
          </a:bodyPr>
          <a:lstStyle/>
          <a:p>
            <a:pPr marL="12700">
              <a:lnSpc>
                <a:spcPct val="100000"/>
              </a:lnSpc>
              <a:spcBef>
                <a:spcPts val="105"/>
              </a:spcBef>
            </a:pPr>
            <a:r>
              <a:rPr dirty="0" sz="2000" spc="-30">
                <a:solidFill>
                  <a:srgbClr val="FF0000"/>
                </a:solidFill>
                <a:latin typeface="黑体"/>
                <a:cs typeface="黑体"/>
              </a:rPr>
              <a:t>一拍</a:t>
            </a:r>
            <a:endParaRPr sz="2000">
              <a:latin typeface="黑体"/>
              <a:cs typeface="黑体"/>
            </a:endParaRPr>
          </a:p>
        </p:txBody>
      </p:sp>
      <p:sp>
        <p:nvSpPr>
          <p:cNvPr id="16" name="object 16" descr=""/>
          <p:cNvSpPr txBox="1"/>
          <p:nvPr/>
        </p:nvSpPr>
        <p:spPr>
          <a:xfrm>
            <a:off x="2009394" y="5844641"/>
            <a:ext cx="1552575" cy="597535"/>
          </a:xfrm>
          <a:prstGeom prst="rect">
            <a:avLst/>
          </a:prstGeom>
        </p:spPr>
        <p:txBody>
          <a:bodyPr wrap="square" lIns="0" tIns="12700" rIns="0" bIns="0" rtlCol="0" vert="horz">
            <a:spAutoFit/>
          </a:bodyPr>
          <a:lstStyle/>
          <a:p>
            <a:pPr marL="1030605">
              <a:lnSpc>
                <a:spcPts val="2010"/>
              </a:lnSpc>
              <a:spcBef>
                <a:spcPts val="100"/>
              </a:spcBef>
            </a:pPr>
            <a:r>
              <a:rPr dirty="0" sz="2000" spc="-25">
                <a:solidFill>
                  <a:srgbClr val="FF0000"/>
                </a:solidFill>
                <a:latin typeface="黑体"/>
                <a:cs typeface="黑体"/>
              </a:rPr>
              <a:t>一拍</a:t>
            </a:r>
            <a:endParaRPr sz="2000">
              <a:latin typeface="黑体"/>
              <a:cs typeface="黑体"/>
            </a:endParaRPr>
          </a:p>
          <a:p>
            <a:pPr marL="12700">
              <a:lnSpc>
                <a:spcPts val="2490"/>
              </a:lnSpc>
            </a:pPr>
            <a:r>
              <a:rPr dirty="0" sz="2400" spc="-20">
                <a:solidFill>
                  <a:srgbClr val="40458B"/>
                </a:solidFill>
                <a:latin typeface="黑体"/>
                <a:cs typeface="黑体"/>
              </a:rPr>
              <a:t>存储器</a:t>
            </a:r>
            <a:endParaRPr sz="2400">
              <a:latin typeface="黑体"/>
              <a:cs typeface="黑体"/>
            </a:endParaRPr>
          </a:p>
        </p:txBody>
      </p:sp>
      <p:sp>
        <p:nvSpPr>
          <p:cNvPr id="17" name="object 17" descr=""/>
          <p:cNvSpPr txBox="1"/>
          <p:nvPr/>
        </p:nvSpPr>
        <p:spPr>
          <a:xfrm>
            <a:off x="3973829" y="6013500"/>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访存部件</a:t>
            </a:r>
            <a:endParaRPr sz="2400">
              <a:latin typeface="黑体"/>
              <a:cs typeface="黑体"/>
            </a:endParaRPr>
          </a:p>
        </p:txBody>
      </p:sp>
      <p:grpSp>
        <p:nvGrpSpPr>
          <p:cNvPr id="18" name="object 18" descr=""/>
          <p:cNvGrpSpPr/>
          <p:nvPr/>
        </p:nvGrpSpPr>
        <p:grpSpPr>
          <a:xfrm>
            <a:off x="3024187" y="6140450"/>
            <a:ext cx="652780" cy="259079"/>
            <a:chOff x="3024187" y="6140450"/>
            <a:chExt cx="652780" cy="259079"/>
          </a:xfrm>
        </p:grpSpPr>
        <p:sp>
          <p:nvSpPr>
            <p:cNvPr id="19" name="object 19" descr=""/>
            <p:cNvSpPr/>
            <p:nvPr/>
          </p:nvSpPr>
          <p:spPr>
            <a:xfrm>
              <a:off x="3028950" y="6145212"/>
              <a:ext cx="643255" cy="249554"/>
            </a:xfrm>
            <a:custGeom>
              <a:avLst/>
              <a:gdLst/>
              <a:ahLst/>
              <a:cxnLst/>
              <a:rect l="l" t="t" r="r" b="b"/>
              <a:pathLst>
                <a:path w="643254" h="249554">
                  <a:moveTo>
                    <a:pt x="518287" y="0"/>
                  </a:moveTo>
                  <a:lnTo>
                    <a:pt x="518287" y="62306"/>
                  </a:lnTo>
                  <a:lnTo>
                    <a:pt x="0" y="62306"/>
                  </a:lnTo>
                  <a:lnTo>
                    <a:pt x="0" y="186931"/>
                  </a:lnTo>
                  <a:lnTo>
                    <a:pt x="518287" y="186931"/>
                  </a:lnTo>
                  <a:lnTo>
                    <a:pt x="518287" y="249237"/>
                  </a:lnTo>
                  <a:lnTo>
                    <a:pt x="643001" y="124612"/>
                  </a:lnTo>
                  <a:lnTo>
                    <a:pt x="518287" y="0"/>
                  </a:lnTo>
                  <a:close/>
                </a:path>
              </a:pathLst>
            </a:custGeom>
            <a:solidFill>
              <a:srgbClr val="EBD782"/>
            </a:solidFill>
          </p:spPr>
          <p:txBody>
            <a:bodyPr wrap="square" lIns="0" tIns="0" rIns="0" bIns="0" rtlCol="0"/>
            <a:lstStyle/>
            <a:p/>
          </p:txBody>
        </p:sp>
        <p:sp>
          <p:nvSpPr>
            <p:cNvPr id="20" name="object 20" descr=""/>
            <p:cNvSpPr/>
            <p:nvPr/>
          </p:nvSpPr>
          <p:spPr>
            <a:xfrm>
              <a:off x="3028950" y="6145212"/>
              <a:ext cx="643255" cy="249554"/>
            </a:xfrm>
            <a:custGeom>
              <a:avLst/>
              <a:gdLst/>
              <a:ahLst/>
              <a:cxnLst/>
              <a:rect l="l" t="t" r="r" b="b"/>
              <a:pathLst>
                <a:path w="643254" h="249554">
                  <a:moveTo>
                    <a:pt x="0" y="62306"/>
                  </a:moveTo>
                  <a:lnTo>
                    <a:pt x="518287" y="62306"/>
                  </a:lnTo>
                  <a:lnTo>
                    <a:pt x="518287" y="0"/>
                  </a:lnTo>
                  <a:lnTo>
                    <a:pt x="643001" y="124612"/>
                  </a:lnTo>
                  <a:lnTo>
                    <a:pt x="518287" y="249237"/>
                  </a:lnTo>
                  <a:lnTo>
                    <a:pt x="518287" y="186931"/>
                  </a:lnTo>
                  <a:lnTo>
                    <a:pt x="0" y="186931"/>
                  </a:lnTo>
                  <a:lnTo>
                    <a:pt x="0" y="62306"/>
                  </a:lnTo>
                  <a:close/>
                </a:path>
              </a:pathLst>
            </a:custGeom>
            <a:ln w="9525">
              <a:solidFill>
                <a:srgbClr val="40458B"/>
              </a:solidFill>
            </a:ln>
          </p:spPr>
          <p:txBody>
            <a:bodyPr wrap="square" lIns="0" tIns="0" rIns="0" bIns="0" rtlCol="0"/>
            <a:lstStyle/>
            <a:p/>
          </p:txBody>
        </p:sp>
      </p:grpSp>
      <p:pic>
        <p:nvPicPr>
          <p:cNvPr id="21" name="object 21" descr=""/>
          <p:cNvPicPr/>
          <p:nvPr/>
        </p:nvPicPr>
        <p:blipFill>
          <a:blip r:embed="rId2" cstate="print"/>
          <a:stretch>
            <a:fillRect/>
          </a:stretch>
        </p:blipFill>
        <p:spPr>
          <a:xfrm>
            <a:off x="323850" y="3120898"/>
            <a:ext cx="6480175" cy="2087626"/>
          </a:xfrm>
          <a:prstGeom prst="rect">
            <a:avLst/>
          </a:prstGeom>
        </p:spPr>
      </p:pic>
      <p:sp>
        <p:nvSpPr>
          <p:cNvPr id="22" name="object 22" descr=""/>
          <p:cNvSpPr txBox="1"/>
          <p:nvPr/>
        </p:nvSpPr>
        <p:spPr>
          <a:xfrm>
            <a:off x="833424" y="921669"/>
            <a:ext cx="8336280" cy="4027804"/>
          </a:xfrm>
          <a:prstGeom prst="rect">
            <a:avLst/>
          </a:prstGeom>
        </p:spPr>
        <p:txBody>
          <a:bodyPr wrap="square" lIns="0" tIns="236854" rIns="0" bIns="0" rtlCol="0" vert="horz">
            <a:spAutoFit/>
          </a:bodyPr>
          <a:lstStyle/>
          <a:p>
            <a:pPr marL="226060">
              <a:lnSpc>
                <a:spcPct val="100000"/>
              </a:lnSpc>
              <a:spcBef>
                <a:spcPts val="1864"/>
              </a:spcBef>
            </a:pPr>
            <a:r>
              <a:rPr dirty="0" sz="2800" spc="-25" b="1">
                <a:solidFill>
                  <a:srgbClr val="E14B04"/>
                </a:solidFill>
                <a:latin typeface="宋体"/>
                <a:cs typeface="宋体"/>
              </a:rPr>
              <a:t>例</a:t>
            </a:r>
            <a:r>
              <a:rPr dirty="0" sz="2800" b="1">
                <a:solidFill>
                  <a:srgbClr val="E14B04"/>
                </a:solidFill>
                <a:latin typeface="宋体"/>
                <a:cs typeface="宋体"/>
              </a:rPr>
              <a:t>4.2</a:t>
            </a:r>
            <a:r>
              <a:rPr dirty="0" sz="2800" spc="80" b="1">
                <a:solidFill>
                  <a:srgbClr val="E14B04"/>
                </a:solidFill>
                <a:latin typeface="宋体"/>
                <a:cs typeface="宋体"/>
              </a:rPr>
              <a:t> </a:t>
            </a:r>
            <a:r>
              <a:rPr dirty="0" sz="2800" spc="-30" b="1">
                <a:latin typeface="宋体"/>
                <a:cs typeface="宋体"/>
              </a:rPr>
              <a:t>在</a:t>
            </a:r>
            <a:r>
              <a:rPr dirty="0" sz="2800" b="1">
                <a:solidFill>
                  <a:srgbClr val="9933FF"/>
                </a:solidFill>
                <a:latin typeface="宋体"/>
                <a:cs typeface="宋体"/>
              </a:rPr>
              <a:t>CRAY-1</a:t>
            </a:r>
            <a:r>
              <a:rPr dirty="0" sz="2800" spc="-35" b="1">
                <a:latin typeface="宋体"/>
                <a:cs typeface="宋体"/>
              </a:rPr>
              <a:t>上用链接技术进行向量运算</a:t>
            </a:r>
            <a:endParaRPr sz="2800">
              <a:latin typeface="宋体"/>
              <a:cs typeface="宋体"/>
            </a:endParaRPr>
          </a:p>
          <a:p>
            <a:pPr algn="ctr" marR="793750">
              <a:lnSpc>
                <a:spcPct val="100000"/>
              </a:lnSpc>
              <a:spcBef>
                <a:spcPts val="1520"/>
              </a:spcBef>
            </a:pPr>
            <a:r>
              <a:rPr dirty="0" sz="2400" spc="-10" b="1">
                <a:solidFill>
                  <a:srgbClr val="9933FF"/>
                </a:solidFill>
                <a:latin typeface="宋体"/>
                <a:cs typeface="宋体"/>
              </a:rPr>
              <a:t>D=A×（B+C）</a:t>
            </a:r>
            <a:endParaRPr sz="2400">
              <a:latin typeface="宋体"/>
              <a:cs typeface="宋体"/>
            </a:endParaRPr>
          </a:p>
          <a:p>
            <a:pPr marL="50800">
              <a:lnSpc>
                <a:spcPct val="100000"/>
              </a:lnSpc>
              <a:spcBef>
                <a:spcPts val="1275"/>
              </a:spcBef>
            </a:pPr>
            <a:r>
              <a:rPr dirty="0" sz="2000" spc="-10" b="1">
                <a:latin typeface="宋体"/>
                <a:cs typeface="宋体"/>
              </a:rPr>
              <a:t>假设向量长度</a:t>
            </a:r>
            <a:r>
              <a:rPr dirty="0" sz="2000" spc="-10" b="1">
                <a:solidFill>
                  <a:srgbClr val="9933FF"/>
                </a:solidFill>
                <a:latin typeface="宋体"/>
                <a:cs typeface="宋体"/>
              </a:rPr>
              <a:t>N≤64</a:t>
            </a:r>
            <a:r>
              <a:rPr dirty="0" sz="2000" spc="-20" b="1">
                <a:latin typeface="宋体"/>
                <a:cs typeface="宋体"/>
              </a:rPr>
              <a:t>，向量元素为浮点数，</a:t>
            </a:r>
            <a:r>
              <a:rPr dirty="0" sz="2000" spc="-10" b="1">
                <a:solidFill>
                  <a:srgbClr val="FF0000"/>
                </a:solidFill>
                <a:latin typeface="宋体"/>
                <a:cs typeface="宋体"/>
              </a:rPr>
              <a:t>且</a:t>
            </a:r>
            <a:r>
              <a:rPr dirty="0" sz="2000" spc="-15" b="1">
                <a:latin typeface="宋体"/>
                <a:cs typeface="宋体"/>
              </a:rPr>
              <a:t>向量</a:t>
            </a:r>
            <a:r>
              <a:rPr dirty="0" sz="2000" spc="-15" b="1">
                <a:solidFill>
                  <a:srgbClr val="9933FF"/>
                </a:solidFill>
                <a:latin typeface="宋体"/>
                <a:cs typeface="宋体"/>
              </a:rPr>
              <a:t>B</a:t>
            </a:r>
            <a:r>
              <a:rPr dirty="0" sz="2000" spc="-10" b="1">
                <a:solidFill>
                  <a:srgbClr val="9933FF"/>
                </a:solidFill>
                <a:latin typeface="宋体"/>
                <a:cs typeface="宋体"/>
              </a:rPr>
              <a:t>、</a:t>
            </a:r>
            <a:r>
              <a:rPr dirty="0" sz="2000" spc="-15" b="1">
                <a:solidFill>
                  <a:srgbClr val="9933FF"/>
                </a:solidFill>
                <a:latin typeface="宋体"/>
                <a:cs typeface="宋体"/>
              </a:rPr>
              <a:t>C</a:t>
            </a:r>
            <a:r>
              <a:rPr dirty="0" sz="2000" spc="-15" b="1">
                <a:latin typeface="宋体"/>
                <a:cs typeface="宋体"/>
              </a:rPr>
              <a:t>已存放在</a:t>
            </a:r>
            <a:r>
              <a:rPr dirty="0" sz="2000" b="1">
                <a:solidFill>
                  <a:srgbClr val="9933FF"/>
                </a:solidFill>
                <a:latin typeface="宋体"/>
                <a:cs typeface="宋体"/>
              </a:rPr>
              <a:t>V</a:t>
            </a:r>
            <a:r>
              <a:rPr dirty="0" baseline="-21367" sz="1950" b="1">
                <a:solidFill>
                  <a:srgbClr val="9933FF"/>
                </a:solidFill>
                <a:latin typeface="宋体"/>
                <a:cs typeface="宋体"/>
              </a:rPr>
              <a:t>0</a:t>
            </a:r>
            <a:r>
              <a:rPr dirty="0" sz="2000" spc="-10" b="1">
                <a:latin typeface="宋体"/>
                <a:cs typeface="宋体"/>
              </a:rPr>
              <a:t>和</a:t>
            </a:r>
            <a:r>
              <a:rPr dirty="0" sz="2000" b="1">
                <a:solidFill>
                  <a:srgbClr val="9933FF"/>
                </a:solidFill>
                <a:latin typeface="宋体"/>
                <a:cs typeface="宋体"/>
              </a:rPr>
              <a:t>V</a:t>
            </a:r>
            <a:r>
              <a:rPr dirty="0" baseline="-21367" sz="1950" b="1">
                <a:solidFill>
                  <a:srgbClr val="9933FF"/>
                </a:solidFill>
                <a:latin typeface="宋体"/>
                <a:cs typeface="宋体"/>
              </a:rPr>
              <a:t>1</a:t>
            </a:r>
            <a:r>
              <a:rPr dirty="0" sz="2000" spc="-30" b="1">
                <a:latin typeface="宋体"/>
                <a:cs typeface="宋体"/>
              </a:rPr>
              <a:t>中。</a:t>
            </a:r>
            <a:endParaRPr sz="2000">
              <a:latin typeface="宋体"/>
              <a:cs typeface="宋体"/>
            </a:endParaRPr>
          </a:p>
          <a:p>
            <a:pPr marL="50800">
              <a:lnSpc>
                <a:spcPct val="100000"/>
              </a:lnSpc>
              <a:spcBef>
                <a:spcPts val="1200"/>
              </a:spcBef>
            </a:pPr>
            <a:r>
              <a:rPr dirty="0" sz="2000" spc="-30" b="1">
                <a:latin typeface="宋体"/>
                <a:cs typeface="宋体"/>
              </a:rPr>
              <a:t>画出链接示意图，并分析非链接执行和链接执行两种情况下的执行时间。</a:t>
            </a:r>
            <a:endParaRPr sz="2000">
              <a:latin typeface="宋体"/>
              <a:cs typeface="宋体"/>
            </a:endParaRPr>
          </a:p>
          <a:p>
            <a:pPr>
              <a:lnSpc>
                <a:spcPct val="100000"/>
              </a:lnSpc>
              <a:spcBef>
                <a:spcPts val="875"/>
              </a:spcBef>
            </a:pPr>
            <a:endParaRPr sz="2000">
              <a:latin typeface="宋体"/>
              <a:cs typeface="宋体"/>
            </a:endParaRPr>
          </a:p>
          <a:p>
            <a:pPr marL="6266180" marR="181610" indent="-152400">
              <a:lnSpc>
                <a:spcPct val="130000"/>
              </a:lnSpc>
              <a:tabLst>
                <a:tab pos="7078345" algn="l"/>
                <a:tab pos="7892415" algn="l"/>
              </a:tabLst>
            </a:pPr>
            <a:r>
              <a:rPr dirty="0" sz="2400">
                <a:solidFill>
                  <a:srgbClr val="FF33CC"/>
                </a:solidFill>
                <a:latin typeface="宋体"/>
                <a:cs typeface="宋体"/>
              </a:rPr>
              <a:t>V</a:t>
            </a:r>
            <a:r>
              <a:rPr dirty="0" baseline="-20833" sz="2400">
                <a:solidFill>
                  <a:srgbClr val="FF33CC"/>
                </a:solidFill>
                <a:latin typeface="宋体"/>
                <a:cs typeface="宋体"/>
              </a:rPr>
              <a:t>3</a:t>
            </a:r>
            <a:r>
              <a:rPr dirty="0" baseline="-20833" sz="2400" spc="-15">
                <a:solidFill>
                  <a:srgbClr val="FF33CC"/>
                </a:solidFill>
                <a:latin typeface="宋体"/>
                <a:cs typeface="宋体"/>
              </a:rPr>
              <a:t> </a:t>
            </a:r>
            <a:r>
              <a:rPr dirty="0" sz="2400">
                <a:solidFill>
                  <a:srgbClr val="40458B"/>
                </a:solidFill>
                <a:latin typeface="宋体"/>
                <a:cs typeface="宋体"/>
              </a:rPr>
              <a:t>←</a:t>
            </a:r>
            <a:r>
              <a:rPr dirty="0" sz="2400" spc="-5">
                <a:solidFill>
                  <a:srgbClr val="40458B"/>
                </a:solidFill>
                <a:latin typeface="宋体"/>
                <a:cs typeface="宋体"/>
              </a:rPr>
              <a:t> </a:t>
            </a:r>
            <a:r>
              <a:rPr dirty="0" sz="2400">
                <a:solidFill>
                  <a:srgbClr val="40458B"/>
                </a:solidFill>
                <a:latin typeface="黑体"/>
                <a:cs typeface="黑体"/>
              </a:rPr>
              <a:t>存储</a:t>
            </a:r>
            <a:r>
              <a:rPr dirty="0" sz="2400" spc="-50">
                <a:solidFill>
                  <a:srgbClr val="40458B"/>
                </a:solidFill>
                <a:latin typeface="黑体"/>
                <a:cs typeface="黑体"/>
              </a:rPr>
              <a:t>器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22">
                <a:solidFill>
                  <a:srgbClr val="008000"/>
                </a:solidFill>
                <a:latin typeface="宋体"/>
                <a:cs typeface="宋体"/>
              </a:rPr>
              <a:t> </a:t>
            </a:r>
            <a:r>
              <a:rPr dirty="0" sz="2400">
                <a:solidFill>
                  <a:srgbClr val="40458B"/>
                </a:solidFill>
                <a:latin typeface="宋体"/>
                <a:cs typeface="宋体"/>
              </a:rPr>
              <a:t>←</a:t>
            </a:r>
            <a:r>
              <a:rPr dirty="0" sz="2400" spc="-5">
                <a:solidFill>
                  <a:srgbClr val="40458B"/>
                </a:solidFill>
                <a:latin typeface="宋体"/>
                <a:cs typeface="宋体"/>
              </a:rPr>
              <a:t> </a:t>
            </a:r>
            <a:r>
              <a:rPr dirty="0" sz="2400">
                <a:solidFill>
                  <a:srgbClr val="40458B"/>
                </a:solidFill>
                <a:latin typeface="宋体"/>
                <a:cs typeface="宋体"/>
              </a:rPr>
              <a:t>V</a:t>
            </a:r>
            <a:r>
              <a:rPr dirty="0" baseline="-20833" sz="2400">
                <a:solidFill>
                  <a:srgbClr val="40458B"/>
                </a:solidFill>
                <a:latin typeface="宋体"/>
                <a:cs typeface="宋体"/>
              </a:rPr>
              <a:t>0 </a:t>
            </a:r>
            <a:r>
              <a:rPr dirty="0" sz="2400">
                <a:solidFill>
                  <a:srgbClr val="40458B"/>
                </a:solidFill>
                <a:latin typeface="黑体"/>
                <a:cs typeface="黑体"/>
              </a:rPr>
              <a:t>＋</a:t>
            </a:r>
            <a:r>
              <a:rPr dirty="0" sz="2400" spc="-15">
                <a:solidFill>
                  <a:srgbClr val="40458B"/>
                </a:solidFill>
                <a:latin typeface="黑体"/>
                <a:cs typeface="黑体"/>
              </a:rPr>
              <a:t> </a:t>
            </a:r>
            <a:r>
              <a:rPr dirty="0" sz="2400" spc="-25">
                <a:solidFill>
                  <a:srgbClr val="40458B"/>
                </a:solidFill>
                <a:latin typeface="宋体"/>
                <a:cs typeface="宋体"/>
              </a:rPr>
              <a:t>V</a:t>
            </a:r>
            <a:r>
              <a:rPr dirty="0" baseline="-20833" sz="2400" spc="-37">
                <a:solidFill>
                  <a:srgbClr val="40458B"/>
                </a:solidFill>
                <a:latin typeface="宋体"/>
                <a:cs typeface="宋体"/>
              </a:rPr>
              <a:t>1 </a:t>
            </a:r>
            <a:r>
              <a:rPr dirty="0" sz="2400">
                <a:solidFill>
                  <a:srgbClr val="40458B"/>
                </a:solidFill>
                <a:latin typeface="宋体"/>
                <a:cs typeface="宋体"/>
              </a:rPr>
              <a:t>V</a:t>
            </a:r>
            <a:r>
              <a:rPr dirty="0" baseline="-20833" sz="2400">
                <a:solidFill>
                  <a:srgbClr val="40458B"/>
                </a:solidFill>
                <a:latin typeface="宋体"/>
                <a:cs typeface="宋体"/>
              </a:rPr>
              <a:t>4</a:t>
            </a:r>
            <a:r>
              <a:rPr dirty="0" baseline="-20833" sz="2400" spc="-15">
                <a:solidFill>
                  <a:srgbClr val="40458B"/>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a:t>
            </a:r>
            <a:r>
              <a:rPr dirty="0" sz="2400">
                <a:solidFill>
                  <a:srgbClr val="008000"/>
                </a:solidFill>
                <a:latin typeface="宋体"/>
                <a:cs typeface="宋体"/>
              </a:rPr>
              <a:t>V</a:t>
            </a:r>
            <a:r>
              <a:rPr dirty="0" baseline="-20833" sz="2400">
                <a:solidFill>
                  <a:srgbClr val="008000"/>
                </a:solidFill>
                <a:latin typeface="宋体"/>
                <a:cs typeface="宋体"/>
              </a:rPr>
              <a:t>2 </a:t>
            </a:r>
            <a:r>
              <a:rPr dirty="0" sz="2400" spc="-60">
                <a:solidFill>
                  <a:srgbClr val="40458B"/>
                </a:solidFill>
                <a:latin typeface="黑体"/>
                <a:cs typeface="黑体"/>
              </a:rPr>
              <a:t>×</a:t>
            </a:r>
            <a:r>
              <a:rPr dirty="0" sz="2400">
                <a:solidFill>
                  <a:srgbClr val="40458B"/>
                </a:solidFill>
                <a:latin typeface="黑体"/>
                <a:cs typeface="黑体"/>
              </a:rPr>
              <a:t>	</a:t>
            </a:r>
            <a:r>
              <a:rPr dirty="0" sz="2400" spc="-25">
                <a:solidFill>
                  <a:srgbClr val="FF33CC"/>
                </a:solidFill>
                <a:latin typeface="宋体"/>
                <a:cs typeface="宋体"/>
              </a:rPr>
              <a:t>V</a:t>
            </a:r>
            <a:r>
              <a:rPr dirty="0" baseline="-20833" sz="2400" spc="-37">
                <a:solidFill>
                  <a:srgbClr val="FF33CC"/>
                </a:solidFill>
                <a:latin typeface="宋体"/>
                <a:cs typeface="宋体"/>
              </a:rPr>
              <a:t>3</a:t>
            </a:r>
            <a:endParaRPr baseline="-20833" sz="240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pic>
        <p:nvPicPr>
          <p:cNvPr id="10" name="object 10" descr=""/>
          <p:cNvPicPr/>
          <p:nvPr/>
        </p:nvPicPr>
        <p:blipFill>
          <a:blip r:embed="rId2" cstate="print"/>
          <a:stretch>
            <a:fillRect/>
          </a:stretch>
        </p:blipFill>
        <p:spPr>
          <a:xfrm>
            <a:off x="684212" y="961897"/>
            <a:ext cx="4895850" cy="2087626"/>
          </a:xfrm>
          <a:prstGeom prst="rect">
            <a:avLst/>
          </a:prstGeom>
        </p:spPr>
      </p:pic>
      <p:sp>
        <p:nvSpPr>
          <p:cNvPr id="11" name="object 11" descr=""/>
          <p:cNvSpPr txBox="1"/>
          <p:nvPr/>
        </p:nvSpPr>
        <p:spPr>
          <a:xfrm>
            <a:off x="5685154" y="1243964"/>
            <a:ext cx="3176270" cy="1452245"/>
          </a:xfrm>
          <a:prstGeom prst="rect">
            <a:avLst/>
          </a:prstGeom>
        </p:spPr>
        <p:txBody>
          <a:bodyPr wrap="square" lIns="0" tIns="12700" rIns="0" bIns="0" rtlCol="0" vert="horz">
            <a:spAutoFit/>
          </a:bodyPr>
          <a:lstStyle/>
          <a:p>
            <a:pPr algn="ctr" marL="38100" marR="30480" indent="-1905">
              <a:lnSpc>
                <a:spcPct val="130000"/>
              </a:lnSpc>
              <a:spcBef>
                <a:spcPts val="100"/>
              </a:spcBef>
              <a:tabLst>
                <a:tab pos="1915795" algn="l"/>
                <a:tab pos="2069464" algn="l"/>
              </a:tabLst>
            </a:pPr>
            <a:r>
              <a:rPr dirty="0" sz="2400">
                <a:solidFill>
                  <a:srgbClr val="FF0000"/>
                </a:solidFill>
                <a:latin typeface="黑体"/>
                <a:cs typeface="黑体"/>
              </a:rPr>
              <a:t>指令</a:t>
            </a:r>
            <a:r>
              <a:rPr dirty="0" sz="2400">
                <a:solidFill>
                  <a:srgbClr val="FF0000"/>
                </a:solidFill>
                <a:latin typeface="宋体"/>
                <a:cs typeface="宋体"/>
              </a:rPr>
              <a:t>1</a:t>
            </a:r>
            <a:r>
              <a:rPr dirty="0" sz="2400">
                <a:solidFill>
                  <a:srgbClr val="FF33CC"/>
                </a:solidFill>
                <a:latin typeface="黑体"/>
                <a:cs typeface="黑体"/>
              </a:rPr>
              <a:t>：</a:t>
            </a:r>
            <a:r>
              <a:rPr dirty="0" sz="2400">
                <a:solidFill>
                  <a:srgbClr val="FF33CC"/>
                </a:solidFill>
                <a:latin typeface="宋体"/>
                <a:cs typeface="宋体"/>
              </a:rPr>
              <a:t>V</a:t>
            </a:r>
            <a:r>
              <a:rPr dirty="0" baseline="-20833" sz="2400">
                <a:solidFill>
                  <a:srgbClr val="FF33CC"/>
                </a:solidFill>
                <a:latin typeface="宋体"/>
                <a:cs typeface="宋体"/>
              </a:rPr>
              <a:t>3</a:t>
            </a:r>
            <a:r>
              <a:rPr dirty="0" baseline="-20833" sz="2400" spc="-22">
                <a:solidFill>
                  <a:srgbClr val="FF33CC"/>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a:t>
            </a:r>
            <a:r>
              <a:rPr dirty="0" sz="2400">
                <a:solidFill>
                  <a:srgbClr val="40458B"/>
                </a:solidFill>
                <a:latin typeface="黑体"/>
                <a:cs typeface="黑体"/>
              </a:rPr>
              <a:t>存储</a:t>
            </a:r>
            <a:r>
              <a:rPr dirty="0" sz="2400" spc="-50">
                <a:solidFill>
                  <a:srgbClr val="40458B"/>
                </a:solidFill>
                <a:latin typeface="黑体"/>
                <a:cs typeface="黑体"/>
              </a:rPr>
              <a:t>器</a:t>
            </a:r>
            <a:r>
              <a:rPr dirty="0" sz="2400" spc="-50">
                <a:solidFill>
                  <a:srgbClr val="40458B"/>
                </a:solidFill>
                <a:latin typeface="黑体"/>
                <a:cs typeface="黑体"/>
              </a:rPr>
              <a:t> </a:t>
            </a:r>
            <a:r>
              <a:rPr dirty="0" sz="2400">
                <a:solidFill>
                  <a:srgbClr val="FF0000"/>
                </a:solidFill>
                <a:latin typeface="黑体"/>
                <a:cs typeface="黑体"/>
              </a:rPr>
              <a:t>指令</a:t>
            </a:r>
            <a:r>
              <a:rPr dirty="0" sz="2400">
                <a:solidFill>
                  <a:srgbClr val="FF0000"/>
                </a:solidFill>
                <a:latin typeface="宋体"/>
                <a:cs typeface="宋体"/>
              </a:rPr>
              <a:t>2</a:t>
            </a:r>
            <a:r>
              <a:rPr dirty="0" sz="2400">
                <a:solidFill>
                  <a:srgbClr val="FF0000"/>
                </a:solidFill>
                <a:latin typeface="黑体"/>
                <a:cs typeface="黑体"/>
              </a:rPr>
              <a:t>：</a:t>
            </a:r>
            <a:r>
              <a:rPr dirty="0" sz="2400" spc="-5">
                <a:solidFill>
                  <a:srgbClr val="FF0000"/>
                </a:solidFill>
                <a:latin typeface="黑体"/>
                <a:cs typeface="黑体"/>
              </a:rPr>
              <a:t>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15">
                <a:solidFill>
                  <a:srgbClr val="008000"/>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V</a:t>
            </a:r>
            <a:r>
              <a:rPr dirty="0" baseline="-20833" sz="2400">
                <a:solidFill>
                  <a:srgbClr val="40458B"/>
                </a:solidFill>
                <a:latin typeface="宋体"/>
                <a:cs typeface="宋体"/>
              </a:rPr>
              <a:t>0</a:t>
            </a:r>
            <a:r>
              <a:rPr dirty="0" baseline="-20833" sz="2400" spc="-67">
                <a:solidFill>
                  <a:srgbClr val="40458B"/>
                </a:solidFill>
                <a:latin typeface="宋体"/>
                <a:cs typeface="宋体"/>
              </a:rPr>
              <a:t> </a:t>
            </a:r>
            <a:r>
              <a:rPr dirty="0" sz="2400">
                <a:solidFill>
                  <a:srgbClr val="40458B"/>
                </a:solidFill>
                <a:latin typeface="黑体"/>
                <a:cs typeface="黑体"/>
              </a:rPr>
              <a:t>＋</a:t>
            </a:r>
            <a:r>
              <a:rPr dirty="0" sz="2400" spc="-85">
                <a:solidFill>
                  <a:srgbClr val="40458B"/>
                </a:solidFill>
                <a:latin typeface="黑体"/>
                <a:cs typeface="黑体"/>
              </a:rPr>
              <a:t> </a:t>
            </a:r>
            <a:r>
              <a:rPr dirty="0" sz="2400" spc="-25">
                <a:solidFill>
                  <a:srgbClr val="40458B"/>
                </a:solidFill>
                <a:latin typeface="宋体"/>
                <a:cs typeface="宋体"/>
              </a:rPr>
              <a:t>V</a:t>
            </a:r>
            <a:r>
              <a:rPr dirty="0" baseline="-20833" sz="2400" spc="-37">
                <a:solidFill>
                  <a:srgbClr val="40458B"/>
                </a:solidFill>
                <a:latin typeface="宋体"/>
                <a:cs typeface="宋体"/>
              </a:rPr>
              <a:t>1</a:t>
            </a:r>
            <a:r>
              <a:rPr dirty="0" sz="2400" spc="-10">
                <a:solidFill>
                  <a:srgbClr val="FF0000"/>
                </a:solidFill>
                <a:latin typeface="黑体"/>
                <a:cs typeface="黑体"/>
              </a:rPr>
              <a:t>指令</a:t>
            </a:r>
            <a:r>
              <a:rPr dirty="0" sz="2400">
                <a:solidFill>
                  <a:srgbClr val="FF0000"/>
                </a:solidFill>
                <a:latin typeface="宋体"/>
                <a:cs typeface="宋体"/>
              </a:rPr>
              <a:t>3</a:t>
            </a:r>
            <a:r>
              <a:rPr dirty="0" sz="2400">
                <a:solidFill>
                  <a:srgbClr val="FF0000"/>
                </a:solidFill>
                <a:latin typeface="黑体"/>
                <a:cs typeface="黑体"/>
              </a:rPr>
              <a:t>：</a:t>
            </a:r>
            <a:r>
              <a:rPr dirty="0" sz="2400">
                <a:solidFill>
                  <a:srgbClr val="40458B"/>
                </a:solidFill>
                <a:latin typeface="宋体"/>
                <a:cs typeface="宋体"/>
              </a:rPr>
              <a:t>V</a:t>
            </a:r>
            <a:r>
              <a:rPr dirty="0" baseline="-20833" sz="2400">
                <a:solidFill>
                  <a:srgbClr val="40458B"/>
                </a:solidFill>
                <a:latin typeface="宋体"/>
                <a:cs typeface="宋体"/>
              </a:rPr>
              <a:t>4</a:t>
            </a:r>
            <a:r>
              <a:rPr dirty="0" baseline="-20833" sz="2400" spc="-15">
                <a:solidFill>
                  <a:srgbClr val="40458B"/>
                </a:solidFill>
                <a:latin typeface="宋体"/>
                <a:cs typeface="宋体"/>
              </a:rPr>
              <a:t> </a:t>
            </a:r>
            <a:r>
              <a:rPr dirty="0" sz="2400">
                <a:solidFill>
                  <a:srgbClr val="40458B"/>
                </a:solidFill>
                <a:latin typeface="宋体"/>
                <a:cs typeface="宋体"/>
              </a:rPr>
              <a:t>←</a:t>
            </a:r>
            <a:r>
              <a:rPr dirty="0" sz="2400" spc="-15">
                <a:solidFill>
                  <a:srgbClr val="40458B"/>
                </a:solidFill>
                <a:latin typeface="宋体"/>
                <a:cs typeface="宋体"/>
              </a:rPr>
              <a:t>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7">
                <a:solidFill>
                  <a:srgbClr val="008000"/>
                </a:solidFill>
                <a:latin typeface="宋体"/>
                <a:cs typeface="宋体"/>
              </a:rPr>
              <a:t> </a:t>
            </a:r>
            <a:r>
              <a:rPr dirty="0" sz="2400">
                <a:solidFill>
                  <a:srgbClr val="40458B"/>
                </a:solidFill>
                <a:latin typeface="黑体"/>
                <a:cs typeface="黑体"/>
              </a:rPr>
              <a:t>×</a:t>
            </a:r>
            <a:r>
              <a:rPr dirty="0" sz="2400" spc="-10">
                <a:solidFill>
                  <a:srgbClr val="40458B"/>
                </a:solidFill>
                <a:latin typeface="黑体"/>
                <a:cs typeface="黑体"/>
              </a:rPr>
              <a:t> </a:t>
            </a:r>
            <a:r>
              <a:rPr dirty="0" sz="2400" spc="-25">
                <a:solidFill>
                  <a:srgbClr val="FF33CC"/>
                </a:solidFill>
                <a:latin typeface="宋体"/>
                <a:cs typeface="宋体"/>
              </a:rPr>
              <a:t>V</a:t>
            </a:r>
            <a:r>
              <a:rPr dirty="0" baseline="-20833" sz="2400" spc="-37">
                <a:solidFill>
                  <a:srgbClr val="FF33CC"/>
                </a:solidFill>
                <a:latin typeface="宋体"/>
                <a:cs typeface="宋体"/>
              </a:rPr>
              <a:t>3</a:t>
            </a:r>
            <a:endParaRPr baseline="-20833" sz="2400">
              <a:latin typeface="宋体"/>
              <a:cs typeface="宋体"/>
            </a:endParaRPr>
          </a:p>
        </p:txBody>
      </p:sp>
      <p:sp>
        <p:nvSpPr>
          <p:cNvPr id="12" name="object 12" descr=""/>
          <p:cNvSpPr txBox="1"/>
          <p:nvPr/>
        </p:nvSpPr>
        <p:spPr>
          <a:xfrm>
            <a:off x="1476375" y="3208401"/>
            <a:ext cx="6048375" cy="1200150"/>
          </a:xfrm>
          <a:prstGeom prst="rect">
            <a:avLst/>
          </a:prstGeom>
          <a:ln w="9525">
            <a:solidFill>
              <a:srgbClr val="FF09FF"/>
            </a:solidFill>
          </a:ln>
        </p:spPr>
        <p:txBody>
          <a:bodyPr wrap="square" lIns="0" tIns="46355" rIns="0" bIns="0" rtlCol="0" vert="horz">
            <a:spAutoFit/>
          </a:bodyPr>
          <a:lstStyle/>
          <a:p>
            <a:pPr algn="ctr" marR="29209">
              <a:lnSpc>
                <a:spcPct val="100000"/>
              </a:lnSpc>
              <a:spcBef>
                <a:spcPts val="365"/>
              </a:spcBef>
            </a:pPr>
            <a:r>
              <a:rPr dirty="0" sz="2400" spc="-5">
                <a:solidFill>
                  <a:srgbClr val="FF0000"/>
                </a:solidFill>
                <a:latin typeface="黑体"/>
                <a:cs typeface="黑体"/>
              </a:rPr>
              <a:t>非链接技术方案过程分析</a:t>
            </a:r>
            <a:endParaRPr sz="2400">
              <a:latin typeface="黑体"/>
              <a:cs typeface="黑体"/>
            </a:endParaRPr>
          </a:p>
          <a:p>
            <a:pPr marL="91440">
              <a:lnSpc>
                <a:spcPct val="100000"/>
              </a:lnSpc>
            </a:pPr>
            <a:r>
              <a:rPr dirty="0" sz="2400" spc="-25">
                <a:solidFill>
                  <a:srgbClr val="40458B"/>
                </a:solidFill>
                <a:latin typeface="Tahoma"/>
                <a:cs typeface="Tahoma"/>
              </a:rPr>
              <a:t>1</a:t>
            </a:r>
            <a:r>
              <a:rPr dirty="0" sz="2400">
                <a:solidFill>
                  <a:srgbClr val="40458B"/>
                </a:solidFill>
                <a:latin typeface="黑体"/>
                <a:cs typeface="黑体"/>
              </a:rPr>
              <a:t>、指令</a:t>
            </a:r>
            <a:r>
              <a:rPr dirty="0" sz="2400" spc="-25">
                <a:solidFill>
                  <a:srgbClr val="40458B"/>
                </a:solidFill>
                <a:latin typeface="Tahoma"/>
                <a:cs typeface="Tahoma"/>
              </a:rPr>
              <a:t>1</a:t>
            </a:r>
            <a:r>
              <a:rPr dirty="0" sz="2400">
                <a:solidFill>
                  <a:srgbClr val="40458B"/>
                </a:solidFill>
                <a:latin typeface="黑体"/>
                <a:cs typeface="黑体"/>
              </a:rPr>
              <a:t>和</a:t>
            </a:r>
            <a:r>
              <a:rPr dirty="0" sz="2400" spc="-25">
                <a:solidFill>
                  <a:srgbClr val="40458B"/>
                </a:solidFill>
                <a:latin typeface="Tahoma"/>
                <a:cs typeface="Tahoma"/>
              </a:rPr>
              <a:t>2</a:t>
            </a:r>
            <a:r>
              <a:rPr dirty="0" sz="2400" spc="-5">
                <a:solidFill>
                  <a:srgbClr val="40458B"/>
                </a:solidFill>
                <a:latin typeface="黑体"/>
                <a:cs typeface="黑体"/>
              </a:rPr>
              <a:t>不相关，可并行，当然可串行</a:t>
            </a:r>
            <a:endParaRPr sz="2400">
              <a:latin typeface="黑体"/>
              <a:cs typeface="黑体"/>
            </a:endParaRPr>
          </a:p>
          <a:p>
            <a:pPr marL="91440">
              <a:lnSpc>
                <a:spcPct val="100000"/>
              </a:lnSpc>
            </a:pPr>
            <a:r>
              <a:rPr dirty="0" sz="2400" spc="-25">
                <a:solidFill>
                  <a:srgbClr val="40458B"/>
                </a:solidFill>
                <a:latin typeface="Tahoma"/>
                <a:cs typeface="Tahoma"/>
              </a:rPr>
              <a:t>2</a:t>
            </a:r>
            <a:r>
              <a:rPr dirty="0" sz="2400" spc="-15">
                <a:solidFill>
                  <a:srgbClr val="40458B"/>
                </a:solidFill>
                <a:latin typeface="黑体"/>
                <a:cs typeface="黑体"/>
              </a:rPr>
              <a:t>、方案就有两种情况</a:t>
            </a:r>
            <a:endParaRPr sz="2400">
              <a:latin typeface="黑体"/>
              <a:cs typeface="黑体"/>
            </a:endParaRPr>
          </a:p>
        </p:txBody>
      </p:sp>
      <p:sp>
        <p:nvSpPr>
          <p:cNvPr id="13" name="object 13" descr=""/>
          <p:cNvSpPr txBox="1"/>
          <p:nvPr/>
        </p:nvSpPr>
        <p:spPr>
          <a:xfrm>
            <a:off x="1476375" y="4768850"/>
            <a:ext cx="6048375" cy="1200150"/>
          </a:xfrm>
          <a:prstGeom prst="rect">
            <a:avLst/>
          </a:prstGeom>
          <a:ln w="9525">
            <a:solidFill>
              <a:srgbClr val="FF09FF"/>
            </a:solidFill>
          </a:ln>
        </p:spPr>
        <p:txBody>
          <a:bodyPr wrap="square" lIns="0" tIns="46990" rIns="0" bIns="0" rtlCol="0" vert="horz">
            <a:spAutoFit/>
          </a:bodyPr>
          <a:lstStyle/>
          <a:p>
            <a:pPr marL="91440" marR="1515110" indent="1236980">
              <a:lnSpc>
                <a:spcPct val="100000"/>
              </a:lnSpc>
              <a:spcBef>
                <a:spcPts val="370"/>
              </a:spcBef>
            </a:pPr>
            <a:r>
              <a:rPr dirty="0" sz="2400" spc="-10">
                <a:solidFill>
                  <a:srgbClr val="FF0000"/>
                </a:solidFill>
                <a:latin typeface="黑体"/>
                <a:cs typeface="黑体"/>
              </a:rPr>
              <a:t>非链接技术方案结论</a:t>
            </a:r>
            <a:r>
              <a:rPr dirty="0" sz="2400" spc="600">
                <a:solidFill>
                  <a:srgbClr val="FF0000"/>
                </a:solidFill>
                <a:latin typeface="黑体"/>
                <a:cs typeface="黑体"/>
              </a:rPr>
              <a:t> </a:t>
            </a:r>
            <a:r>
              <a:rPr dirty="0" sz="2400">
                <a:solidFill>
                  <a:srgbClr val="40458B"/>
                </a:solidFill>
                <a:latin typeface="黑体"/>
                <a:cs typeface="黑体"/>
              </a:rPr>
              <a:t>非链接方案</a:t>
            </a:r>
            <a:r>
              <a:rPr dirty="0" sz="2400" spc="-10">
                <a:solidFill>
                  <a:srgbClr val="40458B"/>
                </a:solidFill>
                <a:latin typeface="Tahoma"/>
                <a:cs typeface="Tahoma"/>
              </a:rPr>
              <a:t>1</a:t>
            </a:r>
            <a:r>
              <a:rPr dirty="0" sz="2400" spc="-10">
                <a:solidFill>
                  <a:srgbClr val="40458B"/>
                </a:solidFill>
                <a:latin typeface="黑体"/>
                <a:cs typeface="黑体"/>
              </a:rPr>
              <a:t>：三条向量指令串行</a:t>
            </a:r>
            <a:endParaRPr sz="2400">
              <a:latin typeface="黑体"/>
              <a:cs typeface="黑体"/>
            </a:endParaRPr>
          </a:p>
          <a:p>
            <a:pPr marL="91440">
              <a:lnSpc>
                <a:spcPct val="100000"/>
              </a:lnSpc>
            </a:pPr>
            <a:r>
              <a:rPr dirty="0" sz="2400">
                <a:solidFill>
                  <a:srgbClr val="40458B"/>
                </a:solidFill>
                <a:latin typeface="黑体"/>
                <a:cs typeface="黑体"/>
              </a:rPr>
              <a:t>非链接方案</a:t>
            </a:r>
            <a:r>
              <a:rPr dirty="0" sz="2400" spc="-10">
                <a:solidFill>
                  <a:srgbClr val="40458B"/>
                </a:solidFill>
                <a:latin typeface="Tahoma"/>
                <a:cs typeface="Tahoma"/>
              </a:rPr>
              <a:t>2</a:t>
            </a:r>
            <a:r>
              <a:rPr dirty="0" sz="2400" spc="-5">
                <a:solidFill>
                  <a:srgbClr val="40458B"/>
                </a:solidFill>
                <a:latin typeface="黑体"/>
                <a:cs typeface="黑体"/>
              </a:rPr>
              <a:t>：指令</a:t>
            </a:r>
            <a:r>
              <a:rPr dirty="0" sz="2400" spc="-25">
                <a:solidFill>
                  <a:srgbClr val="40458B"/>
                </a:solidFill>
                <a:latin typeface="Tahoma"/>
                <a:cs typeface="Tahoma"/>
              </a:rPr>
              <a:t>1</a:t>
            </a:r>
            <a:r>
              <a:rPr dirty="0" sz="2400">
                <a:solidFill>
                  <a:srgbClr val="40458B"/>
                </a:solidFill>
                <a:latin typeface="黑体"/>
                <a:cs typeface="黑体"/>
              </a:rPr>
              <a:t>和</a:t>
            </a:r>
            <a:r>
              <a:rPr dirty="0" sz="2400" spc="-25">
                <a:solidFill>
                  <a:srgbClr val="40458B"/>
                </a:solidFill>
                <a:latin typeface="Tahoma"/>
                <a:cs typeface="Tahoma"/>
              </a:rPr>
              <a:t>2</a:t>
            </a:r>
            <a:r>
              <a:rPr dirty="0" sz="2400" spc="-5">
                <a:solidFill>
                  <a:srgbClr val="40458B"/>
                </a:solidFill>
                <a:latin typeface="黑体"/>
                <a:cs typeface="黑体"/>
              </a:rPr>
              <a:t>并行，指令</a:t>
            </a:r>
            <a:r>
              <a:rPr dirty="0" sz="2400" spc="-25">
                <a:solidFill>
                  <a:srgbClr val="40458B"/>
                </a:solidFill>
                <a:latin typeface="Tahoma"/>
                <a:cs typeface="Tahoma"/>
              </a:rPr>
              <a:t>3</a:t>
            </a:r>
            <a:r>
              <a:rPr dirty="0" sz="2400" spc="-25">
                <a:solidFill>
                  <a:srgbClr val="40458B"/>
                </a:solidFill>
                <a:latin typeface="黑体"/>
                <a:cs typeface="黑体"/>
              </a:rPr>
              <a:t>串行</a:t>
            </a:r>
            <a:endParaRPr sz="2400">
              <a:latin typeface="黑体"/>
              <a:cs typeface="黑体"/>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pic>
        <p:nvPicPr>
          <p:cNvPr id="10" name="object 10" descr=""/>
          <p:cNvPicPr/>
          <p:nvPr/>
        </p:nvPicPr>
        <p:blipFill>
          <a:blip r:embed="rId2" cstate="print"/>
          <a:stretch>
            <a:fillRect/>
          </a:stretch>
        </p:blipFill>
        <p:spPr>
          <a:xfrm>
            <a:off x="684212" y="961897"/>
            <a:ext cx="4895850" cy="2087626"/>
          </a:xfrm>
          <a:prstGeom prst="rect">
            <a:avLst/>
          </a:prstGeom>
        </p:spPr>
      </p:pic>
      <p:sp>
        <p:nvSpPr>
          <p:cNvPr id="11" name="object 11" descr=""/>
          <p:cNvSpPr txBox="1"/>
          <p:nvPr/>
        </p:nvSpPr>
        <p:spPr>
          <a:xfrm>
            <a:off x="5685154" y="1243964"/>
            <a:ext cx="3176270" cy="1452245"/>
          </a:xfrm>
          <a:prstGeom prst="rect">
            <a:avLst/>
          </a:prstGeom>
        </p:spPr>
        <p:txBody>
          <a:bodyPr wrap="square" lIns="0" tIns="12700" rIns="0" bIns="0" rtlCol="0" vert="horz">
            <a:spAutoFit/>
          </a:bodyPr>
          <a:lstStyle/>
          <a:p>
            <a:pPr algn="ctr" marL="38100" marR="30480" indent="-1905">
              <a:lnSpc>
                <a:spcPct val="130000"/>
              </a:lnSpc>
              <a:spcBef>
                <a:spcPts val="100"/>
              </a:spcBef>
              <a:tabLst>
                <a:tab pos="1915795" algn="l"/>
                <a:tab pos="2069464" algn="l"/>
              </a:tabLst>
            </a:pPr>
            <a:r>
              <a:rPr dirty="0" sz="2400">
                <a:solidFill>
                  <a:srgbClr val="FF0000"/>
                </a:solidFill>
                <a:latin typeface="黑体"/>
                <a:cs typeface="黑体"/>
              </a:rPr>
              <a:t>指令</a:t>
            </a:r>
            <a:r>
              <a:rPr dirty="0" sz="2400">
                <a:solidFill>
                  <a:srgbClr val="FF0000"/>
                </a:solidFill>
                <a:latin typeface="宋体"/>
                <a:cs typeface="宋体"/>
              </a:rPr>
              <a:t>1</a:t>
            </a:r>
            <a:r>
              <a:rPr dirty="0" sz="2400">
                <a:solidFill>
                  <a:srgbClr val="FF33CC"/>
                </a:solidFill>
                <a:latin typeface="黑体"/>
                <a:cs typeface="黑体"/>
              </a:rPr>
              <a:t>：</a:t>
            </a:r>
            <a:r>
              <a:rPr dirty="0" sz="2400">
                <a:solidFill>
                  <a:srgbClr val="FF33CC"/>
                </a:solidFill>
                <a:latin typeface="宋体"/>
                <a:cs typeface="宋体"/>
              </a:rPr>
              <a:t>V</a:t>
            </a:r>
            <a:r>
              <a:rPr dirty="0" baseline="-20833" sz="2400">
                <a:solidFill>
                  <a:srgbClr val="FF33CC"/>
                </a:solidFill>
                <a:latin typeface="宋体"/>
                <a:cs typeface="宋体"/>
              </a:rPr>
              <a:t>3</a:t>
            </a:r>
            <a:r>
              <a:rPr dirty="0" baseline="-20833" sz="2400" spc="-22">
                <a:solidFill>
                  <a:srgbClr val="FF33CC"/>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a:t>
            </a:r>
            <a:r>
              <a:rPr dirty="0" sz="2400">
                <a:solidFill>
                  <a:srgbClr val="40458B"/>
                </a:solidFill>
                <a:latin typeface="黑体"/>
                <a:cs typeface="黑体"/>
              </a:rPr>
              <a:t>存储</a:t>
            </a:r>
            <a:r>
              <a:rPr dirty="0" sz="2400" spc="-50">
                <a:solidFill>
                  <a:srgbClr val="40458B"/>
                </a:solidFill>
                <a:latin typeface="黑体"/>
                <a:cs typeface="黑体"/>
              </a:rPr>
              <a:t>器</a:t>
            </a:r>
            <a:r>
              <a:rPr dirty="0" sz="2400" spc="-50">
                <a:solidFill>
                  <a:srgbClr val="40458B"/>
                </a:solidFill>
                <a:latin typeface="黑体"/>
                <a:cs typeface="黑体"/>
              </a:rPr>
              <a:t> </a:t>
            </a:r>
            <a:r>
              <a:rPr dirty="0" sz="2400">
                <a:solidFill>
                  <a:srgbClr val="FF0000"/>
                </a:solidFill>
                <a:latin typeface="黑体"/>
                <a:cs typeface="黑体"/>
              </a:rPr>
              <a:t>指令</a:t>
            </a:r>
            <a:r>
              <a:rPr dirty="0" sz="2400">
                <a:solidFill>
                  <a:srgbClr val="FF0000"/>
                </a:solidFill>
                <a:latin typeface="宋体"/>
                <a:cs typeface="宋体"/>
              </a:rPr>
              <a:t>2</a:t>
            </a:r>
            <a:r>
              <a:rPr dirty="0" sz="2400">
                <a:solidFill>
                  <a:srgbClr val="FF0000"/>
                </a:solidFill>
                <a:latin typeface="黑体"/>
                <a:cs typeface="黑体"/>
              </a:rPr>
              <a:t>：</a:t>
            </a:r>
            <a:r>
              <a:rPr dirty="0" sz="2400" spc="-5">
                <a:solidFill>
                  <a:srgbClr val="FF0000"/>
                </a:solidFill>
                <a:latin typeface="黑体"/>
                <a:cs typeface="黑体"/>
              </a:rPr>
              <a:t>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15">
                <a:solidFill>
                  <a:srgbClr val="008000"/>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V</a:t>
            </a:r>
            <a:r>
              <a:rPr dirty="0" baseline="-20833" sz="2400">
                <a:solidFill>
                  <a:srgbClr val="40458B"/>
                </a:solidFill>
                <a:latin typeface="宋体"/>
                <a:cs typeface="宋体"/>
              </a:rPr>
              <a:t>0</a:t>
            </a:r>
            <a:r>
              <a:rPr dirty="0" baseline="-20833" sz="2400" spc="-67">
                <a:solidFill>
                  <a:srgbClr val="40458B"/>
                </a:solidFill>
                <a:latin typeface="宋体"/>
                <a:cs typeface="宋体"/>
              </a:rPr>
              <a:t> </a:t>
            </a:r>
            <a:r>
              <a:rPr dirty="0" sz="2400">
                <a:solidFill>
                  <a:srgbClr val="40458B"/>
                </a:solidFill>
                <a:latin typeface="黑体"/>
                <a:cs typeface="黑体"/>
              </a:rPr>
              <a:t>＋</a:t>
            </a:r>
            <a:r>
              <a:rPr dirty="0" sz="2400" spc="-85">
                <a:solidFill>
                  <a:srgbClr val="40458B"/>
                </a:solidFill>
                <a:latin typeface="黑体"/>
                <a:cs typeface="黑体"/>
              </a:rPr>
              <a:t> </a:t>
            </a:r>
            <a:r>
              <a:rPr dirty="0" sz="2400" spc="-25">
                <a:solidFill>
                  <a:srgbClr val="40458B"/>
                </a:solidFill>
                <a:latin typeface="宋体"/>
                <a:cs typeface="宋体"/>
              </a:rPr>
              <a:t>V</a:t>
            </a:r>
            <a:r>
              <a:rPr dirty="0" baseline="-20833" sz="2400" spc="-37">
                <a:solidFill>
                  <a:srgbClr val="40458B"/>
                </a:solidFill>
                <a:latin typeface="宋体"/>
                <a:cs typeface="宋体"/>
              </a:rPr>
              <a:t>1</a:t>
            </a:r>
            <a:r>
              <a:rPr dirty="0" sz="2400" spc="-10">
                <a:solidFill>
                  <a:srgbClr val="FF0000"/>
                </a:solidFill>
                <a:latin typeface="黑体"/>
                <a:cs typeface="黑体"/>
              </a:rPr>
              <a:t>指令</a:t>
            </a:r>
            <a:r>
              <a:rPr dirty="0" sz="2400">
                <a:solidFill>
                  <a:srgbClr val="FF0000"/>
                </a:solidFill>
                <a:latin typeface="宋体"/>
                <a:cs typeface="宋体"/>
              </a:rPr>
              <a:t>3</a:t>
            </a:r>
            <a:r>
              <a:rPr dirty="0" sz="2400">
                <a:solidFill>
                  <a:srgbClr val="FF0000"/>
                </a:solidFill>
                <a:latin typeface="黑体"/>
                <a:cs typeface="黑体"/>
              </a:rPr>
              <a:t>：</a:t>
            </a:r>
            <a:r>
              <a:rPr dirty="0" sz="2400">
                <a:solidFill>
                  <a:srgbClr val="40458B"/>
                </a:solidFill>
                <a:latin typeface="宋体"/>
                <a:cs typeface="宋体"/>
              </a:rPr>
              <a:t>V</a:t>
            </a:r>
            <a:r>
              <a:rPr dirty="0" baseline="-20833" sz="2400">
                <a:solidFill>
                  <a:srgbClr val="40458B"/>
                </a:solidFill>
                <a:latin typeface="宋体"/>
                <a:cs typeface="宋体"/>
              </a:rPr>
              <a:t>4</a:t>
            </a:r>
            <a:r>
              <a:rPr dirty="0" baseline="-20833" sz="2400" spc="-15">
                <a:solidFill>
                  <a:srgbClr val="40458B"/>
                </a:solidFill>
                <a:latin typeface="宋体"/>
                <a:cs typeface="宋体"/>
              </a:rPr>
              <a:t> </a:t>
            </a:r>
            <a:r>
              <a:rPr dirty="0" sz="2400">
                <a:solidFill>
                  <a:srgbClr val="40458B"/>
                </a:solidFill>
                <a:latin typeface="宋体"/>
                <a:cs typeface="宋体"/>
              </a:rPr>
              <a:t>←</a:t>
            </a:r>
            <a:r>
              <a:rPr dirty="0" sz="2400" spc="-15">
                <a:solidFill>
                  <a:srgbClr val="40458B"/>
                </a:solidFill>
                <a:latin typeface="宋体"/>
                <a:cs typeface="宋体"/>
              </a:rPr>
              <a:t>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7">
                <a:solidFill>
                  <a:srgbClr val="008000"/>
                </a:solidFill>
                <a:latin typeface="宋体"/>
                <a:cs typeface="宋体"/>
              </a:rPr>
              <a:t> </a:t>
            </a:r>
            <a:r>
              <a:rPr dirty="0" sz="2400">
                <a:solidFill>
                  <a:srgbClr val="40458B"/>
                </a:solidFill>
                <a:latin typeface="黑体"/>
                <a:cs typeface="黑体"/>
              </a:rPr>
              <a:t>×</a:t>
            </a:r>
            <a:r>
              <a:rPr dirty="0" sz="2400" spc="-10">
                <a:solidFill>
                  <a:srgbClr val="40458B"/>
                </a:solidFill>
                <a:latin typeface="黑体"/>
                <a:cs typeface="黑体"/>
              </a:rPr>
              <a:t> </a:t>
            </a:r>
            <a:r>
              <a:rPr dirty="0" sz="2400" spc="-25">
                <a:solidFill>
                  <a:srgbClr val="FF33CC"/>
                </a:solidFill>
                <a:latin typeface="宋体"/>
                <a:cs typeface="宋体"/>
              </a:rPr>
              <a:t>V</a:t>
            </a:r>
            <a:r>
              <a:rPr dirty="0" baseline="-20833" sz="2400" spc="-37">
                <a:solidFill>
                  <a:srgbClr val="FF33CC"/>
                </a:solidFill>
                <a:latin typeface="宋体"/>
                <a:cs typeface="宋体"/>
              </a:rPr>
              <a:t>3</a:t>
            </a:r>
            <a:endParaRPr baseline="-20833" sz="2400">
              <a:latin typeface="宋体"/>
              <a:cs typeface="宋体"/>
            </a:endParaRPr>
          </a:p>
        </p:txBody>
      </p:sp>
      <p:sp>
        <p:nvSpPr>
          <p:cNvPr id="12" name="object 12" descr=""/>
          <p:cNvSpPr txBox="1"/>
          <p:nvPr/>
        </p:nvSpPr>
        <p:spPr>
          <a:xfrm>
            <a:off x="1476375" y="3208401"/>
            <a:ext cx="6767830" cy="1200150"/>
          </a:xfrm>
          <a:prstGeom prst="rect">
            <a:avLst/>
          </a:prstGeom>
          <a:ln w="9525">
            <a:solidFill>
              <a:srgbClr val="FF09FF"/>
            </a:solidFill>
          </a:ln>
        </p:spPr>
        <p:txBody>
          <a:bodyPr wrap="square" lIns="0" tIns="46355" rIns="0" bIns="0" rtlCol="0" vert="horz">
            <a:spAutoFit/>
          </a:bodyPr>
          <a:lstStyle/>
          <a:p>
            <a:pPr marL="1138555">
              <a:lnSpc>
                <a:spcPct val="100000"/>
              </a:lnSpc>
              <a:spcBef>
                <a:spcPts val="365"/>
              </a:spcBef>
            </a:pPr>
            <a:r>
              <a:rPr dirty="0" sz="2400" spc="-5">
                <a:solidFill>
                  <a:srgbClr val="FF0000"/>
                </a:solidFill>
                <a:latin typeface="黑体"/>
                <a:cs typeface="黑体"/>
              </a:rPr>
              <a:t>链接技术方案过程分析</a:t>
            </a:r>
            <a:endParaRPr sz="2400">
              <a:latin typeface="黑体"/>
              <a:cs typeface="黑体"/>
            </a:endParaRPr>
          </a:p>
          <a:p>
            <a:pPr marL="91440">
              <a:lnSpc>
                <a:spcPct val="100000"/>
              </a:lnSpc>
            </a:pPr>
            <a:r>
              <a:rPr dirty="0" sz="2400" spc="-25">
                <a:solidFill>
                  <a:srgbClr val="40458B"/>
                </a:solidFill>
                <a:latin typeface="Tahoma"/>
                <a:cs typeface="Tahoma"/>
              </a:rPr>
              <a:t>1</a:t>
            </a:r>
            <a:r>
              <a:rPr dirty="0" sz="2400">
                <a:solidFill>
                  <a:srgbClr val="40458B"/>
                </a:solidFill>
                <a:latin typeface="黑体"/>
                <a:cs typeface="黑体"/>
              </a:rPr>
              <a:t>、指令</a:t>
            </a:r>
            <a:r>
              <a:rPr dirty="0" sz="2400" spc="-25">
                <a:solidFill>
                  <a:srgbClr val="40458B"/>
                </a:solidFill>
                <a:latin typeface="Tahoma"/>
                <a:cs typeface="Tahoma"/>
              </a:rPr>
              <a:t>1</a:t>
            </a:r>
            <a:r>
              <a:rPr dirty="0" sz="2400">
                <a:solidFill>
                  <a:srgbClr val="40458B"/>
                </a:solidFill>
                <a:latin typeface="黑体"/>
                <a:cs typeface="黑体"/>
              </a:rPr>
              <a:t>和</a:t>
            </a:r>
            <a:r>
              <a:rPr dirty="0" sz="2400" spc="-25">
                <a:solidFill>
                  <a:srgbClr val="40458B"/>
                </a:solidFill>
                <a:latin typeface="Tahoma"/>
                <a:cs typeface="Tahoma"/>
              </a:rPr>
              <a:t>2</a:t>
            </a:r>
            <a:r>
              <a:rPr dirty="0" sz="2400" spc="-5">
                <a:solidFill>
                  <a:srgbClr val="40458B"/>
                </a:solidFill>
                <a:latin typeface="黑体"/>
                <a:cs typeface="黑体"/>
              </a:rPr>
              <a:t>不相关，可并行；启用链接技术。</a:t>
            </a:r>
            <a:endParaRPr sz="2400">
              <a:latin typeface="黑体"/>
              <a:cs typeface="黑体"/>
            </a:endParaRPr>
          </a:p>
          <a:p>
            <a:pPr marL="91440">
              <a:lnSpc>
                <a:spcPct val="100000"/>
              </a:lnSpc>
            </a:pPr>
            <a:r>
              <a:rPr dirty="0" sz="2400" spc="-25">
                <a:solidFill>
                  <a:srgbClr val="40458B"/>
                </a:solidFill>
                <a:latin typeface="Tahoma"/>
                <a:cs typeface="Tahoma"/>
              </a:rPr>
              <a:t>2</a:t>
            </a:r>
            <a:r>
              <a:rPr dirty="0" sz="2400" spc="-15">
                <a:solidFill>
                  <a:srgbClr val="40458B"/>
                </a:solidFill>
                <a:latin typeface="黑体"/>
                <a:cs typeface="黑体"/>
              </a:rPr>
              <a:t>、方案就有一种情况</a:t>
            </a:r>
            <a:endParaRPr sz="2400">
              <a:latin typeface="黑体"/>
              <a:cs typeface="黑体"/>
            </a:endParaRPr>
          </a:p>
        </p:txBody>
      </p:sp>
      <p:sp>
        <p:nvSpPr>
          <p:cNvPr id="13" name="object 13" descr=""/>
          <p:cNvSpPr txBox="1"/>
          <p:nvPr/>
        </p:nvSpPr>
        <p:spPr>
          <a:xfrm>
            <a:off x="1763776" y="4668837"/>
            <a:ext cx="6048375" cy="1123950"/>
          </a:xfrm>
          <a:prstGeom prst="rect">
            <a:avLst/>
          </a:prstGeom>
          <a:ln w="9525">
            <a:solidFill>
              <a:srgbClr val="FF09FF"/>
            </a:solidFill>
          </a:ln>
        </p:spPr>
        <p:txBody>
          <a:bodyPr wrap="square" lIns="0" tIns="153670" rIns="0" bIns="0" rtlCol="0" vert="horz">
            <a:spAutoFit/>
          </a:bodyPr>
          <a:lstStyle/>
          <a:p>
            <a:pPr marL="1234440">
              <a:lnSpc>
                <a:spcPct val="100000"/>
              </a:lnSpc>
              <a:spcBef>
                <a:spcPts val="1210"/>
              </a:spcBef>
            </a:pPr>
            <a:r>
              <a:rPr dirty="0" sz="2400" spc="-10">
                <a:solidFill>
                  <a:srgbClr val="FF0000"/>
                </a:solidFill>
                <a:latin typeface="黑体"/>
                <a:cs typeface="黑体"/>
              </a:rPr>
              <a:t>链接技术方案结论</a:t>
            </a:r>
            <a:endParaRPr sz="2400">
              <a:latin typeface="黑体"/>
              <a:cs typeface="黑体"/>
            </a:endParaRPr>
          </a:p>
          <a:p>
            <a:pPr marL="91440">
              <a:lnSpc>
                <a:spcPct val="100000"/>
              </a:lnSpc>
              <a:spcBef>
                <a:spcPts val="1440"/>
              </a:spcBef>
            </a:pPr>
            <a:r>
              <a:rPr dirty="0" sz="2400" spc="-5">
                <a:solidFill>
                  <a:srgbClr val="40458B"/>
                </a:solidFill>
                <a:latin typeface="黑体"/>
                <a:cs typeface="黑体"/>
              </a:rPr>
              <a:t>链接技术方案</a:t>
            </a:r>
            <a:r>
              <a:rPr dirty="0" sz="2400" spc="-10">
                <a:solidFill>
                  <a:srgbClr val="40458B"/>
                </a:solidFill>
                <a:latin typeface="Tahoma"/>
                <a:cs typeface="Tahoma"/>
              </a:rPr>
              <a:t>3</a:t>
            </a:r>
            <a:r>
              <a:rPr dirty="0" sz="2400" spc="-5">
                <a:solidFill>
                  <a:srgbClr val="40458B"/>
                </a:solidFill>
                <a:latin typeface="黑体"/>
                <a:cs typeface="黑体"/>
              </a:rPr>
              <a:t>：指令</a:t>
            </a:r>
            <a:r>
              <a:rPr dirty="0" sz="2400" spc="-25">
                <a:solidFill>
                  <a:srgbClr val="40458B"/>
                </a:solidFill>
                <a:latin typeface="Tahoma"/>
                <a:cs typeface="Tahoma"/>
              </a:rPr>
              <a:t>1</a:t>
            </a:r>
            <a:r>
              <a:rPr dirty="0" sz="2400">
                <a:solidFill>
                  <a:srgbClr val="40458B"/>
                </a:solidFill>
                <a:latin typeface="黑体"/>
                <a:cs typeface="黑体"/>
              </a:rPr>
              <a:t>和</a:t>
            </a:r>
            <a:r>
              <a:rPr dirty="0" sz="2400" spc="-25">
                <a:solidFill>
                  <a:srgbClr val="40458B"/>
                </a:solidFill>
                <a:latin typeface="Tahoma"/>
                <a:cs typeface="Tahoma"/>
              </a:rPr>
              <a:t>2</a:t>
            </a:r>
            <a:r>
              <a:rPr dirty="0" sz="2400" spc="-5">
                <a:solidFill>
                  <a:srgbClr val="40458B"/>
                </a:solidFill>
                <a:latin typeface="黑体"/>
                <a:cs typeface="黑体"/>
              </a:rPr>
              <a:t>并行，链接指令</a:t>
            </a:r>
            <a:r>
              <a:rPr dirty="0" sz="2400" spc="-50">
                <a:solidFill>
                  <a:srgbClr val="40458B"/>
                </a:solidFill>
                <a:latin typeface="Tahoma"/>
                <a:cs typeface="Tahoma"/>
              </a:rPr>
              <a:t>3</a:t>
            </a:r>
            <a:endParaRPr sz="240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144462" y="765175"/>
            <a:ext cx="8855075" cy="2852674"/>
          </a:xfrm>
          <a:prstGeom prst="rect">
            <a:avLst/>
          </a:prstGeom>
        </p:spPr>
      </p:pic>
      <p:sp>
        <p:nvSpPr>
          <p:cNvPr id="10" name="object 10" descr=""/>
          <p:cNvSpPr txBox="1"/>
          <p:nvPr/>
        </p:nvSpPr>
        <p:spPr>
          <a:xfrm>
            <a:off x="335991" y="4407789"/>
            <a:ext cx="3378200" cy="1122680"/>
          </a:xfrm>
          <a:prstGeom prst="rect">
            <a:avLst/>
          </a:prstGeom>
        </p:spPr>
        <p:txBody>
          <a:bodyPr wrap="square" lIns="0" tIns="12700" rIns="0" bIns="0" rtlCol="0" vert="horz">
            <a:spAutoFit/>
          </a:bodyPr>
          <a:lstStyle/>
          <a:p>
            <a:pPr marL="965200" marR="5080" indent="-953135">
              <a:lnSpc>
                <a:spcPct val="100000"/>
              </a:lnSpc>
              <a:spcBef>
                <a:spcPts val="100"/>
              </a:spcBef>
            </a:pPr>
            <a:r>
              <a:rPr dirty="0" sz="2400">
                <a:solidFill>
                  <a:srgbClr val="FF0000"/>
                </a:solidFill>
                <a:latin typeface="黑体"/>
                <a:cs typeface="黑体"/>
              </a:rPr>
              <a:t>访存</a:t>
            </a:r>
            <a:r>
              <a:rPr dirty="0" sz="2400" spc="-10">
                <a:solidFill>
                  <a:srgbClr val="40458B"/>
                </a:solidFill>
                <a:latin typeface="黑体"/>
                <a:cs typeface="黑体"/>
              </a:rPr>
              <a:t>：数据送入访存部件</a:t>
            </a:r>
            <a:r>
              <a:rPr dirty="0" sz="2400" spc="-25">
                <a:solidFill>
                  <a:srgbClr val="40458B"/>
                </a:solidFill>
                <a:latin typeface="黑体"/>
                <a:cs typeface="黑体"/>
              </a:rPr>
              <a:t>访存</a:t>
            </a:r>
            <a:endParaRPr sz="2400">
              <a:latin typeface="黑体"/>
              <a:cs typeface="黑体"/>
            </a:endParaRPr>
          </a:p>
          <a:p>
            <a:pPr marL="965200">
              <a:lnSpc>
                <a:spcPct val="100000"/>
              </a:lnSpc>
            </a:pPr>
            <a:r>
              <a:rPr dirty="0" sz="2400" spc="-5">
                <a:solidFill>
                  <a:srgbClr val="40458B"/>
                </a:solidFill>
                <a:latin typeface="黑体"/>
                <a:cs typeface="黑体"/>
              </a:rPr>
              <a:t>送入向量</a:t>
            </a:r>
            <a:r>
              <a:rPr dirty="0" sz="2400" spc="-25">
                <a:solidFill>
                  <a:srgbClr val="40458B"/>
                </a:solidFill>
                <a:latin typeface="Tahoma"/>
                <a:cs typeface="Tahoma"/>
              </a:rPr>
              <a:t>V3</a:t>
            </a:r>
            <a:endParaRPr sz="2400">
              <a:latin typeface="Tahoma"/>
              <a:cs typeface="Tahoma"/>
            </a:endParaRPr>
          </a:p>
        </p:txBody>
      </p:sp>
      <p:sp>
        <p:nvSpPr>
          <p:cNvPr id="11" name="object 11" descr=""/>
          <p:cNvSpPr txBox="1"/>
          <p:nvPr/>
        </p:nvSpPr>
        <p:spPr>
          <a:xfrm>
            <a:off x="4190746" y="4407789"/>
            <a:ext cx="1444625" cy="1122680"/>
          </a:xfrm>
          <a:prstGeom prst="rect">
            <a:avLst/>
          </a:prstGeom>
        </p:spPr>
        <p:txBody>
          <a:bodyPr wrap="square" lIns="0" tIns="12700" rIns="0" bIns="0" rtlCol="0" vert="horz">
            <a:spAutoFit/>
          </a:bodyPr>
          <a:lstStyle/>
          <a:p>
            <a:pPr marL="273050">
              <a:lnSpc>
                <a:spcPct val="100000"/>
              </a:lnSpc>
              <a:spcBef>
                <a:spcPts val="100"/>
              </a:spcBef>
            </a:pPr>
            <a:r>
              <a:rPr dirty="0" sz="2400" spc="-10">
                <a:solidFill>
                  <a:srgbClr val="40458B"/>
                </a:solidFill>
                <a:latin typeface="Tahoma"/>
                <a:cs typeface="Tahoma"/>
              </a:rPr>
              <a:t>----- </a:t>
            </a:r>
            <a:r>
              <a:rPr dirty="0" sz="2400" spc="-20">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a:p>
            <a:pPr marL="292735">
              <a:lnSpc>
                <a:spcPct val="100000"/>
              </a:lnSpc>
            </a:pPr>
            <a:r>
              <a:rPr dirty="0" sz="2400" spc="-10">
                <a:solidFill>
                  <a:srgbClr val="40458B"/>
                </a:solidFill>
                <a:latin typeface="Tahoma"/>
                <a:cs typeface="Tahoma"/>
              </a:rPr>
              <a:t>------</a:t>
            </a:r>
            <a:r>
              <a:rPr dirty="0" sz="2400" spc="-25">
                <a:solidFill>
                  <a:srgbClr val="40458B"/>
                </a:solidFill>
                <a:latin typeface="Tahoma"/>
                <a:cs typeface="Tahoma"/>
              </a:rPr>
              <a:t>6</a:t>
            </a:r>
            <a:r>
              <a:rPr dirty="0" sz="2400" spc="-50">
                <a:solidFill>
                  <a:srgbClr val="40458B"/>
                </a:solidFill>
                <a:latin typeface="黑体"/>
                <a:cs typeface="黑体"/>
              </a:rPr>
              <a:t>拍</a:t>
            </a:r>
            <a:endParaRPr sz="2400">
              <a:latin typeface="黑体"/>
              <a:cs typeface="黑体"/>
            </a:endParaRPr>
          </a:p>
          <a:p>
            <a:pPr marL="12700">
              <a:lnSpc>
                <a:spcPct val="100000"/>
              </a:lnSpc>
            </a:pPr>
            <a:r>
              <a:rPr dirty="0" sz="2400" spc="-10">
                <a:solidFill>
                  <a:srgbClr val="40458B"/>
                </a:solidFill>
                <a:latin typeface="Tahoma"/>
                <a:cs typeface="Tahoma"/>
              </a:rPr>
              <a:t>-------</a:t>
            </a:r>
            <a:r>
              <a:rPr dirty="0" sz="2400" spc="-20">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2" name="object 12" descr=""/>
          <p:cNvSpPr txBox="1"/>
          <p:nvPr/>
        </p:nvSpPr>
        <p:spPr>
          <a:xfrm>
            <a:off x="907491" y="5871159"/>
            <a:ext cx="472059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完成向量指令访存：</a:t>
            </a:r>
            <a:r>
              <a:rPr dirty="0" sz="2400" spc="-20">
                <a:solidFill>
                  <a:srgbClr val="40458B"/>
                </a:solidFill>
                <a:latin typeface="Tahoma"/>
                <a:cs typeface="Tahoma"/>
              </a:rPr>
              <a:t>1+6+1+N-</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3" name="object 13" descr=""/>
          <p:cNvSpPr txBox="1"/>
          <p:nvPr/>
        </p:nvSpPr>
        <p:spPr>
          <a:xfrm>
            <a:off x="3282822" y="1804873"/>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C</a:t>
            </a:r>
            <a:endParaRPr sz="2400">
              <a:latin typeface="Tahoma"/>
              <a:cs typeface="Tahoma"/>
            </a:endParaRPr>
          </a:p>
        </p:txBody>
      </p:sp>
      <p:sp>
        <p:nvSpPr>
          <p:cNvPr id="14" name="object 14" descr=""/>
          <p:cNvSpPr txBox="1"/>
          <p:nvPr/>
        </p:nvSpPr>
        <p:spPr>
          <a:xfrm>
            <a:off x="2247645" y="1881073"/>
            <a:ext cx="205740"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15" name="object 15" descr=""/>
          <p:cNvSpPr txBox="1"/>
          <p:nvPr/>
        </p:nvSpPr>
        <p:spPr>
          <a:xfrm>
            <a:off x="3859148" y="3491610"/>
            <a:ext cx="1004569"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Tahoma"/>
                <a:cs typeface="Tahoma"/>
              </a:rPr>
              <a:t>E=B+C</a:t>
            </a:r>
            <a:endParaRPr sz="2400">
              <a:latin typeface="Tahoma"/>
              <a:cs typeface="Tahoma"/>
            </a:endParaRPr>
          </a:p>
        </p:txBody>
      </p:sp>
      <p:sp>
        <p:nvSpPr>
          <p:cNvPr id="16" name="object 16" descr=""/>
          <p:cNvSpPr txBox="1"/>
          <p:nvPr/>
        </p:nvSpPr>
        <p:spPr>
          <a:xfrm>
            <a:off x="6307582" y="1850847"/>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A</a:t>
            </a:r>
            <a:endParaRPr sz="2400">
              <a:latin typeface="Tahoma"/>
              <a:cs typeface="Tahoma"/>
            </a:endParaRPr>
          </a:p>
        </p:txBody>
      </p:sp>
      <p:sp>
        <p:nvSpPr>
          <p:cNvPr id="17" name="object 17" descr=""/>
          <p:cNvSpPr txBox="1"/>
          <p:nvPr/>
        </p:nvSpPr>
        <p:spPr>
          <a:xfrm>
            <a:off x="5227701" y="1881073"/>
            <a:ext cx="196850"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E</a:t>
            </a:r>
            <a:endParaRPr sz="2400">
              <a:latin typeface="Tahoma"/>
              <a:cs typeface="Tahoma"/>
            </a:endParaRPr>
          </a:p>
        </p:txBody>
      </p:sp>
      <p:sp>
        <p:nvSpPr>
          <p:cNvPr id="18" name="object 18" descr=""/>
          <p:cNvSpPr/>
          <p:nvPr/>
        </p:nvSpPr>
        <p:spPr>
          <a:xfrm>
            <a:off x="6011926" y="4508500"/>
            <a:ext cx="360045" cy="936625"/>
          </a:xfrm>
          <a:custGeom>
            <a:avLst/>
            <a:gdLst/>
            <a:ahLst/>
            <a:cxnLst/>
            <a:rect l="l" t="t" r="r" b="b"/>
            <a:pathLst>
              <a:path w="360045" h="936625">
                <a:moveTo>
                  <a:pt x="0" y="0"/>
                </a:moveTo>
                <a:lnTo>
                  <a:pt x="70016" y="2361"/>
                </a:lnTo>
                <a:lnTo>
                  <a:pt x="127222" y="8794"/>
                </a:lnTo>
                <a:lnTo>
                  <a:pt x="165806" y="18323"/>
                </a:lnTo>
                <a:lnTo>
                  <a:pt x="179959" y="29972"/>
                </a:lnTo>
                <a:lnTo>
                  <a:pt x="179959" y="438276"/>
                </a:lnTo>
                <a:lnTo>
                  <a:pt x="194111" y="449978"/>
                </a:lnTo>
                <a:lnTo>
                  <a:pt x="232695" y="459501"/>
                </a:lnTo>
                <a:lnTo>
                  <a:pt x="289901" y="465905"/>
                </a:lnTo>
                <a:lnTo>
                  <a:pt x="359918" y="468249"/>
                </a:lnTo>
                <a:lnTo>
                  <a:pt x="289901" y="470612"/>
                </a:lnTo>
                <a:lnTo>
                  <a:pt x="232695" y="477059"/>
                </a:lnTo>
                <a:lnTo>
                  <a:pt x="194111" y="486626"/>
                </a:lnTo>
                <a:lnTo>
                  <a:pt x="179959" y="498348"/>
                </a:lnTo>
                <a:lnTo>
                  <a:pt x="179959" y="906653"/>
                </a:lnTo>
                <a:lnTo>
                  <a:pt x="165806" y="918301"/>
                </a:lnTo>
                <a:lnTo>
                  <a:pt x="127222" y="927830"/>
                </a:lnTo>
                <a:lnTo>
                  <a:pt x="70016" y="934263"/>
                </a:lnTo>
                <a:lnTo>
                  <a:pt x="0" y="936625"/>
                </a:lnTo>
              </a:path>
            </a:pathLst>
          </a:custGeom>
          <a:ln w="9525">
            <a:solidFill>
              <a:srgbClr val="FF0000"/>
            </a:solidFill>
          </a:ln>
        </p:spPr>
        <p:txBody>
          <a:bodyPr wrap="square" lIns="0" tIns="0" rIns="0" bIns="0" rtlCol="0"/>
          <a:lstStyle/>
          <a:p/>
        </p:txBody>
      </p:sp>
      <p:sp>
        <p:nvSpPr>
          <p:cNvPr id="19" name="object 19" descr=""/>
          <p:cNvSpPr txBox="1"/>
          <p:nvPr/>
        </p:nvSpPr>
        <p:spPr>
          <a:xfrm>
            <a:off x="6523735" y="4715636"/>
            <a:ext cx="1296670" cy="628015"/>
          </a:xfrm>
          <a:prstGeom prst="rect">
            <a:avLst/>
          </a:prstGeom>
        </p:spPr>
        <p:txBody>
          <a:bodyPr wrap="square" lIns="0" tIns="29209" rIns="0" bIns="0" rtlCol="0" vert="horz">
            <a:spAutoFit/>
          </a:bodyPr>
          <a:lstStyle/>
          <a:p>
            <a:pPr marL="12700" marR="5080">
              <a:lnSpc>
                <a:spcPts val="2340"/>
              </a:lnSpc>
              <a:spcBef>
                <a:spcPts val="229"/>
              </a:spcBef>
            </a:pPr>
            <a:r>
              <a:rPr dirty="0" sz="2000" spc="-15">
                <a:solidFill>
                  <a:srgbClr val="FF0000"/>
                </a:solidFill>
                <a:latin typeface="黑体"/>
                <a:cs typeface="黑体"/>
              </a:rPr>
              <a:t>完成一个分</a:t>
            </a:r>
            <a:r>
              <a:rPr dirty="0" sz="2000" spc="-20">
                <a:solidFill>
                  <a:srgbClr val="FF0000"/>
                </a:solidFill>
                <a:latin typeface="黑体"/>
                <a:cs typeface="黑体"/>
              </a:rPr>
              <a:t>量时间</a:t>
            </a:r>
            <a:endParaRPr sz="2000">
              <a:latin typeface="黑体"/>
              <a:cs typeface="黑体"/>
            </a:endParaRPr>
          </a:p>
        </p:txBody>
      </p:sp>
      <p:sp>
        <p:nvSpPr>
          <p:cNvPr id="20" name="object 20" descr=""/>
          <p:cNvSpPr txBox="1"/>
          <p:nvPr/>
        </p:nvSpPr>
        <p:spPr>
          <a:xfrm>
            <a:off x="5994780" y="3689984"/>
            <a:ext cx="3175000" cy="391160"/>
          </a:xfrm>
          <a:prstGeom prst="rect">
            <a:avLst/>
          </a:prstGeom>
        </p:spPr>
        <p:txBody>
          <a:bodyPr wrap="square" lIns="0" tIns="12700" rIns="0" bIns="0" rtlCol="0" vert="horz">
            <a:spAutoFit/>
          </a:bodyPr>
          <a:lstStyle/>
          <a:p>
            <a:pPr marL="38100">
              <a:lnSpc>
                <a:spcPct val="100000"/>
              </a:lnSpc>
              <a:spcBef>
                <a:spcPts val="100"/>
              </a:spcBef>
              <a:tabLst>
                <a:tab pos="2221865" algn="l"/>
              </a:tabLst>
            </a:pPr>
            <a:r>
              <a:rPr dirty="0" sz="2400">
                <a:solidFill>
                  <a:srgbClr val="FF33CC"/>
                </a:solidFill>
                <a:latin typeface="黑体"/>
                <a:cs typeface="黑体"/>
              </a:rPr>
              <a:t>向量指令</a:t>
            </a:r>
            <a:r>
              <a:rPr dirty="0" sz="2400" spc="-5">
                <a:solidFill>
                  <a:srgbClr val="FF33CC"/>
                </a:solidFill>
                <a:latin typeface="黑体"/>
                <a:cs typeface="黑体"/>
              </a:rPr>
              <a:t> </a:t>
            </a:r>
            <a:r>
              <a:rPr dirty="0" sz="2400">
                <a:solidFill>
                  <a:srgbClr val="FF33CC"/>
                </a:solidFill>
                <a:latin typeface="宋体"/>
                <a:cs typeface="宋体"/>
              </a:rPr>
              <a:t>V</a:t>
            </a:r>
            <a:r>
              <a:rPr dirty="0" baseline="-20833" sz="2400">
                <a:solidFill>
                  <a:srgbClr val="FF33CC"/>
                </a:solidFill>
                <a:latin typeface="宋体"/>
                <a:cs typeface="宋体"/>
              </a:rPr>
              <a:t>3</a:t>
            </a:r>
            <a:r>
              <a:rPr dirty="0" baseline="-20833" sz="2400" spc="-15">
                <a:solidFill>
                  <a:srgbClr val="FF33CC"/>
                </a:solidFill>
                <a:latin typeface="宋体"/>
                <a:cs typeface="宋体"/>
              </a:rPr>
              <a:t> </a:t>
            </a:r>
            <a:r>
              <a:rPr dirty="0" sz="2400" spc="-50">
                <a:solidFill>
                  <a:srgbClr val="40458B"/>
                </a:solidFill>
                <a:latin typeface="宋体"/>
                <a:cs typeface="宋体"/>
              </a:rPr>
              <a:t>←</a:t>
            </a:r>
            <a:r>
              <a:rPr dirty="0" sz="2400">
                <a:solidFill>
                  <a:srgbClr val="40458B"/>
                </a:solidFill>
                <a:latin typeface="宋体"/>
                <a:cs typeface="宋体"/>
              </a:rPr>
              <a:t>	</a:t>
            </a:r>
            <a:r>
              <a:rPr dirty="0" sz="2400">
                <a:solidFill>
                  <a:srgbClr val="40458B"/>
                </a:solidFill>
                <a:latin typeface="黑体"/>
                <a:cs typeface="黑体"/>
              </a:rPr>
              <a:t>存储</a:t>
            </a:r>
            <a:r>
              <a:rPr dirty="0" sz="2400" spc="-50">
                <a:solidFill>
                  <a:srgbClr val="40458B"/>
                </a:solidFill>
                <a:latin typeface="黑体"/>
                <a:cs typeface="黑体"/>
              </a:rPr>
              <a:t>器</a:t>
            </a:r>
            <a:endParaRPr sz="2400">
              <a:latin typeface="黑体"/>
              <a:cs typeface="黑体"/>
            </a:endParaRPr>
          </a:p>
        </p:txBody>
      </p:sp>
      <p:sp>
        <p:nvSpPr>
          <p:cNvPr id="21" name="object 21"/>
          <p:cNvSpPr txBox="1">
            <a:spLocks noGrp="1"/>
          </p:cNvSpPr>
          <p:nvPr>
            <p:ph type="title"/>
          </p:nvPr>
        </p:nvSpPr>
        <p:spPr>
          <a:xfrm>
            <a:off x="968044" y="83946"/>
            <a:ext cx="8312150" cy="513715"/>
          </a:xfrm>
          <a:prstGeom prst="rect"/>
        </p:spPr>
        <p:txBody>
          <a:bodyPr wrap="square" lIns="0" tIns="12700" rIns="0" bIns="0" rtlCol="0" vert="horz">
            <a:spAutoFit/>
          </a:bodyPr>
          <a:lstStyle/>
          <a:p>
            <a:pPr marL="38100">
              <a:lnSpc>
                <a:spcPct val="100000"/>
              </a:lnSpc>
              <a:spcBef>
                <a:spcPts val="100"/>
              </a:spcBef>
              <a:tabLst>
                <a:tab pos="7358380" algn="l"/>
              </a:tabLst>
            </a:pPr>
            <a:r>
              <a:rPr dirty="0"/>
              <a:t>方案</a:t>
            </a:r>
            <a:r>
              <a:rPr dirty="0" spc="-25">
                <a:latin typeface="Tahoma"/>
                <a:cs typeface="Tahoma"/>
              </a:rPr>
              <a:t>1</a:t>
            </a:r>
            <a:r>
              <a:rPr dirty="0"/>
              <a:t>、串</a:t>
            </a:r>
            <a:r>
              <a:rPr dirty="0" spc="-15"/>
              <a:t>行</a:t>
            </a:r>
            <a:r>
              <a:rPr dirty="0"/>
              <a:t>向量</a:t>
            </a:r>
            <a:r>
              <a:rPr dirty="0" spc="-15"/>
              <a:t>指</a:t>
            </a:r>
            <a:r>
              <a:rPr dirty="0"/>
              <a:t>令执</a:t>
            </a:r>
            <a:r>
              <a:rPr dirty="0" spc="-10"/>
              <a:t>行</a:t>
            </a:r>
            <a:r>
              <a:rPr dirty="0">
                <a:latin typeface="Tahoma"/>
                <a:cs typeface="Tahoma"/>
              </a:rPr>
              <a:t>---</a:t>
            </a:r>
            <a:r>
              <a:rPr dirty="0" sz="2400">
                <a:solidFill>
                  <a:srgbClr val="FF33CC"/>
                </a:solidFill>
              </a:rPr>
              <a:t>向量指令</a:t>
            </a:r>
            <a:r>
              <a:rPr dirty="0" sz="2400" spc="-25">
                <a:solidFill>
                  <a:srgbClr val="FF33CC"/>
                </a:solidFill>
              </a:rPr>
              <a:t> </a:t>
            </a:r>
            <a:r>
              <a:rPr dirty="0" sz="2400">
                <a:solidFill>
                  <a:srgbClr val="FF33CC"/>
                </a:solidFill>
                <a:latin typeface="宋体"/>
                <a:cs typeface="宋体"/>
              </a:rPr>
              <a:t>V</a:t>
            </a:r>
            <a:r>
              <a:rPr dirty="0" baseline="-20833" sz="2400">
                <a:solidFill>
                  <a:srgbClr val="FF33CC"/>
                </a:solidFill>
                <a:latin typeface="宋体"/>
                <a:cs typeface="宋体"/>
              </a:rPr>
              <a:t>3 </a:t>
            </a:r>
            <a:r>
              <a:rPr dirty="0" sz="2400" spc="-50">
                <a:latin typeface="宋体"/>
                <a:cs typeface="宋体"/>
              </a:rPr>
              <a:t>←</a:t>
            </a:r>
            <a:r>
              <a:rPr dirty="0" sz="2400">
                <a:latin typeface="宋体"/>
                <a:cs typeface="宋体"/>
              </a:rPr>
              <a:t>	</a:t>
            </a:r>
            <a:r>
              <a:rPr dirty="0" sz="2400"/>
              <a:t>存储</a:t>
            </a:r>
            <a:r>
              <a:rPr dirty="0" sz="2400" spc="-50"/>
              <a:t>器</a:t>
            </a:r>
            <a:endParaRPr sz="2400">
              <a:latin typeface="宋体"/>
              <a:cs typeface="宋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02791" y="145745"/>
            <a:ext cx="6156325" cy="514350"/>
          </a:xfrm>
          <a:prstGeom prst="rect"/>
        </p:spPr>
        <p:txBody>
          <a:bodyPr wrap="square" lIns="0" tIns="13335" rIns="0" bIns="0" rtlCol="0" vert="horz">
            <a:spAutoFit/>
          </a:bodyPr>
          <a:lstStyle/>
          <a:p>
            <a:pPr marL="38100">
              <a:lnSpc>
                <a:spcPct val="100000"/>
              </a:lnSpc>
              <a:spcBef>
                <a:spcPts val="105"/>
              </a:spcBef>
              <a:tabLst>
                <a:tab pos="5863590" algn="l"/>
              </a:tabLst>
            </a:pPr>
            <a:r>
              <a:rPr dirty="0"/>
              <a:t>方案</a:t>
            </a:r>
            <a:r>
              <a:rPr dirty="0">
                <a:latin typeface="Tahoma"/>
                <a:cs typeface="Tahoma"/>
              </a:rPr>
              <a:t>1</a:t>
            </a:r>
            <a:r>
              <a:rPr dirty="0"/>
              <a:t>、串</a:t>
            </a:r>
            <a:r>
              <a:rPr dirty="0" spc="-20"/>
              <a:t>行</a:t>
            </a:r>
            <a:r>
              <a:rPr dirty="0"/>
              <a:t>向量</a:t>
            </a:r>
            <a:r>
              <a:rPr dirty="0" spc="-20"/>
              <a:t>指</a:t>
            </a:r>
            <a:r>
              <a:rPr dirty="0"/>
              <a:t>令</a:t>
            </a:r>
            <a:r>
              <a:rPr dirty="0" spc="-735"/>
              <a:t>执</a:t>
            </a:r>
            <a:r>
              <a:rPr dirty="0" baseline="8101" sz="3600" spc="-705">
                <a:solidFill>
                  <a:srgbClr val="008000"/>
                </a:solidFill>
                <a:latin typeface="宋体"/>
                <a:cs typeface="宋体"/>
              </a:rPr>
              <a:t>V</a:t>
            </a:r>
            <a:r>
              <a:rPr dirty="0" sz="3200" spc="-2740"/>
              <a:t>行</a:t>
            </a:r>
            <a:r>
              <a:rPr dirty="0" baseline="-8680" sz="2400">
                <a:solidFill>
                  <a:srgbClr val="008000"/>
                </a:solidFill>
                <a:latin typeface="宋体"/>
                <a:cs typeface="宋体"/>
              </a:rPr>
              <a:t>2</a:t>
            </a:r>
            <a:r>
              <a:rPr dirty="0" baseline="-8680" sz="2400" spc="-7">
                <a:solidFill>
                  <a:srgbClr val="008000"/>
                </a:solidFill>
                <a:latin typeface="宋体"/>
                <a:cs typeface="宋体"/>
              </a:rPr>
              <a:t> </a:t>
            </a:r>
            <a:r>
              <a:rPr dirty="0" baseline="8101" sz="3600" spc="-1912">
                <a:solidFill>
                  <a:srgbClr val="40458B"/>
                </a:solidFill>
                <a:latin typeface="宋体"/>
                <a:cs typeface="宋体"/>
              </a:rPr>
              <a:t>←</a:t>
            </a:r>
            <a:r>
              <a:rPr dirty="0" sz="3200" spc="-5">
                <a:latin typeface="Tahoma"/>
                <a:cs typeface="Tahoma"/>
              </a:rPr>
              <a:t>-</a:t>
            </a:r>
            <a:r>
              <a:rPr dirty="0" sz="3200" spc="-10">
                <a:latin typeface="Tahoma"/>
                <a:cs typeface="Tahoma"/>
              </a:rPr>
              <a:t>-</a:t>
            </a:r>
            <a:r>
              <a:rPr dirty="0" sz="3200" spc="-1019">
                <a:latin typeface="Tahoma"/>
                <a:cs typeface="Tahoma"/>
              </a:rPr>
              <a:t>-</a:t>
            </a:r>
            <a:r>
              <a:rPr dirty="0" baseline="8101" sz="3600">
                <a:solidFill>
                  <a:srgbClr val="40458B"/>
                </a:solidFill>
                <a:latin typeface="宋体"/>
                <a:cs typeface="宋体"/>
              </a:rPr>
              <a:t>V</a:t>
            </a:r>
            <a:r>
              <a:rPr dirty="0" baseline="-8680" sz="2400">
                <a:solidFill>
                  <a:srgbClr val="40458B"/>
                </a:solidFill>
                <a:latin typeface="宋体"/>
                <a:cs typeface="宋体"/>
              </a:rPr>
              <a:t>0</a:t>
            </a:r>
            <a:r>
              <a:rPr dirty="0" baseline="-8680" sz="2400" spc="15">
                <a:solidFill>
                  <a:srgbClr val="40458B"/>
                </a:solidFill>
                <a:latin typeface="宋体"/>
                <a:cs typeface="宋体"/>
              </a:rPr>
              <a:t> </a:t>
            </a:r>
            <a:r>
              <a:rPr dirty="0" baseline="8101" sz="3600" spc="-75">
                <a:solidFill>
                  <a:srgbClr val="40458B"/>
                </a:solidFill>
              </a:rPr>
              <a:t>＋</a:t>
            </a:r>
            <a:r>
              <a:rPr dirty="0" baseline="8101" sz="3600">
                <a:solidFill>
                  <a:srgbClr val="40458B"/>
                </a:solidFill>
              </a:rPr>
              <a:t>	</a:t>
            </a:r>
            <a:r>
              <a:rPr dirty="0" baseline="8101" sz="3600" spc="-37">
                <a:solidFill>
                  <a:srgbClr val="40458B"/>
                </a:solidFill>
                <a:latin typeface="宋体"/>
                <a:cs typeface="宋体"/>
              </a:rPr>
              <a:t>V</a:t>
            </a:r>
            <a:r>
              <a:rPr dirty="0" baseline="-8680" sz="2400" spc="-37">
                <a:solidFill>
                  <a:srgbClr val="40458B"/>
                </a:solidFill>
                <a:latin typeface="宋体"/>
                <a:cs typeface="宋体"/>
              </a:rPr>
              <a:t>1</a:t>
            </a:r>
            <a:endParaRPr baseline="-8680" sz="2400">
              <a:latin typeface="宋体"/>
              <a:cs typeface="宋体"/>
            </a:endParaRPr>
          </a:p>
        </p:txBody>
      </p:sp>
      <p:pic>
        <p:nvPicPr>
          <p:cNvPr id="10" name="object 10" descr=""/>
          <p:cNvPicPr/>
          <p:nvPr/>
        </p:nvPicPr>
        <p:blipFill>
          <a:blip r:embed="rId2" cstate="print"/>
          <a:stretch>
            <a:fillRect/>
          </a:stretch>
        </p:blipFill>
        <p:spPr>
          <a:xfrm>
            <a:off x="71438" y="765175"/>
            <a:ext cx="8856597" cy="2852674"/>
          </a:xfrm>
          <a:prstGeom prst="rect">
            <a:avLst/>
          </a:prstGeom>
        </p:spPr>
      </p:pic>
      <p:sp>
        <p:nvSpPr>
          <p:cNvPr id="11" name="object 11" descr=""/>
          <p:cNvSpPr txBox="1"/>
          <p:nvPr/>
        </p:nvSpPr>
        <p:spPr>
          <a:xfrm>
            <a:off x="1437894" y="4890261"/>
            <a:ext cx="2813050" cy="75755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浮点加部件</a:t>
            </a:r>
            <a:endParaRPr sz="2400">
              <a:latin typeface="黑体"/>
              <a:cs typeface="黑体"/>
            </a:endParaRPr>
          </a:p>
          <a:p>
            <a:pPr marL="12700">
              <a:lnSpc>
                <a:spcPct val="100000"/>
              </a:lnSpc>
            </a:pPr>
            <a:r>
              <a:rPr dirty="0" sz="2400" spc="-10">
                <a:solidFill>
                  <a:srgbClr val="40458B"/>
                </a:solidFill>
                <a:latin typeface="黑体"/>
                <a:cs typeface="黑体"/>
              </a:rPr>
              <a:t>加的结果送入向量</a:t>
            </a:r>
            <a:r>
              <a:rPr dirty="0" sz="2400" spc="-25">
                <a:solidFill>
                  <a:srgbClr val="40458B"/>
                </a:solidFill>
                <a:latin typeface="Tahoma"/>
                <a:cs typeface="Tahoma"/>
              </a:rPr>
              <a:t>V2</a:t>
            </a:r>
            <a:endParaRPr sz="2400">
              <a:latin typeface="Tahoma"/>
              <a:cs typeface="Tahoma"/>
            </a:endParaRPr>
          </a:p>
        </p:txBody>
      </p:sp>
      <p:sp>
        <p:nvSpPr>
          <p:cNvPr id="12" name="object 12" descr=""/>
          <p:cNvSpPr txBox="1"/>
          <p:nvPr/>
        </p:nvSpPr>
        <p:spPr>
          <a:xfrm>
            <a:off x="5464809" y="4890261"/>
            <a:ext cx="1276350" cy="757555"/>
          </a:xfrm>
          <a:prstGeom prst="rect">
            <a:avLst/>
          </a:prstGeom>
        </p:spPr>
        <p:txBody>
          <a:bodyPr wrap="square" lIns="0" tIns="12700" rIns="0" bIns="0" rtlCol="0" vert="horz">
            <a:spAutoFit/>
          </a:bodyPr>
          <a:lstStyle/>
          <a:p>
            <a:pPr marL="82550">
              <a:lnSpc>
                <a:spcPct val="100000"/>
              </a:lnSpc>
              <a:spcBef>
                <a:spcPts val="100"/>
              </a:spcBef>
            </a:pPr>
            <a:r>
              <a:rPr dirty="0" sz="2400" spc="-10">
                <a:solidFill>
                  <a:srgbClr val="40458B"/>
                </a:solidFill>
                <a:latin typeface="Tahoma"/>
                <a:cs typeface="Tahoma"/>
              </a:rPr>
              <a:t>------</a:t>
            </a:r>
            <a:r>
              <a:rPr dirty="0" sz="2400" spc="-25">
                <a:solidFill>
                  <a:srgbClr val="40458B"/>
                </a:solidFill>
                <a:latin typeface="Tahoma"/>
                <a:cs typeface="Tahoma"/>
              </a:rPr>
              <a:t>6</a:t>
            </a:r>
            <a:r>
              <a:rPr dirty="0" sz="2400" spc="-50">
                <a:solidFill>
                  <a:srgbClr val="40458B"/>
                </a:solidFill>
                <a:latin typeface="黑体"/>
                <a:cs typeface="黑体"/>
              </a:rPr>
              <a:t>拍</a:t>
            </a:r>
            <a:endParaRPr sz="2400">
              <a:latin typeface="黑体"/>
              <a:cs typeface="黑体"/>
            </a:endParaRPr>
          </a:p>
          <a:p>
            <a:pPr marL="12700">
              <a:lnSpc>
                <a:spcPct val="100000"/>
              </a:lnSpc>
            </a:pPr>
            <a:r>
              <a:rPr dirty="0" sz="2400" spc="-10">
                <a:solidFill>
                  <a:srgbClr val="40458B"/>
                </a:solidFill>
                <a:latin typeface="Tahoma"/>
                <a:cs typeface="Tahoma"/>
              </a:rPr>
              <a:t>-------</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3" name="object 13" descr=""/>
          <p:cNvSpPr txBox="1"/>
          <p:nvPr/>
        </p:nvSpPr>
        <p:spPr>
          <a:xfrm>
            <a:off x="579831" y="5987897"/>
            <a:ext cx="5024755"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完成向量指令浮点加：</a:t>
            </a:r>
            <a:r>
              <a:rPr dirty="0" sz="2400" spc="-20">
                <a:solidFill>
                  <a:srgbClr val="40458B"/>
                </a:solidFill>
                <a:latin typeface="Tahoma"/>
                <a:cs typeface="Tahoma"/>
              </a:rPr>
              <a:t>1+6+1+N-</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4" name="object 14" descr=""/>
          <p:cNvSpPr txBox="1"/>
          <p:nvPr/>
        </p:nvSpPr>
        <p:spPr>
          <a:xfrm>
            <a:off x="3282822" y="1804873"/>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C</a:t>
            </a:r>
            <a:endParaRPr sz="2400">
              <a:latin typeface="Tahoma"/>
              <a:cs typeface="Tahoma"/>
            </a:endParaRPr>
          </a:p>
        </p:txBody>
      </p:sp>
      <p:sp>
        <p:nvSpPr>
          <p:cNvPr id="15" name="object 15" descr=""/>
          <p:cNvSpPr txBox="1"/>
          <p:nvPr/>
        </p:nvSpPr>
        <p:spPr>
          <a:xfrm>
            <a:off x="2247645" y="1876805"/>
            <a:ext cx="205104"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16" name="object 16" descr=""/>
          <p:cNvSpPr txBox="1"/>
          <p:nvPr/>
        </p:nvSpPr>
        <p:spPr>
          <a:xfrm>
            <a:off x="485343" y="3491610"/>
            <a:ext cx="8208009" cy="1424305"/>
          </a:xfrm>
          <a:prstGeom prst="rect">
            <a:avLst/>
          </a:prstGeom>
        </p:spPr>
        <p:txBody>
          <a:bodyPr wrap="square" lIns="0" tIns="12700" rIns="0" bIns="0" rtlCol="0" vert="horz">
            <a:spAutoFit/>
          </a:bodyPr>
          <a:lstStyle/>
          <a:p>
            <a:pPr algn="ctr" marR="448309">
              <a:lnSpc>
                <a:spcPts val="2780"/>
              </a:lnSpc>
              <a:spcBef>
                <a:spcPts val="100"/>
              </a:spcBef>
            </a:pPr>
            <a:r>
              <a:rPr dirty="0" sz="2400" spc="-10">
                <a:solidFill>
                  <a:srgbClr val="FF0000"/>
                </a:solidFill>
                <a:latin typeface="Tahoma"/>
                <a:cs typeface="Tahoma"/>
              </a:rPr>
              <a:t>E=B+C</a:t>
            </a:r>
            <a:endParaRPr sz="2400">
              <a:latin typeface="Tahoma"/>
              <a:cs typeface="Tahoma"/>
            </a:endParaRPr>
          </a:p>
          <a:p>
            <a:pPr marL="12700">
              <a:lnSpc>
                <a:spcPts val="2745"/>
              </a:lnSpc>
            </a:pPr>
            <a:r>
              <a:rPr dirty="0" sz="2400" spc="-25" b="1">
                <a:solidFill>
                  <a:srgbClr val="FF0000"/>
                </a:solidFill>
                <a:latin typeface="黑体"/>
                <a:cs typeface="黑体"/>
              </a:rPr>
              <a:t>假设</a:t>
            </a:r>
            <a:r>
              <a:rPr dirty="0" sz="2400" spc="-10">
                <a:solidFill>
                  <a:srgbClr val="40458B"/>
                </a:solidFill>
                <a:latin typeface="黑体"/>
                <a:cs typeface="黑体"/>
              </a:rPr>
              <a:t>：</a:t>
            </a:r>
            <a:r>
              <a:rPr dirty="0" sz="2200" spc="-35">
                <a:solidFill>
                  <a:srgbClr val="00AFEF"/>
                </a:solidFill>
                <a:latin typeface="黑体"/>
                <a:cs typeface="黑体"/>
              </a:rPr>
              <a:t>把向量数据元素送往向量功能部件以及把结果存入向量寄存</a:t>
            </a:r>
            <a:endParaRPr sz="2200">
              <a:latin typeface="黑体"/>
              <a:cs typeface="黑体"/>
            </a:endParaRPr>
          </a:p>
          <a:p>
            <a:pPr marL="12700">
              <a:lnSpc>
                <a:spcPts val="2605"/>
              </a:lnSpc>
            </a:pPr>
            <a:r>
              <a:rPr dirty="0" sz="2200" spc="-35">
                <a:solidFill>
                  <a:srgbClr val="00AFEF"/>
                </a:solidFill>
                <a:latin typeface="黑体"/>
                <a:cs typeface="黑体"/>
              </a:rPr>
              <a:t>器需要一拍时间，从存储中把数据送入访存功能部件需要一拍时间</a:t>
            </a:r>
            <a:endParaRPr sz="2200">
              <a:latin typeface="黑体"/>
              <a:cs typeface="黑体"/>
            </a:endParaRPr>
          </a:p>
          <a:p>
            <a:pPr marL="12700">
              <a:lnSpc>
                <a:spcPct val="100000"/>
              </a:lnSpc>
            </a:pPr>
            <a:r>
              <a:rPr dirty="0" sz="2400">
                <a:solidFill>
                  <a:srgbClr val="40458B"/>
                </a:solidFill>
                <a:latin typeface="黑体"/>
                <a:cs typeface="黑体"/>
              </a:rPr>
              <a:t>例如：从</a:t>
            </a:r>
            <a:r>
              <a:rPr dirty="0" sz="2400">
                <a:solidFill>
                  <a:srgbClr val="40458B"/>
                </a:solidFill>
                <a:latin typeface="Tahoma"/>
                <a:cs typeface="Tahoma"/>
              </a:rPr>
              <a:t>B</a:t>
            </a:r>
            <a:r>
              <a:rPr dirty="0" sz="2400" spc="-5">
                <a:solidFill>
                  <a:srgbClr val="40458B"/>
                </a:solidFill>
                <a:latin typeface="黑体"/>
                <a:cs typeface="黑体"/>
              </a:rPr>
              <a:t>向量取出到送入浮点加部件</a:t>
            </a:r>
            <a:r>
              <a:rPr dirty="0" sz="2400" spc="-10">
                <a:solidFill>
                  <a:srgbClr val="40458B"/>
                </a:solidFill>
                <a:latin typeface="Tahoma"/>
                <a:cs typeface="Tahoma"/>
              </a:rPr>
              <a:t>----- </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7" name="object 17" descr=""/>
          <p:cNvSpPr txBox="1"/>
          <p:nvPr/>
        </p:nvSpPr>
        <p:spPr>
          <a:xfrm>
            <a:off x="6307582" y="1850847"/>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A</a:t>
            </a:r>
            <a:endParaRPr sz="2400">
              <a:latin typeface="Tahoma"/>
              <a:cs typeface="Tahoma"/>
            </a:endParaRPr>
          </a:p>
        </p:txBody>
      </p:sp>
      <p:sp>
        <p:nvSpPr>
          <p:cNvPr id="18" name="object 18" descr=""/>
          <p:cNvSpPr txBox="1"/>
          <p:nvPr/>
        </p:nvSpPr>
        <p:spPr>
          <a:xfrm>
            <a:off x="5227701" y="1881073"/>
            <a:ext cx="196850"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E</a:t>
            </a:r>
            <a:endParaRPr sz="2400">
              <a:latin typeface="Tahoma"/>
              <a:cs typeface="Tahoma"/>
            </a:endParaRPr>
          </a:p>
        </p:txBody>
      </p:sp>
      <p:sp>
        <p:nvSpPr>
          <p:cNvPr id="19" name="object 19" descr=""/>
          <p:cNvSpPr/>
          <p:nvPr/>
        </p:nvSpPr>
        <p:spPr>
          <a:xfrm>
            <a:off x="6875526" y="4868798"/>
            <a:ext cx="360045" cy="1224280"/>
          </a:xfrm>
          <a:custGeom>
            <a:avLst/>
            <a:gdLst/>
            <a:ahLst/>
            <a:cxnLst/>
            <a:rect l="l" t="t" r="r" b="b"/>
            <a:pathLst>
              <a:path w="360045" h="1224279">
                <a:moveTo>
                  <a:pt x="0" y="0"/>
                </a:moveTo>
                <a:lnTo>
                  <a:pt x="70016" y="2363"/>
                </a:lnTo>
                <a:lnTo>
                  <a:pt x="127222" y="8810"/>
                </a:lnTo>
                <a:lnTo>
                  <a:pt x="165806" y="18377"/>
                </a:lnTo>
                <a:lnTo>
                  <a:pt x="179958" y="30099"/>
                </a:lnTo>
                <a:lnTo>
                  <a:pt x="179958" y="582041"/>
                </a:lnTo>
                <a:lnTo>
                  <a:pt x="194093" y="593742"/>
                </a:lnTo>
                <a:lnTo>
                  <a:pt x="232648" y="603265"/>
                </a:lnTo>
                <a:lnTo>
                  <a:pt x="289847" y="609669"/>
                </a:lnTo>
                <a:lnTo>
                  <a:pt x="359918" y="612013"/>
                </a:lnTo>
                <a:lnTo>
                  <a:pt x="289847" y="614374"/>
                </a:lnTo>
                <a:lnTo>
                  <a:pt x="232648" y="620807"/>
                </a:lnTo>
                <a:lnTo>
                  <a:pt x="194093" y="630336"/>
                </a:lnTo>
                <a:lnTo>
                  <a:pt x="179958" y="641985"/>
                </a:lnTo>
                <a:lnTo>
                  <a:pt x="179958" y="1194054"/>
                </a:lnTo>
                <a:lnTo>
                  <a:pt x="165806" y="1205718"/>
                </a:lnTo>
                <a:lnTo>
                  <a:pt x="127222" y="1215245"/>
                </a:lnTo>
                <a:lnTo>
                  <a:pt x="70016" y="1221669"/>
                </a:lnTo>
                <a:lnTo>
                  <a:pt x="0" y="1224026"/>
                </a:lnTo>
              </a:path>
            </a:pathLst>
          </a:custGeom>
          <a:ln w="9525">
            <a:solidFill>
              <a:srgbClr val="FF0000"/>
            </a:solidFill>
          </a:ln>
        </p:spPr>
        <p:txBody>
          <a:bodyPr wrap="square" lIns="0" tIns="0" rIns="0" bIns="0" rtlCol="0"/>
          <a:lstStyle/>
          <a:p/>
        </p:txBody>
      </p:sp>
      <p:sp>
        <p:nvSpPr>
          <p:cNvPr id="20" name="object 20" descr=""/>
          <p:cNvSpPr txBox="1"/>
          <p:nvPr/>
        </p:nvSpPr>
        <p:spPr>
          <a:xfrm>
            <a:off x="7387590" y="5126863"/>
            <a:ext cx="1296670" cy="628015"/>
          </a:xfrm>
          <a:prstGeom prst="rect">
            <a:avLst/>
          </a:prstGeom>
        </p:spPr>
        <p:txBody>
          <a:bodyPr wrap="square" lIns="0" tIns="29209" rIns="0" bIns="0" rtlCol="0" vert="horz">
            <a:spAutoFit/>
          </a:bodyPr>
          <a:lstStyle/>
          <a:p>
            <a:pPr marL="12700" marR="5080">
              <a:lnSpc>
                <a:spcPts val="2340"/>
              </a:lnSpc>
              <a:spcBef>
                <a:spcPts val="229"/>
              </a:spcBef>
            </a:pPr>
            <a:r>
              <a:rPr dirty="0" sz="2000" spc="-15">
                <a:solidFill>
                  <a:srgbClr val="FF0000"/>
                </a:solidFill>
                <a:latin typeface="黑体"/>
                <a:cs typeface="黑体"/>
              </a:rPr>
              <a:t>完成一个分</a:t>
            </a:r>
            <a:r>
              <a:rPr dirty="0" sz="2000" spc="-20">
                <a:solidFill>
                  <a:srgbClr val="FF0000"/>
                </a:solidFill>
                <a:latin typeface="黑体"/>
                <a:cs typeface="黑体"/>
              </a:rPr>
              <a:t>量时间</a:t>
            </a:r>
            <a:endParaRPr sz="2000">
              <a:latin typeface="黑体"/>
              <a:cs typeface="黑体"/>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144462" y="765175"/>
            <a:ext cx="8855075" cy="2852674"/>
          </a:xfrm>
          <a:prstGeom prst="rect">
            <a:avLst/>
          </a:prstGeom>
        </p:spPr>
      </p:pic>
      <p:sp>
        <p:nvSpPr>
          <p:cNvPr id="10" name="object 10" descr=""/>
          <p:cNvSpPr txBox="1"/>
          <p:nvPr/>
        </p:nvSpPr>
        <p:spPr>
          <a:xfrm>
            <a:off x="335991" y="4407789"/>
            <a:ext cx="3990975" cy="112268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黑体"/>
                <a:cs typeface="黑体"/>
              </a:rPr>
              <a:t>浮点乘</a:t>
            </a:r>
            <a:r>
              <a:rPr dirty="0" sz="2400" spc="-5">
                <a:solidFill>
                  <a:srgbClr val="40458B"/>
                </a:solidFill>
                <a:latin typeface="黑体"/>
                <a:cs typeface="黑体"/>
              </a:rPr>
              <a:t>：数据送入浮点乘部件</a:t>
            </a:r>
            <a:endParaRPr sz="2400">
              <a:latin typeface="黑体"/>
              <a:cs typeface="黑体"/>
            </a:endParaRPr>
          </a:p>
          <a:p>
            <a:pPr marL="1250315">
              <a:lnSpc>
                <a:spcPct val="100000"/>
              </a:lnSpc>
            </a:pPr>
            <a:r>
              <a:rPr dirty="0" sz="2400" spc="-20">
                <a:solidFill>
                  <a:srgbClr val="40458B"/>
                </a:solidFill>
                <a:latin typeface="黑体"/>
                <a:cs typeface="黑体"/>
              </a:rPr>
              <a:t>浮点乘</a:t>
            </a:r>
            <a:endParaRPr sz="2400">
              <a:latin typeface="黑体"/>
              <a:cs typeface="黑体"/>
            </a:endParaRPr>
          </a:p>
          <a:p>
            <a:pPr marL="1250315">
              <a:lnSpc>
                <a:spcPct val="100000"/>
              </a:lnSpc>
            </a:pPr>
            <a:r>
              <a:rPr dirty="0" sz="2400">
                <a:solidFill>
                  <a:srgbClr val="40458B"/>
                </a:solidFill>
                <a:latin typeface="黑体"/>
                <a:cs typeface="黑体"/>
              </a:rPr>
              <a:t>送入向量</a:t>
            </a:r>
            <a:r>
              <a:rPr dirty="0" sz="2400" spc="-25">
                <a:solidFill>
                  <a:srgbClr val="40458B"/>
                </a:solidFill>
                <a:latin typeface="Tahoma"/>
                <a:cs typeface="Tahoma"/>
              </a:rPr>
              <a:t>V4</a:t>
            </a:r>
            <a:endParaRPr sz="2400">
              <a:latin typeface="Tahoma"/>
              <a:cs typeface="Tahoma"/>
            </a:endParaRPr>
          </a:p>
        </p:txBody>
      </p:sp>
      <p:sp>
        <p:nvSpPr>
          <p:cNvPr id="11" name="object 11" descr=""/>
          <p:cNvSpPr txBox="1"/>
          <p:nvPr/>
        </p:nvSpPr>
        <p:spPr>
          <a:xfrm>
            <a:off x="4952746" y="4407789"/>
            <a:ext cx="1275715" cy="1122680"/>
          </a:xfrm>
          <a:prstGeom prst="rect">
            <a:avLst/>
          </a:prstGeom>
        </p:spPr>
        <p:txBody>
          <a:bodyPr wrap="square" lIns="0" tIns="12700" rIns="0" bIns="0" rtlCol="0" vert="horz">
            <a:spAutoFit/>
          </a:bodyPr>
          <a:lstStyle/>
          <a:p>
            <a:pPr marL="120650">
              <a:lnSpc>
                <a:spcPct val="100000"/>
              </a:lnSpc>
              <a:spcBef>
                <a:spcPts val="100"/>
              </a:spcBef>
            </a:pPr>
            <a:r>
              <a:rPr dirty="0" sz="2400" spc="-10">
                <a:solidFill>
                  <a:srgbClr val="40458B"/>
                </a:solidFill>
                <a:latin typeface="Tahoma"/>
                <a:cs typeface="Tahoma"/>
              </a:rPr>
              <a:t>----- </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a:p>
            <a:pPr marL="120650">
              <a:lnSpc>
                <a:spcPct val="100000"/>
              </a:lnSpc>
            </a:pPr>
            <a:r>
              <a:rPr dirty="0" sz="2400" spc="-15">
                <a:solidFill>
                  <a:srgbClr val="40458B"/>
                </a:solidFill>
                <a:latin typeface="Tahoma"/>
                <a:cs typeface="Tahoma"/>
              </a:rPr>
              <a:t>------</a:t>
            </a:r>
            <a:r>
              <a:rPr dirty="0" sz="2400" spc="-25">
                <a:solidFill>
                  <a:srgbClr val="40458B"/>
                </a:solidFill>
                <a:latin typeface="Tahoma"/>
                <a:cs typeface="Tahoma"/>
              </a:rPr>
              <a:t>7</a:t>
            </a:r>
            <a:r>
              <a:rPr dirty="0" sz="2400" spc="-50">
                <a:solidFill>
                  <a:srgbClr val="40458B"/>
                </a:solidFill>
                <a:latin typeface="黑体"/>
                <a:cs typeface="黑体"/>
              </a:rPr>
              <a:t>拍</a:t>
            </a:r>
            <a:endParaRPr sz="2400">
              <a:latin typeface="黑体"/>
              <a:cs typeface="黑体"/>
            </a:endParaRPr>
          </a:p>
          <a:p>
            <a:pPr marL="12700">
              <a:lnSpc>
                <a:spcPct val="100000"/>
              </a:lnSpc>
            </a:pPr>
            <a:r>
              <a:rPr dirty="0" sz="2400" spc="-10">
                <a:solidFill>
                  <a:srgbClr val="40458B"/>
                </a:solidFill>
                <a:latin typeface="Tahoma"/>
                <a:cs typeface="Tahoma"/>
              </a:rPr>
              <a:t>-------</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2" name="object 12" descr=""/>
          <p:cNvSpPr txBox="1"/>
          <p:nvPr/>
        </p:nvSpPr>
        <p:spPr>
          <a:xfrm>
            <a:off x="907491" y="5871159"/>
            <a:ext cx="502539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完成向量指令浮点乘：</a:t>
            </a:r>
            <a:r>
              <a:rPr dirty="0" sz="2400" spc="-20">
                <a:solidFill>
                  <a:srgbClr val="40458B"/>
                </a:solidFill>
                <a:latin typeface="Tahoma"/>
                <a:cs typeface="Tahoma"/>
              </a:rPr>
              <a:t>1+7+1+N-</a:t>
            </a:r>
            <a:r>
              <a:rPr dirty="0" sz="2400" spc="-25">
                <a:solidFill>
                  <a:srgbClr val="40458B"/>
                </a:solidFill>
                <a:latin typeface="Tahoma"/>
                <a:cs typeface="Tahoma"/>
              </a:rPr>
              <a:t>1</a:t>
            </a:r>
            <a:r>
              <a:rPr dirty="0" sz="2400" spc="-50">
                <a:solidFill>
                  <a:srgbClr val="40458B"/>
                </a:solidFill>
                <a:latin typeface="黑体"/>
                <a:cs typeface="黑体"/>
              </a:rPr>
              <a:t>拍</a:t>
            </a:r>
            <a:endParaRPr sz="2400">
              <a:latin typeface="黑体"/>
              <a:cs typeface="黑体"/>
            </a:endParaRPr>
          </a:p>
        </p:txBody>
      </p:sp>
      <p:sp>
        <p:nvSpPr>
          <p:cNvPr id="13" name="object 13" descr=""/>
          <p:cNvSpPr txBox="1"/>
          <p:nvPr/>
        </p:nvSpPr>
        <p:spPr>
          <a:xfrm>
            <a:off x="3282822" y="1804873"/>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C</a:t>
            </a:r>
            <a:endParaRPr sz="2400">
              <a:latin typeface="Tahoma"/>
              <a:cs typeface="Tahoma"/>
            </a:endParaRPr>
          </a:p>
        </p:txBody>
      </p:sp>
      <p:sp>
        <p:nvSpPr>
          <p:cNvPr id="14" name="object 14" descr=""/>
          <p:cNvSpPr txBox="1"/>
          <p:nvPr/>
        </p:nvSpPr>
        <p:spPr>
          <a:xfrm>
            <a:off x="2247645" y="1881073"/>
            <a:ext cx="205740"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15" name="object 15" descr=""/>
          <p:cNvSpPr txBox="1"/>
          <p:nvPr/>
        </p:nvSpPr>
        <p:spPr>
          <a:xfrm>
            <a:off x="3686047" y="2495499"/>
            <a:ext cx="1004569"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Tahoma"/>
                <a:cs typeface="Tahoma"/>
              </a:rPr>
              <a:t>E=B+C</a:t>
            </a:r>
            <a:endParaRPr sz="2400">
              <a:latin typeface="Tahoma"/>
              <a:cs typeface="Tahoma"/>
            </a:endParaRPr>
          </a:p>
        </p:txBody>
      </p:sp>
      <p:sp>
        <p:nvSpPr>
          <p:cNvPr id="16" name="object 16" descr=""/>
          <p:cNvSpPr txBox="1"/>
          <p:nvPr/>
        </p:nvSpPr>
        <p:spPr>
          <a:xfrm>
            <a:off x="6307582" y="1850847"/>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A</a:t>
            </a:r>
            <a:endParaRPr sz="2400">
              <a:latin typeface="Tahoma"/>
              <a:cs typeface="Tahoma"/>
            </a:endParaRPr>
          </a:p>
        </p:txBody>
      </p:sp>
      <p:sp>
        <p:nvSpPr>
          <p:cNvPr id="17" name="object 17" descr=""/>
          <p:cNvSpPr txBox="1"/>
          <p:nvPr/>
        </p:nvSpPr>
        <p:spPr>
          <a:xfrm>
            <a:off x="5227701" y="1881073"/>
            <a:ext cx="196850"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E</a:t>
            </a:r>
            <a:endParaRPr sz="2400">
              <a:latin typeface="Tahoma"/>
              <a:cs typeface="Tahoma"/>
            </a:endParaRPr>
          </a:p>
        </p:txBody>
      </p:sp>
      <p:sp>
        <p:nvSpPr>
          <p:cNvPr id="18" name="object 18" descr=""/>
          <p:cNvSpPr/>
          <p:nvPr/>
        </p:nvSpPr>
        <p:spPr>
          <a:xfrm>
            <a:off x="6237351" y="4581525"/>
            <a:ext cx="360045" cy="935355"/>
          </a:xfrm>
          <a:custGeom>
            <a:avLst/>
            <a:gdLst/>
            <a:ahLst/>
            <a:cxnLst/>
            <a:rect l="l" t="t" r="r" b="b"/>
            <a:pathLst>
              <a:path w="360045" h="935354">
                <a:moveTo>
                  <a:pt x="0" y="0"/>
                </a:moveTo>
                <a:lnTo>
                  <a:pt x="70016" y="2361"/>
                </a:lnTo>
                <a:lnTo>
                  <a:pt x="127222" y="8794"/>
                </a:lnTo>
                <a:lnTo>
                  <a:pt x="165806" y="18323"/>
                </a:lnTo>
                <a:lnTo>
                  <a:pt x="179959" y="29972"/>
                </a:lnTo>
                <a:lnTo>
                  <a:pt x="179959" y="437514"/>
                </a:lnTo>
                <a:lnTo>
                  <a:pt x="194111" y="449216"/>
                </a:lnTo>
                <a:lnTo>
                  <a:pt x="232695" y="458739"/>
                </a:lnTo>
                <a:lnTo>
                  <a:pt x="289901" y="465143"/>
                </a:lnTo>
                <a:lnTo>
                  <a:pt x="359918" y="467487"/>
                </a:lnTo>
                <a:lnTo>
                  <a:pt x="289901" y="469848"/>
                </a:lnTo>
                <a:lnTo>
                  <a:pt x="232695" y="476281"/>
                </a:lnTo>
                <a:lnTo>
                  <a:pt x="194111" y="485810"/>
                </a:lnTo>
                <a:lnTo>
                  <a:pt x="179959" y="497458"/>
                </a:lnTo>
                <a:lnTo>
                  <a:pt x="179959" y="905002"/>
                </a:lnTo>
                <a:lnTo>
                  <a:pt x="165806" y="916723"/>
                </a:lnTo>
                <a:lnTo>
                  <a:pt x="127222" y="926290"/>
                </a:lnTo>
                <a:lnTo>
                  <a:pt x="70016" y="932737"/>
                </a:lnTo>
                <a:lnTo>
                  <a:pt x="0" y="935101"/>
                </a:lnTo>
              </a:path>
            </a:pathLst>
          </a:custGeom>
          <a:ln w="9524">
            <a:solidFill>
              <a:srgbClr val="FF0000"/>
            </a:solidFill>
          </a:ln>
        </p:spPr>
        <p:txBody>
          <a:bodyPr wrap="square" lIns="0" tIns="0" rIns="0" bIns="0" rtlCol="0"/>
          <a:lstStyle/>
          <a:p/>
        </p:txBody>
      </p:sp>
      <p:sp>
        <p:nvSpPr>
          <p:cNvPr id="19" name="object 19" descr=""/>
          <p:cNvSpPr txBox="1"/>
          <p:nvPr/>
        </p:nvSpPr>
        <p:spPr>
          <a:xfrm>
            <a:off x="6749288" y="4787849"/>
            <a:ext cx="1296670" cy="629285"/>
          </a:xfrm>
          <a:prstGeom prst="rect">
            <a:avLst/>
          </a:prstGeom>
        </p:spPr>
        <p:txBody>
          <a:bodyPr wrap="square" lIns="0" tIns="13335" rIns="0" bIns="0" rtlCol="0" vert="horz">
            <a:spAutoFit/>
          </a:bodyPr>
          <a:lstStyle/>
          <a:p>
            <a:pPr marL="12700">
              <a:lnSpc>
                <a:spcPts val="2370"/>
              </a:lnSpc>
              <a:spcBef>
                <a:spcPts val="105"/>
              </a:spcBef>
            </a:pPr>
            <a:r>
              <a:rPr dirty="0" sz="2000" spc="-20">
                <a:solidFill>
                  <a:srgbClr val="FF0000"/>
                </a:solidFill>
                <a:latin typeface="黑体"/>
                <a:cs typeface="黑体"/>
              </a:rPr>
              <a:t>完成一个分</a:t>
            </a:r>
            <a:endParaRPr sz="2000">
              <a:latin typeface="黑体"/>
              <a:cs typeface="黑体"/>
            </a:endParaRPr>
          </a:p>
          <a:p>
            <a:pPr marL="12700">
              <a:lnSpc>
                <a:spcPts val="2370"/>
              </a:lnSpc>
            </a:pPr>
            <a:r>
              <a:rPr dirty="0" sz="2000" spc="-20">
                <a:solidFill>
                  <a:srgbClr val="FF0000"/>
                </a:solidFill>
                <a:latin typeface="黑体"/>
                <a:cs typeface="黑体"/>
              </a:rPr>
              <a:t>量时间</a:t>
            </a:r>
            <a:endParaRPr sz="2000">
              <a:latin typeface="黑体"/>
              <a:cs typeface="黑体"/>
            </a:endParaRPr>
          </a:p>
        </p:txBody>
      </p:sp>
      <p:sp>
        <p:nvSpPr>
          <p:cNvPr id="20" name="object 20"/>
          <p:cNvSpPr txBox="1">
            <a:spLocks noGrp="1"/>
          </p:cNvSpPr>
          <p:nvPr>
            <p:ph type="title"/>
          </p:nvPr>
        </p:nvSpPr>
        <p:spPr>
          <a:xfrm>
            <a:off x="1002791" y="145745"/>
            <a:ext cx="5217795" cy="514350"/>
          </a:xfrm>
          <a:prstGeom prst="rect"/>
        </p:spPr>
        <p:txBody>
          <a:bodyPr wrap="square" lIns="0" tIns="13335" rIns="0" bIns="0" rtlCol="0" vert="horz">
            <a:spAutoFit/>
          </a:bodyPr>
          <a:lstStyle/>
          <a:p>
            <a:pPr marL="38100">
              <a:lnSpc>
                <a:spcPct val="100000"/>
              </a:lnSpc>
              <a:spcBef>
                <a:spcPts val="105"/>
              </a:spcBef>
            </a:pPr>
            <a:r>
              <a:rPr dirty="0"/>
              <a:t>方案</a:t>
            </a:r>
            <a:r>
              <a:rPr dirty="0">
                <a:latin typeface="Tahoma"/>
                <a:cs typeface="Tahoma"/>
              </a:rPr>
              <a:t>1</a:t>
            </a:r>
            <a:r>
              <a:rPr dirty="0" spc="-15"/>
              <a:t>、串行向量指令</a:t>
            </a:r>
            <a:r>
              <a:rPr dirty="0" spc="-1870"/>
              <a:t>执</a:t>
            </a:r>
            <a:r>
              <a:rPr dirty="0" baseline="10416" sz="3600" spc="-802">
                <a:solidFill>
                  <a:srgbClr val="FF33CC"/>
                </a:solidFill>
              </a:rPr>
              <a:t>向</a:t>
            </a:r>
            <a:r>
              <a:rPr dirty="0" sz="3200" spc="-2675"/>
              <a:t>行</a:t>
            </a:r>
            <a:r>
              <a:rPr dirty="0" baseline="10416" sz="3600" spc="-1612">
                <a:solidFill>
                  <a:srgbClr val="FF33CC"/>
                </a:solidFill>
              </a:rPr>
              <a:t>量指</a:t>
            </a:r>
            <a:r>
              <a:rPr dirty="0" sz="3200" spc="-100">
                <a:latin typeface="Tahoma"/>
                <a:cs typeface="Tahoma"/>
              </a:rPr>
              <a:t>--</a:t>
            </a:r>
            <a:r>
              <a:rPr dirty="0" baseline="10416" sz="3600" spc="-3329">
                <a:solidFill>
                  <a:srgbClr val="FF33CC"/>
                </a:solidFill>
              </a:rPr>
              <a:t>令</a:t>
            </a:r>
            <a:r>
              <a:rPr dirty="0" sz="3200" spc="-50">
                <a:latin typeface="Tahoma"/>
                <a:cs typeface="Tahoma"/>
              </a:rPr>
              <a:t>-</a:t>
            </a:r>
            <a:endParaRPr sz="3200">
              <a:latin typeface="Tahoma"/>
              <a:cs typeface="Tahoma"/>
            </a:endParaRPr>
          </a:p>
        </p:txBody>
      </p:sp>
      <p:sp>
        <p:nvSpPr>
          <p:cNvPr id="21" name="object 21" descr=""/>
          <p:cNvSpPr txBox="1"/>
          <p:nvPr/>
        </p:nvSpPr>
        <p:spPr>
          <a:xfrm>
            <a:off x="6429755" y="191770"/>
            <a:ext cx="1956435" cy="391160"/>
          </a:xfrm>
          <a:prstGeom prst="rect">
            <a:avLst/>
          </a:prstGeom>
        </p:spPr>
        <p:txBody>
          <a:bodyPr wrap="square" lIns="0" tIns="12700" rIns="0" bIns="0" rtlCol="0" vert="horz">
            <a:spAutoFit/>
          </a:bodyPr>
          <a:lstStyle/>
          <a:p>
            <a:pPr marL="38100">
              <a:lnSpc>
                <a:spcPct val="100000"/>
              </a:lnSpc>
              <a:spcBef>
                <a:spcPts val="100"/>
              </a:spcBef>
              <a:tabLst>
                <a:tab pos="1664335" algn="l"/>
              </a:tabLst>
            </a:pPr>
            <a:r>
              <a:rPr dirty="0" sz="2400">
                <a:solidFill>
                  <a:srgbClr val="40458B"/>
                </a:solidFill>
                <a:latin typeface="宋体"/>
                <a:cs typeface="宋体"/>
              </a:rPr>
              <a:t>V</a:t>
            </a:r>
            <a:r>
              <a:rPr dirty="0" baseline="-20833" sz="2400">
                <a:solidFill>
                  <a:srgbClr val="40458B"/>
                </a:solidFill>
                <a:latin typeface="宋体"/>
                <a:cs typeface="宋体"/>
              </a:rPr>
              <a:t>4</a:t>
            </a:r>
            <a:r>
              <a:rPr dirty="0" baseline="-20833" sz="2400" spc="-15">
                <a:solidFill>
                  <a:srgbClr val="40458B"/>
                </a:solidFill>
                <a:latin typeface="宋体"/>
                <a:cs typeface="宋体"/>
              </a:rPr>
              <a:t> </a:t>
            </a:r>
            <a:r>
              <a:rPr dirty="0" sz="2400">
                <a:solidFill>
                  <a:srgbClr val="40458B"/>
                </a:solidFill>
                <a:latin typeface="宋体"/>
                <a:cs typeface="宋体"/>
              </a:rPr>
              <a:t>←</a:t>
            </a:r>
            <a:r>
              <a:rPr dirty="0" sz="2400" spc="-10">
                <a:solidFill>
                  <a:srgbClr val="40458B"/>
                </a:solidFill>
                <a:latin typeface="宋体"/>
                <a:cs typeface="宋体"/>
              </a:rPr>
              <a:t> </a:t>
            </a:r>
            <a:r>
              <a:rPr dirty="0" sz="2400">
                <a:solidFill>
                  <a:srgbClr val="008000"/>
                </a:solidFill>
                <a:latin typeface="宋体"/>
                <a:cs typeface="宋体"/>
              </a:rPr>
              <a:t>V</a:t>
            </a:r>
            <a:r>
              <a:rPr dirty="0" baseline="-20833" sz="2400">
                <a:solidFill>
                  <a:srgbClr val="008000"/>
                </a:solidFill>
                <a:latin typeface="宋体"/>
                <a:cs typeface="宋体"/>
              </a:rPr>
              <a:t>2</a:t>
            </a:r>
            <a:r>
              <a:rPr dirty="0" baseline="-20833" sz="2400" spc="7">
                <a:solidFill>
                  <a:srgbClr val="008000"/>
                </a:solidFill>
                <a:latin typeface="宋体"/>
                <a:cs typeface="宋体"/>
              </a:rPr>
              <a:t> </a:t>
            </a:r>
            <a:r>
              <a:rPr dirty="0" sz="2400" spc="-50">
                <a:solidFill>
                  <a:srgbClr val="40458B"/>
                </a:solidFill>
                <a:latin typeface="黑体"/>
                <a:cs typeface="黑体"/>
              </a:rPr>
              <a:t>×</a:t>
            </a:r>
            <a:r>
              <a:rPr dirty="0" sz="2400">
                <a:solidFill>
                  <a:srgbClr val="40458B"/>
                </a:solidFill>
                <a:latin typeface="黑体"/>
                <a:cs typeface="黑体"/>
              </a:rPr>
              <a:t>	</a:t>
            </a:r>
            <a:r>
              <a:rPr dirty="0" sz="2400" spc="-25">
                <a:solidFill>
                  <a:srgbClr val="FF33CC"/>
                </a:solidFill>
                <a:latin typeface="宋体"/>
                <a:cs typeface="宋体"/>
              </a:rPr>
              <a:t>V</a:t>
            </a:r>
            <a:r>
              <a:rPr dirty="0" baseline="-20833" sz="2400" spc="-37">
                <a:solidFill>
                  <a:srgbClr val="FF33CC"/>
                </a:solidFill>
                <a:latin typeface="宋体"/>
                <a:cs typeface="宋体"/>
              </a:rPr>
              <a:t>3</a:t>
            </a:r>
            <a:endParaRPr baseline="-20833" sz="2400">
              <a:latin typeface="宋体"/>
              <a:cs typeface="宋体"/>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4905740" y="5197547"/>
            <a:ext cx="1430655" cy="866775"/>
            <a:chOff x="4905740" y="5197547"/>
            <a:chExt cx="1430655" cy="866775"/>
          </a:xfrm>
        </p:grpSpPr>
        <p:sp>
          <p:nvSpPr>
            <p:cNvPr id="10" name="object 10" descr=""/>
            <p:cNvSpPr/>
            <p:nvPr/>
          </p:nvSpPr>
          <p:spPr>
            <a:xfrm>
              <a:off x="4917170" y="5208977"/>
              <a:ext cx="1407795" cy="843915"/>
            </a:xfrm>
            <a:custGeom>
              <a:avLst/>
              <a:gdLst/>
              <a:ahLst/>
              <a:cxnLst/>
              <a:rect l="l" t="t" r="r" b="b"/>
              <a:pathLst>
                <a:path w="1407795" h="843914">
                  <a:moveTo>
                    <a:pt x="1407660" y="0"/>
                  </a:moveTo>
                  <a:lnTo>
                    <a:pt x="0" y="0"/>
                  </a:lnTo>
                  <a:lnTo>
                    <a:pt x="0" y="843814"/>
                  </a:lnTo>
                  <a:lnTo>
                    <a:pt x="1407660" y="843815"/>
                  </a:lnTo>
                  <a:lnTo>
                    <a:pt x="1407660" y="0"/>
                  </a:lnTo>
                  <a:close/>
                </a:path>
              </a:pathLst>
            </a:custGeom>
            <a:solidFill>
              <a:srgbClr val="CCFFCC"/>
            </a:solidFill>
          </p:spPr>
          <p:txBody>
            <a:bodyPr wrap="square" lIns="0" tIns="0" rIns="0" bIns="0" rtlCol="0"/>
            <a:lstStyle/>
            <a:p/>
          </p:txBody>
        </p:sp>
        <p:sp>
          <p:nvSpPr>
            <p:cNvPr id="11" name="object 11" descr=""/>
            <p:cNvSpPr/>
            <p:nvPr/>
          </p:nvSpPr>
          <p:spPr>
            <a:xfrm>
              <a:off x="4917170" y="5208977"/>
              <a:ext cx="1407795" cy="843915"/>
            </a:xfrm>
            <a:custGeom>
              <a:avLst/>
              <a:gdLst/>
              <a:ahLst/>
              <a:cxnLst/>
              <a:rect l="l" t="t" r="r" b="b"/>
              <a:pathLst>
                <a:path w="1407795" h="843914">
                  <a:moveTo>
                    <a:pt x="0" y="843814"/>
                  </a:moveTo>
                  <a:lnTo>
                    <a:pt x="1407660" y="843815"/>
                  </a:lnTo>
                  <a:lnTo>
                    <a:pt x="1407660" y="0"/>
                  </a:lnTo>
                  <a:lnTo>
                    <a:pt x="0" y="0"/>
                  </a:lnTo>
                  <a:lnTo>
                    <a:pt x="0" y="843814"/>
                  </a:lnTo>
                  <a:close/>
                </a:path>
              </a:pathLst>
            </a:custGeom>
            <a:ln w="17704">
              <a:solidFill>
                <a:srgbClr val="000000"/>
              </a:solidFill>
            </a:ln>
          </p:spPr>
          <p:txBody>
            <a:bodyPr wrap="square" lIns="0" tIns="0" rIns="0" bIns="0" rtlCol="0"/>
            <a:lstStyle/>
            <a:p/>
          </p:txBody>
        </p:sp>
        <p:sp>
          <p:nvSpPr>
            <p:cNvPr id="12" name="object 12" descr=""/>
            <p:cNvSpPr/>
            <p:nvPr/>
          </p:nvSpPr>
          <p:spPr>
            <a:xfrm>
              <a:off x="4917160" y="5383898"/>
              <a:ext cx="1408430" cy="494665"/>
            </a:xfrm>
            <a:custGeom>
              <a:avLst/>
              <a:gdLst/>
              <a:ahLst/>
              <a:cxnLst/>
              <a:rect l="l" t="t" r="r" b="b"/>
              <a:pathLst>
                <a:path w="1408429" h="494664">
                  <a:moveTo>
                    <a:pt x="1407820" y="480542"/>
                  </a:moveTo>
                  <a:lnTo>
                    <a:pt x="0" y="480542"/>
                  </a:lnTo>
                  <a:lnTo>
                    <a:pt x="0" y="494487"/>
                  </a:lnTo>
                  <a:lnTo>
                    <a:pt x="1407820" y="494487"/>
                  </a:lnTo>
                  <a:lnTo>
                    <a:pt x="1407820" y="480542"/>
                  </a:lnTo>
                  <a:close/>
                </a:path>
                <a:path w="1408429" h="494664">
                  <a:moveTo>
                    <a:pt x="1407820" y="181889"/>
                  </a:moveTo>
                  <a:lnTo>
                    <a:pt x="0" y="181889"/>
                  </a:lnTo>
                  <a:lnTo>
                    <a:pt x="0" y="195834"/>
                  </a:lnTo>
                  <a:lnTo>
                    <a:pt x="1407820" y="195834"/>
                  </a:lnTo>
                  <a:lnTo>
                    <a:pt x="1407820" y="181889"/>
                  </a:lnTo>
                  <a:close/>
                </a:path>
                <a:path w="1408429" h="494664">
                  <a:moveTo>
                    <a:pt x="1407820" y="0"/>
                  </a:moveTo>
                  <a:lnTo>
                    <a:pt x="0" y="0"/>
                  </a:lnTo>
                  <a:lnTo>
                    <a:pt x="0" y="13944"/>
                  </a:lnTo>
                  <a:lnTo>
                    <a:pt x="1407820" y="13944"/>
                  </a:lnTo>
                  <a:lnTo>
                    <a:pt x="1407820" y="0"/>
                  </a:lnTo>
                  <a:close/>
                </a:path>
              </a:pathLst>
            </a:custGeom>
            <a:solidFill>
              <a:srgbClr val="000000"/>
            </a:solidFill>
          </p:spPr>
          <p:txBody>
            <a:bodyPr wrap="square" lIns="0" tIns="0" rIns="0" bIns="0" rtlCol="0"/>
            <a:lstStyle/>
            <a:p/>
          </p:txBody>
        </p:sp>
      </p:grpSp>
      <p:sp>
        <p:nvSpPr>
          <p:cNvPr id="13" name="object 13" descr=""/>
          <p:cNvSpPr txBox="1"/>
          <p:nvPr/>
        </p:nvSpPr>
        <p:spPr>
          <a:xfrm>
            <a:off x="4928381" y="5579722"/>
            <a:ext cx="1385570" cy="285115"/>
          </a:xfrm>
          <a:prstGeom prst="rect">
            <a:avLst/>
          </a:prstGeom>
          <a:solidFill>
            <a:srgbClr val="CCFFCC"/>
          </a:solidFill>
        </p:spPr>
        <p:txBody>
          <a:bodyPr wrap="square" lIns="0" tIns="8890" rIns="0" bIns="0" rtlCol="0" vert="horz">
            <a:spAutoFit/>
          </a:bodyPr>
          <a:lstStyle/>
          <a:p>
            <a:pPr marL="448945">
              <a:lnSpc>
                <a:spcPct val="100000"/>
              </a:lnSpc>
              <a:spcBef>
                <a:spcPts val="70"/>
              </a:spcBef>
            </a:pPr>
            <a:r>
              <a:rPr dirty="0" sz="1600" spc="1630">
                <a:latin typeface="宋体"/>
                <a:cs typeface="宋体"/>
              </a:rPr>
              <a:t>…</a:t>
            </a:r>
            <a:endParaRPr sz="1600">
              <a:latin typeface="宋体"/>
              <a:cs typeface="宋体"/>
            </a:endParaRPr>
          </a:p>
        </p:txBody>
      </p:sp>
      <p:grpSp>
        <p:nvGrpSpPr>
          <p:cNvPr id="14" name="object 14" descr=""/>
          <p:cNvGrpSpPr/>
          <p:nvPr/>
        </p:nvGrpSpPr>
        <p:grpSpPr>
          <a:xfrm>
            <a:off x="2428426" y="789873"/>
            <a:ext cx="5469255" cy="5216525"/>
            <a:chOff x="2428426" y="789873"/>
            <a:chExt cx="5469255" cy="5216525"/>
          </a:xfrm>
        </p:grpSpPr>
        <p:sp>
          <p:nvSpPr>
            <p:cNvPr id="15" name="object 15" descr=""/>
            <p:cNvSpPr/>
            <p:nvPr/>
          </p:nvSpPr>
          <p:spPr>
            <a:xfrm>
              <a:off x="4917170" y="3041387"/>
              <a:ext cx="1407795" cy="843915"/>
            </a:xfrm>
            <a:custGeom>
              <a:avLst/>
              <a:gdLst/>
              <a:ahLst/>
              <a:cxnLst/>
              <a:rect l="l" t="t" r="r" b="b"/>
              <a:pathLst>
                <a:path w="1407795" h="843914">
                  <a:moveTo>
                    <a:pt x="1407660" y="0"/>
                  </a:moveTo>
                  <a:lnTo>
                    <a:pt x="0" y="0"/>
                  </a:lnTo>
                  <a:lnTo>
                    <a:pt x="0" y="843814"/>
                  </a:lnTo>
                  <a:lnTo>
                    <a:pt x="1407660" y="843815"/>
                  </a:lnTo>
                  <a:lnTo>
                    <a:pt x="1407660" y="0"/>
                  </a:lnTo>
                  <a:close/>
                </a:path>
              </a:pathLst>
            </a:custGeom>
            <a:solidFill>
              <a:srgbClr val="CCFFCC"/>
            </a:solidFill>
          </p:spPr>
          <p:txBody>
            <a:bodyPr wrap="square" lIns="0" tIns="0" rIns="0" bIns="0" rtlCol="0"/>
            <a:lstStyle/>
            <a:p/>
          </p:txBody>
        </p:sp>
        <p:sp>
          <p:nvSpPr>
            <p:cNvPr id="16" name="object 16" descr=""/>
            <p:cNvSpPr/>
            <p:nvPr/>
          </p:nvSpPr>
          <p:spPr>
            <a:xfrm>
              <a:off x="4917170" y="3041387"/>
              <a:ext cx="1407795" cy="843915"/>
            </a:xfrm>
            <a:custGeom>
              <a:avLst/>
              <a:gdLst/>
              <a:ahLst/>
              <a:cxnLst/>
              <a:rect l="l" t="t" r="r" b="b"/>
              <a:pathLst>
                <a:path w="1407795" h="843914">
                  <a:moveTo>
                    <a:pt x="0" y="843814"/>
                  </a:moveTo>
                  <a:lnTo>
                    <a:pt x="1407660" y="843815"/>
                  </a:lnTo>
                  <a:lnTo>
                    <a:pt x="1407660" y="0"/>
                  </a:lnTo>
                  <a:lnTo>
                    <a:pt x="0" y="0"/>
                  </a:lnTo>
                  <a:lnTo>
                    <a:pt x="0" y="843814"/>
                  </a:lnTo>
                  <a:close/>
                </a:path>
              </a:pathLst>
            </a:custGeom>
            <a:ln w="17704">
              <a:solidFill>
                <a:srgbClr val="000000"/>
              </a:solidFill>
            </a:ln>
          </p:spPr>
          <p:txBody>
            <a:bodyPr wrap="square" lIns="0" tIns="0" rIns="0" bIns="0" rtlCol="0"/>
            <a:lstStyle/>
            <a:p/>
          </p:txBody>
        </p:sp>
        <p:sp>
          <p:nvSpPr>
            <p:cNvPr id="17" name="object 17" descr=""/>
            <p:cNvSpPr/>
            <p:nvPr/>
          </p:nvSpPr>
          <p:spPr>
            <a:xfrm>
              <a:off x="4917160" y="3216338"/>
              <a:ext cx="1408430" cy="494030"/>
            </a:xfrm>
            <a:custGeom>
              <a:avLst/>
              <a:gdLst/>
              <a:ahLst/>
              <a:cxnLst/>
              <a:rect l="l" t="t" r="r" b="b"/>
              <a:pathLst>
                <a:path w="1408429" h="494029">
                  <a:moveTo>
                    <a:pt x="1407820" y="479933"/>
                  </a:moveTo>
                  <a:lnTo>
                    <a:pt x="0" y="479933"/>
                  </a:lnTo>
                  <a:lnTo>
                    <a:pt x="0" y="493877"/>
                  </a:lnTo>
                  <a:lnTo>
                    <a:pt x="1407820" y="493877"/>
                  </a:lnTo>
                  <a:lnTo>
                    <a:pt x="1407820" y="479933"/>
                  </a:lnTo>
                  <a:close/>
                </a:path>
                <a:path w="1408429" h="494029">
                  <a:moveTo>
                    <a:pt x="1407820" y="181762"/>
                  </a:moveTo>
                  <a:lnTo>
                    <a:pt x="0" y="181762"/>
                  </a:lnTo>
                  <a:lnTo>
                    <a:pt x="0" y="195707"/>
                  </a:lnTo>
                  <a:lnTo>
                    <a:pt x="1407820" y="195707"/>
                  </a:lnTo>
                  <a:lnTo>
                    <a:pt x="1407820" y="181762"/>
                  </a:lnTo>
                  <a:close/>
                </a:path>
                <a:path w="1408429" h="494029">
                  <a:moveTo>
                    <a:pt x="1407820" y="0"/>
                  </a:moveTo>
                  <a:lnTo>
                    <a:pt x="0" y="0"/>
                  </a:lnTo>
                  <a:lnTo>
                    <a:pt x="0" y="13931"/>
                  </a:lnTo>
                  <a:lnTo>
                    <a:pt x="1407820" y="13931"/>
                  </a:lnTo>
                  <a:lnTo>
                    <a:pt x="1407820" y="0"/>
                  </a:lnTo>
                  <a:close/>
                </a:path>
              </a:pathLst>
            </a:custGeom>
            <a:solidFill>
              <a:srgbClr val="000000"/>
            </a:solidFill>
          </p:spPr>
          <p:txBody>
            <a:bodyPr wrap="square" lIns="0" tIns="0" rIns="0" bIns="0" rtlCol="0"/>
            <a:lstStyle/>
            <a:p/>
          </p:txBody>
        </p:sp>
        <p:sp>
          <p:nvSpPr>
            <p:cNvPr id="18" name="object 18" descr=""/>
            <p:cNvSpPr/>
            <p:nvPr/>
          </p:nvSpPr>
          <p:spPr>
            <a:xfrm>
              <a:off x="4917170" y="4127791"/>
              <a:ext cx="1407795" cy="839469"/>
            </a:xfrm>
            <a:custGeom>
              <a:avLst/>
              <a:gdLst/>
              <a:ahLst/>
              <a:cxnLst/>
              <a:rect l="l" t="t" r="r" b="b"/>
              <a:pathLst>
                <a:path w="1407795" h="839470">
                  <a:moveTo>
                    <a:pt x="1407660" y="0"/>
                  </a:moveTo>
                  <a:lnTo>
                    <a:pt x="0" y="0"/>
                  </a:lnTo>
                  <a:lnTo>
                    <a:pt x="0" y="839023"/>
                  </a:lnTo>
                  <a:lnTo>
                    <a:pt x="1407660" y="839023"/>
                  </a:lnTo>
                  <a:lnTo>
                    <a:pt x="1407660" y="0"/>
                  </a:lnTo>
                  <a:close/>
                </a:path>
              </a:pathLst>
            </a:custGeom>
            <a:solidFill>
              <a:srgbClr val="CCFFCC"/>
            </a:solidFill>
          </p:spPr>
          <p:txBody>
            <a:bodyPr wrap="square" lIns="0" tIns="0" rIns="0" bIns="0" rtlCol="0"/>
            <a:lstStyle/>
            <a:p/>
          </p:txBody>
        </p:sp>
        <p:sp>
          <p:nvSpPr>
            <p:cNvPr id="19" name="object 19" descr=""/>
            <p:cNvSpPr/>
            <p:nvPr/>
          </p:nvSpPr>
          <p:spPr>
            <a:xfrm>
              <a:off x="4917170" y="4127791"/>
              <a:ext cx="1407795" cy="839469"/>
            </a:xfrm>
            <a:custGeom>
              <a:avLst/>
              <a:gdLst/>
              <a:ahLst/>
              <a:cxnLst/>
              <a:rect l="l" t="t" r="r" b="b"/>
              <a:pathLst>
                <a:path w="1407795" h="839470">
                  <a:moveTo>
                    <a:pt x="0" y="839023"/>
                  </a:moveTo>
                  <a:lnTo>
                    <a:pt x="1407660" y="839023"/>
                  </a:lnTo>
                  <a:lnTo>
                    <a:pt x="1407660" y="0"/>
                  </a:lnTo>
                  <a:lnTo>
                    <a:pt x="0" y="0"/>
                  </a:lnTo>
                  <a:lnTo>
                    <a:pt x="0" y="839023"/>
                  </a:lnTo>
                  <a:close/>
                </a:path>
              </a:pathLst>
            </a:custGeom>
            <a:ln w="17672">
              <a:solidFill>
                <a:srgbClr val="000000"/>
              </a:solidFill>
            </a:ln>
          </p:spPr>
          <p:txBody>
            <a:bodyPr wrap="square" lIns="0" tIns="0" rIns="0" bIns="0" rtlCol="0"/>
            <a:lstStyle/>
            <a:p/>
          </p:txBody>
        </p:sp>
        <p:sp>
          <p:nvSpPr>
            <p:cNvPr id="20" name="object 20" descr=""/>
            <p:cNvSpPr/>
            <p:nvPr/>
          </p:nvSpPr>
          <p:spPr>
            <a:xfrm>
              <a:off x="4917160" y="4297845"/>
              <a:ext cx="1408430" cy="499109"/>
            </a:xfrm>
            <a:custGeom>
              <a:avLst/>
              <a:gdLst/>
              <a:ahLst/>
              <a:cxnLst/>
              <a:rect l="l" t="t" r="r" b="b"/>
              <a:pathLst>
                <a:path w="1408429" h="499110">
                  <a:moveTo>
                    <a:pt x="1407820" y="484911"/>
                  </a:moveTo>
                  <a:lnTo>
                    <a:pt x="0" y="484911"/>
                  </a:lnTo>
                  <a:lnTo>
                    <a:pt x="0" y="498843"/>
                  </a:lnTo>
                  <a:lnTo>
                    <a:pt x="1407820" y="498843"/>
                  </a:lnTo>
                  <a:lnTo>
                    <a:pt x="1407820" y="484911"/>
                  </a:lnTo>
                  <a:close/>
                </a:path>
                <a:path w="1408429" h="499110">
                  <a:moveTo>
                    <a:pt x="1407820" y="181952"/>
                  </a:moveTo>
                  <a:lnTo>
                    <a:pt x="0" y="181952"/>
                  </a:lnTo>
                  <a:lnTo>
                    <a:pt x="0" y="195884"/>
                  </a:lnTo>
                  <a:lnTo>
                    <a:pt x="1407820" y="195884"/>
                  </a:lnTo>
                  <a:lnTo>
                    <a:pt x="1407820" y="181952"/>
                  </a:lnTo>
                  <a:close/>
                </a:path>
                <a:path w="1408429" h="499110">
                  <a:moveTo>
                    <a:pt x="1407820" y="0"/>
                  </a:moveTo>
                  <a:lnTo>
                    <a:pt x="0" y="0"/>
                  </a:lnTo>
                  <a:lnTo>
                    <a:pt x="0" y="13944"/>
                  </a:lnTo>
                  <a:lnTo>
                    <a:pt x="1407820" y="13944"/>
                  </a:lnTo>
                  <a:lnTo>
                    <a:pt x="1407820" y="0"/>
                  </a:lnTo>
                  <a:close/>
                </a:path>
              </a:pathLst>
            </a:custGeom>
            <a:solidFill>
              <a:srgbClr val="000000"/>
            </a:solidFill>
          </p:spPr>
          <p:txBody>
            <a:bodyPr wrap="square" lIns="0" tIns="0" rIns="0" bIns="0" rtlCol="0"/>
            <a:lstStyle/>
            <a:p/>
          </p:txBody>
        </p:sp>
        <p:sp>
          <p:nvSpPr>
            <p:cNvPr id="21" name="object 21" descr=""/>
            <p:cNvSpPr/>
            <p:nvPr/>
          </p:nvSpPr>
          <p:spPr>
            <a:xfrm>
              <a:off x="4917170" y="873700"/>
              <a:ext cx="1407795" cy="843915"/>
            </a:xfrm>
            <a:custGeom>
              <a:avLst/>
              <a:gdLst/>
              <a:ahLst/>
              <a:cxnLst/>
              <a:rect l="l" t="t" r="r" b="b"/>
              <a:pathLst>
                <a:path w="1407795" h="843914">
                  <a:moveTo>
                    <a:pt x="1407660" y="0"/>
                  </a:moveTo>
                  <a:lnTo>
                    <a:pt x="0" y="0"/>
                  </a:lnTo>
                  <a:lnTo>
                    <a:pt x="0" y="843814"/>
                  </a:lnTo>
                  <a:lnTo>
                    <a:pt x="1407660" y="843815"/>
                  </a:lnTo>
                  <a:lnTo>
                    <a:pt x="1407660" y="0"/>
                  </a:lnTo>
                  <a:close/>
                </a:path>
              </a:pathLst>
            </a:custGeom>
            <a:solidFill>
              <a:srgbClr val="CCFFCC"/>
            </a:solidFill>
          </p:spPr>
          <p:txBody>
            <a:bodyPr wrap="square" lIns="0" tIns="0" rIns="0" bIns="0" rtlCol="0"/>
            <a:lstStyle/>
            <a:p/>
          </p:txBody>
        </p:sp>
        <p:sp>
          <p:nvSpPr>
            <p:cNvPr id="22" name="object 22" descr=""/>
            <p:cNvSpPr/>
            <p:nvPr/>
          </p:nvSpPr>
          <p:spPr>
            <a:xfrm>
              <a:off x="4917170" y="873700"/>
              <a:ext cx="1407795" cy="843915"/>
            </a:xfrm>
            <a:custGeom>
              <a:avLst/>
              <a:gdLst/>
              <a:ahLst/>
              <a:cxnLst/>
              <a:rect l="l" t="t" r="r" b="b"/>
              <a:pathLst>
                <a:path w="1407795" h="843914">
                  <a:moveTo>
                    <a:pt x="0" y="843814"/>
                  </a:moveTo>
                  <a:lnTo>
                    <a:pt x="1407660" y="843815"/>
                  </a:lnTo>
                  <a:lnTo>
                    <a:pt x="1407660" y="0"/>
                  </a:lnTo>
                  <a:lnTo>
                    <a:pt x="0" y="0"/>
                  </a:lnTo>
                  <a:lnTo>
                    <a:pt x="0" y="843814"/>
                  </a:lnTo>
                  <a:close/>
                </a:path>
              </a:pathLst>
            </a:custGeom>
            <a:ln w="17704">
              <a:solidFill>
                <a:srgbClr val="000000"/>
              </a:solidFill>
            </a:ln>
          </p:spPr>
          <p:txBody>
            <a:bodyPr wrap="square" lIns="0" tIns="0" rIns="0" bIns="0" rtlCol="0"/>
            <a:lstStyle/>
            <a:p/>
          </p:txBody>
        </p:sp>
        <p:sp>
          <p:nvSpPr>
            <p:cNvPr id="23" name="object 23" descr=""/>
            <p:cNvSpPr/>
            <p:nvPr/>
          </p:nvSpPr>
          <p:spPr>
            <a:xfrm>
              <a:off x="4917160" y="1048651"/>
              <a:ext cx="1408430" cy="494030"/>
            </a:xfrm>
            <a:custGeom>
              <a:avLst/>
              <a:gdLst/>
              <a:ahLst/>
              <a:cxnLst/>
              <a:rect l="l" t="t" r="r" b="b"/>
              <a:pathLst>
                <a:path w="1408429" h="494030">
                  <a:moveTo>
                    <a:pt x="1407820" y="479933"/>
                  </a:moveTo>
                  <a:lnTo>
                    <a:pt x="0" y="479933"/>
                  </a:lnTo>
                  <a:lnTo>
                    <a:pt x="0" y="493877"/>
                  </a:lnTo>
                  <a:lnTo>
                    <a:pt x="1407820" y="493877"/>
                  </a:lnTo>
                  <a:lnTo>
                    <a:pt x="1407820" y="479933"/>
                  </a:lnTo>
                  <a:close/>
                </a:path>
                <a:path w="1408429" h="494030">
                  <a:moveTo>
                    <a:pt x="1407820" y="181762"/>
                  </a:moveTo>
                  <a:lnTo>
                    <a:pt x="0" y="181762"/>
                  </a:lnTo>
                  <a:lnTo>
                    <a:pt x="0" y="195707"/>
                  </a:lnTo>
                  <a:lnTo>
                    <a:pt x="1407820" y="195707"/>
                  </a:lnTo>
                  <a:lnTo>
                    <a:pt x="1407820" y="181762"/>
                  </a:lnTo>
                  <a:close/>
                </a:path>
                <a:path w="1408429" h="494030">
                  <a:moveTo>
                    <a:pt x="1407820" y="0"/>
                  </a:moveTo>
                  <a:lnTo>
                    <a:pt x="0" y="0"/>
                  </a:lnTo>
                  <a:lnTo>
                    <a:pt x="0" y="13931"/>
                  </a:lnTo>
                  <a:lnTo>
                    <a:pt x="1407820" y="13931"/>
                  </a:lnTo>
                  <a:lnTo>
                    <a:pt x="1407820" y="0"/>
                  </a:lnTo>
                  <a:close/>
                </a:path>
              </a:pathLst>
            </a:custGeom>
            <a:solidFill>
              <a:srgbClr val="000000"/>
            </a:solidFill>
          </p:spPr>
          <p:txBody>
            <a:bodyPr wrap="square" lIns="0" tIns="0" rIns="0" bIns="0" rtlCol="0"/>
            <a:lstStyle/>
            <a:p/>
          </p:txBody>
        </p:sp>
        <p:sp>
          <p:nvSpPr>
            <p:cNvPr id="24" name="object 24" descr=""/>
            <p:cNvSpPr/>
            <p:nvPr/>
          </p:nvSpPr>
          <p:spPr>
            <a:xfrm>
              <a:off x="4917170" y="1959716"/>
              <a:ext cx="1407795" cy="840105"/>
            </a:xfrm>
            <a:custGeom>
              <a:avLst/>
              <a:gdLst/>
              <a:ahLst/>
              <a:cxnLst/>
              <a:rect l="l" t="t" r="r" b="b"/>
              <a:pathLst>
                <a:path w="1407795" h="840105">
                  <a:moveTo>
                    <a:pt x="1407660" y="0"/>
                  </a:moveTo>
                  <a:lnTo>
                    <a:pt x="0" y="0"/>
                  </a:lnTo>
                  <a:lnTo>
                    <a:pt x="0" y="839508"/>
                  </a:lnTo>
                  <a:lnTo>
                    <a:pt x="1407660" y="839508"/>
                  </a:lnTo>
                  <a:lnTo>
                    <a:pt x="1407660" y="0"/>
                  </a:lnTo>
                  <a:close/>
                </a:path>
              </a:pathLst>
            </a:custGeom>
            <a:solidFill>
              <a:srgbClr val="CCFFCC"/>
            </a:solidFill>
          </p:spPr>
          <p:txBody>
            <a:bodyPr wrap="square" lIns="0" tIns="0" rIns="0" bIns="0" rtlCol="0"/>
            <a:lstStyle/>
            <a:p/>
          </p:txBody>
        </p:sp>
        <p:sp>
          <p:nvSpPr>
            <p:cNvPr id="25" name="object 25" descr=""/>
            <p:cNvSpPr/>
            <p:nvPr/>
          </p:nvSpPr>
          <p:spPr>
            <a:xfrm>
              <a:off x="4917170" y="1959716"/>
              <a:ext cx="1407795" cy="840105"/>
            </a:xfrm>
            <a:custGeom>
              <a:avLst/>
              <a:gdLst/>
              <a:ahLst/>
              <a:cxnLst/>
              <a:rect l="l" t="t" r="r" b="b"/>
              <a:pathLst>
                <a:path w="1407795" h="840105">
                  <a:moveTo>
                    <a:pt x="0" y="839508"/>
                  </a:moveTo>
                  <a:lnTo>
                    <a:pt x="1407660" y="839508"/>
                  </a:lnTo>
                  <a:lnTo>
                    <a:pt x="1407660" y="0"/>
                  </a:lnTo>
                  <a:lnTo>
                    <a:pt x="0" y="0"/>
                  </a:lnTo>
                  <a:lnTo>
                    <a:pt x="0" y="839508"/>
                  </a:lnTo>
                  <a:close/>
                </a:path>
              </a:pathLst>
            </a:custGeom>
            <a:ln w="17675">
              <a:solidFill>
                <a:srgbClr val="000000"/>
              </a:solidFill>
            </a:ln>
          </p:spPr>
          <p:txBody>
            <a:bodyPr wrap="square" lIns="0" tIns="0" rIns="0" bIns="0" rtlCol="0"/>
            <a:lstStyle/>
            <a:p/>
          </p:txBody>
        </p:sp>
        <p:sp>
          <p:nvSpPr>
            <p:cNvPr id="26" name="object 26" descr=""/>
            <p:cNvSpPr/>
            <p:nvPr/>
          </p:nvSpPr>
          <p:spPr>
            <a:xfrm>
              <a:off x="4917160" y="2129777"/>
              <a:ext cx="1408430" cy="499109"/>
            </a:xfrm>
            <a:custGeom>
              <a:avLst/>
              <a:gdLst/>
              <a:ahLst/>
              <a:cxnLst/>
              <a:rect l="l" t="t" r="r" b="b"/>
              <a:pathLst>
                <a:path w="1408429" h="499110">
                  <a:moveTo>
                    <a:pt x="1407820" y="484784"/>
                  </a:moveTo>
                  <a:lnTo>
                    <a:pt x="0" y="484784"/>
                  </a:lnTo>
                  <a:lnTo>
                    <a:pt x="0" y="498729"/>
                  </a:lnTo>
                  <a:lnTo>
                    <a:pt x="1407820" y="498729"/>
                  </a:lnTo>
                  <a:lnTo>
                    <a:pt x="1407820" y="484784"/>
                  </a:lnTo>
                  <a:close/>
                </a:path>
                <a:path w="1408429" h="499110">
                  <a:moveTo>
                    <a:pt x="1407820" y="181965"/>
                  </a:moveTo>
                  <a:lnTo>
                    <a:pt x="0" y="181965"/>
                  </a:lnTo>
                  <a:lnTo>
                    <a:pt x="0" y="195897"/>
                  </a:lnTo>
                  <a:lnTo>
                    <a:pt x="1407820" y="195897"/>
                  </a:lnTo>
                  <a:lnTo>
                    <a:pt x="1407820" y="181965"/>
                  </a:lnTo>
                  <a:close/>
                </a:path>
                <a:path w="1408429" h="499110">
                  <a:moveTo>
                    <a:pt x="1407820" y="0"/>
                  </a:moveTo>
                  <a:lnTo>
                    <a:pt x="0" y="0"/>
                  </a:lnTo>
                  <a:lnTo>
                    <a:pt x="0" y="13931"/>
                  </a:lnTo>
                  <a:lnTo>
                    <a:pt x="1407820" y="13931"/>
                  </a:lnTo>
                  <a:lnTo>
                    <a:pt x="1407820" y="0"/>
                  </a:lnTo>
                  <a:close/>
                </a:path>
              </a:pathLst>
            </a:custGeom>
            <a:solidFill>
              <a:srgbClr val="000000"/>
            </a:solidFill>
          </p:spPr>
          <p:txBody>
            <a:bodyPr wrap="square" lIns="0" tIns="0" rIns="0" bIns="0" rtlCol="0"/>
            <a:lstStyle/>
            <a:p/>
          </p:txBody>
        </p:sp>
        <p:sp>
          <p:nvSpPr>
            <p:cNvPr id="27" name="object 27" descr=""/>
            <p:cNvSpPr/>
            <p:nvPr/>
          </p:nvSpPr>
          <p:spPr>
            <a:xfrm>
              <a:off x="2442078" y="2015664"/>
              <a:ext cx="661670" cy="1203325"/>
            </a:xfrm>
            <a:custGeom>
              <a:avLst/>
              <a:gdLst/>
              <a:ahLst/>
              <a:cxnLst/>
              <a:rect l="l" t="t" r="r" b="b"/>
              <a:pathLst>
                <a:path w="661669" h="1203325">
                  <a:moveTo>
                    <a:pt x="661070" y="0"/>
                  </a:moveTo>
                  <a:lnTo>
                    <a:pt x="0" y="0"/>
                  </a:lnTo>
                  <a:lnTo>
                    <a:pt x="0" y="1202781"/>
                  </a:lnTo>
                  <a:lnTo>
                    <a:pt x="661071" y="1202781"/>
                  </a:lnTo>
                  <a:lnTo>
                    <a:pt x="661070" y="0"/>
                  </a:lnTo>
                  <a:close/>
                </a:path>
              </a:pathLst>
            </a:custGeom>
            <a:solidFill>
              <a:srgbClr val="FFCCCC"/>
            </a:solidFill>
          </p:spPr>
          <p:txBody>
            <a:bodyPr wrap="square" lIns="0" tIns="0" rIns="0" bIns="0" rtlCol="0"/>
            <a:lstStyle/>
            <a:p/>
          </p:txBody>
        </p:sp>
        <p:sp>
          <p:nvSpPr>
            <p:cNvPr id="28" name="object 28" descr=""/>
            <p:cNvSpPr/>
            <p:nvPr/>
          </p:nvSpPr>
          <p:spPr>
            <a:xfrm>
              <a:off x="2442078" y="2015664"/>
              <a:ext cx="661670" cy="1203325"/>
            </a:xfrm>
            <a:custGeom>
              <a:avLst/>
              <a:gdLst/>
              <a:ahLst/>
              <a:cxnLst/>
              <a:rect l="l" t="t" r="r" b="b"/>
              <a:pathLst>
                <a:path w="661669" h="1203325">
                  <a:moveTo>
                    <a:pt x="0" y="1202781"/>
                  </a:moveTo>
                  <a:lnTo>
                    <a:pt x="661071" y="1202781"/>
                  </a:lnTo>
                  <a:lnTo>
                    <a:pt x="661070" y="0"/>
                  </a:lnTo>
                  <a:lnTo>
                    <a:pt x="0" y="0"/>
                  </a:lnTo>
                  <a:lnTo>
                    <a:pt x="0" y="1202781"/>
                  </a:lnTo>
                  <a:close/>
                </a:path>
              </a:pathLst>
            </a:custGeom>
            <a:ln w="24884">
              <a:solidFill>
                <a:srgbClr val="000000"/>
              </a:solidFill>
            </a:ln>
          </p:spPr>
          <p:txBody>
            <a:bodyPr wrap="square" lIns="0" tIns="0" rIns="0" bIns="0" rtlCol="0"/>
            <a:lstStyle/>
            <a:p/>
          </p:txBody>
        </p:sp>
        <p:sp>
          <p:nvSpPr>
            <p:cNvPr id="29" name="object 29" descr=""/>
            <p:cNvSpPr/>
            <p:nvPr/>
          </p:nvSpPr>
          <p:spPr>
            <a:xfrm>
              <a:off x="2442078" y="4794509"/>
              <a:ext cx="661670" cy="1198245"/>
            </a:xfrm>
            <a:custGeom>
              <a:avLst/>
              <a:gdLst/>
              <a:ahLst/>
              <a:cxnLst/>
              <a:rect l="l" t="t" r="r" b="b"/>
              <a:pathLst>
                <a:path w="661669" h="1198245">
                  <a:moveTo>
                    <a:pt x="661070" y="0"/>
                  </a:moveTo>
                  <a:lnTo>
                    <a:pt x="0" y="0"/>
                  </a:lnTo>
                  <a:lnTo>
                    <a:pt x="0" y="1197989"/>
                  </a:lnTo>
                  <a:lnTo>
                    <a:pt x="661071" y="1197989"/>
                  </a:lnTo>
                  <a:lnTo>
                    <a:pt x="661070" y="0"/>
                  </a:lnTo>
                  <a:close/>
                </a:path>
              </a:pathLst>
            </a:custGeom>
            <a:solidFill>
              <a:srgbClr val="FFCCCC"/>
            </a:solidFill>
          </p:spPr>
          <p:txBody>
            <a:bodyPr wrap="square" lIns="0" tIns="0" rIns="0" bIns="0" rtlCol="0"/>
            <a:lstStyle/>
            <a:p/>
          </p:txBody>
        </p:sp>
        <p:sp>
          <p:nvSpPr>
            <p:cNvPr id="30" name="object 30" descr=""/>
            <p:cNvSpPr/>
            <p:nvPr/>
          </p:nvSpPr>
          <p:spPr>
            <a:xfrm>
              <a:off x="2442078" y="4794509"/>
              <a:ext cx="661670" cy="1198245"/>
            </a:xfrm>
            <a:custGeom>
              <a:avLst/>
              <a:gdLst/>
              <a:ahLst/>
              <a:cxnLst/>
              <a:rect l="l" t="t" r="r" b="b"/>
              <a:pathLst>
                <a:path w="661669" h="1198245">
                  <a:moveTo>
                    <a:pt x="0" y="1197989"/>
                  </a:moveTo>
                  <a:lnTo>
                    <a:pt x="661071" y="1197989"/>
                  </a:lnTo>
                  <a:lnTo>
                    <a:pt x="661070" y="0"/>
                  </a:lnTo>
                  <a:lnTo>
                    <a:pt x="0" y="0"/>
                  </a:lnTo>
                  <a:lnTo>
                    <a:pt x="0" y="1197989"/>
                  </a:lnTo>
                  <a:close/>
                </a:path>
              </a:pathLst>
            </a:custGeom>
            <a:ln w="24864">
              <a:solidFill>
                <a:srgbClr val="000000"/>
              </a:solidFill>
            </a:ln>
          </p:spPr>
          <p:txBody>
            <a:bodyPr wrap="square" lIns="0" tIns="0" rIns="0" bIns="0" rtlCol="0"/>
            <a:lstStyle/>
            <a:p/>
          </p:txBody>
        </p:sp>
        <p:sp>
          <p:nvSpPr>
            <p:cNvPr id="31" name="object 31" descr=""/>
            <p:cNvSpPr/>
            <p:nvPr/>
          </p:nvSpPr>
          <p:spPr>
            <a:xfrm>
              <a:off x="7222166" y="803843"/>
              <a:ext cx="661670" cy="1454785"/>
            </a:xfrm>
            <a:custGeom>
              <a:avLst/>
              <a:gdLst/>
              <a:ahLst/>
              <a:cxnLst/>
              <a:rect l="l" t="t" r="r" b="b"/>
              <a:pathLst>
                <a:path w="661670" h="1454785">
                  <a:moveTo>
                    <a:pt x="661070" y="0"/>
                  </a:moveTo>
                  <a:lnTo>
                    <a:pt x="0" y="0"/>
                  </a:lnTo>
                  <a:lnTo>
                    <a:pt x="0" y="1454526"/>
                  </a:lnTo>
                  <a:lnTo>
                    <a:pt x="661071" y="1454526"/>
                  </a:lnTo>
                  <a:lnTo>
                    <a:pt x="661070" y="0"/>
                  </a:lnTo>
                  <a:close/>
                </a:path>
              </a:pathLst>
            </a:custGeom>
            <a:solidFill>
              <a:srgbClr val="FFCCCC"/>
            </a:solidFill>
          </p:spPr>
          <p:txBody>
            <a:bodyPr wrap="square" lIns="0" tIns="0" rIns="0" bIns="0" rtlCol="0"/>
            <a:lstStyle/>
            <a:p/>
          </p:txBody>
        </p:sp>
        <p:sp>
          <p:nvSpPr>
            <p:cNvPr id="32" name="object 32" descr=""/>
            <p:cNvSpPr/>
            <p:nvPr/>
          </p:nvSpPr>
          <p:spPr>
            <a:xfrm>
              <a:off x="3755429" y="803843"/>
              <a:ext cx="4128135" cy="2116455"/>
            </a:xfrm>
            <a:custGeom>
              <a:avLst/>
              <a:gdLst/>
              <a:ahLst/>
              <a:cxnLst/>
              <a:rect l="l" t="t" r="r" b="b"/>
              <a:pathLst>
                <a:path w="4128134" h="2116455">
                  <a:moveTo>
                    <a:pt x="3466737" y="1454526"/>
                  </a:moveTo>
                  <a:lnTo>
                    <a:pt x="4127808" y="1454526"/>
                  </a:lnTo>
                  <a:lnTo>
                    <a:pt x="4127808" y="0"/>
                  </a:lnTo>
                  <a:lnTo>
                    <a:pt x="3466737" y="0"/>
                  </a:lnTo>
                  <a:lnTo>
                    <a:pt x="3466737" y="1454526"/>
                  </a:lnTo>
                  <a:close/>
                </a:path>
                <a:path w="4128134" h="2116455">
                  <a:moveTo>
                    <a:pt x="0" y="2116433"/>
                  </a:moveTo>
                  <a:lnTo>
                    <a:pt x="2153151" y="2116433"/>
                  </a:lnTo>
                </a:path>
              </a:pathLst>
            </a:custGeom>
            <a:ln w="21063">
              <a:solidFill>
                <a:srgbClr val="000000"/>
              </a:solidFill>
            </a:ln>
          </p:spPr>
          <p:txBody>
            <a:bodyPr wrap="square" lIns="0" tIns="0" rIns="0" bIns="0" rtlCol="0"/>
            <a:lstStyle/>
            <a:p/>
          </p:txBody>
        </p:sp>
      </p:grpSp>
      <p:sp>
        <p:nvSpPr>
          <p:cNvPr id="33" name="object 33" descr=""/>
          <p:cNvSpPr txBox="1"/>
          <p:nvPr/>
        </p:nvSpPr>
        <p:spPr>
          <a:xfrm>
            <a:off x="4350221" y="3317000"/>
            <a:ext cx="449580" cy="238760"/>
          </a:xfrm>
          <a:prstGeom prst="rect">
            <a:avLst/>
          </a:prstGeom>
        </p:spPr>
        <p:txBody>
          <a:bodyPr wrap="square" lIns="0" tIns="12700" rIns="0" bIns="0" rtlCol="0" vert="horz">
            <a:spAutoFit/>
          </a:bodyPr>
          <a:lstStyle/>
          <a:p>
            <a:pPr marL="38100">
              <a:lnSpc>
                <a:spcPct val="100000"/>
              </a:lnSpc>
              <a:spcBef>
                <a:spcPts val="100"/>
              </a:spcBef>
            </a:pPr>
            <a:r>
              <a:rPr dirty="0" sz="1400" spc="710" b="1">
                <a:latin typeface="Times New Roman"/>
                <a:cs typeface="Times New Roman"/>
              </a:rPr>
              <a:t>V</a:t>
            </a:r>
            <a:r>
              <a:rPr dirty="0" baseline="-12345" sz="1350" spc="1064" b="1">
                <a:latin typeface="Times New Roman"/>
                <a:cs typeface="Times New Roman"/>
              </a:rPr>
              <a:t>2</a:t>
            </a:r>
            <a:endParaRPr baseline="-12345" sz="1350">
              <a:latin typeface="Times New Roman"/>
              <a:cs typeface="Times New Roman"/>
            </a:endParaRPr>
          </a:p>
        </p:txBody>
      </p:sp>
      <p:sp>
        <p:nvSpPr>
          <p:cNvPr id="34" name="object 34" descr=""/>
          <p:cNvSpPr txBox="1"/>
          <p:nvPr/>
        </p:nvSpPr>
        <p:spPr>
          <a:xfrm>
            <a:off x="2646138" y="2006960"/>
            <a:ext cx="205740" cy="238760"/>
          </a:xfrm>
          <a:prstGeom prst="rect">
            <a:avLst/>
          </a:prstGeom>
        </p:spPr>
        <p:txBody>
          <a:bodyPr wrap="square" lIns="0" tIns="12700" rIns="0" bIns="0" rtlCol="0" vert="horz">
            <a:spAutoFit/>
          </a:bodyPr>
          <a:lstStyle/>
          <a:p>
            <a:pPr marL="12700">
              <a:lnSpc>
                <a:spcPct val="100000"/>
              </a:lnSpc>
              <a:spcBef>
                <a:spcPts val="100"/>
              </a:spcBef>
            </a:pPr>
            <a:r>
              <a:rPr dirty="0" sz="1400" spc="660">
                <a:latin typeface="Times New Roman"/>
                <a:cs typeface="Times New Roman"/>
              </a:rPr>
              <a:t>1</a:t>
            </a:r>
            <a:endParaRPr sz="1400">
              <a:latin typeface="Times New Roman"/>
              <a:cs typeface="Times New Roman"/>
            </a:endParaRPr>
          </a:p>
        </p:txBody>
      </p:sp>
      <p:sp>
        <p:nvSpPr>
          <p:cNvPr id="35" name="object 35" descr=""/>
          <p:cNvSpPr txBox="1"/>
          <p:nvPr/>
        </p:nvSpPr>
        <p:spPr>
          <a:xfrm>
            <a:off x="2646138" y="2249646"/>
            <a:ext cx="205740" cy="238760"/>
          </a:xfrm>
          <a:prstGeom prst="rect">
            <a:avLst/>
          </a:prstGeom>
        </p:spPr>
        <p:txBody>
          <a:bodyPr wrap="square" lIns="0" tIns="12700" rIns="0" bIns="0" rtlCol="0" vert="horz">
            <a:spAutoFit/>
          </a:bodyPr>
          <a:lstStyle/>
          <a:p>
            <a:pPr marL="12700">
              <a:lnSpc>
                <a:spcPct val="100000"/>
              </a:lnSpc>
              <a:spcBef>
                <a:spcPts val="100"/>
              </a:spcBef>
            </a:pPr>
            <a:r>
              <a:rPr dirty="0" sz="1400" spc="660">
                <a:latin typeface="Times New Roman"/>
                <a:cs typeface="Times New Roman"/>
              </a:rPr>
              <a:t>2</a:t>
            </a:r>
            <a:endParaRPr sz="1400">
              <a:latin typeface="Times New Roman"/>
              <a:cs typeface="Times New Roman"/>
            </a:endParaRPr>
          </a:p>
        </p:txBody>
      </p:sp>
      <p:sp>
        <p:nvSpPr>
          <p:cNvPr id="36" name="object 36" descr=""/>
          <p:cNvSpPr txBox="1"/>
          <p:nvPr/>
        </p:nvSpPr>
        <p:spPr>
          <a:xfrm>
            <a:off x="2646138" y="2491944"/>
            <a:ext cx="205740" cy="238760"/>
          </a:xfrm>
          <a:prstGeom prst="rect">
            <a:avLst/>
          </a:prstGeom>
        </p:spPr>
        <p:txBody>
          <a:bodyPr wrap="square" lIns="0" tIns="12700" rIns="0" bIns="0" rtlCol="0" vert="horz">
            <a:spAutoFit/>
          </a:bodyPr>
          <a:lstStyle/>
          <a:p>
            <a:pPr marL="12700">
              <a:lnSpc>
                <a:spcPct val="100000"/>
              </a:lnSpc>
              <a:spcBef>
                <a:spcPts val="100"/>
              </a:spcBef>
            </a:pPr>
            <a:r>
              <a:rPr dirty="0" sz="1400" spc="660">
                <a:latin typeface="Times New Roman"/>
                <a:cs typeface="Times New Roman"/>
              </a:rPr>
              <a:t>3</a:t>
            </a:r>
            <a:endParaRPr sz="1400">
              <a:latin typeface="Times New Roman"/>
              <a:cs typeface="Times New Roman"/>
            </a:endParaRPr>
          </a:p>
        </p:txBody>
      </p:sp>
      <p:sp>
        <p:nvSpPr>
          <p:cNvPr id="37" name="object 37" descr=""/>
          <p:cNvSpPr txBox="1"/>
          <p:nvPr/>
        </p:nvSpPr>
        <p:spPr>
          <a:xfrm>
            <a:off x="2646138" y="2948994"/>
            <a:ext cx="205740" cy="238760"/>
          </a:xfrm>
          <a:prstGeom prst="rect">
            <a:avLst/>
          </a:prstGeom>
        </p:spPr>
        <p:txBody>
          <a:bodyPr wrap="square" lIns="0" tIns="12700" rIns="0" bIns="0" rtlCol="0" vert="horz">
            <a:spAutoFit/>
          </a:bodyPr>
          <a:lstStyle/>
          <a:p>
            <a:pPr marL="12700">
              <a:lnSpc>
                <a:spcPct val="100000"/>
              </a:lnSpc>
              <a:spcBef>
                <a:spcPts val="100"/>
              </a:spcBef>
            </a:pPr>
            <a:r>
              <a:rPr dirty="0" sz="1400" spc="660">
                <a:latin typeface="Times New Roman"/>
                <a:cs typeface="Times New Roman"/>
              </a:rPr>
              <a:t>6</a:t>
            </a:r>
            <a:endParaRPr sz="1400">
              <a:latin typeface="Times New Roman"/>
              <a:cs typeface="Times New Roman"/>
            </a:endParaRPr>
          </a:p>
        </p:txBody>
      </p:sp>
      <p:sp>
        <p:nvSpPr>
          <p:cNvPr id="38" name="object 38" descr=""/>
          <p:cNvSpPr txBox="1"/>
          <p:nvPr/>
        </p:nvSpPr>
        <p:spPr>
          <a:xfrm>
            <a:off x="2567252" y="2723961"/>
            <a:ext cx="385445" cy="238760"/>
          </a:xfrm>
          <a:prstGeom prst="rect">
            <a:avLst/>
          </a:prstGeom>
        </p:spPr>
        <p:txBody>
          <a:bodyPr wrap="square" lIns="0" tIns="12700" rIns="0" bIns="0" rtlCol="0" vert="horz">
            <a:spAutoFit/>
          </a:bodyPr>
          <a:lstStyle/>
          <a:p>
            <a:pPr marL="12700">
              <a:lnSpc>
                <a:spcPct val="100000"/>
              </a:lnSpc>
              <a:spcBef>
                <a:spcPts val="100"/>
              </a:spcBef>
            </a:pPr>
            <a:r>
              <a:rPr dirty="0" sz="1400" spc="1375">
                <a:latin typeface="宋体"/>
                <a:cs typeface="宋体"/>
              </a:rPr>
              <a:t>…</a:t>
            </a:r>
            <a:endParaRPr sz="1400">
              <a:latin typeface="宋体"/>
              <a:cs typeface="宋体"/>
            </a:endParaRPr>
          </a:p>
        </p:txBody>
      </p:sp>
      <p:sp>
        <p:nvSpPr>
          <p:cNvPr id="39" name="object 39" descr=""/>
          <p:cNvSpPr/>
          <p:nvPr/>
        </p:nvSpPr>
        <p:spPr>
          <a:xfrm>
            <a:off x="2442070" y="2246553"/>
            <a:ext cx="661035" cy="736600"/>
          </a:xfrm>
          <a:custGeom>
            <a:avLst/>
            <a:gdLst/>
            <a:ahLst/>
            <a:cxnLst/>
            <a:rect l="l" t="t" r="r" b="b"/>
            <a:pathLst>
              <a:path w="661035" h="736600">
                <a:moveTo>
                  <a:pt x="661035" y="722630"/>
                </a:moveTo>
                <a:lnTo>
                  <a:pt x="0" y="722630"/>
                </a:lnTo>
                <a:lnTo>
                  <a:pt x="0" y="736561"/>
                </a:lnTo>
                <a:lnTo>
                  <a:pt x="661035" y="736561"/>
                </a:lnTo>
                <a:lnTo>
                  <a:pt x="661035" y="722630"/>
                </a:lnTo>
                <a:close/>
              </a:path>
              <a:path w="661035" h="736600">
                <a:moveTo>
                  <a:pt x="661035" y="480136"/>
                </a:moveTo>
                <a:lnTo>
                  <a:pt x="0" y="480136"/>
                </a:lnTo>
                <a:lnTo>
                  <a:pt x="0" y="494080"/>
                </a:lnTo>
                <a:lnTo>
                  <a:pt x="661035" y="494080"/>
                </a:lnTo>
                <a:lnTo>
                  <a:pt x="661035" y="480136"/>
                </a:lnTo>
                <a:close/>
              </a:path>
              <a:path w="661035" h="736600">
                <a:moveTo>
                  <a:pt x="661035" y="242112"/>
                </a:moveTo>
                <a:lnTo>
                  <a:pt x="0" y="242112"/>
                </a:lnTo>
                <a:lnTo>
                  <a:pt x="0" y="256044"/>
                </a:lnTo>
                <a:lnTo>
                  <a:pt x="661035" y="256044"/>
                </a:lnTo>
                <a:lnTo>
                  <a:pt x="661035" y="242112"/>
                </a:lnTo>
                <a:close/>
              </a:path>
              <a:path w="661035" h="736600">
                <a:moveTo>
                  <a:pt x="661035" y="0"/>
                </a:moveTo>
                <a:lnTo>
                  <a:pt x="0" y="0"/>
                </a:lnTo>
                <a:lnTo>
                  <a:pt x="0" y="13944"/>
                </a:lnTo>
                <a:lnTo>
                  <a:pt x="661035" y="13944"/>
                </a:lnTo>
                <a:lnTo>
                  <a:pt x="661035" y="0"/>
                </a:lnTo>
                <a:close/>
              </a:path>
            </a:pathLst>
          </a:custGeom>
          <a:solidFill>
            <a:srgbClr val="000000"/>
          </a:solidFill>
        </p:spPr>
        <p:txBody>
          <a:bodyPr wrap="square" lIns="0" tIns="0" rIns="0" bIns="0" rtlCol="0"/>
          <a:lstStyle/>
          <a:p/>
        </p:txBody>
      </p:sp>
      <p:sp>
        <p:nvSpPr>
          <p:cNvPr id="40" name="object 40" descr=""/>
          <p:cNvSpPr txBox="1"/>
          <p:nvPr/>
        </p:nvSpPr>
        <p:spPr>
          <a:xfrm>
            <a:off x="4375621" y="1209645"/>
            <a:ext cx="285750" cy="238760"/>
          </a:xfrm>
          <a:prstGeom prst="rect">
            <a:avLst/>
          </a:prstGeom>
        </p:spPr>
        <p:txBody>
          <a:bodyPr wrap="square" lIns="0" tIns="12700" rIns="0" bIns="0" rtlCol="0" vert="horz">
            <a:spAutoFit/>
          </a:bodyPr>
          <a:lstStyle/>
          <a:p>
            <a:pPr marL="12700">
              <a:lnSpc>
                <a:spcPct val="100000"/>
              </a:lnSpc>
              <a:spcBef>
                <a:spcPts val="100"/>
              </a:spcBef>
            </a:pPr>
            <a:r>
              <a:rPr dirty="0" sz="1400" spc="980" b="1">
                <a:latin typeface="Times New Roman"/>
                <a:cs typeface="Times New Roman"/>
              </a:rPr>
              <a:t>V</a:t>
            </a:r>
            <a:endParaRPr sz="1400">
              <a:latin typeface="Times New Roman"/>
              <a:cs typeface="Times New Roman"/>
            </a:endParaRPr>
          </a:p>
        </p:txBody>
      </p:sp>
      <p:sp>
        <p:nvSpPr>
          <p:cNvPr id="41" name="object 41" descr=""/>
          <p:cNvSpPr txBox="1"/>
          <p:nvPr/>
        </p:nvSpPr>
        <p:spPr>
          <a:xfrm>
            <a:off x="4630332" y="1298514"/>
            <a:ext cx="144145" cy="166370"/>
          </a:xfrm>
          <a:prstGeom prst="rect">
            <a:avLst/>
          </a:prstGeom>
        </p:spPr>
        <p:txBody>
          <a:bodyPr wrap="square" lIns="0" tIns="15240" rIns="0" bIns="0" rtlCol="0" vert="horz">
            <a:spAutoFit/>
          </a:bodyPr>
          <a:lstStyle/>
          <a:p>
            <a:pPr marL="12700">
              <a:lnSpc>
                <a:spcPct val="100000"/>
              </a:lnSpc>
              <a:spcBef>
                <a:spcPts val="120"/>
              </a:spcBef>
            </a:pPr>
            <a:r>
              <a:rPr dirty="0" sz="900" spc="430" b="1">
                <a:latin typeface="Times New Roman"/>
                <a:cs typeface="Times New Roman"/>
              </a:rPr>
              <a:t>0</a:t>
            </a:r>
            <a:endParaRPr sz="900">
              <a:latin typeface="Times New Roman"/>
              <a:cs typeface="Times New Roman"/>
            </a:endParaRPr>
          </a:p>
        </p:txBody>
      </p:sp>
      <p:sp>
        <p:nvSpPr>
          <p:cNvPr id="42" name="object 42" descr=""/>
          <p:cNvSpPr txBox="1"/>
          <p:nvPr/>
        </p:nvSpPr>
        <p:spPr>
          <a:xfrm>
            <a:off x="4350221" y="2296205"/>
            <a:ext cx="449580" cy="238760"/>
          </a:xfrm>
          <a:prstGeom prst="rect">
            <a:avLst/>
          </a:prstGeom>
        </p:spPr>
        <p:txBody>
          <a:bodyPr wrap="square" lIns="0" tIns="12700" rIns="0" bIns="0" rtlCol="0" vert="horz">
            <a:spAutoFit/>
          </a:bodyPr>
          <a:lstStyle/>
          <a:p>
            <a:pPr marL="38100">
              <a:lnSpc>
                <a:spcPct val="100000"/>
              </a:lnSpc>
              <a:spcBef>
                <a:spcPts val="100"/>
              </a:spcBef>
            </a:pPr>
            <a:r>
              <a:rPr dirty="0" sz="1400" spc="710" b="1">
                <a:latin typeface="Times New Roman"/>
                <a:cs typeface="Times New Roman"/>
              </a:rPr>
              <a:t>V</a:t>
            </a:r>
            <a:r>
              <a:rPr dirty="0" baseline="-12345" sz="1350" spc="1064" b="1">
                <a:latin typeface="Times New Roman"/>
                <a:cs typeface="Times New Roman"/>
              </a:rPr>
              <a:t>1</a:t>
            </a:r>
            <a:endParaRPr baseline="-12345" sz="1350">
              <a:latin typeface="Times New Roman"/>
              <a:cs typeface="Times New Roman"/>
            </a:endParaRPr>
          </a:p>
        </p:txBody>
      </p:sp>
      <p:sp>
        <p:nvSpPr>
          <p:cNvPr id="43" name="object 43" descr=""/>
          <p:cNvSpPr txBox="1"/>
          <p:nvPr/>
        </p:nvSpPr>
        <p:spPr>
          <a:xfrm>
            <a:off x="1745775" y="2113268"/>
            <a:ext cx="385445" cy="584835"/>
          </a:xfrm>
          <a:prstGeom prst="rect">
            <a:avLst/>
          </a:prstGeom>
        </p:spPr>
        <p:txBody>
          <a:bodyPr wrap="square" lIns="0" tIns="52069" rIns="0" bIns="0" rtlCol="0" vert="horz">
            <a:spAutoFit/>
          </a:bodyPr>
          <a:lstStyle/>
          <a:p>
            <a:pPr algn="just" marL="12700" marR="5080">
              <a:lnSpc>
                <a:spcPts val="1360"/>
              </a:lnSpc>
              <a:spcBef>
                <a:spcPts val="409"/>
              </a:spcBef>
            </a:pPr>
            <a:r>
              <a:rPr dirty="0" sz="1400" spc="1375" b="1">
                <a:solidFill>
                  <a:srgbClr val="0000FF"/>
                </a:solidFill>
                <a:latin typeface="宋体"/>
                <a:cs typeface="宋体"/>
              </a:rPr>
              <a:t>浮点加</a:t>
            </a:r>
            <a:endParaRPr sz="1400">
              <a:latin typeface="宋体"/>
              <a:cs typeface="宋体"/>
            </a:endParaRPr>
          </a:p>
        </p:txBody>
      </p:sp>
      <p:sp>
        <p:nvSpPr>
          <p:cNvPr id="44" name="object 44" descr=""/>
          <p:cNvSpPr txBox="1"/>
          <p:nvPr/>
        </p:nvSpPr>
        <p:spPr>
          <a:xfrm>
            <a:off x="2455681" y="4808111"/>
            <a:ext cx="634365" cy="217170"/>
          </a:xfrm>
          <a:prstGeom prst="rect">
            <a:avLst/>
          </a:prstGeom>
          <a:solidFill>
            <a:srgbClr val="FFCCCC"/>
          </a:solidFill>
        </p:spPr>
        <p:txBody>
          <a:bodyPr wrap="square" lIns="0" tIns="0" rIns="0" bIns="0" rtlCol="0" vert="horz">
            <a:spAutoFit/>
          </a:bodyPr>
          <a:lstStyle/>
          <a:p>
            <a:pPr marL="202565">
              <a:lnSpc>
                <a:spcPts val="1600"/>
              </a:lnSpc>
            </a:pPr>
            <a:r>
              <a:rPr dirty="0" sz="1400" spc="660">
                <a:latin typeface="Times New Roman"/>
                <a:cs typeface="Times New Roman"/>
              </a:rPr>
              <a:t>1</a:t>
            </a:r>
            <a:endParaRPr sz="1400">
              <a:latin typeface="Times New Roman"/>
              <a:cs typeface="Times New Roman"/>
            </a:endParaRPr>
          </a:p>
        </p:txBody>
      </p:sp>
      <p:sp>
        <p:nvSpPr>
          <p:cNvPr id="45" name="object 45" descr=""/>
          <p:cNvSpPr txBox="1"/>
          <p:nvPr/>
        </p:nvSpPr>
        <p:spPr>
          <a:xfrm>
            <a:off x="2455681" y="5038867"/>
            <a:ext cx="634365" cy="224154"/>
          </a:xfrm>
          <a:prstGeom prst="rect">
            <a:avLst/>
          </a:prstGeom>
          <a:solidFill>
            <a:srgbClr val="FFCCCC"/>
          </a:solidFill>
        </p:spPr>
        <p:txBody>
          <a:bodyPr wrap="square" lIns="0" tIns="1905" rIns="0" bIns="0" rtlCol="0" vert="horz">
            <a:spAutoFit/>
          </a:bodyPr>
          <a:lstStyle/>
          <a:p>
            <a:pPr marL="202565">
              <a:lnSpc>
                <a:spcPct val="100000"/>
              </a:lnSpc>
              <a:spcBef>
                <a:spcPts val="15"/>
              </a:spcBef>
            </a:pPr>
            <a:r>
              <a:rPr dirty="0" sz="1400" spc="660">
                <a:latin typeface="Times New Roman"/>
                <a:cs typeface="Times New Roman"/>
              </a:rPr>
              <a:t>2</a:t>
            </a:r>
            <a:endParaRPr sz="1400">
              <a:latin typeface="Times New Roman"/>
              <a:cs typeface="Times New Roman"/>
            </a:endParaRPr>
          </a:p>
        </p:txBody>
      </p:sp>
      <p:sp>
        <p:nvSpPr>
          <p:cNvPr id="46" name="object 46" descr=""/>
          <p:cNvSpPr txBox="1"/>
          <p:nvPr/>
        </p:nvSpPr>
        <p:spPr>
          <a:xfrm>
            <a:off x="2455681" y="5276742"/>
            <a:ext cx="634365" cy="170815"/>
          </a:xfrm>
          <a:prstGeom prst="rect">
            <a:avLst/>
          </a:prstGeom>
          <a:solidFill>
            <a:srgbClr val="FFCCCC"/>
          </a:solidFill>
        </p:spPr>
        <p:txBody>
          <a:bodyPr wrap="square" lIns="0" tIns="5715" rIns="0" bIns="0" rtlCol="0" vert="horz">
            <a:spAutoFit/>
          </a:bodyPr>
          <a:lstStyle/>
          <a:p>
            <a:pPr marL="202565">
              <a:lnSpc>
                <a:spcPts val="1295"/>
              </a:lnSpc>
              <a:spcBef>
                <a:spcPts val="45"/>
              </a:spcBef>
            </a:pPr>
            <a:r>
              <a:rPr dirty="0" sz="1400" spc="660">
                <a:latin typeface="Times New Roman"/>
                <a:cs typeface="Times New Roman"/>
              </a:rPr>
              <a:t>3</a:t>
            </a:r>
            <a:endParaRPr sz="1400">
              <a:latin typeface="Times New Roman"/>
              <a:cs typeface="Times New Roman"/>
            </a:endParaRPr>
          </a:p>
        </p:txBody>
      </p:sp>
      <p:sp>
        <p:nvSpPr>
          <p:cNvPr id="47" name="object 47" descr=""/>
          <p:cNvSpPr txBox="1"/>
          <p:nvPr/>
        </p:nvSpPr>
        <p:spPr>
          <a:xfrm>
            <a:off x="2455681" y="5761590"/>
            <a:ext cx="634365" cy="247650"/>
          </a:xfrm>
          <a:prstGeom prst="rect">
            <a:avLst/>
          </a:prstGeom>
          <a:solidFill>
            <a:srgbClr val="FFCCCC"/>
          </a:solidFill>
        </p:spPr>
        <p:txBody>
          <a:bodyPr wrap="square" lIns="0" tIns="0" rIns="0" bIns="0" rtlCol="0" vert="horz">
            <a:spAutoFit/>
          </a:bodyPr>
          <a:lstStyle/>
          <a:p>
            <a:pPr marL="202565">
              <a:lnSpc>
                <a:spcPts val="1510"/>
              </a:lnSpc>
            </a:pPr>
            <a:r>
              <a:rPr dirty="0" sz="1400" spc="660">
                <a:latin typeface="Times New Roman"/>
                <a:cs typeface="Times New Roman"/>
              </a:rPr>
              <a:t>7</a:t>
            </a:r>
            <a:endParaRPr sz="1400">
              <a:latin typeface="Times New Roman"/>
              <a:cs typeface="Times New Roman"/>
            </a:endParaRPr>
          </a:p>
        </p:txBody>
      </p:sp>
      <p:sp>
        <p:nvSpPr>
          <p:cNvPr id="48" name="object 48" descr=""/>
          <p:cNvSpPr txBox="1"/>
          <p:nvPr/>
        </p:nvSpPr>
        <p:spPr>
          <a:xfrm>
            <a:off x="2455681" y="5461249"/>
            <a:ext cx="634365" cy="287020"/>
          </a:xfrm>
          <a:prstGeom prst="rect">
            <a:avLst/>
          </a:prstGeom>
          <a:solidFill>
            <a:srgbClr val="FFCCCC"/>
          </a:solidFill>
        </p:spPr>
        <p:txBody>
          <a:bodyPr wrap="square" lIns="0" tIns="53975" rIns="0" bIns="0" rtlCol="0" vert="horz">
            <a:spAutoFit/>
          </a:bodyPr>
          <a:lstStyle/>
          <a:p>
            <a:pPr marL="123825">
              <a:lnSpc>
                <a:spcPct val="100000"/>
              </a:lnSpc>
              <a:spcBef>
                <a:spcPts val="425"/>
              </a:spcBef>
            </a:pPr>
            <a:r>
              <a:rPr dirty="0" sz="1400" spc="1375">
                <a:latin typeface="宋体"/>
                <a:cs typeface="宋体"/>
              </a:rPr>
              <a:t>…</a:t>
            </a:r>
            <a:endParaRPr sz="1400">
              <a:latin typeface="宋体"/>
              <a:cs typeface="宋体"/>
            </a:endParaRPr>
          </a:p>
        </p:txBody>
      </p:sp>
      <p:grpSp>
        <p:nvGrpSpPr>
          <p:cNvPr id="49" name="object 49" descr=""/>
          <p:cNvGrpSpPr/>
          <p:nvPr/>
        </p:nvGrpSpPr>
        <p:grpSpPr>
          <a:xfrm>
            <a:off x="2442078" y="-10414"/>
            <a:ext cx="3893820" cy="5772150"/>
            <a:chOff x="2442078" y="-10414"/>
            <a:chExt cx="3893820" cy="5772150"/>
          </a:xfrm>
        </p:grpSpPr>
        <p:sp>
          <p:nvSpPr>
            <p:cNvPr id="50" name="object 50" descr=""/>
            <p:cNvSpPr/>
            <p:nvPr/>
          </p:nvSpPr>
          <p:spPr>
            <a:xfrm>
              <a:off x="2442070" y="5024932"/>
              <a:ext cx="661035" cy="737235"/>
            </a:xfrm>
            <a:custGeom>
              <a:avLst/>
              <a:gdLst/>
              <a:ahLst/>
              <a:cxnLst/>
              <a:rect l="l" t="t" r="r" b="b"/>
              <a:pathLst>
                <a:path w="661035" h="737235">
                  <a:moveTo>
                    <a:pt x="661035" y="722731"/>
                  </a:moveTo>
                  <a:lnTo>
                    <a:pt x="0" y="722731"/>
                  </a:lnTo>
                  <a:lnTo>
                    <a:pt x="0" y="736663"/>
                  </a:lnTo>
                  <a:lnTo>
                    <a:pt x="661035" y="736663"/>
                  </a:lnTo>
                  <a:lnTo>
                    <a:pt x="661035" y="722731"/>
                  </a:lnTo>
                  <a:close/>
                </a:path>
                <a:path w="661035" h="737235">
                  <a:moveTo>
                    <a:pt x="661035" y="480542"/>
                  </a:moveTo>
                  <a:lnTo>
                    <a:pt x="0" y="480542"/>
                  </a:lnTo>
                  <a:lnTo>
                    <a:pt x="0" y="494487"/>
                  </a:lnTo>
                  <a:lnTo>
                    <a:pt x="661035" y="494487"/>
                  </a:lnTo>
                  <a:lnTo>
                    <a:pt x="661035" y="480542"/>
                  </a:lnTo>
                  <a:close/>
                </a:path>
                <a:path w="661035" h="737235">
                  <a:moveTo>
                    <a:pt x="661035" y="237883"/>
                  </a:moveTo>
                  <a:lnTo>
                    <a:pt x="0" y="237883"/>
                  </a:lnTo>
                  <a:lnTo>
                    <a:pt x="0" y="251815"/>
                  </a:lnTo>
                  <a:lnTo>
                    <a:pt x="661035" y="251815"/>
                  </a:lnTo>
                  <a:lnTo>
                    <a:pt x="661035" y="237883"/>
                  </a:lnTo>
                  <a:close/>
                </a:path>
                <a:path w="661035" h="737235">
                  <a:moveTo>
                    <a:pt x="661035" y="0"/>
                  </a:moveTo>
                  <a:lnTo>
                    <a:pt x="0" y="0"/>
                  </a:lnTo>
                  <a:lnTo>
                    <a:pt x="0" y="13944"/>
                  </a:lnTo>
                  <a:lnTo>
                    <a:pt x="661035" y="13944"/>
                  </a:lnTo>
                  <a:lnTo>
                    <a:pt x="661035" y="0"/>
                  </a:lnTo>
                  <a:close/>
                </a:path>
              </a:pathLst>
            </a:custGeom>
            <a:solidFill>
              <a:srgbClr val="000000"/>
            </a:solidFill>
          </p:spPr>
          <p:txBody>
            <a:bodyPr wrap="square" lIns="0" tIns="0" rIns="0" bIns="0" rtlCol="0"/>
            <a:lstStyle/>
            <a:p/>
          </p:txBody>
        </p:sp>
        <p:sp>
          <p:nvSpPr>
            <p:cNvPr id="51" name="object 51" descr=""/>
            <p:cNvSpPr/>
            <p:nvPr/>
          </p:nvSpPr>
          <p:spPr>
            <a:xfrm>
              <a:off x="4917170" y="63"/>
              <a:ext cx="1407795" cy="631190"/>
            </a:xfrm>
            <a:custGeom>
              <a:avLst/>
              <a:gdLst/>
              <a:ahLst/>
              <a:cxnLst/>
              <a:rect l="l" t="t" r="r" b="b"/>
              <a:pathLst>
                <a:path w="1407795" h="631190">
                  <a:moveTo>
                    <a:pt x="0" y="0"/>
                  </a:moveTo>
                  <a:lnTo>
                    <a:pt x="0" y="630892"/>
                  </a:lnTo>
                  <a:lnTo>
                    <a:pt x="1407660" y="630892"/>
                  </a:lnTo>
                  <a:lnTo>
                    <a:pt x="1407660" y="0"/>
                  </a:lnTo>
                </a:path>
              </a:pathLst>
            </a:custGeom>
            <a:ln w="16320">
              <a:solidFill>
                <a:srgbClr val="000000"/>
              </a:solidFill>
            </a:ln>
          </p:spPr>
          <p:txBody>
            <a:bodyPr wrap="square" lIns="0" tIns="0" rIns="0" bIns="0" rtlCol="0"/>
            <a:lstStyle/>
            <a:p/>
          </p:txBody>
        </p:sp>
      </p:grpSp>
      <p:sp>
        <p:nvSpPr>
          <p:cNvPr id="52" name="object 52" descr=""/>
          <p:cNvSpPr txBox="1"/>
          <p:nvPr/>
        </p:nvSpPr>
        <p:spPr>
          <a:xfrm>
            <a:off x="8009314" y="1147955"/>
            <a:ext cx="385445" cy="238760"/>
          </a:xfrm>
          <a:prstGeom prst="rect">
            <a:avLst/>
          </a:prstGeom>
        </p:spPr>
        <p:txBody>
          <a:bodyPr wrap="square" lIns="0" tIns="12700" rIns="0" bIns="0" rtlCol="0" vert="horz">
            <a:spAutoFit/>
          </a:bodyPr>
          <a:lstStyle/>
          <a:p>
            <a:pPr marL="12700">
              <a:lnSpc>
                <a:spcPct val="100000"/>
              </a:lnSpc>
              <a:spcBef>
                <a:spcPts val="100"/>
              </a:spcBef>
            </a:pPr>
            <a:r>
              <a:rPr dirty="0" sz="1400" spc="1375" b="1">
                <a:solidFill>
                  <a:srgbClr val="0000FF"/>
                </a:solidFill>
                <a:latin typeface="宋体"/>
                <a:cs typeface="宋体"/>
              </a:rPr>
              <a:t>访</a:t>
            </a:r>
            <a:endParaRPr sz="1400">
              <a:latin typeface="宋体"/>
              <a:cs typeface="宋体"/>
            </a:endParaRPr>
          </a:p>
        </p:txBody>
      </p:sp>
      <p:sp>
        <p:nvSpPr>
          <p:cNvPr id="53" name="object 53" descr=""/>
          <p:cNvSpPr txBox="1"/>
          <p:nvPr/>
        </p:nvSpPr>
        <p:spPr>
          <a:xfrm>
            <a:off x="7235920" y="1528743"/>
            <a:ext cx="633730" cy="228600"/>
          </a:xfrm>
          <a:prstGeom prst="rect">
            <a:avLst/>
          </a:prstGeom>
          <a:solidFill>
            <a:srgbClr val="FFCCCC"/>
          </a:solidFill>
        </p:spPr>
        <p:txBody>
          <a:bodyPr wrap="square" lIns="0" tIns="0" rIns="0" bIns="0" rtlCol="0" vert="horz">
            <a:spAutoFit/>
          </a:bodyPr>
          <a:lstStyle/>
          <a:p>
            <a:pPr marL="203835">
              <a:lnSpc>
                <a:spcPts val="1655"/>
              </a:lnSpc>
            </a:pPr>
            <a:r>
              <a:rPr dirty="0" sz="1400" spc="660">
                <a:latin typeface="Times New Roman"/>
                <a:cs typeface="Times New Roman"/>
              </a:rPr>
              <a:t>4</a:t>
            </a:r>
            <a:endParaRPr sz="1400">
              <a:latin typeface="Times New Roman"/>
              <a:cs typeface="Times New Roman"/>
            </a:endParaRPr>
          </a:p>
        </p:txBody>
      </p:sp>
      <p:sp>
        <p:nvSpPr>
          <p:cNvPr id="54" name="object 54" descr=""/>
          <p:cNvSpPr txBox="1"/>
          <p:nvPr/>
        </p:nvSpPr>
        <p:spPr>
          <a:xfrm>
            <a:off x="7235920" y="2017801"/>
            <a:ext cx="633730" cy="227329"/>
          </a:xfrm>
          <a:prstGeom prst="rect">
            <a:avLst/>
          </a:prstGeom>
          <a:solidFill>
            <a:srgbClr val="FFCCCC"/>
          </a:solidFill>
        </p:spPr>
        <p:txBody>
          <a:bodyPr wrap="square" lIns="0" tIns="0" rIns="0" bIns="0" rtlCol="0" vert="horz">
            <a:spAutoFit/>
          </a:bodyPr>
          <a:lstStyle/>
          <a:p>
            <a:pPr marL="203835">
              <a:lnSpc>
                <a:spcPts val="1475"/>
              </a:lnSpc>
            </a:pPr>
            <a:r>
              <a:rPr dirty="0" sz="1400" spc="660">
                <a:latin typeface="Times New Roman"/>
                <a:cs typeface="Times New Roman"/>
              </a:rPr>
              <a:t>6</a:t>
            </a:r>
            <a:endParaRPr sz="1400">
              <a:latin typeface="Times New Roman"/>
              <a:cs typeface="Times New Roman"/>
            </a:endParaRPr>
          </a:p>
        </p:txBody>
      </p:sp>
      <p:sp>
        <p:nvSpPr>
          <p:cNvPr id="55" name="object 55" descr=""/>
          <p:cNvSpPr txBox="1"/>
          <p:nvPr/>
        </p:nvSpPr>
        <p:spPr>
          <a:xfrm>
            <a:off x="7235920" y="817596"/>
            <a:ext cx="633730" cy="217170"/>
          </a:xfrm>
          <a:prstGeom prst="rect">
            <a:avLst/>
          </a:prstGeom>
          <a:solidFill>
            <a:srgbClr val="FFCCCC"/>
          </a:solidFill>
        </p:spPr>
        <p:txBody>
          <a:bodyPr wrap="square" lIns="0" tIns="0" rIns="0" bIns="0" rtlCol="0" vert="horz">
            <a:spAutoFit/>
          </a:bodyPr>
          <a:lstStyle/>
          <a:p>
            <a:pPr marL="203835">
              <a:lnSpc>
                <a:spcPts val="1605"/>
              </a:lnSpc>
            </a:pPr>
            <a:r>
              <a:rPr dirty="0" sz="1400" spc="660">
                <a:latin typeface="Times New Roman"/>
                <a:cs typeface="Times New Roman"/>
              </a:rPr>
              <a:t>1</a:t>
            </a:r>
            <a:endParaRPr sz="1400">
              <a:latin typeface="Times New Roman"/>
              <a:cs typeface="Times New Roman"/>
            </a:endParaRPr>
          </a:p>
        </p:txBody>
      </p:sp>
      <p:sp>
        <p:nvSpPr>
          <p:cNvPr id="56" name="object 56" descr=""/>
          <p:cNvSpPr txBox="1"/>
          <p:nvPr/>
        </p:nvSpPr>
        <p:spPr>
          <a:xfrm>
            <a:off x="7235920" y="1048220"/>
            <a:ext cx="633730" cy="228600"/>
          </a:xfrm>
          <a:prstGeom prst="rect">
            <a:avLst/>
          </a:prstGeom>
          <a:solidFill>
            <a:srgbClr val="FFCCCC"/>
          </a:solidFill>
        </p:spPr>
        <p:txBody>
          <a:bodyPr wrap="square" lIns="0" tIns="6350" rIns="0" bIns="0" rtlCol="0" vert="horz">
            <a:spAutoFit/>
          </a:bodyPr>
          <a:lstStyle/>
          <a:p>
            <a:pPr marL="203835">
              <a:lnSpc>
                <a:spcPct val="100000"/>
              </a:lnSpc>
              <a:spcBef>
                <a:spcPts val="50"/>
              </a:spcBef>
            </a:pPr>
            <a:r>
              <a:rPr dirty="0" sz="1400" spc="660">
                <a:latin typeface="Times New Roman"/>
                <a:cs typeface="Times New Roman"/>
              </a:rPr>
              <a:t>2</a:t>
            </a:r>
            <a:endParaRPr sz="1400">
              <a:latin typeface="Times New Roman"/>
              <a:cs typeface="Times New Roman"/>
            </a:endParaRPr>
          </a:p>
        </p:txBody>
      </p:sp>
      <p:sp>
        <p:nvSpPr>
          <p:cNvPr id="57" name="object 57" descr=""/>
          <p:cNvSpPr txBox="1"/>
          <p:nvPr/>
        </p:nvSpPr>
        <p:spPr>
          <a:xfrm>
            <a:off x="7235920" y="1290712"/>
            <a:ext cx="633730" cy="224154"/>
          </a:xfrm>
          <a:prstGeom prst="rect">
            <a:avLst/>
          </a:prstGeom>
          <a:solidFill>
            <a:srgbClr val="FFCCCC"/>
          </a:solidFill>
        </p:spPr>
        <p:txBody>
          <a:bodyPr wrap="square" lIns="0" tIns="1905" rIns="0" bIns="0" rtlCol="0" vert="horz">
            <a:spAutoFit/>
          </a:bodyPr>
          <a:lstStyle/>
          <a:p>
            <a:pPr marL="203835">
              <a:lnSpc>
                <a:spcPct val="100000"/>
              </a:lnSpc>
              <a:spcBef>
                <a:spcPts val="15"/>
              </a:spcBef>
            </a:pPr>
            <a:r>
              <a:rPr dirty="0" sz="1400" spc="660">
                <a:latin typeface="Times New Roman"/>
                <a:cs typeface="Times New Roman"/>
              </a:rPr>
              <a:t>3</a:t>
            </a:r>
            <a:endParaRPr sz="1400">
              <a:latin typeface="Times New Roman"/>
              <a:cs typeface="Times New Roman"/>
            </a:endParaRPr>
          </a:p>
        </p:txBody>
      </p:sp>
      <p:sp>
        <p:nvSpPr>
          <p:cNvPr id="58" name="object 58" descr=""/>
          <p:cNvSpPr txBox="1"/>
          <p:nvPr/>
        </p:nvSpPr>
        <p:spPr>
          <a:xfrm>
            <a:off x="7235920" y="1770847"/>
            <a:ext cx="633730" cy="233045"/>
          </a:xfrm>
          <a:prstGeom prst="rect">
            <a:avLst/>
          </a:prstGeom>
          <a:solidFill>
            <a:srgbClr val="FFCCCC"/>
          </a:solidFill>
        </p:spPr>
        <p:txBody>
          <a:bodyPr wrap="square" lIns="0" tIns="0" rIns="0" bIns="0" rtlCol="0" vert="horz">
            <a:spAutoFit/>
          </a:bodyPr>
          <a:lstStyle/>
          <a:p>
            <a:pPr marL="203835">
              <a:lnSpc>
                <a:spcPts val="1510"/>
              </a:lnSpc>
            </a:pPr>
            <a:r>
              <a:rPr dirty="0" sz="1400" spc="660">
                <a:latin typeface="Times New Roman"/>
                <a:cs typeface="Times New Roman"/>
              </a:rPr>
              <a:t>5</a:t>
            </a:r>
            <a:endParaRPr sz="1400">
              <a:latin typeface="Times New Roman"/>
              <a:cs typeface="Times New Roman"/>
            </a:endParaRPr>
          </a:p>
        </p:txBody>
      </p:sp>
      <p:grpSp>
        <p:nvGrpSpPr>
          <p:cNvPr id="59" name="object 59" descr=""/>
          <p:cNvGrpSpPr/>
          <p:nvPr/>
        </p:nvGrpSpPr>
        <p:grpSpPr>
          <a:xfrm>
            <a:off x="6318002" y="260779"/>
            <a:ext cx="1565275" cy="4119245"/>
            <a:chOff x="6318002" y="260779"/>
            <a:chExt cx="1565275" cy="4119245"/>
          </a:xfrm>
        </p:grpSpPr>
        <p:sp>
          <p:nvSpPr>
            <p:cNvPr id="60" name="object 60" descr=""/>
            <p:cNvSpPr/>
            <p:nvPr/>
          </p:nvSpPr>
          <p:spPr>
            <a:xfrm>
              <a:off x="7212343" y="1034287"/>
              <a:ext cx="671195" cy="983615"/>
            </a:xfrm>
            <a:custGeom>
              <a:avLst/>
              <a:gdLst/>
              <a:ahLst/>
              <a:cxnLst/>
              <a:rect l="l" t="t" r="r" b="b"/>
              <a:pathLst>
                <a:path w="671195" h="983614">
                  <a:moveTo>
                    <a:pt x="662101" y="969581"/>
                  </a:moveTo>
                  <a:lnTo>
                    <a:pt x="0" y="969581"/>
                  </a:lnTo>
                  <a:lnTo>
                    <a:pt x="0" y="983526"/>
                  </a:lnTo>
                  <a:lnTo>
                    <a:pt x="662101" y="983526"/>
                  </a:lnTo>
                  <a:lnTo>
                    <a:pt x="662101" y="969581"/>
                  </a:lnTo>
                  <a:close/>
                </a:path>
                <a:path w="671195" h="983614">
                  <a:moveTo>
                    <a:pt x="670737" y="722630"/>
                  </a:moveTo>
                  <a:lnTo>
                    <a:pt x="9817" y="722630"/>
                  </a:lnTo>
                  <a:lnTo>
                    <a:pt x="9817" y="736561"/>
                  </a:lnTo>
                  <a:lnTo>
                    <a:pt x="670737" y="736561"/>
                  </a:lnTo>
                  <a:lnTo>
                    <a:pt x="670737" y="722630"/>
                  </a:lnTo>
                  <a:close/>
                </a:path>
                <a:path w="671195" h="983614">
                  <a:moveTo>
                    <a:pt x="670737" y="480529"/>
                  </a:moveTo>
                  <a:lnTo>
                    <a:pt x="9817" y="480529"/>
                  </a:lnTo>
                  <a:lnTo>
                    <a:pt x="9817" y="494461"/>
                  </a:lnTo>
                  <a:lnTo>
                    <a:pt x="670737" y="494461"/>
                  </a:lnTo>
                  <a:lnTo>
                    <a:pt x="670737" y="480529"/>
                  </a:lnTo>
                  <a:close/>
                </a:path>
                <a:path w="671195" h="983614">
                  <a:moveTo>
                    <a:pt x="670737" y="242493"/>
                  </a:moveTo>
                  <a:lnTo>
                    <a:pt x="9817" y="242493"/>
                  </a:lnTo>
                  <a:lnTo>
                    <a:pt x="9817" y="256425"/>
                  </a:lnTo>
                  <a:lnTo>
                    <a:pt x="670737" y="256425"/>
                  </a:lnTo>
                  <a:lnTo>
                    <a:pt x="670737" y="242493"/>
                  </a:lnTo>
                  <a:close/>
                </a:path>
                <a:path w="671195" h="983614">
                  <a:moveTo>
                    <a:pt x="670737" y="0"/>
                  </a:moveTo>
                  <a:lnTo>
                    <a:pt x="9817" y="0"/>
                  </a:lnTo>
                  <a:lnTo>
                    <a:pt x="9817" y="13944"/>
                  </a:lnTo>
                  <a:lnTo>
                    <a:pt x="670737" y="13944"/>
                  </a:lnTo>
                  <a:lnTo>
                    <a:pt x="670737" y="0"/>
                  </a:lnTo>
                  <a:close/>
                </a:path>
              </a:pathLst>
            </a:custGeom>
            <a:solidFill>
              <a:srgbClr val="000000"/>
            </a:solidFill>
          </p:spPr>
          <p:txBody>
            <a:bodyPr wrap="square" lIns="0" tIns="0" rIns="0" bIns="0" rtlCol="0"/>
            <a:lstStyle/>
            <a:p/>
          </p:txBody>
        </p:sp>
        <p:sp>
          <p:nvSpPr>
            <p:cNvPr id="61" name="object 61" descr=""/>
            <p:cNvSpPr/>
            <p:nvPr/>
          </p:nvSpPr>
          <p:spPr>
            <a:xfrm>
              <a:off x="6324987" y="272067"/>
              <a:ext cx="1237615" cy="0"/>
            </a:xfrm>
            <a:custGeom>
              <a:avLst/>
              <a:gdLst/>
              <a:ahLst/>
              <a:cxnLst/>
              <a:rect l="l" t="t" r="r" b="b"/>
              <a:pathLst>
                <a:path w="1237615" h="0">
                  <a:moveTo>
                    <a:pt x="0" y="0"/>
                  </a:moveTo>
                  <a:lnTo>
                    <a:pt x="1237447" y="0"/>
                  </a:lnTo>
                </a:path>
              </a:pathLst>
            </a:custGeom>
            <a:ln w="13935">
              <a:solidFill>
                <a:srgbClr val="000000"/>
              </a:solidFill>
            </a:ln>
          </p:spPr>
          <p:txBody>
            <a:bodyPr wrap="square" lIns="0" tIns="0" rIns="0" bIns="0" rtlCol="0"/>
            <a:lstStyle/>
            <a:p/>
          </p:txBody>
        </p:sp>
        <p:sp>
          <p:nvSpPr>
            <p:cNvPr id="62" name="object 62" descr=""/>
            <p:cNvSpPr/>
            <p:nvPr/>
          </p:nvSpPr>
          <p:spPr>
            <a:xfrm>
              <a:off x="7483549" y="265859"/>
              <a:ext cx="160655" cy="550545"/>
            </a:xfrm>
            <a:custGeom>
              <a:avLst/>
              <a:gdLst/>
              <a:ahLst/>
              <a:cxnLst/>
              <a:rect l="l" t="t" r="r" b="b"/>
              <a:pathLst>
                <a:path w="160654" h="550544">
                  <a:moveTo>
                    <a:pt x="0" y="433576"/>
                  </a:moveTo>
                  <a:lnTo>
                    <a:pt x="84772" y="549972"/>
                  </a:lnTo>
                  <a:lnTo>
                    <a:pt x="127190" y="484790"/>
                  </a:lnTo>
                  <a:lnTo>
                    <a:pt x="84772" y="484790"/>
                  </a:lnTo>
                  <a:lnTo>
                    <a:pt x="74961" y="479940"/>
                  </a:lnTo>
                  <a:lnTo>
                    <a:pt x="66326" y="479940"/>
                  </a:lnTo>
                  <a:lnTo>
                    <a:pt x="66326" y="462718"/>
                  </a:lnTo>
                  <a:lnTo>
                    <a:pt x="0" y="433576"/>
                  </a:lnTo>
                  <a:close/>
                </a:path>
                <a:path w="160654" h="550544">
                  <a:moveTo>
                    <a:pt x="66326" y="462718"/>
                  </a:moveTo>
                  <a:lnTo>
                    <a:pt x="66326" y="479940"/>
                  </a:lnTo>
                  <a:lnTo>
                    <a:pt x="74961" y="479940"/>
                  </a:lnTo>
                  <a:lnTo>
                    <a:pt x="84772" y="484790"/>
                  </a:lnTo>
                  <a:lnTo>
                    <a:pt x="94584" y="479940"/>
                  </a:lnTo>
                  <a:lnTo>
                    <a:pt x="103218" y="475284"/>
                  </a:lnTo>
                  <a:lnTo>
                    <a:pt x="103218" y="470823"/>
                  </a:lnTo>
                  <a:lnTo>
                    <a:pt x="84772" y="470823"/>
                  </a:lnTo>
                  <a:lnTo>
                    <a:pt x="66326" y="462718"/>
                  </a:lnTo>
                  <a:close/>
                </a:path>
                <a:path w="160654" h="550544">
                  <a:moveTo>
                    <a:pt x="160518" y="433576"/>
                  </a:moveTo>
                  <a:lnTo>
                    <a:pt x="103218" y="461752"/>
                  </a:lnTo>
                  <a:lnTo>
                    <a:pt x="103218" y="475284"/>
                  </a:lnTo>
                  <a:lnTo>
                    <a:pt x="94584" y="479940"/>
                  </a:lnTo>
                  <a:lnTo>
                    <a:pt x="84772" y="484790"/>
                  </a:lnTo>
                  <a:lnTo>
                    <a:pt x="127190" y="484790"/>
                  </a:lnTo>
                  <a:lnTo>
                    <a:pt x="160518" y="433576"/>
                  </a:lnTo>
                  <a:close/>
                </a:path>
                <a:path w="160654" h="550544">
                  <a:moveTo>
                    <a:pt x="94584" y="0"/>
                  </a:moveTo>
                  <a:lnTo>
                    <a:pt x="66326" y="0"/>
                  </a:lnTo>
                  <a:lnTo>
                    <a:pt x="66326" y="462718"/>
                  </a:lnTo>
                  <a:lnTo>
                    <a:pt x="84772" y="470823"/>
                  </a:lnTo>
                  <a:lnTo>
                    <a:pt x="103218" y="461752"/>
                  </a:lnTo>
                  <a:lnTo>
                    <a:pt x="103218" y="4655"/>
                  </a:lnTo>
                  <a:lnTo>
                    <a:pt x="94584" y="0"/>
                  </a:lnTo>
                  <a:close/>
                </a:path>
                <a:path w="160654" h="550544">
                  <a:moveTo>
                    <a:pt x="103218" y="461752"/>
                  </a:moveTo>
                  <a:lnTo>
                    <a:pt x="84772" y="470823"/>
                  </a:lnTo>
                  <a:lnTo>
                    <a:pt x="103218" y="470823"/>
                  </a:lnTo>
                  <a:lnTo>
                    <a:pt x="103218" y="461752"/>
                  </a:lnTo>
                  <a:close/>
                </a:path>
              </a:pathLst>
            </a:custGeom>
            <a:solidFill>
              <a:srgbClr val="000000"/>
            </a:solidFill>
          </p:spPr>
          <p:txBody>
            <a:bodyPr wrap="square" lIns="0" tIns="0" rIns="0" bIns="0" rtlCol="0"/>
            <a:lstStyle/>
            <a:p/>
          </p:txBody>
        </p:sp>
        <p:sp>
          <p:nvSpPr>
            <p:cNvPr id="63" name="object 63" descr=""/>
            <p:cNvSpPr/>
            <p:nvPr/>
          </p:nvSpPr>
          <p:spPr>
            <a:xfrm>
              <a:off x="7483549" y="265859"/>
              <a:ext cx="160655" cy="550545"/>
            </a:xfrm>
            <a:custGeom>
              <a:avLst/>
              <a:gdLst/>
              <a:ahLst/>
              <a:cxnLst/>
              <a:rect l="l" t="t" r="r" b="b"/>
              <a:pathLst>
                <a:path w="160654" h="550544">
                  <a:moveTo>
                    <a:pt x="103218" y="9117"/>
                  </a:moveTo>
                  <a:lnTo>
                    <a:pt x="103218" y="470823"/>
                  </a:lnTo>
                  <a:lnTo>
                    <a:pt x="103218" y="475284"/>
                  </a:lnTo>
                  <a:lnTo>
                    <a:pt x="94584" y="479940"/>
                  </a:lnTo>
                  <a:lnTo>
                    <a:pt x="84772" y="484790"/>
                  </a:lnTo>
                  <a:lnTo>
                    <a:pt x="74961" y="479940"/>
                  </a:lnTo>
                  <a:lnTo>
                    <a:pt x="66326" y="479940"/>
                  </a:lnTo>
                  <a:lnTo>
                    <a:pt x="66326" y="475284"/>
                  </a:lnTo>
                  <a:lnTo>
                    <a:pt x="66326" y="470823"/>
                  </a:lnTo>
                  <a:lnTo>
                    <a:pt x="66326" y="9117"/>
                  </a:lnTo>
                  <a:lnTo>
                    <a:pt x="66326" y="4655"/>
                  </a:lnTo>
                  <a:lnTo>
                    <a:pt x="66326" y="0"/>
                  </a:lnTo>
                  <a:lnTo>
                    <a:pt x="74961" y="0"/>
                  </a:lnTo>
                  <a:lnTo>
                    <a:pt x="84772" y="0"/>
                  </a:lnTo>
                  <a:lnTo>
                    <a:pt x="94584" y="0"/>
                  </a:lnTo>
                  <a:lnTo>
                    <a:pt x="103218" y="4655"/>
                  </a:lnTo>
                  <a:lnTo>
                    <a:pt x="103218" y="9117"/>
                  </a:lnTo>
                  <a:close/>
                </a:path>
                <a:path w="160654" h="550544">
                  <a:moveTo>
                    <a:pt x="84772" y="470823"/>
                  </a:moveTo>
                  <a:lnTo>
                    <a:pt x="160518" y="433576"/>
                  </a:lnTo>
                  <a:lnTo>
                    <a:pt x="84772" y="549972"/>
                  </a:lnTo>
                  <a:lnTo>
                    <a:pt x="0" y="433576"/>
                  </a:lnTo>
                  <a:lnTo>
                    <a:pt x="84772" y="470823"/>
                  </a:lnTo>
                  <a:close/>
                </a:path>
              </a:pathLst>
            </a:custGeom>
            <a:ln w="7263">
              <a:solidFill>
                <a:srgbClr val="000000"/>
              </a:solidFill>
            </a:ln>
          </p:spPr>
          <p:txBody>
            <a:bodyPr wrap="square" lIns="0" tIns="0" rIns="0" bIns="0" rtlCol="0"/>
            <a:lstStyle/>
            <a:p/>
          </p:txBody>
        </p:sp>
        <p:sp>
          <p:nvSpPr>
            <p:cNvPr id="64" name="object 64" descr=""/>
            <p:cNvSpPr/>
            <p:nvPr/>
          </p:nvSpPr>
          <p:spPr>
            <a:xfrm>
              <a:off x="7562435" y="2258369"/>
              <a:ext cx="0" cy="2106930"/>
            </a:xfrm>
            <a:custGeom>
              <a:avLst/>
              <a:gdLst/>
              <a:ahLst/>
              <a:cxnLst/>
              <a:rect l="l" t="t" r="r" b="b"/>
              <a:pathLst>
                <a:path w="0" h="2106929">
                  <a:moveTo>
                    <a:pt x="0" y="0"/>
                  </a:moveTo>
                  <a:lnTo>
                    <a:pt x="0" y="2106772"/>
                  </a:lnTo>
                </a:path>
              </a:pathLst>
            </a:custGeom>
            <a:ln w="28192">
              <a:solidFill>
                <a:srgbClr val="000000"/>
              </a:solidFill>
            </a:ln>
          </p:spPr>
          <p:txBody>
            <a:bodyPr wrap="square" lIns="0" tIns="0" rIns="0" bIns="0" rtlCol="0"/>
            <a:lstStyle/>
            <a:p/>
          </p:txBody>
        </p:sp>
      </p:grpSp>
      <p:sp>
        <p:nvSpPr>
          <p:cNvPr id="65" name="object 65" descr=""/>
          <p:cNvSpPr txBox="1"/>
          <p:nvPr/>
        </p:nvSpPr>
        <p:spPr>
          <a:xfrm>
            <a:off x="4917170" y="63"/>
            <a:ext cx="1407795" cy="631190"/>
          </a:xfrm>
          <a:prstGeom prst="rect">
            <a:avLst/>
          </a:prstGeom>
          <a:solidFill>
            <a:srgbClr val="CCFFFF"/>
          </a:solidFill>
        </p:spPr>
        <p:txBody>
          <a:bodyPr wrap="square" lIns="0" tIns="34290" rIns="0" bIns="0" rtlCol="0" vert="horz">
            <a:spAutoFit/>
          </a:bodyPr>
          <a:lstStyle/>
          <a:p>
            <a:pPr algn="just" marL="467995" marR="571500">
              <a:lnSpc>
                <a:spcPts val="1360"/>
              </a:lnSpc>
              <a:spcBef>
                <a:spcPts val="270"/>
              </a:spcBef>
            </a:pPr>
            <a:r>
              <a:rPr dirty="0" sz="1400" spc="1375" b="1">
                <a:latin typeface="宋体"/>
                <a:cs typeface="宋体"/>
              </a:rPr>
              <a:t>存储器</a:t>
            </a:r>
            <a:endParaRPr sz="1400">
              <a:latin typeface="宋体"/>
              <a:cs typeface="宋体"/>
            </a:endParaRPr>
          </a:p>
        </p:txBody>
      </p:sp>
      <p:sp>
        <p:nvSpPr>
          <p:cNvPr id="66" name="object 66" descr=""/>
          <p:cNvSpPr txBox="1"/>
          <p:nvPr/>
        </p:nvSpPr>
        <p:spPr>
          <a:xfrm>
            <a:off x="1736054" y="5003699"/>
            <a:ext cx="385445" cy="584835"/>
          </a:xfrm>
          <a:prstGeom prst="rect">
            <a:avLst/>
          </a:prstGeom>
        </p:spPr>
        <p:txBody>
          <a:bodyPr wrap="square" lIns="0" tIns="52069" rIns="0" bIns="0" rtlCol="0" vert="horz">
            <a:spAutoFit/>
          </a:bodyPr>
          <a:lstStyle/>
          <a:p>
            <a:pPr algn="just" marL="12700" marR="5080">
              <a:lnSpc>
                <a:spcPts val="1360"/>
              </a:lnSpc>
              <a:spcBef>
                <a:spcPts val="409"/>
              </a:spcBef>
            </a:pPr>
            <a:r>
              <a:rPr dirty="0" sz="1400" spc="1375" b="1">
                <a:solidFill>
                  <a:srgbClr val="0000FF"/>
                </a:solidFill>
                <a:latin typeface="宋体"/>
                <a:cs typeface="宋体"/>
              </a:rPr>
              <a:t>浮点乘</a:t>
            </a:r>
            <a:endParaRPr sz="1400">
              <a:latin typeface="宋体"/>
              <a:cs typeface="宋体"/>
            </a:endParaRPr>
          </a:p>
        </p:txBody>
      </p:sp>
      <p:grpSp>
        <p:nvGrpSpPr>
          <p:cNvPr id="67" name="object 67" descr=""/>
          <p:cNvGrpSpPr/>
          <p:nvPr/>
        </p:nvGrpSpPr>
        <p:grpSpPr>
          <a:xfrm>
            <a:off x="2443740" y="1104678"/>
            <a:ext cx="5146040" cy="5198110"/>
            <a:chOff x="2443740" y="1104678"/>
            <a:chExt cx="5146040" cy="5198110"/>
          </a:xfrm>
        </p:grpSpPr>
        <p:sp>
          <p:nvSpPr>
            <p:cNvPr id="68" name="object 68" descr=""/>
            <p:cNvSpPr/>
            <p:nvPr/>
          </p:nvSpPr>
          <p:spPr>
            <a:xfrm>
              <a:off x="6330874" y="4330805"/>
              <a:ext cx="1256030" cy="79375"/>
            </a:xfrm>
            <a:custGeom>
              <a:avLst/>
              <a:gdLst/>
              <a:ahLst/>
              <a:cxnLst/>
              <a:rect l="l" t="t" r="r" b="b"/>
              <a:pathLst>
                <a:path w="1256029" h="79375">
                  <a:moveTo>
                    <a:pt x="235872" y="0"/>
                  </a:moveTo>
                  <a:lnTo>
                    <a:pt x="0" y="37246"/>
                  </a:lnTo>
                  <a:lnTo>
                    <a:pt x="235872" y="79362"/>
                  </a:lnTo>
                  <a:lnTo>
                    <a:pt x="169625" y="46752"/>
                  </a:lnTo>
                  <a:lnTo>
                    <a:pt x="141680" y="46752"/>
                  </a:lnTo>
                  <a:lnTo>
                    <a:pt x="131868" y="42096"/>
                  </a:lnTo>
                  <a:lnTo>
                    <a:pt x="131868" y="32978"/>
                  </a:lnTo>
                  <a:lnTo>
                    <a:pt x="141680" y="32978"/>
                  </a:lnTo>
                  <a:lnTo>
                    <a:pt x="141680" y="28129"/>
                  </a:lnTo>
                  <a:lnTo>
                    <a:pt x="171258" y="28129"/>
                  </a:lnTo>
                  <a:lnTo>
                    <a:pt x="235872" y="0"/>
                  </a:lnTo>
                  <a:close/>
                </a:path>
                <a:path w="1256029" h="79375">
                  <a:moveTo>
                    <a:pt x="171258" y="28129"/>
                  </a:moveTo>
                  <a:lnTo>
                    <a:pt x="141680" y="28129"/>
                  </a:lnTo>
                  <a:lnTo>
                    <a:pt x="141680" y="32978"/>
                  </a:lnTo>
                  <a:lnTo>
                    <a:pt x="131868" y="32978"/>
                  </a:lnTo>
                  <a:lnTo>
                    <a:pt x="131868" y="42096"/>
                  </a:lnTo>
                  <a:lnTo>
                    <a:pt x="141680" y="46752"/>
                  </a:lnTo>
                  <a:lnTo>
                    <a:pt x="169625" y="46752"/>
                  </a:lnTo>
                  <a:lnTo>
                    <a:pt x="150314" y="37246"/>
                  </a:lnTo>
                  <a:lnTo>
                    <a:pt x="171258" y="28129"/>
                  </a:lnTo>
                  <a:close/>
                </a:path>
                <a:path w="1256029" h="79375">
                  <a:moveTo>
                    <a:pt x="1247259" y="28129"/>
                  </a:moveTo>
                  <a:lnTo>
                    <a:pt x="171258" y="28129"/>
                  </a:lnTo>
                  <a:lnTo>
                    <a:pt x="150314" y="37246"/>
                  </a:lnTo>
                  <a:lnTo>
                    <a:pt x="169625" y="46752"/>
                  </a:lnTo>
                  <a:lnTo>
                    <a:pt x="1247259" y="46752"/>
                  </a:lnTo>
                  <a:lnTo>
                    <a:pt x="1255893" y="42096"/>
                  </a:lnTo>
                  <a:lnTo>
                    <a:pt x="1255893" y="32979"/>
                  </a:lnTo>
                  <a:lnTo>
                    <a:pt x="1247259" y="32979"/>
                  </a:lnTo>
                  <a:lnTo>
                    <a:pt x="1247259" y="28129"/>
                  </a:lnTo>
                  <a:close/>
                </a:path>
              </a:pathLst>
            </a:custGeom>
            <a:solidFill>
              <a:srgbClr val="000000"/>
            </a:solidFill>
          </p:spPr>
          <p:txBody>
            <a:bodyPr wrap="square" lIns="0" tIns="0" rIns="0" bIns="0" rtlCol="0"/>
            <a:lstStyle/>
            <a:p/>
          </p:txBody>
        </p:sp>
        <p:sp>
          <p:nvSpPr>
            <p:cNvPr id="69" name="object 69" descr=""/>
            <p:cNvSpPr/>
            <p:nvPr/>
          </p:nvSpPr>
          <p:spPr>
            <a:xfrm>
              <a:off x="6330874" y="4330805"/>
              <a:ext cx="1256030" cy="79375"/>
            </a:xfrm>
            <a:custGeom>
              <a:avLst/>
              <a:gdLst/>
              <a:ahLst/>
              <a:cxnLst/>
              <a:rect l="l" t="t" r="r" b="b"/>
              <a:pathLst>
                <a:path w="1256029" h="79375">
                  <a:moveTo>
                    <a:pt x="1237447" y="46752"/>
                  </a:moveTo>
                  <a:lnTo>
                    <a:pt x="150314" y="46752"/>
                  </a:lnTo>
                  <a:lnTo>
                    <a:pt x="141680" y="46752"/>
                  </a:lnTo>
                  <a:lnTo>
                    <a:pt x="131868" y="42096"/>
                  </a:lnTo>
                  <a:lnTo>
                    <a:pt x="131868" y="37246"/>
                  </a:lnTo>
                  <a:lnTo>
                    <a:pt x="131868" y="32978"/>
                  </a:lnTo>
                  <a:lnTo>
                    <a:pt x="141680" y="32978"/>
                  </a:lnTo>
                  <a:lnTo>
                    <a:pt x="141680" y="28129"/>
                  </a:lnTo>
                  <a:lnTo>
                    <a:pt x="150314" y="28129"/>
                  </a:lnTo>
                  <a:lnTo>
                    <a:pt x="1237447" y="28129"/>
                  </a:lnTo>
                  <a:lnTo>
                    <a:pt x="1247259" y="28129"/>
                  </a:lnTo>
                  <a:lnTo>
                    <a:pt x="1247259" y="32979"/>
                  </a:lnTo>
                  <a:lnTo>
                    <a:pt x="1255893" y="32979"/>
                  </a:lnTo>
                  <a:lnTo>
                    <a:pt x="1255893" y="37246"/>
                  </a:lnTo>
                  <a:lnTo>
                    <a:pt x="1255893" y="42096"/>
                  </a:lnTo>
                  <a:lnTo>
                    <a:pt x="1247259" y="46752"/>
                  </a:lnTo>
                  <a:lnTo>
                    <a:pt x="1237447" y="46752"/>
                  </a:lnTo>
                  <a:close/>
                </a:path>
                <a:path w="1256029" h="79375">
                  <a:moveTo>
                    <a:pt x="150314" y="37246"/>
                  </a:moveTo>
                  <a:lnTo>
                    <a:pt x="235872" y="79362"/>
                  </a:lnTo>
                  <a:lnTo>
                    <a:pt x="0" y="37246"/>
                  </a:lnTo>
                  <a:lnTo>
                    <a:pt x="235872" y="0"/>
                  </a:lnTo>
                  <a:lnTo>
                    <a:pt x="150314" y="37246"/>
                  </a:lnTo>
                  <a:close/>
                </a:path>
              </a:pathLst>
            </a:custGeom>
            <a:ln w="7263">
              <a:solidFill>
                <a:srgbClr val="000000"/>
              </a:solidFill>
            </a:ln>
          </p:spPr>
          <p:txBody>
            <a:bodyPr wrap="square" lIns="0" tIns="0" rIns="0" bIns="0" rtlCol="0"/>
            <a:lstStyle/>
            <a:p/>
          </p:txBody>
        </p:sp>
        <p:sp>
          <p:nvSpPr>
            <p:cNvPr id="70" name="object 70" descr=""/>
            <p:cNvSpPr/>
            <p:nvPr/>
          </p:nvSpPr>
          <p:spPr>
            <a:xfrm>
              <a:off x="2854247" y="1589672"/>
              <a:ext cx="160655" cy="429259"/>
            </a:xfrm>
            <a:custGeom>
              <a:avLst/>
              <a:gdLst/>
              <a:ahLst/>
              <a:cxnLst/>
              <a:rect l="l" t="t" r="r" b="b"/>
              <a:pathLst>
                <a:path w="160655" h="429260">
                  <a:moveTo>
                    <a:pt x="0" y="312524"/>
                  </a:moveTo>
                  <a:lnTo>
                    <a:pt x="84576" y="428920"/>
                  </a:lnTo>
                  <a:lnTo>
                    <a:pt x="127038" y="363738"/>
                  </a:lnTo>
                  <a:lnTo>
                    <a:pt x="74882" y="363738"/>
                  </a:lnTo>
                  <a:lnTo>
                    <a:pt x="66130" y="358888"/>
                  </a:lnTo>
                  <a:lnTo>
                    <a:pt x="66130" y="345136"/>
                  </a:lnTo>
                  <a:lnTo>
                    <a:pt x="0" y="312524"/>
                  </a:lnTo>
                  <a:close/>
                </a:path>
                <a:path w="160655" h="429260">
                  <a:moveTo>
                    <a:pt x="66130" y="345136"/>
                  </a:moveTo>
                  <a:lnTo>
                    <a:pt x="66130" y="358888"/>
                  </a:lnTo>
                  <a:lnTo>
                    <a:pt x="74882" y="363738"/>
                  </a:lnTo>
                  <a:lnTo>
                    <a:pt x="94309" y="363738"/>
                  </a:lnTo>
                  <a:lnTo>
                    <a:pt x="94309" y="358888"/>
                  </a:lnTo>
                  <a:lnTo>
                    <a:pt x="104042" y="358888"/>
                  </a:lnTo>
                  <a:lnTo>
                    <a:pt x="104042" y="354232"/>
                  </a:lnTo>
                  <a:lnTo>
                    <a:pt x="84576" y="354232"/>
                  </a:lnTo>
                  <a:lnTo>
                    <a:pt x="66130" y="345136"/>
                  </a:lnTo>
                  <a:close/>
                </a:path>
                <a:path w="160655" h="429260">
                  <a:moveTo>
                    <a:pt x="160401" y="312524"/>
                  </a:moveTo>
                  <a:lnTo>
                    <a:pt x="104042" y="343524"/>
                  </a:lnTo>
                  <a:lnTo>
                    <a:pt x="104042" y="358888"/>
                  </a:lnTo>
                  <a:lnTo>
                    <a:pt x="94309" y="358888"/>
                  </a:lnTo>
                  <a:lnTo>
                    <a:pt x="94309" y="363738"/>
                  </a:lnTo>
                  <a:lnTo>
                    <a:pt x="127038" y="363738"/>
                  </a:lnTo>
                  <a:lnTo>
                    <a:pt x="160401" y="312524"/>
                  </a:lnTo>
                  <a:close/>
                </a:path>
                <a:path w="160655" h="429260">
                  <a:moveTo>
                    <a:pt x="94309" y="0"/>
                  </a:moveTo>
                  <a:lnTo>
                    <a:pt x="74882" y="0"/>
                  </a:lnTo>
                  <a:lnTo>
                    <a:pt x="66130" y="4849"/>
                  </a:lnTo>
                  <a:lnTo>
                    <a:pt x="66130" y="345136"/>
                  </a:lnTo>
                  <a:lnTo>
                    <a:pt x="84576" y="354232"/>
                  </a:lnTo>
                  <a:lnTo>
                    <a:pt x="104042" y="343524"/>
                  </a:lnTo>
                  <a:lnTo>
                    <a:pt x="104042" y="4849"/>
                  </a:lnTo>
                  <a:lnTo>
                    <a:pt x="94309" y="4849"/>
                  </a:lnTo>
                  <a:lnTo>
                    <a:pt x="94309" y="0"/>
                  </a:lnTo>
                  <a:close/>
                </a:path>
                <a:path w="160655" h="429260">
                  <a:moveTo>
                    <a:pt x="104042" y="343524"/>
                  </a:moveTo>
                  <a:lnTo>
                    <a:pt x="84576" y="354232"/>
                  </a:lnTo>
                  <a:lnTo>
                    <a:pt x="104042" y="354232"/>
                  </a:lnTo>
                  <a:lnTo>
                    <a:pt x="104042" y="343524"/>
                  </a:lnTo>
                  <a:close/>
                </a:path>
              </a:pathLst>
            </a:custGeom>
            <a:solidFill>
              <a:srgbClr val="000000"/>
            </a:solidFill>
          </p:spPr>
          <p:txBody>
            <a:bodyPr wrap="square" lIns="0" tIns="0" rIns="0" bIns="0" rtlCol="0"/>
            <a:lstStyle/>
            <a:p/>
          </p:txBody>
        </p:sp>
        <p:sp>
          <p:nvSpPr>
            <p:cNvPr id="71" name="object 71" descr=""/>
            <p:cNvSpPr/>
            <p:nvPr/>
          </p:nvSpPr>
          <p:spPr>
            <a:xfrm>
              <a:off x="2854247" y="1589673"/>
              <a:ext cx="160655" cy="429259"/>
            </a:xfrm>
            <a:custGeom>
              <a:avLst/>
              <a:gdLst/>
              <a:ahLst/>
              <a:cxnLst/>
              <a:rect l="l" t="t" r="r" b="b"/>
              <a:pathLst>
                <a:path w="160655" h="429260">
                  <a:moveTo>
                    <a:pt x="104042" y="9505"/>
                  </a:moveTo>
                  <a:lnTo>
                    <a:pt x="104042" y="354232"/>
                  </a:lnTo>
                  <a:lnTo>
                    <a:pt x="104042" y="358888"/>
                  </a:lnTo>
                  <a:lnTo>
                    <a:pt x="94309" y="358888"/>
                  </a:lnTo>
                  <a:lnTo>
                    <a:pt x="94309" y="363738"/>
                  </a:lnTo>
                  <a:lnTo>
                    <a:pt x="84576" y="363738"/>
                  </a:lnTo>
                  <a:lnTo>
                    <a:pt x="74882" y="363738"/>
                  </a:lnTo>
                  <a:lnTo>
                    <a:pt x="66130" y="358888"/>
                  </a:lnTo>
                  <a:lnTo>
                    <a:pt x="66130" y="354232"/>
                  </a:lnTo>
                  <a:lnTo>
                    <a:pt x="66130" y="9505"/>
                  </a:lnTo>
                  <a:lnTo>
                    <a:pt x="66130" y="4849"/>
                  </a:lnTo>
                  <a:lnTo>
                    <a:pt x="74882" y="0"/>
                  </a:lnTo>
                  <a:lnTo>
                    <a:pt x="84576" y="0"/>
                  </a:lnTo>
                  <a:lnTo>
                    <a:pt x="94309" y="0"/>
                  </a:lnTo>
                  <a:lnTo>
                    <a:pt x="94309" y="4849"/>
                  </a:lnTo>
                  <a:lnTo>
                    <a:pt x="104042" y="4849"/>
                  </a:lnTo>
                  <a:lnTo>
                    <a:pt x="104042" y="9505"/>
                  </a:lnTo>
                  <a:close/>
                </a:path>
                <a:path w="160655" h="429260">
                  <a:moveTo>
                    <a:pt x="84576" y="354232"/>
                  </a:moveTo>
                  <a:lnTo>
                    <a:pt x="160401" y="312524"/>
                  </a:lnTo>
                  <a:lnTo>
                    <a:pt x="84576" y="428920"/>
                  </a:lnTo>
                  <a:lnTo>
                    <a:pt x="0" y="312524"/>
                  </a:lnTo>
                  <a:lnTo>
                    <a:pt x="84576" y="354232"/>
                  </a:lnTo>
                  <a:close/>
                </a:path>
              </a:pathLst>
            </a:custGeom>
            <a:ln w="7263">
              <a:solidFill>
                <a:srgbClr val="000000"/>
              </a:solidFill>
            </a:ln>
          </p:spPr>
          <p:txBody>
            <a:bodyPr wrap="square" lIns="0" tIns="0" rIns="0" bIns="0" rtlCol="0"/>
            <a:lstStyle/>
            <a:p/>
          </p:txBody>
        </p:sp>
        <p:sp>
          <p:nvSpPr>
            <p:cNvPr id="72" name="object 72" descr=""/>
            <p:cNvSpPr/>
            <p:nvPr/>
          </p:nvSpPr>
          <p:spPr>
            <a:xfrm>
              <a:off x="2933015" y="1596462"/>
              <a:ext cx="1984375" cy="601345"/>
            </a:xfrm>
            <a:custGeom>
              <a:avLst/>
              <a:gdLst/>
              <a:ahLst/>
              <a:cxnLst/>
              <a:rect l="l" t="t" r="r" b="b"/>
              <a:pathLst>
                <a:path w="1984375" h="601344">
                  <a:moveTo>
                    <a:pt x="1077125" y="600992"/>
                  </a:moveTo>
                  <a:lnTo>
                    <a:pt x="1984154" y="600992"/>
                  </a:lnTo>
                </a:path>
                <a:path w="1984375" h="601344">
                  <a:moveTo>
                    <a:pt x="0" y="0"/>
                  </a:moveTo>
                  <a:lnTo>
                    <a:pt x="1077124" y="0"/>
                  </a:lnTo>
                </a:path>
                <a:path w="1984375" h="601344">
                  <a:moveTo>
                    <a:pt x="1077124" y="0"/>
                  </a:moveTo>
                  <a:lnTo>
                    <a:pt x="1077125" y="600992"/>
                  </a:lnTo>
                </a:path>
              </a:pathLst>
            </a:custGeom>
            <a:ln w="21063">
              <a:solidFill>
                <a:srgbClr val="000000"/>
              </a:solidFill>
            </a:ln>
          </p:spPr>
          <p:txBody>
            <a:bodyPr wrap="square" lIns="0" tIns="0" rIns="0" bIns="0" rtlCol="0"/>
            <a:lstStyle/>
            <a:p/>
          </p:txBody>
        </p:sp>
        <p:sp>
          <p:nvSpPr>
            <p:cNvPr id="73" name="object 73" descr=""/>
            <p:cNvSpPr/>
            <p:nvPr/>
          </p:nvSpPr>
          <p:spPr>
            <a:xfrm>
              <a:off x="2447887" y="1109538"/>
              <a:ext cx="151130" cy="909319"/>
            </a:xfrm>
            <a:custGeom>
              <a:avLst/>
              <a:gdLst/>
              <a:ahLst/>
              <a:cxnLst/>
              <a:rect l="l" t="t" r="r" b="b"/>
              <a:pathLst>
                <a:path w="151130" h="909319">
                  <a:moveTo>
                    <a:pt x="0" y="792658"/>
                  </a:moveTo>
                  <a:lnTo>
                    <a:pt x="75824" y="909055"/>
                  </a:lnTo>
                  <a:lnTo>
                    <a:pt x="117758" y="843873"/>
                  </a:lnTo>
                  <a:lnTo>
                    <a:pt x="66130" y="843873"/>
                  </a:lnTo>
                  <a:lnTo>
                    <a:pt x="66130" y="839023"/>
                  </a:lnTo>
                  <a:lnTo>
                    <a:pt x="56397" y="839023"/>
                  </a:lnTo>
                  <a:lnTo>
                    <a:pt x="56397" y="823681"/>
                  </a:lnTo>
                  <a:lnTo>
                    <a:pt x="0" y="792658"/>
                  </a:lnTo>
                  <a:close/>
                </a:path>
                <a:path w="151130" h="909319">
                  <a:moveTo>
                    <a:pt x="56397" y="823681"/>
                  </a:moveTo>
                  <a:lnTo>
                    <a:pt x="56397" y="839023"/>
                  </a:lnTo>
                  <a:lnTo>
                    <a:pt x="66130" y="839023"/>
                  </a:lnTo>
                  <a:lnTo>
                    <a:pt x="66130" y="843873"/>
                  </a:lnTo>
                  <a:lnTo>
                    <a:pt x="84576" y="843873"/>
                  </a:lnTo>
                  <a:lnTo>
                    <a:pt x="94309" y="839023"/>
                  </a:lnTo>
                  <a:lnTo>
                    <a:pt x="94309" y="834367"/>
                  </a:lnTo>
                  <a:lnTo>
                    <a:pt x="75824" y="834367"/>
                  </a:lnTo>
                  <a:lnTo>
                    <a:pt x="56397" y="823681"/>
                  </a:lnTo>
                  <a:close/>
                </a:path>
                <a:path w="151130" h="909319">
                  <a:moveTo>
                    <a:pt x="150707" y="792658"/>
                  </a:moveTo>
                  <a:lnTo>
                    <a:pt x="94309" y="824071"/>
                  </a:lnTo>
                  <a:lnTo>
                    <a:pt x="94309" y="839023"/>
                  </a:lnTo>
                  <a:lnTo>
                    <a:pt x="84576" y="843873"/>
                  </a:lnTo>
                  <a:lnTo>
                    <a:pt x="117758" y="843873"/>
                  </a:lnTo>
                  <a:lnTo>
                    <a:pt x="150707" y="792658"/>
                  </a:lnTo>
                  <a:close/>
                </a:path>
                <a:path w="151130" h="909319">
                  <a:moveTo>
                    <a:pt x="94309" y="0"/>
                  </a:moveTo>
                  <a:lnTo>
                    <a:pt x="66130" y="0"/>
                  </a:lnTo>
                  <a:lnTo>
                    <a:pt x="56397" y="4849"/>
                  </a:lnTo>
                  <a:lnTo>
                    <a:pt x="56397" y="823681"/>
                  </a:lnTo>
                  <a:lnTo>
                    <a:pt x="75824" y="834367"/>
                  </a:lnTo>
                  <a:lnTo>
                    <a:pt x="94309" y="824071"/>
                  </a:lnTo>
                  <a:lnTo>
                    <a:pt x="94309" y="0"/>
                  </a:lnTo>
                  <a:close/>
                </a:path>
                <a:path w="151130" h="909319">
                  <a:moveTo>
                    <a:pt x="94309" y="824071"/>
                  </a:moveTo>
                  <a:lnTo>
                    <a:pt x="75824" y="834367"/>
                  </a:lnTo>
                  <a:lnTo>
                    <a:pt x="94309" y="834367"/>
                  </a:lnTo>
                  <a:lnTo>
                    <a:pt x="94309" y="824071"/>
                  </a:lnTo>
                  <a:close/>
                </a:path>
              </a:pathLst>
            </a:custGeom>
            <a:solidFill>
              <a:srgbClr val="000000"/>
            </a:solidFill>
          </p:spPr>
          <p:txBody>
            <a:bodyPr wrap="square" lIns="0" tIns="0" rIns="0" bIns="0" rtlCol="0"/>
            <a:lstStyle/>
            <a:p/>
          </p:txBody>
        </p:sp>
        <p:sp>
          <p:nvSpPr>
            <p:cNvPr id="74" name="object 74" descr=""/>
            <p:cNvSpPr/>
            <p:nvPr/>
          </p:nvSpPr>
          <p:spPr>
            <a:xfrm>
              <a:off x="2447887" y="1109538"/>
              <a:ext cx="151130" cy="909319"/>
            </a:xfrm>
            <a:custGeom>
              <a:avLst/>
              <a:gdLst/>
              <a:ahLst/>
              <a:cxnLst/>
              <a:rect l="l" t="t" r="r" b="b"/>
              <a:pathLst>
                <a:path w="151130" h="909319">
                  <a:moveTo>
                    <a:pt x="94309" y="9117"/>
                  </a:moveTo>
                  <a:lnTo>
                    <a:pt x="94309" y="834367"/>
                  </a:lnTo>
                  <a:lnTo>
                    <a:pt x="94309" y="839023"/>
                  </a:lnTo>
                  <a:lnTo>
                    <a:pt x="84576" y="843873"/>
                  </a:lnTo>
                  <a:lnTo>
                    <a:pt x="75824" y="843873"/>
                  </a:lnTo>
                  <a:lnTo>
                    <a:pt x="66130" y="843873"/>
                  </a:lnTo>
                  <a:lnTo>
                    <a:pt x="66130" y="839023"/>
                  </a:lnTo>
                  <a:lnTo>
                    <a:pt x="56397" y="839023"/>
                  </a:lnTo>
                  <a:lnTo>
                    <a:pt x="56397" y="834367"/>
                  </a:lnTo>
                  <a:lnTo>
                    <a:pt x="56397" y="9117"/>
                  </a:lnTo>
                  <a:lnTo>
                    <a:pt x="56397" y="4849"/>
                  </a:lnTo>
                  <a:lnTo>
                    <a:pt x="66130" y="0"/>
                  </a:lnTo>
                  <a:lnTo>
                    <a:pt x="75824" y="0"/>
                  </a:lnTo>
                  <a:lnTo>
                    <a:pt x="84576" y="0"/>
                  </a:lnTo>
                  <a:lnTo>
                    <a:pt x="94309" y="0"/>
                  </a:lnTo>
                  <a:lnTo>
                    <a:pt x="94309" y="4849"/>
                  </a:lnTo>
                  <a:lnTo>
                    <a:pt x="94309" y="9117"/>
                  </a:lnTo>
                  <a:close/>
                </a:path>
                <a:path w="151130" h="909319">
                  <a:moveTo>
                    <a:pt x="75824" y="834367"/>
                  </a:moveTo>
                  <a:lnTo>
                    <a:pt x="150707" y="792658"/>
                  </a:lnTo>
                  <a:lnTo>
                    <a:pt x="75824" y="909055"/>
                  </a:lnTo>
                  <a:lnTo>
                    <a:pt x="0" y="792658"/>
                  </a:lnTo>
                  <a:lnTo>
                    <a:pt x="75824" y="834367"/>
                  </a:lnTo>
                  <a:close/>
                </a:path>
              </a:pathLst>
            </a:custGeom>
            <a:ln w="7263">
              <a:solidFill>
                <a:srgbClr val="000000"/>
              </a:solidFill>
            </a:ln>
          </p:spPr>
          <p:txBody>
            <a:bodyPr wrap="square" lIns="0" tIns="0" rIns="0" bIns="0" rtlCol="0"/>
            <a:lstStyle/>
            <a:p/>
          </p:txBody>
        </p:sp>
        <p:sp>
          <p:nvSpPr>
            <p:cNvPr id="75" name="object 75" descr=""/>
            <p:cNvSpPr/>
            <p:nvPr/>
          </p:nvSpPr>
          <p:spPr>
            <a:xfrm>
              <a:off x="2517903" y="1115746"/>
              <a:ext cx="4384040" cy="2466975"/>
            </a:xfrm>
            <a:custGeom>
              <a:avLst/>
              <a:gdLst/>
              <a:ahLst/>
              <a:cxnLst/>
              <a:rect l="l" t="t" r="r" b="b"/>
              <a:pathLst>
                <a:path w="4384040" h="2466975">
                  <a:moveTo>
                    <a:pt x="0" y="0"/>
                  </a:moveTo>
                  <a:lnTo>
                    <a:pt x="2399266" y="0"/>
                  </a:lnTo>
                </a:path>
                <a:path w="4384040" h="2466975">
                  <a:moveTo>
                    <a:pt x="244977" y="2107548"/>
                  </a:moveTo>
                  <a:lnTo>
                    <a:pt x="244977" y="2466437"/>
                  </a:lnTo>
                </a:path>
                <a:path w="4384040" h="2466975">
                  <a:moveTo>
                    <a:pt x="244977" y="2466437"/>
                  </a:moveTo>
                  <a:lnTo>
                    <a:pt x="1237526" y="2466437"/>
                  </a:lnTo>
                </a:path>
                <a:path w="4384040" h="2466975">
                  <a:moveTo>
                    <a:pt x="1237526" y="2466437"/>
                  </a:moveTo>
                  <a:lnTo>
                    <a:pt x="1237526" y="1804530"/>
                  </a:lnTo>
                </a:path>
                <a:path w="4384040" h="2466975">
                  <a:moveTo>
                    <a:pt x="3390677" y="1804530"/>
                  </a:moveTo>
                  <a:lnTo>
                    <a:pt x="4383618" y="1804530"/>
                  </a:lnTo>
                </a:path>
                <a:path w="4384040" h="2466975">
                  <a:moveTo>
                    <a:pt x="4383618" y="1804530"/>
                  </a:moveTo>
                  <a:lnTo>
                    <a:pt x="4383618" y="2168269"/>
                  </a:lnTo>
                </a:path>
              </a:pathLst>
            </a:custGeom>
            <a:ln w="21063">
              <a:solidFill>
                <a:srgbClr val="000000"/>
              </a:solidFill>
            </a:ln>
          </p:spPr>
          <p:txBody>
            <a:bodyPr wrap="square" lIns="0" tIns="0" rIns="0" bIns="0" rtlCol="0"/>
            <a:lstStyle/>
            <a:p/>
          </p:txBody>
        </p:sp>
        <p:sp>
          <p:nvSpPr>
            <p:cNvPr id="76" name="object 76" descr=""/>
            <p:cNvSpPr/>
            <p:nvPr/>
          </p:nvSpPr>
          <p:spPr>
            <a:xfrm>
              <a:off x="6330874" y="3244828"/>
              <a:ext cx="594995" cy="79375"/>
            </a:xfrm>
            <a:custGeom>
              <a:avLst/>
              <a:gdLst/>
              <a:ahLst/>
              <a:cxnLst/>
              <a:rect l="l" t="t" r="r" b="b"/>
              <a:pathLst>
                <a:path w="594995" h="79375">
                  <a:moveTo>
                    <a:pt x="235872" y="0"/>
                  </a:moveTo>
                  <a:lnTo>
                    <a:pt x="0" y="42096"/>
                  </a:lnTo>
                  <a:lnTo>
                    <a:pt x="235872" y="79343"/>
                  </a:lnTo>
                  <a:lnTo>
                    <a:pt x="171258" y="51214"/>
                  </a:lnTo>
                  <a:lnTo>
                    <a:pt x="141680" y="51214"/>
                  </a:lnTo>
                  <a:lnTo>
                    <a:pt x="141680" y="46364"/>
                  </a:lnTo>
                  <a:lnTo>
                    <a:pt x="131868" y="46364"/>
                  </a:lnTo>
                  <a:lnTo>
                    <a:pt x="131868" y="37246"/>
                  </a:lnTo>
                  <a:lnTo>
                    <a:pt x="141680" y="32396"/>
                  </a:lnTo>
                  <a:lnTo>
                    <a:pt x="170028" y="32396"/>
                  </a:lnTo>
                  <a:lnTo>
                    <a:pt x="235872" y="0"/>
                  </a:lnTo>
                  <a:close/>
                </a:path>
                <a:path w="594995" h="79375">
                  <a:moveTo>
                    <a:pt x="170028" y="32396"/>
                  </a:moveTo>
                  <a:lnTo>
                    <a:pt x="141680" y="32396"/>
                  </a:lnTo>
                  <a:lnTo>
                    <a:pt x="131868" y="37246"/>
                  </a:lnTo>
                  <a:lnTo>
                    <a:pt x="131868" y="46364"/>
                  </a:lnTo>
                  <a:lnTo>
                    <a:pt x="141680" y="46364"/>
                  </a:lnTo>
                  <a:lnTo>
                    <a:pt x="141680" y="51214"/>
                  </a:lnTo>
                  <a:lnTo>
                    <a:pt x="171258" y="51214"/>
                  </a:lnTo>
                  <a:lnTo>
                    <a:pt x="150314" y="42096"/>
                  </a:lnTo>
                  <a:lnTo>
                    <a:pt x="170028" y="32396"/>
                  </a:lnTo>
                  <a:close/>
                </a:path>
                <a:path w="594995" h="79375">
                  <a:moveTo>
                    <a:pt x="585167" y="32396"/>
                  </a:moveTo>
                  <a:lnTo>
                    <a:pt x="170028" y="32396"/>
                  </a:lnTo>
                  <a:lnTo>
                    <a:pt x="150314" y="42096"/>
                  </a:lnTo>
                  <a:lnTo>
                    <a:pt x="171258" y="51214"/>
                  </a:lnTo>
                  <a:lnTo>
                    <a:pt x="585167" y="51214"/>
                  </a:lnTo>
                  <a:lnTo>
                    <a:pt x="585167" y="46364"/>
                  </a:lnTo>
                  <a:lnTo>
                    <a:pt x="594587" y="46364"/>
                  </a:lnTo>
                  <a:lnTo>
                    <a:pt x="594587" y="37246"/>
                  </a:lnTo>
                  <a:lnTo>
                    <a:pt x="585167" y="32396"/>
                  </a:lnTo>
                  <a:close/>
                </a:path>
              </a:pathLst>
            </a:custGeom>
            <a:solidFill>
              <a:srgbClr val="000000"/>
            </a:solidFill>
          </p:spPr>
          <p:txBody>
            <a:bodyPr wrap="square" lIns="0" tIns="0" rIns="0" bIns="0" rtlCol="0"/>
            <a:lstStyle/>
            <a:p/>
          </p:txBody>
        </p:sp>
        <p:sp>
          <p:nvSpPr>
            <p:cNvPr id="77" name="object 77" descr=""/>
            <p:cNvSpPr/>
            <p:nvPr/>
          </p:nvSpPr>
          <p:spPr>
            <a:xfrm>
              <a:off x="6330874" y="3244828"/>
              <a:ext cx="594995" cy="79375"/>
            </a:xfrm>
            <a:custGeom>
              <a:avLst/>
              <a:gdLst/>
              <a:ahLst/>
              <a:cxnLst/>
              <a:rect l="l" t="t" r="r" b="b"/>
              <a:pathLst>
                <a:path w="594995" h="79375">
                  <a:moveTo>
                    <a:pt x="576141" y="51214"/>
                  </a:moveTo>
                  <a:lnTo>
                    <a:pt x="150314" y="51214"/>
                  </a:lnTo>
                  <a:lnTo>
                    <a:pt x="141680" y="51214"/>
                  </a:lnTo>
                  <a:lnTo>
                    <a:pt x="141680" y="46364"/>
                  </a:lnTo>
                  <a:lnTo>
                    <a:pt x="131868" y="46364"/>
                  </a:lnTo>
                  <a:lnTo>
                    <a:pt x="131868" y="42096"/>
                  </a:lnTo>
                  <a:lnTo>
                    <a:pt x="131868" y="37246"/>
                  </a:lnTo>
                  <a:lnTo>
                    <a:pt x="141680" y="32396"/>
                  </a:lnTo>
                  <a:lnTo>
                    <a:pt x="150314" y="32396"/>
                  </a:lnTo>
                  <a:lnTo>
                    <a:pt x="576141" y="32396"/>
                  </a:lnTo>
                  <a:lnTo>
                    <a:pt x="585167" y="32396"/>
                  </a:lnTo>
                  <a:lnTo>
                    <a:pt x="594587" y="37246"/>
                  </a:lnTo>
                  <a:lnTo>
                    <a:pt x="594587" y="42096"/>
                  </a:lnTo>
                  <a:lnTo>
                    <a:pt x="594587" y="46364"/>
                  </a:lnTo>
                  <a:lnTo>
                    <a:pt x="585167" y="46364"/>
                  </a:lnTo>
                  <a:lnTo>
                    <a:pt x="585167" y="51214"/>
                  </a:lnTo>
                  <a:lnTo>
                    <a:pt x="576141" y="51214"/>
                  </a:lnTo>
                  <a:close/>
                </a:path>
                <a:path w="594995" h="79375">
                  <a:moveTo>
                    <a:pt x="150314" y="42096"/>
                  </a:moveTo>
                  <a:lnTo>
                    <a:pt x="235872" y="79343"/>
                  </a:lnTo>
                  <a:lnTo>
                    <a:pt x="0" y="42096"/>
                  </a:lnTo>
                  <a:lnTo>
                    <a:pt x="235872" y="0"/>
                  </a:lnTo>
                  <a:lnTo>
                    <a:pt x="150314" y="42096"/>
                  </a:lnTo>
                  <a:close/>
                </a:path>
              </a:pathLst>
            </a:custGeom>
            <a:ln w="7263">
              <a:solidFill>
                <a:srgbClr val="000000"/>
              </a:solidFill>
            </a:ln>
          </p:spPr>
          <p:txBody>
            <a:bodyPr wrap="square" lIns="0" tIns="0" rIns="0" bIns="0" rtlCol="0"/>
            <a:lstStyle/>
            <a:p/>
          </p:txBody>
        </p:sp>
        <p:sp>
          <p:nvSpPr>
            <p:cNvPr id="78" name="object 78" descr=""/>
            <p:cNvSpPr/>
            <p:nvPr/>
          </p:nvSpPr>
          <p:spPr>
            <a:xfrm>
              <a:off x="2602479" y="3284015"/>
              <a:ext cx="2315210" cy="722630"/>
            </a:xfrm>
            <a:custGeom>
              <a:avLst/>
              <a:gdLst/>
              <a:ahLst/>
              <a:cxnLst/>
              <a:rect l="l" t="t" r="r" b="b"/>
              <a:pathLst>
                <a:path w="2315210" h="722629">
                  <a:moveTo>
                    <a:pt x="1653619" y="0"/>
                  </a:moveTo>
                  <a:lnTo>
                    <a:pt x="2314690" y="0"/>
                  </a:lnTo>
                </a:path>
                <a:path w="2315210" h="722629">
                  <a:moveTo>
                    <a:pt x="1653619" y="0"/>
                  </a:moveTo>
                  <a:lnTo>
                    <a:pt x="1653619" y="722238"/>
                  </a:lnTo>
                </a:path>
                <a:path w="2315210" h="722629">
                  <a:moveTo>
                    <a:pt x="1653619" y="722238"/>
                  </a:moveTo>
                  <a:lnTo>
                    <a:pt x="0" y="722238"/>
                  </a:lnTo>
                </a:path>
              </a:pathLst>
            </a:custGeom>
            <a:ln w="21063">
              <a:solidFill>
                <a:srgbClr val="000000"/>
              </a:solidFill>
            </a:ln>
          </p:spPr>
          <p:txBody>
            <a:bodyPr wrap="square" lIns="0" tIns="0" rIns="0" bIns="0" rtlCol="0"/>
            <a:lstStyle/>
            <a:p/>
          </p:txBody>
        </p:sp>
        <p:sp>
          <p:nvSpPr>
            <p:cNvPr id="79" name="object 79" descr=""/>
            <p:cNvSpPr/>
            <p:nvPr/>
          </p:nvSpPr>
          <p:spPr>
            <a:xfrm>
              <a:off x="2523711" y="4000046"/>
              <a:ext cx="160655" cy="793115"/>
            </a:xfrm>
            <a:custGeom>
              <a:avLst/>
              <a:gdLst/>
              <a:ahLst/>
              <a:cxnLst/>
              <a:rect l="l" t="t" r="r" b="b"/>
              <a:pathLst>
                <a:path w="160655" h="793114">
                  <a:moveTo>
                    <a:pt x="0" y="675758"/>
                  </a:moveTo>
                  <a:lnTo>
                    <a:pt x="84576" y="792542"/>
                  </a:lnTo>
                  <a:lnTo>
                    <a:pt x="129945" y="722665"/>
                  </a:lnTo>
                  <a:lnTo>
                    <a:pt x="74882" y="722665"/>
                  </a:lnTo>
                  <a:lnTo>
                    <a:pt x="66130" y="717874"/>
                  </a:lnTo>
                  <a:lnTo>
                    <a:pt x="66130" y="704957"/>
                  </a:lnTo>
                  <a:lnTo>
                    <a:pt x="0" y="675758"/>
                  </a:lnTo>
                  <a:close/>
                </a:path>
                <a:path w="160655" h="793114">
                  <a:moveTo>
                    <a:pt x="66130" y="704957"/>
                  </a:moveTo>
                  <a:lnTo>
                    <a:pt x="66130" y="717874"/>
                  </a:lnTo>
                  <a:lnTo>
                    <a:pt x="74882" y="722665"/>
                  </a:lnTo>
                  <a:lnTo>
                    <a:pt x="94309" y="722665"/>
                  </a:lnTo>
                  <a:lnTo>
                    <a:pt x="94309" y="717874"/>
                  </a:lnTo>
                  <a:lnTo>
                    <a:pt x="103061" y="717874"/>
                  </a:lnTo>
                  <a:lnTo>
                    <a:pt x="103061" y="713101"/>
                  </a:lnTo>
                  <a:lnTo>
                    <a:pt x="84576" y="713101"/>
                  </a:lnTo>
                  <a:lnTo>
                    <a:pt x="66130" y="704957"/>
                  </a:lnTo>
                  <a:close/>
                </a:path>
                <a:path w="160655" h="793114">
                  <a:moveTo>
                    <a:pt x="160401" y="675758"/>
                  </a:moveTo>
                  <a:lnTo>
                    <a:pt x="103061" y="703997"/>
                  </a:lnTo>
                  <a:lnTo>
                    <a:pt x="103061" y="717874"/>
                  </a:lnTo>
                  <a:lnTo>
                    <a:pt x="94309" y="717874"/>
                  </a:lnTo>
                  <a:lnTo>
                    <a:pt x="94309" y="722665"/>
                  </a:lnTo>
                  <a:lnTo>
                    <a:pt x="129945" y="722665"/>
                  </a:lnTo>
                  <a:lnTo>
                    <a:pt x="160401" y="675758"/>
                  </a:lnTo>
                  <a:close/>
                </a:path>
                <a:path w="160655" h="793114">
                  <a:moveTo>
                    <a:pt x="94309" y="0"/>
                  </a:moveTo>
                  <a:lnTo>
                    <a:pt x="66130" y="0"/>
                  </a:lnTo>
                  <a:lnTo>
                    <a:pt x="66130" y="704957"/>
                  </a:lnTo>
                  <a:lnTo>
                    <a:pt x="84576" y="713101"/>
                  </a:lnTo>
                  <a:lnTo>
                    <a:pt x="103061" y="703997"/>
                  </a:lnTo>
                  <a:lnTo>
                    <a:pt x="103061" y="4655"/>
                  </a:lnTo>
                  <a:lnTo>
                    <a:pt x="94309" y="0"/>
                  </a:lnTo>
                  <a:close/>
                </a:path>
                <a:path w="160655" h="793114">
                  <a:moveTo>
                    <a:pt x="103061" y="703997"/>
                  </a:moveTo>
                  <a:lnTo>
                    <a:pt x="84576" y="713101"/>
                  </a:lnTo>
                  <a:lnTo>
                    <a:pt x="103061" y="713101"/>
                  </a:lnTo>
                  <a:lnTo>
                    <a:pt x="103061" y="703997"/>
                  </a:lnTo>
                  <a:close/>
                </a:path>
              </a:pathLst>
            </a:custGeom>
            <a:solidFill>
              <a:srgbClr val="000000"/>
            </a:solidFill>
          </p:spPr>
          <p:txBody>
            <a:bodyPr wrap="square" lIns="0" tIns="0" rIns="0" bIns="0" rtlCol="0"/>
            <a:lstStyle/>
            <a:p/>
          </p:txBody>
        </p:sp>
        <p:sp>
          <p:nvSpPr>
            <p:cNvPr id="80" name="object 80" descr=""/>
            <p:cNvSpPr/>
            <p:nvPr/>
          </p:nvSpPr>
          <p:spPr>
            <a:xfrm>
              <a:off x="2523711" y="4000046"/>
              <a:ext cx="160655" cy="793115"/>
            </a:xfrm>
            <a:custGeom>
              <a:avLst/>
              <a:gdLst/>
              <a:ahLst/>
              <a:cxnLst/>
              <a:rect l="l" t="t" r="r" b="b"/>
              <a:pathLst>
                <a:path w="160655" h="793114">
                  <a:moveTo>
                    <a:pt x="103061" y="9117"/>
                  </a:moveTo>
                  <a:lnTo>
                    <a:pt x="103061" y="713101"/>
                  </a:lnTo>
                  <a:lnTo>
                    <a:pt x="103061" y="717874"/>
                  </a:lnTo>
                  <a:lnTo>
                    <a:pt x="94309" y="717874"/>
                  </a:lnTo>
                  <a:lnTo>
                    <a:pt x="94309" y="722665"/>
                  </a:lnTo>
                  <a:lnTo>
                    <a:pt x="84576" y="722665"/>
                  </a:lnTo>
                  <a:lnTo>
                    <a:pt x="74882" y="722665"/>
                  </a:lnTo>
                  <a:lnTo>
                    <a:pt x="66130" y="717874"/>
                  </a:lnTo>
                  <a:lnTo>
                    <a:pt x="66130" y="713101"/>
                  </a:lnTo>
                  <a:lnTo>
                    <a:pt x="66130" y="9117"/>
                  </a:lnTo>
                  <a:lnTo>
                    <a:pt x="66130" y="4655"/>
                  </a:lnTo>
                  <a:lnTo>
                    <a:pt x="66130" y="0"/>
                  </a:lnTo>
                  <a:lnTo>
                    <a:pt x="74882" y="0"/>
                  </a:lnTo>
                  <a:lnTo>
                    <a:pt x="84576" y="0"/>
                  </a:lnTo>
                  <a:lnTo>
                    <a:pt x="94309" y="0"/>
                  </a:lnTo>
                  <a:lnTo>
                    <a:pt x="103061" y="4655"/>
                  </a:lnTo>
                  <a:lnTo>
                    <a:pt x="103061" y="9117"/>
                  </a:lnTo>
                  <a:close/>
                </a:path>
                <a:path w="160655" h="793114">
                  <a:moveTo>
                    <a:pt x="84576" y="713101"/>
                  </a:moveTo>
                  <a:lnTo>
                    <a:pt x="160401" y="675758"/>
                  </a:lnTo>
                  <a:lnTo>
                    <a:pt x="84576" y="792542"/>
                  </a:lnTo>
                  <a:lnTo>
                    <a:pt x="0" y="675758"/>
                  </a:lnTo>
                  <a:lnTo>
                    <a:pt x="84576" y="713101"/>
                  </a:lnTo>
                  <a:close/>
                </a:path>
              </a:pathLst>
            </a:custGeom>
            <a:ln w="7263">
              <a:solidFill>
                <a:srgbClr val="000000"/>
              </a:solidFill>
            </a:ln>
          </p:spPr>
          <p:txBody>
            <a:bodyPr wrap="square" lIns="0" tIns="0" rIns="0" bIns="0" rtlCol="0"/>
            <a:lstStyle/>
            <a:p/>
          </p:txBody>
        </p:sp>
        <p:sp>
          <p:nvSpPr>
            <p:cNvPr id="81" name="object 81" descr=""/>
            <p:cNvSpPr/>
            <p:nvPr/>
          </p:nvSpPr>
          <p:spPr>
            <a:xfrm>
              <a:off x="2933015" y="4365142"/>
              <a:ext cx="1984375" cy="0"/>
            </a:xfrm>
            <a:custGeom>
              <a:avLst/>
              <a:gdLst/>
              <a:ahLst/>
              <a:cxnLst/>
              <a:rect l="l" t="t" r="r" b="b"/>
              <a:pathLst>
                <a:path w="1984375" h="0">
                  <a:moveTo>
                    <a:pt x="1984154" y="0"/>
                  </a:moveTo>
                  <a:lnTo>
                    <a:pt x="0" y="0"/>
                  </a:lnTo>
                </a:path>
              </a:pathLst>
            </a:custGeom>
            <a:ln w="13935">
              <a:solidFill>
                <a:srgbClr val="000000"/>
              </a:solidFill>
            </a:ln>
          </p:spPr>
          <p:txBody>
            <a:bodyPr wrap="square" lIns="0" tIns="0" rIns="0" bIns="0" rtlCol="0"/>
            <a:lstStyle/>
            <a:p/>
          </p:txBody>
        </p:sp>
        <p:sp>
          <p:nvSpPr>
            <p:cNvPr id="82" name="object 82" descr=""/>
            <p:cNvSpPr/>
            <p:nvPr/>
          </p:nvSpPr>
          <p:spPr>
            <a:xfrm>
              <a:off x="2854247" y="4358934"/>
              <a:ext cx="160655" cy="433705"/>
            </a:xfrm>
            <a:custGeom>
              <a:avLst/>
              <a:gdLst/>
              <a:ahLst/>
              <a:cxnLst/>
              <a:rect l="l" t="t" r="r" b="b"/>
              <a:pathLst>
                <a:path w="160655" h="433704">
                  <a:moveTo>
                    <a:pt x="0" y="316869"/>
                  </a:moveTo>
                  <a:lnTo>
                    <a:pt x="84576" y="433653"/>
                  </a:lnTo>
                  <a:lnTo>
                    <a:pt x="129945" y="363777"/>
                  </a:lnTo>
                  <a:lnTo>
                    <a:pt x="74882" y="363777"/>
                  </a:lnTo>
                  <a:lnTo>
                    <a:pt x="66130" y="358985"/>
                  </a:lnTo>
                  <a:lnTo>
                    <a:pt x="66130" y="346068"/>
                  </a:lnTo>
                  <a:lnTo>
                    <a:pt x="0" y="316869"/>
                  </a:lnTo>
                  <a:close/>
                </a:path>
                <a:path w="160655" h="433704">
                  <a:moveTo>
                    <a:pt x="66130" y="346068"/>
                  </a:moveTo>
                  <a:lnTo>
                    <a:pt x="66130" y="358985"/>
                  </a:lnTo>
                  <a:lnTo>
                    <a:pt x="74882" y="363777"/>
                  </a:lnTo>
                  <a:lnTo>
                    <a:pt x="94309" y="363777"/>
                  </a:lnTo>
                  <a:lnTo>
                    <a:pt x="94309" y="358985"/>
                  </a:lnTo>
                  <a:lnTo>
                    <a:pt x="104042" y="358985"/>
                  </a:lnTo>
                  <a:lnTo>
                    <a:pt x="104042" y="354213"/>
                  </a:lnTo>
                  <a:lnTo>
                    <a:pt x="84576" y="354213"/>
                  </a:lnTo>
                  <a:lnTo>
                    <a:pt x="66130" y="346068"/>
                  </a:lnTo>
                  <a:close/>
                </a:path>
                <a:path w="160655" h="433704">
                  <a:moveTo>
                    <a:pt x="160401" y="316869"/>
                  </a:moveTo>
                  <a:lnTo>
                    <a:pt x="104042" y="344626"/>
                  </a:lnTo>
                  <a:lnTo>
                    <a:pt x="104042" y="358985"/>
                  </a:lnTo>
                  <a:lnTo>
                    <a:pt x="94309" y="358985"/>
                  </a:lnTo>
                  <a:lnTo>
                    <a:pt x="94309" y="363777"/>
                  </a:lnTo>
                  <a:lnTo>
                    <a:pt x="129945" y="363777"/>
                  </a:lnTo>
                  <a:lnTo>
                    <a:pt x="160401" y="316869"/>
                  </a:lnTo>
                  <a:close/>
                </a:path>
                <a:path w="160655" h="433704">
                  <a:moveTo>
                    <a:pt x="94309" y="0"/>
                  </a:moveTo>
                  <a:lnTo>
                    <a:pt x="74882" y="0"/>
                  </a:lnTo>
                  <a:lnTo>
                    <a:pt x="66130" y="4849"/>
                  </a:lnTo>
                  <a:lnTo>
                    <a:pt x="66130" y="346068"/>
                  </a:lnTo>
                  <a:lnTo>
                    <a:pt x="84576" y="354213"/>
                  </a:lnTo>
                  <a:lnTo>
                    <a:pt x="104042" y="344626"/>
                  </a:lnTo>
                  <a:lnTo>
                    <a:pt x="104042" y="4849"/>
                  </a:lnTo>
                  <a:lnTo>
                    <a:pt x="94309" y="4849"/>
                  </a:lnTo>
                  <a:lnTo>
                    <a:pt x="94309" y="0"/>
                  </a:lnTo>
                  <a:close/>
                </a:path>
                <a:path w="160655" h="433704">
                  <a:moveTo>
                    <a:pt x="104042" y="344626"/>
                  </a:moveTo>
                  <a:lnTo>
                    <a:pt x="84576" y="354213"/>
                  </a:lnTo>
                  <a:lnTo>
                    <a:pt x="104042" y="354213"/>
                  </a:lnTo>
                  <a:lnTo>
                    <a:pt x="104042" y="344626"/>
                  </a:lnTo>
                  <a:close/>
                </a:path>
              </a:pathLst>
            </a:custGeom>
            <a:solidFill>
              <a:srgbClr val="000000"/>
            </a:solidFill>
          </p:spPr>
          <p:txBody>
            <a:bodyPr wrap="square" lIns="0" tIns="0" rIns="0" bIns="0" rtlCol="0"/>
            <a:lstStyle/>
            <a:p/>
          </p:txBody>
        </p:sp>
        <p:sp>
          <p:nvSpPr>
            <p:cNvPr id="83" name="object 83" descr=""/>
            <p:cNvSpPr/>
            <p:nvPr/>
          </p:nvSpPr>
          <p:spPr>
            <a:xfrm>
              <a:off x="2854247" y="4358934"/>
              <a:ext cx="160655" cy="433705"/>
            </a:xfrm>
            <a:custGeom>
              <a:avLst/>
              <a:gdLst/>
              <a:ahLst/>
              <a:cxnLst/>
              <a:rect l="l" t="t" r="r" b="b"/>
              <a:pathLst>
                <a:path w="160655" h="433704">
                  <a:moveTo>
                    <a:pt x="104042" y="9117"/>
                  </a:moveTo>
                  <a:lnTo>
                    <a:pt x="104042" y="354213"/>
                  </a:lnTo>
                  <a:lnTo>
                    <a:pt x="104042" y="358985"/>
                  </a:lnTo>
                  <a:lnTo>
                    <a:pt x="94309" y="358985"/>
                  </a:lnTo>
                  <a:lnTo>
                    <a:pt x="94309" y="363777"/>
                  </a:lnTo>
                  <a:lnTo>
                    <a:pt x="84576" y="363777"/>
                  </a:lnTo>
                  <a:lnTo>
                    <a:pt x="74882" y="363777"/>
                  </a:lnTo>
                  <a:lnTo>
                    <a:pt x="66130" y="358985"/>
                  </a:lnTo>
                  <a:lnTo>
                    <a:pt x="66130" y="354213"/>
                  </a:lnTo>
                  <a:lnTo>
                    <a:pt x="66130" y="9117"/>
                  </a:lnTo>
                  <a:lnTo>
                    <a:pt x="66130" y="4849"/>
                  </a:lnTo>
                  <a:lnTo>
                    <a:pt x="74882" y="0"/>
                  </a:lnTo>
                  <a:lnTo>
                    <a:pt x="84576" y="0"/>
                  </a:lnTo>
                  <a:lnTo>
                    <a:pt x="94309" y="0"/>
                  </a:lnTo>
                  <a:lnTo>
                    <a:pt x="94309" y="4849"/>
                  </a:lnTo>
                  <a:lnTo>
                    <a:pt x="104042" y="4849"/>
                  </a:lnTo>
                  <a:lnTo>
                    <a:pt x="104042" y="9117"/>
                  </a:lnTo>
                  <a:close/>
                </a:path>
                <a:path w="160655" h="433704">
                  <a:moveTo>
                    <a:pt x="84576" y="354213"/>
                  </a:moveTo>
                  <a:lnTo>
                    <a:pt x="160401" y="316869"/>
                  </a:lnTo>
                  <a:lnTo>
                    <a:pt x="84576" y="433653"/>
                  </a:lnTo>
                  <a:lnTo>
                    <a:pt x="0" y="316869"/>
                  </a:lnTo>
                  <a:lnTo>
                    <a:pt x="84576" y="354213"/>
                  </a:lnTo>
                  <a:close/>
                </a:path>
              </a:pathLst>
            </a:custGeom>
            <a:ln w="7263">
              <a:solidFill>
                <a:srgbClr val="000000"/>
              </a:solidFill>
            </a:ln>
          </p:spPr>
          <p:txBody>
            <a:bodyPr wrap="square" lIns="0" tIns="0" rIns="0" bIns="0" rtlCol="0"/>
            <a:lstStyle/>
            <a:p/>
          </p:txBody>
        </p:sp>
        <p:sp>
          <p:nvSpPr>
            <p:cNvPr id="84" name="object 84" descr=""/>
            <p:cNvSpPr/>
            <p:nvPr/>
          </p:nvSpPr>
          <p:spPr>
            <a:xfrm>
              <a:off x="2762881" y="5451663"/>
              <a:ext cx="4714875" cy="843915"/>
            </a:xfrm>
            <a:custGeom>
              <a:avLst/>
              <a:gdLst/>
              <a:ahLst/>
              <a:cxnLst/>
              <a:rect l="l" t="t" r="r" b="b"/>
              <a:pathLst>
                <a:path w="4714875" h="843914">
                  <a:moveTo>
                    <a:pt x="0" y="540835"/>
                  </a:moveTo>
                  <a:lnTo>
                    <a:pt x="0" y="843797"/>
                  </a:lnTo>
                </a:path>
                <a:path w="4714875" h="843914">
                  <a:moveTo>
                    <a:pt x="0" y="843797"/>
                  </a:moveTo>
                  <a:lnTo>
                    <a:pt x="4714781" y="843797"/>
                  </a:lnTo>
                </a:path>
                <a:path w="4714875" h="843914">
                  <a:moveTo>
                    <a:pt x="4714781" y="0"/>
                  </a:moveTo>
                  <a:lnTo>
                    <a:pt x="4714781" y="843797"/>
                  </a:lnTo>
                </a:path>
              </a:pathLst>
            </a:custGeom>
            <a:ln w="21063">
              <a:solidFill>
                <a:srgbClr val="000000"/>
              </a:solidFill>
            </a:ln>
          </p:spPr>
          <p:txBody>
            <a:bodyPr wrap="square" lIns="0" tIns="0" rIns="0" bIns="0" rtlCol="0"/>
            <a:lstStyle/>
            <a:p/>
          </p:txBody>
        </p:sp>
        <p:sp>
          <p:nvSpPr>
            <p:cNvPr id="85" name="object 85" descr=""/>
            <p:cNvSpPr/>
            <p:nvPr/>
          </p:nvSpPr>
          <p:spPr>
            <a:xfrm>
              <a:off x="6330874" y="5412399"/>
              <a:ext cx="1171575" cy="80010"/>
            </a:xfrm>
            <a:custGeom>
              <a:avLst/>
              <a:gdLst/>
              <a:ahLst/>
              <a:cxnLst/>
              <a:rect l="l" t="t" r="r" b="b"/>
              <a:pathLst>
                <a:path w="1171575" h="80010">
                  <a:moveTo>
                    <a:pt x="235872" y="0"/>
                  </a:moveTo>
                  <a:lnTo>
                    <a:pt x="0" y="42135"/>
                  </a:lnTo>
                  <a:lnTo>
                    <a:pt x="235872" y="79459"/>
                  </a:lnTo>
                  <a:lnTo>
                    <a:pt x="171126" y="51214"/>
                  </a:lnTo>
                  <a:lnTo>
                    <a:pt x="141680" y="51214"/>
                  </a:lnTo>
                  <a:lnTo>
                    <a:pt x="141680" y="46907"/>
                  </a:lnTo>
                  <a:lnTo>
                    <a:pt x="131868" y="46907"/>
                  </a:lnTo>
                  <a:lnTo>
                    <a:pt x="131868" y="37343"/>
                  </a:lnTo>
                  <a:lnTo>
                    <a:pt x="141680" y="32552"/>
                  </a:lnTo>
                  <a:lnTo>
                    <a:pt x="169774" y="32552"/>
                  </a:lnTo>
                  <a:lnTo>
                    <a:pt x="235872" y="0"/>
                  </a:lnTo>
                  <a:close/>
                </a:path>
                <a:path w="1171575" h="80010">
                  <a:moveTo>
                    <a:pt x="169774" y="32552"/>
                  </a:moveTo>
                  <a:lnTo>
                    <a:pt x="141680" y="32552"/>
                  </a:lnTo>
                  <a:lnTo>
                    <a:pt x="131868" y="37343"/>
                  </a:lnTo>
                  <a:lnTo>
                    <a:pt x="131868" y="46907"/>
                  </a:lnTo>
                  <a:lnTo>
                    <a:pt x="141680" y="46907"/>
                  </a:lnTo>
                  <a:lnTo>
                    <a:pt x="141680" y="51214"/>
                  </a:lnTo>
                  <a:lnTo>
                    <a:pt x="171126" y="51214"/>
                  </a:lnTo>
                  <a:lnTo>
                    <a:pt x="150314" y="42135"/>
                  </a:lnTo>
                  <a:lnTo>
                    <a:pt x="169774" y="32552"/>
                  </a:lnTo>
                  <a:close/>
                </a:path>
                <a:path w="1171575" h="80010">
                  <a:moveTo>
                    <a:pt x="1171120" y="32552"/>
                  </a:moveTo>
                  <a:lnTo>
                    <a:pt x="169774" y="32552"/>
                  </a:lnTo>
                  <a:lnTo>
                    <a:pt x="150314" y="42135"/>
                  </a:lnTo>
                  <a:lnTo>
                    <a:pt x="171126" y="51214"/>
                  </a:lnTo>
                  <a:lnTo>
                    <a:pt x="1161701" y="51214"/>
                  </a:lnTo>
                  <a:lnTo>
                    <a:pt x="1171120" y="46907"/>
                  </a:lnTo>
                  <a:lnTo>
                    <a:pt x="1171120" y="32552"/>
                  </a:lnTo>
                  <a:close/>
                </a:path>
              </a:pathLst>
            </a:custGeom>
            <a:solidFill>
              <a:srgbClr val="000000"/>
            </a:solidFill>
          </p:spPr>
          <p:txBody>
            <a:bodyPr wrap="square" lIns="0" tIns="0" rIns="0" bIns="0" rtlCol="0"/>
            <a:lstStyle/>
            <a:p/>
          </p:txBody>
        </p:sp>
        <p:sp>
          <p:nvSpPr>
            <p:cNvPr id="86" name="object 86" descr=""/>
            <p:cNvSpPr/>
            <p:nvPr/>
          </p:nvSpPr>
          <p:spPr>
            <a:xfrm>
              <a:off x="6330874" y="5412399"/>
              <a:ext cx="1171575" cy="80010"/>
            </a:xfrm>
            <a:custGeom>
              <a:avLst/>
              <a:gdLst/>
              <a:ahLst/>
              <a:cxnLst/>
              <a:rect l="l" t="t" r="r" b="b"/>
              <a:pathLst>
                <a:path w="1171575" h="80010">
                  <a:moveTo>
                    <a:pt x="1152674" y="51214"/>
                  </a:moveTo>
                  <a:lnTo>
                    <a:pt x="150314" y="51214"/>
                  </a:lnTo>
                  <a:lnTo>
                    <a:pt x="141680" y="51214"/>
                  </a:lnTo>
                  <a:lnTo>
                    <a:pt x="141680" y="46907"/>
                  </a:lnTo>
                  <a:lnTo>
                    <a:pt x="131868" y="46907"/>
                  </a:lnTo>
                  <a:lnTo>
                    <a:pt x="131868" y="42135"/>
                  </a:lnTo>
                  <a:lnTo>
                    <a:pt x="131868" y="37343"/>
                  </a:lnTo>
                  <a:lnTo>
                    <a:pt x="141680" y="32552"/>
                  </a:lnTo>
                  <a:lnTo>
                    <a:pt x="150314" y="32552"/>
                  </a:lnTo>
                  <a:lnTo>
                    <a:pt x="1152674" y="32552"/>
                  </a:lnTo>
                  <a:lnTo>
                    <a:pt x="1161701" y="32552"/>
                  </a:lnTo>
                  <a:lnTo>
                    <a:pt x="1171120" y="32552"/>
                  </a:lnTo>
                  <a:lnTo>
                    <a:pt x="1171120" y="37343"/>
                  </a:lnTo>
                  <a:lnTo>
                    <a:pt x="1171120" y="42135"/>
                  </a:lnTo>
                  <a:lnTo>
                    <a:pt x="1171120" y="46907"/>
                  </a:lnTo>
                  <a:lnTo>
                    <a:pt x="1161701" y="51214"/>
                  </a:lnTo>
                  <a:lnTo>
                    <a:pt x="1152674" y="51214"/>
                  </a:lnTo>
                  <a:close/>
                </a:path>
                <a:path w="1171575" h="80010">
                  <a:moveTo>
                    <a:pt x="150314" y="42135"/>
                  </a:moveTo>
                  <a:lnTo>
                    <a:pt x="235872" y="79459"/>
                  </a:lnTo>
                  <a:lnTo>
                    <a:pt x="0" y="42135"/>
                  </a:lnTo>
                  <a:lnTo>
                    <a:pt x="235872" y="0"/>
                  </a:lnTo>
                  <a:lnTo>
                    <a:pt x="150314" y="42135"/>
                  </a:lnTo>
                  <a:close/>
                </a:path>
              </a:pathLst>
            </a:custGeom>
            <a:ln w="7263">
              <a:solidFill>
                <a:srgbClr val="000000"/>
              </a:solidFill>
            </a:ln>
          </p:spPr>
          <p:txBody>
            <a:bodyPr wrap="square" lIns="0" tIns="0" rIns="0" bIns="0" rtlCol="0"/>
            <a:lstStyle/>
            <a:p/>
          </p:txBody>
        </p:sp>
      </p:grpSp>
      <p:sp>
        <p:nvSpPr>
          <p:cNvPr id="87" name="object 87" descr=""/>
          <p:cNvSpPr txBox="1"/>
          <p:nvPr/>
        </p:nvSpPr>
        <p:spPr>
          <a:xfrm>
            <a:off x="4928381" y="1244348"/>
            <a:ext cx="1385570" cy="284480"/>
          </a:xfrm>
          <a:prstGeom prst="rect">
            <a:avLst/>
          </a:prstGeom>
          <a:solidFill>
            <a:srgbClr val="CCFFCC"/>
          </a:solidFill>
        </p:spPr>
        <p:txBody>
          <a:bodyPr wrap="square" lIns="0" tIns="0" rIns="0" bIns="0" rtlCol="0" vert="horz">
            <a:spAutoFit/>
          </a:bodyPr>
          <a:lstStyle/>
          <a:p>
            <a:pPr marL="448945">
              <a:lnSpc>
                <a:spcPts val="2150"/>
              </a:lnSpc>
            </a:pPr>
            <a:r>
              <a:rPr dirty="0" sz="1600" spc="-1530">
                <a:latin typeface="宋体"/>
                <a:cs typeface="宋体"/>
              </a:rPr>
              <a:t>…</a:t>
            </a:r>
            <a:r>
              <a:rPr dirty="0" baseline="-30092" sz="3600" spc="15">
                <a:solidFill>
                  <a:srgbClr val="FF0000"/>
                </a:solidFill>
                <a:latin typeface="Tahoma"/>
                <a:cs typeface="Tahoma"/>
              </a:rPr>
              <a:t>B</a:t>
            </a:r>
            <a:endParaRPr baseline="-30092" sz="3600">
              <a:latin typeface="Tahoma"/>
              <a:cs typeface="Tahoma"/>
            </a:endParaRPr>
          </a:p>
        </p:txBody>
      </p:sp>
      <p:sp>
        <p:nvSpPr>
          <p:cNvPr id="88" name="object 88" descr=""/>
          <p:cNvSpPr txBox="1"/>
          <p:nvPr/>
        </p:nvSpPr>
        <p:spPr>
          <a:xfrm>
            <a:off x="5364794" y="2221229"/>
            <a:ext cx="226060" cy="391160"/>
          </a:xfrm>
          <a:prstGeom prst="rect">
            <a:avLst/>
          </a:prstGeom>
        </p:spPr>
        <p:txBody>
          <a:bodyPr wrap="square" lIns="0" tIns="12700" rIns="0" bIns="0" rtlCol="0" vert="horz">
            <a:spAutoFit/>
          </a:bodyPr>
          <a:lstStyle/>
          <a:p>
            <a:pPr marL="12700">
              <a:lnSpc>
                <a:spcPct val="100000"/>
              </a:lnSpc>
              <a:spcBef>
                <a:spcPts val="100"/>
              </a:spcBef>
            </a:pPr>
            <a:r>
              <a:rPr dirty="0" sz="1600" spc="-1530">
                <a:latin typeface="宋体"/>
                <a:cs typeface="宋体"/>
              </a:rPr>
              <a:t>…</a:t>
            </a:r>
            <a:r>
              <a:rPr dirty="0" sz="2400" spc="10">
                <a:solidFill>
                  <a:srgbClr val="FF0000"/>
                </a:solidFill>
                <a:latin typeface="Tahoma"/>
                <a:cs typeface="Tahoma"/>
              </a:rPr>
              <a:t>C</a:t>
            </a:r>
            <a:endParaRPr sz="2400">
              <a:latin typeface="Tahoma"/>
              <a:cs typeface="Tahoma"/>
            </a:endParaRPr>
          </a:p>
        </p:txBody>
      </p:sp>
      <p:sp>
        <p:nvSpPr>
          <p:cNvPr id="89" name="object 89" descr=""/>
          <p:cNvSpPr txBox="1"/>
          <p:nvPr/>
        </p:nvSpPr>
        <p:spPr>
          <a:xfrm>
            <a:off x="8641091" y="4319778"/>
            <a:ext cx="332740" cy="257175"/>
          </a:xfrm>
          <a:prstGeom prst="rect">
            <a:avLst/>
          </a:prstGeom>
        </p:spPr>
        <p:txBody>
          <a:bodyPr wrap="square" lIns="0" tIns="13335" rIns="0" bIns="0" rtlCol="0" vert="vert">
            <a:spAutoFit/>
          </a:bodyPr>
          <a:lstStyle/>
          <a:p>
            <a:pPr marL="12700">
              <a:lnSpc>
                <a:spcPct val="100000"/>
              </a:lnSpc>
              <a:spcBef>
                <a:spcPts val="105"/>
              </a:spcBef>
            </a:pPr>
            <a:r>
              <a:rPr dirty="0" sz="2000" spc="-50" b="1">
                <a:solidFill>
                  <a:srgbClr val="40458B"/>
                </a:solidFill>
                <a:latin typeface="Tahoma"/>
                <a:cs typeface="Tahoma"/>
              </a:rPr>
              <a:t>—</a:t>
            </a:r>
            <a:endParaRPr sz="2000">
              <a:latin typeface="Tahoma"/>
              <a:cs typeface="Tahoma"/>
            </a:endParaRPr>
          </a:p>
        </p:txBody>
      </p:sp>
      <p:sp>
        <p:nvSpPr>
          <p:cNvPr id="90" name="object 90" descr=""/>
          <p:cNvSpPr txBox="1"/>
          <p:nvPr/>
        </p:nvSpPr>
        <p:spPr>
          <a:xfrm>
            <a:off x="8009314" y="1416358"/>
            <a:ext cx="928369" cy="3985260"/>
          </a:xfrm>
          <a:prstGeom prst="rect">
            <a:avLst/>
          </a:prstGeom>
        </p:spPr>
        <p:txBody>
          <a:bodyPr wrap="square" lIns="0" tIns="51435" rIns="0" bIns="0" rtlCol="0" vert="horz">
            <a:spAutoFit/>
          </a:bodyPr>
          <a:lstStyle/>
          <a:p>
            <a:pPr algn="just" marL="661035" marR="5080" indent="-648970">
              <a:lnSpc>
                <a:spcPct val="87400"/>
              </a:lnSpc>
              <a:spcBef>
                <a:spcPts val="405"/>
              </a:spcBef>
            </a:pPr>
            <a:r>
              <a:rPr dirty="0" sz="1400" spc="1425" b="1">
                <a:solidFill>
                  <a:srgbClr val="0000FF"/>
                </a:solidFill>
                <a:latin typeface="宋体"/>
                <a:cs typeface="宋体"/>
              </a:rPr>
              <a:t>存 </a:t>
            </a:r>
            <a:r>
              <a:rPr dirty="0" baseline="1388" sz="3000" spc="-75" b="1">
                <a:solidFill>
                  <a:srgbClr val="40458B"/>
                </a:solidFill>
                <a:latin typeface="宋体"/>
                <a:cs typeface="宋体"/>
              </a:rPr>
              <a:t>方</a:t>
            </a:r>
            <a:r>
              <a:rPr dirty="0" sz="2000" spc="-50" b="1">
                <a:solidFill>
                  <a:srgbClr val="40458B"/>
                </a:solidFill>
                <a:latin typeface="宋体"/>
                <a:cs typeface="宋体"/>
              </a:rPr>
              <a:t>案 </a:t>
            </a:r>
            <a:r>
              <a:rPr dirty="0" sz="2000" spc="-50" b="1">
                <a:solidFill>
                  <a:srgbClr val="40458B"/>
                </a:solidFill>
                <a:latin typeface="Tahoma"/>
                <a:cs typeface="Tahoma"/>
              </a:rPr>
              <a:t>1</a:t>
            </a:r>
            <a:endParaRPr sz="2000">
              <a:latin typeface="Tahoma"/>
              <a:cs typeface="Tahoma"/>
            </a:endParaRPr>
          </a:p>
          <a:p>
            <a:pPr algn="just" marL="661035" marR="5080">
              <a:lnSpc>
                <a:spcPts val="1980"/>
              </a:lnSpc>
              <a:spcBef>
                <a:spcPts val="135"/>
              </a:spcBef>
            </a:pPr>
            <a:r>
              <a:rPr dirty="0" sz="2000" spc="-50" b="1">
                <a:solidFill>
                  <a:srgbClr val="40458B"/>
                </a:solidFill>
                <a:latin typeface="宋体"/>
                <a:cs typeface="宋体"/>
              </a:rPr>
              <a:t>非链接过程意图</a:t>
            </a:r>
            <a:endParaRPr sz="2000">
              <a:latin typeface="宋体"/>
              <a:cs typeface="宋体"/>
            </a:endParaRPr>
          </a:p>
          <a:p>
            <a:pPr marL="716280">
              <a:lnSpc>
                <a:spcPts val="2270"/>
              </a:lnSpc>
            </a:pPr>
            <a:r>
              <a:rPr dirty="0" sz="2000" spc="-50" b="1">
                <a:solidFill>
                  <a:srgbClr val="40458B"/>
                </a:solidFill>
                <a:latin typeface="Tahoma"/>
                <a:cs typeface="Tahoma"/>
              </a:rPr>
              <a:t>1</a:t>
            </a:r>
            <a:endParaRPr sz="2000">
              <a:latin typeface="Tahoma"/>
              <a:cs typeface="Tahoma"/>
            </a:endParaRPr>
          </a:p>
          <a:p>
            <a:pPr marL="716280">
              <a:lnSpc>
                <a:spcPts val="2260"/>
              </a:lnSpc>
              <a:spcBef>
                <a:spcPts val="1810"/>
              </a:spcBef>
            </a:pPr>
            <a:r>
              <a:rPr dirty="0" sz="2000" spc="-50" b="1">
                <a:solidFill>
                  <a:srgbClr val="40458B"/>
                </a:solidFill>
                <a:latin typeface="Tahoma"/>
                <a:cs typeface="Tahoma"/>
              </a:rPr>
              <a:t>4</a:t>
            </a:r>
            <a:endParaRPr sz="2000">
              <a:latin typeface="Tahoma"/>
              <a:cs typeface="Tahoma"/>
            </a:endParaRPr>
          </a:p>
          <a:p>
            <a:pPr marL="661035" marR="5080">
              <a:lnSpc>
                <a:spcPts val="1980"/>
              </a:lnSpc>
              <a:spcBef>
                <a:spcPts val="275"/>
              </a:spcBef>
            </a:pPr>
            <a:r>
              <a:rPr dirty="0" sz="2000" spc="-50" b="1">
                <a:solidFill>
                  <a:srgbClr val="40458B"/>
                </a:solidFill>
                <a:latin typeface="宋体"/>
                <a:cs typeface="宋体"/>
              </a:rPr>
              <a:t>步骤</a:t>
            </a:r>
            <a:endParaRPr sz="2000">
              <a:latin typeface="宋体"/>
              <a:cs typeface="宋体"/>
            </a:endParaRPr>
          </a:p>
        </p:txBody>
      </p:sp>
      <p:sp>
        <p:nvSpPr>
          <p:cNvPr id="91" name="object 91" descr=""/>
          <p:cNvSpPr txBox="1"/>
          <p:nvPr/>
        </p:nvSpPr>
        <p:spPr>
          <a:xfrm>
            <a:off x="6739508" y="5477967"/>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4</a:t>
            </a:r>
            <a:endParaRPr sz="2400">
              <a:latin typeface="Tahoma"/>
              <a:cs typeface="Tahoma"/>
            </a:endParaRPr>
          </a:p>
        </p:txBody>
      </p:sp>
      <p:sp>
        <p:nvSpPr>
          <p:cNvPr id="92" name="object 92" descr=""/>
          <p:cNvSpPr txBox="1"/>
          <p:nvPr/>
        </p:nvSpPr>
        <p:spPr>
          <a:xfrm>
            <a:off x="6561581" y="3691890"/>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2</a:t>
            </a:r>
            <a:endParaRPr sz="2400">
              <a:latin typeface="Tahoma"/>
              <a:cs typeface="Tahoma"/>
            </a:endParaRPr>
          </a:p>
        </p:txBody>
      </p:sp>
      <p:sp>
        <p:nvSpPr>
          <p:cNvPr id="93" name="object 93" descr=""/>
          <p:cNvSpPr txBox="1"/>
          <p:nvPr/>
        </p:nvSpPr>
        <p:spPr>
          <a:xfrm>
            <a:off x="4928381" y="3412035"/>
            <a:ext cx="1385570" cy="284480"/>
          </a:xfrm>
          <a:prstGeom prst="rect">
            <a:avLst/>
          </a:prstGeom>
          <a:solidFill>
            <a:srgbClr val="CCFFCC"/>
          </a:solidFill>
        </p:spPr>
        <p:txBody>
          <a:bodyPr wrap="square" lIns="0" tIns="0" rIns="0" bIns="0" rtlCol="0" vert="horz">
            <a:spAutoFit/>
          </a:bodyPr>
          <a:lstStyle/>
          <a:p>
            <a:pPr marL="162560">
              <a:lnSpc>
                <a:spcPts val="1845"/>
              </a:lnSpc>
            </a:pPr>
            <a:r>
              <a:rPr dirty="0" sz="2400" spc="55">
                <a:solidFill>
                  <a:srgbClr val="FF0000"/>
                </a:solidFill>
                <a:latin typeface="Tahoma"/>
                <a:cs typeface="Tahoma"/>
              </a:rPr>
              <a:t>E</a:t>
            </a:r>
            <a:r>
              <a:rPr dirty="0" sz="2400" spc="-800">
                <a:solidFill>
                  <a:srgbClr val="FF0000"/>
                </a:solidFill>
                <a:latin typeface="Tahoma"/>
                <a:cs typeface="Tahoma"/>
              </a:rPr>
              <a:t>=</a:t>
            </a:r>
            <a:r>
              <a:rPr dirty="0" baseline="-10416" sz="2400" spc="-1710">
                <a:latin typeface="宋体"/>
                <a:cs typeface="宋体"/>
              </a:rPr>
              <a:t>…</a:t>
            </a:r>
            <a:r>
              <a:rPr dirty="0" sz="2400" spc="55">
                <a:solidFill>
                  <a:srgbClr val="FF0000"/>
                </a:solidFill>
                <a:latin typeface="Tahoma"/>
                <a:cs typeface="Tahoma"/>
              </a:rPr>
              <a:t>B+C</a:t>
            </a:r>
            <a:endParaRPr sz="2400">
              <a:latin typeface="Tahoma"/>
              <a:cs typeface="Tahoma"/>
            </a:endParaRPr>
          </a:p>
        </p:txBody>
      </p:sp>
      <p:sp>
        <p:nvSpPr>
          <p:cNvPr id="94" name="object 94" descr=""/>
          <p:cNvSpPr txBox="1"/>
          <p:nvPr/>
        </p:nvSpPr>
        <p:spPr>
          <a:xfrm>
            <a:off x="7749285" y="2638501"/>
            <a:ext cx="19240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1</a:t>
            </a:r>
            <a:endParaRPr sz="2400">
              <a:latin typeface="Tahoma"/>
              <a:cs typeface="Tahoma"/>
            </a:endParaRPr>
          </a:p>
        </p:txBody>
      </p:sp>
      <p:sp>
        <p:nvSpPr>
          <p:cNvPr id="95" name="object 95" descr=""/>
          <p:cNvSpPr txBox="1"/>
          <p:nvPr/>
        </p:nvSpPr>
        <p:spPr>
          <a:xfrm>
            <a:off x="4928361" y="4493725"/>
            <a:ext cx="1385570" cy="289560"/>
          </a:xfrm>
          <a:prstGeom prst="rect">
            <a:avLst/>
          </a:prstGeom>
          <a:solidFill>
            <a:srgbClr val="CCFFCC"/>
          </a:solidFill>
        </p:spPr>
        <p:txBody>
          <a:bodyPr wrap="square" lIns="0" tIns="0" rIns="0" bIns="0" rtlCol="0" vert="horz">
            <a:spAutoFit/>
          </a:bodyPr>
          <a:lstStyle/>
          <a:p>
            <a:pPr marL="448945">
              <a:lnSpc>
                <a:spcPts val="1925"/>
              </a:lnSpc>
            </a:pPr>
            <a:r>
              <a:rPr dirty="0" baseline="-6944" sz="2400" spc="-712">
                <a:latin typeface="宋体"/>
                <a:cs typeface="宋体"/>
              </a:rPr>
              <a:t>…</a:t>
            </a:r>
            <a:r>
              <a:rPr dirty="0" sz="2400" spc="425">
                <a:solidFill>
                  <a:srgbClr val="FF0000"/>
                </a:solidFill>
                <a:latin typeface="Tahoma"/>
                <a:cs typeface="Tahoma"/>
              </a:rPr>
              <a:t>A</a:t>
            </a:r>
            <a:endParaRPr sz="2400">
              <a:latin typeface="Tahoma"/>
              <a:cs typeface="Tahoma"/>
            </a:endParaRPr>
          </a:p>
        </p:txBody>
      </p:sp>
      <p:sp>
        <p:nvSpPr>
          <p:cNvPr id="96" name="object 96" descr=""/>
          <p:cNvSpPr txBox="1"/>
          <p:nvPr/>
        </p:nvSpPr>
        <p:spPr>
          <a:xfrm>
            <a:off x="3048000" y="4367606"/>
            <a:ext cx="1764664" cy="391795"/>
          </a:xfrm>
          <a:prstGeom prst="rect">
            <a:avLst/>
          </a:prstGeom>
        </p:spPr>
        <p:txBody>
          <a:bodyPr wrap="square" lIns="0" tIns="12700" rIns="0" bIns="0" rtlCol="0" vert="horz">
            <a:spAutoFit/>
          </a:bodyPr>
          <a:lstStyle/>
          <a:p>
            <a:pPr marL="38100">
              <a:lnSpc>
                <a:spcPct val="100000"/>
              </a:lnSpc>
              <a:spcBef>
                <a:spcPts val="100"/>
              </a:spcBef>
              <a:tabLst>
                <a:tab pos="504190" algn="l"/>
              </a:tabLst>
            </a:pPr>
            <a:r>
              <a:rPr dirty="0" sz="2400" spc="-50">
                <a:solidFill>
                  <a:srgbClr val="FF0000"/>
                </a:solidFill>
                <a:latin typeface="Tahoma"/>
                <a:cs typeface="Tahoma"/>
              </a:rPr>
              <a:t>3</a:t>
            </a:r>
            <a:r>
              <a:rPr dirty="0" sz="2400">
                <a:solidFill>
                  <a:srgbClr val="FF0000"/>
                </a:solidFill>
                <a:latin typeface="Tahoma"/>
                <a:cs typeface="Tahoma"/>
              </a:rPr>
              <a:t>	</a:t>
            </a:r>
            <a:r>
              <a:rPr dirty="0" sz="2400" spc="105">
                <a:solidFill>
                  <a:srgbClr val="FF0000"/>
                </a:solidFill>
                <a:latin typeface="Tahoma"/>
                <a:cs typeface="Tahoma"/>
              </a:rPr>
              <a:t>A*(B</a:t>
            </a:r>
            <a:r>
              <a:rPr dirty="0" sz="2400" spc="-160">
                <a:solidFill>
                  <a:srgbClr val="FF0000"/>
                </a:solidFill>
                <a:latin typeface="Tahoma"/>
                <a:cs typeface="Tahoma"/>
              </a:rPr>
              <a:t>+</a:t>
            </a:r>
            <a:r>
              <a:rPr dirty="0" baseline="9920" sz="2100" spc="-1177" b="1">
                <a:latin typeface="Times New Roman"/>
                <a:cs typeface="Times New Roman"/>
              </a:rPr>
              <a:t>V</a:t>
            </a:r>
            <a:r>
              <a:rPr dirty="0" sz="2400" spc="105">
                <a:solidFill>
                  <a:srgbClr val="FF0000"/>
                </a:solidFill>
                <a:latin typeface="Tahoma"/>
                <a:cs typeface="Tahoma"/>
              </a:rPr>
              <a:t>C</a:t>
            </a:r>
            <a:r>
              <a:rPr dirty="0" sz="2400" spc="-525">
                <a:solidFill>
                  <a:srgbClr val="FF0000"/>
                </a:solidFill>
                <a:latin typeface="Tahoma"/>
                <a:cs typeface="Tahoma"/>
              </a:rPr>
              <a:t>)</a:t>
            </a:r>
            <a:r>
              <a:rPr dirty="0" sz="900" spc="105" b="1">
                <a:latin typeface="Times New Roman"/>
                <a:cs typeface="Times New Roman"/>
              </a:rPr>
              <a:t>3</a:t>
            </a:r>
            <a:endParaRPr sz="900">
              <a:latin typeface="Times New Roman"/>
              <a:cs typeface="Times New Roman"/>
            </a:endParaRPr>
          </a:p>
        </p:txBody>
      </p:sp>
      <p:sp>
        <p:nvSpPr>
          <p:cNvPr id="97" name="object 97" descr=""/>
          <p:cNvSpPr txBox="1"/>
          <p:nvPr/>
        </p:nvSpPr>
        <p:spPr>
          <a:xfrm>
            <a:off x="3101975" y="5176265"/>
            <a:ext cx="1828164" cy="512445"/>
          </a:xfrm>
          <a:prstGeom prst="rect">
            <a:avLst/>
          </a:prstGeom>
        </p:spPr>
        <p:txBody>
          <a:bodyPr wrap="square" lIns="0" tIns="12065" rIns="0" bIns="0" rtlCol="0" vert="horz">
            <a:spAutoFit/>
          </a:bodyPr>
          <a:lstStyle/>
          <a:p>
            <a:pPr marL="38100" marR="30480">
              <a:lnSpc>
                <a:spcPct val="100000"/>
              </a:lnSpc>
              <a:spcBef>
                <a:spcPts val="95"/>
              </a:spcBef>
            </a:pPr>
            <a:r>
              <a:rPr dirty="0" sz="1600" spc="-10">
                <a:solidFill>
                  <a:srgbClr val="FF5CFF"/>
                </a:solidFill>
                <a:latin typeface="Tahoma"/>
                <a:cs typeface="Tahoma"/>
              </a:rPr>
              <a:t>A</a:t>
            </a:r>
            <a:r>
              <a:rPr dirty="0" sz="1600" spc="-20">
                <a:solidFill>
                  <a:srgbClr val="FF5CFF"/>
                </a:solidFill>
                <a:latin typeface="黑体"/>
                <a:cs typeface="黑体"/>
              </a:rPr>
              <a:t>写入的同时可直接</a:t>
            </a:r>
            <a:r>
              <a:rPr dirty="0" sz="1600" spc="-25">
                <a:solidFill>
                  <a:srgbClr val="FF5CFF"/>
                </a:solidFill>
                <a:latin typeface="黑体"/>
                <a:cs typeface="黑体"/>
              </a:rPr>
              <a:t>提供给浮点乘</a:t>
            </a:r>
            <a:r>
              <a:rPr dirty="0" sz="1600" spc="-1390">
                <a:solidFill>
                  <a:srgbClr val="FF5CFF"/>
                </a:solidFill>
                <a:latin typeface="黑体"/>
                <a:cs typeface="黑体"/>
              </a:rPr>
              <a:t>部</a:t>
            </a:r>
            <a:r>
              <a:rPr dirty="0" baseline="25793" sz="2100" spc="525" b="1">
                <a:latin typeface="Times New Roman"/>
                <a:cs typeface="Times New Roman"/>
              </a:rPr>
              <a:t>V</a:t>
            </a:r>
            <a:r>
              <a:rPr dirty="0" sz="1600" spc="-980">
                <a:solidFill>
                  <a:srgbClr val="FF5CFF"/>
                </a:solidFill>
                <a:latin typeface="黑体"/>
                <a:cs typeface="黑体"/>
              </a:rPr>
              <a:t>件</a:t>
            </a:r>
            <a:r>
              <a:rPr dirty="0" baseline="24691" sz="1350" spc="644" b="1">
                <a:latin typeface="Times New Roman"/>
                <a:cs typeface="Times New Roman"/>
              </a:rPr>
              <a:t>4</a:t>
            </a:r>
            <a:endParaRPr baseline="24691" sz="1350">
              <a:latin typeface="Times New Roman"/>
              <a:cs typeface="Times New Roman"/>
            </a:endParaRPr>
          </a:p>
        </p:txBody>
      </p:sp>
      <p:sp>
        <p:nvSpPr>
          <p:cNvPr id="98" name="object 98"/>
          <p:cNvSpPr txBox="1">
            <a:spLocks noGrp="1"/>
          </p:cNvSpPr>
          <p:nvPr>
            <p:ph type="title"/>
          </p:nvPr>
        </p:nvSpPr>
        <p:spPr>
          <a:xfrm>
            <a:off x="1083665" y="128396"/>
            <a:ext cx="2326005" cy="391160"/>
          </a:xfrm>
          <a:prstGeom prst="rect"/>
        </p:spPr>
        <p:txBody>
          <a:bodyPr wrap="square" lIns="0" tIns="12700" rIns="0" bIns="0" rtlCol="0" vert="horz">
            <a:spAutoFit/>
          </a:bodyPr>
          <a:lstStyle/>
          <a:p>
            <a:pPr marL="12700">
              <a:lnSpc>
                <a:spcPct val="100000"/>
              </a:lnSpc>
              <a:spcBef>
                <a:spcPts val="100"/>
              </a:spcBef>
            </a:pPr>
            <a:r>
              <a:rPr dirty="0" sz="2400" spc="-5">
                <a:solidFill>
                  <a:srgbClr val="40458B"/>
                </a:solidFill>
              </a:rPr>
              <a:t>方案</a:t>
            </a:r>
            <a:r>
              <a:rPr dirty="0" sz="2400" spc="-10">
                <a:solidFill>
                  <a:srgbClr val="40458B"/>
                </a:solidFill>
                <a:latin typeface="Tahoma"/>
                <a:cs typeface="Tahoma"/>
              </a:rPr>
              <a:t>1</a:t>
            </a:r>
            <a:r>
              <a:rPr dirty="0" sz="2400" spc="-15">
                <a:solidFill>
                  <a:srgbClr val="40458B"/>
                </a:solidFill>
              </a:rPr>
              <a:t>：全部串行</a:t>
            </a:r>
            <a:endParaRPr sz="2400">
              <a:latin typeface="Tahoma"/>
              <a:cs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887679" y="3915040"/>
            <a:ext cx="7798434" cy="2334895"/>
          </a:xfrm>
          <a:prstGeom prst="rect">
            <a:avLst/>
          </a:prstGeom>
        </p:spPr>
        <p:txBody>
          <a:bodyPr wrap="square" lIns="0" tIns="205104" rIns="0" bIns="0" rtlCol="0" vert="horz">
            <a:spAutoFit/>
          </a:bodyPr>
          <a:lstStyle/>
          <a:p>
            <a:pPr marL="469265" indent="-456565">
              <a:lnSpc>
                <a:spcPct val="100000"/>
              </a:lnSpc>
              <a:spcBef>
                <a:spcPts val="1614"/>
              </a:spcBef>
              <a:buClr>
                <a:srgbClr val="40458B"/>
              </a:buClr>
              <a:buSzPct val="89583"/>
              <a:buFont typeface="Wingdings"/>
              <a:buChar char=""/>
              <a:tabLst>
                <a:tab pos="469265" algn="l"/>
              </a:tabLst>
            </a:pPr>
            <a:r>
              <a:rPr dirty="0" sz="2400" spc="-10">
                <a:solidFill>
                  <a:srgbClr val="FF0000"/>
                </a:solidFill>
                <a:latin typeface="黑体"/>
                <a:cs typeface="黑体"/>
              </a:rPr>
              <a:t>方案1</a:t>
            </a:r>
            <a:r>
              <a:rPr dirty="0" sz="2400" spc="-10">
                <a:solidFill>
                  <a:srgbClr val="9933FF"/>
                </a:solidFill>
                <a:latin typeface="黑体"/>
                <a:cs typeface="黑体"/>
              </a:rPr>
              <a:t>：3</a:t>
            </a:r>
            <a:r>
              <a:rPr dirty="0" sz="2400" spc="-15">
                <a:solidFill>
                  <a:srgbClr val="40458B"/>
                </a:solidFill>
                <a:latin typeface="黑体"/>
                <a:cs typeface="黑体"/>
              </a:rPr>
              <a:t>条指令全部用串行方法执行，则执行时间为：</a:t>
            </a:r>
            <a:endParaRPr sz="2400">
              <a:latin typeface="黑体"/>
              <a:cs typeface="黑体"/>
            </a:endParaRPr>
          </a:p>
          <a:p>
            <a:pPr marL="429895">
              <a:lnSpc>
                <a:spcPct val="100000"/>
              </a:lnSpc>
              <a:spcBef>
                <a:spcPts val="1265"/>
              </a:spcBef>
            </a:pPr>
            <a:r>
              <a:rPr dirty="0" sz="2000" spc="-10" b="1">
                <a:solidFill>
                  <a:srgbClr val="E14B04"/>
                </a:solidFill>
                <a:latin typeface="宋体"/>
                <a:cs typeface="宋体"/>
              </a:rPr>
              <a:t>[（1＋6＋1）＋N－1]＋[（1＋6＋1）＋N－1]</a:t>
            </a:r>
            <a:endParaRPr sz="2000">
              <a:latin typeface="宋体"/>
              <a:cs typeface="宋体"/>
            </a:endParaRPr>
          </a:p>
          <a:p>
            <a:pPr marL="1826260">
              <a:lnSpc>
                <a:spcPct val="100000"/>
              </a:lnSpc>
              <a:spcBef>
                <a:spcPts val="855"/>
              </a:spcBef>
            </a:pPr>
            <a:r>
              <a:rPr dirty="0" sz="2000" b="1">
                <a:solidFill>
                  <a:srgbClr val="E14B04"/>
                </a:solidFill>
                <a:latin typeface="宋体"/>
                <a:cs typeface="宋体"/>
              </a:rPr>
              <a:t>＋[（1＋7＋1）＋N－1]</a:t>
            </a:r>
            <a:r>
              <a:rPr dirty="0" sz="2000" spc="-45" b="1">
                <a:solidFill>
                  <a:srgbClr val="E14B04"/>
                </a:solidFill>
                <a:latin typeface="宋体"/>
                <a:cs typeface="宋体"/>
              </a:rPr>
              <a:t> = </a:t>
            </a:r>
            <a:r>
              <a:rPr dirty="0" sz="2000" b="1">
                <a:solidFill>
                  <a:srgbClr val="E14B04"/>
                </a:solidFill>
                <a:latin typeface="宋体"/>
                <a:cs typeface="宋体"/>
              </a:rPr>
              <a:t>3N</a:t>
            </a:r>
            <a:r>
              <a:rPr dirty="0" sz="2000" spc="-25" b="1">
                <a:solidFill>
                  <a:srgbClr val="E14B04"/>
                </a:solidFill>
                <a:latin typeface="宋体"/>
                <a:cs typeface="宋体"/>
              </a:rPr>
              <a:t> ＋</a:t>
            </a:r>
            <a:r>
              <a:rPr dirty="0" sz="2000" b="1">
                <a:solidFill>
                  <a:srgbClr val="E14B04"/>
                </a:solidFill>
                <a:latin typeface="宋体"/>
                <a:cs typeface="宋体"/>
              </a:rPr>
              <a:t>22</a:t>
            </a:r>
            <a:r>
              <a:rPr dirty="0" sz="2000" spc="-50" b="1">
                <a:solidFill>
                  <a:srgbClr val="E14B04"/>
                </a:solidFill>
                <a:latin typeface="宋体"/>
                <a:cs typeface="宋体"/>
              </a:rPr>
              <a:t> </a:t>
            </a:r>
            <a:r>
              <a:rPr dirty="0" sz="2000" spc="-10" b="1">
                <a:solidFill>
                  <a:srgbClr val="E14B04"/>
                </a:solidFill>
                <a:latin typeface="宋体"/>
                <a:cs typeface="宋体"/>
              </a:rPr>
              <a:t>（拍</a:t>
            </a:r>
            <a:r>
              <a:rPr dirty="0" sz="2000" spc="-50" b="1">
                <a:solidFill>
                  <a:srgbClr val="E14B04"/>
                </a:solidFill>
                <a:latin typeface="宋体"/>
                <a:cs typeface="宋体"/>
              </a:rPr>
              <a:t>）</a:t>
            </a:r>
            <a:endParaRPr sz="2000">
              <a:latin typeface="宋体"/>
              <a:cs typeface="宋体"/>
            </a:endParaRPr>
          </a:p>
          <a:p>
            <a:pPr marL="469265" indent="-456565">
              <a:lnSpc>
                <a:spcPct val="100000"/>
              </a:lnSpc>
              <a:spcBef>
                <a:spcPts val="810"/>
              </a:spcBef>
              <a:buClr>
                <a:srgbClr val="40458B"/>
              </a:buClr>
              <a:buSzPct val="89583"/>
              <a:buFont typeface="Wingdings"/>
              <a:buChar char=""/>
              <a:tabLst>
                <a:tab pos="469265" algn="l"/>
              </a:tabLst>
            </a:pPr>
            <a:r>
              <a:rPr dirty="0" sz="2400" spc="-10">
                <a:solidFill>
                  <a:srgbClr val="FF0000"/>
                </a:solidFill>
                <a:latin typeface="黑体"/>
                <a:cs typeface="黑体"/>
              </a:rPr>
              <a:t>方案</a:t>
            </a:r>
            <a:r>
              <a:rPr dirty="0" sz="2400" spc="-25">
                <a:solidFill>
                  <a:srgbClr val="FF0000"/>
                </a:solidFill>
                <a:latin typeface="Tahoma"/>
                <a:cs typeface="Tahoma"/>
              </a:rPr>
              <a:t>1</a:t>
            </a:r>
            <a:r>
              <a:rPr dirty="0" sz="2400" spc="-10">
                <a:solidFill>
                  <a:srgbClr val="FF0000"/>
                </a:solidFill>
                <a:latin typeface="黑体"/>
                <a:cs typeface="黑体"/>
              </a:rPr>
              <a:t>性能</a:t>
            </a:r>
            <a:r>
              <a:rPr dirty="0" sz="2400">
                <a:solidFill>
                  <a:srgbClr val="40458B"/>
                </a:solidFill>
                <a:latin typeface="黑体"/>
                <a:cs typeface="黑体"/>
              </a:rPr>
              <a:t>：</a:t>
            </a:r>
            <a:r>
              <a:rPr dirty="0" sz="2400" b="1">
                <a:solidFill>
                  <a:srgbClr val="40458B"/>
                </a:solidFill>
                <a:latin typeface="宋体"/>
                <a:cs typeface="宋体"/>
              </a:rPr>
              <a:t>3N</a:t>
            </a:r>
            <a:r>
              <a:rPr dirty="0" sz="2400" spc="10" b="1">
                <a:solidFill>
                  <a:srgbClr val="40458B"/>
                </a:solidFill>
                <a:latin typeface="宋体"/>
                <a:cs typeface="宋体"/>
              </a:rPr>
              <a:t> ＋</a:t>
            </a:r>
            <a:r>
              <a:rPr dirty="0" sz="2400" b="1">
                <a:solidFill>
                  <a:srgbClr val="40458B"/>
                </a:solidFill>
                <a:latin typeface="宋体"/>
                <a:cs typeface="宋体"/>
              </a:rPr>
              <a:t>22</a:t>
            </a:r>
            <a:r>
              <a:rPr dirty="0" sz="2400" spc="5" b="1">
                <a:solidFill>
                  <a:srgbClr val="40458B"/>
                </a:solidFill>
                <a:latin typeface="宋体"/>
                <a:cs typeface="宋体"/>
              </a:rPr>
              <a:t> </a:t>
            </a:r>
            <a:r>
              <a:rPr dirty="0" sz="2400" spc="-25" b="1">
                <a:solidFill>
                  <a:srgbClr val="40458B"/>
                </a:solidFill>
                <a:latin typeface="宋体"/>
                <a:cs typeface="宋体"/>
              </a:rPr>
              <a:t>（拍</a:t>
            </a:r>
            <a:r>
              <a:rPr dirty="0" sz="2400" spc="-50" b="1">
                <a:solidFill>
                  <a:srgbClr val="40458B"/>
                </a:solidFill>
                <a:latin typeface="宋体"/>
                <a:cs typeface="宋体"/>
              </a:rPr>
              <a:t>）</a:t>
            </a:r>
            <a:endParaRPr sz="2400">
              <a:latin typeface="宋体"/>
              <a:cs typeface="宋体"/>
            </a:endParaRPr>
          </a:p>
          <a:p>
            <a:pPr lvl="1" marL="1282065" indent="-457200">
              <a:lnSpc>
                <a:spcPct val="100000"/>
              </a:lnSpc>
              <a:spcBef>
                <a:spcPts val="775"/>
              </a:spcBef>
              <a:buClr>
                <a:srgbClr val="4668F5"/>
              </a:buClr>
              <a:buSzPct val="65000"/>
              <a:buFont typeface="Wingdings"/>
              <a:buChar char=""/>
              <a:tabLst>
                <a:tab pos="1282065" algn="l"/>
              </a:tabLst>
            </a:pPr>
            <a:r>
              <a:rPr dirty="0" sz="2000" spc="-15" b="1">
                <a:solidFill>
                  <a:srgbClr val="00AFEF"/>
                </a:solidFill>
                <a:latin typeface="宋体"/>
                <a:cs typeface="宋体"/>
              </a:rPr>
              <a:t>说明执行时间与向量长度有关</a:t>
            </a:r>
            <a:endParaRPr sz="2000">
              <a:latin typeface="宋体"/>
              <a:cs typeface="宋体"/>
            </a:endParaRPr>
          </a:p>
        </p:txBody>
      </p:sp>
      <p:pic>
        <p:nvPicPr>
          <p:cNvPr id="11" name="object 11" descr=""/>
          <p:cNvPicPr/>
          <p:nvPr/>
        </p:nvPicPr>
        <p:blipFill>
          <a:blip r:embed="rId2" cstate="print"/>
          <a:stretch>
            <a:fillRect/>
          </a:stretch>
        </p:blipFill>
        <p:spPr>
          <a:xfrm>
            <a:off x="256075" y="1090602"/>
            <a:ext cx="1148744" cy="1557358"/>
          </a:xfrm>
          <a:prstGeom prst="rect">
            <a:avLst/>
          </a:prstGeom>
        </p:spPr>
      </p:pic>
      <p:pic>
        <p:nvPicPr>
          <p:cNvPr id="12" name="object 12" descr=""/>
          <p:cNvPicPr/>
          <p:nvPr/>
        </p:nvPicPr>
        <p:blipFill>
          <a:blip r:embed="rId3" cstate="print"/>
          <a:stretch>
            <a:fillRect/>
          </a:stretch>
        </p:blipFill>
        <p:spPr>
          <a:xfrm>
            <a:off x="1835150" y="789051"/>
            <a:ext cx="7018274" cy="28590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45745"/>
            <a:ext cx="7867015" cy="514350"/>
          </a:xfrm>
          <a:prstGeom prst="rect"/>
        </p:spPr>
        <p:txBody>
          <a:bodyPr wrap="square" lIns="0" tIns="13335" rIns="0" bIns="0" rtlCol="0" vert="horz">
            <a:spAutoFit/>
          </a:bodyPr>
          <a:lstStyle/>
          <a:p>
            <a:pPr marL="12700">
              <a:lnSpc>
                <a:spcPct val="100000"/>
              </a:lnSpc>
              <a:spcBef>
                <a:spcPts val="105"/>
              </a:spcBef>
            </a:pPr>
            <a:r>
              <a:rPr dirty="0" spc="-5"/>
              <a:t>串行，方案</a:t>
            </a:r>
            <a:r>
              <a:rPr dirty="0">
                <a:latin typeface="Tahoma"/>
                <a:cs typeface="Tahoma"/>
              </a:rPr>
              <a:t>1</a:t>
            </a:r>
            <a:r>
              <a:rPr dirty="0" spc="-10"/>
              <a:t>执行过程</a:t>
            </a:r>
            <a:r>
              <a:rPr dirty="0" spc="-15">
                <a:latin typeface="Tahoma"/>
                <a:cs typeface="Tahoma"/>
              </a:rPr>
              <a:t>--</a:t>
            </a:r>
            <a:r>
              <a:rPr dirty="0"/>
              <a:t>（</a:t>
            </a:r>
            <a:r>
              <a:rPr dirty="0" spc="-10"/>
              <a:t>不讲，辅助理解</a:t>
            </a:r>
            <a:r>
              <a:rPr dirty="0" spc="-50"/>
              <a:t>）</a:t>
            </a:r>
          </a:p>
        </p:txBody>
      </p:sp>
      <p:grpSp>
        <p:nvGrpSpPr>
          <p:cNvPr id="10" name="object 10" descr=""/>
          <p:cNvGrpSpPr/>
          <p:nvPr/>
        </p:nvGrpSpPr>
        <p:grpSpPr>
          <a:xfrm>
            <a:off x="949325" y="1550987"/>
            <a:ext cx="7510780" cy="4251325"/>
            <a:chOff x="949325" y="1550987"/>
            <a:chExt cx="7510780" cy="4251325"/>
          </a:xfrm>
        </p:grpSpPr>
        <p:pic>
          <p:nvPicPr>
            <p:cNvPr id="11" name="object 11" descr=""/>
            <p:cNvPicPr/>
            <p:nvPr/>
          </p:nvPicPr>
          <p:blipFill>
            <a:blip r:embed="rId2" cstate="print"/>
            <a:stretch>
              <a:fillRect/>
            </a:stretch>
          </p:blipFill>
          <p:spPr>
            <a:xfrm>
              <a:off x="949325" y="1550987"/>
              <a:ext cx="7510399" cy="4251325"/>
            </a:xfrm>
            <a:prstGeom prst="rect">
              <a:avLst/>
            </a:prstGeom>
          </p:spPr>
        </p:pic>
        <p:pic>
          <p:nvPicPr>
            <p:cNvPr id="12" name="object 12" descr=""/>
            <p:cNvPicPr/>
            <p:nvPr/>
          </p:nvPicPr>
          <p:blipFill>
            <a:blip r:embed="rId3" cstate="print"/>
            <a:stretch>
              <a:fillRect/>
            </a:stretch>
          </p:blipFill>
          <p:spPr>
            <a:xfrm>
              <a:off x="4284726" y="5445125"/>
              <a:ext cx="2808224" cy="239712"/>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276809"/>
            <a:ext cx="7951470" cy="391795"/>
          </a:xfrm>
          <a:prstGeom prst="rect"/>
        </p:spPr>
        <p:txBody>
          <a:bodyPr wrap="square" lIns="0" tIns="12700" rIns="0" bIns="0" rtlCol="0" vert="horz">
            <a:spAutoFit/>
          </a:bodyPr>
          <a:lstStyle/>
          <a:p>
            <a:pPr marL="12700">
              <a:lnSpc>
                <a:spcPct val="100000"/>
              </a:lnSpc>
              <a:spcBef>
                <a:spcPts val="100"/>
              </a:spcBef>
            </a:pPr>
            <a:r>
              <a:rPr dirty="0" sz="2400" spc="-10">
                <a:solidFill>
                  <a:srgbClr val="FF0000"/>
                </a:solidFill>
              </a:rPr>
              <a:t>方案2</a:t>
            </a:r>
            <a:r>
              <a:rPr dirty="0" sz="2400" spc="-10"/>
              <a:t>：前两条指令并行执行，然后再串行执行第3</a:t>
            </a:r>
            <a:r>
              <a:rPr dirty="0" sz="2400" spc="-20"/>
              <a:t>条指令，</a:t>
            </a:r>
            <a:endParaRPr sz="2400"/>
          </a:p>
        </p:txBody>
      </p:sp>
      <p:sp>
        <p:nvSpPr>
          <p:cNvPr id="10" name="object 10" descr=""/>
          <p:cNvSpPr txBox="1"/>
          <p:nvPr/>
        </p:nvSpPr>
        <p:spPr>
          <a:xfrm>
            <a:off x="384454" y="3135883"/>
            <a:ext cx="8422640" cy="1296035"/>
          </a:xfrm>
          <a:prstGeom prst="rect">
            <a:avLst/>
          </a:prstGeom>
        </p:spPr>
        <p:txBody>
          <a:bodyPr wrap="square" lIns="0" tIns="12700" rIns="0" bIns="0" rtlCol="0" vert="horz">
            <a:spAutoFit/>
          </a:bodyPr>
          <a:lstStyle/>
          <a:p>
            <a:pPr marL="469900" marR="5080" indent="-457200">
              <a:lnSpc>
                <a:spcPct val="110000"/>
              </a:lnSpc>
              <a:spcBef>
                <a:spcPts val="100"/>
              </a:spcBef>
              <a:buClr>
                <a:srgbClr val="40458B"/>
              </a:buClr>
              <a:buSzPct val="89583"/>
              <a:buFont typeface="Wingdings"/>
              <a:buChar char=""/>
              <a:tabLst>
                <a:tab pos="469900" algn="l"/>
              </a:tabLst>
            </a:pPr>
            <a:r>
              <a:rPr dirty="0" sz="2400" spc="-5">
                <a:solidFill>
                  <a:srgbClr val="FF0000"/>
                </a:solidFill>
                <a:latin typeface="黑体"/>
                <a:cs typeface="黑体"/>
              </a:rPr>
              <a:t>方案</a:t>
            </a:r>
            <a:r>
              <a:rPr dirty="0" sz="2400" spc="-10">
                <a:solidFill>
                  <a:srgbClr val="FF0000"/>
                </a:solidFill>
                <a:latin typeface="Tahoma"/>
                <a:cs typeface="Tahoma"/>
              </a:rPr>
              <a:t>2</a:t>
            </a:r>
            <a:r>
              <a:rPr dirty="0" sz="2400" spc="-5">
                <a:solidFill>
                  <a:srgbClr val="40458B"/>
                </a:solidFill>
                <a:latin typeface="黑体"/>
                <a:cs typeface="黑体"/>
              </a:rPr>
              <a:t>：前两条指令并行执行，然后再串行执行第</a:t>
            </a:r>
            <a:r>
              <a:rPr dirty="0" sz="2400">
                <a:solidFill>
                  <a:srgbClr val="9933FF"/>
                </a:solidFill>
                <a:latin typeface="黑体"/>
                <a:cs typeface="黑体"/>
              </a:rPr>
              <a:t>3</a:t>
            </a:r>
            <a:r>
              <a:rPr dirty="0" sz="2400" spc="-15">
                <a:solidFill>
                  <a:srgbClr val="40458B"/>
                </a:solidFill>
                <a:latin typeface="黑体"/>
                <a:cs typeface="黑体"/>
              </a:rPr>
              <a:t>条指令，</a:t>
            </a:r>
            <a:r>
              <a:rPr dirty="0" sz="2400" spc="-10">
                <a:solidFill>
                  <a:srgbClr val="40458B"/>
                </a:solidFill>
                <a:latin typeface="黑体"/>
                <a:cs typeface="黑体"/>
              </a:rPr>
              <a:t>则执行时间为：</a:t>
            </a:r>
            <a:endParaRPr sz="2400">
              <a:latin typeface="黑体"/>
              <a:cs typeface="黑体"/>
            </a:endParaRPr>
          </a:p>
          <a:p>
            <a:pPr marL="411480">
              <a:lnSpc>
                <a:spcPct val="100000"/>
              </a:lnSpc>
              <a:spcBef>
                <a:spcPts val="1265"/>
              </a:spcBef>
            </a:pPr>
            <a:r>
              <a:rPr dirty="0" sz="2000" spc="-10" b="1">
                <a:solidFill>
                  <a:srgbClr val="E14B04"/>
                </a:solidFill>
                <a:latin typeface="宋体"/>
                <a:cs typeface="宋体"/>
              </a:rPr>
              <a:t>[</a:t>
            </a:r>
            <a:r>
              <a:rPr dirty="0" sz="2000" spc="-10" b="1">
                <a:solidFill>
                  <a:srgbClr val="FF0000"/>
                </a:solidFill>
                <a:latin typeface="宋体"/>
                <a:cs typeface="宋体"/>
              </a:rPr>
              <a:t>（1＋6＋1）＋N－1]</a:t>
            </a:r>
            <a:r>
              <a:rPr dirty="0" sz="2000" spc="-10" b="1">
                <a:solidFill>
                  <a:srgbClr val="E14B04"/>
                </a:solidFill>
                <a:latin typeface="宋体"/>
                <a:cs typeface="宋体"/>
              </a:rPr>
              <a:t>＋[（1＋7＋1）＋N－1]</a:t>
            </a:r>
            <a:endParaRPr sz="2000">
              <a:latin typeface="宋体"/>
              <a:cs typeface="宋体"/>
            </a:endParaRPr>
          </a:p>
        </p:txBody>
      </p:sp>
      <p:sp>
        <p:nvSpPr>
          <p:cNvPr id="11" name="object 11" descr=""/>
          <p:cNvSpPr txBox="1"/>
          <p:nvPr/>
        </p:nvSpPr>
        <p:spPr>
          <a:xfrm>
            <a:off x="5672073" y="4513834"/>
            <a:ext cx="207708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E14B04"/>
                </a:solidFill>
                <a:latin typeface="宋体"/>
                <a:cs typeface="宋体"/>
              </a:rPr>
              <a:t>= </a:t>
            </a:r>
            <a:r>
              <a:rPr dirty="0" sz="2000" b="1">
                <a:solidFill>
                  <a:srgbClr val="E14B04"/>
                </a:solidFill>
                <a:latin typeface="宋体"/>
                <a:cs typeface="宋体"/>
              </a:rPr>
              <a:t>2N</a:t>
            </a:r>
            <a:r>
              <a:rPr dirty="0" sz="2000" spc="-10" b="1">
                <a:solidFill>
                  <a:srgbClr val="E14B04"/>
                </a:solidFill>
                <a:latin typeface="宋体"/>
                <a:cs typeface="宋体"/>
              </a:rPr>
              <a:t> ＋</a:t>
            </a:r>
            <a:r>
              <a:rPr dirty="0" sz="2000" b="1">
                <a:solidFill>
                  <a:srgbClr val="E14B04"/>
                </a:solidFill>
                <a:latin typeface="宋体"/>
                <a:cs typeface="宋体"/>
              </a:rPr>
              <a:t>15</a:t>
            </a:r>
            <a:r>
              <a:rPr dirty="0" sz="2000" spc="-20" b="1">
                <a:solidFill>
                  <a:srgbClr val="E14B04"/>
                </a:solidFill>
                <a:latin typeface="宋体"/>
                <a:cs typeface="宋体"/>
              </a:rPr>
              <a:t> </a:t>
            </a:r>
            <a:r>
              <a:rPr dirty="0" sz="2000" spc="-10" b="1">
                <a:solidFill>
                  <a:srgbClr val="E14B04"/>
                </a:solidFill>
                <a:latin typeface="宋体"/>
                <a:cs typeface="宋体"/>
              </a:rPr>
              <a:t>（拍</a:t>
            </a:r>
            <a:r>
              <a:rPr dirty="0" sz="2000" spc="-50" b="1">
                <a:solidFill>
                  <a:srgbClr val="E14B04"/>
                </a:solidFill>
                <a:latin typeface="宋体"/>
                <a:cs typeface="宋体"/>
              </a:rPr>
              <a:t>）</a:t>
            </a:r>
            <a:endParaRPr sz="2000">
              <a:latin typeface="宋体"/>
              <a:cs typeface="宋体"/>
            </a:endParaRPr>
          </a:p>
        </p:txBody>
      </p:sp>
      <p:sp>
        <p:nvSpPr>
          <p:cNvPr id="12" name="object 12" descr=""/>
          <p:cNvSpPr txBox="1"/>
          <p:nvPr/>
        </p:nvSpPr>
        <p:spPr>
          <a:xfrm>
            <a:off x="384454" y="5398109"/>
            <a:ext cx="3546475" cy="39116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5">
                <a:solidFill>
                  <a:srgbClr val="FF0000"/>
                </a:solidFill>
                <a:latin typeface="黑体"/>
                <a:cs typeface="黑体"/>
              </a:rPr>
              <a:t>性能</a:t>
            </a:r>
            <a:r>
              <a:rPr dirty="0" sz="2400">
                <a:solidFill>
                  <a:srgbClr val="40458B"/>
                </a:solidFill>
                <a:latin typeface="黑体"/>
                <a:cs typeface="黑体"/>
              </a:rPr>
              <a:t>：</a:t>
            </a:r>
            <a:r>
              <a:rPr dirty="0" sz="2400" b="1">
                <a:solidFill>
                  <a:srgbClr val="40458B"/>
                </a:solidFill>
                <a:latin typeface="宋体"/>
                <a:cs typeface="宋体"/>
              </a:rPr>
              <a:t>2N</a:t>
            </a:r>
            <a:r>
              <a:rPr dirty="0" sz="2400" spc="-15" b="1">
                <a:solidFill>
                  <a:srgbClr val="40458B"/>
                </a:solidFill>
                <a:latin typeface="宋体"/>
                <a:cs typeface="宋体"/>
              </a:rPr>
              <a:t> ＋</a:t>
            </a:r>
            <a:r>
              <a:rPr dirty="0" sz="2400" b="1">
                <a:solidFill>
                  <a:srgbClr val="40458B"/>
                </a:solidFill>
                <a:latin typeface="宋体"/>
                <a:cs typeface="宋体"/>
              </a:rPr>
              <a:t>15</a:t>
            </a:r>
            <a:r>
              <a:rPr dirty="0" sz="2400" spc="-25" b="1">
                <a:solidFill>
                  <a:srgbClr val="40458B"/>
                </a:solidFill>
                <a:latin typeface="宋体"/>
                <a:cs typeface="宋体"/>
              </a:rPr>
              <a:t> </a:t>
            </a:r>
            <a:r>
              <a:rPr dirty="0" sz="2400" spc="-20" b="1">
                <a:solidFill>
                  <a:srgbClr val="40458B"/>
                </a:solidFill>
                <a:latin typeface="宋体"/>
                <a:cs typeface="宋体"/>
              </a:rPr>
              <a:t>（拍</a:t>
            </a:r>
            <a:r>
              <a:rPr dirty="0" sz="2400" spc="-50" b="1">
                <a:solidFill>
                  <a:srgbClr val="40458B"/>
                </a:solidFill>
                <a:latin typeface="宋体"/>
                <a:cs typeface="宋体"/>
              </a:rPr>
              <a:t>）</a:t>
            </a:r>
            <a:endParaRPr sz="2400">
              <a:latin typeface="宋体"/>
              <a:cs typeface="宋体"/>
            </a:endParaRPr>
          </a:p>
        </p:txBody>
      </p:sp>
      <p:sp>
        <p:nvSpPr>
          <p:cNvPr id="13" name="object 13" descr=""/>
          <p:cNvSpPr txBox="1"/>
          <p:nvPr/>
        </p:nvSpPr>
        <p:spPr>
          <a:xfrm>
            <a:off x="1196746" y="5861405"/>
            <a:ext cx="7011034" cy="330835"/>
          </a:xfrm>
          <a:prstGeom prst="rect">
            <a:avLst/>
          </a:prstGeom>
        </p:spPr>
        <p:txBody>
          <a:bodyPr wrap="square" lIns="0" tIns="12700" rIns="0" bIns="0" rtlCol="0" vert="horz">
            <a:spAutoFit/>
          </a:bodyPr>
          <a:lstStyle/>
          <a:p>
            <a:pPr marL="469265" indent="-456565">
              <a:lnSpc>
                <a:spcPct val="100000"/>
              </a:lnSpc>
              <a:spcBef>
                <a:spcPts val="100"/>
              </a:spcBef>
              <a:buClr>
                <a:srgbClr val="4668F5"/>
              </a:buClr>
              <a:buSzPct val="65000"/>
              <a:buFont typeface="Wingdings"/>
              <a:buChar char=""/>
              <a:tabLst>
                <a:tab pos="469265" algn="l"/>
              </a:tabLst>
            </a:pPr>
            <a:r>
              <a:rPr dirty="0" sz="2000" spc="-10" b="1">
                <a:solidFill>
                  <a:srgbClr val="006FC0"/>
                </a:solidFill>
                <a:latin typeface="宋体"/>
                <a:cs typeface="宋体"/>
              </a:rPr>
              <a:t>相对于</a:t>
            </a:r>
            <a:r>
              <a:rPr dirty="0" sz="2000" spc="-10" b="1">
                <a:solidFill>
                  <a:srgbClr val="006FC0"/>
                </a:solidFill>
                <a:latin typeface="黑体"/>
                <a:cs typeface="黑体"/>
              </a:rPr>
              <a:t>3</a:t>
            </a:r>
            <a:r>
              <a:rPr dirty="0" sz="2000" spc="-15" b="1">
                <a:solidFill>
                  <a:srgbClr val="006FC0"/>
                </a:solidFill>
                <a:latin typeface="宋体"/>
                <a:cs typeface="宋体"/>
              </a:rPr>
              <a:t>条向量指令串行</a:t>
            </a:r>
            <a:r>
              <a:rPr dirty="0" sz="2000" b="1">
                <a:solidFill>
                  <a:srgbClr val="006FC0"/>
                </a:solidFill>
                <a:latin typeface="宋体"/>
                <a:cs typeface="宋体"/>
              </a:rPr>
              <a:t>（</a:t>
            </a:r>
            <a:r>
              <a:rPr dirty="0" sz="2000" b="1">
                <a:solidFill>
                  <a:srgbClr val="006FC0"/>
                </a:solidFill>
                <a:latin typeface="黑体"/>
                <a:cs typeface="黑体"/>
              </a:rPr>
              <a:t>3N</a:t>
            </a:r>
            <a:r>
              <a:rPr dirty="0" sz="2000" spc="-55" b="1">
                <a:solidFill>
                  <a:srgbClr val="006FC0"/>
                </a:solidFill>
                <a:latin typeface="黑体"/>
                <a:cs typeface="黑体"/>
              </a:rPr>
              <a:t> </a:t>
            </a:r>
            <a:r>
              <a:rPr dirty="0" sz="2000" b="1">
                <a:solidFill>
                  <a:srgbClr val="006FC0"/>
                </a:solidFill>
                <a:latin typeface="宋体"/>
                <a:cs typeface="宋体"/>
              </a:rPr>
              <a:t>＋</a:t>
            </a:r>
            <a:r>
              <a:rPr dirty="0" sz="2000" b="1">
                <a:solidFill>
                  <a:srgbClr val="006FC0"/>
                </a:solidFill>
                <a:latin typeface="黑体"/>
                <a:cs typeface="黑体"/>
              </a:rPr>
              <a:t>22</a:t>
            </a:r>
            <a:r>
              <a:rPr dirty="0" sz="2000" spc="-20" b="1">
                <a:solidFill>
                  <a:srgbClr val="006FC0"/>
                </a:solidFill>
                <a:latin typeface="黑体"/>
                <a:cs typeface="黑体"/>
              </a:rPr>
              <a:t> </a:t>
            </a:r>
            <a:r>
              <a:rPr dirty="0" sz="2000" spc="-10" b="1">
                <a:solidFill>
                  <a:srgbClr val="006FC0"/>
                </a:solidFill>
                <a:latin typeface="宋体"/>
                <a:cs typeface="宋体"/>
              </a:rPr>
              <a:t>（拍）），</a:t>
            </a:r>
            <a:r>
              <a:rPr dirty="0" sz="2000" spc="-20" b="1">
                <a:solidFill>
                  <a:srgbClr val="006FC0"/>
                </a:solidFill>
                <a:latin typeface="宋体"/>
                <a:cs typeface="宋体"/>
              </a:rPr>
              <a:t>性能提高了</a:t>
            </a:r>
            <a:endParaRPr sz="2000">
              <a:latin typeface="宋体"/>
              <a:cs typeface="宋体"/>
            </a:endParaRPr>
          </a:p>
        </p:txBody>
      </p:sp>
      <p:pic>
        <p:nvPicPr>
          <p:cNvPr id="14" name="object 14" descr=""/>
          <p:cNvPicPr/>
          <p:nvPr/>
        </p:nvPicPr>
        <p:blipFill>
          <a:blip r:embed="rId2" cstate="print"/>
          <a:stretch>
            <a:fillRect/>
          </a:stretch>
        </p:blipFill>
        <p:spPr>
          <a:xfrm>
            <a:off x="105263" y="1020841"/>
            <a:ext cx="1148744" cy="1555851"/>
          </a:xfrm>
          <a:prstGeom prst="rect">
            <a:avLst/>
          </a:prstGeom>
        </p:spPr>
      </p:pic>
      <p:sp>
        <p:nvSpPr>
          <p:cNvPr id="15" name="object 15" descr=""/>
          <p:cNvSpPr/>
          <p:nvPr/>
        </p:nvSpPr>
        <p:spPr>
          <a:xfrm>
            <a:off x="1023937" y="4568825"/>
            <a:ext cx="2051685" cy="431800"/>
          </a:xfrm>
          <a:custGeom>
            <a:avLst/>
            <a:gdLst/>
            <a:ahLst/>
            <a:cxnLst/>
            <a:rect l="l" t="t" r="r" b="b"/>
            <a:pathLst>
              <a:path w="2051685" h="431800">
                <a:moveTo>
                  <a:pt x="2051113" y="0"/>
                </a:moveTo>
                <a:lnTo>
                  <a:pt x="2049276" y="68246"/>
                </a:lnTo>
                <a:lnTo>
                  <a:pt x="2044159" y="127514"/>
                </a:lnTo>
                <a:lnTo>
                  <a:pt x="2036355" y="174248"/>
                </a:lnTo>
                <a:lnTo>
                  <a:pt x="2015045" y="215900"/>
                </a:lnTo>
                <a:lnTo>
                  <a:pt x="1061529" y="215900"/>
                </a:lnTo>
                <a:lnTo>
                  <a:pt x="1050135" y="226905"/>
                </a:lnTo>
                <a:lnTo>
                  <a:pt x="1040264" y="257551"/>
                </a:lnTo>
                <a:lnTo>
                  <a:pt x="1032497" y="304285"/>
                </a:lnTo>
                <a:lnTo>
                  <a:pt x="1027412" y="363553"/>
                </a:lnTo>
                <a:lnTo>
                  <a:pt x="1025588" y="431800"/>
                </a:lnTo>
                <a:lnTo>
                  <a:pt x="1023751" y="363553"/>
                </a:lnTo>
                <a:lnTo>
                  <a:pt x="1018634" y="304285"/>
                </a:lnTo>
                <a:lnTo>
                  <a:pt x="1010830" y="257551"/>
                </a:lnTo>
                <a:lnTo>
                  <a:pt x="1000928" y="226905"/>
                </a:lnTo>
                <a:lnTo>
                  <a:pt x="989520" y="215900"/>
                </a:lnTo>
                <a:lnTo>
                  <a:pt x="35979" y="215900"/>
                </a:lnTo>
                <a:lnTo>
                  <a:pt x="24605" y="204894"/>
                </a:lnTo>
                <a:lnTo>
                  <a:pt x="14728" y="174248"/>
                </a:lnTo>
                <a:lnTo>
                  <a:pt x="6940" y="127514"/>
                </a:lnTo>
                <a:lnTo>
                  <a:pt x="1833" y="68246"/>
                </a:lnTo>
                <a:lnTo>
                  <a:pt x="0" y="0"/>
                </a:lnTo>
              </a:path>
            </a:pathLst>
          </a:custGeom>
          <a:ln w="9525">
            <a:solidFill>
              <a:srgbClr val="FF5CFF"/>
            </a:solidFill>
          </a:ln>
        </p:spPr>
        <p:txBody>
          <a:bodyPr wrap="square" lIns="0" tIns="0" rIns="0" bIns="0" rtlCol="0"/>
          <a:lstStyle/>
          <a:p/>
        </p:txBody>
      </p:sp>
      <p:sp>
        <p:nvSpPr>
          <p:cNvPr id="16" name="object 16" descr=""/>
          <p:cNvSpPr txBox="1"/>
          <p:nvPr/>
        </p:nvSpPr>
        <p:spPr>
          <a:xfrm>
            <a:off x="1050442" y="4542535"/>
            <a:ext cx="20066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0458B"/>
                </a:solidFill>
                <a:latin typeface="黑体"/>
                <a:cs typeface="黑体"/>
              </a:rPr>
              <a:t>取访存和浮点加时间的最大值</a:t>
            </a:r>
            <a:endParaRPr sz="1200">
              <a:latin typeface="黑体"/>
              <a:cs typeface="黑体"/>
            </a:endParaRPr>
          </a:p>
        </p:txBody>
      </p:sp>
      <p:pic>
        <p:nvPicPr>
          <p:cNvPr id="17" name="object 17" descr=""/>
          <p:cNvPicPr/>
          <p:nvPr/>
        </p:nvPicPr>
        <p:blipFill>
          <a:blip r:embed="rId3" cstate="print"/>
          <a:stretch>
            <a:fillRect/>
          </a:stretch>
        </p:blipFill>
        <p:spPr>
          <a:xfrm>
            <a:off x="1476375" y="789051"/>
            <a:ext cx="7377049" cy="2211324"/>
          </a:xfrm>
          <a:prstGeom prst="rect">
            <a:avLst/>
          </a:prstGeom>
        </p:spPr>
      </p:pic>
      <p:sp>
        <p:nvSpPr>
          <p:cNvPr id="18" name="object 18" descr=""/>
          <p:cNvSpPr txBox="1"/>
          <p:nvPr/>
        </p:nvSpPr>
        <p:spPr>
          <a:xfrm>
            <a:off x="5372227" y="5192014"/>
            <a:ext cx="3473450"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9FF"/>
                </a:solidFill>
                <a:latin typeface="黑体"/>
                <a:cs typeface="黑体"/>
              </a:rPr>
              <a:t>思考： 向量处理方式是？</a:t>
            </a:r>
            <a:endParaRPr sz="2400">
              <a:latin typeface="黑体"/>
              <a:cs typeface="黑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45745"/>
            <a:ext cx="6645275" cy="514350"/>
          </a:xfrm>
          <a:prstGeom prst="rect"/>
        </p:spPr>
        <p:txBody>
          <a:bodyPr wrap="square" lIns="0" tIns="13335" rIns="0" bIns="0" rtlCol="0" vert="horz">
            <a:spAutoFit/>
          </a:bodyPr>
          <a:lstStyle/>
          <a:p>
            <a:pPr marL="12700">
              <a:lnSpc>
                <a:spcPct val="100000"/>
              </a:lnSpc>
              <a:spcBef>
                <a:spcPts val="105"/>
              </a:spcBef>
            </a:pPr>
            <a:r>
              <a:rPr dirty="0"/>
              <a:t>方案</a:t>
            </a:r>
            <a:r>
              <a:rPr dirty="0">
                <a:latin typeface="Tahoma"/>
                <a:cs typeface="Tahoma"/>
              </a:rPr>
              <a:t>2</a:t>
            </a:r>
            <a:r>
              <a:rPr dirty="0" spc="-10"/>
              <a:t>执行过程</a:t>
            </a:r>
            <a:r>
              <a:rPr dirty="0" spc="-15">
                <a:latin typeface="Tahoma"/>
                <a:cs typeface="Tahoma"/>
              </a:rPr>
              <a:t>--</a:t>
            </a:r>
            <a:r>
              <a:rPr dirty="0"/>
              <a:t>（</a:t>
            </a:r>
            <a:r>
              <a:rPr dirty="0" spc="-15"/>
              <a:t>不讲，辅助理解</a:t>
            </a:r>
            <a:r>
              <a:rPr dirty="0" spc="-50"/>
              <a:t>）</a:t>
            </a:r>
          </a:p>
        </p:txBody>
      </p:sp>
      <p:grpSp>
        <p:nvGrpSpPr>
          <p:cNvPr id="10" name="object 10" descr=""/>
          <p:cNvGrpSpPr/>
          <p:nvPr/>
        </p:nvGrpSpPr>
        <p:grpSpPr>
          <a:xfrm>
            <a:off x="577850" y="1268412"/>
            <a:ext cx="8353425" cy="4752975"/>
            <a:chOff x="577850" y="1268412"/>
            <a:chExt cx="8353425" cy="4752975"/>
          </a:xfrm>
        </p:grpSpPr>
        <p:pic>
          <p:nvPicPr>
            <p:cNvPr id="11" name="object 11" descr=""/>
            <p:cNvPicPr/>
            <p:nvPr/>
          </p:nvPicPr>
          <p:blipFill>
            <a:blip r:embed="rId2" cstate="print"/>
            <a:stretch>
              <a:fillRect/>
            </a:stretch>
          </p:blipFill>
          <p:spPr>
            <a:xfrm>
              <a:off x="577850" y="1268412"/>
              <a:ext cx="8353425" cy="4752975"/>
            </a:xfrm>
            <a:prstGeom prst="rect">
              <a:avLst/>
            </a:prstGeom>
          </p:spPr>
        </p:pic>
        <p:pic>
          <p:nvPicPr>
            <p:cNvPr id="12" name="object 12" descr=""/>
            <p:cNvPicPr/>
            <p:nvPr/>
          </p:nvPicPr>
          <p:blipFill>
            <a:blip r:embed="rId3" cstate="print"/>
            <a:stretch>
              <a:fillRect/>
            </a:stretch>
          </p:blipFill>
          <p:spPr>
            <a:xfrm>
              <a:off x="5580126" y="5661025"/>
              <a:ext cx="3124200" cy="266700"/>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307593"/>
            <a:ext cx="7569834" cy="360680"/>
          </a:xfrm>
          <a:prstGeom prst="rect"/>
        </p:spPr>
        <p:txBody>
          <a:bodyPr wrap="square" lIns="0" tIns="12065" rIns="0" bIns="0" rtlCol="0" vert="horz">
            <a:spAutoFit/>
          </a:bodyPr>
          <a:lstStyle/>
          <a:p>
            <a:pPr marL="12700">
              <a:lnSpc>
                <a:spcPct val="100000"/>
              </a:lnSpc>
              <a:spcBef>
                <a:spcPts val="95"/>
              </a:spcBef>
            </a:pPr>
            <a:r>
              <a:rPr dirty="0" sz="2200" spc="-25">
                <a:solidFill>
                  <a:srgbClr val="FF0000"/>
                </a:solidFill>
              </a:rPr>
              <a:t>方案</a:t>
            </a:r>
            <a:r>
              <a:rPr dirty="0" sz="2200" spc="-20">
                <a:solidFill>
                  <a:srgbClr val="FF0000"/>
                </a:solidFill>
              </a:rPr>
              <a:t>3：</a:t>
            </a:r>
            <a:r>
              <a:rPr dirty="0" sz="2200" spc="-20"/>
              <a:t>第</a:t>
            </a:r>
            <a:r>
              <a:rPr dirty="0" sz="2200" spc="-30"/>
              <a:t>1</a:t>
            </a:r>
            <a:r>
              <a:rPr dirty="0" sz="2200" spc="-20"/>
              <a:t>、</a:t>
            </a:r>
            <a:r>
              <a:rPr dirty="0" sz="2200" spc="-30"/>
              <a:t>2条向量指令并行执行，并与第3</a:t>
            </a:r>
            <a:r>
              <a:rPr dirty="0" sz="2200" spc="-35"/>
              <a:t>条指令链接执行</a:t>
            </a:r>
            <a:endParaRPr sz="2200"/>
          </a:p>
        </p:txBody>
      </p:sp>
      <p:sp>
        <p:nvSpPr>
          <p:cNvPr id="10" name="object 10" descr=""/>
          <p:cNvSpPr txBox="1"/>
          <p:nvPr/>
        </p:nvSpPr>
        <p:spPr>
          <a:xfrm>
            <a:off x="166827" y="2306600"/>
            <a:ext cx="9018270" cy="3547745"/>
          </a:xfrm>
          <a:prstGeom prst="rect">
            <a:avLst/>
          </a:prstGeom>
        </p:spPr>
        <p:txBody>
          <a:bodyPr wrap="square" lIns="0" tIns="128905" rIns="0" bIns="0" rtlCol="0" vert="horz">
            <a:spAutoFit/>
          </a:bodyPr>
          <a:lstStyle/>
          <a:p>
            <a:pPr marL="469265" indent="-456565">
              <a:lnSpc>
                <a:spcPct val="100000"/>
              </a:lnSpc>
              <a:spcBef>
                <a:spcPts val="1015"/>
              </a:spcBef>
              <a:buClr>
                <a:srgbClr val="40458B"/>
              </a:buClr>
              <a:buSzPct val="89583"/>
              <a:buFont typeface="Wingdings"/>
              <a:buChar char=""/>
              <a:tabLst>
                <a:tab pos="469265" algn="l"/>
              </a:tabLst>
            </a:pPr>
            <a:r>
              <a:rPr dirty="0" sz="2400">
                <a:solidFill>
                  <a:srgbClr val="FF0000"/>
                </a:solidFill>
                <a:latin typeface="黑体"/>
                <a:cs typeface="黑体"/>
              </a:rPr>
              <a:t>方案3</a:t>
            </a:r>
            <a:r>
              <a:rPr dirty="0" sz="2400">
                <a:solidFill>
                  <a:srgbClr val="40458B"/>
                </a:solidFill>
                <a:latin typeface="黑体"/>
                <a:cs typeface="黑体"/>
              </a:rPr>
              <a:t>：第</a:t>
            </a:r>
            <a:r>
              <a:rPr dirty="0" sz="2400">
                <a:solidFill>
                  <a:srgbClr val="9933FF"/>
                </a:solidFill>
                <a:latin typeface="黑体"/>
                <a:cs typeface="黑体"/>
              </a:rPr>
              <a:t>1、2</a:t>
            </a:r>
            <a:r>
              <a:rPr dirty="0" sz="2400" spc="-5">
                <a:solidFill>
                  <a:srgbClr val="40458B"/>
                </a:solidFill>
                <a:latin typeface="黑体"/>
                <a:cs typeface="黑体"/>
              </a:rPr>
              <a:t>条向量指令并行执行，并与第</a:t>
            </a:r>
            <a:r>
              <a:rPr dirty="0" sz="2400">
                <a:solidFill>
                  <a:srgbClr val="9933FF"/>
                </a:solidFill>
                <a:latin typeface="黑体"/>
                <a:cs typeface="黑体"/>
              </a:rPr>
              <a:t>3</a:t>
            </a:r>
            <a:r>
              <a:rPr dirty="0" sz="2400" spc="-10">
                <a:solidFill>
                  <a:srgbClr val="40458B"/>
                </a:solidFill>
                <a:latin typeface="黑体"/>
                <a:cs typeface="黑体"/>
              </a:rPr>
              <a:t>条指令链接执行。</a:t>
            </a:r>
            <a:endParaRPr sz="2400">
              <a:latin typeface="黑体"/>
              <a:cs typeface="黑体"/>
            </a:endParaRPr>
          </a:p>
          <a:p>
            <a:pPr lvl="1" marL="1283335" indent="-456565">
              <a:lnSpc>
                <a:spcPct val="100000"/>
              </a:lnSpc>
              <a:spcBef>
                <a:spcPts val="770"/>
              </a:spcBef>
              <a:buClr>
                <a:srgbClr val="4668F5"/>
              </a:buClr>
              <a:buSzPct val="65000"/>
              <a:buFont typeface="Wingdings"/>
              <a:buChar char=""/>
              <a:tabLst>
                <a:tab pos="1283335" algn="l"/>
              </a:tabLst>
            </a:pPr>
            <a:r>
              <a:rPr dirty="0" sz="2000" spc="-30" b="1">
                <a:solidFill>
                  <a:srgbClr val="006FC0"/>
                </a:solidFill>
                <a:latin typeface="宋体"/>
                <a:cs typeface="宋体"/>
              </a:rPr>
              <a:t>存在写后读相关，功能部件不相关，可用链接技术</a:t>
            </a:r>
            <a:endParaRPr sz="2000">
              <a:latin typeface="宋体"/>
              <a:cs typeface="宋体"/>
            </a:endParaRPr>
          </a:p>
          <a:p>
            <a:pPr lvl="1" marL="1283335" indent="-456565">
              <a:lnSpc>
                <a:spcPct val="100000"/>
              </a:lnSpc>
              <a:spcBef>
                <a:spcPts val="725"/>
              </a:spcBef>
              <a:buClr>
                <a:srgbClr val="4668F5"/>
              </a:buClr>
              <a:buSzPct val="65000"/>
              <a:buFont typeface="Wingdings"/>
              <a:buChar char=""/>
              <a:tabLst>
                <a:tab pos="1283335" algn="l"/>
              </a:tabLst>
            </a:pPr>
            <a:r>
              <a:rPr dirty="0" sz="2000" spc="-10" b="1">
                <a:solidFill>
                  <a:srgbClr val="006FC0"/>
                </a:solidFill>
                <a:latin typeface="宋体"/>
                <a:cs typeface="宋体"/>
              </a:rPr>
              <a:t>但</a:t>
            </a:r>
            <a:r>
              <a:rPr dirty="0" sz="2000" spc="-10" b="1">
                <a:solidFill>
                  <a:srgbClr val="006FC0"/>
                </a:solidFill>
                <a:latin typeface="黑体"/>
                <a:cs typeface="黑体"/>
              </a:rPr>
              <a:t>V2</a:t>
            </a:r>
            <a:r>
              <a:rPr dirty="0" sz="2000" spc="-10" b="1">
                <a:solidFill>
                  <a:srgbClr val="006FC0"/>
                </a:solidFill>
                <a:latin typeface="宋体"/>
                <a:cs typeface="宋体"/>
              </a:rPr>
              <a:t>和</a:t>
            </a:r>
            <a:r>
              <a:rPr dirty="0" sz="2000" spc="-10" b="1">
                <a:solidFill>
                  <a:srgbClr val="006FC0"/>
                </a:solidFill>
                <a:latin typeface="黑体"/>
                <a:cs typeface="黑体"/>
              </a:rPr>
              <a:t>V3</a:t>
            </a:r>
            <a:r>
              <a:rPr dirty="0" sz="2000" spc="-20" b="1">
                <a:solidFill>
                  <a:srgbClr val="006FC0"/>
                </a:solidFill>
                <a:latin typeface="宋体"/>
                <a:cs typeface="宋体"/>
              </a:rPr>
              <a:t>需要同步，即同时传给浮点乘部件（并行，取最大值</a:t>
            </a:r>
            <a:r>
              <a:rPr dirty="0" sz="2000" spc="-50" b="1">
                <a:solidFill>
                  <a:srgbClr val="006FC0"/>
                </a:solidFill>
                <a:latin typeface="宋体"/>
                <a:cs typeface="宋体"/>
              </a:rPr>
              <a:t>）</a:t>
            </a:r>
            <a:endParaRPr sz="2000">
              <a:latin typeface="宋体"/>
              <a:cs typeface="宋体"/>
            </a:endParaRPr>
          </a:p>
          <a:p>
            <a:pPr marL="826769" marR="125095">
              <a:lnSpc>
                <a:spcPct val="110000"/>
              </a:lnSpc>
              <a:spcBef>
                <a:spcPts val="480"/>
              </a:spcBef>
            </a:pPr>
            <a:r>
              <a:rPr dirty="0" sz="2000" spc="-15" b="1">
                <a:solidFill>
                  <a:srgbClr val="006FC0"/>
                </a:solidFill>
                <a:latin typeface="宋体"/>
                <a:cs typeface="宋体"/>
              </a:rPr>
              <a:t>因此完成第一个向量乘所需时间</a:t>
            </a:r>
            <a:r>
              <a:rPr dirty="0" sz="2000" spc="-10" b="1">
                <a:solidFill>
                  <a:srgbClr val="006FC0"/>
                </a:solidFill>
                <a:latin typeface="宋体"/>
                <a:cs typeface="宋体"/>
              </a:rPr>
              <a:t>（</a:t>
            </a:r>
            <a:r>
              <a:rPr dirty="0" sz="2000" spc="-15" b="1">
                <a:solidFill>
                  <a:srgbClr val="006FC0"/>
                </a:solidFill>
                <a:latin typeface="宋体"/>
                <a:cs typeface="宋体"/>
              </a:rPr>
              <a:t>传递到</a:t>
            </a:r>
            <a:r>
              <a:rPr dirty="0" sz="2000" spc="-10" b="1">
                <a:solidFill>
                  <a:srgbClr val="006FC0"/>
                </a:solidFill>
                <a:latin typeface="黑体"/>
                <a:cs typeface="黑体"/>
              </a:rPr>
              <a:t>V2</a:t>
            </a:r>
            <a:r>
              <a:rPr dirty="0" sz="2000" spc="-20" b="1">
                <a:solidFill>
                  <a:srgbClr val="006FC0"/>
                </a:solidFill>
                <a:latin typeface="宋体"/>
                <a:cs typeface="宋体"/>
              </a:rPr>
              <a:t>和</a:t>
            </a:r>
            <a:r>
              <a:rPr dirty="0" sz="2000" spc="-10" b="1">
                <a:solidFill>
                  <a:srgbClr val="006FC0"/>
                </a:solidFill>
                <a:latin typeface="黑体"/>
                <a:cs typeface="黑体"/>
              </a:rPr>
              <a:t>V3</a:t>
            </a:r>
            <a:r>
              <a:rPr dirty="0" sz="2000" spc="-15" b="1">
                <a:solidFill>
                  <a:srgbClr val="006FC0"/>
                </a:solidFill>
                <a:latin typeface="宋体"/>
                <a:cs typeface="宋体"/>
              </a:rPr>
              <a:t>的时间</a:t>
            </a:r>
            <a:r>
              <a:rPr dirty="0" sz="2000" spc="-15" b="1">
                <a:solidFill>
                  <a:srgbClr val="006FC0"/>
                </a:solidFill>
                <a:latin typeface="黑体"/>
                <a:cs typeface="黑体"/>
              </a:rPr>
              <a:t>+</a:t>
            </a:r>
            <a:r>
              <a:rPr dirty="0" sz="2000" spc="-20" b="1">
                <a:solidFill>
                  <a:srgbClr val="006FC0"/>
                </a:solidFill>
                <a:latin typeface="宋体"/>
                <a:cs typeface="宋体"/>
              </a:rPr>
              <a:t>传递到浮点乘法</a:t>
            </a:r>
            <a:r>
              <a:rPr dirty="0" sz="2000" spc="-10" b="1">
                <a:solidFill>
                  <a:srgbClr val="006FC0"/>
                </a:solidFill>
                <a:latin typeface="宋体"/>
                <a:cs typeface="宋体"/>
              </a:rPr>
              <a:t>部件的时间</a:t>
            </a:r>
            <a:r>
              <a:rPr dirty="0" sz="2000" spc="-10" b="1">
                <a:solidFill>
                  <a:srgbClr val="006FC0"/>
                </a:solidFill>
                <a:latin typeface="黑体"/>
                <a:cs typeface="黑体"/>
              </a:rPr>
              <a:t>+</a:t>
            </a:r>
            <a:r>
              <a:rPr dirty="0" sz="2000" spc="-15" b="1">
                <a:solidFill>
                  <a:srgbClr val="006FC0"/>
                </a:solidFill>
                <a:latin typeface="宋体"/>
                <a:cs typeface="宋体"/>
              </a:rPr>
              <a:t>浮点乘时间</a:t>
            </a:r>
            <a:r>
              <a:rPr dirty="0" sz="2000" spc="-10" b="1">
                <a:solidFill>
                  <a:srgbClr val="006FC0"/>
                </a:solidFill>
                <a:latin typeface="黑体"/>
                <a:cs typeface="黑体"/>
              </a:rPr>
              <a:t>+</a:t>
            </a:r>
            <a:r>
              <a:rPr dirty="0" sz="2000" spc="-15" b="1">
                <a:solidFill>
                  <a:srgbClr val="006FC0"/>
                </a:solidFill>
                <a:latin typeface="宋体"/>
                <a:cs typeface="宋体"/>
              </a:rPr>
              <a:t>写入</a:t>
            </a:r>
            <a:r>
              <a:rPr dirty="0" sz="2000" spc="-10" b="1">
                <a:solidFill>
                  <a:srgbClr val="006FC0"/>
                </a:solidFill>
                <a:latin typeface="黑体"/>
                <a:cs typeface="黑体"/>
              </a:rPr>
              <a:t>V4</a:t>
            </a:r>
            <a:r>
              <a:rPr dirty="0" sz="2000" spc="-15" b="1">
                <a:solidFill>
                  <a:srgbClr val="006FC0"/>
                </a:solidFill>
                <a:latin typeface="宋体"/>
                <a:cs typeface="宋体"/>
              </a:rPr>
              <a:t>的时间</a:t>
            </a:r>
            <a:r>
              <a:rPr dirty="0" sz="2000" spc="-10" b="1">
                <a:solidFill>
                  <a:srgbClr val="FF0000"/>
                </a:solidFill>
                <a:latin typeface="黑体"/>
                <a:cs typeface="黑体"/>
              </a:rPr>
              <a:t>1</a:t>
            </a:r>
            <a:r>
              <a:rPr dirty="0" sz="2000" spc="-20" b="1">
                <a:solidFill>
                  <a:srgbClr val="006FC0"/>
                </a:solidFill>
                <a:latin typeface="宋体"/>
                <a:cs typeface="宋体"/>
              </a:rPr>
              <a:t>拍</a:t>
            </a:r>
            <a:r>
              <a:rPr dirty="0" sz="2000" spc="-25" b="1">
                <a:solidFill>
                  <a:srgbClr val="006FC0"/>
                </a:solidFill>
                <a:latin typeface="宋体"/>
                <a:cs typeface="宋体"/>
              </a:rPr>
              <a:t>）：</a:t>
            </a:r>
            <a:endParaRPr sz="2000">
              <a:latin typeface="宋体"/>
              <a:cs typeface="宋体"/>
            </a:endParaRPr>
          </a:p>
          <a:p>
            <a:pPr marL="826769">
              <a:lnSpc>
                <a:spcPct val="100000"/>
              </a:lnSpc>
              <a:spcBef>
                <a:spcPts val="720"/>
              </a:spcBef>
            </a:pPr>
            <a:r>
              <a:rPr dirty="0" sz="2000" spc="-10" b="1">
                <a:solidFill>
                  <a:srgbClr val="FF09FF"/>
                </a:solidFill>
                <a:latin typeface="黑体"/>
                <a:cs typeface="黑体"/>
              </a:rPr>
              <a:t>1</a:t>
            </a:r>
            <a:r>
              <a:rPr dirty="0" sz="2000" spc="-10" b="1">
                <a:solidFill>
                  <a:srgbClr val="FF09FF"/>
                </a:solidFill>
                <a:latin typeface="宋体"/>
                <a:cs typeface="宋体"/>
              </a:rPr>
              <a:t>）</a:t>
            </a:r>
            <a:r>
              <a:rPr dirty="0" sz="2000" spc="-15" b="1">
                <a:solidFill>
                  <a:srgbClr val="FF09FF"/>
                </a:solidFill>
                <a:latin typeface="宋体"/>
                <a:cs typeface="宋体"/>
              </a:rPr>
              <a:t>传递到</a:t>
            </a:r>
            <a:r>
              <a:rPr dirty="0" sz="2000" b="1">
                <a:solidFill>
                  <a:srgbClr val="FF09FF"/>
                </a:solidFill>
                <a:latin typeface="黑体"/>
                <a:cs typeface="黑体"/>
              </a:rPr>
              <a:t>V2</a:t>
            </a:r>
            <a:r>
              <a:rPr dirty="0" sz="2000" spc="-15" b="1">
                <a:solidFill>
                  <a:srgbClr val="FF09FF"/>
                </a:solidFill>
                <a:latin typeface="宋体"/>
                <a:cs typeface="宋体"/>
              </a:rPr>
              <a:t>和</a:t>
            </a:r>
            <a:r>
              <a:rPr dirty="0" sz="2000" spc="-10" b="1">
                <a:solidFill>
                  <a:srgbClr val="FF09FF"/>
                </a:solidFill>
                <a:latin typeface="黑体"/>
                <a:cs typeface="黑体"/>
              </a:rPr>
              <a:t>V3</a:t>
            </a:r>
            <a:r>
              <a:rPr dirty="0" sz="2000" spc="-15" b="1">
                <a:solidFill>
                  <a:srgbClr val="FF09FF"/>
                </a:solidFill>
                <a:latin typeface="宋体"/>
                <a:cs typeface="宋体"/>
              </a:rPr>
              <a:t>时间取最大值：都是 </a:t>
            </a:r>
            <a:r>
              <a:rPr dirty="0" sz="2000" b="1">
                <a:solidFill>
                  <a:srgbClr val="FF09FF"/>
                </a:solidFill>
                <a:latin typeface="黑体"/>
                <a:cs typeface="黑体"/>
              </a:rPr>
              <a:t>1+6+1</a:t>
            </a:r>
            <a:r>
              <a:rPr dirty="0" sz="2000" spc="-20" b="1">
                <a:solidFill>
                  <a:srgbClr val="FF09FF"/>
                </a:solidFill>
                <a:latin typeface="宋体"/>
                <a:cs typeface="宋体"/>
              </a:rPr>
              <a:t>拍，</a:t>
            </a:r>
            <a:r>
              <a:rPr dirty="0" sz="2000" spc="-20" b="1">
                <a:solidFill>
                  <a:srgbClr val="FF09FF"/>
                </a:solidFill>
                <a:latin typeface="黑体"/>
                <a:cs typeface="黑体"/>
              </a:rPr>
              <a:t>2</a:t>
            </a:r>
            <a:r>
              <a:rPr dirty="0" sz="2000" spc="-20" b="1">
                <a:solidFill>
                  <a:srgbClr val="FF09FF"/>
                </a:solidFill>
                <a:latin typeface="宋体"/>
                <a:cs typeface="宋体"/>
              </a:rPr>
              <a:t>）</a:t>
            </a:r>
            <a:r>
              <a:rPr dirty="0" sz="2000" spc="-20" b="1">
                <a:solidFill>
                  <a:srgbClr val="FF09FF"/>
                </a:solidFill>
                <a:latin typeface="黑体"/>
                <a:cs typeface="黑体"/>
              </a:rPr>
              <a:t>V2</a:t>
            </a:r>
            <a:r>
              <a:rPr dirty="0" sz="2000" spc="-15" b="1">
                <a:solidFill>
                  <a:srgbClr val="FF09FF"/>
                </a:solidFill>
                <a:latin typeface="宋体"/>
                <a:cs typeface="宋体"/>
              </a:rPr>
              <a:t>、</a:t>
            </a:r>
            <a:r>
              <a:rPr dirty="0" sz="2000" spc="-10" b="1">
                <a:solidFill>
                  <a:srgbClr val="FF09FF"/>
                </a:solidFill>
                <a:latin typeface="黑体"/>
                <a:cs typeface="黑体"/>
              </a:rPr>
              <a:t>V3</a:t>
            </a:r>
            <a:r>
              <a:rPr dirty="0" sz="2000" spc="-30" b="1">
                <a:solidFill>
                  <a:srgbClr val="FF09FF"/>
                </a:solidFill>
                <a:latin typeface="宋体"/>
                <a:cs typeface="宋体"/>
              </a:rPr>
              <a:t>传递到浮点</a:t>
            </a:r>
            <a:endParaRPr sz="2000">
              <a:latin typeface="宋体"/>
              <a:cs typeface="宋体"/>
            </a:endParaRPr>
          </a:p>
          <a:p>
            <a:pPr marL="826769">
              <a:lnSpc>
                <a:spcPct val="100000"/>
              </a:lnSpc>
              <a:spcBef>
                <a:spcPts val="240"/>
              </a:spcBef>
            </a:pPr>
            <a:r>
              <a:rPr dirty="0" sz="2000" spc="-10" b="1">
                <a:solidFill>
                  <a:srgbClr val="FF09FF"/>
                </a:solidFill>
                <a:latin typeface="宋体"/>
                <a:cs typeface="宋体"/>
              </a:rPr>
              <a:t>乘法部件的时间，</a:t>
            </a:r>
            <a:r>
              <a:rPr dirty="0" sz="2000" spc="-10" b="1">
                <a:solidFill>
                  <a:srgbClr val="FF09FF"/>
                </a:solidFill>
                <a:latin typeface="黑体"/>
                <a:cs typeface="黑体"/>
              </a:rPr>
              <a:t>1</a:t>
            </a:r>
            <a:r>
              <a:rPr dirty="0" sz="2000" spc="-20" b="1">
                <a:solidFill>
                  <a:srgbClr val="FF09FF"/>
                </a:solidFill>
                <a:latin typeface="宋体"/>
                <a:cs typeface="宋体"/>
              </a:rPr>
              <a:t>拍；</a:t>
            </a:r>
            <a:r>
              <a:rPr dirty="0" sz="2000" spc="-20" b="1">
                <a:solidFill>
                  <a:srgbClr val="FF09FF"/>
                </a:solidFill>
                <a:latin typeface="黑体"/>
                <a:cs typeface="黑体"/>
              </a:rPr>
              <a:t>3</a:t>
            </a:r>
            <a:r>
              <a:rPr dirty="0" sz="2000" spc="-20" b="1">
                <a:solidFill>
                  <a:srgbClr val="FF09FF"/>
                </a:solidFill>
                <a:latin typeface="宋体"/>
                <a:cs typeface="宋体"/>
              </a:rPr>
              <a:t>）浮点乘时间：</a:t>
            </a:r>
            <a:r>
              <a:rPr dirty="0" sz="2000" spc="-10" b="1">
                <a:solidFill>
                  <a:srgbClr val="FF09FF"/>
                </a:solidFill>
                <a:latin typeface="黑体"/>
                <a:cs typeface="黑体"/>
              </a:rPr>
              <a:t>7</a:t>
            </a:r>
            <a:r>
              <a:rPr dirty="0" sz="2000" spc="-5" b="1">
                <a:solidFill>
                  <a:srgbClr val="FF09FF"/>
                </a:solidFill>
                <a:latin typeface="宋体"/>
                <a:cs typeface="宋体"/>
              </a:rPr>
              <a:t>拍；</a:t>
            </a:r>
            <a:r>
              <a:rPr dirty="0" sz="2000" b="1">
                <a:solidFill>
                  <a:srgbClr val="FF09FF"/>
                </a:solidFill>
                <a:latin typeface="黑体"/>
                <a:cs typeface="黑体"/>
              </a:rPr>
              <a:t>3</a:t>
            </a:r>
            <a:r>
              <a:rPr dirty="0" sz="2000" b="1">
                <a:solidFill>
                  <a:srgbClr val="FF09FF"/>
                </a:solidFill>
                <a:latin typeface="宋体"/>
                <a:cs typeface="宋体"/>
              </a:rPr>
              <a:t>）</a:t>
            </a:r>
            <a:r>
              <a:rPr dirty="0" sz="2000" spc="-15" b="1">
                <a:solidFill>
                  <a:srgbClr val="FF09FF"/>
                </a:solidFill>
                <a:latin typeface="宋体"/>
                <a:cs typeface="宋体"/>
              </a:rPr>
              <a:t> 写入</a:t>
            </a:r>
            <a:r>
              <a:rPr dirty="0" sz="2000" spc="-10" b="1">
                <a:solidFill>
                  <a:srgbClr val="FF09FF"/>
                </a:solidFill>
                <a:latin typeface="黑体"/>
                <a:cs typeface="黑体"/>
              </a:rPr>
              <a:t>V4</a:t>
            </a:r>
            <a:r>
              <a:rPr dirty="0" sz="2000" spc="-10" b="1">
                <a:solidFill>
                  <a:srgbClr val="FF09FF"/>
                </a:solidFill>
                <a:latin typeface="宋体"/>
                <a:cs typeface="宋体"/>
              </a:rPr>
              <a:t>时间：</a:t>
            </a:r>
            <a:r>
              <a:rPr dirty="0" sz="2000" spc="-10" b="1">
                <a:solidFill>
                  <a:srgbClr val="FF09FF"/>
                </a:solidFill>
                <a:latin typeface="黑体"/>
                <a:cs typeface="黑体"/>
              </a:rPr>
              <a:t>1</a:t>
            </a:r>
            <a:r>
              <a:rPr dirty="0" sz="2000" spc="-50" b="1">
                <a:solidFill>
                  <a:srgbClr val="FF09FF"/>
                </a:solidFill>
                <a:latin typeface="宋体"/>
                <a:cs typeface="宋体"/>
              </a:rPr>
              <a:t>拍</a:t>
            </a:r>
            <a:endParaRPr sz="2000">
              <a:latin typeface="宋体"/>
              <a:cs typeface="宋体"/>
            </a:endParaRPr>
          </a:p>
          <a:p>
            <a:pPr marL="826769">
              <a:lnSpc>
                <a:spcPct val="100000"/>
              </a:lnSpc>
              <a:spcBef>
                <a:spcPts val="240"/>
              </a:spcBef>
            </a:pPr>
            <a:r>
              <a:rPr dirty="0" sz="2000" spc="-10" b="1">
                <a:solidFill>
                  <a:srgbClr val="FF09FF"/>
                </a:solidFill>
                <a:latin typeface="黑体"/>
                <a:cs typeface="黑体"/>
              </a:rPr>
              <a:t>-----</a:t>
            </a:r>
            <a:r>
              <a:rPr dirty="0" sz="2000" spc="-25" b="1">
                <a:solidFill>
                  <a:srgbClr val="FF09FF"/>
                </a:solidFill>
                <a:latin typeface="宋体"/>
                <a:cs typeface="宋体"/>
              </a:rPr>
              <a:t>至此，完成第一个分量</a:t>
            </a:r>
            <a:endParaRPr sz="2000">
              <a:latin typeface="宋体"/>
              <a:cs typeface="宋体"/>
            </a:endParaRPr>
          </a:p>
          <a:p>
            <a:pPr marL="913130">
              <a:lnSpc>
                <a:spcPct val="100000"/>
              </a:lnSpc>
              <a:spcBef>
                <a:spcPts val="1080"/>
              </a:spcBef>
            </a:pPr>
            <a:r>
              <a:rPr dirty="0" sz="2000" b="1">
                <a:solidFill>
                  <a:srgbClr val="E14B04"/>
                </a:solidFill>
                <a:latin typeface="宋体"/>
                <a:cs typeface="宋体"/>
              </a:rPr>
              <a:t>[（1＋6＋1）</a:t>
            </a:r>
            <a:r>
              <a:rPr dirty="0" sz="2000" spc="-30" b="1">
                <a:solidFill>
                  <a:srgbClr val="E14B04"/>
                </a:solidFill>
                <a:latin typeface="宋体"/>
                <a:cs typeface="宋体"/>
              </a:rPr>
              <a:t>]＋ [</a:t>
            </a:r>
            <a:r>
              <a:rPr dirty="0" sz="2000" b="1">
                <a:solidFill>
                  <a:srgbClr val="E14B04"/>
                </a:solidFill>
                <a:latin typeface="宋体"/>
                <a:cs typeface="宋体"/>
              </a:rPr>
              <a:t>（1＋7＋1）</a:t>
            </a:r>
            <a:r>
              <a:rPr dirty="0" sz="2000" spc="-45" b="1">
                <a:solidFill>
                  <a:srgbClr val="E14B04"/>
                </a:solidFill>
                <a:latin typeface="宋体"/>
                <a:cs typeface="宋体"/>
              </a:rPr>
              <a:t>] </a:t>
            </a:r>
            <a:r>
              <a:rPr dirty="0" sz="2000" b="1">
                <a:solidFill>
                  <a:srgbClr val="E14B04"/>
                </a:solidFill>
                <a:latin typeface="宋体"/>
                <a:cs typeface="宋体"/>
              </a:rPr>
              <a:t>＋（N－1）</a:t>
            </a:r>
            <a:r>
              <a:rPr dirty="0" sz="2000" spc="-50" b="1">
                <a:solidFill>
                  <a:srgbClr val="E14B04"/>
                </a:solidFill>
                <a:latin typeface="宋体"/>
                <a:cs typeface="宋体"/>
              </a:rPr>
              <a:t>= </a:t>
            </a:r>
            <a:r>
              <a:rPr dirty="0" sz="2000" b="1">
                <a:solidFill>
                  <a:srgbClr val="E14B04"/>
                </a:solidFill>
                <a:latin typeface="宋体"/>
                <a:cs typeface="宋体"/>
              </a:rPr>
              <a:t>N＋16</a:t>
            </a:r>
            <a:r>
              <a:rPr dirty="0" sz="2000" spc="-80" b="1">
                <a:solidFill>
                  <a:srgbClr val="E14B04"/>
                </a:solidFill>
                <a:latin typeface="宋体"/>
                <a:cs typeface="宋体"/>
              </a:rPr>
              <a:t> </a:t>
            </a:r>
            <a:r>
              <a:rPr dirty="0" sz="2000" spc="-10" b="1">
                <a:solidFill>
                  <a:srgbClr val="E14B04"/>
                </a:solidFill>
                <a:latin typeface="宋体"/>
                <a:cs typeface="宋体"/>
              </a:rPr>
              <a:t>（拍</a:t>
            </a:r>
            <a:r>
              <a:rPr dirty="0" sz="2000" spc="-50" b="1">
                <a:solidFill>
                  <a:srgbClr val="E14B04"/>
                </a:solidFill>
                <a:latin typeface="宋体"/>
                <a:cs typeface="宋体"/>
              </a:rPr>
              <a:t>）</a:t>
            </a:r>
            <a:endParaRPr sz="2000">
              <a:latin typeface="宋体"/>
              <a:cs typeface="宋体"/>
            </a:endParaRPr>
          </a:p>
        </p:txBody>
      </p:sp>
      <p:pic>
        <p:nvPicPr>
          <p:cNvPr id="11" name="object 11" descr=""/>
          <p:cNvPicPr/>
          <p:nvPr/>
        </p:nvPicPr>
        <p:blipFill>
          <a:blip r:embed="rId2" cstate="print"/>
          <a:stretch>
            <a:fillRect/>
          </a:stretch>
        </p:blipFill>
        <p:spPr>
          <a:xfrm>
            <a:off x="105263" y="881411"/>
            <a:ext cx="1148744" cy="1377609"/>
          </a:xfrm>
          <a:prstGeom prst="rect">
            <a:avLst/>
          </a:prstGeom>
        </p:spPr>
      </p:pic>
      <p:pic>
        <p:nvPicPr>
          <p:cNvPr id="12" name="object 12" descr=""/>
          <p:cNvPicPr/>
          <p:nvPr/>
        </p:nvPicPr>
        <p:blipFill>
          <a:blip r:embed="rId3" cstate="print"/>
          <a:stretch>
            <a:fillRect/>
          </a:stretch>
        </p:blipFill>
        <p:spPr>
          <a:xfrm>
            <a:off x="1476375" y="736600"/>
            <a:ext cx="7377049" cy="1400175"/>
          </a:xfrm>
          <a:prstGeom prst="rect">
            <a:avLst/>
          </a:prstGeom>
        </p:spPr>
      </p:pic>
      <p:sp>
        <p:nvSpPr>
          <p:cNvPr id="13" name="object 13" descr=""/>
          <p:cNvSpPr txBox="1"/>
          <p:nvPr/>
        </p:nvSpPr>
        <p:spPr>
          <a:xfrm>
            <a:off x="1648205" y="6211925"/>
            <a:ext cx="2645410" cy="300355"/>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黑体"/>
                <a:cs typeface="黑体"/>
              </a:rPr>
              <a:t>完成</a:t>
            </a:r>
            <a:r>
              <a:rPr dirty="0" sz="1800" spc="-10">
                <a:solidFill>
                  <a:srgbClr val="40458B"/>
                </a:solidFill>
                <a:latin typeface="Tahoma"/>
                <a:cs typeface="Tahoma"/>
              </a:rPr>
              <a:t>A0*(B0+C0)</a:t>
            </a:r>
            <a:r>
              <a:rPr dirty="0" sz="1800" spc="-20">
                <a:solidFill>
                  <a:srgbClr val="40458B"/>
                </a:solidFill>
                <a:latin typeface="黑体"/>
                <a:cs typeface="黑体"/>
              </a:rPr>
              <a:t>所需时间</a:t>
            </a:r>
            <a:endParaRPr sz="1800">
              <a:latin typeface="黑体"/>
              <a:cs typeface="黑体"/>
            </a:endParaRPr>
          </a:p>
        </p:txBody>
      </p:sp>
      <p:sp>
        <p:nvSpPr>
          <p:cNvPr id="14" name="object 14" descr=""/>
          <p:cNvSpPr/>
          <p:nvPr/>
        </p:nvSpPr>
        <p:spPr>
          <a:xfrm>
            <a:off x="1354200" y="5811837"/>
            <a:ext cx="3326129" cy="575945"/>
          </a:xfrm>
          <a:custGeom>
            <a:avLst/>
            <a:gdLst/>
            <a:ahLst/>
            <a:cxnLst/>
            <a:rect l="l" t="t" r="r" b="b"/>
            <a:pathLst>
              <a:path w="3326129" h="575945">
                <a:moveTo>
                  <a:pt x="3325749" y="0"/>
                </a:moveTo>
                <a:lnTo>
                  <a:pt x="3325749" y="112009"/>
                </a:lnTo>
                <a:lnTo>
                  <a:pt x="3325749" y="203476"/>
                </a:lnTo>
                <a:lnTo>
                  <a:pt x="3325749" y="265143"/>
                </a:lnTo>
                <a:lnTo>
                  <a:pt x="3325749" y="287756"/>
                </a:lnTo>
                <a:lnTo>
                  <a:pt x="1662811" y="287756"/>
                </a:lnTo>
                <a:lnTo>
                  <a:pt x="1662811" y="310371"/>
                </a:lnTo>
                <a:lnTo>
                  <a:pt x="1662811" y="372043"/>
                </a:lnTo>
                <a:lnTo>
                  <a:pt x="1662811" y="463514"/>
                </a:lnTo>
                <a:lnTo>
                  <a:pt x="1662811" y="575525"/>
                </a:lnTo>
                <a:lnTo>
                  <a:pt x="1662811" y="463514"/>
                </a:lnTo>
                <a:lnTo>
                  <a:pt x="1662811" y="372043"/>
                </a:lnTo>
                <a:lnTo>
                  <a:pt x="1662811" y="310371"/>
                </a:lnTo>
                <a:lnTo>
                  <a:pt x="1662811" y="287756"/>
                </a:lnTo>
                <a:lnTo>
                  <a:pt x="0" y="287756"/>
                </a:lnTo>
                <a:lnTo>
                  <a:pt x="0" y="265143"/>
                </a:lnTo>
                <a:lnTo>
                  <a:pt x="0" y="203476"/>
                </a:lnTo>
                <a:lnTo>
                  <a:pt x="0" y="112009"/>
                </a:lnTo>
                <a:lnTo>
                  <a:pt x="0" y="0"/>
                </a:lnTo>
              </a:path>
            </a:pathLst>
          </a:custGeom>
          <a:ln w="9524">
            <a:solidFill>
              <a:srgbClr val="D50092"/>
            </a:solidFill>
          </a:ln>
        </p:spPr>
        <p:txBody>
          <a:bodyPr wrap="square" lIns="0" tIns="0" rIns="0" bIns="0" rtlCol="0"/>
          <a:lstStyle/>
          <a:p/>
        </p:txBody>
      </p:sp>
      <p:sp>
        <p:nvSpPr>
          <p:cNvPr id="15" name="object 15" descr=""/>
          <p:cNvSpPr/>
          <p:nvPr/>
        </p:nvSpPr>
        <p:spPr>
          <a:xfrm>
            <a:off x="5220334" y="5811837"/>
            <a:ext cx="831215" cy="286385"/>
          </a:xfrm>
          <a:custGeom>
            <a:avLst/>
            <a:gdLst/>
            <a:ahLst/>
            <a:cxnLst/>
            <a:rect l="l" t="t" r="r" b="b"/>
            <a:pathLst>
              <a:path w="831214" h="286385">
                <a:moveTo>
                  <a:pt x="831214" y="0"/>
                </a:moveTo>
                <a:lnTo>
                  <a:pt x="831214" y="55736"/>
                </a:lnTo>
                <a:lnTo>
                  <a:pt x="831214" y="101252"/>
                </a:lnTo>
                <a:lnTo>
                  <a:pt x="831214" y="131939"/>
                </a:lnTo>
                <a:lnTo>
                  <a:pt x="831214" y="143192"/>
                </a:lnTo>
                <a:lnTo>
                  <a:pt x="415543" y="143192"/>
                </a:lnTo>
                <a:lnTo>
                  <a:pt x="415543" y="154445"/>
                </a:lnTo>
                <a:lnTo>
                  <a:pt x="415543" y="185132"/>
                </a:lnTo>
                <a:lnTo>
                  <a:pt x="415543" y="230648"/>
                </a:lnTo>
                <a:lnTo>
                  <a:pt x="415543" y="286384"/>
                </a:lnTo>
                <a:lnTo>
                  <a:pt x="415543" y="230648"/>
                </a:lnTo>
                <a:lnTo>
                  <a:pt x="415543" y="185132"/>
                </a:lnTo>
                <a:lnTo>
                  <a:pt x="415543" y="154445"/>
                </a:lnTo>
                <a:lnTo>
                  <a:pt x="415543" y="143192"/>
                </a:lnTo>
                <a:lnTo>
                  <a:pt x="0" y="143192"/>
                </a:lnTo>
                <a:lnTo>
                  <a:pt x="0" y="131939"/>
                </a:lnTo>
                <a:lnTo>
                  <a:pt x="0" y="101252"/>
                </a:lnTo>
                <a:lnTo>
                  <a:pt x="0" y="55736"/>
                </a:lnTo>
                <a:lnTo>
                  <a:pt x="0" y="0"/>
                </a:lnTo>
              </a:path>
            </a:pathLst>
          </a:custGeom>
          <a:ln w="9525">
            <a:solidFill>
              <a:srgbClr val="D50092"/>
            </a:solidFill>
          </a:ln>
        </p:spPr>
        <p:txBody>
          <a:bodyPr wrap="square" lIns="0" tIns="0" rIns="0" bIns="0" rtlCol="0"/>
          <a:lstStyle/>
          <a:p/>
        </p:txBody>
      </p:sp>
      <p:sp>
        <p:nvSpPr>
          <p:cNvPr id="16" name="object 16" descr=""/>
          <p:cNvSpPr txBox="1"/>
          <p:nvPr/>
        </p:nvSpPr>
        <p:spPr>
          <a:xfrm>
            <a:off x="5011928" y="6102197"/>
            <a:ext cx="2381885" cy="513080"/>
          </a:xfrm>
          <a:prstGeom prst="rect">
            <a:avLst/>
          </a:prstGeom>
        </p:spPr>
        <p:txBody>
          <a:bodyPr wrap="square" lIns="0" tIns="12065" rIns="0" bIns="0" rtlCol="0" vert="horz">
            <a:spAutoFit/>
          </a:bodyPr>
          <a:lstStyle/>
          <a:p>
            <a:pPr marL="12700" marR="5080">
              <a:lnSpc>
                <a:spcPct val="100000"/>
              </a:lnSpc>
              <a:spcBef>
                <a:spcPts val="95"/>
              </a:spcBef>
            </a:pPr>
            <a:r>
              <a:rPr dirty="0" sz="1600" spc="-20">
                <a:solidFill>
                  <a:srgbClr val="40458B"/>
                </a:solidFill>
                <a:latin typeface="黑体"/>
                <a:cs typeface="黑体"/>
              </a:rPr>
              <a:t>流水线上，剩余</a:t>
            </a:r>
            <a:r>
              <a:rPr dirty="0" sz="1600" spc="-10">
                <a:solidFill>
                  <a:srgbClr val="40458B"/>
                </a:solidFill>
                <a:latin typeface="Tahoma"/>
                <a:cs typeface="Tahoma"/>
              </a:rPr>
              <a:t>N-1</a:t>
            </a:r>
            <a:r>
              <a:rPr dirty="0" sz="1600" spc="-30">
                <a:solidFill>
                  <a:srgbClr val="40458B"/>
                </a:solidFill>
                <a:latin typeface="黑体"/>
                <a:cs typeface="黑体"/>
              </a:rPr>
              <a:t>个任务的时间</a:t>
            </a:r>
            <a:endParaRPr sz="1600">
              <a:latin typeface="黑体"/>
              <a:cs typeface="黑体"/>
            </a:endParaRPr>
          </a:p>
        </p:txBody>
      </p:sp>
      <p:sp>
        <p:nvSpPr>
          <p:cNvPr id="17" name="object 17" descr=""/>
          <p:cNvSpPr txBox="1"/>
          <p:nvPr/>
        </p:nvSpPr>
        <p:spPr>
          <a:xfrm>
            <a:off x="7885938" y="6017767"/>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09FF"/>
                </a:solidFill>
                <a:latin typeface="黑体"/>
                <a:cs typeface="黑体"/>
              </a:rPr>
              <a:t>性能分析</a:t>
            </a:r>
            <a:endParaRPr sz="2400">
              <a:latin typeface="黑体"/>
              <a:cs typeface="黑体"/>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49/72</a:t>
            </a:r>
            <a:endParaRPr sz="1600">
              <a:latin typeface="宋体"/>
              <a:cs typeface="宋体"/>
            </a:endParaRPr>
          </a:p>
        </p:txBody>
      </p:sp>
      <p:sp>
        <p:nvSpPr>
          <p:cNvPr id="3" name="object 3" descr=""/>
          <p:cNvSpPr/>
          <p:nvPr/>
        </p:nvSpPr>
        <p:spPr>
          <a:xfrm>
            <a:off x="742950" y="692150"/>
            <a:ext cx="3364865" cy="0"/>
          </a:xfrm>
          <a:custGeom>
            <a:avLst/>
            <a:gdLst/>
            <a:ahLst/>
            <a:cxnLst/>
            <a:rect l="l" t="t" r="r" b="b"/>
            <a:pathLst>
              <a:path w="3364865" h="0">
                <a:moveTo>
                  <a:pt x="0" y="0"/>
                </a:moveTo>
                <a:lnTo>
                  <a:pt x="3364282" y="0"/>
                </a:lnTo>
              </a:path>
            </a:pathLst>
          </a:custGeom>
          <a:ln w="38100">
            <a:solidFill>
              <a:srgbClr val="2C44A3"/>
            </a:solidFill>
          </a:ln>
        </p:spPr>
        <p:txBody>
          <a:bodyPr wrap="square" lIns="0" tIns="0" rIns="0" bIns="0" rtlCol="0"/>
          <a:lstStyle/>
          <a:p/>
        </p:txBody>
      </p:sp>
      <p:sp>
        <p:nvSpPr>
          <p:cNvPr id="4" name="object 4" descr=""/>
          <p:cNvSpPr/>
          <p:nvPr/>
        </p:nvSpPr>
        <p:spPr>
          <a:xfrm>
            <a:off x="5131154" y="692150"/>
            <a:ext cx="4013200" cy="0"/>
          </a:xfrm>
          <a:custGeom>
            <a:avLst/>
            <a:gdLst/>
            <a:ahLst/>
            <a:cxnLst/>
            <a:rect l="l" t="t" r="r" b="b"/>
            <a:pathLst>
              <a:path w="4013200" h="0">
                <a:moveTo>
                  <a:pt x="0" y="0"/>
                </a:moveTo>
                <a:lnTo>
                  <a:pt x="4012845" y="0"/>
                </a:lnTo>
              </a:path>
            </a:pathLst>
          </a:custGeom>
          <a:ln w="38100">
            <a:solidFill>
              <a:srgbClr val="2C44A3"/>
            </a:solidFill>
          </a:ln>
        </p:spPr>
        <p:txBody>
          <a:bodyPr wrap="square" lIns="0" tIns="0" rIns="0" bIns="0" rtlCol="0"/>
          <a:lstStyle/>
          <a:p/>
        </p:txBody>
      </p:sp>
      <p:grpSp>
        <p:nvGrpSpPr>
          <p:cNvPr id="5" name="object 5" descr=""/>
          <p:cNvGrpSpPr/>
          <p:nvPr/>
        </p:nvGrpSpPr>
        <p:grpSpPr>
          <a:xfrm>
            <a:off x="50800" y="311150"/>
            <a:ext cx="808355" cy="274955"/>
            <a:chOff x="50800" y="311150"/>
            <a:chExt cx="808355" cy="274955"/>
          </a:xfrm>
        </p:grpSpPr>
        <p:sp>
          <p:nvSpPr>
            <p:cNvPr id="6" name="object 6"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7" name="object 7"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8" name="object 8"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9" name="object 9"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grpSp>
        <p:nvGrpSpPr>
          <p:cNvPr id="10" name="object 10" descr=""/>
          <p:cNvGrpSpPr/>
          <p:nvPr/>
        </p:nvGrpSpPr>
        <p:grpSpPr>
          <a:xfrm>
            <a:off x="4098342" y="5407264"/>
            <a:ext cx="1042035" cy="821055"/>
            <a:chOff x="4098342" y="5407264"/>
            <a:chExt cx="1042035" cy="821055"/>
          </a:xfrm>
        </p:grpSpPr>
        <p:sp>
          <p:nvSpPr>
            <p:cNvPr id="11" name="object 11" descr=""/>
            <p:cNvSpPr/>
            <p:nvPr/>
          </p:nvSpPr>
          <p:spPr>
            <a:xfrm>
              <a:off x="4107232" y="5416154"/>
              <a:ext cx="1024255" cy="803275"/>
            </a:xfrm>
            <a:custGeom>
              <a:avLst/>
              <a:gdLst/>
              <a:ahLst/>
              <a:cxnLst/>
              <a:rect l="l" t="t" r="r" b="b"/>
              <a:pathLst>
                <a:path w="1024254" h="803275">
                  <a:moveTo>
                    <a:pt x="1023922" y="0"/>
                  </a:moveTo>
                  <a:lnTo>
                    <a:pt x="0" y="0"/>
                  </a:lnTo>
                  <a:lnTo>
                    <a:pt x="0" y="803135"/>
                  </a:lnTo>
                  <a:lnTo>
                    <a:pt x="1023922" y="803135"/>
                  </a:lnTo>
                  <a:lnTo>
                    <a:pt x="1023922" y="0"/>
                  </a:lnTo>
                  <a:close/>
                </a:path>
              </a:pathLst>
            </a:custGeom>
            <a:solidFill>
              <a:srgbClr val="CCFFCC"/>
            </a:solidFill>
          </p:spPr>
          <p:txBody>
            <a:bodyPr wrap="square" lIns="0" tIns="0" rIns="0" bIns="0" rtlCol="0"/>
            <a:lstStyle/>
            <a:p/>
          </p:txBody>
        </p:sp>
        <p:sp>
          <p:nvSpPr>
            <p:cNvPr id="12" name="object 12" descr=""/>
            <p:cNvSpPr/>
            <p:nvPr/>
          </p:nvSpPr>
          <p:spPr>
            <a:xfrm>
              <a:off x="4107232" y="5416154"/>
              <a:ext cx="1024255" cy="803275"/>
            </a:xfrm>
            <a:custGeom>
              <a:avLst/>
              <a:gdLst/>
              <a:ahLst/>
              <a:cxnLst/>
              <a:rect l="l" t="t" r="r" b="b"/>
              <a:pathLst>
                <a:path w="1024254" h="803275">
                  <a:moveTo>
                    <a:pt x="0" y="803135"/>
                  </a:moveTo>
                  <a:lnTo>
                    <a:pt x="1023922" y="803135"/>
                  </a:lnTo>
                  <a:lnTo>
                    <a:pt x="1023922" y="0"/>
                  </a:lnTo>
                  <a:lnTo>
                    <a:pt x="0" y="0"/>
                  </a:lnTo>
                  <a:lnTo>
                    <a:pt x="0" y="803135"/>
                  </a:lnTo>
                  <a:close/>
                </a:path>
              </a:pathLst>
            </a:custGeom>
            <a:ln w="16022">
              <a:solidFill>
                <a:srgbClr val="000000"/>
              </a:solidFill>
            </a:ln>
          </p:spPr>
          <p:txBody>
            <a:bodyPr wrap="square" lIns="0" tIns="0" rIns="0" bIns="0" rtlCol="0"/>
            <a:lstStyle/>
            <a:p/>
          </p:txBody>
        </p:sp>
        <p:sp>
          <p:nvSpPr>
            <p:cNvPr id="13" name="object 13" descr=""/>
            <p:cNvSpPr/>
            <p:nvPr/>
          </p:nvSpPr>
          <p:spPr>
            <a:xfrm>
              <a:off x="4107231" y="5582653"/>
              <a:ext cx="1024255" cy="471170"/>
            </a:xfrm>
            <a:custGeom>
              <a:avLst/>
              <a:gdLst/>
              <a:ahLst/>
              <a:cxnLst/>
              <a:rect l="l" t="t" r="r" b="b"/>
              <a:pathLst>
                <a:path w="1024254" h="471170">
                  <a:moveTo>
                    <a:pt x="1024026" y="457377"/>
                  </a:moveTo>
                  <a:lnTo>
                    <a:pt x="0" y="457377"/>
                  </a:lnTo>
                  <a:lnTo>
                    <a:pt x="0" y="470636"/>
                  </a:lnTo>
                  <a:lnTo>
                    <a:pt x="1024026" y="470636"/>
                  </a:lnTo>
                  <a:lnTo>
                    <a:pt x="1024026" y="457377"/>
                  </a:lnTo>
                  <a:close/>
                </a:path>
                <a:path w="1024254" h="471170">
                  <a:moveTo>
                    <a:pt x="1024026" y="173113"/>
                  </a:moveTo>
                  <a:lnTo>
                    <a:pt x="0" y="173113"/>
                  </a:lnTo>
                  <a:lnTo>
                    <a:pt x="0" y="186385"/>
                  </a:lnTo>
                  <a:lnTo>
                    <a:pt x="1024026" y="186385"/>
                  </a:lnTo>
                  <a:lnTo>
                    <a:pt x="1024026" y="173113"/>
                  </a:lnTo>
                  <a:close/>
                </a:path>
                <a:path w="1024254" h="471170">
                  <a:moveTo>
                    <a:pt x="1024026" y="0"/>
                  </a:moveTo>
                  <a:lnTo>
                    <a:pt x="0" y="0"/>
                  </a:lnTo>
                  <a:lnTo>
                    <a:pt x="0" y="13258"/>
                  </a:lnTo>
                  <a:lnTo>
                    <a:pt x="1024026" y="13258"/>
                  </a:lnTo>
                  <a:lnTo>
                    <a:pt x="1024026" y="0"/>
                  </a:lnTo>
                  <a:close/>
                </a:path>
              </a:pathLst>
            </a:custGeom>
            <a:solidFill>
              <a:srgbClr val="000000"/>
            </a:solidFill>
          </p:spPr>
          <p:txBody>
            <a:bodyPr wrap="square" lIns="0" tIns="0" rIns="0" bIns="0" rtlCol="0"/>
            <a:lstStyle/>
            <a:p/>
          </p:txBody>
        </p:sp>
      </p:grpSp>
      <p:sp>
        <p:nvSpPr>
          <p:cNvPr id="14" name="object 14" descr=""/>
          <p:cNvSpPr txBox="1"/>
          <p:nvPr/>
        </p:nvSpPr>
        <p:spPr>
          <a:xfrm>
            <a:off x="4116020" y="5769026"/>
            <a:ext cx="1006475" cy="271145"/>
          </a:xfrm>
          <a:prstGeom prst="rect">
            <a:avLst/>
          </a:prstGeom>
          <a:solidFill>
            <a:srgbClr val="CCFFCC"/>
          </a:solidFill>
        </p:spPr>
        <p:txBody>
          <a:bodyPr wrap="square" lIns="0" tIns="5080" rIns="0" bIns="0" rtlCol="0" vert="horz">
            <a:spAutoFit/>
          </a:bodyPr>
          <a:lstStyle/>
          <a:p>
            <a:pPr marL="325755">
              <a:lnSpc>
                <a:spcPct val="100000"/>
              </a:lnSpc>
              <a:spcBef>
                <a:spcPts val="40"/>
              </a:spcBef>
            </a:pPr>
            <a:r>
              <a:rPr dirty="0" sz="1550" spc="785">
                <a:latin typeface="宋体"/>
                <a:cs typeface="宋体"/>
              </a:rPr>
              <a:t>…</a:t>
            </a:r>
            <a:endParaRPr sz="1550">
              <a:latin typeface="宋体"/>
              <a:cs typeface="宋体"/>
            </a:endParaRPr>
          </a:p>
        </p:txBody>
      </p:sp>
      <p:grpSp>
        <p:nvGrpSpPr>
          <p:cNvPr id="15" name="object 15" descr=""/>
          <p:cNvGrpSpPr/>
          <p:nvPr/>
        </p:nvGrpSpPr>
        <p:grpSpPr>
          <a:xfrm>
            <a:off x="4098342" y="1280987"/>
            <a:ext cx="1042035" cy="3914140"/>
            <a:chOff x="4098342" y="1280987"/>
            <a:chExt cx="1042035" cy="3914140"/>
          </a:xfrm>
        </p:grpSpPr>
        <p:sp>
          <p:nvSpPr>
            <p:cNvPr id="16" name="object 16" descr=""/>
            <p:cNvSpPr/>
            <p:nvPr/>
          </p:nvSpPr>
          <p:spPr>
            <a:xfrm>
              <a:off x="4107232" y="3353062"/>
              <a:ext cx="1024255" cy="803275"/>
            </a:xfrm>
            <a:custGeom>
              <a:avLst/>
              <a:gdLst/>
              <a:ahLst/>
              <a:cxnLst/>
              <a:rect l="l" t="t" r="r" b="b"/>
              <a:pathLst>
                <a:path w="1024254" h="803275">
                  <a:moveTo>
                    <a:pt x="1023922" y="0"/>
                  </a:moveTo>
                  <a:lnTo>
                    <a:pt x="0" y="0"/>
                  </a:lnTo>
                  <a:lnTo>
                    <a:pt x="0" y="803135"/>
                  </a:lnTo>
                  <a:lnTo>
                    <a:pt x="1023922" y="803135"/>
                  </a:lnTo>
                  <a:lnTo>
                    <a:pt x="1023922" y="0"/>
                  </a:lnTo>
                  <a:close/>
                </a:path>
              </a:pathLst>
            </a:custGeom>
            <a:solidFill>
              <a:srgbClr val="CCFFCC"/>
            </a:solidFill>
          </p:spPr>
          <p:txBody>
            <a:bodyPr wrap="square" lIns="0" tIns="0" rIns="0" bIns="0" rtlCol="0"/>
            <a:lstStyle/>
            <a:p/>
          </p:txBody>
        </p:sp>
        <p:sp>
          <p:nvSpPr>
            <p:cNvPr id="17" name="object 17" descr=""/>
            <p:cNvSpPr/>
            <p:nvPr/>
          </p:nvSpPr>
          <p:spPr>
            <a:xfrm>
              <a:off x="4107232" y="3353062"/>
              <a:ext cx="1024255" cy="803275"/>
            </a:xfrm>
            <a:custGeom>
              <a:avLst/>
              <a:gdLst/>
              <a:ahLst/>
              <a:cxnLst/>
              <a:rect l="l" t="t" r="r" b="b"/>
              <a:pathLst>
                <a:path w="1024254" h="803275">
                  <a:moveTo>
                    <a:pt x="0" y="803135"/>
                  </a:moveTo>
                  <a:lnTo>
                    <a:pt x="1023922" y="803135"/>
                  </a:lnTo>
                  <a:lnTo>
                    <a:pt x="1023922" y="0"/>
                  </a:lnTo>
                  <a:lnTo>
                    <a:pt x="0" y="0"/>
                  </a:lnTo>
                  <a:lnTo>
                    <a:pt x="0" y="803135"/>
                  </a:lnTo>
                  <a:close/>
                </a:path>
              </a:pathLst>
            </a:custGeom>
            <a:ln w="16022">
              <a:solidFill>
                <a:srgbClr val="000000"/>
              </a:solidFill>
            </a:ln>
          </p:spPr>
          <p:txBody>
            <a:bodyPr wrap="square" lIns="0" tIns="0" rIns="0" bIns="0" rtlCol="0"/>
            <a:lstStyle/>
            <a:p/>
          </p:txBody>
        </p:sp>
        <p:sp>
          <p:nvSpPr>
            <p:cNvPr id="18" name="object 18" descr=""/>
            <p:cNvSpPr/>
            <p:nvPr/>
          </p:nvSpPr>
          <p:spPr>
            <a:xfrm>
              <a:off x="4107230" y="3519576"/>
              <a:ext cx="1024255" cy="470534"/>
            </a:xfrm>
            <a:custGeom>
              <a:avLst/>
              <a:gdLst/>
              <a:ahLst/>
              <a:cxnLst/>
              <a:rect l="l" t="t" r="r" b="b"/>
              <a:pathLst>
                <a:path w="1024254" h="470535">
                  <a:moveTo>
                    <a:pt x="1024026" y="456806"/>
                  </a:moveTo>
                  <a:lnTo>
                    <a:pt x="0" y="456806"/>
                  </a:lnTo>
                  <a:lnTo>
                    <a:pt x="0" y="470065"/>
                  </a:lnTo>
                  <a:lnTo>
                    <a:pt x="1024026" y="470065"/>
                  </a:lnTo>
                  <a:lnTo>
                    <a:pt x="1024026" y="456806"/>
                  </a:lnTo>
                  <a:close/>
                </a:path>
                <a:path w="1024254" h="470535">
                  <a:moveTo>
                    <a:pt x="1024026" y="173012"/>
                  </a:moveTo>
                  <a:lnTo>
                    <a:pt x="0" y="173012"/>
                  </a:lnTo>
                  <a:lnTo>
                    <a:pt x="0" y="186270"/>
                  </a:lnTo>
                  <a:lnTo>
                    <a:pt x="1024026" y="186270"/>
                  </a:lnTo>
                  <a:lnTo>
                    <a:pt x="1024026" y="173012"/>
                  </a:lnTo>
                  <a:close/>
                </a:path>
                <a:path w="1024254" h="470535">
                  <a:moveTo>
                    <a:pt x="1024026" y="0"/>
                  </a:moveTo>
                  <a:lnTo>
                    <a:pt x="0" y="0"/>
                  </a:lnTo>
                  <a:lnTo>
                    <a:pt x="0" y="13258"/>
                  </a:lnTo>
                  <a:lnTo>
                    <a:pt x="1024026" y="13258"/>
                  </a:lnTo>
                  <a:lnTo>
                    <a:pt x="1024026" y="0"/>
                  </a:lnTo>
                  <a:close/>
                </a:path>
              </a:pathLst>
            </a:custGeom>
            <a:solidFill>
              <a:srgbClr val="000000"/>
            </a:solidFill>
          </p:spPr>
          <p:txBody>
            <a:bodyPr wrap="square" lIns="0" tIns="0" rIns="0" bIns="0" rtlCol="0"/>
            <a:lstStyle/>
            <a:p/>
          </p:txBody>
        </p:sp>
        <p:sp>
          <p:nvSpPr>
            <p:cNvPr id="19" name="object 19" descr=""/>
            <p:cNvSpPr/>
            <p:nvPr/>
          </p:nvSpPr>
          <p:spPr>
            <a:xfrm>
              <a:off x="4107232" y="4387092"/>
              <a:ext cx="1024255" cy="798830"/>
            </a:xfrm>
            <a:custGeom>
              <a:avLst/>
              <a:gdLst/>
              <a:ahLst/>
              <a:cxnLst/>
              <a:rect l="l" t="t" r="r" b="b"/>
              <a:pathLst>
                <a:path w="1024254" h="798829">
                  <a:moveTo>
                    <a:pt x="1023922" y="0"/>
                  </a:moveTo>
                  <a:lnTo>
                    <a:pt x="0" y="0"/>
                  </a:lnTo>
                  <a:lnTo>
                    <a:pt x="0" y="798574"/>
                  </a:lnTo>
                  <a:lnTo>
                    <a:pt x="1023922" y="798574"/>
                  </a:lnTo>
                  <a:lnTo>
                    <a:pt x="1023922" y="0"/>
                  </a:lnTo>
                  <a:close/>
                </a:path>
              </a:pathLst>
            </a:custGeom>
            <a:solidFill>
              <a:srgbClr val="CCFFCC"/>
            </a:solidFill>
          </p:spPr>
          <p:txBody>
            <a:bodyPr wrap="square" lIns="0" tIns="0" rIns="0" bIns="0" rtlCol="0"/>
            <a:lstStyle/>
            <a:p/>
          </p:txBody>
        </p:sp>
        <p:sp>
          <p:nvSpPr>
            <p:cNvPr id="20" name="object 20" descr=""/>
            <p:cNvSpPr/>
            <p:nvPr/>
          </p:nvSpPr>
          <p:spPr>
            <a:xfrm>
              <a:off x="4107232" y="4387092"/>
              <a:ext cx="1024255" cy="798830"/>
            </a:xfrm>
            <a:custGeom>
              <a:avLst/>
              <a:gdLst/>
              <a:ahLst/>
              <a:cxnLst/>
              <a:rect l="l" t="t" r="r" b="b"/>
              <a:pathLst>
                <a:path w="1024254" h="798829">
                  <a:moveTo>
                    <a:pt x="0" y="798574"/>
                  </a:moveTo>
                  <a:lnTo>
                    <a:pt x="1023922" y="798574"/>
                  </a:lnTo>
                  <a:lnTo>
                    <a:pt x="1023922" y="0"/>
                  </a:lnTo>
                  <a:lnTo>
                    <a:pt x="0" y="0"/>
                  </a:lnTo>
                  <a:lnTo>
                    <a:pt x="0" y="798574"/>
                  </a:lnTo>
                  <a:close/>
                </a:path>
              </a:pathLst>
            </a:custGeom>
            <a:ln w="16003">
              <a:solidFill>
                <a:srgbClr val="000000"/>
              </a:solidFill>
            </a:ln>
          </p:spPr>
          <p:txBody>
            <a:bodyPr wrap="square" lIns="0" tIns="0" rIns="0" bIns="0" rtlCol="0"/>
            <a:lstStyle/>
            <a:p/>
          </p:txBody>
        </p:sp>
        <p:sp>
          <p:nvSpPr>
            <p:cNvPr id="21" name="object 21" descr=""/>
            <p:cNvSpPr/>
            <p:nvPr/>
          </p:nvSpPr>
          <p:spPr>
            <a:xfrm>
              <a:off x="4107230" y="4548949"/>
              <a:ext cx="1024255" cy="474980"/>
            </a:xfrm>
            <a:custGeom>
              <a:avLst/>
              <a:gdLst/>
              <a:ahLst/>
              <a:cxnLst/>
              <a:rect l="l" t="t" r="r" b="b"/>
              <a:pathLst>
                <a:path w="1024254" h="474979">
                  <a:moveTo>
                    <a:pt x="1024026" y="461530"/>
                  </a:moveTo>
                  <a:lnTo>
                    <a:pt x="0" y="461530"/>
                  </a:lnTo>
                  <a:lnTo>
                    <a:pt x="0" y="474802"/>
                  </a:lnTo>
                  <a:lnTo>
                    <a:pt x="1024026" y="474802"/>
                  </a:lnTo>
                  <a:lnTo>
                    <a:pt x="1024026" y="461530"/>
                  </a:lnTo>
                  <a:close/>
                </a:path>
                <a:path w="1024254" h="474979">
                  <a:moveTo>
                    <a:pt x="1024026" y="173177"/>
                  </a:moveTo>
                  <a:lnTo>
                    <a:pt x="0" y="173177"/>
                  </a:lnTo>
                  <a:lnTo>
                    <a:pt x="0" y="186436"/>
                  </a:lnTo>
                  <a:lnTo>
                    <a:pt x="1024026" y="186436"/>
                  </a:lnTo>
                  <a:lnTo>
                    <a:pt x="1024026" y="173177"/>
                  </a:lnTo>
                  <a:close/>
                </a:path>
                <a:path w="1024254" h="474979">
                  <a:moveTo>
                    <a:pt x="1024026" y="0"/>
                  </a:moveTo>
                  <a:lnTo>
                    <a:pt x="0" y="0"/>
                  </a:lnTo>
                  <a:lnTo>
                    <a:pt x="0" y="13271"/>
                  </a:lnTo>
                  <a:lnTo>
                    <a:pt x="1024026" y="13271"/>
                  </a:lnTo>
                  <a:lnTo>
                    <a:pt x="1024026" y="0"/>
                  </a:lnTo>
                  <a:close/>
                </a:path>
              </a:pathLst>
            </a:custGeom>
            <a:solidFill>
              <a:srgbClr val="000000"/>
            </a:solidFill>
          </p:spPr>
          <p:txBody>
            <a:bodyPr wrap="square" lIns="0" tIns="0" rIns="0" bIns="0" rtlCol="0"/>
            <a:lstStyle/>
            <a:p/>
          </p:txBody>
        </p:sp>
        <p:sp>
          <p:nvSpPr>
            <p:cNvPr id="22" name="object 22" descr=""/>
            <p:cNvSpPr/>
            <p:nvPr/>
          </p:nvSpPr>
          <p:spPr>
            <a:xfrm>
              <a:off x="4107232" y="1289877"/>
              <a:ext cx="1024255" cy="803275"/>
            </a:xfrm>
            <a:custGeom>
              <a:avLst/>
              <a:gdLst/>
              <a:ahLst/>
              <a:cxnLst/>
              <a:rect l="l" t="t" r="r" b="b"/>
              <a:pathLst>
                <a:path w="1024254" h="803275">
                  <a:moveTo>
                    <a:pt x="1023922" y="0"/>
                  </a:moveTo>
                  <a:lnTo>
                    <a:pt x="0" y="0"/>
                  </a:lnTo>
                  <a:lnTo>
                    <a:pt x="0" y="803135"/>
                  </a:lnTo>
                  <a:lnTo>
                    <a:pt x="1023922" y="803135"/>
                  </a:lnTo>
                  <a:lnTo>
                    <a:pt x="1023922" y="0"/>
                  </a:lnTo>
                  <a:close/>
                </a:path>
              </a:pathLst>
            </a:custGeom>
            <a:solidFill>
              <a:srgbClr val="CCFFCC"/>
            </a:solidFill>
          </p:spPr>
          <p:txBody>
            <a:bodyPr wrap="square" lIns="0" tIns="0" rIns="0" bIns="0" rtlCol="0"/>
            <a:lstStyle/>
            <a:p/>
          </p:txBody>
        </p:sp>
        <p:sp>
          <p:nvSpPr>
            <p:cNvPr id="23" name="object 23" descr=""/>
            <p:cNvSpPr/>
            <p:nvPr/>
          </p:nvSpPr>
          <p:spPr>
            <a:xfrm>
              <a:off x="4107232" y="1289877"/>
              <a:ext cx="1024255" cy="803275"/>
            </a:xfrm>
            <a:custGeom>
              <a:avLst/>
              <a:gdLst/>
              <a:ahLst/>
              <a:cxnLst/>
              <a:rect l="l" t="t" r="r" b="b"/>
              <a:pathLst>
                <a:path w="1024254" h="803275">
                  <a:moveTo>
                    <a:pt x="0" y="803135"/>
                  </a:moveTo>
                  <a:lnTo>
                    <a:pt x="1023922" y="803135"/>
                  </a:lnTo>
                  <a:lnTo>
                    <a:pt x="1023922" y="0"/>
                  </a:lnTo>
                  <a:lnTo>
                    <a:pt x="0" y="0"/>
                  </a:lnTo>
                  <a:lnTo>
                    <a:pt x="0" y="803135"/>
                  </a:lnTo>
                  <a:close/>
                </a:path>
              </a:pathLst>
            </a:custGeom>
            <a:ln w="16022">
              <a:solidFill>
                <a:srgbClr val="000000"/>
              </a:solidFill>
            </a:ln>
          </p:spPr>
          <p:txBody>
            <a:bodyPr wrap="square" lIns="0" tIns="0" rIns="0" bIns="0" rtlCol="0"/>
            <a:lstStyle/>
            <a:p/>
          </p:txBody>
        </p:sp>
        <p:sp>
          <p:nvSpPr>
            <p:cNvPr id="24" name="object 24" descr=""/>
            <p:cNvSpPr/>
            <p:nvPr/>
          </p:nvSpPr>
          <p:spPr>
            <a:xfrm>
              <a:off x="4107230" y="1456384"/>
              <a:ext cx="1024255" cy="470534"/>
            </a:xfrm>
            <a:custGeom>
              <a:avLst/>
              <a:gdLst/>
              <a:ahLst/>
              <a:cxnLst/>
              <a:rect l="l" t="t" r="r" b="b"/>
              <a:pathLst>
                <a:path w="1024254" h="470535">
                  <a:moveTo>
                    <a:pt x="1024026" y="456806"/>
                  </a:moveTo>
                  <a:lnTo>
                    <a:pt x="0" y="456806"/>
                  </a:lnTo>
                  <a:lnTo>
                    <a:pt x="0" y="470077"/>
                  </a:lnTo>
                  <a:lnTo>
                    <a:pt x="1024026" y="470077"/>
                  </a:lnTo>
                  <a:lnTo>
                    <a:pt x="1024026" y="456806"/>
                  </a:lnTo>
                  <a:close/>
                </a:path>
                <a:path w="1024254" h="470535">
                  <a:moveTo>
                    <a:pt x="1024026" y="173012"/>
                  </a:moveTo>
                  <a:lnTo>
                    <a:pt x="0" y="173012"/>
                  </a:lnTo>
                  <a:lnTo>
                    <a:pt x="0" y="186283"/>
                  </a:lnTo>
                  <a:lnTo>
                    <a:pt x="1024026" y="186283"/>
                  </a:lnTo>
                  <a:lnTo>
                    <a:pt x="1024026" y="173012"/>
                  </a:lnTo>
                  <a:close/>
                </a:path>
                <a:path w="1024254" h="470535">
                  <a:moveTo>
                    <a:pt x="1024026" y="0"/>
                  </a:moveTo>
                  <a:lnTo>
                    <a:pt x="0" y="0"/>
                  </a:lnTo>
                  <a:lnTo>
                    <a:pt x="0" y="13271"/>
                  </a:lnTo>
                  <a:lnTo>
                    <a:pt x="1024026" y="13271"/>
                  </a:lnTo>
                  <a:lnTo>
                    <a:pt x="1024026" y="0"/>
                  </a:lnTo>
                  <a:close/>
                </a:path>
              </a:pathLst>
            </a:custGeom>
            <a:solidFill>
              <a:srgbClr val="000000"/>
            </a:solidFill>
          </p:spPr>
          <p:txBody>
            <a:bodyPr wrap="square" lIns="0" tIns="0" rIns="0" bIns="0" rtlCol="0"/>
            <a:lstStyle/>
            <a:p/>
          </p:txBody>
        </p:sp>
      </p:grpSp>
      <p:sp>
        <p:nvSpPr>
          <p:cNvPr id="25" name="object 25" descr=""/>
          <p:cNvSpPr txBox="1"/>
          <p:nvPr/>
        </p:nvSpPr>
        <p:spPr>
          <a:xfrm>
            <a:off x="4116020" y="1642657"/>
            <a:ext cx="1006475" cy="271145"/>
          </a:xfrm>
          <a:prstGeom prst="rect">
            <a:avLst/>
          </a:prstGeom>
          <a:solidFill>
            <a:srgbClr val="CCFFCC"/>
          </a:solidFill>
        </p:spPr>
        <p:txBody>
          <a:bodyPr wrap="square" lIns="0" tIns="4445" rIns="0" bIns="0" rtlCol="0" vert="horz">
            <a:spAutoFit/>
          </a:bodyPr>
          <a:lstStyle/>
          <a:p>
            <a:pPr marL="325755">
              <a:lnSpc>
                <a:spcPct val="100000"/>
              </a:lnSpc>
              <a:spcBef>
                <a:spcPts val="35"/>
              </a:spcBef>
            </a:pPr>
            <a:r>
              <a:rPr dirty="0" sz="1550" spc="785">
                <a:latin typeface="宋体"/>
                <a:cs typeface="宋体"/>
              </a:rPr>
              <a:t>…</a:t>
            </a:r>
            <a:endParaRPr sz="1550">
              <a:latin typeface="宋体"/>
              <a:cs typeface="宋体"/>
            </a:endParaRPr>
          </a:p>
        </p:txBody>
      </p:sp>
      <p:grpSp>
        <p:nvGrpSpPr>
          <p:cNvPr id="26" name="object 26" descr=""/>
          <p:cNvGrpSpPr/>
          <p:nvPr/>
        </p:nvGrpSpPr>
        <p:grpSpPr>
          <a:xfrm>
            <a:off x="4098342" y="2314648"/>
            <a:ext cx="1042035" cy="817244"/>
            <a:chOff x="4098342" y="2314648"/>
            <a:chExt cx="1042035" cy="817244"/>
          </a:xfrm>
        </p:grpSpPr>
        <p:sp>
          <p:nvSpPr>
            <p:cNvPr id="27" name="object 27" descr=""/>
            <p:cNvSpPr/>
            <p:nvPr/>
          </p:nvSpPr>
          <p:spPr>
            <a:xfrm>
              <a:off x="4107232" y="2323538"/>
              <a:ext cx="1024255" cy="799465"/>
            </a:xfrm>
            <a:custGeom>
              <a:avLst/>
              <a:gdLst/>
              <a:ahLst/>
              <a:cxnLst/>
              <a:rect l="l" t="t" r="r" b="b"/>
              <a:pathLst>
                <a:path w="1024254" h="799464">
                  <a:moveTo>
                    <a:pt x="1023922" y="0"/>
                  </a:moveTo>
                  <a:lnTo>
                    <a:pt x="0" y="0"/>
                  </a:lnTo>
                  <a:lnTo>
                    <a:pt x="0" y="799036"/>
                  </a:lnTo>
                  <a:lnTo>
                    <a:pt x="1023922" y="799036"/>
                  </a:lnTo>
                  <a:lnTo>
                    <a:pt x="1023922" y="0"/>
                  </a:lnTo>
                  <a:close/>
                </a:path>
              </a:pathLst>
            </a:custGeom>
            <a:solidFill>
              <a:srgbClr val="CCFFCC"/>
            </a:solidFill>
          </p:spPr>
          <p:txBody>
            <a:bodyPr wrap="square" lIns="0" tIns="0" rIns="0" bIns="0" rtlCol="0"/>
            <a:lstStyle/>
            <a:p/>
          </p:txBody>
        </p:sp>
        <p:sp>
          <p:nvSpPr>
            <p:cNvPr id="28" name="object 28" descr=""/>
            <p:cNvSpPr/>
            <p:nvPr/>
          </p:nvSpPr>
          <p:spPr>
            <a:xfrm>
              <a:off x="4107232" y="2323538"/>
              <a:ext cx="1024255" cy="799465"/>
            </a:xfrm>
            <a:custGeom>
              <a:avLst/>
              <a:gdLst/>
              <a:ahLst/>
              <a:cxnLst/>
              <a:rect l="l" t="t" r="r" b="b"/>
              <a:pathLst>
                <a:path w="1024254" h="799464">
                  <a:moveTo>
                    <a:pt x="0" y="799036"/>
                  </a:moveTo>
                  <a:lnTo>
                    <a:pt x="1023922" y="799036"/>
                  </a:lnTo>
                  <a:lnTo>
                    <a:pt x="1023922" y="0"/>
                  </a:lnTo>
                  <a:lnTo>
                    <a:pt x="0" y="0"/>
                  </a:lnTo>
                  <a:lnTo>
                    <a:pt x="0" y="799036"/>
                  </a:lnTo>
                  <a:close/>
                </a:path>
              </a:pathLst>
            </a:custGeom>
            <a:ln w="16005">
              <a:solidFill>
                <a:srgbClr val="000000"/>
              </a:solidFill>
            </a:ln>
          </p:spPr>
          <p:txBody>
            <a:bodyPr wrap="square" lIns="0" tIns="0" rIns="0" bIns="0" rtlCol="0"/>
            <a:lstStyle/>
            <a:p/>
          </p:txBody>
        </p:sp>
        <p:sp>
          <p:nvSpPr>
            <p:cNvPr id="29" name="object 29" descr=""/>
            <p:cNvSpPr/>
            <p:nvPr/>
          </p:nvSpPr>
          <p:spPr>
            <a:xfrm>
              <a:off x="4107230" y="2485402"/>
              <a:ext cx="1024255" cy="474980"/>
            </a:xfrm>
            <a:custGeom>
              <a:avLst/>
              <a:gdLst/>
              <a:ahLst/>
              <a:cxnLst/>
              <a:rect l="l" t="t" r="r" b="b"/>
              <a:pathLst>
                <a:path w="1024254" h="474980">
                  <a:moveTo>
                    <a:pt x="1024026" y="461416"/>
                  </a:moveTo>
                  <a:lnTo>
                    <a:pt x="0" y="461416"/>
                  </a:lnTo>
                  <a:lnTo>
                    <a:pt x="0" y="474675"/>
                  </a:lnTo>
                  <a:lnTo>
                    <a:pt x="1024026" y="474675"/>
                  </a:lnTo>
                  <a:lnTo>
                    <a:pt x="1024026" y="461416"/>
                  </a:lnTo>
                  <a:close/>
                </a:path>
                <a:path w="1024254" h="474980">
                  <a:moveTo>
                    <a:pt x="1024026" y="173189"/>
                  </a:moveTo>
                  <a:lnTo>
                    <a:pt x="0" y="173189"/>
                  </a:lnTo>
                  <a:lnTo>
                    <a:pt x="0" y="186448"/>
                  </a:lnTo>
                  <a:lnTo>
                    <a:pt x="1024026" y="186448"/>
                  </a:lnTo>
                  <a:lnTo>
                    <a:pt x="1024026" y="173189"/>
                  </a:lnTo>
                  <a:close/>
                </a:path>
                <a:path w="1024254" h="474980">
                  <a:moveTo>
                    <a:pt x="1024026" y="0"/>
                  </a:moveTo>
                  <a:lnTo>
                    <a:pt x="0" y="0"/>
                  </a:lnTo>
                  <a:lnTo>
                    <a:pt x="0" y="13258"/>
                  </a:lnTo>
                  <a:lnTo>
                    <a:pt x="1024026" y="13258"/>
                  </a:lnTo>
                  <a:lnTo>
                    <a:pt x="1024026" y="0"/>
                  </a:lnTo>
                  <a:close/>
                </a:path>
              </a:pathLst>
            </a:custGeom>
            <a:solidFill>
              <a:srgbClr val="000000"/>
            </a:solidFill>
          </p:spPr>
          <p:txBody>
            <a:bodyPr wrap="square" lIns="0" tIns="0" rIns="0" bIns="0" rtlCol="0"/>
            <a:lstStyle/>
            <a:p/>
          </p:txBody>
        </p:sp>
      </p:grpSp>
      <p:sp>
        <p:nvSpPr>
          <p:cNvPr id="30" name="object 30" descr=""/>
          <p:cNvSpPr txBox="1"/>
          <p:nvPr/>
        </p:nvSpPr>
        <p:spPr>
          <a:xfrm>
            <a:off x="4116011" y="2671849"/>
            <a:ext cx="1006475" cy="275590"/>
          </a:xfrm>
          <a:prstGeom prst="rect">
            <a:avLst/>
          </a:prstGeom>
          <a:solidFill>
            <a:srgbClr val="CCFFCC"/>
          </a:solidFill>
        </p:spPr>
        <p:txBody>
          <a:bodyPr wrap="square" lIns="0" tIns="5080" rIns="0" bIns="0" rtlCol="0" vert="horz">
            <a:spAutoFit/>
          </a:bodyPr>
          <a:lstStyle/>
          <a:p>
            <a:pPr marL="325755">
              <a:lnSpc>
                <a:spcPct val="100000"/>
              </a:lnSpc>
              <a:spcBef>
                <a:spcPts val="40"/>
              </a:spcBef>
            </a:pPr>
            <a:r>
              <a:rPr dirty="0" sz="1550" spc="785">
                <a:latin typeface="宋体"/>
                <a:cs typeface="宋体"/>
              </a:rPr>
              <a:t>…</a:t>
            </a:r>
            <a:endParaRPr sz="1550">
              <a:latin typeface="宋体"/>
              <a:cs typeface="宋体"/>
            </a:endParaRPr>
          </a:p>
        </p:txBody>
      </p:sp>
      <p:grpSp>
        <p:nvGrpSpPr>
          <p:cNvPr id="31" name="object 31" descr=""/>
          <p:cNvGrpSpPr/>
          <p:nvPr/>
        </p:nvGrpSpPr>
        <p:grpSpPr>
          <a:xfrm>
            <a:off x="2296708" y="1213228"/>
            <a:ext cx="3978275" cy="4959350"/>
            <a:chOff x="2296708" y="1213228"/>
            <a:chExt cx="3978275" cy="4959350"/>
          </a:xfrm>
        </p:grpSpPr>
        <p:sp>
          <p:nvSpPr>
            <p:cNvPr id="32" name="object 32" descr=""/>
            <p:cNvSpPr/>
            <p:nvPr/>
          </p:nvSpPr>
          <p:spPr>
            <a:xfrm>
              <a:off x="2306868" y="2376788"/>
              <a:ext cx="481330" cy="1144905"/>
            </a:xfrm>
            <a:custGeom>
              <a:avLst/>
              <a:gdLst/>
              <a:ahLst/>
              <a:cxnLst/>
              <a:rect l="l" t="t" r="r" b="b"/>
              <a:pathLst>
                <a:path w="481330" h="1144904">
                  <a:moveTo>
                    <a:pt x="480858" y="0"/>
                  </a:moveTo>
                  <a:lnTo>
                    <a:pt x="0" y="0"/>
                  </a:lnTo>
                  <a:lnTo>
                    <a:pt x="0" y="1144796"/>
                  </a:lnTo>
                  <a:lnTo>
                    <a:pt x="480858" y="1144796"/>
                  </a:lnTo>
                  <a:lnTo>
                    <a:pt x="480858" y="0"/>
                  </a:lnTo>
                  <a:close/>
                </a:path>
              </a:pathLst>
            </a:custGeom>
            <a:solidFill>
              <a:srgbClr val="FFCCCC"/>
            </a:solidFill>
          </p:spPr>
          <p:txBody>
            <a:bodyPr wrap="square" lIns="0" tIns="0" rIns="0" bIns="0" rtlCol="0"/>
            <a:lstStyle/>
            <a:p/>
          </p:txBody>
        </p:sp>
        <p:sp>
          <p:nvSpPr>
            <p:cNvPr id="33" name="object 33" descr=""/>
            <p:cNvSpPr/>
            <p:nvPr/>
          </p:nvSpPr>
          <p:spPr>
            <a:xfrm>
              <a:off x="2306868" y="2376788"/>
              <a:ext cx="481330" cy="1144905"/>
            </a:xfrm>
            <a:custGeom>
              <a:avLst/>
              <a:gdLst/>
              <a:ahLst/>
              <a:cxnLst/>
              <a:rect l="l" t="t" r="r" b="b"/>
              <a:pathLst>
                <a:path w="481330" h="1144904">
                  <a:moveTo>
                    <a:pt x="0" y="1144796"/>
                  </a:moveTo>
                  <a:lnTo>
                    <a:pt x="480858" y="1144796"/>
                  </a:lnTo>
                  <a:lnTo>
                    <a:pt x="480858" y="0"/>
                  </a:lnTo>
                  <a:lnTo>
                    <a:pt x="0" y="0"/>
                  </a:lnTo>
                  <a:lnTo>
                    <a:pt x="0" y="1144796"/>
                  </a:lnTo>
                  <a:close/>
                </a:path>
              </a:pathLst>
            </a:custGeom>
            <a:ln w="19420">
              <a:solidFill>
                <a:srgbClr val="000000"/>
              </a:solidFill>
            </a:ln>
          </p:spPr>
          <p:txBody>
            <a:bodyPr wrap="square" lIns="0" tIns="0" rIns="0" bIns="0" rtlCol="0"/>
            <a:lstStyle/>
            <a:p/>
          </p:txBody>
        </p:sp>
        <p:sp>
          <p:nvSpPr>
            <p:cNvPr id="34" name="object 34" descr=""/>
            <p:cNvSpPr/>
            <p:nvPr/>
          </p:nvSpPr>
          <p:spPr>
            <a:xfrm>
              <a:off x="2306868" y="5021668"/>
              <a:ext cx="481330" cy="1140460"/>
            </a:xfrm>
            <a:custGeom>
              <a:avLst/>
              <a:gdLst/>
              <a:ahLst/>
              <a:cxnLst/>
              <a:rect l="l" t="t" r="r" b="b"/>
              <a:pathLst>
                <a:path w="481330" h="1140460">
                  <a:moveTo>
                    <a:pt x="480858" y="0"/>
                  </a:moveTo>
                  <a:lnTo>
                    <a:pt x="0" y="0"/>
                  </a:lnTo>
                  <a:lnTo>
                    <a:pt x="0" y="1140235"/>
                  </a:lnTo>
                  <a:lnTo>
                    <a:pt x="480858" y="1140235"/>
                  </a:lnTo>
                  <a:lnTo>
                    <a:pt x="480858" y="0"/>
                  </a:lnTo>
                  <a:close/>
                </a:path>
              </a:pathLst>
            </a:custGeom>
            <a:solidFill>
              <a:srgbClr val="FFCCCC"/>
            </a:solidFill>
          </p:spPr>
          <p:txBody>
            <a:bodyPr wrap="square" lIns="0" tIns="0" rIns="0" bIns="0" rtlCol="0"/>
            <a:lstStyle/>
            <a:p/>
          </p:txBody>
        </p:sp>
        <p:sp>
          <p:nvSpPr>
            <p:cNvPr id="35" name="object 35" descr=""/>
            <p:cNvSpPr/>
            <p:nvPr/>
          </p:nvSpPr>
          <p:spPr>
            <a:xfrm>
              <a:off x="2306868" y="5021668"/>
              <a:ext cx="481330" cy="1140460"/>
            </a:xfrm>
            <a:custGeom>
              <a:avLst/>
              <a:gdLst/>
              <a:ahLst/>
              <a:cxnLst/>
              <a:rect l="l" t="t" r="r" b="b"/>
              <a:pathLst>
                <a:path w="481330" h="1140460">
                  <a:moveTo>
                    <a:pt x="0" y="1140235"/>
                  </a:moveTo>
                  <a:lnTo>
                    <a:pt x="480858" y="1140235"/>
                  </a:lnTo>
                  <a:lnTo>
                    <a:pt x="480858" y="0"/>
                  </a:lnTo>
                  <a:lnTo>
                    <a:pt x="0" y="0"/>
                  </a:lnTo>
                  <a:lnTo>
                    <a:pt x="0" y="1140235"/>
                  </a:lnTo>
                  <a:close/>
                </a:path>
              </a:pathLst>
            </a:custGeom>
            <a:ln w="19413">
              <a:solidFill>
                <a:srgbClr val="000000"/>
              </a:solidFill>
            </a:ln>
          </p:spPr>
          <p:txBody>
            <a:bodyPr wrap="square" lIns="0" tIns="0" rIns="0" bIns="0" rtlCol="0"/>
            <a:lstStyle/>
            <a:p/>
          </p:txBody>
        </p:sp>
        <p:sp>
          <p:nvSpPr>
            <p:cNvPr id="36" name="object 36" descr=""/>
            <p:cNvSpPr/>
            <p:nvPr/>
          </p:nvSpPr>
          <p:spPr>
            <a:xfrm>
              <a:off x="5783870" y="1223388"/>
              <a:ext cx="481330" cy="1384935"/>
            </a:xfrm>
            <a:custGeom>
              <a:avLst/>
              <a:gdLst/>
              <a:ahLst/>
              <a:cxnLst/>
              <a:rect l="l" t="t" r="r" b="b"/>
              <a:pathLst>
                <a:path w="481329" h="1384935">
                  <a:moveTo>
                    <a:pt x="480858" y="0"/>
                  </a:moveTo>
                  <a:lnTo>
                    <a:pt x="0" y="0"/>
                  </a:lnTo>
                  <a:lnTo>
                    <a:pt x="0" y="1384405"/>
                  </a:lnTo>
                  <a:lnTo>
                    <a:pt x="480858" y="1384405"/>
                  </a:lnTo>
                  <a:lnTo>
                    <a:pt x="480858" y="0"/>
                  </a:lnTo>
                  <a:close/>
                </a:path>
              </a:pathLst>
            </a:custGeom>
            <a:solidFill>
              <a:srgbClr val="FFCCCC"/>
            </a:solidFill>
          </p:spPr>
          <p:txBody>
            <a:bodyPr wrap="square" lIns="0" tIns="0" rIns="0" bIns="0" rtlCol="0"/>
            <a:lstStyle/>
            <a:p/>
          </p:txBody>
        </p:sp>
        <p:sp>
          <p:nvSpPr>
            <p:cNvPr id="37" name="object 37" descr=""/>
            <p:cNvSpPr/>
            <p:nvPr/>
          </p:nvSpPr>
          <p:spPr>
            <a:xfrm>
              <a:off x="3262190" y="1223388"/>
              <a:ext cx="3002915" cy="2014855"/>
            </a:xfrm>
            <a:custGeom>
              <a:avLst/>
              <a:gdLst/>
              <a:ahLst/>
              <a:cxnLst/>
              <a:rect l="l" t="t" r="r" b="b"/>
              <a:pathLst>
                <a:path w="3002915" h="2014855">
                  <a:moveTo>
                    <a:pt x="2521679" y="1384405"/>
                  </a:moveTo>
                  <a:lnTo>
                    <a:pt x="3002538" y="1384405"/>
                  </a:lnTo>
                  <a:lnTo>
                    <a:pt x="3002538" y="0"/>
                  </a:lnTo>
                  <a:lnTo>
                    <a:pt x="2521679" y="0"/>
                  </a:lnTo>
                  <a:lnTo>
                    <a:pt x="2521679" y="1384405"/>
                  </a:lnTo>
                  <a:close/>
                </a:path>
                <a:path w="3002915" h="2014855">
                  <a:moveTo>
                    <a:pt x="0" y="2014402"/>
                  </a:moveTo>
                  <a:lnTo>
                    <a:pt x="1566186" y="2014402"/>
                  </a:lnTo>
                </a:path>
              </a:pathLst>
            </a:custGeom>
            <a:ln w="16885">
              <a:solidFill>
                <a:srgbClr val="000000"/>
              </a:solidFill>
            </a:ln>
          </p:spPr>
          <p:txBody>
            <a:bodyPr wrap="square" lIns="0" tIns="0" rIns="0" bIns="0" rtlCol="0"/>
            <a:lstStyle/>
            <a:p/>
          </p:txBody>
        </p:sp>
      </p:grpSp>
      <p:sp>
        <p:nvSpPr>
          <p:cNvPr id="38" name="object 38" descr=""/>
          <p:cNvSpPr txBox="1"/>
          <p:nvPr/>
        </p:nvSpPr>
        <p:spPr>
          <a:xfrm>
            <a:off x="3684451" y="5562689"/>
            <a:ext cx="347980" cy="228600"/>
          </a:xfrm>
          <a:prstGeom prst="rect">
            <a:avLst/>
          </a:prstGeom>
        </p:spPr>
        <p:txBody>
          <a:bodyPr wrap="square" lIns="0" tIns="16510" rIns="0" bIns="0" rtlCol="0" vert="horz">
            <a:spAutoFit/>
          </a:bodyPr>
          <a:lstStyle/>
          <a:p>
            <a:pPr marL="38100">
              <a:lnSpc>
                <a:spcPct val="100000"/>
              </a:lnSpc>
              <a:spcBef>
                <a:spcPts val="130"/>
              </a:spcBef>
            </a:pPr>
            <a:r>
              <a:rPr dirty="0" sz="1300" spc="355" b="1">
                <a:latin typeface="Times New Roman"/>
                <a:cs typeface="Times New Roman"/>
              </a:rPr>
              <a:t>V</a:t>
            </a:r>
            <a:r>
              <a:rPr dirty="0" baseline="-13071" sz="1275" spc="532" b="1">
                <a:latin typeface="Times New Roman"/>
                <a:cs typeface="Times New Roman"/>
              </a:rPr>
              <a:t>4</a:t>
            </a:r>
            <a:endParaRPr baseline="-13071" sz="1275">
              <a:latin typeface="Times New Roman"/>
              <a:cs typeface="Times New Roman"/>
            </a:endParaRPr>
          </a:p>
        </p:txBody>
      </p:sp>
      <p:sp>
        <p:nvSpPr>
          <p:cNvPr id="39" name="object 39" descr=""/>
          <p:cNvSpPr txBox="1"/>
          <p:nvPr/>
        </p:nvSpPr>
        <p:spPr>
          <a:xfrm>
            <a:off x="3684451" y="3614776"/>
            <a:ext cx="347980" cy="228600"/>
          </a:xfrm>
          <a:prstGeom prst="rect">
            <a:avLst/>
          </a:prstGeom>
        </p:spPr>
        <p:txBody>
          <a:bodyPr wrap="square" lIns="0" tIns="16510" rIns="0" bIns="0" rtlCol="0" vert="horz">
            <a:spAutoFit/>
          </a:bodyPr>
          <a:lstStyle/>
          <a:p>
            <a:pPr marL="38100">
              <a:lnSpc>
                <a:spcPct val="100000"/>
              </a:lnSpc>
              <a:spcBef>
                <a:spcPts val="130"/>
              </a:spcBef>
            </a:pPr>
            <a:r>
              <a:rPr dirty="0" sz="1300" spc="355" b="1">
                <a:latin typeface="Times New Roman"/>
                <a:cs typeface="Times New Roman"/>
              </a:rPr>
              <a:t>V</a:t>
            </a:r>
            <a:r>
              <a:rPr dirty="0" baseline="-13071" sz="1275" spc="532" b="1">
                <a:latin typeface="Times New Roman"/>
                <a:cs typeface="Times New Roman"/>
              </a:rPr>
              <a:t>2</a:t>
            </a:r>
            <a:endParaRPr baseline="-13071" sz="1275">
              <a:latin typeface="Times New Roman"/>
              <a:cs typeface="Times New Roman"/>
            </a:endParaRPr>
          </a:p>
        </p:txBody>
      </p:sp>
      <p:sp>
        <p:nvSpPr>
          <p:cNvPr id="40" name="object 40" descr=""/>
          <p:cNvSpPr txBox="1"/>
          <p:nvPr/>
        </p:nvSpPr>
        <p:spPr>
          <a:xfrm>
            <a:off x="2316872" y="2386793"/>
            <a:ext cx="461009" cy="210185"/>
          </a:xfrm>
          <a:prstGeom prst="rect">
            <a:avLst/>
          </a:prstGeom>
          <a:solidFill>
            <a:srgbClr val="FFCCCC"/>
          </a:solidFill>
        </p:spPr>
        <p:txBody>
          <a:bodyPr wrap="square" lIns="0" tIns="0" rIns="0" bIns="0" rtlCol="0" vert="horz">
            <a:spAutoFit/>
          </a:bodyPr>
          <a:lstStyle/>
          <a:p>
            <a:pPr marL="147320">
              <a:lnSpc>
                <a:spcPts val="1545"/>
              </a:lnSpc>
            </a:pPr>
            <a:r>
              <a:rPr dirty="0" sz="1300" spc="325">
                <a:latin typeface="Times New Roman"/>
                <a:cs typeface="Times New Roman"/>
              </a:rPr>
              <a:t>1</a:t>
            </a:r>
            <a:endParaRPr sz="1300">
              <a:latin typeface="Times New Roman"/>
              <a:cs typeface="Times New Roman"/>
            </a:endParaRPr>
          </a:p>
        </p:txBody>
      </p:sp>
      <p:sp>
        <p:nvSpPr>
          <p:cNvPr id="41" name="object 41" descr=""/>
          <p:cNvSpPr txBox="1"/>
          <p:nvPr/>
        </p:nvSpPr>
        <p:spPr>
          <a:xfrm>
            <a:off x="2316872" y="2609809"/>
            <a:ext cx="461009" cy="217170"/>
          </a:xfrm>
          <a:prstGeom prst="rect">
            <a:avLst/>
          </a:prstGeom>
          <a:solidFill>
            <a:srgbClr val="FFCCCC"/>
          </a:solidFill>
        </p:spPr>
        <p:txBody>
          <a:bodyPr wrap="square" lIns="0" tIns="5715" rIns="0" bIns="0" rtlCol="0" vert="horz">
            <a:spAutoFit/>
          </a:bodyPr>
          <a:lstStyle/>
          <a:p>
            <a:pPr marL="147320">
              <a:lnSpc>
                <a:spcPct val="100000"/>
              </a:lnSpc>
              <a:spcBef>
                <a:spcPts val="45"/>
              </a:spcBef>
            </a:pPr>
            <a:r>
              <a:rPr dirty="0" sz="1300" spc="325">
                <a:latin typeface="Times New Roman"/>
                <a:cs typeface="Times New Roman"/>
              </a:rPr>
              <a:t>2</a:t>
            </a:r>
            <a:endParaRPr sz="1300">
              <a:latin typeface="Times New Roman"/>
              <a:cs typeface="Times New Roman"/>
            </a:endParaRPr>
          </a:p>
        </p:txBody>
      </p:sp>
      <p:sp>
        <p:nvSpPr>
          <p:cNvPr id="42" name="object 42" descr=""/>
          <p:cNvSpPr txBox="1"/>
          <p:nvPr/>
        </p:nvSpPr>
        <p:spPr>
          <a:xfrm>
            <a:off x="2316872" y="2840242"/>
            <a:ext cx="461009" cy="213360"/>
          </a:xfrm>
          <a:prstGeom prst="rect">
            <a:avLst/>
          </a:prstGeom>
          <a:solidFill>
            <a:srgbClr val="FFCCCC"/>
          </a:solidFill>
        </p:spPr>
        <p:txBody>
          <a:bodyPr wrap="square" lIns="0" tIns="5715" rIns="0" bIns="0" rtlCol="0" vert="horz">
            <a:spAutoFit/>
          </a:bodyPr>
          <a:lstStyle/>
          <a:p>
            <a:pPr marL="147320">
              <a:lnSpc>
                <a:spcPct val="100000"/>
              </a:lnSpc>
              <a:spcBef>
                <a:spcPts val="45"/>
              </a:spcBef>
            </a:pPr>
            <a:r>
              <a:rPr dirty="0" sz="1300" spc="325">
                <a:latin typeface="Times New Roman"/>
                <a:cs typeface="Times New Roman"/>
              </a:rPr>
              <a:t>3</a:t>
            </a:r>
            <a:endParaRPr sz="1300">
              <a:latin typeface="Times New Roman"/>
              <a:cs typeface="Times New Roman"/>
            </a:endParaRPr>
          </a:p>
        </p:txBody>
      </p:sp>
      <p:sp>
        <p:nvSpPr>
          <p:cNvPr id="43" name="object 43" descr=""/>
          <p:cNvSpPr txBox="1"/>
          <p:nvPr/>
        </p:nvSpPr>
        <p:spPr>
          <a:xfrm>
            <a:off x="2316872" y="3297599"/>
            <a:ext cx="461009" cy="213995"/>
          </a:xfrm>
          <a:prstGeom prst="rect">
            <a:avLst/>
          </a:prstGeom>
          <a:solidFill>
            <a:srgbClr val="FFCCCC"/>
          </a:solidFill>
        </p:spPr>
        <p:txBody>
          <a:bodyPr wrap="square" lIns="0" tIns="0" rIns="0" bIns="0" rtlCol="0" vert="horz">
            <a:spAutoFit/>
          </a:bodyPr>
          <a:lstStyle/>
          <a:p>
            <a:pPr marL="147320">
              <a:lnSpc>
                <a:spcPts val="1430"/>
              </a:lnSpc>
            </a:pPr>
            <a:r>
              <a:rPr dirty="0" sz="1300" spc="325">
                <a:latin typeface="Times New Roman"/>
                <a:cs typeface="Times New Roman"/>
              </a:rPr>
              <a:t>6</a:t>
            </a:r>
            <a:endParaRPr sz="1300">
              <a:latin typeface="Times New Roman"/>
              <a:cs typeface="Times New Roman"/>
            </a:endParaRPr>
          </a:p>
        </p:txBody>
      </p:sp>
      <p:sp>
        <p:nvSpPr>
          <p:cNvPr id="44" name="object 44" descr=""/>
          <p:cNvSpPr txBox="1"/>
          <p:nvPr/>
        </p:nvSpPr>
        <p:spPr>
          <a:xfrm>
            <a:off x="2316872" y="3066797"/>
            <a:ext cx="461009" cy="217804"/>
          </a:xfrm>
          <a:prstGeom prst="rect">
            <a:avLst/>
          </a:prstGeom>
          <a:solidFill>
            <a:srgbClr val="FFCCCC"/>
          </a:solidFill>
        </p:spPr>
        <p:txBody>
          <a:bodyPr wrap="square" lIns="0" tIns="0" rIns="0" bIns="0" rtlCol="0" vert="horz">
            <a:spAutoFit/>
          </a:bodyPr>
          <a:lstStyle/>
          <a:p>
            <a:pPr marL="90170">
              <a:lnSpc>
                <a:spcPct val="100000"/>
              </a:lnSpc>
            </a:pPr>
            <a:r>
              <a:rPr dirty="0" sz="1300" spc="700">
                <a:latin typeface="宋体"/>
                <a:cs typeface="宋体"/>
              </a:rPr>
              <a:t>…</a:t>
            </a:r>
            <a:endParaRPr sz="1300">
              <a:latin typeface="宋体"/>
              <a:cs typeface="宋体"/>
            </a:endParaRPr>
          </a:p>
        </p:txBody>
      </p:sp>
      <p:sp>
        <p:nvSpPr>
          <p:cNvPr id="45" name="object 45" descr=""/>
          <p:cNvSpPr/>
          <p:nvPr/>
        </p:nvSpPr>
        <p:spPr>
          <a:xfrm>
            <a:off x="2306866" y="2596552"/>
            <a:ext cx="481330" cy="701675"/>
          </a:xfrm>
          <a:custGeom>
            <a:avLst/>
            <a:gdLst/>
            <a:ahLst/>
            <a:cxnLst/>
            <a:rect l="l" t="t" r="r" b="b"/>
            <a:pathLst>
              <a:path w="481330" h="701675">
                <a:moveTo>
                  <a:pt x="480822" y="687793"/>
                </a:moveTo>
                <a:lnTo>
                  <a:pt x="0" y="687793"/>
                </a:lnTo>
                <a:lnTo>
                  <a:pt x="0" y="701052"/>
                </a:lnTo>
                <a:lnTo>
                  <a:pt x="480822" y="701052"/>
                </a:lnTo>
                <a:lnTo>
                  <a:pt x="480822" y="687793"/>
                </a:lnTo>
                <a:close/>
              </a:path>
              <a:path w="481330" h="701675">
                <a:moveTo>
                  <a:pt x="480822" y="456984"/>
                </a:moveTo>
                <a:lnTo>
                  <a:pt x="0" y="456984"/>
                </a:lnTo>
                <a:lnTo>
                  <a:pt x="0" y="470255"/>
                </a:lnTo>
                <a:lnTo>
                  <a:pt x="480822" y="470255"/>
                </a:lnTo>
                <a:lnTo>
                  <a:pt x="480822" y="456984"/>
                </a:lnTo>
                <a:close/>
              </a:path>
              <a:path w="481330" h="701675">
                <a:moveTo>
                  <a:pt x="480822" y="230428"/>
                </a:moveTo>
                <a:lnTo>
                  <a:pt x="0" y="230428"/>
                </a:lnTo>
                <a:lnTo>
                  <a:pt x="0" y="243700"/>
                </a:lnTo>
                <a:lnTo>
                  <a:pt x="480822" y="243700"/>
                </a:lnTo>
                <a:lnTo>
                  <a:pt x="480822" y="230428"/>
                </a:lnTo>
                <a:close/>
              </a:path>
              <a:path w="481330" h="701675">
                <a:moveTo>
                  <a:pt x="480822" y="0"/>
                </a:moveTo>
                <a:lnTo>
                  <a:pt x="0" y="0"/>
                </a:lnTo>
                <a:lnTo>
                  <a:pt x="0" y="13258"/>
                </a:lnTo>
                <a:lnTo>
                  <a:pt x="480822" y="13258"/>
                </a:lnTo>
                <a:lnTo>
                  <a:pt x="480822" y="0"/>
                </a:lnTo>
                <a:close/>
              </a:path>
            </a:pathLst>
          </a:custGeom>
          <a:solidFill>
            <a:srgbClr val="000000"/>
          </a:solidFill>
        </p:spPr>
        <p:txBody>
          <a:bodyPr wrap="square" lIns="0" tIns="0" rIns="0" bIns="0" rtlCol="0"/>
          <a:lstStyle/>
          <a:p/>
        </p:txBody>
      </p:sp>
      <p:sp>
        <p:nvSpPr>
          <p:cNvPr id="46" name="object 46" descr=""/>
          <p:cNvSpPr txBox="1"/>
          <p:nvPr/>
        </p:nvSpPr>
        <p:spPr>
          <a:xfrm>
            <a:off x="3709851" y="1609015"/>
            <a:ext cx="214629" cy="228600"/>
          </a:xfrm>
          <a:prstGeom prst="rect">
            <a:avLst/>
          </a:prstGeom>
        </p:spPr>
        <p:txBody>
          <a:bodyPr wrap="square" lIns="0" tIns="16510" rIns="0" bIns="0" rtlCol="0" vert="horz">
            <a:spAutoFit/>
          </a:bodyPr>
          <a:lstStyle/>
          <a:p>
            <a:pPr marL="12700">
              <a:lnSpc>
                <a:spcPct val="100000"/>
              </a:lnSpc>
              <a:spcBef>
                <a:spcPts val="130"/>
              </a:spcBef>
            </a:pPr>
            <a:r>
              <a:rPr dirty="0" sz="1300" spc="490" b="1">
                <a:latin typeface="Times New Roman"/>
                <a:cs typeface="Times New Roman"/>
              </a:rPr>
              <a:t>V</a:t>
            </a:r>
            <a:endParaRPr sz="1300">
              <a:latin typeface="Times New Roman"/>
              <a:cs typeface="Times New Roman"/>
            </a:endParaRPr>
          </a:p>
        </p:txBody>
      </p:sp>
      <p:sp>
        <p:nvSpPr>
          <p:cNvPr id="47" name="object 47" descr=""/>
          <p:cNvSpPr txBox="1"/>
          <p:nvPr/>
        </p:nvSpPr>
        <p:spPr>
          <a:xfrm>
            <a:off x="3895126" y="1693599"/>
            <a:ext cx="111760" cy="159385"/>
          </a:xfrm>
          <a:prstGeom prst="rect">
            <a:avLst/>
          </a:prstGeom>
        </p:spPr>
        <p:txBody>
          <a:bodyPr wrap="square" lIns="0" tIns="15875" rIns="0" bIns="0" rtlCol="0" vert="horz">
            <a:spAutoFit/>
          </a:bodyPr>
          <a:lstStyle/>
          <a:p>
            <a:pPr marL="12700">
              <a:lnSpc>
                <a:spcPct val="100000"/>
              </a:lnSpc>
              <a:spcBef>
                <a:spcPts val="125"/>
              </a:spcBef>
            </a:pPr>
            <a:r>
              <a:rPr dirty="0" sz="850" spc="200" b="1">
                <a:latin typeface="Times New Roman"/>
                <a:cs typeface="Times New Roman"/>
              </a:rPr>
              <a:t>0</a:t>
            </a:r>
            <a:endParaRPr sz="850">
              <a:latin typeface="Times New Roman"/>
              <a:cs typeface="Times New Roman"/>
            </a:endParaRPr>
          </a:p>
        </p:txBody>
      </p:sp>
      <p:sp>
        <p:nvSpPr>
          <p:cNvPr id="48" name="object 48" descr=""/>
          <p:cNvSpPr txBox="1"/>
          <p:nvPr/>
        </p:nvSpPr>
        <p:spPr>
          <a:xfrm>
            <a:off x="3684451" y="2643193"/>
            <a:ext cx="347980" cy="228600"/>
          </a:xfrm>
          <a:prstGeom prst="rect">
            <a:avLst/>
          </a:prstGeom>
        </p:spPr>
        <p:txBody>
          <a:bodyPr wrap="square" lIns="0" tIns="16510" rIns="0" bIns="0" rtlCol="0" vert="horz">
            <a:spAutoFit/>
          </a:bodyPr>
          <a:lstStyle/>
          <a:p>
            <a:pPr marL="38100">
              <a:lnSpc>
                <a:spcPct val="100000"/>
              </a:lnSpc>
              <a:spcBef>
                <a:spcPts val="130"/>
              </a:spcBef>
            </a:pPr>
            <a:r>
              <a:rPr dirty="0" sz="1300" spc="355" b="1">
                <a:latin typeface="Times New Roman"/>
                <a:cs typeface="Times New Roman"/>
              </a:rPr>
              <a:t>V</a:t>
            </a:r>
            <a:r>
              <a:rPr dirty="0" baseline="-13071" sz="1275" spc="532" b="1">
                <a:latin typeface="Times New Roman"/>
                <a:cs typeface="Times New Roman"/>
              </a:rPr>
              <a:t>1</a:t>
            </a:r>
            <a:endParaRPr baseline="-13071" sz="1275">
              <a:latin typeface="Times New Roman"/>
              <a:cs typeface="Times New Roman"/>
            </a:endParaRPr>
          </a:p>
        </p:txBody>
      </p:sp>
      <p:sp>
        <p:nvSpPr>
          <p:cNvPr id="49" name="object 49" descr=""/>
          <p:cNvSpPr txBox="1"/>
          <p:nvPr/>
        </p:nvSpPr>
        <p:spPr>
          <a:xfrm>
            <a:off x="1796920" y="2469075"/>
            <a:ext cx="287655" cy="558165"/>
          </a:xfrm>
          <a:prstGeom prst="rect">
            <a:avLst/>
          </a:prstGeom>
        </p:spPr>
        <p:txBody>
          <a:bodyPr wrap="square" lIns="0" tIns="49530" rIns="0" bIns="0" rtlCol="0" vert="horz">
            <a:spAutoFit/>
          </a:bodyPr>
          <a:lstStyle/>
          <a:p>
            <a:pPr algn="just" marL="12700" marR="5080">
              <a:lnSpc>
                <a:spcPts val="1300"/>
              </a:lnSpc>
              <a:spcBef>
                <a:spcPts val="390"/>
              </a:spcBef>
            </a:pPr>
            <a:r>
              <a:rPr dirty="0" sz="1300" spc="700" b="1">
                <a:solidFill>
                  <a:srgbClr val="0000FF"/>
                </a:solidFill>
                <a:latin typeface="宋体"/>
                <a:cs typeface="宋体"/>
              </a:rPr>
              <a:t>浮点加</a:t>
            </a:r>
            <a:endParaRPr sz="1300">
              <a:latin typeface="宋体"/>
              <a:cs typeface="宋体"/>
            </a:endParaRPr>
          </a:p>
        </p:txBody>
      </p:sp>
      <p:sp>
        <p:nvSpPr>
          <p:cNvPr id="50" name="object 50" descr=""/>
          <p:cNvSpPr txBox="1"/>
          <p:nvPr/>
        </p:nvSpPr>
        <p:spPr>
          <a:xfrm>
            <a:off x="2316871" y="5031671"/>
            <a:ext cx="461009" cy="209550"/>
          </a:xfrm>
          <a:prstGeom prst="rect">
            <a:avLst/>
          </a:prstGeom>
          <a:solidFill>
            <a:srgbClr val="FFCCCC"/>
          </a:solidFill>
        </p:spPr>
        <p:txBody>
          <a:bodyPr wrap="square" lIns="0" tIns="0" rIns="0" bIns="0" rtlCol="0" vert="horz">
            <a:spAutoFit/>
          </a:bodyPr>
          <a:lstStyle/>
          <a:p>
            <a:pPr marL="147320">
              <a:lnSpc>
                <a:spcPts val="1540"/>
              </a:lnSpc>
            </a:pPr>
            <a:r>
              <a:rPr dirty="0" sz="1300" spc="325">
                <a:latin typeface="Times New Roman"/>
                <a:cs typeface="Times New Roman"/>
              </a:rPr>
              <a:t>1</a:t>
            </a:r>
            <a:endParaRPr sz="1300">
              <a:latin typeface="Times New Roman"/>
              <a:cs typeface="Times New Roman"/>
            </a:endParaRPr>
          </a:p>
        </p:txBody>
      </p:sp>
      <p:sp>
        <p:nvSpPr>
          <p:cNvPr id="51" name="object 51" descr=""/>
          <p:cNvSpPr txBox="1"/>
          <p:nvPr/>
        </p:nvSpPr>
        <p:spPr>
          <a:xfrm>
            <a:off x="2316871" y="5254245"/>
            <a:ext cx="461009" cy="213360"/>
          </a:xfrm>
          <a:prstGeom prst="rect">
            <a:avLst/>
          </a:prstGeom>
          <a:solidFill>
            <a:srgbClr val="FFCCCC"/>
          </a:solidFill>
        </p:spPr>
        <p:txBody>
          <a:bodyPr wrap="square" lIns="0" tIns="5715" rIns="0" bIns="0" rtlCol="0" vert="horz">
            <a:spAutoFit/>
          </a:bodyPr>
          <a:lstStyle/>
          <a:p>
            <a:pPr marL="147320">
              <a:lnSpc>
                <a:spcPct val="100000"/>
              </a:lnSpc>
              <a:spcBef>
                <a:spcPts val="45"/>
              </a:spcBef>
            </a:pPr>
            <a:r>
              <a:rPr dirty="0" sz="1300" spc="325">
                <a:latin typeface="Times New Roman"/>
                <a:cs typeface="Times New Roman"/>
              </a:rPr>
              <a:t>2</a:t>
            </a:r>
            <a:endParaRPr sz="1300">
              <a:latin typeface="Times New Roman"/>
              <a:cs typeface="Times New Roman"/>
            </a:endParaRPr>
          </a:p>
        </p:txBody>
      </p:sp>
      <p:sp>
        <p:nvSpPr>
          <p:cNvPr id="52" name="object 52" descr=""/>
          <p:cNvSpPr txBox="1"/>
          <p:nvPr/>
        </p:nvSpPr>
        <p:spPr>
          <a:xfrm>
            <a:off x="2316871" y="5480653"/>
            <a:ext cx="461009" cy="162560"/>
          </a:xfrm>
          <a:prstGeom prst="rect">
            <a:avLst/>
          </a:prstGeom>
          <a:solidFill>
            <a:srgbClr val="FFCCCC"/>
          </a:solidFill>
        </p:spPr>
        <p:txBody>
          <a:bodyPr wrap="square" lIns="0" tIns="9525" rIns="0" bIns="0" rtlCol="0" vert="horz">
            <a:spAutoFit/>
          </a:bodyPr>
          <a:lstStyle/>
          <a:p>
            <a:pPr marL="147320">
              <a:lnSpc>
                <a:spcPts val="1200"/>
              </a:lnSpc>
              <a:spcBef>
                <a:spcPts val="75"/>
              </a:spcBef>
            </a:pPr>
            <a:r>
              <a:rPr dirty="0" sz="1300" spc="325">
                <a:latin typeface="Times New Roman"/>
                <a:cs typeface="Times New Roman"/>
              </a:rPr>
              <a:t>3</a:t>
            </a:r>
            <a:endParaRPr sz="1300">
              <a:latin typeface="Times New Roman"/>
              <a:cs typeface="Times New Roman"/>
            </a:endParaRPr>
          </a:p>
        </p:txBody>
      </p:sp>
      <p:sp>
        <p:nvSpPr>
          <p:cNvPr id="53" name="object 53" descr=""/>
          <p:cNvSpPr txBox="1"/>
          <p:nvPr/>
        </p:nvSpPr>
        <p:spPr>
          <a:xfrm>
            <a:off x="2316871" y="5942127"/>
            <a:ext cx="461009" cy="210185"/>
          </a:xfrm>
          <a:prstGeom prst="rect">
            <a:avLst/>
          </a:prstGeom>
          <a:solidFill>
            <a:srgbClr val="FFCCCC"/>
          </a:solidFill>
        </p:spPr>
        <p:txBody>
          <a:bodyPr wrap="square" lIns="0" tIns="0" rIns="0" bIns="0" rtlCol="0" vert="horz">
            <a:spAutoFit/>
          </a:bodyPr>
          <a:lstStyle/>
          <a:p>
            <a:pPr marL="147320">
              <a:lnSpc>
                <a:spcPts val="1430"/>
              </a:lnSpc>
            </a:pPr>
            <a:r>
              <a:rPr dirty="0" sz="1300" spc="325">
                <a:latin typeface="Times New Roman"/>
                <a:cs typeface="Times New Roman"/>
              </a:rPr>
              <a:t>7</a:t>
            </a:r>
            <a:endParaRPr sz="1300">
              <a:latin typeface="Times New Roman"/>
              <a:cs typeface="Times New Roman"/>
            </a:endParaRPr>
          </a:p>
        </p:txBody>
      </p:sp>
      <p:sp>
        <p:nvSpPr>
          <p:cNvPr id="54" name="object 54" descr=""/>
          <p:cNvSpPr txBox="1"/>
          <p:nvPr/>
        </p:nvSpPr>
        <p:spPr>
          <a:xfrm>
            <a:off x="2316871" y="5656265"/>
            <a:ext cx="461009" cy="273050"/>
          </a:xfrm>
          <a:prstGeom prst="rect">
            <a:avLst/>
          </a:prstGeom>
          <a:solidFill>
            <a:srgbClr val="FFCCCC"/>
          </a:solidFill>
        </p:spPr>
        <p:txBody>
          <a:bodyPr wrap="square" lIns="0" tIns="55244" rIns="0" bIns="0" rtlCol="0" vert="horz">
            <a:spAutoFit/>
          </a:bodyPr>
          <a:lstStyle/>
          <a:p>
            <a:pPr marL="90170">
              <a:lnSpc>
                <a:spcPct val="100000"/>
              </a:lnSpc>
              <a:spcBef>
                <a:spcPts val="434"/>
              </a:spcBef>
            </a:pPr>
            <a:r>
              <a:rPr dirty="0" sz="1300" spc="700">
                <a:latin typeface="宋体"/>
                <a:cs typeface="宋体"/>
              </a:rPr>
              <a:t>…</a:t>
            </a:r>
            <a:endParaRPr sz="1300">
              <a:latin typeface="宋体"/>
              <a:cs typeface="宋体"/>
            </a:endParaRPr>
          </a:p>
        </p:txBody>
      </p:sp>
      <p:grpSp>
        <p:nvGrpSpPr>
          <p:cNvPr id="55" name="object 55" descr=""/>
          <p:cNvGrpSpPr/>
          <p:nvPr/>
        </p:nvGrpSpPr>
        <p:grpSpPr>
          <a:xfrm>
            <a:off x="2306868" y="420247"/>
            <a:ext cx="2833370" cy="5521960"/>
            <a:chOff x="2306868" y="420247"/>
            <a:chExt cx="2833370" cy="5521960"/>
          </a:xfrm>
        </p:grpSpPr>
        <p:sp>
          <p:nvSpPr>
            <p:cNvPr id="56" name="object 56" descr=""/>
            <p:cNvSpPr/>
            <p:nvPr/>
          </p:nvSpPr>
          <p:spPr>
            <a:xfrm>
              <a:off x="2306866" y="5240984"/>
              <a:ext cx="481330" cy="701675"/>
            </a:xfrm>
            <a:custGeom>
              <a:avLst/>
              <a:gdLst/>
              <a:ahLst/>
              <a:cxnLst/>
              <a:rect l="l" t="t" r="r" b="b"/>
              <a:pathLst>
                <a:path w="481330" h="701675">
                  <a:moveTo>
                    <a:pt x="480822" y="687882"/>
                  </a:moveTo>
                  <a:lnTo>
                    <a:pt x="0" y="687882"/>
                  </a:lnTo>
                  <a:lnTo>
                    <a:pt x="0" y="701154"/>
                  </a:lnTo>
                  <a:lnTo>
                    <a:pt x="480822" y="701154"/>
                  </a:lnTo>
                  <a:lnTo>
                    <a:pt x="480822" y="687882"/>
                  </a:lnTo>
                  <a:close/>
                </a:path>
                <a:path w="481330" h="701675">
                  <a:moveTo>
                    <a:pt x="480822" y="457377"/>
                  </a:moveTo>
                  <a:lnTo>
                    <a:pt x="0" y="457377"/>
                  </a:lnTo>
                  <a:lnTo>
                    <a:pt x="0" y="470636"/>
                  </a:lnTo>
                  <a:lnTo>
                    <a:pt x="480822" y="470636"/>
                  </a:lnTo>
                  <a:lnTo>
                    <a:pt x="480822" y="457377"/>
                  </a:lnTo>
                  <a:close/>
                </a:path>
                <a:path w="481330" h="701675">
                  <a:moveTo>
                    <a:pt x="480822" y="226415"/>
                  </a:moveTo>
                  <a:lnTo>
                    <a:pt x="0" y="226415"/>
                  </a:lnTo>
                  <a:lnTo>
                    <a:pt x="0" y="239674"/>
                  </a:lnTo>
                  <a:lnTo>
                    <a:pt x="480822" y="239674"/>
                  </a:lnTo>
                  <a:lnTo>
                    <a:pt x="480822" y="226415"/>
                  </a:lnTo>
                  <a:close/>
                </a:path>
                <a:path w="481330" h="701675">
                  <a:moveTo>
                    <a:pt x="480822" y="0"/>
                  </a:moveTo>
                  <a:lnTo>
                    <a:pt x="0" y="0"/>
                  </a:lnTo>
                  <a:lnTo>
                    <a:pt x="0" y="13271"/>
                  </a:lnTo>
                  <a:lnTo>
                    <a:pt x="480822" y="13271"/>
                  </a:lnTo>
                  <a:lnTo>
                    <a:pt x="480822" y="0"/>
                  </a:lnTo>
                  <a:close/>
                </a:path>
              </a:pathLst>
            </a:custGeom>
            <a:solidFill>
              <a:srgbClr val="000000"/>
            </a:solidFill>
          </p:spPr>
          <p:txBody>
            <a:bodyPr wrap="square" lIns="0" tIns="0" rIns="0" bIns="0" rtlCol="0"/>
            <a:lstStyle/>
            <a:p/>
          </p:txBody>
        </p:sp>
        <p:sp>
          <p:nvSpPr>
            <p:cNvPr id="57" name="object 57" descr=""/>
            <p:cNvSpPr/>
            <p:nvPr/>
          </p:nvSpPr>
          <p:spPr>
            <a:xfrm>
              <a:off x="4107232" y="428820"/>
              <a:ext cx="1024255" cy="630555"/>
            </a:xfrm>
            <a:custGeom>
              <a:avLst/>
              <a:gdLst/>
              <a:ahLst/>
              <a:cxnLst/>
              <a:rect l="l" t="t" r="r" b="b"/>
              <a:pathLst>
                <a:path w="1024254" h="630555">
                  <a:moveTo>
                    <a:pt x="1023922" y="0"/>
                  </a:moveTo>
                  <a:lnTo>
                    <a:pt x="0" y="0"/>
                  </a:lnTo>
                  <a:lnTo>
                    <a:pt x="0" y="630015"/>
                  </a:lnTo>
                  <a:lnTo>
                    <a:pt x="1023922" y="630015"/>
                  </a:lnTo>
                  <a:lnTo>
                    <a:pt x="1023922" y="0"/>
                  </a:lnTo>
                  <a:close/>
                </a:path>
              </a:pathLst>
            </a:custGeom>
            <a:solidFill>
              <a:srgbClr val="CCFFFF"/>
            </a:solidFill>
          </p:spPr>
          <p:txBody>
            <a:bodyPr wrap="square" lIns="0" tIns="0" rIns="0" bIns="0" rtlCol="0"/>
            <a:lstStyle/>
            <a:p/>
          </p:txBody>
        </p:sp>
        <p:sp>
          <p:nvSpPr>
            <p:cNvPr id="58" name="object 58" descr=""/>
            <p:cNvSpPr/>
            <p:nvPr/>
          </p:nvSpPr>
          <p:spPr>
            <a:xfrm>
              <a:off x="4107232" y="428820"/>
              <a:ext cx="1024255" cy="630555"/>
            </a:xfrm>
            <a:custGeom>
              <a:avLst/>
              <a:gdLst/>
              <a:ahLst/>
              <a:cxnLst/>
              <a:rect l="l" t="t" r="r" b="b"/>
              <a:pathLst>
                <a:path w="1024254" h="630555">
                  <a:moveTo>
                    <a:pt x="0" y="630015"/>
                  </a:moveTo>
                  <a:lnTo>
                    <a:pt x="1023922" y="630015"/>
                  </a:lnTo>
                  <a:lnTo>
                    <a:pt x="1023922" y="0"/>
                  </a:lnTo>
                  <a:lnTo>
                    <a:pt x="0" y="0"/>
                  </a:lnTo>
                  <a:lnTo>
                    <a:pt x="0" y="630015"/>
                  </a:lnTo>
                  <a:close/>
                </a:path>
              </a:pathLst>
            </a:custGeom>
            <a:ln w="15252">
              <a:solidFill>
                <a:srgbClr val="000000"/>
              </a:solidFill>
            </a:ln>
          </p:spPr>
          <p:txBody>
            <a:bodyPr wrap="square" lIns="0" tIns="0" rIns="0" bIns="0" rtlCol="0"/>
            <a:lstStyle/>
            <a:p/>
          </p:txBody>
        </p:sp>
      </p:grpSp>
      <p:sp>
        <p:nvSpPr>
          <p:cNvPr id="59" name="object 59" descr=""/>
          <p:cNvSpPr txBox="1"/>
          <p:nvPr/>
        </p:nvSpPr>
        <p:spPr>
          <a:xfrm>
            <a:off x="3684451" y="4706266"/>
            <a:ext cx="347980" cy="228600"/>
          </a:xfrm>
          <a:prstGeom prst="rect">
            <a:avLst/>
          </a:prstGeom>
        </p:spPr>
        <p:txBody>
          <a:bodyPr wrap="square" lIns="0" tIns="16510" rIns="0" bIns="0" rtlCol="0" vert="horz">
            <a:spAutoFit/>
          </a:bodyPr>
          <a:lstStyle/>
          <a:p>
            <a:pPr marL="38100">
              <a:lnSpc>
                <a:spcPct val="100000"/>
              </a:lnSpc>
              <a:spcBef>
                <a:spcPts val="130"/>
              </a:spcBef>
            </a:pPr>
            <a:r>
              <a:rPr dirty="0" sz="1300" spc="355" b="1">
                <a:latin typeface="Times New Roman"/>
                <a:cs typeface="Times New Roman"/>
              </a:rPr>
              <a:t>V</a:t>
            </a:r>
            <a:r>
              <a:rPr dirty="0" baseline="-13071" sz="1275" spc="532" b="1">
                <a:latin typeface="Times New Roman"/>
                <a:cs typeface="Times New Roman"/>
              </a:rPr>
              <a:t>3</a:t>
            </a:r>
            <a:endParaRPr baseline="-13071" sz="1275">
              <a:latin typeface="Times New Roman"/>
              <a:cs typeface="Times New Roman"/>
            </a:endParaRPr>
          </a:p>
        </p:txBody>
      </p:sp>
      <p:sp>
        <p:nvSpPr>
          <p:cNvPr id="60" name="object 60" descr=""/>
          <p:cNvSpPr txBox="1"/>
          <p:nvPr/>
        </p:nvSpPr>
        <p:spPr>
          <a:xfrm>
            <a:off x="6352973" y="1550299"/>
            <a:ext cx="287655" cy="228600"/>
          </a:xfrm>
          <a:prstGeom prst="rect">
            <a:avLst/>
          </a:prstGeom>
        </p:spPr>
        <p:txBody>
          <a:bodyPr wrap="square" lIns="0" tIns="16510" rIns="0" bIns="0" rtlCol="0" vert="horz">
            <a:spAutoFit/>
          </a:bodyPr>
          <a:lstStyle/>
          <a:p>
            <a:pPr marL="12700">
              <a:lnSpc>
                <a:spcPct val="100000"/>
              </a:lnSpc>
              <a:spcBef>
                <a:spcPts val="130"/>
              </a:spcBef>
            </a:pPr>
            <a:r>
              <a:rPr dirty="0" sz="1300" spc="700" b="1">
                <a:solidFill>
                  <a:srgbClr val="0000FF"/>
                </a:solidFill>
                <a:latin typeface="宋体"/>
                <a:cs typeface="宋体"/>
              </a:rPr>
              <a:t>访</a:t>
            </a:r>
            <a:endParaRPr sz="1300">
              <a:latin typeface="宋体"/>
              <a:cs typeface="宋体"/>
            </a:endParaRPr>
          </a:p>
        </p:txBody>
      </p:sp>
      <p:sp>
        <p:nvSpPr>
          <p:cNvPr id="61" name="object 61" descr=""/>
          <p:cNvSpPr txBox="1"/>
          <p:nvPr/>
        </p:nvSpPr>
        <p:spPr>
          <a:xfrm>
            <a:off x="6352973" y="1878776"/>
            <a:ext cx="287655" cy="228600"/>
          </a:xfrm>
          <a:prstGeom prst="rect">
            <a:avLst/>
          </a:prstGeom>
        </p:spPr>
        <p:txBody>
          <a:bodyPr wrap="square" lIns="0" tIns="16510" rIns="0" bIns="0" rtlCol="0" vert="horz">
            <a:spAutoFit/>
          </a:bodyPr>
          <a:lstStyle/>
          <a:p>
            <a:pPr marL="12700">
              <a:lnSpc>
                <a:spcPct val="100000"/>
              </a:lnSpc>
              <a:spcBef>
                <a:spcPts val="130"/>
              </a:spcBef>
            </a:pPr>
            <a:r>
              <a:rPr dirty="0" sz="1300" spc="700" b="1">
                <a:solidFill>
                  <a:srgbClr val="0000FF"/>
                </a:solidFill>
                <a:latin typeface="宋体"/>
                <a:cs typeface="宋体"/>
              </a:rPr>
              <a:t>存</a:t>
            </a:r>
            <a:endParaRPr sz="1300">
              <a:latin typeface="宋体"/>
              <a:cs typeface="宋体"/>
            </a:endParaRPr>
          </a:p>
        </p:txBody>
      </p:sp>
      <p:sp>
        <p:nvSpPr>
          <p:cNvPr id="62" name="object 62" descr=""/>
          <p:cNvSpPr txBox="1"/>
          <p:nvPr/>
        </p:nvSpPr>
        <p:spPr>
          <a:xfrm>
            <a:off x="5793949" y="1913341"/>
            <a:ext cx="461009" cy="217170"/>
          </a:xfrm>
          <a:prstGeom prst="rect">
            <a:avLst/>
          </a:prstGeom>
          <a:solidFill>
            <a:srgbClr val="FFCCCC"/>
          </a:solidFill>
        </p:spPr>
        <p:txBody>
          <a:bodyPr wrap="square" lIns="0" tIns="1270" rIns="0" bIns="0" rtlCol="0" vert="horz">
            <a:spAutoFit/>
          </a:bodyPr>
          <a:lstStyle/>
          <a:p>
            <a:pPr marL="147955">
              <a:lnSpc>
                <a:spcPct val="100000"/>
              </a:lnSpc>
              <a:spcBef>
                <a:spcPts val="10"/>
              </a:spcBef>
            </a:pPr>
            <a:r>
              <a:rPr dirty="0" sz="1300" spc="325">
                <a:latin typeface="Times New Roman"/>
                <a:cs typeface="Times New Roman"/>
              </a:rPr>
              <a:t>4</a:t>
            </a:r>
            <a:endParaRPr sz="1300">
              <a:latin typeface="Times New Roman"/>
              <a:cs typeface="Times New Roman"/>
            </a:endParaRPr>
          </a:p>
        </p:txBody>
      </p:sp>
      <p:sp>
        <p:nvSpPr>
          <p:cNvPr id="63" name="object 63" descr=""/>
          <p:cNvSpPr txBox="1"/>
          <p:nvPr/>
        </p:nvSpPr>
        <p:spPr>
          <a:xfrm>
            <a:off x="5793949" y="2378823"/>
            <a:ext cx="461009" cy="219075"/>
          </a:xfrm>
          <a:prstGeom prst="rect">
            <a:avLst/>
          </a:prstGeom>
          <a:solidFill>
            <a:srgbClr val="FFCCCC"/>
          </a:solidFill>
        </p:spPr>
        <p:txBody>
          <a:bodyPr wrap="square" lIns="0" tIns="0" rIns="0" bIns="0" rtlCol="0" vert="horz">
            <a:spAutoFit/>
          </a:bodyPr>
          <a:lstStyle/>
          <a:p>
            <a:pPr marL="147955">
              <a:lnSpc>
                <a:spcPts val="1400"/>
              </a:lnSpc>
            </a:pPr>
            <a:r>
              <a:rPr dirty="0" sz="1300" spc="325">
                <a:latin typeface="Times New Roman"/>
                <a:cs typeface="Times New Roman"/>
              </a:rPr>
              <a:t>6</a:t>
            </a:r>
            <a:endParaRPr sz="1300">
              <a:latin typeface="Times New Roman"/>
              <a:cs typeface="Times New Roman"/>
            </a:endParaRPr>
          </a:p>
        </p:txBody>
      </p:sp>
      <p:sp>
        <p:nvSpPr>
          <p:cNvPr id="64" name="object 64" descr=""/>
          <p:cNvSpPr txBox="1"/>
          <p:nvPr/>
        </p:nvSpPr>
        <p:spPr>
          <a:xfrm>
            <a:off x="5793949" y="1233467"/>
            <a:ext cx="461009" cy="209550"/>
          </a:xfrm>
          <a:prstGeom prst="rect">
            <a:avLst/>
          </a:prstGeom>
          <a:solidFill>
            <a:srgbClr val="FFCCCC"/>
          </a:solidFill>
        </p:spPr>
        <p:txBody>
          <a:bodyPr wrap="square" lIns="0" tIns="0" rIns="0" bIns="0" rtlCol="0" vert="horz">
            <a:spAutoFit/>
          </a:bodyPr>
          <a:lstStyle/>
          <a:p>
            <a:pPr marL="147955">
              <a:lnSpc>
                <a:spcPts val="1545"/>
              </a:lnSpc>
            </a:pPr>
            <a:r>
              <a:rPr dirty="0" sz="1300" spc="325">
                <a:latin typeface="Times New Roman"/>
                <a:cs typeface="Times New Roman"/>
              </a:rPr>
              <a:t>1</a:t>
            </a:r>
            <a:endParaRPr sz="1300">
              <a:latin typeface="Times New Roman"/>
              <a:cs typeface="Times New Roman"/>
            </a:endParaRPr>
          </a:p>
        </p:txBody>
      </p:sp>
      <p:sp>
        <p:nvSpPr>
          <p:cNvPr id="65" name="object 65" descr=""/>
          <p:cNvSpPr txBox="1"/>
          <p:nvPr/>
        </p:nvSpPr>
        <p:spPr>
          <a:xfrm>
            <a:off x="5793949" y="1455984"/>
            <a:ext cx="461009" cy="217804"/>
          </a:xfrm>
          <a:prstGeom prst="rect">
            <a:avLst/>
          </a:prstGeom>
          <a:solidFill>
            <a:srgbClr val="FFCCCC"/>
          </a:solidFill>
        </p:spPr>
        <p:txBody>
          <a:bodyPr wrap="square" lIns="0" tIns="10160" rIns="0" bIns="0" rtlCol="0" vert="horz">
            <a:spAutoFit/>
          </a:bodyPr>
          <a:lstStyle/>
          <a:p>
            <a:pPr marL="147955">
              <a:lnSpc>
                <a:spcPct val="100000"/>
              </a:lnSpc>
              <a:spcBef>
                <a:spcPts val="80"/>
              </a:spcBef>
            </a:pPr>
            <a:r>
              <a:rPr dirty="0" sz="1300" spc="325">
                <a:latin typeface="Times New Roman"/>
                <a:cs typeface="Times New Roman"/>
              </a:rPr>
              <a:t>2</a:t>
            </a:r>
            <a:endParaRPr sz="1300">
              <a:latin typeface="Times New Roman"/>
              <a:cs typeface="Times New Roman"/>
            </a:endParaRPr>
          </a:p>
        </p:txBody>
      </p:sp>
      <p:sp>
        <p:nvSpPr>
          <p:cNvPr id="66" name="object 66" descr=""/>
          <p:cNvSpPr txBox="1"/>
          <p:nvPr/>
        </p:nvSpPr>
        <p:spPr>
          <a:xfrm>
            <a:off x="5793949" y="1686786"/>
            <a:ext cx="461009" cy="213360"/>
          </a:xfrm>
          <a:prstGeom prst="rect">
            <a:avLst/>
          </a:prstGeom>
          <a:solidFill>
            <a:srgbClr val="FFCCCC"/>
          </a:solidFill>
        </p:spPr>
        <p:txBody>
          <a:bodyPr wrap="square" lIns="0" tIns="5715" rIns="0" bIns="0" rtlCol="0" vert="horz">
            <a:spAutoFit/>
          </a:bodyPr>
          <a:lstStyle/>
          <a:p>
            <a:pPr marL="147955">
              <a:lnSpc>
                <a:spcPct val="100000"/>
              </a:lnSpc>
              <a:spcBef>
                <a:spcPts val="45"/>
              </a:spcBef>
            </a:pPr>
            <a:r>
              <a:rPr dirty="0" sz="1300" spc="325">
                <a:latin typeface="Times New Roman"/>
                <a:cs typeface="Times New Roman"/>
              </a:rPr>
              <a:t>3</a:t>
            </a:r>
            <a:endParaRPr sz="1300">
              <a:latin typeface="Times New Roman"/>
              <a:cs typeface="Times New Roman"/>
            </a:endParaRPr>
          </a:p>
        </p:txBody>
      </p:sp>
      <p:sp>
        <p:nvSpPr>
          <p:cNvPr id="67" name="object 67" descr=""/>
          <p:cNvSpPr txBox="1"/>
          <p:nvPr/>
        </p:nvSpPr>
        <p:spPr>
          <a:xfrm>
            <a:off x="5793949" y="2143774"/>
            <a:ext cx="461009" cy="222250"/>
          </a:xfrm>
          <a:prstGeom prst="rect">
            <a:avLst/>
          </a:prstGeom>
          <a:solidFill>
            <a:srgbClr val="FFCCCC"/>
          </a:solidFill>
        </p:spPr>
        <p:txBody>
          <a:bodyPr wrap="square" lIns="0" tIns="0" rIns="0" bIns="0" rtlCol="0" vert="horz">
            <a:spAutoFit/>
          </a:bodyPr>
          <a:lstStyle/>
          <a:p>
            <a:pPr marL="147955">
              <a:lnSpc>
                <a:spcPts val="1430"/>
              </a:lnSpc>
            </a:pPr>
            <a:r>
              <a:rPr dirty="0" sz="1300" spc="325">
                <a:latin typeface="Times New Roman"/>
                <a:cs typeface="Times New Roman"/>
              </a:rPr>
              <a:t>5</a:t>
            </a:r>
            <a:endParaRPr sz="1300">
              <a:latin typeface="Times New Roman"/>
              <a:cs typeface="Times New Roman"/>
            </a:endParaRPr>
          </a:p>
        </p:txBody>
      </p:sp>
      <p:grpSp>
        <p:nvGrpSpPr>
          <p:cNvPr id="68" name="object 68" descr=""/>
          <p:cNvGrpSpPr/>
          <p:nvPr/>
        </p:nvGrpSpPr>
        <p:grpSpPr>
          <a:xfrm>
            <a:off x="2307920" y="707806"/>
            <a:ext cx="3957320" cy="5749290"/>
            <a:chOff x="2307920" y="707806"/>
            <a:chExt cx="3957320" cy="5749290"/>
          </a:xfrm>
        </p:grpSpPr>
        <p:sp>
          <p:nvSpPr>
            <p:cNvPr id="69" name="object 69" descr=""/>
            <p:cNvSpPr/>
            <p:nvPr/>
          </p:nvSpPr>
          <p:spPr>
            <a:xfrm>
              <a:off x="5776722" y="1442732"/>
              <a:ext cx="488315" cy="936625"/>
            </a:xfrm>
            <a:custGeom>
              <a:avLst/>
              <a:gdLst/>
              <a:ahLst/>
              <a:cxnLst/>
              <a:rect l="l" t="t" r="r" b="b"/>
              <a:pathLst>
                <a:path w="488314" h="936625">
                  <a:moveTo>
                    <a:pt x="481609" y="922832"/>
                  </a:moveTo>
                  <a:lnTo>
                    <a:pt x="0" y="922832"/>
                  </a:lnTo>
                  <a:lnTo>
                    <a:pt x="0" y="936091"/>
                  </a:lnTo>
                  <a:lnTo>
                    <a:pt x="481609" y="936091"/>
                  </a:lnTo>
                  <a:lnTo>
                    <a:pt x="481609" y="922832"/>
                  </a:lnTo>
                  <a:close/>
                </a:path>
                <a:path w="488314" h="936625">
                  <a:moveTo>
                    <a:pt x="487883" y="687781"/>
                  </a:moveTo>
                  <a:lnTo>
                    <a:pt x="7137" y="687781"/>
                  </a:lnTo>
                  <a:lnTo>
                    <a:pt x="7137" y="701052"/>
                  </a:lnTo>
                  <a:lnTo>
                    <a:pt x="487883" y="701052"/>
                  </a:lnTo>
                  <a:lnTo>
                    <a:pt x="487883" y="687781"/>
                  </a:lnTo>
                  <a:close/>
                </a:path>
                <a:path w="488314" h="936625">
                  <a:moveTo>
                    <a:pt x="487883" y="457352"/>
                  </a:moveTo>
                  <a:lnTo>
                    <a:pt x="7137" y="457352"/>
                  </a:lnTo>
                  <a:lnTo>
                    <a:pt x="7137" y="470611"/>
                  </a:lnTo>
                  <a:lnTo>
                    <a:pt x="487883" y="470611"/>
                  </a:lnTo>
                  <a:lnTo>
                    <a:pt x="487883" y="457352"/>
                  </a:lnTo>
                  <a:close/>
                </a:path>
                <a:path w="488314" h="936625">
                  <a:moveTo>
                    <a:pt x="487883" y="230797"/>
                  </a:moveTo>
                  <a:lnTo>
                    <a:pt x="7137" y="230797"/>
                  </a:lnTo>
                  <a:lnTo>
                    <a:pt x="7137" y="244055"/>
                  </a:lnTo>
                  <a:lnTo>
                    <a:pt x="487883" y="244055"/>
                  </a:lnTo>
                  <a:lnTo>
                    <a:pt x="487883" y="230797"/>
                  </a:lnTo>
                  <a:close/>
                </a:path>
                <a:path w="488314" h="936625">
                  <a:moveTo>
                    <a:pt x="487883" y="0"/>
                  </a:moveTo>
                  <a:lnTo>
                    <a:pt x="7137" y="0"/>
                  </a:lnTo>
                  <a:lnTo>
                    <a:pt x="7137" y="13258"/>
                  </a:lnTo>
                  <a:lnTo>
                    <a:pt x="487883" y="13258"/>
                  </a:lnTo>
                  <a:lnTo>
                    <a:pt x="487883" y="0"/>
                  </a:lnTo>
                  <a:close/>
                </a:path>
              </a:pathLst>
            </a:custGeom>
            <a:solidFill>
              <a:srgbClr val="000000"/>
            </a:solidFill>
          </p:spPr>
          <p:txBody>
            <a:bodyPr wrap="square" lIns="0" tIns="0" rIns="0" bIns="0" rtlCol="0"/>
            <a:lstStyle/>
            <a:p/>
          </p:txBody>
        </p:sp>
        <p:sp>
          <p:nvSpPr>
            <p:cNvPr id="70" name="object 70" descr=""/>
            <p:cNvSpPr/>
            <p:nvPr/>
          </p:nvSpPr>
          <p:spPr>
            <a:xfrm>
              <a:off x="5131268" y="717248"/>
              <a:ext cx="900430" cy="0"/>
            </a:xfrm>
            <a:custGeom>
              <a:avLst/>
              <a:gdLst/>
              <a:ahLst/>
              <a:cxnLst/>
              <a:rect l="l" t="t" r="r" b="b"/>
              <a:pathLst>
                <a:path w="900429" h="0">
                  <a:moveTo>
                    <a:pt x="0" y="0"/>
                  </a:moveTo>
                  <a:lnTo>
                    <a:pt x="900110" y="0"/>
                  </a:lnTo>
                </a:path>
              </a:pathLst>
            </a:custGeom>
            <a:ln w="13263">
              <a:solidFill>
                <a:srgbClr val="000000"/>
              </a:solidFill>
            </a:ln>
          </p:spPr>
          <p:txBody>
            <a:bodyPr wrap="square" lIns="0" tIns="0" rIns="0" bIns="0" rtlCol="0"/>
            <a:lstStyle/>
            <a:p/>
          </p:txBody>
        </p:sp>
        <p:sp>
          <p:nvSpPr>
            <p:cNvPr id="71" name="object 71" descr=""/>
            <p:cNvSpPr/>
            <p:nvPr/>
          </p:nvSpPr>
          <p:spPr>
            <a:xfrm>
              <a:off x="5973998" y="711340"/>
              <a:ext cx="116839" cy="523875"/>
            </a:xfrm>
            <a:custGeom>
              <a:avLst/>
              <a:gdLst/>
              <a:ahLst/>
              <a:cxnLst/>
              <a:rect l="l" t="t" r="r" b="b"/>
              <a:pathLst>
                <a:path w="116839" h="523875">
                  <a:moveTo>
                    <a:pt x="0" y="412673"/>
                  </a:moveTo>
                  <a:lnTo>
                    <a:pt x="61663" y="523458"/>
                  </a:lnTo>
                  <a:lnTo>
                    <a:pt x="92517" y="461419"/>
                  </a:lnTo>
                  <a:lnTo>
                    <a:pt x="61663" y="461419"/>
                  </a:lnTo>
                  <a:lnTo>
                    <a:pt x="54526" y="456803"/>
                  </a:lnTo>
                  <a:lnTo>
                    <a:pt x="48245" y="456803"/>
                  </a:lnTo>
                  <a:lnTo>
                    <a:pt x="48245" y="440411"/>
                  </a:lnTo>
                  <a:lnTo>
                    <a:pt x="0" y="412673"/>
                  </a:lnTo>
                  <a:close/>
                </a:path>
                <a:path w="116839" h="523875">
                  <a:moveTo>
                    <a:pt x="48245" y="440411"/>
                  </a:moveTo>
                  <a:lnTo>
                    <a:pt x="48245" y="456803"/>
                  </a:lnTo>
                  <a:lnTo>
                    <a:pt x="54526" y="456803"/>
                  </a:lnTo>
                  <a:lnTo>
                    <a:pt x="61663" y="461419"/>
                  </a:lnTo>
                  <a:lnTo>
                    <a:pt x="68800" y="456803"/>
                  </a:lnTo>
                  <a:lnTo>
                    <a:pt x="75080" y="452371"/>
                  </a:lnTo>
                  <a:lnTo>
                    <a:pt x="75080" y="448125"/>
                  </a:lnTo>
                  <a:lnTo>
                    <a:pt x="61663" y="448125"/>
                  </a:lnTo>
                  <a:lnTo>
                    <a:pt x="48245" y="440411"/>
                  </a:lnTo>
                  <a:close/>
                </a:path>
                <a:path w="116839" h="523875">
                  <a:moveTo>
                    <a:pt x="116760" y="412673"/>
                  </a:moveTo>
                  <a:lnTo>
                    <a:pt x="75080" y="439491"/>
                  </a:lnTo>
                  <a:lnTo>
                    <a:pt x="75080" y="452371"/>
                  </a:lnTo>
                  <a:lnTo>
                    <a:pt x="68800" y="456803"/>
                  </a:lnTo>
                  <a:lnTo>
                    <a:pt x="61663" y="461419"/>
                  </a:lnTo>
                  <a:lnTo>
                    <a:pt x="92517" y="461419"/>
                  </a:lnTo>
                  <a:lnTo>
                    <a:pt x="116760" y="412673"/>
                  </a:lnTo>
                  <a:close/>
                </a:path>
                <a:path w="116839" h="523875">
                  <a:moveTo>
                    <a:pt x="68800" y="0"/>
                  </a:moveTo>
                  <a:lnTo>
                    <a:pt x="48245" y="0"/>
                  </a:lnTo>
                  <a:lnTo>
                    <a:pt x="48245" y="440411"/>
                  </a:lnTo>
                  <a:lnTo>
                    <a:pt x="61663" y="448125"/>
                  </a:lnTo>
                  <a:lnTo>
                    <a:pt x="75080" y="439491"/>
                  </a:lnTo>
                  <a:lnTo>
                    <a:pt x="75080" y="4431"/>
                  </a:lnTo>
                  <a:lnTo>
                    <a:pt x="68800" y="0"/>
                  </a:lnTo>
                  <a:close/>
                </a:path>
                <a:path w="116839" h="523875">
                  <a:moveTo>
                    <a:pt x="75080" y="439491"/>
                  </a:moveTo>
                  <a:lnTo>
                    <a:pt x="61663" y="448125"/>
                  </a:lnTo>
                  <a:lnTo>
                    <a:pt x="75080" y="448125"/>
                  </a:lnTo>
                  <a:lnTo>
                    <a:pt x="75080" y="439491"/>
                  </a:lnTo>
                  <a:close/>
                </a:path>
              </a:pathLst>
            </a:custGeom>
            <a:solidFill>
              <a:srgbClr val="000000"/>
            </a:solidFill>
          </p:spPr>
          <p:txBody>
            <a:bodyPr wrap="square" lIns="0" tIns="0" rIns="0" bIns="0" rtlCol="0"/>
            <a:lstStyle/>
            <a:p/>
          </p:txBody>
        </p:sp>
        <p:sp>
          <p:nvSpPr>
            <p:cNvPr id="72" name="object 72" descr=""/>
            <p:cNvSpPr/>
            <p:nvPr/>
          </p:nvSpPr>
          <p:spPr>
            <a:xfrm>
              <a:off x="5973998" y="711340"/>
              <a:ext cx="116839" cy="523875"/>
            </a:xfrm>
            <a:custGeom>
              <a:avLst/>
              <a:gdLst/>
              <a:ahLst/>
              <a:cxnLst/>
              <a:rect l="l" t="t" r="r" b="b"/>
              <a:pathLst>
                <a:path w="116839" h="523875">
                  <a:moveTo>
                    <a:pt x="75080" y="8678"/>
                  </a:moveTo>
                  <a:lnTo>
                    <a:pt x="75080" y="448125"/>
                  </a:lnTo>
                  <a:lnTo>
                    <a:pt x="75080" y="452371"/>
                  </a:lnTo>
                  <a:lnTo>
                    <a:pt x="68800" y="456803"/>
                  </a:lnTo>
                  <a:lnTo>
                    <a:pt x="61663" y="461419"/>
                  </a:lnTo>
                  <a:lnTo>
                    <a:pt x="54526" y="456803"/>
                  </a:lnTo>
                  <a:lnTo>
                    <a:pt x="48245" y="456803"/>
                  </a:lnTo>
                  <a:lnTo>
                    <a:pt x="48245" y="452371"/>
                  </a:lnTo>
                  <a:lnTo>
                    <a:pt x="48245" y="448125"/>
                  </a:lnTo>
                  <a:lnTo>
                    <a:pt x="48245" y="8678"/>
                  </a:lnTo>
                  <a:lnTo>
                    <a:pt x="48245" y="4431"/>
                  </a:lnTo>
                  <a:lnTo>
                    <a:pt x="48245" y="0"/>
                  </a:lnTo>
                  <a:lnTo>
                    <a:pt x="54526" y="0"/>
                  </a:lnTo>
                  <a:lnTo>
                    <a:pt x="61663" y="0"/>
                  </a:lnTo>
                  <a:lnTo>
                    <a:pt x="68800" y="0"/>
                  </a:lnTo>
                  <a:lnTo>
                    <a:pt x="75080" y="4431"/>
                  </a:lnTo>
                  <a:lnTo>
                    <a:pt x="75080" y="8678"/>
                  </a:lnTo>
                  <a:close/>
                </a:path>
                <a:path w="116839" h="523875">
                  <a:moveTo>
                    <a:pt x="61663" y="448125"/>
                  </a:moveTo>
                  <a:lnTo>
                    <a:pt x="116760" y="412673"/>
                  </a:lnTo>
                  <a:lnTo>
                    <a:pt x="61663" y="523458"/>
                  </a:lnTo>
                  <a:lnTo>
                    <a:pt x="0" y="412673"/>
                  </a:lnTo>
                  <a:lnTo>
                    <a:pt x="61663" y="448125"/>
                  </a:lnTo>
                  <a:close/>
                </a:path>
              </a:pathLst>
            </a:custGeom>
            <a:ln w="5822">
              <a:solidFill>
                <a:srgbClr val="000000"/>
              </a:solidFill>
            </a:ln>
          </p:spPr>
          <p:txBody>
            <a:bodyPr wrap="square" lIns="0" tIns="0" rIns="0" bIns="0" rtlCol="0"/>
            <a:lstStyle/>
            <a:p/>
          </p:txBody>
        </p:sp>
        <p:sp>
          <p:nvSpPr>
            <p:cNvPr id="73" name="object 73" descr=""/>
            <p:cNvSpPr/>
            <p:nvPr/>
          </p:nvSpPr>
          <p:spPr>
            <a:xfrm>
              <a:off x="6031379" y="2607793"/>
              <a:ext cx="0" cy="2005330"/>
            </a:xfrm>
            <a:custGeom>
              <a:avLst/>
              <a:gdLst/>
              <a:ahLst/>
              <a:cxnLst/>
              <a:rect l="l" t="t" r="r" b="b"/>
              <a:pathLst>
                <a:path w="0" h="2005329">
                  <a:moveTo>
                    <a:pt x="0" y="0"/>
                  </a:moveTo>
                  <a:lnTo>
                    <a:pt x="0" y="2005207"/>
                  </a:lnTo>
                </a:path>
              </a:pathLst>
            </a:custGeom>
            <a:ln w="20506">
              <a:solidFill>
                <a:srgbClr val="000000"/>
              </a:solidFill>
            </a:ln>
          </p:spPr>
          <p:txBody>
            <a:bodyPr wrap="square" lIns="0" tIns="0" rIns="0" bIns="0" rtlCol="0"/>
            <a:lstStyle/>
            <a:p/>
          </p:txBody>
        </p:sp>
        <p:sp>
          <p:nvSpPr>
            <p:cNvPr id="74" name="object 74" descr=""/>
            <p:cNvSpPr/>
            <p:nvPr/>
          </p:nvSpPr>
          <p:spPr>
            <a:xfrm>
              <a:off x="5135550" y="4580319"/>
              <a:ext cx="913765" cy="75565"/>
            </a:xfrm>
            <a:custGeom>
              <a:avLst/>
              <a:gdLst/>
              <a:ahLst/>
              <a:cxnLst/>
              <a:rect l="l" t="t" r="r" b="b"/>
              <a:pathLst>
                <a:path w="913764" h="75564">
                  <a:moveTo>
                    <a:pt x="171571" y="0"/>
                  </a:moveTo>
                  <a:lnTo>
                    <a:pt x="0" y="35451"/>
                  </a:lnTo>
                  <a:lnTo>
                    <a:pt x="171571" y="75536"/>
                  </a:lnTo>
                  <a:lnTo>
                    <a:pt x="123384" y="44498"/>
                  </a:lnTo>
                  <a:lnTo>
                    <a:pt x="103057" y="44498"/>
                  </a:lnTo>
                  <a:lnTo>
                    <a:pt x="95920" y="40067"/>
                  </a:lnTo>
                  <a:lnTo>
                    <a:pt x="95920" y="31389"/>
                  </a:lnTo>
                  <a:lnTo>
                    <a:pt x="103057" y="31389"/>
                  </a:lnTo>
                  <a:lnTo>
                    <a:pt x="103057" y="26773"/>
                  </a:lnTo>
                  <a:lnTo>
                    <a:pt x="124572" y="26773"/>
                  </a:lnTo>
                  <a:lnTo>
                    <a:pt x="171571" y="0"/>
                  </a:lnTo>
                  <a:close/>
                </a:path>
                <a:path w="913764" h="75564">
                  <a:moveTo>
                    <a:pt x="124572" y="26773"/>
                  </a:moveTo>
                  <a:lnTo>
                    <a:pt x="103057" y="26773"/>
                  </a:lnTo>
                  <a:lnTo>
                    <a:pt x="103057" y="31389"/>
                  </a:lnTo>
                  <a:lnTo>
                    <a:pt x="95920" y="31389"/>
                  </a:lnTo>
                  <a:lnTo>
                    <a:pt x="95920" y="40067"/>
                  </a:lnTo>
                  <a:lnTo>
                    <a:pt x="103057" y="44498"/>
                  </a:lnTo>
                  <a:lnTo>
                    <a:pt x="123384" y="44498"/>
                  </a:lnTo>
                  <a:lnTo>
                    <a:pt x="109337" y="35451"/>
                  </a:lnTo>
                  <a:lnTo>
                    <a:pt x="124572" y="26773"/>
                  </a:lnTo>
                  <a:close/>
                </a:path>
                <a:path w="913764" h="75564">
                  <a:moveTo>
                    <a:pt x="907247" y="26773"/>
                  </a:moveTo>
                  <a:lnTo>
                    <a:pt x="124572" y="26773"/>
                  </a:lnTo>
                  <a:lnTo>
                    <a:pt x="109337" y="35451"/>
                  </a:lnTo>
                  <a:lnTo>
                    <a:pt x="123384" y="44498"/>
                  </a:lnTo>
                  <a:lnTo>
                    <a:pt x="907247" y="44498"/>
                  </a:lnTo>
                  <a:lnTo>
                    <a:pt x="913528" y="40067"/>
                  </a:lnTo>
                  <a:lnTo>
                    <a:pt x="913528" y="31389"/>
                  </a:lnTo>
                  <a:lnTo>
                    <a:pt x="907247" y="31389"/>
                  </a:lnTo>
                  <a:lnTo>
                    <a:pt x="907247" y="26773"/>
                  </a:lnTo>
                  <a:close/>
                </a:path>
              </a:pathLst>
            </a:custGeom>
            <a:solidFill>
              <a:srgbClr val="000000"/>
            </a:solidFill>
          </p:spPr>
          <p:txBody>
            <a:bodyPr wrap="square" lIns="0" tIns="0" rIns="0" bIns="0" rtlCol="0"/>
            <a:lstStyle/>
            <a:p/>
          </p:txBody>
        </p:sp>
        <p:sp>
          <p:nvSpPr>
            <p:cNvPr id="75" name="object 75" descr=""/>
            <p:cNvSpPr/>
            <p:nvPr/>
          </p:nvSpPr>
          <p:spPr>
            <a:xfrm>
              <a:off x="5135550" y="4580319"/>
              <a:ext cx="913765" cy="75565"/>
            </a:xfrm>
            <a:custGeom>
              <a:avLst/>
              <a:gdLst/>
              <a:ahLst/>
              <a:cxnLst/>
              <a:rect l="l" t="t" r="r" b="b"/>
              <a:pathLst>
                <a:path w="913764" h="75564">
                  <a:moveTo>
                    <a:pt x="900110" y="44498"/>
                  </a:moveTo>
                  <a:lnTo>
                    <a:pt x="109337" y="44498"/>
                  </a:lnTo>
                  <a:lnTo>
                    <a:pt x="103057" y="44498"/>
                  </a:lnTo>
                  <a:lnTo>
                    <a:pt x="95920" y="40067"/>
                  </a:lnTo>
                  <a:lnTo>
                    <a:pt x="95920" y="35451"/>
                  </a:lnTo>
                  <a:lnTo>
                    <a:pt x="95920" y="31389"/>
                  </a:lnTo>
                  <a:lnTo>
                    <a:pt x="103057" y="31389"/>
                  </a:lnTo>
                  <a:lnTo>
                    <a:pt x="103057" y="26773"/>
                  </a:lnTo>
                  <a:lnTo>
                    <a:pt x="109337" y="26773"/>
                  </a:lnTo>
                  <a:lnTo>
                    <a:pt x="900110" y="26773"/>
                  </a:lnTo>
                  <a:lnTo>
                    <a:pt x="907247" y="26773"/>
                  </a:lnTo>
                  <a:lnTo>
                    <a:pt x="907247" y="31389"/>
                  </a:lnTo>
                  <a:lnTo>
                    <a:pt x="913528" y="31389"/>
                  </a:lnTo>
                  <a:lnTo>
                    <a:pt x="913528" y="35451"/>
                  </a:lnTo>
                  <a:lnTo>
                    <a:pt x="913528" y="40067"/>
                  </a:lnTo>
                  <a:lnTo>
                    <a:pt x="907247" y="44498"/>
                  </a:lnTo>
                  <a:lnTo>
                    <a:pt x="900110" y="44498"/>
                  </a:lnTo>
                  <a:close/>
                </a:path>
                <a:path w="913764" h="75564">
                  <a:moveTo>
                    <a:pt x="109337" y="35451"/>
                  </a:moveTo>
                  <a:lnTo>
                    <a:pt x="171571" y="75536"/>
                  </a:lnTo>
                  <a:lnTo>
                    <a:pt x="0" y="35451"/>
                  </a:lnTo>
                  <a:lnTo>
                    <a:pt x="171571" y="0"/>
                  </a:lnTo>
                  <a:lnTo>
                    <a:pt x="109337" y="35451"/>
                  </a:lnTo>
                  <a:close/>
                </a:path>
              </a:pathLst>
            </a:custGeom>
            <a:ln w="5822">
              <a:solidFill>
                <a:srgbClr val="000000"/>
              </a:solidFill>
            </a:ln>
          </p:spPr>
          <p:txBody>
            <a:bodyPr wrap="square" lIns="0" tIns="0" rIns="0" bIns="0" rtlCol="0"/>
            <a:lstStyle/>
            <a:p/>
          </p:txBody>
        </p:sp>
        <p:sp>
          <p:nvSpPr>
            <p:cNvPr id="76" name="object 76" descr=""/>
            <p:cNvSpPr/>
            <p:nvPr/>
          </p:nvSpPr>
          <p:spPr>
            <a:xfrm>
              <a:off x="2606676" y="1971334"/>
              <a:ext cx="116839" cy="408305"/>
            </a:xfrm>
            <a:custGeom>
              <a:avLst/>
              <a:gdLst/>
              <a:ahLst/>
              <a:cxnLst/>
              <a:rect l="l" t="t" r="r" b="b"/>
              <a:pathLst>
                <a:path w="116839" h="408305">
                  <a:moveTo>
                    <a:pt x="0" y="297457"/>
                  </a:moveTo>
                  <a:lnTo>
                    <a:pt x="61520" y="408242"/>
                  </a:lnTo>
                  <a:lnTo>
                    <a:pt x="92406" y="346202"/>
                  </a:lnTo>
                  <a:lnTo>
                    <a:pt x="54469" y="346202"/>
                  </a:lnTo>
                  <a:lnTo>
                    <a:pt x="48102" y="341586"/>
                  </a:lnTo>
                  <a:lnTo>
                    <a:pt x="48102" y="328497"/>
                  </a:lnTo>
                  <a:lnTo>
                    <a:pt x="0" y="297457"/>
                  </a:lnTo>
                  <a:close/>
                </a:path>
                <a:path w="116839" h="408305">
                  <a:moveTo>
                    <a:pt x="48102" y="328497"/>
                  </a:moveTo>
                  <a:lnTo>
                    <a:pt x="48102" y="341586"/>
                  </a:lnTo>
                  <a:lnTo>
                    <a:pt x="54469" y="346202"/>
                  </a:lnTo>
                  <a:lnTo>
                    <a:pt x="68600" y="346202"/>
                  </a:lnTo>
                  <a:lnTo>
                    <a:pt x="68600" y="341586"/>
                  </a:lnTo>
                  <a:lnTo>
                    <a:pt x="75680" y="341586"/>
                  </a:lnTo>
                  <a:lnTo>
                    <a:pt x="75680" y="337155"/>
                  </a:lnTo>
                  <a:lnTo>
                    <a:pt x="61520" y="337155"/>
                  </a:lnTo>
                  <a:lnTo>
                    <a:pt x="48102" y="328497"/>
                  </a:lnTo>
                  <a:close/>
                </a:path>
                <a:path w="116839" h="408305">
                  <a:moveTo>
                    <a:pt x="116674" y="297457"/>
                  </a:moveTo>
                  <a:lnTo>
                    <a:pt x="75680" y="326963"/>
                  </a:lnTo>
                  <a:lnTo>
                    <a:pt x="75680" y="341586"/>
                  </a:lnTo>
                  <a:lnTo>
                    <a:pt x="68600" y="341586"/>
                  </a:lnTo>
                  <a:lnTo>
                    <a:pt x="68600" y="346202"/>
                  </a:lnTo>
                  <a:lnTo>
                    <a:pt x="92406" y="346202"/>
                  </a:lnTo>
                  <a:lnTo>
                    <a:pt x="116674" y="297457"/>
                  </a:lnTo>
                  <a:close/>
                </a:path>
                <a:path w="116839" h="408305">
                  <a:moveTo>
                    <a:pt x="68600" y="0"/>
                  </a:moveTo>
                  <a:lnTo>
                    <a:pt x="54469" y="0"/>
                  </a:lnTo>
                  <a:lnTo>
                    <a:pt x="48102" y="4616"/>
                  </a:lnTo>
                  <a:lnTo>
                    <a:pt x="48102" y="328497"/>
                  </a:lnTo>
                  <a:lnTo>
                    <a:pt x="61520" y="337155"/>
                  </a:lnTo>
                  <a:lnTo>
                    <a:pt x="75680" y="326963"/>
                  </a:lnTo>
                  <a:lnTo>
                    <a:pt x="75680" y="4616"/>
                  </a:lnTo>
                  <a:lnTo>
                    <a:pt x="68600" y="4616"/>
                  </a:lnTo>
                  <a:lnTo>
                    <a:pt x="68600" y="0"/>
                  </a:lnTo>
                  <a:close/>
                </a:path>
                <a:path w="116839" h="408305">
                  <a:moveTo>
                    <a:pt x="75680" y="326963"/>
                  </a:moveTo>
                  <a:lnTo>
                    <a:pt x="61520" y="337155"/>
                  </a:lnTo>
                  <a:lnTo>
                    <a:pt x="75680" y="337155"/>
                  </a:lnTo>
                  <a:lnTo>
                    <a:pt x="75680" y="326963"/>
                  </a:lnTo>
                  <a:close/>
                </a:path>
              </a:pathLst>
            </a:custGeom>
            <a:solidFill>
              <a:srgbClr val="000000"/>
            </a:solidFill>
          </p:spPr>
          <p:txBody>
            <a:bodyPr wrap="square" lIns="0" tIns="0" rIns="0" bIns="0" rtlCol="0"/>
            <a:lstStyle/>
            <a:p/>
          </p:txBody>
        </p:sp>
        <p:sp>
          <p:nvSpPr>
            <p:cNvPr id="77" name="object 77" descr=""/>
            <p:cNvSpPr/>
            <p:nvPr/>
          </p:nvSpPr>
          <p:spPr>
            <a:xfrm>
              <a:off x="2606676" y="1971334"/>
              <a:ext cx="116839" cy="408305"/>
            </a:xfrm>
            <a:custGeom>
              <a:avLst/>
              <a:gdLst/>
              <a:ahLst/>
              <a:cxnLst/>
              <a:rect l="l" t="t" r="r" b="b"/>
              <a:pathLst>
                <a:path w="116839" h="408305">
                  <a:moveTo>
                    <a:pt x="75680" y="9047"/>
                  </a:moveTo>
                  <a:lnTo>
                    <a:pt x="75680" y="337155"/>
                  </a:lnTo>
                  <a:lnTo>
                    <a:pt x="75680" y="341586"/>
                  </a:lnTo>
                  <a:lnTo>
                    <a:pt x="68600" y="341586"/>
                  </a:lnTo>
                  <a:lnTo>
                    <a:pt x="68600" y="346202"/>
                  </a:lnTo>
                  <a:lnTo>
                    <a:pt x="61520" y="346202"/>
                  </a:lnTo>
                  <a:lnTo>
                    <a:pt x="54469" y="346202"/>
                  </a:lnTo>
                  <a:lnTo>
                    <a:pt x="48102" y="341586"/>
                  </a:lnTo>
                  <a:lnTo>
                    <a:pt x="48102" y="337155"/>
                  </a:lnTo>
                  <a:lnTo>
                    <a:pt x="48102" y="9047"/>
                  </a:lnTo>
                  <a:lnTo>
                    <a:pt x="48102" y="4616"/>
                  </a:lnTo>
                  <a:lnTo>
                    <a:pt x="54469" y="0"/>
                  </a:lnTo>
                  <a:lnTo>
                    <a:pt x="61520" y="0"/>
                  </a:lnTo>
                  <a:lnTo>
                    <a:pt x="68600" y="0"/>
                  </a:lnTo>
                  <a:lnTo>
                    <a:pt x="68600" y="4616"/>
                  </a:lnTo>
                  <a:lnTo>
                    <a:pt x="75680" y="4616"/>
                  </a:lnTo>
                  <a:lnTo>
                    <a:pt x="75680" y="9047"/>
                  </a:lnTo>
                  <a:close/>
                </a:path>
                <a:path w="116839" h="408305">
                  <a:moveTo>
                    <a:pt x="61520" y="337155"/>
                  </a:moveTo>
                  <a:lnTo>
                    <a:pt x="116674" y="297457"/>
                  </a:lnTo>
                  <a:lnTo>
                    <a:pt x="61520" y="408242"/>
                  </a:lnTo>
                  <a:lnTo>
                    <a:pt x="0" y="297457"/>
                  </a:lnTo>
                  <a:lnTo>
                    <a:pt x="61520" y="337155"/>
                  </a:lnTo>
                  <a:close/>
                </a:path>
              </a:pathLst>
            </a:custGeom>
            <a:ln w="5822">
              <a:solidFill>
                <a:srgbClr val="000000"/>
              </a:solidFill>
            </a:ln>
          </p:spPr>
          <p:txBody>
            <a:bodyPr wrap="square" lIns="0" tIns="0" rIns="0" bIns="0" rtlCol="0"/>
            <a:lstStyle/>
            <a:p/>
          </p:txBody>
        </p:sp>
        <p:sp>
          <p:nvSpPr>
            <p:cNvPr id="78" name="object 78" descr=""/>
            <p:cNvSpPr/>
            <p:nvPr/>
          </p:nvSpPr>
          <p:spPr>
            <a:xfrm>
              <a:off x="2663972" y="1977796"/>
              <a:ext cx="1443355" cy="572135"/>
            </a:xfrm>
            <a:custGeom>
              <a:avLst/>
              <a:gdLst/>
              <a:ahLst/>
              <a:cxnLst/>
              <a:rect l="l" t="t" r="r" b="b"/>
              <a:pathLst>
                <a:path w="1443354" h="572135">
                  <a:moveTo>
                    <a:pt x="783493" y="572019"/>
                  </a:moveTo>
                  <a:lnTo>
                    <a:pt x="1443260" y="572019"/>
                  </a:lnTo>
                </a:path>
                <a:path w="1443354" h="572135">
                  <a:moveTo>
                    <a:pt x="0" y="0"/>
                  </a:moveTo>
                  <a:lnTo>
                    <a:pt x="783493" y="0"/>
                  </a:lnTo>
                </a:path>
                <a:path w="1443354" h="572135">
                  <a:moveTo>
                    <a:pt x="783493" y="0"/>
                  </a:moveTo>
                  <a:lnTo>
                    <a:pt x="783493" y="572019"/>
                  </a:lnTo>
                </a:path>
              </a:pathLst>
            </a:custGeom>
            <a:ln w="16885">
              <a:solidFill>
                <a:srgbClr val="000000"/>
              </a:solidFill>
            </a:ln>
          </p:spPr>
          <p:txBody>
            <a:bodyPr wrap="square" lIns="0" tIns="0" rIns="0" bIns="0" rtlCol="0"/>
            <a:lstStyle/>
            <a:p/>
          </p:txBody>
        </p:sp>
        <p:sp>
          <p:nvSpPr>
            <p:cNvPr id="79" name="object 79" descr=""/>
            <p:cNvSpPr/>
            <p:nvPr/>
          </p:nvSpPr>
          <p:spPr>
            <a:xfrm>
              <a:off x="2311093" y="1514346"/>
              <a:ext cx="109855" cy="865505"/>
            </a:xfrm>
            <a:custGeom>
              <a:avLst/>
              <a:gdLst/>
              <a:ahLst/>
              <a:cxnLst/>
              <a:rect l="l" t="t" r="r" b="b"/>
              <a:pathLst>
                <a:path w="109855" h="865505">
                  <a:moveTo>
                    <a:pt x="0" y="754445"/>
                  </a:moveTo>
                  <a:lnTo>
                    <a:pt x="55154" y="865230"/>
                  </a:lnTo>
                  <a:lnTo>
                    <a:pt x="85656" y="803190"/>
                  </a:lnTo>
                  <a:lnTo>
                    <a:pt x="48102" y="803190"/>
                  </a:lnTo>
                  <a:lnTo>
                    <a:pt x="48102" y="798574"/>
                  </a:lnTo>
                  <a:lnTo>
                    <a:pt x="41023" y="798574"/>
                  </a:lnTo>
                  <a:lnTo>
                    <a:pt x="41023" y="783972"/>
                  </a:lnTo>
                  <a:lnTo>
                    <a:pt x="0" y="754445"/>
                  </a:lnTo>
                  <a:close/>
                </a:path>
                <a:path w="109855" h="865505">
                  <a:moveTo>
                    <a:pt x="41023" y="783972"/>
                  </a:moveTo>
                  <a:lnTo>
                    <a:pt x="41023" y="798574"/>
                  </a:lnTo>
                  <a:lnTo>
                    <a:pt x="48102" y="798574"/>
                  </a:lnTo>
                  <a:lnTo>
                    <a:pt x="48102" y="803190"/>
                  </a:lnTo>
                  <a:lnTo>
                    <a:pt x="61520" y="803190"/>
                  </a:lnTo>
                  <a:lnTo>
                    <a:pt x="68600" y="798574"/>
                  </a:lnTo>
                  <a:lnTo>
                    <a:pt x="68600" y="794143"/>
                  </a:lnTo>
                  <a:lnTo>
                    <a:pt x="55154" y="794143"/>
                  </a:lnTo>
                  <a:lnTo>
                    <a:pt x="41023" y="783972"/>
                  </a:lnTo>
                  <a:close/>
                </a:path>
                <a:path w="109855" h="865505">
                  <a:moveTo>
                    <a:pt x="109623" y="754445"/>
                  </a:moveTo>
                  <a:lnTo>
                    <a:pt x="68600" y="784343"/>
                  </a:lnTo>
                  <a:lnTo>
                    <a:pt x="68600" y="798574"/>
                  </a:lnTo>
                  <a:lnTo>
                    <a:pt x="61520" y="803190"/>
                  </a:lnTo>
                  <a:lnTo>
                    <a:pt x="85656" y="803190"/>
                  </a:lnTo>
                  <a:lnTo>
                    <a:pt x="109623" y="754445"/>
                  </a:lnTo>
                  <a:close/>
                </a:path>
                <a:path w="109855" h="865505">
                  <a:moveTo>
                    <a:pt x="68600" y="0"/>
                  </a:moveTo>
                  <a:lnTo>
                    <a:pt x="48102" y="0"/>
                  </a:lnTo>
                  <a:lnTo>
                    <a:pt x="41023" y="4616"/>
                  </a:lnTo>
                  <a:lnTo>
                    <a:pt x="41023" y="783972"/>
                  </a:lnTo>
                  <a:lnTo>
                    <a:pt x="55154" y="794143"/>
                  </a:lnTo>
                  <a:lnTo>
                    <a:pt x="68600" y="784343"/>
                  </a:lnTo>
                  <a:lnTo>
                    <a:pt x="68600" y="0"/>
                  </a:lnTo>
                  <a:close/>
                </a:path>
                <a:path w="109855" h="865505">
                  <a:moveTo>
                    <a:pt x="68600" y="784343"/>
                  </a:moveTo>
                  <a:lnTo>
                    <a:pt x="55154" y="794143"/>
                  </a:lnTo>
                  <a:lnTo>
                    <a:pt x="68600" y="794143"/>
                  </a:lnTo>
                  <a:lnTo>
                    <a:pt x="68600" y="784343"/>
                  </a:lnTo>
                  <a:close/>
                </a:path>
              </a:pathLst>
            </a:custGeom>
            <a:solidFill>
              <a:srgbClr val="000000"/>
            </a:solidFill>
          </p:spPr>
          <p:txBody>
            <a:bodyPr wrap="square" lIns="0" tIns="0" rIns="0" bIns="0" rtlCol="0"/>
            <a:lstStyle/>
            <a:p/>
          </p:txBody>
        </p:sp>
        <p:sp>
          <p:nvSpPr>
            <p:cNvPr id="80" name="object 80" descr=""/>
            <p:cNvSpPr/>
            <p:nvPr/>
          </p:nvSpPr>
          <p:spPr>
            <a:xfrm>
              <a:off x="2311093" y="1514346"/>
              <a:ext cx="109855" cy="865505"/>
            </a:xfrm>
            <a:custGeom>
              <a:avLst/>
              <a:gdLst/>
              <a:ahLst/>
              <a:cxnLst/>
              <a:rect l="l" t="t" r="r" b="b"/>
              <a:pathLst>
                <a:path w="109855" h="865505">
                  <a:moveTo>
                    <a:pt x="68600" y="8678"/>
                  </a:moveTo>
                  <a:lnTo>
                    <a:pt x="68600" y="794143"/>
                  </a:lnTo>
                  <a:lnTo>
                    <a:pt x="68600" y="798574"/>
                  </a:lnTo>
                  <a:lnTo>
                    <a:pt x="61520" y="803190"/>
                  </a:lnTo>
                  <a:lnTo>
                    <a:pt x="55154" y="803190"/>
                  </a:lnTo>
                  <a:lnTo>
                    <a:pt x="48102" y="803190"/>
                  </a:lnTo>
                  <a:lnTo>
                    <a:pt x="48102" y="798574"/>
                  </a:lnTo>
                  <a:lnTo>
                    <a:pt x="41023" y="798574"/>
                  </a:lnTo>
                  <a:lnTo>
                    <a:pt x="41023" y="794143"/>
                  </a:lnTo>
                  <a:lnTo>
                    <a:pt x="41023" y="8678"/>
                  </a:lnTo>
                  <a:lnTo>
                    <a:pt x="41023" y="4616"/>
                  </a:lnTo>
                  <a:lnTo>
                    <a:pt x="48102" y="0"/>
                  </a:lnTo>
                  <a:lnTo>
                    <a:pt x="55154" y="0"/>
                  </a:lnTo>
                  <a:lnTo>
                    <a:pt x="61520" y="0"/>
                  </a:lnTo>
                  <a:lnTo>
                    <a:pt x="68600" y="0"/>
                  </a:lnTo>
                  <a:lnTo>
                    <a:pt x="68600" y="4616"/>
                  </a:lnTo>
                  <a:lnTo>
                    <a:pt x="68600" y="8678"/>
                  </a:lnTo>
                  <a:close/>
                </a:path>
                <a:path w="109855" h="865505">
                  <a:moveTo>
                    <a:pt x="55154" y="794143"/>
                  </a:moveTo>
                  <a:lnTo>
                    <a:pt x="109623" y="754445"/>
                  </a:lnTo>
                  <a:lnTo>
                    <a:pt x="55154" y="865230"/>
                  </a:lnTo>
                  <a:lnTo>
                    <a:pt x="0" y="754445"/>
                  </a:lnTo>
                  <a:lnTo>
                    <a:pt x="55154" y="794143"/>
                  </a:lnTo>
                  <a:close/>
                </a:path>
              </a:pathLst>
            </a:custGeom>
            <a:ln w="5822">
              <a:solidFill>
                <a:srgbClr val="000000"/>
              </a:solidFill>
            </a:ln>
          </p:spPr>
          <p:txBody>
            <a:bodyPr wrap="square" lIns="0" tIns="0" rIns="0" bIns="0" rtlCol="0"/>
            <a:lstStyle/>
            <a:p/>
          </p:txBody>
        </p:sp>
        <p:sp>
          <p:nvSpPr>
            <p:cNvPr id="81" name="object 81" descr=""/>
            <p:cNvSpPr/>
            <p:nvPr/>
          </p:nvSpPr>
          <p:spPr>
            <a:xfrm>
              <a:off x="2362022" y="1520255"/>
              <a:ext cx="3188970" cy="2347595"/>
            </a:xfrm>
            <a:custGeom>
              <a:avLst/>
              <a:gdLst/>
              <a:ahLst/>
              <a:cxnLst/>
              <a:rect l="l" t="t" r="r" b="b"/>
              <a:pathLst>
                <a:path w="3188970" h="2347595">
                  <a:moveTo>
                    <a:pt x="0" y="0"/>
                  </a:moveTo>
                  <a:lnTo>
                    <a:pt x="1745209" y="0"/>
                  </a:lnTo>
                </a:path>
                <a:path w="3188970" h="2347595">
                  <a:moveTo>
                    <a:pt x="178195" y="2005945"/>
                  </a:moveTo>
                  <a:lnTo>
                    <a:pt x="178195" y="2347532"/>
                  </a:lnTo>
                </a:path>
                <a:path w="3188970" h="2347595">
                  <a:moveTo>
                    <a:pt x="178195" y="2347532"/>
                  </a:moveTo>
                  <a:lnTo>
                    <a:pt x="900167" y="2347532"/>
                  </a:lnTo>
                </a:path>
                <a:path w="3188970" h="2347595">
                  <a:moveTo>
                    <a:pt x="900167" y="2347532"/>
                  </a:moveTo>
                  <a:lnTo>
                    <a:pt x="900167" y="1717535"/>
                  </a:lnTo>
                </a:path>
                <a:path w="3188970" h="2347595">
                  <a:moveTo>
                    <a:pt x="2466354" y="1717535"/>
                  </a:moveTo>
                  <a:lnTo>
                    <a:pt x="3188612" y="1717535"/>
                  </a:lnTo>
                </a:path>
                <a:path w="3188970" h="2347595">
                  <a:moveTo>
                    <a:pt x="3188612" y="1717535"/>
                  </a:moveTo>
                  <a:lnTo>
                    <a:pt x="3188612" y="2063738"/>
                  </a:lnTo>
                </a:path>
              </a:pathLst>
            </a:custGeom>
            <a:ln w="16885">
              <a:solidFill>
                <a:srgbClr val="000000"/>
              </a:solidFill>
            </a:ln>
          </p:spPr>
          <p:txBody>
            <a:bodyPr wrap="square" lIns="0" tIns="0" rIns="0" bIns="0" rtlCol="0"/>
            <a:lstStyle/>
            <a:p/>
          </p:txBody>
        </p:sp>
        <p:sp>
          <p:nvSpPr>
            <p:cNvPr id="82" name="object 82" descr=""/>
            <p:cNvSpPr/>
            <p:nvPr/>
          </p:nvSpPr>
          <p:spPr>
            <a:xfrm>
              <a:off x="5135550" y="3546696"/>
              <a:ext cx="433070" cy="75565"/>
            </a:xfrm>
            <a:custGeom>
              <a:avLst/>
              <a:gdLst/>
              <a:ahLst/>
              <a:cxnLst/>
              <a:rect l="l" t="t" r="r" b="b"/>
              <a:pathLst>
                <a:path w="433070" h="75564">
                  <a:moveTo>
                    <a:pt x="171571" y="0"/>
                  </a:moveTo>
                  <a:lnTo>
                    <a:pt x="0" y="40067"/>
                  </a:lnTo>
                  <a:lnTo>
                    <a:pt x="171571" y="75518"/>
                  </a:lnTo>
                  <a:lnTo>
                    <a:pt x="124572" y="48745"/>
                  </a:lnTo>
                  <a:lnTo>
                    <a:pt x="103057" y="48745"/>
                  </a:lnTo>
                  <a:lnTo>
                    <a:pt x="103057" y="44129"/>
                  </a:lnTo>
                  <a:lnTo>
                    <a:pt x="95920" y="44129"/>
                  </a:lnTo>
                  <a:lnTo>
                    <a:pt x="95920" y="35451"/>
                  </a:lnTo>
                  <a:lnTo>
                    <a:pt x="103057" y="30835"/>
                  </a:lnTo>
                  <a:lnTo>
                    <a:pt x="123677" y="30835"/>
                  </a:lnTo>
                  <a:lnTo>
                    <a:pt x="171571" y="0"/>
                  </a:lnTo>
                  <a:close/>
                </a:path>
                <a:path w="433070" h="75564">
                  <a:moveTo>
                    <a:pt x="123677" y="30835"/>
                  </a:moveTo>
                  <a:lnTo>
                    <a:pt x="103057" y="30835"/>
                  </a:lnTo>
                  <a:lnTo>
                    <a:pt x="95920" y="35451"/>
                  </a:lnTo>
                  <a:lnTo>
                    <a:pt x="95920" y="44129"/>
                  </a:lnTo>
                  <a:lnTo>
                    <a:pt x="103057" y="44129"/>
                  </a:lnTo>
                  <a:lnTo>
                    <a:pt x="103057" y="48745"/>
                  </a:lnTo>
                  <a:lnTo>
                    <a:pt x="124572" y="48745"/>
                  </a:lnTo>
                  <a:lnTo>
                    <a:pt x="109337" y="40067"/>
                  </a:lnTo>
                  <a:lnTo>
                    <a:pt x="123677" y="30835"/>
                  </a:lnTo>
                  <a:close/>
                </a:path>
                <a:path w="433070" h="75564">
                  <a:moveTo>
                    <a:pt x="425646" y="30835"/>
                  </a:moveTo>
                  <a:lnTo>
                    <a:pt x="123677" y="30835"/>
                  </a:lnTo>
                  <a:lnTo>
                    <a:pt x="109337" y="40067"/>
                  </a:lnTo>
                  <a:lnTo>
                    <a:pt x="124572" y="48745"/>
                  </a:lnTo>
                  <a:lnTo>
                    <a:pt x="425646" y="48745"/>
                  </a:lnTo>
                  <a:lnTo>
                    <a:pt x="425646" y="44129"/>
                  </a:lnTo>
                  <a:lnTo>
                    <a:pt x="432498" y="44129"/>
                  </a:lnTo>
                  <a:lnTo>
                    <a:pt x="432498" y="35451"/>
                  </a:lnTo>
                  <a:lnTo>
                    <a:pt x="425646" y="30835"/>
                  </a:lnTo>
                  <a:close/>
                </a:path>
              </a:pathLst>
            </a:custGeom>
            <a:solidFill>
              <a:srgbClr val="000000"/>
            </a:solidFill>
          </p:spPr>
          <p:txBody>
            <a:bodyPr wrap="square" lIns="0" tIns="0" rIns="0" bIns="0" rtlCol="0"/>
            <a:lstStyle/>
            <a:p/>
          </p:txBody>
        </p:sp>
        <p:sp>
          <p:nvSpPr>
            <p:cNvPr id="83" name="object 83" descr=""/>
            <p:cNvSpPr/>
            <p:nvPr/>
          </p:nvSpPr>
          <p:spPr>
            <a:xfrm>
              <a:off x="5135550" y="3546696"/>
              <a:ext cx="433070" cy="75565"/>
            </a:xfrm>
            <a:custGeom>
              <a:avLst/>
              <a:gdLst/>
              <a:ahLst/>
              <a:cxnLst/>
              <a:rect l="l" t="t" r="r" b="b"/>
              <a:pathLst>
                <a:path w="433070" h="75564">
                  <a:moveTo>
                    <a:pt x="419080" y="48745"/>
                  </a:moveTo>
                  <a:lnTo>
                    <a:pt x="109337" y="48745"/>
                  </a:lnTo>
                  <a:lnTo>
                    <a:pt x="103057" y="48745"/>
                  </a:lnTo>
                  <a:lnTo>
                    <a:pt x="103057" y="44129"/>
                  </a:lnTo>
                  <a:lnTo>
                    <a:pt x="95920" y="44129"/>
                  </a:lnTo>
                  <a:lnTo>
                    <a:pt x="95920" y="40067"/>
                  </a:lnTo>
                  <a:lnTo>
                    <a:pt x="95920" y="35451"/>
                  </a:lnTo>
                  <a:lnTo>
                    <a:pt x="103057" y="30835"/>
                  </a:lnTo>
                  <a:lnTo>
                    <a:pt x="109337" y="30835"/>
                  </a:lnTo>
                  <a:lnTo>
                    <a:pt x="419080" y="30835"/>
                  </a:lnTo>
                  <a:lnTo>
                    <a:pt x="425646" y="30835"/>
                  </a:lnTo>
                  <a:lnTo>
                    <a:pt x="432498" y="35451"/>
                  </a:lnTo>
                  <a:lnTo>
                    <a:pt x="432498" y="40067"/>
                  </a:lnTo>
                  <a:lnTo>
                    <a:pt x="432498" y="44129"/>
                  </a:lnTo>
                  <a:lnTo>
                    <a:pt x="425646" y="44129"/>
                  </a:lnTo>
                  <a:lnTo>
                    <a:pt x="425646" y="48745"/>
                  </a:lnTo>
                  <a:lnTo>
                    <a:pt x="419080" y="48745"/>
                  </a:lnTo>
                  <a:close/>
                </a:path>
                <a:path w="433070" h="75564">
                  <a:moveTo>
                    <a:pt x="109337" y="40067"/>
                  </a:moveTo>
                  <a:lnTo>
                    <a:pt x="171571" y="75518"/>
                  </a:lnTo>
                  <a:lnTo>
                    <a:pt x="0" y="40067"/>
                  </a:lnTo>
                  <a:lnTo>
                    <a:pt x="171571" y="0"/>
                  </a:lnTo>
                  <a:lnTo>
                    <a:pt x="109337" y="40067"/>
                  </a:lnTo>
                  <a:close/>
                </a:path>
              </a:pathLst>
            </a:custGeom>
            <a:ln w="5822">
              <a:solidFill>
                <a:srgbClr val="000000"/>
              </a:solidFill>
            </a:ln>
          </p:spPr>
          <p:txBody>
            <a:bodyPr wrap="square" lIns="0" tIns="0" rIns="0" bIns="0" rtlCol="0"/>
            <a:lstStyle/>
            <a:p/>
          </p:txBody>
        </p:sp>
        <p:sp>
          <p:nvSpPr>
            <p:cNvPr id="84" name="object 84" descr=""/>
            <p:cNvSpPr/>
            <p:nvPr/>
          </p:nvSpPr>
          <p:spPr>
            <a:xfrm>
              <a:off x="2423542" y="3583993"/>
              <a:ext cx="1684020" cy="687705"/>
            </a:xfrm>
            <a:custGeom>
              <a:avLst/>
              <a:gdLst/>
              <a:ahLst/>
              <a:cxnLst/>
              <a:rect l="l" t="t" r="r" b="b"/>
              <a:pathLst>
                <a:path w="1684020" h="687704">
                  <a:moveTo>
                    <a:pt x="1202830" y="0"/>
                  </a:moveTo>
                  <a:lnTo>
                    <a:pt x="1683689" y="0"/>
                  </a:lnTo>
                </a:path>
                <a:path w="1684020" h="687704">
                  <a:moveTo>
                    <a:pt x="1202830" y="0"/>
                  </a:moveTo>
                  <a:lnTo>
                    <a:pt x="1202830" y="687420"/>
                  </a:lnTo>
                </a:path>
                <a:path w="1684020" h="687704">
                  <a:moveTo>
                    <a:pt x="1202830" y="687420"/>
                  </a:moveTo>
                  <a:lnTo>
                    <a:pt x="0" y="687420"/>
                  </a:lnTo>
                </a:path>
              </a:pathLst>
            </a:custGeom>
            <a:ln w="16885">
              <a:solidFill>
                <a:srgbClr val="000000"/>
              </a:solidFill>
            </a:ln>
          </p:spPr>
          <p:txBody>
            <a:bodyPr wrap="square" lIns="0" tIns="0" rIns="0" bIns="0" rtlCol="0"/>
            <a:lstStyle/>
            <a:p/>
          </p:txBody>
        </p:sp>
        <p:sp>
          <p:nvSpPr>
            <p:cNvPr id="85" name="object 85" descr=""/>
            <p:cNvSpPr/>
            <p:nvPr/>
          </p:nvSpPr>
          <p:spPr>
            <a:xfrm>
              <a:off x="2366247" y="4265505"/>
              <a:ext cx="116839" cy="754380"/>
            </a:xfrm>
            <a:custGeom>
              <a:avLst/>
              <a:gdLst/>
              <a:ahLst/>
              <a:cxnLst/>
              <a:rect l="l" t="t" r="r" b="b"/>
              <a:pathLst>
                <a:path w="116839" h="754379">
                  <a:moveTo>
                    <a:pt x="0" y="643180"/>
                  </a:moveTo>
                  <a:lnTo>
                    <a:pt x="61520" y="754334"/>
                  </a:lnTo>
                  <a:lnTo>
                    <a:pt x="94521" y="687826"/>
                  </a:lnTo>
                  <a:lnTo>
                    <a:pt x="54469" y="687826"/>
                  </a:lnTo>
                  <a:lnTo>
                    <a:pt x="48102" y="683266"/>
                  </a:lnTo>
                  <a:lnTo>
                    <a:pt x="48102" y="670971"/>
                  </a:lnTo>
                  <a:lnTo>
                    <a:pt x="0" y="643180"/>
                  </a:lnTo>
                  <a:close/>
                </a:path>
                <a:path w="116839" h="754379">
                  <a:moveTo>
                    <a:pt x="48102" y="670971"/>
                  </a:moveTo>
                  <a:lnTo>
                    <a:pt x="48102" y="683266"/>
                  </a:lnTo>
                  <a:lnTo>
                    <a:pt x="54469" y="687826"/>
                  </a:lnTo>
                  <a:lnTo>
                    <a:pt x="68600" y="687826"/>
                  </a:lnTo>
                  <a:lnTo>
                    <a:pt x="68600" y="683266"/>
                  </a:lnTo>
                  <a:lnTo>
                    <a:pt x="74966" y="683266"/>
                  </a:lnTo>
                  <a:lnTo>
                    <a:pt x="74966" y="678723"/>
                  </a:lnTo>
                  <a:lnTo>
                    <a:pt x="61520" y="678723"/>
                  </a:lnTo>
                  <a:lnTo>
                    <a:pt x="48102" y="670971"/>
                  </a:lnTo>
                  <a:close/>
                </a:path>
                <a:path w="116839" h="754379">
                  <a:moveTo>
                    <a:pt x="116674" y="643180"/>
                  </a:moveTo>
                  <a:lnTo>
                    <a:pt x="74966" y="670058"/>
                  </a:lnTo>
                  <a:lnTo>
                    <a:pt x="74966" y="683266"/>
                  </a:lnTo>
                  <a:lnTo>
                    <a:pt x="68600" y="683266"/>
                  </a:lnTo>
                  <a:lnTo>
                    <a:pt x="68600" y="687826"/>
                  </a:lnTo>
                  <a:lnTo>
                    <a:pt x="94521" y="687826"/>
                  </a:lnTo>
                  <a:lnTo>
                    <a:pt x="116674" y="643180"/>
                  </a:lnTo>
                  <a:close/>
                </a:path>
                <a:path w="116839" h="754379">
                  <a:moveTo>
                    <a:pt x="68600" y="0"/>
                  </a:moveTo>
                  <a:lnTo>
                    <a:pt x="48102" y="0"/>
                  </a:lnTo>
                  <a:lnTo>
                    <a:pt x="48102" y="670971"/>
                  </a:lnTo>
                  <a:lnTo>
                    <a:pt x="61520" y="678723"/>
                  </a:lnTo>
                  <a:lnTo>
                    <a:pt x="74966" y="670058"/>
                  </a:lnTo>
                  <a:lnTo>
                    <a:pt x="74966" y="4431"/>
                  </a:lnTo>
                  <a:lnTo>
                    <a:pt x="68600" y="0"/>
                  </a:lnTo>
                  <a:close/>
                </a:path>
                <a:path w="116839" h="754379">
                  <a:moveTo>
                    <a:pt x="74966" y="670058"/>
                  </a:moveTo>
                  <a:lnTo>
                    <a:pt x="61520" y="678723"/>
                  </a:lnTo>
                  <a:lnTo>
                    <a:pt x="74966" y="678723"/>
                  </a:lnTo>
                  <a:lnTo>
                    <a:pt x="74966" y="670058"/>
                  </a:lnTo>
                  <a:close/>
                </a:path>
              </a:pathLst>
            </a:custGeom>
            <a:solidFill>
              <a:srgbClr val="000000"/>
            </a:solidFill>
          </p:spPr>
          <p:txBody>
            <a:bodyPr wrap="square" lIns="0" tIns="0" rIns="0" bIns="0" rtlCol="0"/>
            <a:lstStyle/>
            <a:p/>
          </p:txBody>
        </p:sp>
        <p:sp>
          <p:nvSpPr>
            <p:cNvPr id="86" name="object 86" descr=""/>
            <p:cNvSpPr/>
            <p:nvPr/>
          </p:nvSpPr>
          <p:spPr>
            <a:xfrm>
              <a:off x="2366247" y="4265505"/>
              <a:ext cx="116839" cy="754380"/>
            </a:xfrm>
            <a:custGeom>
              <a:avLst/>
              <a:gdLst/>
              <a:ahLst/>
              <a:cxnLst/>
              <a:rect l="l" t="t" r="r" b="b"/>
              <a:pathLst>
                <a:path w="116839" h="754379">
                  <a:moveTo>
                    <a:pt x="74966" y="8678"/>
                  </a:moveTo>
                  <a:lnTo>
                    <a:pt x="74966" y="678723"/>
                  </a:lnTo>
                  <a:lnTo>
                    <a:pt x="74966" y="683266"/>
                  </a:lnTo>
                  <a:lnTo>
                    <a:pt x="68600" y="683266"/>
                  </a:lnTo>
                  <a:lnTo>
                    <a:pt x="68600" y="687826"/>
                  </a:lnTo>
                  <a:lnTo>
                    <a:pt x="61520" y="687826"/>
                  </a:lnTo>
                  <a:lnTo>
                    <a:pt x="54469" y="687826"/>
                  </a:lnTo>
                  <a:lnTo>
                    <a:pt x="48102" y="683266"/>
                  </a:lnTo>
                  <a:lnTo>
                    <a:pt x="48102" y="678723"/>
                  </a:lnTo>
                  <a:lnTo>
                    <a:pt x="48102" y="8678"/>
                  </a:lnTo>
                  <a:lnTo>
                    <a:pt x="48102" y="4431"/>
                  </a:lnTo>
                  <a:lnTo>
                    <a:pt x="48102" y="0"/>
                  </a:lnTo>
                  <a:lnTo>
                    <a:pt x="54469" y="0"/>
                  </a:lnTo>
                  <a:lnTo>
                    <a:pt x="61520" y="0"/>
                  </a:lnTo>
                  <a:lnTo>
                    <a:pt x="68600" y="0"/>
                  </a:lnTo>
                  <a:lnTo>
                    <a:pt x="74966" y="4431"/>
                  </a:lnTo>
                  <a:lnTo>
                    <a:pt x="74966" y="8678"/>
                  </a:lnTo>
                  <a:close/>
                </a:path>
                <a:path w="116839" h="754379">
                  <a:moveTo>
                    <a:pt x="61520" y="678723"/>
                  </a:moveTo>
                  <a:lnTo>
                    <a:pt x="116674" y="643180"/>
                  </a:lnTo>
                  <a:lnTo>
                    <a:pt x="61520" y="754334"/>
                  </a:lnTo>
                  <a:lnTo>
                    <a:pt x="0" y="643180"/>
                  </a:lnTo>
                  <a:lnTo>
                    <a:pt x="61520" y="678723"/>
                  </a:lnTo>
                  <a:close/>
                </a:path>
              </a:pathLst>
            </a:custGeom>
            <a:ln w="5822">
              <a:solidFill>
                <a:srgbClr val="000000"/>
              </a:solidFill>
            </a:ln>
          </p:spPr>
          <p:txBody>
            <a:bodyPr wrap="square" lIns="0" tIns="0" rIns="0" bIns="0" rtlCol="0"/>
            <a:lstStyle/>
            <a:p/>
          </p:txBody>
        </p:sp>
        <p:sp>
          <p:nvSpPr>
            <p:cNvPr id="87" name="object 87" descr=""/>
            <p:cNvSpPr/>
            <p:nvPr/>
          </p:nvSpPr>
          <p:spPr>
            <a:xfrm>
              <a:off x="2663972" y="4613001"/>
              <a:ext cx="1443355" cy="0"/>
            </a:xfrm>
            <a:custGeom>
              <a:avLst/>
              <a:gdLst/>
              <a:ahLst/>
              <a:cxnLst/>
              <a:rect l="l" t="t" r="r" b="b"/>
              <a:pathLst>
                <a:path w="1443354" h="0">
                  <a:moveTo>
                    <a:pt x="1443260" y="0"/>
                  </a:moveTo>
                  <a:lnTo>
                    <a:pt x="0" y="0"/>
                  </a:lnTo>
                </a:path>
              </a:pathLst>
            </a:custGeom>
            <a:ln w="13263">
              <a:solidFill>
                <a:srgbClr val="000000"/>
              </a:solidFill>
            </a:ln>
          </p:spPr>
          <p:txBody>
            <a:bodyPr wrap="square" lIns="0" tIns="0" rIns="0" bIns="0" rtlCol="0"/>
            <a:lstStyle/>
            <a:p/>
          </p:txBody>
        </p:sp>
        <p:sp>
          <p:nvSpPr>
            <p:cNvPr id="88" name="object 88" descr=""/>
            <p:cNvSpPr/>
            <p:nvPr/>
          </p:nvSpPr>
          <p:spPr>
            <a:xfrm>
              <a:off x="2606676" y="4607092"/>
              <a:ext cx="116839" cy="412750"/>
            </a:xfrm>
            <a:custGeom>
              <a:avLst/>
              <a:gdLst/>
              <a:ahLst/>
              <a:cxnLst/>
              <a:rect l="l" t="t" r="r" b="b"/>
              <a:pathLst>
                <a:path w="116839" h="412750">
                  <a:moveTo>
                    <a:pt x="0" y="301593"/>
                  </a:moveTo>
                  <a:lnTo>
                    <a:pt x="61520" y="412747"/>
                  </a:lnTo>
                  <a:lnTo>
                    <a:pt x="94521" y="346239"/>
                  </a:lnTo>
                  <a:lnTo>
                    <a:pt x="54469" y="346239"/>
                  </a:lnTo>
                  <a:lnTo>
                    <a:pt x="48102" y="341679"/>
                  </a:lnTo>
                  <a:lnTo>
                    <a:pt x="48102" y="329385"/>
                  </a:lnTo>
                  <a:lnTo>
                    <a:pt x="0" y="301593"/>
                  </a:lnTo>
                  <a:close/>
                </a:path>
                <a:path w="116839" h="412750">
                  <a:moveTo>
                    <a:pt x="48102" y="329385"/>
                  </a:moveTo>
                  <a:lnTo>
                    <a:pt x="48102" y="341679"/>
                  </a:lnTo>
                  <a:lnTo>
                    <a:pt x="54469" y="346239"/>
                  </a:lnTo>
                  <a:lnTo>
                    <a:pt x="68600" y="346239"/>
                  </a:lnTo>
                  <a:lnTo>
                    <a:pt x="68600" y="341679"/>
                  </a:lnTo>
                  <a:lnTo>
                    <a:pt x="75680" y="341679"/>
                  </a:lnTo>
                  <a:lnTo>
                    <a:pt x="75680" y="337137"/>
                  </a:lnTo>
                  <a:lnTo>
                    <a:pt x="61520" y="337137"/>
                  </a:lnTo>
                  <a:lnTo>
                    <a:pt x="48102" y="329385"/>
                  </a:lnTo>
                  <a:close/>
                </a:path>
                <a:path w="116839" h="412750">
                  <a:moveTo>
                    <a:pt x="116674" y="301593"/>
                  </a:moveTo>
                  <a:lnTo>
                    <a:pt x="75680" y="328011"/>
                  </a:lnTo>
                  <a:lnTo>
                    <a:pt x="75680" y="341679"/>
                  </a:lnTo>
                  <a:lnTo>
                    <a:pt x="68600" y="341679"/>
                  </a:lnTo>
                  <a:lnTo>
                    <a:pt x="68600" y="346239"/>
                  </a:lnTo>
                  <a:lnTo>
                    <a:pt x="94521" y="346239"/>
                  </a:lnTo>
                  <a:lnTo>
                    <a:pt x="116674" y="301593"/>
                  </a:lnTo>
                  <a:close/>
                </a:path>
                <a:path w="116839" h="412750">
                  <a:moveTo>
                    <a:pt x="68600" y="0"/>
                  </a:moveTo>
                  <a:lnTo>
                    <a:pt x="54469" y="0"/>
                  </a:lnTo>
                  <a:lnTo>
                    <a:pt x="48102" y="4616"/>
                  </a:lnTo>
                  <a:lnTo>
                    <a:pt x="48102" y="329385"/>
                  </a:lnTo>
                  <a:lnTo>
                    <a:pt x="61520" y="337137"/>
                  </a:lnTo>
                  <a:lnTo>
                    <a:pt x="75680" y="328011"/>
                  </a:lnTo>
                  <a:lnTo>
                    <a:pt x="75680" y="4616"/>
                  </a:lnTo>
                  <a:lnTo>
                    <a:pt x="68600" y="4616"/>
                  </a:lnTo>
                  <a:lnTo>
                    <a:pt x="68600" y="0"/>
                  </a:lnTo>
                  <a:close/>
                </a:path>
                <a:path w="116839" h="412750">
                  <a:moveTo>
                    <a:pt x="75680" y="328011"/>
                  </a:moveTo>
                  <a:lnTo>
                    <a:pt x="61520" y="337137"/>
                  </a:lnTo>
                  <a:lnTo>
                    <a:pt x="75680" y="337137"/>
                  </a:lnTo>
                  <a:lnTo>
                    <a:pt x="75680" y="328011"/>
                  </a:lnTo>
                  <a:close/>
                </a:path>
              </a:pathLst>
            </a:custGeom>
            <a:solidFill>
              <a:srgbClr val="000000"/>
            </a:solidFill>
          </p:spPr>
          <p:txBody>
            <a:bodyPr wrap="square" lIns="0" tIns="0" rIns="0" bIns="0" rtlCol="0"/>
            <a:lstStyle/>
            <a:p/>
          </p:txBody>
        </p:sp>
        <p:sp>
          <p:nvSpPr>
            <p:cNvPr id="89" name="object 89" descr=""/>
            <p:cNvSpPr/>
            <p:nvPr/>
          </p:nvSpPr>
          <p:spPr>
            <a:xfrm>
              <a:off x="2606676" y="4607092"/>
              <a:ext cx="116839" cy="412750"/>
            </a:xfrm>
            <a:custGeom>
              <a:avLst/>
              <a:gdLst/>
              <a:ahLst/>
              <a:cxnLst/>
              <a:rect l="l" t="t" r="r" b="b"/>
              <a:pathLst>
                <a:path w="116839" h="412750">
                  <a:moveTo>
                    <a:pt x="75680" y="8678"/>
                  </a:moveTo>
                  <a:lnTo>
                    <a:pt x="75680" y="337137"/>
                  </a:lnTo>
                  <a:lnTo>
                    <a:pt x="75680" y="341679"/>
                  </a:lnTo>
                  <a:lnTo>
                    <a:pt x="68600" y="341679"/>
                  </a:lnTo>
                  <a:lnTo>
                    <a:pt x="68600" y="346239"/>
                  </a:lnTo>
                  <a:lnTo>
                    <a:pt x="61520" y="346239"/>
                  </a:lnTo>
                  <a:lnTo>
                    <a:pt x="54469" y="346239"/>
                  </a:lnTo>
                  <a:lnTo>
                    <a:pt x="48102" y="341679"/>
                  </a:lnTo>
                  <a:lnTo>
                    <a:pt x="48102" y="337137"/>
                  </a:lnTo>
                  <a:lnTo>
                    <a:pt x="48102" y="8678"/>
                  </a:lnTo>
                  <a:lnTo>
                    <a:pt x="48102" y="4616"/>
                  </a:lnTo>
                  <a:lnTo>
                    <a:pt x="54469" y="0"/>
                  </a:lnTo>
                  <a:lnTo>
                    <a:pt x="61520" y="0"/>
                  </a:lnTo>
                  <a:lnTo>
                    <a:pt x="68600" y="0"/>
                  </a:lnTo>
                  <a:lnTo>
                    <a:pt x="68600" y="4616"/>
                  </a:lnTo>
                  <a:lnTo>
                    <a:pt x="75680" y="4616"/>
                  </a:lnTo>
                  <a:lnTo>
                    <a:pt x="75680" y="8678"/>
                  </a:lnTo>
                  <a:close/>
                </a:path>
                <a:path w="116839" h="412750">
                  <a:moveTo>
                    <a:pt x="61520" y="337137"/>
                  </a:moveTo>
                  <a:lnTo>
                    <a:pt x="116674" y="301593"/>
                  </a:lnTo>
                  <a:lnTo>
                    <a:pt x="61520" y="412747"/>
                  </a:lnTo>
                  <a:lnTo>
                    <a:pt x="0" y="301593"/>
                  </a:lnTo>
                  <a:lnTo>
                    <a:pt x="61520" y="337137"/>
                  </a:lnTo>
                  <a:close/>
                </a:path>
              </a:pathLst>
            </a:custGeom>
            <a:ln w="5822">
              <a:solidFill>
                <a:srgbClr val="000000"/>
              </a:solidFill>
            </a:ln>
          </p:spPr>
          <p:txBody>
            <a:bodyPr wrap="square" lIns="0" tIns="0" rIns="0" bIns="0" rtlCol="0"/>
            <a:lstStyle/>
            <a:p/>
          </p:txBody>
        </p:sp>
        <p:sp>
          <p:nvSpPr>
            <p:cNvPr id="90" name="object 90" descr=""/>
            <p:cNvSpPr/>
            <p:nvPr/>
          </p:nvSpPr>
          <p:spPr>
            <a:xfrm>
              <a:off x="2540217" y="5647141"/>
              <a:ext cx="3429635" cy="803275"/>
            </a:xfrm>
            <a:custGeom>
              <a:avLst/>
              <a:gdLst/>
              <a:ahLst/>
              <a:cxnLst/>
              <a:rect l="l" t="t" r="r" b="b"/>
              <a:pathLst>
                <a:path w="3429635" h="803275">
                  <a:moveTo>
                    <a:pt x="0" y="514762"/>
                  </a:moveTo>
                  <a:lnTo>
                    <a:pt x="0" y="803118"/>
                  </a:lnTo>
                </a:path>
                <a:path w="3429635" h="803275">
                  <a:moveTo>
                    <a:pt x="0" y="803118"/>
                  </a:moveTo>
                  <a:lnTo>
                    <a:pt x="3429498" y="803118"/>
                  </a:lnTo>
                </a:path>
                <a:path w="3429635" h="803275">
                  <a:moveTo>
                    <a:pt x="3429498" y="0"/>
                  </a:moveTo>
                  <a:lnTo>
                    <a:pt x="3429498" y="803118"/>
                  </a:lnTo>
                </a:path>
              </a:pathLst>
            </a:custGeom>
            <a:ln w="16885">
              <a:solidFill>
                <a:srgbClr val="000000"/>
              </a:solidFill>
            </a:ln>
          </p:spPr>
          <p:txBody>
            <a:bodyPr wrap="square" lIns="0" tIns="0" rIns="0" bIns="0" rtlCol="0"/>
            <a:lstStyle/>
            <a:p/>
          </p:txBody>
        </p:sp>
        <p:sp>
          <p:nvSpPr>
            <p:cNvPr id="91" name="object 91" descr=""/>
            <p:cNvSpPr/>
            <p:nvPr/>
          </p:nvSpPr>
          <p:spPr>
            <a:xfrm>
              <a:off x="5135550" y="5609770"/>
              <a:ext cx="852169" cy="76200"/>
            </a:xfrm>
            <a:custGeom>
              <a:avLst/>
              <a:gdLst/>
              <a:ahLst/>
              <a:cxnLst/>
              <a:rect l="l" t="t" r="r" b="b"/>
              <a:pathLst>
                <a:path w="852170" h="76200">
                  <a:moveTo>
                    <a:pt x="171571" y="0"/>
                  </a:moveTo>
                  <a:lnTo>
                    <a:pt x="0" y="40104"/>
                  </a:lnTo>
                  <a:lnTo>
                    <a:pt x="171571" y="75629"/>
                  </a:lnTo>
                  <a:lnTo>
                    <a:pt x="124475" y="48745"/>
                  </a:lnTo>
                  <a:lnTo>
                    <a:pt x="103057" y="48745"/>
                  </a:lnTo>
                  <a:lnTo>
                    <a:pt x="103057" y="44646"/>
                  </a:lnTo>
                  <a:lnTo>
                    <a:pt x="95920" y="44646"/>
                  </a:lnTo>
                  <a:lnTo>
                    <a:pt x="95920" y="35543"/>
                  </a:lnTo>
                  <a:lnTo>
                    <a:pt x="103057" y="30982"/>
                  </a:lnTo>
                  <a:lnTo>
                    <a:pt x="123492" y="30982"/>
                  </a:lnTo>
                  <a:lnTo>
                    <a:pt x="171571" y="0"/>
                  </a:lnTo>
                  <a:close/>
                </a:path>
                <a:path w="852170" h="76200">
                  <a:moveTo>
                    <a:pt x="123492" y="30982"/>
                  </a:moveTo>
                  <a:lnTo>
                    <a:pt x="103057" y="30982"/>
                  </a:lnTo>
                  <a:lnTo>
                    <a:pt x="95920" y="35543"/>
                  </a:lnTo>
                  <a:lnTo>
                    <a:pt x="95920" y="44646"/>
                  </a:lnTo>
                  <a:lnTo>
                    <a:pt x="103057" y="44646"/>
                  </a:lnTo>
                  <a:lnTo>
                    <a:pt x="103057" y="48745"/>
                  </a:lnTo>
                  <a:lnTo>
                    <a:pt x="124475" y="48745"/>
                  </a:lnTo>
                  <a:lnTo>
                    <a:pt x="109337" y="40104"/>
                  </a:lnTo>
                  <a:lnTo>
                    <a:pt x="123492" y="30982"/>
                  </a:lnTo>
                  <a:close/>
                </a:path>
                <a:path w="852170" h="76200">
                  <a:moveTo>
                    <a:pt x="851864" y="30982"/>
                  </a:moveTo>
                  <a:lnTo>
                    <a:pt x="123492" y="30982"/>
                  </a:lnTo>
                  <a:lnTo>
                    <a:pt x="109337" y="40104"/>
                  </a:lnTo>
                  <a:lnTo>
                    <a:pt x="124475" y="48745"/>
                  </a:lnTo>
                  <a:lnTo>
                    <a:pt x="845013" y="48745"/>
                  </a:lnTo>
                  <a:lnTo>
                    <a:pt x="851864" y="44646"/>
                  </a:lnTo>
                  <a:lnTo>
                    <a:pt x="851864" y="30982"/>
                  </a:lnTo>
                  <a:close/>
                </a:path>
              </a:pathLst>
            </a:custGeom>
            <a:solidFill>
              <a:srgbClr val="000000"/>
            </a:solidFill>
          </p:spPr>
          <p:txBody>
            <a:bodyPr wrap="square" lIns="0" tIns="0" rIns="0" bIns="0" rtlCol="0"/>
            <a:lstStyle/>
            <a:p/>
          </p:txBody>
        </p:sp>
        <p:sp>
          <p:nvSpPr>
            <p:cNvPr id="92" name="object 92" descr=""/>
            <p:cNvSpPr/>
            <p:nvPr/>
          </p:nvSpPr>
          <p:spPr>
            <a:xfrm>
              <a:off x="5135550" y="5609770"/>
              <a:ext cx="852169" cy="76200"/>
            </a:xfrm>
            <a:custGeom>
              <a:avLst/>
              <a:gdLst/>
              <a:ahLst/>
              <a:cxnLst/>
              <a:rect l="l" t="t" r="r" b="b"/>
              <a:pathLst>
                <a:path w="852170" h="76200">
                  <a:moveTo>
                    <a:pt x="838447" y="48745"/>
                  </a:moveTo>
                  <a:lnTo>
                    <a:pt x="109337" y="48745"/>
                  </a:lnTo>
                  <a:lnTo>
                    <a:pt x="103057" y="48745"/>
                  </a:lnTo>
                  <a:lnTo>
                    <a:pt x="103057" y="44646"/>
                  </a:lnTo>
                  <a:lnTo>
                    <a:pt x="95920" y="44646"/>
                  </a:lnTo>
                  <a:lnTo>
                    <a:pt x="95920" y="40104"/>
                  </a:lnTo>
                  <a:lnTo>
                    <a:pt x="95920" y="35543"/>
                  </a:lnTo>
                  <a:lnTo>
                    <a:pt x="103057" y="30982"/>
                  </a:lnTo>
                  <a:lnTo>
                    <a:pt x="109337" y="30982"/>
                  </a:lnTo>
                  <a:lnTo>
                    <a:pt x="838447" y="30982"/>
                  </a:lnTo>
                  <a:lnTo>
                    <a:pt x="845013" y="30982"/>
                  </a:lnTo>
                  <a:lnTo>
                    <a:pt x="851864" y="30982"/>
                  </a:lnTo>
                  <a:lnTo>
                    <a:pt x="851864" y="35543"/>
                  </a:lnTo>
                  <a:lnTo>
                    <a:pt x="851864" y="40104"/>
                  </a:lnTo>
                  <a:lnTo>
                    <a:pt x="851864" y="44646"/>
                  </a:lnTo>
                  <a:lnTo>
                    <a:pt x="845013" y="48745"/>
                  </a:lnTo>
                  <a:lnTo>
                    <a:pt x="838447" y="48745"/>
                  </a:lnTo>
                  <a:close/>
                </a:path>
                <a:path w="852170" h="76200">
                  <a:moveTo>
                    <a:pt x="109337" y="40104"/>
                  </a:moveTo>
                  <a:lnTo>
                    <a:pt x="171571" y="75629"/>
                  </a:lnTo>
                  <a:lnTo>
                    <a:pt x="0" y="40104"/>
                  </a:lnTo>
                  <a:lnTo>
                    <a:pt x="171571" y="0"/>
                  </a:lnTo>
                  <a:lnTo>
                    <a:pt x="109337" y="40104"/>
                  </a:lnTo>
                  <a:close/>
                </a:path>
              </a:pathLst>
            </a:custGeom>
            <a:ln w="5822">
              <a:solidFill>
                <a:srgbClr val="000000"/>
              </a:solidFill>
            </a:ln>
          </p:spPr>
          <p:txBody>
            <a:bodyPr wrap="square" lIns="0" tIns="0" rIns="0" bIns="0" rtlCol="0"/>
            <a:lstStyle/>
            <a:p/>
          </p:txBody>
        </p:sp>
      </p:grpSp>
      <p:sp>
        <p:nvSpPr>
          <p:cNvPr id="93" name="object 93" descr=""/>
          <p:cNvSpPr txBox="1"/>
          <p:nvPr/>
        </p:nvSpPr>
        <p:spPr>
          <a:xfrm>
            <a:off x="4435249" y="605623"/>
            <a:ext cx="287655" cy="393700"/>
          </a:xfrm>
          <a:prstGeom prst="rect">
            <a:avLst/>
          </a:prstGeom>
        </p:spPr>
        <p:txBody>
          <a:bodyPr wrap="square" lIns="0" tIns="49530" rIns="0" bIns="0" rtlCol="0" vert="horz">
            <a:spAutoFit/>
          </a:bodyPr>
          <a:lstStyle/>
          <a:p>
            <a:pPr marL="12700" marR="5080">
              <a:lnSpc>
                <a:spcPts val="1300"/>
              </a:lnSpc>
              <a:spcBef>
                <a:spcPts val="390"/>
              </a:spcBef>
            </a:pPr>
            <a:r>
              <a:rPr dirty="0" sz="1300" spc="700" b="1">
                <a:latin typeface="宋体"/>
                <a:cs typeface="宋体"/>
              </a:rPr>
              <a:t>储器</a:t>
            </a:r>
            <a:endParaRPr sz="1300">
              <a:latin typeface="宋体"/>
              <a:cs typeface="宋体"/>
            </a:endParaRPr>
          </a:p>
        </p:txBody>
      </p:sp>
      <p:sp>
        <p:nvSpPr>
          <p:cNvPr id="94" name="object 94"/>
          <p:cNvSpPr txBox="1">
            <a:spLocks noGrp="1"/>
          </p:cNvSpPr>
          <p:nvPr>
            <p:ph type="title"/>
          </p:nvPr>
        </p:nvSpPr>
        <p:spPr>
          <a:xfrm>
            <a:off x="1002791" y="145745"/>
            <a:ext cx="3745229" cy="514350"/>
          </a:xfrm>
          <a:prstGeom prst="rect"/>
        </p:spPr>
        <p:txBody>
          <a:bodyPr wrap="square" lIns="0" tIns="13335" rIns="0" bIns="0" rtlCol="0" vert="horz">
            <a:spAutoFit/>
          </a:bodyPr>
          <a:lstStyle/>
          <a:p>
            <a:pPr marL="38100">
              <a:lnSpc>
                <a:spcPct val="100000"/>
              </a:lnSpc>
              <a:spcBef>
                <a:spcPts val="105"/>
              </a:spcBef>
            </a:pPr>
            <a:r>
              <a:rPr dirty="0" spc="-15"/>
              <a:t>链接执行时间？？</a:t>
            </a:r>
            <a:r>
              <a:rPr dirty="0" spc="-1995"/>
              <a:t>？</a:t>
            </a:r>
            <a:r>
              <a:rPr dirty="0" baseline="-19230" sz="1950" spc="1050" b="1">
                <a:solidFill>
                  <a:srgbClr val="000000"/>
                </a:solidFill>
                <a:latin typeface="宋体"/>
                <a:cs typeface="宋体"/>
              </a:rPr>
              <a:t>存</a:t>
            </a:r>
            <a:endParaRPr baseline="-19230" sz="1950">
              <a:latin typeface="宋体"/>
              <a:cs typeface="宋体"/>
            </a:endParaRPr>
          </a:p>
        </p:txBody>
      </p:sp>
      <p:sp>
        <p:nvSpPr>
          <p:cNvPr id="95" name="object 95" descr=""/>
          <p:cNvSpPr txBox="1"/>
          <p:nvPr/>
        </p:nvSpPr>
        <p:spPr>
          <a:xfrm>
            <a:off x="1789849" y="5220161"/>
            <a:ext cx="287655" cy="558165"/>
          </a:xfrm>
          <a:prstGeom prst="rect">
            <a:avLst/>
          </a:prstGeom>
        </p:spPr>
        <p:txBody>
          <a:bodyPr wrap="square" lIns="0" tIns="49530" rIns="0" bIns="0" rtlCol="0" vert="horz">
            <a:spAutoFit/>
          </a:bodyPr>
          <a:lstStyle/>
          <a:p>
            <a:pPr algn="just" marL="12700" marR="5080">
              <a:lnSpc>
                <a:spcPts val="1300"/>
              </a:lnSpc>
              <a:spcBef>
                <a:spcPts val="390"/>
              </a:spcBef>
            </a:pPr>
            <a:r>
              <a:rPr dirty="0" sz="1300" spc="700" b="1">
                <a:solidFill>
                  <a:srgbClr val="0000FF"/>
                </a:solidFill>
                <a:latin typeface="宋体"/>
                <a:cs typeface="宋体"/>
              </a:rPr>
              <a:t>浮点乘</a:t>
            </a:r>
            <a:endParaRPr sz="1300">
              <a:latin typeface="宋体"/>
              <a:cs typeface="宋体"/>
            </a:endParaRPr>
          </a:p>
        </p:txBody>
      </p:sp>
      <p:sp>
        <p:nvSpPr>
          <p:cNvPr id="96" name="object 96" descr=""/>
          <p:cNvSpPr txBox="1"/>
          <p:nvPr/>
        </p:nvSpPr>
        <p:spPr>
          <a:xfrm>
            <a:off x="7703439" y="2563241"/>
            <a:ext cx="280035" cy="1336675"/>
          </a:xfrm>
          <a:prstGeom prst="rect">
            <a:avLst/>
          </a:prstGeom>
        </p:spPr>
        <p:txBody>
          <a:bodyPr wrap="square" lIns="0" tIns="66040" rIns="0" bIns="0" rtlCol="0" vert="horz">
            <a:spAutoFit/>
          </a:bodyPr>
          <a:lstStyle/>
          <a:p>
            <a:pPr algn="just" marL="12700" marR="5080">
              <a:lnSpc>
                <a:spcPts val="1980"/>
              </a:lnSpc>
              <a:spcBef>
                <a:spcPts val="520"/>
              </a:spcBef>
            </a:pPr>
            <a:r>
              <a:rPr dirty="0" sz="2000" spc="-50" b="1">
                <a:solidFill>
                  <a:srgbClr val="40458B"/>
                </a:solidFill>
                <a:latin typeface="宋体"/>
                <a:cs typeface="宋体"/>
              </a:rPr>
              <a:t>链接示意图</a:t>
            </a:r>
            <a:endParaRPr sz="2000">
              <a:latin typeface="宋体"/>
              <a:cs typeface="宋体"/>
            </a:endParaRPr>
          </a:p>
        </p:txBody>
      </p:sp>
      <p:sp>
        <p:nvSpPr>
          <p:cNvPr id="97" name="object 97" descr=""/>
          <p:cNvSpPr txBox="1"/>
          <p:nvPr/>
        </p:nvSpPr>
        <p:spPr>
          <a:xfrm>
            <a:off x="4435602" y="1270253"/>
            <a:ext cx="205104"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98" name="object 98" descr=""/>
          <p:cNvSpPr txBox="1"/>
          <p:nvPr/>
        </p:nvSpPr>
        <p:spPr>
          <a:xfrm>
            <a:off x="4446778" y="2298649"/>
            <a:ext cx="20891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C</a:t>
            </a:r>
            <a:endParaRPr sz="2400">
              <a:latin typeface="Tahoma"/>
              <a:cs typeface="Tahoma"/>
            </a:endParaRPr>
          </a:p>
        </p:txBody>
      </p:sp>
      <p:sp>
        <p:nvSpPr>
          <p:cNvPr id="99" name="object 99" descr=""/>
          <p:cNvSpPr txBox="1"/>
          <p:nvPr/>
        </p:nvSpPr>
        <p:spPr>
          <a:xfrm>
            <a:off x="6307582" y="2885059"/>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1</a:t>
            </a:r>
            <a:endParaRPr sz="2400">
              <a:latin typeface="Tahoma"/>
              <a:cs typeface="Tahoma"/>
            </a:endParaRPr>
          </a:p>
        </p:txBody>
      </p:sp>
      <p:sp>
        <p:nvSpPr>
          <p:cNvPr id="100" name="object 100" descr=""/>
          <p:cNvSpPr txBox="1"/>
          <p:nvPr/>
        </p:nvSpPr>
        <p:spPr>
          <a:xfrm>
            <a:off x="2824098" y="1170178"/>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2</a:t>
            </a:r>
            <a:endParaRPr sz="2400">
              <a:latin typeface="Tahoma"/>
              <a:cs typeface="Tahoma"/>
            </a:endParaRPr>
          </a:p>
        </p:txBody>
      </p:sp>
      <p:sp>
        <p:nvSpPr>
          <p:cNvPr id="101" name="object 101" descr=""/>
          <p:cNvSpPr txBox="1"/>
          <p:nvPr/>
        </p:nvSpPr>
        <p:spPr>
          <a:xfrm>
            <a:off x="3498850" y="3221482"/>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3</a:t>
            </a:r>
            <a:endParaRPr sz="2400">
              <a:latin typeface="Tahoma"/>
              <a:cs typeface="Tahoma"/>
            </a:endParaRPr>
          </a:p>
        </p:txBody>
      </p:sp>
      <p:sp>
        <p:nvSpPr>
          <p:cNvPr id="102" name="object 102" descr=""/>
          <p:cNvSpPr txBox="1"/>
          <p:nvPr/>
        </p:nvSpPr>
        <p:spPr>
          <a:xfrm>
            <a:off x="2795397" y="4253306"/>
            <a:ext cx="19240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4</a:t>
            </a:r>
            <a:endParaRPr sz="2400">
              <a:latin typeface="Tahoma"/>
              <a:cs typeface="Tahoma"/>
            </a:endParaRPr>
          </a:p>
        </p:txBody>
      </p:sp>
      <p:sp>
        <p:nvSpPr>
          <p:cNvPr id="103" name="object 103" descr=""/>
          <p:cNvSpPr txBox="1"/>
          <p:nvPr/>
        </p:nvSpPr>
        <p:spPr>
          <a:xfrm>
            <a:off x="5588253" y="5261559"/>
            <a:ext cx="19240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5</a:t>
            </a:r>
            <a:endParaRPr sz="2400">
              <a:latin typeface="Tahoma"/>
              <a:cs typeface="Tahoma"/>
            </a:endParaRPr>
          </a:p>
        </p:txBody>
      </p:sp>
      <p:sp>
        <p:nvSpPr>
          <p:cNvPr id="104" name="object 104" descr=""/>
          <p:cNvSpPr txBox="1"/>
          <p:nvPr/>
        </p:nvSpPr>
        <p:spPr>
          <a:xfrm>
            <a:off x="4116020" y="3705841"/>
            <a:ext cx="1006475" cy="271145"/>
          </a:xfrm>
          <a:prstGeom prst="rect">
            <a:avLst/>
          </a:prstGeom>
          <a:solidFill>
            <a:srgbClr val="CCFFCC"/>
          </a:solidFill>
        </p:spPr>
        <p:txBody>
          <a:bodyPr wrap="square" lIns="0" tIns="0" rIns="0" bIns="0" rtlCol="0" vert="horz">
            <a:spAutoFit/>
          </a:bodyPr>
          <a:lstStyle/>
          <a:p>
            <a:pPr marL="201930">
              <a:lnSpc>
                <a:spcPts val="1739"/>
              </a:lnSpc>
            </a:pPr>
            <a:r>
              <a:rPr dirty="0" sz="2400" spc="-425">
                <a:solidFill>
                  <a:srgbClr val="FF0000"/>
                </a:solidFill>
                <a:latin typeface="Tahoma"/>
                <a:cs typeface="Tahoma"/>
              </a:rPr>
              <a:t>B</a:t>
            </a:r>
            <a:r>
              <a:rPr dirty="0" baseline="-12544" sz="2325" spc="-1882">
                <a:latin typeface="宋体"/>
                <a:cs typeface="宋体"/>
              </a:rPr>
              <a:t>…</a:t>
            </a:r>
            <a:r>
              <a:rPr dirty="0" sz="2400" spc="5">
                <a:solidFill>
                  <a:srgbClr val="FF0000"/>
                </a:solidFill>
                <a:latin typeface="Tahoma"/>
                <a:cs typeface="Tahoma"/>
              </a:rPr>
              <a:t>+c</a:t>
            </a:r>
            <a:endParaRPr sz="2400">
              <a:latin typeface="Tahoma"/>
              <a:cs typeface="Tahoma"/>
            </a:endParaRPr>
          </a:p>
        </p:txBody>
      </p:sp>
      <p:sp>
        <p:nvSpPr>
          <p:cNvPr id="105" name="object 105" descr=""/>
          <p:cNvSpPr txBox="1"/>
          <p:nvPr/>
        </p:nvSpPr>
        <p:spPr>
          <a:xfrm>
            <a:off x="2952750" y="1976754"/>
            <a:ext cx="19240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2</a:t>
            </a:r>
            <a:endParaRPr sz="2400">
              <a:latin typeface="Tahoma"/>
              <a:cs typeface="Tahoma"/>
            </a:endParaRPr>
          </a:p>
        </p:txBody>
      </p:sp>
      <p:sp>
        <p:nvSpPr>
          <p:cNvPr id="106" name="object 106" descr=""/>
          <p:cNvSpPr txBox="1"/>
          <p:nvPr/>
        </p:nvSpPr>
        <p:spPr>
          <a:xfrm>
            <a:off x="4116010" y="4735384"/>
            <a:ext cx="1006475" cy="275590"/>
          </a:xfrm>
          <a:prstGeom prst="rect">
            <a:avLst/>
          </a:prstGeom>
          <a:solidFill>
            <a:srgbClr val="CCFFCC"/>
          </a:solidFill>
        </p:spPr>
        <p:txBody>
          <a:bodyPr wrap="square" lIns="0" tIns="0" rIns="0" bIns="0" rtlCol="0" vert="horz">
            <a:spAutoFit/>
          </a:bodyPr>
          <a:lstStyle/>
          <a:p>
            <a:pPr marL="325755">
              <a:lnSpc>
                <a:spcPts val="1739"/>
              </a:lnSpc>
            </a:pPr>
            <a:r>
              <a:rPr dirty="0" baseline="-12544" sz="2325" spc="-2092">
                <a:latin typeface="宋体"/>
                <a:cs typeface="宋体"/>
              </a:rPr>
              <a:t>…</a:t>
            </a:r>
            <a:r>
              <a:rPr dirty="0" sz="2400" spc="15">
                <a:solidFill>
                  <a:srgbClr val="FF0000"/>
                </a:solidFill>
                <a:latin typeface="Tahoma"/>
                <a:cs typeface="Tahoma"/>
              </a:rPr>
              <a:t>A</a:t>
            </a:r>
            <a:endParaRPr sz="2400">
              <a:latin typeface="Tahoma"/>
              <a:cs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187553" y="976629"/>
            <a:ext cx="8776335" cy="5074285"/>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a:solidFill>
                  <a:srgbClr val="40458B"/>
                </a:solidFill>
                <a:latin typeface="黑体"/>
                <a:cs typeface="黑体"/>
              </a:rPr>
              <a:t>总结：进行向量链接的</a:t>
            </a:r>
            <a:r>
              <a:rPr dirty="0" sz="2400" spc="-25">
                <a:solidFill>
                  <a:srgbClr val="D50092"/>
                </a:solidFill>
                <a:latin typeface="黑体"/>
                <a:cs typeface="黑体"/>
              </a:rPr>
              <a:t>要求</a:t>
            </a:r>
            <a:endParaRPr sz="2400">
              <a:latin typeface="黑体"/>
              <a:cs typeface="黑体"/>
            </a:endParaRPr>
          </a:p>
          <a:p>
            <a:pPr marL="640080">
              <a:lnSpc>
                <a:spcPct val="100000"/>
              </a:lnSpc>
              <a:spcBef>
                <a:spcPts val="2014"/>
              </a:spcBef>
            </a:pPr>
            <a:r>
              <a:rPr dirty="0" sz="2400" spc="-20" b="1">
                <a:solidFill>
                  <a:srgbClr val="FF0000"/>
                </a:solidFill>
                <a:latin typeface="宋体"/>
                <a:cs typeface="宋体"/>
              </a:rPr>
              <a:t>保证</a:t>
            </a:r>
            <a:r>
              <a:rPr dirty="0" sz="2400" spc="-25" b="1">
                <a:solidFill>
                  <a:srgbClr val="00AFEF"/>
                </a:solidFill>
                <a:latin typeface="宋体"/>
                <a:cs typeface="宋体"/>
              </a:rPr>
              <a:t>：无向量寄存器使用冲突和无功能部件使用冲突</a:t>
            </a:r>
            <a:endParaRPr sz="2400">
              <a:latin typeface="宋体"/>
              <a:cs typeface="宋体"/>
            </a:endParaRPr>
          </a:p>
          <a:p>
            <a:pPr algn="just" lvl="1" marL="1096010" marR="5080" indent="-456565">
              <a:lnSpc>
                <a:spcPct val="150000"/>
              </a:lnSpc>
              <a:spcBef>
                <a:spcPts val="580"/>
              </a:spcBef>
              <a:buClr>
                <a:srgbClr val="4668F5"/>
              </a:buClr>
              <a:buSzPct val="64583"/>
              <a:buFont typeface="Wingdings"/>
              <a:buChar char=""/>
              <a:tabLst>
                <a:tab pos="1097280" algn="l"/>
              </a:tabLst>
            </a:pPr>
            <a:r>
              <a:rPr dirty="0" sz="2400" spc="-25" b="1">
                <a:solidFill>
                  <a:srgbClr val="00AFEF"/>
                </a:solidFill>
                <a:latin typeface="宋体"/>
                <a:cs typeface="宋体"/>
              </a:rPr>
              <a:t>只有在前一条指令的第一个结果元素送入结果向量寄存器	的那一个时钟周期才可以进行链接。</a:t>
            </a:r>
            <a:endParaRPr sz="2400">
              <a:latin typeface="宋体"/>
              <a:cs typeface="宋体"/>
            </a:endParaRPr>
          </a:p>
          <a:p>
            <a:pPr algn="just" lvl="1" marL="1096010" marR="5080" indent="-456565">
              <a:lnSpc>
                <a:spcPct val="150000"/>
              </a:lnSpc>
              <a:spcBef>
                <a:spcPts val="575"/>
              </a:spcBef>
              <a:buClr>
                <a:srgbClr val="4668F5"/>
              </a:buClr>
              <a:buSzPct val="64583"/>
              <a:buFont typeface="Wingdings"/>
              <a:buChar char=""/>
              <a:tabLst>
                <a:tab pos="1097280" algn="l"/>
              </a:tabLst>
            </a:pPr>
            <a:r>
              <a:rPr dirty="0" sz="2400" spc="-25" b="1">
                <a:solidFill>
                  <a:srgbClr val="00AFEF"/>
                </a:solidFill>
                <a:latin typeface="宋体"/>
                <a:cs typeface="宋体"/>
              </a:rPr>
              <a:t>当一条向量指令的两个源操作数分别是两条先行指令的结	果寄存器时，要求先行的两条指令产生运算结果的时间必	须相等，即要求有关功能部件的通过时间相等。</a:t>
            </a:r>
            <a:endParaRPr sz="2400">
              <a:latin typeface="宋体"/>
              <a:cs typeface="宋体"/>
            </a:endParaRPr>
          </a:p>
          <a:p>
            <a:pPr algn="just" lvl="1" marL="1096010" marR="5080" indent="-456565">
              <a:lnSpc>
                <a:spcPct val="150000"/>
              </a:lnSpc>
              <a:spcBef>
                <a:spcPts val="580"/>
              </a:spcBef>
              <a:buClr>
                <a:srgbClr val="4668F5"/>
              </a:buClr>
              <a:buSzPct val="64583"/>
              <a:buFont typeface="Wingdings"/>
              <a:buChar char=""/>
              <a:tabLst>
                <a:tab pos="1097280" algn="l"/>
              </a:tabLst>
            </a:pPr>
            <a:r>
              <a:rPr dirty="0" sz="2400" spc="-25" b="1">
                <a:solidFill>
                  <a:srgbClr val="00AFEF"/>
                </a:solidFill>
                <a:latin typeface="宋体"/>
                <a:cs typeface="宋体"/>
              </a:rPr>
              <a:t>要进行链接执行的向量指令的向量长度必须相等，否则无</a:t>
            </a:r>
            <a:r>
              <a:rPr dirty="0" sz="2400" spc="-25" b="1">
                <a:solidFill>
                  <a:srgbClr val="00AFEF"/>
                </a:solidFill>
                <a:latin typeface="宋体"/>
                <a:cs typeface="宋体"/>
              </a:rPr>
              <a:t>	</a:t>
            </a:r>
            <a:r>
              <a:rPr dirty="0" sz="2400" spc="-20" b="1">
                <a:solidFill>
                  <a:srgbClr val="00AFEF"/>
                </a:solidFill>
                <a:latin typeface="宋体"/>
                <a:cs typeface="宋体"/>
              </a:rPr>
              <a:t>法进行链接。（</a:t>
            </a:r>
            <a:r>
              <a:rPr dirty="0" sz="2400" spc="-20" b="1">
                <a:solidFill>
                  <a:srgbClr val="00AFEF"/>
                </a:solidFill>
                <a:latin typeface="Tahoma"/>
                <a:cs typeface="Tahoma"/>
              </a:rPr>
              <a:t>V2</a:t>
            </a:r>
            <a:r>
              <a:rPr dirty="0" sz="2400" spc="-25" b="1">
                <a:solidFill>
                  <a:srgbClr val="00AFEF"/>
                </a:solidFill>
                <a:latin typeface="宋体"/>
                <a:cs typeface="宋体"/>
              </a:rPr>
              <a:t>和</a:t>
            </a:r>
            <a:r>
              <a:rPr dirty="0" sz="2400" spc="-10" b="1">
                <a:solidFill>
                  <a:srgbClr val="00AFEF"/>
                </a:solidFill>
                <a:latin typeface="Tahoma"/>
                <a:cs typeface="Tahoma"/>
              </a:rPr>
              <a:t>V3</a:t>
            </a:r>
            <a:r>
              <a:rPr dirty="0" sz="2400" spc="-10" b="1">
                <a:solidFill>
                  <a:srgbClr val="00AFEF"/>
                </a:solidFill>
                <a:latin typeface="宋体"/>
                <a:cs typeface="宋体"/>
              </a:rPr>
              <a:t>，</a:t>
            </a:r>
            <a:r>
              <a:rPr dirty="0" sz="2400" spc="-10" b="1">
                <a:solidFill>
                  <a:srgbClr val="00AFEF"/>
                </a:solidFill>
                <a:latin typeface="Tahoma"/>
                <a:cs typeface="Tahoma"/>
              </a:rPr>
              <a:t>V3</a:t>
            </a:r>
            <a:r>
              <a:rPr dirty="0" sz="2400" spc="-20" b="1">
                <a:solidFill>
                  <a:srgbClr val="00AFEF"/>
                </a:solidFill>
                <a:latin typeface="宋体"/>
                <a:cs typeface="宋体"/>
              </a:rPr>
              <a:t>和</a:t>
            </a:r>
            <a:r>
              <a:rPr dirty="0" sz="2400" spc="-25" b="1">
                <a:solidFill>
                  <a:srgbClr val="00AFEF"/>
                </a:solidFill>
                <a:latin typeface="Tahoma"/>
                <a:cs typeface="Tahoma"/>
              </a:rPr>
              <a:t>V4</a:t>
            </a:r>
            <a:r>
              <a:rPr dirty="0" sz="2400" spc="-25" b="1">
                <a:solidFill>
                  <a:srgbClr val="00AFEF"/>
                </a:solidFill>
                <a:latin typeface="宋体"/>
                <a:cs typeface="宋体"/>
              </a:rPr>
              <a:t>）</a:t>
            </a:r>
            <a:endParaRPr sz="2400">
              <a:latin typeface="宋体"/>
              <a:cs typeface="宋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5" name="object 5" descr=""/>
          <p:cNvSpPr txBox="1"/>
          <p:nvPr/>
        </p:nvSpPr>
        <p:spPr>
          <a:xfrm>
            <a:off x="993444" y="908431"/>
            <a:ext cx="5418455" cy="1611630"/>
          </a:xfrm>
          <a:prstGeom prst="rect">
            <a:avLst/>
          </a:prstGeom>
        </p:spPr>
        <p:txBody>
          <a:bodyPr wrap="square" lIns="0" tIns="13335" rIns="0" bIns="0" rtlCol="0" vert="horz">
            <a:spAutoFit/>
          </a:bodyPr>
          <a:lstStyle/>
          <a:p>
            <a:pPr marL="897890" marR="1710689" indent="-885825">
              <a:lnSpc>
                <a:spcPct val="100000"/>
              </a:lnSpc>
              <a:spcBef>
                <a:spcPts val="105"/>
              </a:spcBef>
            </a:pPr>
            <a:r>
              <a:rPr dirty="0" sz="2600" spc="-10">
                <a:solidFill>
                  <a:srgbClr val="006FC0"/>
                </a:solidFill>
                <a:latin typeface="微软雅黑"/>
                <a:cs typeface="微软雅黑"/>
              </a:rPr>
              <a:t>Cray-1</a:t>
            </a:r>
            <a:r>
              <a:rPr dirty="0" sz="2600" spc="-15">
                <a:solidFill>
                  <a:srgbClr val="006FC0"/>
                </a:solidFill>
                <a:latin typeface="微软雅黑"/>
                <a:cs typeface="微软雅黑"/>
              </a:rPr>
              <a:t>的两条向量指令：</a:t>
            </a:r>
            <a:r>
              <a:rPr dirty="0" sz="2600" spc="-50">
                <a:solidFill>
                  <a:srgbClr val="006FC0"/>
                </a:solidFill>
                <a:latin typeface="微软雅黑"/>
                <a:cs typeface="微软雅黑"/>
              </a:rPr>
              <a:t> </a:t>
            </a:r>
            <a:r>
              <a:rPr dirty="0" sz="2600" spc="-10">
                <a:solidFill>
                  <a:srgbClr val="FF0000"/>
                </a:solidFill>
                <a:latin typeface="微软雅黑"/>
                <a:cs typeface="微软雅黑"/>
              </a:rPr>
              <a:t>V1</a:t>
            </a:r>
            <a:r>
              <a:rPr dirty="0" sz="2600" spc="-10">
                <a:solidFill>
                  <a:srgbClr val="006FC0"/>
                </a:solidFill>
                <a:latin typeface="微软雅黑"/>
                <a:cs typeface="微软雅黑"/>
              </a:rPr>
              <a:t>←V2+V3 V4←</a:t>
            </a:r>
            <a:r>
              <a:rPr dirty="0" sz="2600" spc="-10">
                <a:solidFill>
                  <a:srgbClr val="FF0000"/>
                </a:solidFill>
                <a:latin typeface="微软雅黑"/>
                <a:cs typeface="微软雅黑"/>
              </a:rPr>
              <a:t>V1</a:t>
            </a:r>
            <a:r>
              <a:rPr dirty="0" sz="2600" spc="-10">
                <a:solidFill>
                  <a:srgbClr val="006FC0"/>
                </a:solidFill>
                <a:latin typeface="微软雅黑"/>
                <a:cs typeface="微软雅黑"/>
              </a:rPr>
              <a:t>×V5</a:t>
            </a:r>
            <a:endParaRPr sz="2600">
              <a:latin typeface="微软雅黑"/>
              <a:cs typeface="微软雅黑"/>
            </a:endParaRPr>
          </a:p>
          <a:p>
            <a:pPr marL="3359150">
              <a:lnSpc>
                <a:spcPct val="100000"/>
              </a:lnSpc>
              <a:tabLst>
                <a:tab pos="4743450" algn="l"/>
              </a:tabLst>
            </a:pPr>
            <a:r>
              <a:rPr dirty="0" sz="2600">
                <a:solidFill>
                  <a:srgbClr val="006FC0"/>
                </a:solidFill>
                <a:latin typeface="微软雅黑"/>
                <a:cs typeface="微软雅黑"/>
              </a:rPr>
              <a:t>属于</a:t>
            </a:r>
            <a:r>
              <a:rPr dirty="0" sz="2600" spc="-50">
                <a:solidFill>
                  <a:srgbClr val="006FC0"/>
                </a:solidFill>
                <a:latin typeface="微软雅黑"/>
                <a:cs typeface="微软雅黑"/>
              </a:rPr>
              <a:t>（</a:t>
            </a:r>
            <a:r>
              <a:rPr dirty="0" sz="2600">
                <a:solidFill>
                  <a:srgbClr val="006FC0"/>
                </a:solidFill>
                <a:latin typeface="微软雅黑"/>
                <a:cs typeface="微软雅黑"/>
              </a:rPr>
              <a:t>	</a:t>
            </a:r>
            <a:r>
              <a:rPr dirty="0" sz="2600" spc="-10">
                <a:solidFill>
                  <a:srgbClr val="006FC0"/>
                </a:solidFill>
                <a:latin typeface="微软雅黑"/>
                <a:cs typeface="微软雅黑"/>
              </a:rPr>
              <a:t>）</a:t>
            </a:r>
            <a:r>
              <a:rPr dirty="0" sz="2600" spc="-50">
                <a:solidFill>
                  <a:srgbClr val="006FC0"/>
                </a:solidFill>
                <a:latin typeface="微软雅黑"/>
                <a:cs typeface="微软雅黑"/>
              </a:rPr>
              <a:t>。</a:t>
            </a:r>
            <a:endParaRPr sz="2600">
              <a:latin typeface="微软雅黑"/>
              <a:cs typeface="微软雅黑"/>
            </a:endParaRPr>
          </a:p>
        </p:txBody>
      </p:sp>
      <p:sp>
        <p:nvSpPr>
          <p:cNvPr id="6" name="object 6" descr=""/>
          <p:cNvSpPr txBox="1"/>
          <p:nvPr/>
        </p:nvSpPr>
        <p:spPr>
          <a:xfrm>
            <a:off x="1907794" y="2932557"/>
            <a:ext cx="4856480" cy="330835"/>
          </a:xfrm>
          <a:prstGeom prst="rect">
            <a:avLst/>
          </a:prstGeom>
        </p:spPr>
        <p:txBody>
          <a:bodyPr wrap="square" lIns="0" tIns="13335" rIns="0" bIns="0" rtlCol="0" vert="horz">
            <a:spAutoFit/>
          </a:bodyPr>
          <a:lstStyle/>
          <a:p>
            <a:pPr marL="12700">
              <a:lnSpc>
                <a:spcPct val="100000"/>
              </a:lnSpc>
              <a:spcBef>
                <a:spcPts val="105"/>
              </a:spcBef>
            </a:pPr>
            <a:r>
              <a:rPr dirty="0" sz="2000" spc="-20">
                <a:latin typeface="微软雅黑"/>
                <a:cs typeface="微软雅黑"/>
              </a:rPr>
              <a:t>没有功能部件冲突和源向量冲突，可以并行</a:t>
            </a:r>
            <a:endParaRPr sz="2000">
              <a:latin typeface="微软雅黑"/>
              <a:cs typeface="微软雅黑"/>
            </a:endParaRPr>
          </a:p>
        </p:txBody>
      </p:sp>
      <p:sp>
        <p:nvSpPr>
          <p:cNvPr id="7" name="object 7" descr=""/>
          <p:cNvSpPr txBox="1"/>
          <p:nvPr/>
        </p:nvSpPr>
        <p:spPr>
          <a:xfrm>
            <a:off x="1907794" y="3789934"/>
            <a:ext cx="4856480" cy="330835"/>
          </a:xfrm>
          <a:prstGeom prst="rect">
            <a:avLst/>
          </a:prstGeom>
        </p:spPr>
        <p:txBody>
          <a:bodyPr wrap="square" lIns="0" tIns="12700" rIns="0" bIns="0" rtlCol="0" vert="horz">
            <a:spAutoFit/>
          </a:bodyPr>
          <a:lstStyle/>
          <a:p>
            <a:pPr marL="12700">
              <a:lnSpc>
                <a:spcPct val="100000"/>
              </a:lnSpc>
              <a:spcBef>
                <a:spcPts val="100"/>
              </a:spcBef>
            </a:pPr>
            <a:r>
              <a:rPr dirty="0" sz="2000" spc="-20">
                <a:latin typeface="微软雅黑"/>
                <a:cs typeface="微软雅黑"/>
              </a:rPr>
              <a:t>没有功能部件冲突和源向量冲突，可以链接</a:t>
            </a:r>
            <a:endParaRPr sz="2000">
              <a:latin typeface="微软雅黑"/>
              <a:cs typeface="微软雅黑"/>
            </a:endParaRPr>
          </a:p>
        </p:txBody>
      </p:sp>
      <p:sp>
        <p:nvSpPr>
          <p:cNvPr id="8" name="object 8" descr=""/>
          <p:cNvSpPr txBox="1"/>
          <p:nvPr/>
        </p:nvSpPr>
        <p:spPr>
          <a:xfrm>
            <a:off x="1907794" y="4647438"/>
            <a:ext cx="4094479" cy="330835"/>
          </a:xfrm>
          <a:prstGeom prst="rect">
            <a:avLst/>
          </a:prstGeom>
        </p:spPr>
        <p:txBody>
          <a:bodyPr wrap="square" lIns="0" tIns="12700" rIns="0" bIns="0" rtlCol="0" vert="horz">
            <a:spAutoFit/>
          </a:bodyPr>
          <a:lstStyle/>
          <a:p>
            <a:pPr marL="12700">
              <a:lnSpc>
                <a:spcPct val="100000"/>
              </a:lnSpc>
              <a:spcBef>
                <a:spcPts val="100"/>
              </a:spcBef>
            </a:pPr>
            <a:r>
              <a:rPr dirty="0" sz="2000" spc="-15">
                <a:latin typeface="微软雅黑"/>
                <a:cs typeface="微软雅黑"/>
              </a:rPr>
              <a:t>没有源向量冲突，可以交换执行顺序</a:t>
            </a:r>
            <a:endParaRPr sz="2000">
              <a:latin typeface="微软雅黑"/>
              <a:cs typeface="微软雅黑"/>
            </a:endParaRPr>
          </a:p>
        </p:txBody>
      </p:sp>
      <p:sp>
        <p:nvSpPr>
          <p:cNvPr id="9" name="object 9" descr=""/>
          <p:cNvSpPr txBox="1"/>
          <p:nvPr/>
        </p:nvSpPr>
        <p:spPr>
          <a:xfrm>
            <a:off x="1907794" y="5592267"/>
            <a:ext cx="2570480" cy="330835"/>
          </a:xfrm>
          <a:prstGeom prst="rect">
            <a:avLst/>
          </a:prstGeom>
        </p:spPr>
        <p:txBody>
          <a:bodyPr wrap="square" lIns="0" tIns="12700" rIns="0" bIns="0" rtlCol="0" vert="horz">
            <a:spAutoFit/>
          </a:bodyPr>
          <a:lstStyle/>
          <a:p>
            <a:pPr marL="12700">
              <a:lnSpc>
                <a:spcPct val="100000"/>
              </a:lnSpc>
              <a:spcBef>
                <a:spcPts val="100"/>
              </a:spcBef>
            </a:pPr>
            <a:r>
              <a:rPr dirty="0" sz="2000" spc="-5">
                <a:latin typeface="微软雅黑"/>
                <a:cs typeface="微软雅黑"/>
              </a:rPr>
              <a:t>有向量冲突，只能串行</a:t>
            </a:r>
            <a:endParaRPr sz="2000">
              <a:latin typeface="微软雅黑"/>
              <a:cs typeface="微软雅黑"/>
            </a:endParaRPr>
          </a:p>
        </p:txBody>
      </p:sp>
      <p:grpSp>
        <p:nvGrpSpPr>
          <p:cNvPr id="10" name="object 10" descr=""/>
          <p:cNvGrpSpPr/>
          <p:nvPr/>
        </p:nvGrpSpPr>
        <p:grpSpPr>
          <a:xfrm>
            <a:off x="1108075" y="2843276"/>
            <a:ext cx="527050" cy="527050"/>
            <a:chOff x="1108075" y="2843276"/>
            <a:chExt cx="527050" cy="527050"/>
          </a:xfrm>
        </p:grpSpPr>
        <p:sp>
          <p:nvSpPr>
            <p:cNvPr id="11" name="object 11" descr=""/>
            <p:cNvSpPr/>
            <p:nvPr/>
          </p:nvSpPr>
          <p:spPr>
            <a:xfrm>
              <a:off x="1114425" y="2849626"/>
              <a:ext cx="514350" cy="514350"/>
            </a:xfrm>
            <a:custGeom>
              <a:avLst/>
              <a:gdLst/>
              <a:ahLst/>
              <a:cxnLst/>
              <a:rect l="l" t="t" r="r" b="b"/>
              <a:pathLst>
                <a:path w="514350" h="514350">
                  <a:moveTo>
                    <a:pt x="257175" y="0"/>
                  </a:moveTo>
                  <a:lnTo>
                    <a:pt x="210946" y="4140"/>
                  </a:lnTo>
                  <a:lnTo>
                    <a:pt x="167437" y="16080"/>
                  </a:lnTo>
                  <a:lnTo>
                    <a:pt x="127372" y="35094"/>
                  </a:lnTo>
                  <a:lnTo>
                    <a:pt x="91479" y="60458"/>
                  </a:lnTo>
                  <a:lnTo>
                    <a:pt x="60483" y="91447"/>
                  </a:lnTo>
                  <a:lnTo>
                    <a:pt x="35111" y="127338"/>
                  </a:lnTo>
                  <a:lnTo>
                    <a:pt x="16089" y="167406"/>
                  </a:lnTo>
                  <a:lnTo>
                    <a:pt x="4143" y="210926"/>
                  </a:lnTo>
                  <a:lnTo>
                    <a:pt x="0" y="257175"/>
                  </a:lnTo>
                  <a:lnTo>
                    <a:pt x="4143" y="303389"/>
                  </a:lnTo>
                  <a:lnTo>
                    <a:pt x="16089" y="346892"/>
                  </a:lnTo>
                  <a:lnTo>
                    <a:pt x="35111" y="386954"/>
                  </a:lnTo>
                  <a:lnTo>
                    <a:pt x="60483" y="422849"/>
                  </a:lnTo>
                  <a:lnTo>
                    <a:pt x="91479" y="453849"/>
                  </a:lnTo>
                  <a:lnTo>
                    <a:pt x="127372" y="479227"/>
                  </a:lnTo>
                  <a:lnTo>
                    <a:pt x="167437" y="498254"/>
                  </a:lnTo>
                  <a:lnTo>
                    <a:pt x="21094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2" name="object 12" descr=""/>
            <p:cNvSpPr/>
            <p:nvPr/>
          </p:nvSpPr>
          <p:spPr>
            <a:xfrm>
              <a:off x="1114425" y="2849626"/>
              <a:ext cx="514350" cy="514350"/>
            </a:xfrm>
            <a:custGeom>
              <a:avLst/>
              <a:gdLst/>
              <a:ahLst/>
              <a:cxnLst/>
              <a:rect l="l" t="t" r="r" b="b"/>
              <a:pathLst>
                <a:path w="514350" h="514350">
                  <a:moveTo>
                    <a:pt x="0" y="257175"/>
                  </a:moveTo>
                  <a:lnTo>
                    <a:pt x="4143" y="210926"/>
                  </a:lnTo>
                  <a:lnTo>
                    <a:pt x="16089" y="167406"/>
                  </a:lnTo>
                  <a:lnTo>
                    <a:pt x="35111" y="127338"/>
                  </a:lnTo>
                  <a:lnTo>
                    <a:pt x="60483" y="91447"/>
                  </a:lnTo>
                  <a:lnTo>
                    <a:pt x="91479" y="60458"/>
                  </a:lnTo>
                  <a:lnTo>
                    <a:pt x="127372" y="35094"/>
                  </a:lnTo>
                  <a:lnTo>
                    <a:pt x="167437" y="16080"/>
                  </a:lnTo>
                  <a:lnTo>
                    <a:pt x="21094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46" y="510204"/>
                  </a:lnTo>
                  <a:lnTo>
                    <a:pt x="167437" y="498254"/>
                  </a:lnTo>
                  <a:lnTo>
                    <a:pt x="127372" y="479227"/>
                  </a:lnTo>
                  <a:lnTo>
                    <a:pt x="91479" y="453849"/>
                  </a:lnTo>
                  <a:lnTo>
                    <a:pt x="60483" y="422849"/>
                  </a:lnTo>
                  <a:lnTo>
                    <a:pt x="35111" y="386954"/>
                  </a:lnTo>
                  <a:lnTo>
                    <a:pt x="16089" y="346892"/>
                  </a:lnTo>
                  <a:lnTo>
                    <a:pt x="4143" y="303389"/>
                  </a:lnTo>
                  <a:lnTo>
                    <a:pt x="0" y="257175"/>
                  </a:lnTo>
                  <a:close/>
                </a:path>
              </a:pathLst>
            </a:custGeom>
            <a:ln w="12700">
              <a:solidFill>
                <a:srgbClr val="000000"/>
              </a:solidFill>
            </a:ln>
          </p:spPr>
          <p:txBody>
            <a:bodyPr wrap="square" lIns="0" tIns="0" rIns="0" bIns="0" rtlCol="0"/>
            <a:lstStyle/>
            <a:p/>
          </p:txBody>
        </p:sp>
      </p:grpSp>
      <p:sp>
        <p:nvSpPr>
          <p:cNvPr id="13" name="object 13" descr=""/>
          <p:cNvSpPr txBox="1"/>
          <p:nvPr/>
        </p:nvSpPr>
        <p:spPr>
          <a:xfrm>
            <a:off x="1287525"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4" name="object 14" descr=""/>
          <p:cNvGrpSpPr/>
          <p:nvPr/>
        </p:nvGrpSpPr>
        <p:grpSpPr>
          <a:xfrm>
            <a:off x="1101725" y="3694176"/>
            <a:ext cx="539750" cy="539750"/>
            <a:chOff x="1101725" y="3694176"/>
            <a:chExt cx="539750" cy="539750"/>
          </a:xfrm>
        </p:grpSpPr>
        <p:sp>
          <p:nvSpPr>
            <p:cNvPr id="15" name="object 15" descr=""/>
            <p:cNvSpPr/>
            <p:nvPr/>
          </p:nvSpPr>
          <p:spPr>
            <a:xfrm>
              <a:off x="1114425" y="3706876"/>
              <a:ext cx="514350" cy="514350"/>
            </a:xfrm>
            <a:custGeom>
              <a:avLst/>
              <a:gdLst/>
              <a:ahLst/>
              <a:cxnLst/>
              <a:rect l="l" t="t" r="r" b="b"/>
              <a:pathLst>
                <a:path w="514350" h="514350">
                  <a:moveTo>
                    <a:pt x="257175" y="0"/>
                  </a:moveTo>
                  <a:lnTo>
                    <a:pt x="210946" y="4140"/>
                  </a:lnTo>
                  <a:lnTo>
                    <a:pt x="167437" y="16080"/>
                  </a:lnTo>
                  <a:lnTo>
                    <a:pt x="127372" y="35094"/>
                  </a:lnTo>
                  <a:lnTo>
                    <a:pt x="91479" y="60458"/>
                  </a:lnTo>
                  <a:lnTo>
                    <a:pt x="60483" y="91447"/>
                  </a:lnTo>
                  <a:lnTo>
                    <a:pt x="35111" y="127338"/>
                  </a:lnTo>
                  <a:lnTo>
                    <a:pt x="16089" y="167406"/>
                  </a:lnTo>
                  <a:lnTo>
                    <a:pt x="4143" y="210926"/>
                  </a:lnTo>
                  <a:lnTo>
                    <a:pt x="0" y="257175"/>
                  </a:lnTo>
                  <a:lnTo>
                    <a:pt x="4143" y="303389"/>
                  </a:lnTo>
                  <a:lnTo>
                    <a:pt x="16089" y="346892"/>
                  </a:lnTo>
                  <a:lnTo>
                    <a:pt x="35111" y="386954"/>
                  </a:lnTo>
                  <a:lnTo>
                    <a:pt x="60483" y="422849"/>
                  </a:lnTo>
                  <a:lnTo>
                    <a:pt x="91479" y="453849"/>
                  </a:lnTo>
                  <a:lnTo>
                    <a:pt x="127372" y="479227"/>
                  </a:lnTo>
                  <a:lnTo>
                    <a:pt x="167437" y="498254"/>
                  </a:lnTo>
                  <a:lnTo>
                    <a:pt x="21094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16" name="object 16" descr=""/>
            <p:cNvSpPr/>
            <p:nvPr/>
          </p:nvSpPr>
          <p:spPr>
            <a:xfrm>
              <a:off x="1114425" y="3706876"/>
              <a:ext cx="514350" cy="514350"/>
            </a:xfrm>
            <a:custGeom>
              <a:avLst/>
              <a:gdLst/>
              <a:ahLst/>
              <a:cxnLst/>
              <a:rect l="l" t="t" r="r" b="b"/>
              <a:pathLst>
                <a:path w="514350" h="514350">
                  <a:moveTo>
                    <a:pt x="0" y="257175"/>
                  </a:moveTo>
                  <a:lnTo>
                    <a:pt x="4143" y="210926"/>
                  </a:lnTo>
                  <a:lnTo>
                    <a:pt x="16089" y="167406"/>
                  </a:lnTo>
                  <a:lnTo>
                    <a:pt x="35111" y="127338"/>
                  </a:lnTo>
                  <a:lnTo>
                    <a:pt x="60483" y="91447"/>
                  </a:lnTo>
                  <a:lnTo>
                    <a:pt x="91479" y="60458"/>
                  </a:lnTo>
                  <a:lnTo>
                    <a:pt x="127372" y="35094"/>
                  </a:lnTo>
                  <a:lnTo>
                    <a:pt x="167437" y="16080"/>
                  </a:lnTo>
                  <a:lnTo>
                    <a:pt x="21094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46" y="510204"/>
                  </a:lnTo>
                  <a:lnTo>
                    <a:pt x="167437" y="498254"/>
                  </a:lnTo>
                  <a:lnTo>
                    <a:pt x="127372" y="479227"/>
                  </a:lnTo>
                  <a:lnTo>
                    <a:pt x="91479" y="453849"/>
                  </a:lnTo>
                  <a:lnTo>
                    <a:pt x="60483" y="422849"/>
                  </a:lnTo>
                  <a:lnTo>
                    <a:pt x="35111" y="386954"/>
                  </a:lnTo>
                  <a:lnTo>
                    <a:pt x="16089" y="346892"/>
                  </a:lnTo>
                  <a:lnTo>
                    <a:pt x="4143" y="303389"/>
                  </a:lnTo>
                  <a:lnTo>
                    <a:pt x="0" y="257175"/>
                  </a:lnTo>
                  <a:close/>
                </a:path>
              </a:pathLst>
            </a:custGeom>
            <a:ln w="25400">
              <a:solidFill>
                <a:srgbClr val="000000"/>
              </a:solidFill>
            </a:ln>
          </p:spPr>
          <p:txBody>
            <a:bodyPr wrap="square" lIns="0" tIns="0" rIns="0" bIns="0" rtlCol="0"/>
            <a:lstStyle/>
            <a:p/>
          </p:txBody>
        </p:sp>
      </p:grpSp>
      <p:sp>
        <p:nvSpPr>
          <p:cNvPr id="17" name="object 17" descr=""/>
          <p:cNvSpPr txBox="1"/>
          <p:nvPr/>
        </p:nvSpPr>
        <p:spPr>
          <a:xfrm>
            <a:off x="1295527"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8" name="object 18" descr=""/>
          <p:cNvGrpSpPr/>
          <p:nvPr/>
        </p:nvGrpSpPr>
        <p:grpSpPr>
          <a:xfrm>
            <a:off x="1108075" y="4557776"/>
            <a:ext cx="527050" cy="527050"/>
            <a:chOff x="1108075" y="4557776"/>
            <a:chExt cx="527050" cy="527050"/>
          </a:xfrm>
        </p:grpSpPr>
        <p:sp>
          <p:nvSpPr>
            <p:cNvPr id="19" name="object 19" descr=""/>
            <p:cNvSpPr/>
            <p:nvPr/>
          </p:nvSpPr>
          <p:spPr>
            <a:xfrm>
              <a:off x="1114425" y="4564126"/>
              <a:ext cx="514350" cy="514350"/>
            </a:xfrm>
            <a:custGeom>
              <a:avLst/>
              <a:gdLst/>
              <a:ahLst/>
              <a:cxnLst/>
              <a:rect l="l" t="t" r="r" b="b"/>
              <a:pathLst>
                <a:path w="514350" h="514350">
                  <a:moveTo>
                    <a:pt x="257175" y="0"/>
                  </a:moveTo>
                  <a:lnTo>
                    <a:pt x="210946" y="4140"/>
                  </a:lnTo>
                  <a:lnTo>
                    <a:pt x="167437" y="16080"/>
                  </a:lnTo>
                  <a:lnTo>
                    <a:pt x="127372" y="35094"/>
                  </a:lnTo>
                  <a:lnTo>
                    <a:pt x="91479" y="60458"/>
                  </a:lnTo>
                  <a:lnTo>
                    <a:pt x="60483" y="91447"/>
                  </a:lnTo>
                  <a:lnTo>
                    <a:pt x="35111" y="127338"/>
                  </a:lnTo>
                  <a:lnTo>
                    <a:pt x="16089" y="167406"/>
                  </a:lnTo>
                  <a:lnTo>
                    <a:pt x="4143" y="210926"/>
                  </a:lnTo>
                  <a:lnTo>
                    <a:pt x="0" y="257175"/>
                  </a:lnTo>
                  <a:lnTo>
                    <a:pt x="4143" y="303389"/>
                  </a:lnTo>
                  <a:lnTo>
                    <a:pt x="16089" y="346892"/>
                  </a:lnTo>
                  <a:lnTo>
                    <a:pt x="35111" y="386954"/>
                  </a:lnTo>
                  <a:lnTo>
                    <a:pt x="60483" y="422849"/>
                  </a:lnTo>
                  <a:lnTo>
                    <a:pt x="91479" y="453849"/>
                  </a:lnTo>
                  <a:lnTo>
                    <a:pt x="127372" y="479227"/>
                  </a:lnTo>
                  <a:lnTo>
                    <a:pt x="167437" y="498254"/>
                  </a:lnTo>
                  <a:lnTo>
                    <a:pt x="21094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20" name="object 20" descr=""/>
            <p:cNvSpPr/>
            <p:nvPr/>
          </p:nvSpPr>
          <p:spPr>
            <a:xfrm>
              <a:off x="1114425" y="4564126"/>
              <a:ext cx="514350" cy="514350"/>
            </a:xfrm>
            <a:custGeom>
              <a:avLst/>
              <a:gdLst/>
              <a:ahLst/>
              <a:cxnLst/>
              <a:rect l="l" t="t" r="r" b="b"/>
              <a:pathLst>
                <a:path w="514350" h="514350">
                  <a:moveTo>
                    <a:pt x="0" y="257175"/>
                  </a:moveTo>
                  <a:lnTo>
                    <a:pt x="4143" y="210926"/>
                  </a:lnTo>
                  <a:lnTo>
                    <a:pt x="16089" y="167406"/>
                  </a:lnTo>
                  <a:lnTo>
                    <a:pt x="35111" y="127338"/>
                  </a:lnTo>
                  <a:lnTo>
                    <a:pt x="60483" y="91447"/>
                  </a:lnTo>
                  <a:lnTo>
                    <a:pt x="91479" y="60458"/>
                  </a:lnTo>
                  <a:lnTo>
                    <a:pt x="127372" y="35094"/>
                  </a:lnTo>
                  <a:lnTo>
                    <a:pt x="167437" y="16080"/>
                  </a:lnTo>
                  <a:lnTo>
                    <a:pt x="210946"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46" y="510204"/>
                  </a:lnTo>
                  <a:lnTo>
                    <a:pt x="167437" y="498254"/>
                  </a:lnTo>
                  <a:lnTo>
                    <a:pt x="127372" y="479227"/>
                  </a:lnTo>
                  <a:lnTo>
                    <a:pt x="91479" y="453849"/>
                  </a:lnTo>
                  <a:lnTo>
                    <a:pt x="60483" y="422849"/>
                  </a:lnTo>
                  <a:lnTo>
                    <a:pt x="35111" y="386954"/>
                  </a:lnTo>
                  <a:lnTo>
                    <a:pt x="16089" y="346892"/>
                  </a:lnTo>
                  <a:lnTo>
                    <a:pt x="4143" y="303389"/>
                  </a:lnTo>
                  <a:lnTo>
                    <a:pt x="0" y="257175"/>
                  </a:lnTo>
                  <a:close/>
                </a:path>
              </a:pathLst>
            </a:custGeom>
            <a:ln w="12700">
              <a:solidFill>
                <a:srgbClr val="000000"/>
              </a:solidFill>
            </a:ln>
          </p:spPr>
          <p:txBody>
            <a:bodyPr wrap="square" lIns="0" tIns="0" rIns="0" bIns="0" rtlCol="0"/>
            <a:lstStyle/>
            <a:p/>
          </p:txBody>
        </p:sp>
      </p:grpSp>
      <p:sp>
        <p:nvSpPr>
          <p:cNvPr id="21" name="object 21" descr=""/>
          <p:cNvSpPr txBox="1"/>
          <p:nvPr/>
        </p:nvSpPr>
        <p:spPr>
          <a:xfrm>
            <a:off x="1290955"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2" name="object 22" descr=""/>
          <p:cNvGrpSpPr/>
          <p:nvPr/>
        </p:nvGrpSpPr>
        <p:grpSpPr>
          <a:xfrm>
            <a:off x="1108075" y="5415026"/>
            <a:ext cx="527050" cy="527050"/>
            <a:chOff x="1108075" y="5415026"/>
            <a:chExt cx="527050" cy="527050"/>
          </a:xfrm>
        </p:grpSpPr>
        <p:sp>
          <p:nvSpPr>
            <p:cNvPr id="23" name="object 23" descr=""/>
            <p:cNvSpPr/>
            <p:nvPr/>
          </p:nvSpPr>
          <p:spPr>
            <a:xfrm>
              <a:off x="1114425" y="5421376"/>
              <a:ext cx="514350" cy="514350"/>
            </a:xfrm>
            <a:custGeom>
              <a:avLst/>
              <a:gdLst/>
              <a:ahLst/>
              <a:cxnLst/>
              <a:rect l="l" t="t" r="r" b="b"/>
              <a:pathLst>
                <a:path w="514350" h="514350">
                  <a:moveTo>
                    <a:pt x="257175" y="0"/>
                  </a:moveTo>
                  <a:lnTo>
                    <a:pt x="210946" y="4140"/>
                  </a:lnTo>
                  <a:lnTo>
                    <a:pt x="167437" y="16079"/>
                  </a:lnTo>
                  <a:lnTo>
                    <a:pt x="127372" y="35091"/>
                  </a:lnTo>
                  <a:lnTo>
                    <a:pt x="91479" y="60452"/>
                  </a:lnTo>
                  <a:lnTo>
                    <a:pt x="60483" y="91436"/>
                  </a:lnTo>
                  <a:lnTo>
                    <a:pt x="35111" y="127319"/>
                  </a:lnTo>
                  <a:lnTo>
                    <a:pt x="16089" y="167376"/>
                  </a:lnTo>
                  <a:lnTo>
                    <a:pt x="4143" y="210882"/>
                  </a:lnTo>
                  <a:lnTo>
                    <a:pt x="0" y="257111"/>
                  </a:lnTo>
                  <a:lnTo>
                    <a:pt x="4143" y="303339"/>
                  </a:lnTo>
                  <a:lnTo>
                    <a:pt x="16089" y="346849"/>
                  </a:lnTo>
                  <a:lnTo>
                    <a:pt x="35111" y="386913"/>
                  </a:lnTo>
                  <a:lnTo>
                    <a:pt x="60483" y="422807"/>
                  </a:lnTo>
                  <a:lnTo>
                    <a:pt x="91479" y="453803"/>
                  </a:lnTo>
                  <a:lnTo>
                    <a:pt x="127372" y="479175"/>
                  </a:lnTo>
                  <a:lnTo>
                    <a:pt x="167437" y="498197"/>
                  </a:lnTo>
                  <a:lnTo>
                    <a:pt x="210946"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4" name="object 24" descr=""/>
            <p:cNvSpPr/>
            <p:nvPr/>
          </p:nvSpPr>
          <p:spPr>
            <a:xfrm>
              <a:off x="1114425" y="5421376"/>
              <a:ext cx="514350" cy="514350"/>
            </a:xfrm>
            <a:custGeom>
              <a:avLst/>
              <a:gdLst/>
              <a:ahLst/>
              <a:cxnLst/>
              <a:rect l="l" t="t" r="r" b="b"/>
              <a:pathLst>
                <a:path w="514350" h="514350">
                  <a:moveTo>
                    <a:pt x="0" y="257111"/>
                  </a:moveTo>
                  <a:lnTo>
                    <a:pt x="4143" y="210882"/>
                  </a:lnTo>
                  <a:lnTo>
                    <a:pt x="16089" y="167376"/>
                  </a:lnTo>
                  <a:lnTo>
                    <a:pt x="35111" y="127319"/>
                  </a:lnTo>
                  <a:lnTo>
                    <a:pt x="60483" y="91436"/>
                  </a:lnTo>
                  <a:lnTo>
                    <a:pt x="91479" y="60452"/>
                  </a:lnTo>
                  <a:lnTo>
                    <a:pt x="127372" y="35091"/>
                  </a:lnTo>
                  <a:lnTo>
                    <a:pt x="167437" y="16079"/>
                  </a:lnTo>
                  <a:lnTo>
                    <a:pt x="210946"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46" y="510143"/>
                  </a:lnTo>
                  <a:lnTo>
                    <a:pt x="167437" y="498197"/>
                  </a:lnTo>
                  <a:lnTo>
                    <a:pt x="127372" y="479175"/>
                  </a:lnTo>
                  <a:lnTo>
                    <a:pt x="91479" y="453803"/>
                  </a:lnTo>
                  <a:lnTo>
                    <a:pt x="60483" y="422807"/>
                  </a:lnTo>
                  <a:lnTo>
                    <a:pt x="35111" y="386913"/>
                  </a:lnTo>
                  <a:lnTo>
                    <a:pt x="16089" y="346849"/>
                  </a:lnTo>
                  <a:lnTo>
                    <a:pt x="4143" y="303339"/>
                  </a:lnTo>
                  <a:lnTo>
                    <a:pt x="0" y="257111"/>
                  </a:lnTo>
                  <a:close/>
                </a:path>
              </a:pathLst>
            </a:custGeom>
            <a:ln w="12699">
              <a:solidFill>
                <a:srgbClr val="000000"/>
              </a:solidFill>
            </a:ln>
          </p:spPr>
          <p:txBody>
            <a:bodyPr wrap="square" lIns="0" tIns="0" rIns="0" bIns="0" rtlCol="0"/>
            <a:lstStyle/>
            <a:p/>
          </p:txBody>
        </p:sp>
      </p:grpSp>
      <p:sp>
        <p:nvSpPr>
          <p:cNvPr id="25" name="object 25" descr=""/>
          <p:cNvSpPr txBox="1"/>
          <p:nvPr/>
        </p:nvSpPr>
        <p:spPr>
          <a:xfrm>
            <a:off x="1281430"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6" name="object 26" descr=""/>
          <p:cNvGrpSpPr/>
          <p:nvPr/>
        </p:nvGrpSpPr>
        <p:grpSpPr>
          <a:xfrm>
            <a:off x="6353175" y="5919787"/>
            <a:ext cx="1581150" cy="450850"/>
            <a:chOff x="6353175" y="5919787"/>
            <a:chExt cx="1581150" cy="450850"/>
          </a:xfrm>
        </p:grpSpPr>
        <p:sp>
          <p:nvSpPr>
            <p:cNvPr id="27" name="object 27" descr=""/>
            <p:cNvSpPr/>
            <p:nvPr/>
          </p:nvSpPr>
          <p:spPr>
            <a:xfrm>
              <a:off x="6372225" y="5938837"/>
              <a:ext cx="1543050" cy="412750"/>
            </a:xfrm>
            <a:custGeom>
              <a:avLst/>
              <a:gdLst/>
              <a:ahLst/>
              <a:cxnLst/>
              <a:rect l="l" t="t" r="r" b="b"/>
              <a:pathLst>
                <a:path w="1543050" h="412750">
                  <a:moveTo>
                    <a:pt x="1474216" y="0"/>
                  </a:moveTo>
                  <a:lnTo>
                    <a:pt x="68834" y="0"/>
                  </a:lnTo>
                  <a:lnTo>
                    <a:pt x="42058" y="5405"/>
                  </a:lnTo>
                  <a:lnTo>
                    <a:pt x="20177" y="20148"/>
                  </a:lnTo>
                  <a:lnTo>
                    <a:pt x="5415" y="42015"/>
                  </a:lnTo>
                  <a:lnTo>
                    <a:pt x="0" y="68795"/>
                  </a:lnTo>
                  <a:lnTo>
                    <a:pt x="0" y="343954"/>
                  </a:lnTo>
                  <a:lnTo>
                    <a:pt x="5415" y="370734"/>
                  </a:lnTo>
                  <a:lnTo>
                    <a:pt x="20177" y="392601"/>
                  </a:lnTo>
                  <a:lnTo>
                    <a:pt x="42058" y="407344"/>
                  </a:lnTo>
                  <a:lnTo>
                    <a:pt x="68834" y="412750"/>
                  </a:lnTo>
                  <a:lnTo>
                    <a:pt x="1474216" y="412750"/>
                  </a:lnTo>
                  <a:lnTo>
                    <a:pt x="1500991" y="407344"/>
                  </a:lnTo>
                  <a:lnTo>
                    <a:pt x="1522872" y="392601"/>
                  </a:lnTo>
                  <a:lnTo>
                    <a:pt x="1537634" y="370734"/>
                  </a:lnTo>
                  <a:lnTo>
                    <a:pt x="1543050" y="343954"/>
                  </a:lnTo>
                  <a:lnTo>
                    <a:pt x="1543050" y="68795"/>
                  </a:lnTo>
                  <a:lnTo>
                    <a:pt x="1537634" y="42015"/>
                  </a:lnTo>
                  <a:lnTo>
                    <a:pt x="1522872" y="20148"/>
                  </a:lnTo>
                  <a:lnTo>
                    <a:pt x="1500991" y="5405"/>
                  </a:lnTo>
                  <a:lnTo>
                    <a:pt x="1474216" y="0"/>
                  </a:lnTo>
                  <a:close/>
                </a:path>
              </a:pathLst>
            </a:custGeom>
            <a:solidFill>
              <a:srgbClr val="808080"/>
            </a:solidFill>
          </p:spPr>
          <p:txBody>
            <a:bodyPr wrap="square" lIns="0" tIns="0" rIns="0" bIns="0" rtlCol="0"/>
            <a:lstStyle/>
            <a:p/>
          </p:txBody>
        </p:sp>
        <p:sp>
          <p:nvSpPr>
            <p:cNvPr id="28" name="object 28" descr=""/>
            <p:cNvSpPr/>
            <p:nvPr/>
          </p:nvSpPr>
          <p:spPr>
            <a:xfrm>
              <a:off x="6372225" y="5938837"/>
              <a:ext cx="1543050" cy="412750"/>
            </a:xfrm>
            <a:custGeom>
              <a:avLst/>
              <a:gdLst/>
              <a:ahLst/>
              <a:cxnLst/>
              <a:rect l="l" t="t" r="r" b="b"/>
              <a:pathLst>
                <a:path w="1543050" h="412750">
                  <a:moveTo>
                    <a:pt x="0" y="68795"/>
                  </a:moveTo>
                  <a:lnTo>
                    <a:pt x="5415" y="42015"/>
                  </a:lnTo>
                  <a:lnTo>
                    <a:pt x="20177" y="20148"/>
                  </a:lnTo>
                  <a:lnTo>
                    <a:pt x="42058" y="5405"/>
                  </a:lnTo>
                  <a:lnTo>
                    <a:pt x="68834" y="0"/>
                  </a:lnTo>
                  <a:lnTo>
                    <a:pt x="1474216" y="0"/>
                  </a:lnTo>
                  <a:lnTo>
                    <a:pt x="1500991" y="5405"/>
                  </a:lnTo>
                  <a:lnTo>
                    <a:pt x="1522872" y="20148"/>
                  </a:lnTo>
                  <a:lnTo>
                    <a:pt x="1537634" y="42015"/>
                  </a:lnTo>
                  <a:lnTo>
                    <a:pt x="1543050" y="68795"/>
                  </a:lnTo>
                  <a:lnTo>
                    <a:pt x="1543050" y="343954"/>
                  </a:lnTo>
                  <a:lnTo>
                    <a:pt x="1537634" y="370734"/>
                  </a:lnTo>
                  <a:lnTo>
                    <a:pt x="1522872" y="392601"/>
                  </a:lnTo>
                  <a:lnTo>
                    <a:pt x="1500991" y="407344"/>
                  </a:lnTo>
                  <a:lnTo>
                    <a:pt x="1474216" y="412750"/>
                  </a:lnTo>
                  <a:lnTo>
                    <a:pt x="68834" y="412750"/>
                  </a:lnTo>
                  <a:lnTo>
                    <a:pt x="42058" y="407344"/>
                  </a:lnTo>
                  <a:lnTo>
                    <a:pt x="20177" y="392601"/>
                  </a:lnTo>
                  <a:lnTo>
                    <a:pt x="5415" y="370734"/>
                  </a:lnTo>
                  <a:lnTo>
                    <a:pt x="0" y="343954"/>
                  </a:lnTo>
                  <a:lnTo>
                    <a:pt x="0" y="68795"/>
                  </a:lnTo>
                  <a:close/>
                </a:path>
              </a:pathLst>
            </a:custGeom>
            <a:ln w="38100">
              <a:solidFill>
                <a:srgbClr val="000000"/>
              </a:solidFill>
            </a:ln>
          </p:spPr>
          <p:txBody>
            <a:bodyPr wrap="square" lIns="0" tIns="0" rIns="0" bIns="0" rtlCol="0"/>
            <a:lstStyle/>
            <a:p/>
          </p:txBody>
        </p:sp>
      </p:grpSp>
      <p:sp>
        <p:nvSpPr>
          <p:cNvPr id="29" name="object 29" descr=""/>
          <p:cNvSpPr txBox="1"/>
          <p:nvPr/>
        </p:nvSpPr>
        <p:spPr>
          <a:xfrm>
            <a:off x="6929119" y="600435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grpSp>
        <p:nvGrpSpPr>
          <p:cNvPr id="30" name="object 30" descr=""/>
          <p:cNvGrpSpPr/>
          <p:nvPr/>
        </p:nvGrpSpPr>
        <p:grpSpPr>
          <a:xfrm>
            <a:off x="0" y="0"/>
            <a:ext cx="9144000" cy="635000"/>
            <a:chOff x="0" y="0"/>
            <a:chExt cx="9144000" cy="635000"/>
          </a:xfrm>
        </p:grpSpPr>
        <p:sp>
          <p:nvSpPr>
            <p:cNvPr id="31" name="object 31" descr=""/>
            <p:cNvSpPr/>
            <p:nvPr/>
          </p:nvSpPr>
          <p:spPr>
            <a:xfrm>
              <a:off x="190500" y="0"/>
              <a:ext cx="8953500" cy="635000"/>
            </a:xfrm>
            <a:custGeom>
              <a:avLst/>
              <a:gdLst/>
              <a:ahLst/>
              <a:cxnLst/>
              <a:rect l="l" t="t" r="r" b="b"/>
              <a:pathLst>
                <a:path w="8953500" h="635000">
                  <a:moveTo>
                    <a:pt x="0" y="635000"/>
                  </a:moveTo>
                  <a:lnTo>
                    <a:pt x="8953500" y="635000"/>
                  </a:lnTo>
                  <a:lnTo>
                    <a:pt x="8953500" y="0"/>
                  </a:lnTo>
                  <a:lnTo>
                    <a:pt x="0" y="0"/>
                  </a:lnTo>
                  <a:lnTo>
                    <a:pt x="0" y="635000"/>
                  </a:lnTo>
                  <a:close/>
                </a:path>
              </a:pathLst>
            </a:custGeom>
            <a:solidFill>
              <a:srgbClr val="F6F7F8"/>
            </a:solidFill>
          </p:spPr>
          <p:txBody>
            <a:bodyPr wrap="square" lIns="0" tIns="0" rIns="0" bIns="0" rtlCol="0"/>
            <a:lstStyle/>
            <a:p/>
          </p:txBody>
        </p:sp>
        <p:sp>
          <p:nvSpPr>
            <p:cNvPr id="32" name="object 32"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33" name="object 33"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单选题</a:t>
            </a:r>
            <a:endParaRPr sz="2600">
              <a:latin typeface="微软雅黑"/>
              <a:cs typeface="微软雅黑"/>
            </a:endParaRPr>
          </a:p>
        </p:txBody>
      </p:sp>
      <p:sp>
        <p:nvSpPr>
          <p:cNvPr id="34" name="object 34"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35" name="object 35" descr=""/>
          <p:cNvPicPr/>
          <p:nvPr/>
        </p:nvPicPr>
        <p:blipFill>
          <a:blip r:embed="rId2" cstate="print"/>
          <a:stretch>
            <a:fillRect/>
          </a:stretch>
        </p:blipFill>
        <p:spPr>
          <a:xfrm>
            <a:off x="7594600" y="63500"/>
            <a:ext cx="1422400" cy="50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600252" y="879094"/>
            <a:ext cx="8415655" cy="4617085"/>
          </a:xfrm>
          <a:prstGeom prst="rect">
            <a:avLst/>
          </a:prstGeom>
        </p:spPr>
        <p:txBody>
          <a:bodyPr wrap="square" lIns="0" tIns="13335" rIns="0" bIns="0" rtlCol="0" vert="horz">
            <a:spAutoFit/>
          </a:bodyPr>
          <a:lstStyle/>
          <a:p>
            <a:pPr marL="247015">
              <a:lnSpc>
                <a:spcPct val="100000"/>
              </a:lnSpc>
              <a:spcBef>
                <a:spcPts val="105"/>
              </a:spcBef>
            </a:pPr>
            <a:r>
              <a:rPr dirty="0" sz="2600">
                <a:solidFill>
                  <a:srgbClr val="0000CC"/>
                </a:solidFill>
                <a:latin typeface="黑体"/>
                <a:cs typeface="黑体"/>
              </a:rPr>
              <a:t>4.3.3</a:t>
            </a:r>
            <a:r>
              <a:rPr dirty="0" sz="2600" spc="-20">
                <a:solidFill>
                  <a:srgbClr val="0000CC"/>
                </a:solidFill>
                <a:latin typeface="黑体"/>
                <a:cs typeface="黑体"/>
              </a:rPr>
              <a:t> 分段开采技术</a:t>
            </a:r>
            <a:endParaRPr sz="2600">
              <a:latin typeface="黑体"/>
              <a:cs typeface="黑体"/>
            </a:endParaRPr>
          </a:p>
          <a:p>
            <a:pPr marL="621030">
              <a:lnSpc>
                <a:spcPct val="100000"/>
              </a:lnSpc>
              <a:spcBef>
                <a:spcPts val="2630"/>
              </a:spcBef>
            </a:pPr>
            <a:r>
              <a:rPr dirty="0" sz="2400" spc="-10">
                <a:solidFill>
                  <a:srgbClr val="40458B"/>
                </a:solidFill>
                <a:latin typeface="黑体"/>
                <a:cs typeface="黑体"/>
              </a:rPr>
              <a:t>如果</a:t>
            </a:r>
            <a:r>
              <a:rPr dirty="0" sz="2400" spc="-10">
                <a:solidFill>
                  <a:srgbClr val="008000"/>
                </a:solidFill>
                <a:latin typeface="黑体"/>
                <a:cs typeface="黑体"/>
              </a:rPr>
              <a:t>向量的长度大于向量寄存器的长度</a:t>
            </a:r>
            <a:r>
              <a:rPr dirty="0" sz="2400" spc="-50">
                <a:solidFill>
                  <a:srgbClr val="40458B"/>
                </a:solidFill>
                <a:latin typeface="黑体"/>
                <a:cs typeface="黑体"/>
              </a:rPr>
              <a:t>，</a:t>
            </a:r>
            <a:endParaRPr sz="2400">
              <a:latin typeface="黑体"/>
              <a:cs typeface="黑体"/>
            </a:endParaRPr>
          </a:p>
          <a:p>
            <a:pPr marL="12700">
              <a:lnSpc>
                <a:spcPct val="100000"/>
              </a:lnSpc>
              <a:spcBef>
                <a:spcPts val="2014"/>
              </a:spcBef>
            </a:pPr>
            <a:r>
              <a:rPr dirty="0" sz="2400" spc="-10">
                <a:solidFill>
                  <a:srgbClr val="40458B"/>
                </a:solidFill>
                <a:latin typeface="黑体"/>
                <a:cs typeface="黑体"/>
              </a:rPr>
              <a:t>该如何处理呢？</a:t>
            </a:r>
            <a:endParaRPr sz="2400">
              <a:latin typeface="黑体"/>
              <a:cs typeface="黑体"/>
            </a:endParaRPr>
          </a:p>
          <a:p>
            <a:pPr algn="just" marL="469265" marR="5080" indent="-457200">
              <a:lnSpc>
                <a:spcPct val="150000"/>
              </a:lnSpc>
              <a:spcBef>
                <a:spcPts val="580"/>
              </a:spcBef>
              <a:buSzPct val="89583"/>
              <a:buFont typeface="Wingdings"/>
              <a:buChar char=""/>
              <a:tabLst>
                <a:tab pos="469265" algn="l"/>
              </a:tabLst>
            </a:pPr>
            <a:r>
              <a:rPr dirty="0" sz="2400" spc="-5">
                <a:solidFill>
                  <a:srgbClr val="40458B"/>
                </a:solidFill>
                <a:latin typeface="黑体"/>
                <a:cs typeface="黑体"/>
              </a:rPr>
              <a:t>当向量的长度大于向量寄存器的长度时，必须把长向量分成长度固定的段，然后循环分段处理，每一次循环只处理一个</a:t>
            </a:r>
            <a:r>
              <a:rPr dirty="0" sz="2400" spc="-15">
                <a:solidFill>
                  <a:srgbClr val="40458B"/>
                </a:solidFill>
                <a:latin typeface="黑体"/>
                <a:cs typeface="黑体"/>
              </a:rPr>
              <a:t>向量段。</a:t>
            </a:r>
            <a:endParaRPr sz="2400">
              <a:latin typeface="黑体"/>
              <a:cs typeface="黑体"/>
            </a:endParaRPr>
          </a:p>
          <a:p>
            <a:pPr algn="just" marL="469265" indent="-456565">
              <a:lnSpc>
                <a:spcPct val="100000"/>
              </a:lnSpc>
              <a:spcBef>
                <a:spcPts val="2014"/>
              </a:spcBef>
              <a:buSzPct val="89583"/>
              <a:buFont typeface="Wingdings"/>
              <a:buChar char=""/>
              <a:tabLst>
                <a:tab pos="469265" algn="l"/>
              </a:tabLst>
            </a:pPr>
            <a:r>
              <a:rPr dirty="0" sz="2400" spc="-5">
                <a:solidFill>
                  <a:srgbClr val="40458B"/>
                </a:solidFill>
                <a:latin typeface="黑体"/>
                <a:cs typeface="黑体"/>
              </a:rPr>
              <a:t>这种技术称为</a:t>
            </a:r>
            <a:r>
              <a:rPr dirty="0" sz="2400" spc="-10">
                <a:solidFill>
                  <a:srgbClr val="FF0000"/>
                </a:solidFill>
                <a:latin typeface="黑体"/>
                <a:cs typeface="黑体"/>
              </a:rPr>
              <a:t>分段开采技术。</a:t>
            </a:r>
            <a:endParaRPr sz="2400">
              <a:latin typeface="黑体"/>
              <a:cs typeface="黑体"/>
            </a:endParaRPr>
          </a:p>
          <a:p>
            <a:pPr lvl="1" marL="1097915" indent="-457200">
              <a:lnSpc>
                <a:spcPct val="100000"/>
              </a:lnSpc>
              <a:spcBef>
                <a:spcPts val="1780"/>
              </a:spcBef>
              <a:buClr>
                <a:srgbClr val="4668F5"/>
              </a:buClr>
              <a:buSzPct val="65000"/>
              <a:buFont typeface="Wingdings"/>
              <a:buChar char=""/>
              <a:tabLst>
                <a:tab pos="1097915" algn="l"/>
              </a:tabLst>
            </a:pPr>
            <a:r>
              <a:rPr dirty="0" sz="2000" spc="-25" b="1">
                <a:solidFill>
                  <a:srgbClr val="00AFEF"/>
                </a:solidFill>
                <a:latin typeface="宋体"/>
                <a:cs typeface="宋体"/>
              </a:rPr>
              <a:t>由系统硬件和软件控制完成，对程序员是透明的。</a:t>
            </a:r>
            <a:endParaRPr sz="2000">
              <a:latin typeface="宋体"/>
              <a:cs typeface="宋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644144" y="1029817"/>
            <a:ext cx="8277225" cy="1854835"/>
          </a:xfrm>
          <a:prstGeom prst="rect">
            <a:avLst/>
          </a:prstGeom>
        </p:spPr>
        <p:txBody>
          <a:bodyPr wrap="square" lIns="0" tIns="12065" rIns="0" bIns="0" rtlCol="0" vert="horz">
            <a:spAutoFit/>
          </a:bodyPr>
          <a:lstStyle/>
          <a:p>
            <a:pPr marL="12700" marR="5080" indent="443230">
              <a:lnSpc>
                <a:spcPct val="140100"/>
              </a:lnSpc>
              <a:spcBef>
                <a:spcPts val="95"/>
              </a:spcBef>
            </a:pPr>
            <a:r>
              <a:rPr dirty="0" sz="2000" spc="-10" b="1">
                <a:solidFill>
                  <a:srgbClr val="E14B04"/>
                </a:solidFill>
                <a:latin typeface="宋体"/>
                <a:cs typeface="宋体"/>
              </a:rPr>
              <a:t>例</a:t>
            </a:r>
            <a:r>
              <a:rPr dirty="0" sz="2000" b="1">
                <a:solidFill>
                  <a:srgbClr val="E14B04"/>
                </a:solidFill>
                <a:latin typeface="宋体"/>
                <a:cs typeface="宋体"/>
              </a:rPr>
              <a:t>4.3</a:t>
            </a:r>
            <a:r>
              <a:rPr dirty="0" sz="2000" spc="-35" b="1">
                <a:solidFill>
                  <a:srgbClr val="E14B04"/>
                </a:solidFill>
                <a:latin typeface="宋体"/>
                <a:cs typeface="宋体"/>
              </a:rPr>
              <a:t> </a:t>
            </a:r>
            <a:r>
              <a:rPr dirty="0" sz="2000" spc="-10" b="1">
                <a:latin typeface="宋体"/>
                <a:cs typeface="宋体"/>
              </a:rPr>
              <a:t>设</a:t>
            </a:r>
            <a:r>
              <a:rPr dirty="0" sz="2000" spc="-10" b="1">
                <a:solidFill>
                  <a:srgbClr val="9933FF"/>
                </a:solidFill>
                <a:latin typeface="宋体"/>
                <a:cs typeface="宋体"/>
              </a:rPr>
              <a:t>A</a:t>
            </a:r>
            <a:r>
              <a:rPr dirty="0" sz="2000" spc="-10" b="1">
                <a:latin typeface="宋体"/>
                <a:cs typeface="宋体"/>
              </a:rPr>
              <a:t>和</a:t>
            </a:r>
            <a:r>
              <a:rPr dirty="0" sz="2000" spc="-10" b="1">
                <a:solidFill>
                  <a:srgbClr val="9933FF"/>
                </a:solidFill>
                <a:latin typeface="宋体"/>
                <a:cs typeface="宋体"/>
              </a:rPr>
              <a:t>B</a:t>
            </a:r>
            <a:r>
              <a:rPr dirty="0" sz="2000" spc="-10" b="1">
                <a:latin typeface="宋体"/>
                <a:cs typeface="宋体"/>
              </a:rPr>
              <a:t>是长度为</a:t>
            </a:r>
            <a:r>
              <a:rPr dirty="0" sz="2000" spc="-15" b="1">
                <a:solidFill>
                  <a:srgbClr val="9933FF"/>
                </a:solidFill>
                <a:latin typeface="宋体"/>
                <a:cs typeface="宋体"/>
              </a:rPr>
              <a:t>N</a:t>
            </a:r>
            <a:r>
              <a:rPr dirty="0" sz="2000" spc="-20" b="1">
                <a:latin typeface="宋体"/>
                <a:cs typeface="宋体"/>
              </a:rPr>
              <a:t>的向量，考虑在</a:t>
            </a:r>
            <a:r>
              <a:rPr dirty="0" sz="2000" spc="-10" b="1">
                <a:solidFill>
                  <a:srgbClr val="9933FF"/>
                </a:solidFill>
                <a:latin typeface="宋体"/>
                <a:cs typeface="宋体"/>
              </a:rPr>
              <a:t>Cray-</a:t>
            </a:r>
            <a:r>
              <a:rPr dirty="0" sz="2000" spc="-15" b="1">
                <a:solidFill>
                  <a:srgbClr val="9933FF"/>
                </a:solidFill>
                <a:latin typeface="宋体"/>
                <a:cs typeface="宋体"/>
              </a:rPr>
              <a:t>1</a:t>
            </a:r>
            <a:r>
              <a:rPr dirty="0" sz="2000" spc="-25" b="1">
                <a:latin typeface="宋体"/>
                <a:cs typeface="宋体"/>
              </a:rPr>
              <a:t>向量处理器上实现以下</a:t>
            </a:r>
            <a:r>
              <a:rPr dirty="0" sz="2000" spc="-20" b="1">
                <a:latin typeface="宋体"/>
                <a:cs typeface="宋体"/>
              </a:rPr>
              <a:t>的循环操作：</a:t>
            </a:r>
            <a:endParaRPr sz="2000">
              <a:latin typeface="宋体"/>
              <a:cs typeface="宋体"/>
            </a:endParaRPr>
          </a:p>
          <a:p>
            <a:pPr marL="1226820">
              <a:lnSpc>
                <a:spcPct val="100000"/>
              </a:lnSpc>
              <a:spcBef>
                <a:spcPts val="1440"/>
              </a:spcBef>
              <a:tabLst>
                <a:tab pos="1741170" algn="l"/>
              </a:tabLst>
            </a:pPr>
            <a:r>
              <a:rPr dirty="0" sz="2000" spc="-25" b="1">
                <a:solidFill>
                  <a:srgbClr val="E14B04"/>
                </a:solidFill>
                <a:latin typeface="宋体"/>
                <a:cs typeface="宋体"/>
              </a:rPr>
              <a:t>DO</a:t>
            </a:r>
            <a:r>
              <a:rPr dirty="0" sz="2000" b="1">
                <a:solidFill>
                  <a:srgbClr val="E14B04"/>
                </a:solidFill>
                <a:latin typeface="宋体"/>
                <a:cs typeface="宋体"/>
              </a:rPr>
              <a:t>	10</a:t>
            </a:r>
            <a:r>
              <a:rPr dirty="0" sz="2000" spc="-25" b="1">
                <a:solidFill>
                  <a:srgbClr val="E14B04"/>
                </a:solidFill>
                <a:latin typeface="宋体"/>
                <a:cs typeface="宋体"/>
              </a:rPr>
              <a:t> </a:t>
            </a:r>
            <a:r>
              <a:rPr dirty="0" sz="2000" b="1">
                <a:solidFill>
                  <a:srgbClr val="E14B04"/>
                </a:solidFill>
                <a:latin typeface="宋体"/>
                <a:cs typeface="宋体"/>
              </a:rPr>
              <a:t>I</a:t>
            </a:r>
            <a:r>
              <a:rPr dirty="0" sz="2000" spc="-20" b="1">
                <a:solidFill>
                  <a:srgbClr val="E14B04"/>
                </a:solidFill>
                <a:latin typeface="宋体"/>
                <a:cs typeface="宋体"/>
              </a:rPr>
              <a:t> </a:t>
            </a:r>
            <a:r>
              <a:rPr dirty="0" sz="2000" b="1">
                <a:solidFill>
                  <a:srgbClr val="E14B04"/>
                </a:solidFill>
                <a:latin typeface="宋体"/>
                <a:cs typeface="宋体"/>
              </a:rPr>
              <a:t>=</a:t>
            </a:r>
            <a:r>
              <a:rPr dirty="0" sz="2000" spc="-20" b="1">
                <a:solidFill>
                  <a:srgbClr val="E14B04"/>
                </a:solidFill>
                <a:latin typeface="宋体"/>
                <a:cs typeface="宋体"/>
              </a:rPr>
              <a:t> </a:t>
            </a:r>
            <a:r>
              <a:rPr dirty="0" sz="2000" spc="-25" b="1">
                <a:solidFill>
                  <a:srgbClr val="E14B04"/>
                </a:solidFill>
                <a:latin typeface="宋体"/>
                <a:cs typeface="宋体"/>
              </a:rPr>
              <a:t>1，N</a:t>
            </a:r>
            <a:endParaRPr sz="2000">
              <a:latin typeface="宋体"/>
              <a:cs typeface="宋体"/>
            </a:endParaRPr>
          </a:p>
          <a:p>
            <a:pPr marL="711835">
              <a:lnSpc>
                <a:spcPct val="100000"/>
              </a:lnSpc>
              <a:spcBef>
                <a:spcPts val="1440"/>
              </a:spcBef>
              <a:tabLst>
                <a:tab pos="1226185" algn="l"/>
              </a:tabLst>
            </a:pPr>
            <a:r>
              <a:rPr dirty="0" sz="2000" spc="-25" b="1">
                <a:solidFill>
                  <a:srgbClr val="E14B04"/>
                </a:solidFill>
                <a:latin typeface="宋体"/>
                <a:cs typeface="宋体"/>
              </a:rPr>
              <a:t>10</a:t>
            </a:r>
            <a:r>
              <a:rPr dirty="0" sz="2000" b="1">
                <a:solidFill>
                  <a:srgbClr val="E14B04"/>
                </a:solidFill>
                <a:latin typeface="宋体"/>
                <a:cs typeface="宋体"/>
              </a:rPr>
              <a:t>	A（I）=</a:t>
            </a:r>
            <a:r>
              <a:rPr dirty="0" sz="2000" spc="-40" b="1">
                <a:solidFill>
                  <a:srgbClr val="E14B04"/>
                </a:solidFill>
                <a:latin typeface="宋体"/>
                <a:cs typeface="宋体"/>
              </a:rPr>
              <a:t> </a:t>
            </a:r>
            <a:r>
              <a:rPr dirty="0" sz="2000" b="1">
                <a:solidFill>
                  <a:srgbClr val="E14B04"/>
                </a:solidFill>
                <a:latin typeface="宋体"/>
                <a:cs typeface="宋体"/>
              </a:rPr>
              <a:t>5.0</a:t>
            </a:r>
            <a:r>
              <a:rPr dirty="0" sz="2000" spc="-40" b="1">
                <a:solidFill>
                  <a:srgbClr val="E14B04"/>
                </a:solidFill>
                <a:latin typeface="宋体"/>
                <a:cs typeface="宋体"/>
              </a:rPr>
              <a:t> </a:t>
            </a:r>
            <a:r>
              <a:rPr dirty="0" sz="2000" b="1">
                <a:solidFill>
                  <a:srgbClr val="E14B04"/>
                </a:solidFill>
                <a:latin typeface="宋体"/>
                <a:cs typeface="宋体"/>
              </a:rPr>
              <a:t>*</a:t>
            </a:r>
            <a:r>
              <a:rPr dirty="0" sz="2000" spc="-15" b="1">
                <a:solidFill>
                  <a:srgbClr val="E14B04"/>
                </a:solidFill>
                <a:latin typeface="宋体"/>
                <a:cs typeface="宋体"/>
              </a:rPr>
              <a:t> </a:t>
            </a:r>
            <a:r>
              <a:rPr dirty="0" sz="2000" b="1">
                <a:solidFill>
                  <a:srgbClr val="E14B04"/>
                </a:solidFill>
                <a:latin typeface="宋体"/>
                <a:cs typeface="宋体"/>
              </a:rPr>
              <a:t>B（I）</a:t>
            </a:r>
            <a:r>
              <a:rPr dirty="0" sz="2000" spc="-30" b="1">
                <a:solidFill>
                  <a:srgbClr val="E14B04"/>
                </a:solidFill>
                <a:latin typeface="宋体"/>
                <a:cs typeface="宋体"/>
              </a:rPr>
              <a:t> </a:t>
            </a:r>
            <a:r>
              <a:rPr dirty="0" sz="2000" b="1">
                <a:solidFill>
                  <a:srgbClr val="E14B04"/>
                </a:solidFill>
                <a:latin typeface="宋体"/>
                <a:cs typeface="宋体"/>
              </a:rPr>
              <a:t>+</a:t>
            </a:r>
            <a:r>
              <a:rPr dirty="0" sz="2000" spc="-15" b="1">
                <a:solidFill>
                  <a:srgbClr val="E14B04"/>
                </a:solidFill>
                <a:latin typeface="宋体"/>
                <a:cs typeface="宋体"/>
              </a:rPr>
              <a:t> </a:t>
            </a:r>
            <a:r>
              <a:rPr dirty="0" sz="2000" spc="-50" b="1">
                <a:solidFill>
                  <a:srgbClr val="E14B04"/>
                </a:solidFill>
                <a:latin typeface="宋体"/>
                <a:cs typeface="宋体"/>
              </a:rPr>
              <a:t>C</a:t>
            </a:r>
            <a:endParaRPr sz="2000">
              <a:latin typeface="宋体"/>
              <a:cs typeface="宋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1779142" y="1568043"/>
            <a:ext cx="1146810" cy="1214755"/>
          </a:xfrm>
          <a:prstGeom prst="rect">
            <a:avLst/>
          </a:prstGeom>
        </p:spPr>
        <p:txBody>
          <a:bodyPr wrap="square" lIns="0" tIns="12700" rIns="0" bIns="0" rtlCol="0" vert="horz">
            <a:spAutoFit/>
          </a:bodyPr>
          <a:lstStyle/>
          <a:p>
            <a:pPr marL="38100" marR="30480">
              <a:lnSpc>
                <a:spcPct val="130000"/>
              </a:lnSpc>
              <a:spcBef>
                <a:spcPts val="100"/>
              </a:spcBef>
            </a:pPr>
            <a:r>
              <a:rPr dirty="0" sz="2000" b="1">
                <a:solidFill>
                  <a:srgbClr val="9933FF"/>
                </a:solidFill>
                <a:latin typeface="宋体"/>
                <a:cs typeface="宋体"/>
              </a:rPr>
              <a:t>S</a:t>
            </a:r>
            <a:r>
              <a:rPr dirty="0" baseline="-21367" sz="1950" b="1">
                <a:solidFill>
                  <a:srgbClr val="9933FF"/>
                </a:solidFill>
                <a:latin typeface="宋体"/>
                <a:cs typeface="宋体"/>
              </a:rPr>
              <a:t>1</a:t>
            </a:r>
            <a:r>
              <a:rPr dirty="0" baseline="-21367" sz="1950" spc="22" b="1">
                <a:solidFill>
                  <a:srgbClr val="9933FF"/>
                </a:solidFill>
                <a:latin typeface="宋体"/>
                <a:cs typeface="宋体"/>
              </a:rPr>
              <a:t> </a:t>
            </a:r>
            <a:r>
              <a:rPr dirty="0" sz="2000" b="1">
                <a:solidFill>
                  <a:srgbClr val="9933FF"/>
                </a:solidFill>
                <a:latin typeface="宋体"/>
                <a:cs typeface="宋体"/>
              </a:rPr>
              <a:t>←</a:t>
            </a:r>
            <a:r>
              <a:rPr dirty="0" sz="2000" spc="-5" b="1">
                <a:solidFill>
                  <a:srgbClr val="9933FF"/>
                </a:solidFill>
                <a:latin typeface="宋体"/>
                <a:cs typeface="宋体"/>
              </a:rPr>
              <a:t> </a:t>
            </a:r>
            <a:r>
              <a:rPr dirty="0" sz="2000" spc="-25" b="1">
                <a:solidFill>
                  <a:srgbClr val="9933FF"/>
                </a:solidFill>
                <a:latin typeface="宋体"/>
                <a:cs typeface="宋体"/>
              </a:rPr>
              <a:t>5.0 </a:t>
            </a:r>
            <a:r>
              <a:rPr dirty="0" sz="2000" b="1">
                <a:solidFill>
                  <a:srgbClr val="9933FF"/>
                </a:solidFill>
                <a:latin typeface="宋体"/>
                <a:cs typeface="宋体"/>
              </a:rPr>
              <a:t>S</a:t>
            </a:r>
            <a:r>
              <a:rPr dirty="0" baseline="-21367" sz="1950" b="1">
                <a:solidFill>
                  <a:srgbClr val="9933FF"/>
                </a:solidFill>
                <a:latin typeface="宋体"/>
                <a:cs typeface="宋体"/>
              </a:rPr>
              <a:t>2</a:t>
            </a:r>
            <a:r>
              <a:rPr dirty="0" baseline="-21367" sz="1950" spc="22" b="1">
                <a:solidFill>
                  <a:srgbClr val="9933FF"/>
                </a:solidFill>
                <a:latin typeface="宋体"/>
                <a:cs typeface="宋体"/>
              </a:rPr>
              <a:t> </a:t>
            </a:r>
            <a:r>
              <a:rPr dirty="0" sz="2000" b="1">
                <a:solidFill>
                  <a:srgbClr val="9933FF"/>
                </a:solidFill>
                <a:latin typeface="宋体"/>
                <a:cs typeface="宋体"/>
              </a:rPr>
              <a:t>←</a:t>
            </a:r>
            <a:r>
              <a:rPr dirty="0" sz="2000" spc="-5" b="1">
                <a:solidFill>
                  <a:srgbClr val="9933FF"/>
                </a:solidFill>
                <a:latin typeface="宋体"/>
                <a:cs typeface="宋体"/>
              </a:rPr>
              <a:t> </a:t>
            </a:r>
            <a:r>
              <a:rPr dirty="0" sz="2000" spc="-50" b="1">
                <a:solidFill>
                  <a:srgbClr val="9933FF"/>
                </a:solidFill>
                <a:latin typeface="宋体"/>
                <a:cs typeface="宋体"/>
              </a:rPr>
              <a:t>C </a:t>
            </a:r>
            <a:r>
              <a:rPr dirty="0" sz="2000" b="1">
                <a:solidFill>
                  <a:srgbClr val="9933FF"/>
                </a:solidFill>
                <a:latin typeface="宋体"/>
                <a:cs typeface="宋体"/>
              </a:rPr>
              <a:t>VL</a:t>
            </a:r>
            <a:r>
              <a:rPr dirty="0" sz="2000" spc="-25" b="1">
                <a:solidFill>
                  <a:srgbClr val="9933FF"/>
                </a:solidFill>
                <a:latin typeface="宋体"/>
                <a:cs typeface="宋体"/>
              </a:rPr>
              <a:t> </a:t>
            </a:r>
            <a:r>
              <a:rPr dirty="0" sz="2000" b="1">
                <a:solidFill>
                  <a:srgbClr val="9933FF"/>
                </a:solidFill>
                <a:latin typeface="宋体"/>
                <a:cs typeface="宋体"/>
              </a:rPr>
              <a:t>←</a:t>
            </a:r>
            <a:r>
              <a:rPr dirty="0" sz="2000" spc="-15" b="1">
                <a:solidFill>
                  <a:srgbClr val="9933FF"/>
                </a:solidFill>
                <a:latin typeface="宋体"/>
                <a:cs typeface="宋体"/>
              </a:rPr>
              <a:t> </a:t>
            </a:r>
            <a:r>
              <a:rPr dirty="0" sz="2000" spc="-50" b="1">
                <a:solidFill>
                  <a:srgbClr val="9933FF"/>
                </a:solidFill>
                <a:latin typeface="宋体"/>
                <a:cs typeface="宋体"/>
              </a:rPr>
              <a:t>N</a:t>
            </a:r>
            <a:endParaRPr sz="2000">
              <a:latin typeface="宋体"/>
              <a:cs typeface="宋体"/>
            </a:endParaRPr>
          </a:p>
        </p:txBody>
      </p:sp>
      <p:sp>
        <p:nvSpPr>
          <p:cNvPr id="11" name="object 11" descr=""/>
          <p:cNvSpPr txBox="1"/>
          <p:nvPr/>
        </p:nvSpPr>
        <p:spPr>
          <a:xfrm>
            <a:off x="3879850" y="1568043"/>
            <a:ext cx="3489960" cy="1214755"/>
          </a:xfrm>
          <a:prstGeom prst="rect">
            <a:avLst/>
          </a:prstGeom>
        </p:spPr>
        <p:txBody>
          <a:bodyPr wrap="square" lIns="0" tIns="104139" rIns="0" bIns="0" rtlCol="0" vert="horz">
            <a:spAutoFit/>
          </a:bodyPr>
          <a:lstStyle/>
          <a:p>
            <a:pPr marL="38100">
              <a:lnSpc>
                <a:spcPct val="100000"/>
              </a:lnSpc>
              <a:spcBef>
                <a:spcPts val="819"/>
              </a:spcBef>
            </a:pPr>
            <a:r>
              <a:rPr dirty="0" sz="2000" spc="-10" b="1">
                <a:solidFill>
                  <a:srgbClr val="40458B"/>
                </a:solidFill>
                <a:latin typeface="宋体"/>
                <a:cs typeface="宋体"/>
              </a:rPr>
              <a:t>；将常数</a:t>
            </a:r>
            <a:r>
              <a:rPr dirty="0" sz="2000" spc="-10" b="1">
                <a:solidFill>
                  <a:srgbClr val="9933FF"/>
                </a:solidFill>
                <a:latin typeface="宋体"/>
                <a:cs typeface="宋体"/>
              </a:rPr>
              <a:t>5.0</a:t>
            </a:r>
            <a:r>
              <a:rPr dirty="0" sz="2000" spc="-20" b="1">
                <a:solidFill>
                  <a:srgbClr val="40458B"/>
                </a:solidFill>
                <a:latin typeface="宋体"/>
                <a:cs typeface="宋体"/>
              </a:rPr>
              <a:t>送入标量寄存器</a:t>
            </a:r>
            <a:r>
              <a:rPr dirty="0" sz="2000" spc="-25" b="1">
                <a:solidFill>
                  <a:srgbClr val="9933FF"/>
                </a:solidFill>
                <a:latin typeface="宋体"/>
                <a:cs typeface="宋体"/>
              </a:rPr>
              <a:t>S</a:t>
            </a:r>
            <a:r>
              <a:rPr dirty="0" baseline="-21367" sz="1950" spc="-37" b="1">
                <a:solidFill>
                  <a:srgbClr val="9933FF"/>
                </a:solidFill>
                <a:latin typeface="宋体"/>
                <a:cs typeface="宋体"/>
              </a:rPr>
              <a:t>1</a:t>
            </a:r>
            <a:endParaRPr baseline="-21367" sz="1950">
              <a:latin typeface="宋体"/>
              <a:cs typeface="宋体"/>
            </a:endParaRPr>
          </a:p>
          <a:p>
            <a:pPr marL="66675">
              <a:lnSpc>
                <a:spcPct val="100000"/>
              </a:lnSpc>
              <a:spcBef>
                <a:spcPts val="720"/>
              </a:spcBef>
            </a:pPr>
            <a:r>
              <a:rPr dirty="0" sz="2000" spc="-10" b="1">
                <a:solidFill>
                  <a:srgbClr val="40458B"/>
                </a:solidFill>
                <a:latin typeface="宋体"/>
                <a:cs typeface="宋体"/>
              </a:rPr>
              <a:t>；将常数</a:t>
            </a:r>
            <a:r>
              <a:rPr dirty="0" sz="2000" spc="-10" b="1">
                <a:solidFill>
                  <a:srgbClr val="9933FF"/>
                </a:solidFill>
                <a:latin typeface="宋体"/>
                <a:cs typeface="宋体"/>
              </a:rPr>
              <a:t>C</a:t>
            </a:r>
            <a:r>
              <a:rPr dirty="0" sz="2000" spc="-15" b="1">
                <a:solidFill>
                  <a:srgbClr val="40458B"/>
                </a:solidFill>
                <a:latin typeface="宋体"/>
                <a:cs typeface="宋体"/>
              </a:rPr>
              <a:t>送入标量寄存器</a:t>
            </a:r>
            <a:r>
              <a:rPr dirty="0" sz="2000" spc="-25" b="1">
                <a:solidFill>
                  <a:srgbClr val="9933FF"/>
                </a:solidFill>
                <a:latin typeface="宋体"/>
                <a:cs typeface="宋体"/>
              </a:rPr>
              <a:t>S</a:t>
            </a:r>
            <a:r>
              <a:rPr dirty="0" baseline="-21367" sz="1950" spc="-37" b="1">
                <a:solidFill>
                  <a:srgbClr val="9933FF"/>
                </a:solidFill>
                <a:latin typeface="宋体"/>
                <a:cs typeface="宋体"/>
              </a:rPr>
              <a:t>2</a:t>
            </a:r>
            <a:endParaRPr baseline="-21367" sz="1950">
              <a:latin typeface="宋体"/>
              <a:cs typeface="宋体"/>
            </a:endParaRPr>
          </a:p>
          <a:p>
            <a:pPr marL="66675">
              <a:lnSpc>
                <a:spcPct val="100000"/>
              </a:lnSpc>
              <a:spcBef>
                <a:spcPts val="720"/>
              </a:spcBef>
            </a:pPr>
            <a:r>
              <a:rPr dirty="0" sz="2000" spc="-10" b="1">
                <a:solidFill>
                  <a:srgbClr val="40458B"/>
                </a:solidFill>
                <a:latin typeface="宋体"/>
                <a:cs typeface="宋体"/>
              </a:rPr>
              <a:t>；在</a:t>
            </a:r>
            <a:r>
              <a:rPr dirty="0" sz="2000" spc="-10" b="1">
                <a:solidFill>
                  <a:srgbClr val="9933FF"/>
                </a:solidFill>
                <a:latin typeface="宋体"/>
                <a:cs typeface="宋体"/>
              </a:rPr>
              <a:t>VL</a:t>
            </a:r>
            <a:r>
              <a:rPr dirty="0" sz="2000" spc="-15" b="1">
                <a:solidFill>
                  <a:srgbClr val="40458B"/>
                </a:solidFill>
                <a:latin typeface="宋体"/>
                <a:cs typeface="宋体"/>
              </a:rPr>
              <a:t>中设置向量长度</a:t>
            </a:r>
            <a:r>
              <a:rPr dirty="0" sz="2000" spc="-50" b="1">
                <a:solidFill>
                  <a:srgbClr val="9933FF"/>
                </a:solidFill>
                <a:latin typeface="宋体"/>
                <a:cs typeface="宋体"/>
              </a:rPr>
              <a:t>N</a:t>
            </a:r>
            <a:endParaRPr sz="2000">
              <a:latin typeface="宋体"/>
              <a:cs typeface="宋体"/>
            </a:endParaRPr>
          </a:p>
        </p:txBody>
      </p:sp>
      <p:graphicFrame>
        <p:nvGraphicFramePr>
          <p:cNvPr id="12" name="object 12" descr=""/>
          <p:cNvGraphicFramePr>
            <a:graphicFrameLocks noGrp="1"/>
          </p:cNvGraphicFramePr>
          <p:nvPr/>
        </p:nvGraphicFramePr>
        <p:xfrm>
          <a:off x="1785492" y="2896592"/>
          <a:ext cx="6761480" cy="1889125"/>
        </p:xfrm>
        <a:graphic>
          <a:graphicData uri="http://schemas.openxmlformats.org/drawingml/2006/table">
            <a:tbl>
              <a:tblPr firstRow="1" bandRow="1">
                <a:tableStyleId>{2D5ABB26-0587-4C30-8999-92F81FD0307C}</a:tableStyleId>
              </a:tblPr>
              <a:tblGrid>
                <a:gridCol w="267970"/>
                <a:gridCol w="362585"/>
                <a:gridCol w="343534"/>
                <a:gridCol w="362584"/>
                <a:gridCol w="552450"/>
                <a:gridCol w="4796790"/>
              </a:tblGrid>
              <a:tr h="349885">
                <a:tc>
                  <a:txBody>
                    <a:bodyPr/>
                    <a:lstStyle/>
                    <a:p>
                      <a:pPr algn="ctr" marL="9525">
                        <a:lnSpc>
                          <a:spcPts val="2120"/>
                        </a:lnSpc>
                      </a:pPr>
                      <a:r>
                        <a:rPr dirty="0" sz="2000" spc="-25" b="1">
                          <a:solidFill>
                            <a:srgbClr val="9933FF"/>
                          </a:solidFill>
                          <a:latin typeface="宋体"/>
                          <a:cs typeface="宋体"/>
                        </a:rPr>
                        <a:t>V</a:t>
                      </a:r>
                      <a:r>
                        <a:rPr dirty="0" baseline="-21367" sz="1950" spc="-37" b="1">
                          <a:solidFill>
                            <a:srgbClr val="9933FF"/>
                          </a:solidFill>
                          <a:latin typeface="宋体"/>
                          <a:cs typeface="宋体"/>
                        </a:rPr>
                        <a:t>0</a:t>
                      </a:r>
                      <a:endParaRPr baseline="-21367" sz="1950">
                        <a:latin typeface="宋体"/>
                        <a:cs typeface="宋体"/>
                      </a:endParaRPr>
                    </a:p>
                  </a:txBody>
                  <a:tcPr marL="0" marR="0" marB="0" marT="0"/>
                </a:tc>
                <a:tc>
                  <a:txBody>
                    <a:bodyPr/>
                    <a:lstStyle/>
                    <a:p>
                      <a:pPr algn="r" marR="35560">
                        <a:lnSpc>
                          <a:spcPts val="2120"/>
                        </a:lnSpc>
                      </a:pPr>
                      <a:r>
                        <a:rPr dirty="0" sz="2000" spc="-50" b="1">
                          <a:solidFill>
                            <a:srgbClr val="9933FF"/>
                          </a:solidFill>
                          <a:latin typeface="宋体"/>
                          <a:cs typeface="宋体"/>
                        </a:rPr>
                        <a:t>←</a:t>
                      </a:r>
                      <a:endParaRPr sz="2000">
                        <a:latin typeface="宋体"/>
                        <a:cs typeface="宋体"/>
                      </a:endParaRPr>
                    </a:p>
                  </a:txBody>
                  <a:tcPr marL="0" marR="0" marB="0" marT="0"/>
                </a:tc>
                <a:tc>
                  <a:txBody>
                    <a:bodyPr/>
                    <a:lstStyle/>
                    <a:p>
                      <a:pPr marL="84455">
                        <a:lnSpc>
                          <a:spcPts val="2120"/>
                        </a:lnSpc>
                      </a:pPr>
                      <a:r>
                        <a:rPr dirty="0" sz="2000" spc="-50" b="1">
                          <a:solidFill>
                            <a:srgbClr val="9933FF"/>
                          </a:solidFill>
                          <a:latin typeface="宋体"/>
                          <a:cs typeface="宋体"/>
                        </a:rPr>
                        <a:t>B</a:t>
                      </a:r>
                      <a:endParaRPr sz="2000">
                        <a:latin typeface="宋体"/>
                        <a:cs typeface="宋体"/>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marL="273050">
                        <a:lnSpc>
                          <a:spcPts val="2120"/>
                        </a:lnSpc>
                      </a:pPr>
                      <a:r>
                        <a:rPr dirty="0" sz="2000" spc="-10" b="1">
                          <a:solidFill>
                            <a:srgbClr val="40458B"/>
                          </a:solidFill>
                          <a:latin typeface="宋体"/>
                          <a:cs typeface="宋体"/>
                        </a:rPr>
                        <a:t>；从将向量</a:t>
                      </a:r>
                      <a:r>
                        <a:rPr dirty="0" sz="2000" spc="-10" b="1">
                          <a:solidFill>
                            <a:srgbClr val="9933FF"/>
                          </a:solidFill>
                          <a:latin typeface="宋体"/>
                          <a:cs typeface="宋体"/>
                        </a:rPr>
                        <a:t>B</a:t>
                      </a:r>
                      <a:r>
                        <a:rPr dirty="0" sz="2000" spc="-15" b="1">
                          <a:solidFill>
                            <a:srgbClr val="40458B"/>
                          </a:solidFill>
                          <a:latin typeface="宋体"/>
                          <a:cs typeface="宋体"/>
                        </a:rPr>
                        <a:t>读入向量寄存器</a:t>
                      </a:r>
                      <a:r>
                        <a:rPr dirty="0" sz="2000" spc="-25" b="1">
                          <a:solidFill>
                            <a:srgbClr val="9933FF"/>
                          </a:solidFill>
                          <a:latin typeface="宋体"/>
                          <a:cs typeface="宋体"/>
                        </a:rPr>
                        <a:t>V</a:t>
                      </a:r>
                      <a:r>
                        <a:rPr dirty="0" baseline="-21367" sz="1950" spc="-37" b="1">
                          <a:solidFill>
                            <a:srgbClr val="9933FF"/>
                          </a:solidFill>
                          <a:latin typeface="宋体"/>
                          <a:cs typeface="宋体"/>
                        </a:rPr>
                        <a:t>0</a:t>
                      </a:r>
                      <a:endParaRPr baseline="-21367" sz="1950">
                        <a:latin typeface="宋体"/>
                        <a:cs typeface="宋体"/>
                      </a:endParaRPr>
                    </a:p>
                  </a:txBody>
                  <a:tcPr marL="0" marR="0" marB="0" marT="0"/>
                </a:tc>
              </a:tr>
              <a:tr h="350520">
                <a:tc>
                  <a:txBody>
                    <a:bodyPr/>
                    <a:lstStyle/>
                    <a:p>
                      <a:pPr algn="ctr" marL="10160">
                        <a:lnSpc>
                          <a:spcPct val="100000"/>
                        </a:lnSpc>
                        <a:spcBef>
                          <a:spcPts val="80"/>
                        </a:spcBef>
                      </a:pPr>
                      <a:r>
                        <a:rPr dirty="0" sz="2000" spc="-25" b="1">
                          <a:solidFill>
                            <a:srgbClr val="9933FF"/>
                          </a:solidFill>
                          <a:latin typeface="宋体"/>
                          <a:cs typeface="宋体"/>
                        </a:rPr>
                        <a:t>V</a:t>
                      </a:r>
                      <a:r>
                        <a:rPr dirty="0" baseline="-21367" sz="1950" spc="-37" b="1">
                          <a:solidFill>
                            <a:srgbClr val="9933FF"/>
                          </a:solidFill>
                          <a:latin typeface="宋体"/>
                          <a:cs typeface="宋体"/>
                        </a:rPr>
                        <a:t>1</a:t>
                      </a:r>
                      <a:endParaRPr baseline="-21367" sz="1950">
                        <a:latin typeface="宋体"/>
                        <a:cs typeface="宋体"/>
                      </a:endParaRPr>
                    </a:p>
                  </a:txBody>
                  <a:tcPr marL="0" marR="0" marB="0" marT="10160"/>
                </a:tc>
                <a:tc>
                  <a:txBody>
                    <a:bodyPr/>
                    <a:lstStyle/>
                    <a:p>
                      <a:pPr algn="r" marR="34925">
                        <a:lnSpc>
                          <a:spcPct val="100000"/>
                        </a:lnSpc>
                        <a:spcBef>
                          <a:spcPts val="80"/>
                        </a:spcBef>
                      </a:pPr>
                      <a:r>
                        <a:rPr dirty="0" sz="2000" spc="-50" b="1">
                          <a:solidFill>
                            <a:srgbClr val="9933FF"/>
                          </a:solidFill>
                          <a:latin typeface="宋体"/>
                          <a:cs typeface="宋体"/>
                        </a:rPr>
                        <a:t>←</a:t>
                      </a:r>
                      <a:endParaRPr sz="2000">
                        <a:latin typeface="宋体"/>
                        <a:cs typeface="宋体"/>
                      </a:endParaRPr>
                    </a:p>
                  </a:txBody>
                  <a:tcPr marL="0" marR="0" marB="0" marT="10160"/>
                </a:tc>
                <a:tc>
                  <a:txBody>
                    <a:bodyPr/>
                    <a:lstStyle/>
                    <a:p>
                      <a:pPr algn="r" marR="34925">
                        <a:lnSpc>
                          <a:spcPct val="100000"/>
                        </a:lnSpc>
                        <a:spcBef>
                          <a:spcPts val="80"/>
                        </a:spcBef>
                      </a:pPr>
                      <a:r>
                        <a:rPr dirty="0" sz="2000" spc="-25" b="1">
                          <a:solidFill>
                            <a:srgbClr val="9933FF"/>
                          </a:solidFill>
                          <a:latin typeface="宋体"/>
                          <a:cs typeface="宋体"/>
                        </a:rPr>
                        <a:t>S</a:t>
                      </a:r>
                      <a:r>
                        <a:rPr dirty="0" baseline="-21367" sz="1950" spc="-37" b="1">
                          <a:solidFill>
                            <a:srgbClr val="9933FF"/>
                          </a:solidFill>
                          <a:latin typeface="宋体"/>
                          <a:cs typeface="宋体"/>
                        </a:rPr>
                        <a:t>1</a:t>
                      </a:r>
                      <a:endParaRPr baseline="-21367" sz="1950">
                        <a:latin typeface="宋体"/>
                        <a:cs typeface="宋体"/>
                      </a:endParaRPr>
                    </a:p>
                  </a:txBody>
                  <a:tcPr marL="0" marR="0" marB="0" marT="10160"/>
                </a:tc>
                <a:tc>
                  <a:txBody>
                    <a:bodyPr/>
                    <a:lstStyle/>
                    <a:p>
                      <a:pPr marL="42545">
                        <a:lnSpc>
                          <a:spcPct val="100000"/>
                        </a:lnSpc>
                        <a:spcBef>
                          <a:spcPts val="80"/>
                        </a:spcBef>
                      </a:pPr>
                      <a:r>
                        <a:rPr dirty="0" sz="2000" spc="-50" b="1">
                          <a:solidFill>
                            <a:srgbClr val="9933FF"/>
                          </a:solidFill>
                          <a:latin typeface="宋体"/>
                          <a:cs typeface="宋体"/>
                        </a:rPr>
                        <a:t>×</a:t>
                      </a:r>
                      <a:endParaRPr sz="2000">
                        <a:latin typeface="宋体"/>
                        <a:cs typeface="宋体"/>
                      </a:endParaRPr>
                    </a:p>
                  </a:txBody>
                  <a:tcPr marL="0" marR="0" marB="0" marT="10160"/>
                </a:tc>
                <a:tc>
                  <a:txBody>
                    <a:bodyPr/>
                    <a:lstStyle/>
                    <a:p>
                      <a:pPr marL="64135">
                        <a:lnSpc>
                          <a:spcPct val="100000"/>
                        </a:lnSpc>
                        <a:spcBef>
                          <a:spcPts val="80"/>
                        </a:spcBef>
                      </a:pPr>
                      <a:r>
                        <a:rPr dirty="0" sz="2000" spc="-25" b="1">
                          <a:solidFill>
                            <a:srgbClr val="9933FF"/>
                          </a:solidFill>
                          <a:latin typeface="宋体"/>
                          <a:cs typeface="宋体"/>
                        </a:rPr>
                        <a:t>V</a:t>
                      </a:r>
                      <a:r>
                        <a:rPr dirty="0" baseline="-21367" sz="1950" spc="-37" b="1">
                          <a:solidFill>
                            <a:srgbClr val="9933FF"/>
                          </a:solidFill>
                          <a:latin typeface="宋体"/>
                          <a:cs typeface="宋体"/>
                        </a:rPr>
                        <a:t>0</a:t>
                      </a:r>
                      <a:endParaRPr baseline="-21367" sz="1950">
                        <a:latin typeface="宋体"/>
                        <a:cs typeface="宋体"/>
                      </a:endParaRPr>
                    </a:p>
                  </a:txBody>
                  <a:tcPr marL="0" marR="0" marB="0" marT="10160"/>
                </a:tc>
                <a:tc>
                  <a:txBody>
                    <a:bodyPr/>
                    <a:lstStyle/>
                    <a:p>
                      <a:pPr marL="326390">
                        <a:lnSpc>
                          <a:spcPct val="100000"/>
                        </a:lnSpc>
                        <a:spcBef>
                          <a:spcPts val="80"/>
                        </a:spcBef>
                      </a:pPr>
                      <a:r>
                        <a:rPr dirty="0" sz="2000" spc="-15" b="1">
                          <a:solidFill>
                            <a:srgbClr val="40458B"/>
                          </a:solidFill>
                          <a:latin typeface="宋体"/>
                          <a:cs typeface="宋体"/>
                        </a:rPr>
                        <a:t>；向量</a:t>
                      </a:r>
                      <a:r>
                        <a:rPr dirty="0" sz="2000" b="1">
                          <a:solidFill>
                            <a:srgbClr val="9933FF"/>
                          </a:solidFill>
                          <a:latin typeface="宋体"/>
                          <a:cs typeface="宋体"/>
                        </a:rPr>
                        <a:t>B</a:t>
                      </a:r>
                      <a:r>
                        <a:rPr dirty="0" sz="2000" spc="-20" b="1">
                          <a:solidFill>
                            <a:srgbClr val="40458B"/>
                          </a:solidFill>
                          <a:latin typeface="宋体"/>
                          <a:cs typeface="宋体"/>
                        </a:rPr>
                        <a:t>中的每个元素分别和常数</a:t>
                      </a:r>
                      <a:r>
                        <a:rPr dirty="0" sz="2000" b="1">
                          <a:solidFill>
                            <a:srgbClr val="9933FF"/>
                          </a:solidFill>
                          <a:latin typeface="宋体"/>
                          <a:cs typeface="宋体"/>
                        </a:rPr>
                        <a:t>S</a:t>
                      </a:r>
                      <a:r>
                        <a:rPr dirty="0" baseline="-21367" sz="1950" b="1">
                          <a:solidFill>
                            <a:srgbClr val="9933FF"/>
                          </a:solidFill>
                          <a:latin typeface="宋体"/>
                          <a:cs typeface="宋体"/>
                        </a:rPr>
                        <a:t>1</a:t>
                      </a:r>
                      <a:r>
                        <a:rPr dirty="0" sz="2000" spc="-35" b="1">
                          <a:solidFill>
                            <a:srgbClr val="40458B"/>
                          </a:solidFill>
                          <a:latin typeface="宋体"/>
                          <a:cs typeface="宋体"/>
                        </a:rPr>
                        <a:t>相乘</a:t>
                      </a:r>
                      <a:endParaRPr sz="2000">
                        <a:latin typeface="宋体"/>
                        <a:cs typeface="宋体"/>
                      </a:endParaRPr>
                    </a:p>
                  </a:txBody>
                  <a:tcPr marL="0" marR="0" marB="0" marT="10160"/>
                </a:tc>
              </a:tr>
              <a:tr h="441959">
                <a:tc>
                  <a:txBody>
                    <a:bodyPr/>
                    <a:lstStyle/>
                    <a:p>
                      <a:pPr algn="ctr" marL="9525">
                        <a:lnSpc>
                          <a:spcPct val="100000"/>
                        </a:lnSpc>
                        <a:spcBef>
                          <a:spcPts val="440"/>
                        </a:spcBef>
                      </a:pPr>
                      <a:r>
                        <a:rPr dirty="0" sz="2000" spc="-25" b="1">
                          <a:solidFill>
                            <a:srgbClr val="9933FF"/>
                          </a:solidFill>
                          <a:latin typeface="宋体"/>
                          <a:cs typeface="宋体"/>
                        </a:rPr>
                        <a:t>V</a:t>
                      </a:r>
                      <a:r>
                        <a:rPr dirty="0" baseline="-21367" sz="1950" spc="-37" b="1">
                          <a:solidFill>
                            <a:srgbClr val="9933FF"/>
                          </a:solidFill>
                          <a:latin typeface="宋体"/>
                          <a:cs typeface="宋体"/>
                        </a:rPr>
                        <a:t>2</a:t>
                      </a:r>
                      <a:endParaRPr baseline="-21367" sz="1950">
                        <a:latin typeface="宋体"/>
                        <a:cs typeface="宋体"/>
                      </a:endParaRPr>
                    </a:p>
                  </a:txBody>
                  <a:tcPr marL="0" marR="0" marB="0" marT="55880"/>
                </a:tc>
                <a:tc>
                  <a:txBody>
                    <a:bodyPr/>
                    <a:lstStyle/>
                    <a:p>
                      <a:pPr algn="r" marR="35560">
                        <a:lnSpc>
                          <a:spcPct val="100000"/>
                        </a:lnSpc>
                        <a:spcBef>
                          <a:spcPts val="440"/>
                        </a:spcBef>
                      </a:pPr>
                      <a:r>
                        <a:rPr dirty="0" sz="2000" spc="-50" b="1">
                          <a:solidFill>
                            <a:srgbClr val="9933FF"/>
                          </a:solidFill>
                          <a:latin typeface="宋体"/>
                          <a:cs typeface="宋体"/>
                        </a:rPr>
                        <a:t>←</a:t>
                      </a:r>
                      <a:endParaRPr sz="2000">
                        <a:latin typeface="宋体"/>
                        <a:cs typeface="宋体"/>
                      </a:endParaRPr>
                    </a:p>
                  </a:txBody>
                  <a:tcPr marL="0" marR="0" marB="0" marT="55880"/>
                </a:tc>
                <a:tc>
                  <a:txBody>
                    <a:bodyPr/>
                    <a:lstStyle/>
                    <a:p>
                      <a:pPr algn="r" marR="34925">
                        <a:lnSpc>
                          <a:spcPct val="100000"/>
                        </a:lnSpc>
                        <a:spcBef>
                          <a:spcPts val="440"/>
                        </a:spcBef>
                      </a:pPr>
                      <a:r>
                        <a:rPr dirty="0" sz="2000" spc="-25" b="1">
                          <a:solidFill>
                            <a:srgbClr val="9933FF"/>
                          </a:solidFill>
                          <a:latin typeface="宋体"/>
                          <a:cs typeface="宋体"/>
                        </a:rPr>
                        <a:t>S</a:t>
                      </a:r>
                      <a:r>
                        <a:rPr dirty="0" baseline="-21367" sz="1950" spc="-37" b="1">
                          <a:solidFill>
                            <a:srgbClr val="9933FF"/>
                          </a:solidFill>
                          <a:latin typeface="宋体"/>
                          <a:cs typeface="宋体"/>
                        </a:rPr>
                        <a:t>2</a:t>
                      </a:r>
                      <a:endParaRPr baseline="-21367" sz="1950">
                        <a:latin typeface="宋体"/>
                        <a:cs typeface="宋体"/>
                      </a:endParaRPr>
                    </a:p>
                  </a:txBody>
                  <a:tcPr marL="0" marR="0" marB="0" marT="55880"/>
                </a:tc>
                <a:tc gridSpan="2">
                  <a:txBody>
                    <a:bodyPr/>
                    <a:lstStyle/>
                    <a:p>
                      <a:pPr marL="42545">
                        <a:lnSpc>
                          <a:spcPct val="100000"/>
                        </a:lnSpc>
                        <a:spcBef>
                          <a:spcPts val="440"/>
                        </a:spcBef>
                      </a:pPr>
                      <a:r>
                        <a:rPr dirty="0" sz="2000" b="1">
                          <a:solidFill>
                            <a:srgbClr val="9933FF"/>
                          </a:solidFill>
                          <a:latin typeface="宋体"/>
                          <a:cs typeface="宋体"/>
                        </a:rPr>
                        <a:t>+</a:t>
                      </a:r>
                      <a:r>
                        <a:rPr dirty="0" sz="2000" spc="-10" b="1">
                          <a:solidFill>
                            <a:srgbClr val="9933FF"/>
                          </a:solidFill>
                          <a:latin typeface="宋体"/>
                          <a:cs typeface="宋体"/>
                        </a:rPr>
                        <a:t> </a:t>
                      </a:r>
                      <a:r>
                        <a:rPr dirty="0" sz="2000" spc="-25" b="1">
                          <a:solidFill>
                            <a:srgbClr val="9933FF"/>
                          </a:solidFill>
                          <a:latin typeface="宋体"/>
                          <a:cs typeface="宋体"/>
                        </a:rPr>
                        <a:t>V</a:t>
                      </a:r>
                      <a:r>
                        <a:rPr dirty="0" baseline="-21367" sz="1950" spc="-37" b="1">
                          <a:solidFill>
                            <a:srgbClr val="9933FF"/>
                          </a:solidFill>
                          <a:latin typeface="宋体"/>
                          <a:cs typeface="宋体"/>
                        </a:rPr>
                        <a:t>1</a:t>
                      </a:r>
                      <a:endParaRPr baseline="-21367" sz="1950">
                        <a:latin typeface="宋体"/>
                        <a:cs typeface="宋体"/>
                      </a:endParaRPr>
                    </a:p>
                  </a:txBody>
                  <a:tcPr marL="0" marR="0" marB="0" marT="55880"/>
                </a:tc>
                <a:tc hMerge="1">
                  <a:txBody>
                    <a:bodyPr/>
                    <a:lstStyle/>
                    <a:p>
                      <a:pPr/>
                    </a:p>
                  </a:txBody>
                  <a:tcPr marL="0" marR="0" marB="0" marT="0"/>
                </a:tc>
                <a:tc>
                  <a:txBody>
                    <a:bodyPr/>
                    <a:lstStyle/>
                    <a:p>
                      <a:pPr marL="273050">
                        <a:lnSpc>
                          <a:spcPct val="100000"/>
                        </a:lnSpc>
                        <a:spcBef>
                          <a:spcPts val="440"/>
                        </a:spcBef>
                      </a:pPr>
                      <a:r>
                        <a:rPr dirty="0" sz="2000" spc="-10" b="1">
                          <a:solidFill>
                            <a:srgbClr val="40458B"/>
                          </a:solidFill>
                          <a:latin typeface="宋体"/>
                          <a:cs typeface="宋体"/>
                        </a:rPr>
                        <a:t>；向量</a:t>
                      </a:r>
                      <a:r>
                        <a:rPr dirty="0" sz="2000" b="1">
                          <a:solidFill>
                            <a:srgbClr val="9933FF"/>
                          </a:solidFill>
                          <a:latin typeface="宋体"/>
                          <a:cs typeface="宋体"/>
                        </a:rPr>
                        <a:t>V</a:t>
                      </a:r>
                      <a:r>
                        <a:rPr dirty="0" baseline="-21367" sz="1950" b="1">
                          <a:solidFill>
                            <a:srgbClr val="9933FF"/>
                          </a:solidFill>
                          <a:latin typeface="宋体"/>
                          <a:cs typeface="宋体"/>
                        </a:rPr>
                        <a:t>1</a:t>
                      </a:r>
                      <a:r>
                        <a:rPr dirty="0" sz="2000" spc="-20" b="1">
                          <a:solidFill>
                            <a:srgbClr val="40458B"/>
                          </a:solidFill>
                          <a:latin typeface="宋体"/>
                          <a:cs typeface="宋体"/>
                        </a:rPr>
                        <a:t>中的每个元素分别和常数</a:t>
                      </a:r>
                      <a:r>
                        <a:rPr dirty="0" sz="2000" spc="-25" b="1">
                          <a:solidFill>
                            <a:srgbClr val="9933FF"/>
                          </a:solidFill>
                          <a:latin typeface="宋体"/>
                          <a:cs typeface="宋体"/>
                        </a:rPr>
                        <a:t>S</a:t>
                      </a:r>
                      <a:r>
                        <a:rPr dirty="0" baseline="-21367" sz="1950" spc="-37" b="1">
                          <a:solidFill>
                            <a:srgbClr val="9933FF"/>
                          </a:solidFill>
                          <a:latin typeface="宋体"/>
                          <a:cs typeface="宋体"/>
                        </a:rPr>
                        <a:t>2</a:t>
                      </a:r>
                      <a:endParaRPr baseline="-21367" sz="1950">
                        <a:latin typeface="宋体"/>
                        <a:cs typeface="宋体"/>
                      </a:endParaRPr>
                    </a:p>
                  </a:txBody>
                  <a:tcPr marL="0" marR="0" marB="0" marT="55880"/>
                </a:tc>
              </a:tr>
              <a:tr h="746760">
                <a:tc>
                  <a:txBody>
                    <a:bodyPr/>
                    <a:lstStyle/>
                    <a:p>
                      <a:pPr>
                        <a:lnSpc>
                          <a:spcPct val="100000"/>
                        </a:lnSpc>
                        <a:spcBef>
                          <a:spcPts val="900"/>
                        </a:spcBef>
                      </a:pPr>
                      <a:endParaRPr sz="2000">
                        <a:latin typeface="Times New Roman"/>
                        <a:cs typeface="Times New Roman"/>
                      </a:endParaRPr>
                    </a:p>
                    <a:p>
                      <a:pPr algn="ctr" marR="69215">
                        <a:lnSpc>
                          <a:spcPct val="100000"/>
                        </a:lnSpc>
                      </a:pPr>
                      <a:r>
                        <a:rPr dirty="0" sz="2000" spc="-50" b="1">
                          <a:solidFill>
                            <a:srgbClr val="9933FF"/>
                          </a:solidFill>
                          <a:latin typeface="宋体"/>
                          <a:cs typeface="宋体"/>
                        </a:rPr>
                        <a:t>A</a:t>
                      </a:r>
                      <a:endParaRPr sz="2000">
                        <a:latin typeface="宋体"/>
                        <a:cs typeface="宋体"/>
                      </a:endParaRPr>
                    </a:p>
                  </a:txBody>
                  <a:tcPr marL="0" marR="0" marB="0" marT="114300"/>
                </a:tc>
                <a:tc>
                  <a:txBody>
                    <a:bodyPr/>
                    <a:lstStyle/>
                    <a:p>
                      <a:pPr>
                        <a:lnSpc>
                          <a:spcPct val="100000"/>
                        </a:lnSpc>
                        <a:spcBef>
                          <a:spcPts val="900"/>
                        </a:spcBef>
                      </a:pPr>
                      <a:endParaRPr sz="2000">
                        <a:latin typeface="Times New Roman"/>
                        <a:cs typeface="Times New Roman"/>
                      </a:endParaRPr>
                    </a:p>
                    <a:p>
                      <a:pPr marL="20955">
                        <a:lnSpc>
                          <a:spcPct val="100000"/>
                        </a:lnSpc>
                      </a:pPr>
                      <a:r>
                        <a:rPr dirty="0" sz="2000" spc="-50" b="1">
                          <a:solidFill>
                            <a:srgbClr val="9933FF"/>
                          </a:solidFill>
                          <a:latin typeface="宋体"/>
                          <a:cs typeface="宋体"/>
                        </a:rPr>
                        <a:t>←</a:t>
                      </a:r>
                      <a:endParaRPr sz="2000">
                        <a:latin typeface="宋体"/>
                        <a:cs typeface="宋体"/>
                      </a:endParaRPr>
                    </a:p>
                  </a:txBody>
                  <a:tcPr marL="0" marR="0" marB="0" marT="114300"/>
                </a:tc>
                <a:tc>
                  <a:txBody>
                    <a:bodyPr/>
                    <a:lstStyle/>
                    <a:p>
                      <a:pPr>
                        <a:lnSpc>
                          <a:spcPct val="100000"/>
                        </a:lnSpc>
                      </a:pPr>
                      <a:endParaRPr sz="1300">
                        <a:latin typeface="Times New Roman"/>
                        <a:cs typeface="Times New Roman"/>
                      </a:endParaRPr>
                    </a:p>
                    <a:p>
                      <a:pPr>
                        <a:lnSpc>
                          <a:spcPct val="100000"/>
                        </a:lnSpc>
                        <a:spcBef>
                          <a:spcPts val="210"/>
                        </a:spcBef>
                      </a:pPr>
                      <a:endParaRPr sz="1300">
                        <a:latin typeface="Times New Roman"/>
                        <a:cs typeface="Times New Roman"/>
                      </a:endParaRPr>
                    </a:p>
                    <a:p>
                      <a:pPr algn="r" marR="78105">
                        <a:lnSpc>
                          <a:spcPct val="100000"/>
                        </a:lnSpc>
                      </a:pPr>
                      <a:r>
                        <a:rPr dirty="0" sz="2000" spc="-25" b="1">
                          <a:solidFill>
                            <a:srgbClr val="9933FF"/>
                          </a:solidFill>
                          <a:latin typeface="宋体"/>
                          <a:cs typeface="宋体"/>
                        </a:rPr>
                        <a:t>V</a:t>
                      </a:r>
                      <a:r>
                        <a:rPr dirty="0" baseline="-21367" sz="1950" spc="-37" b="1">
                          <a:solidFill>
                            <a:srgbClr val="9933FF"/>
                          </a:solidFill>
                          <a:latin typeface="宋体"/>
                          <a:cs typeface="宋体"/>
                        </a:rPr>
                        <a:t>2</a:t>
                      </a:r>
                      <a:endParaRPr baseline="-21367" sz="1950">
                        <a:latin typeface="宋体"/>
                        <a:cs typeface="宋体"/>
                      </a:endParaRPr>
                    </a:p>
                  </a:txBody>
                  <a:tcPr marL="0" marR="0" marB="0" marT="0"/>
                </a:tc>
                <a:tc gridSpan="2">
                  <a:txBody>
                    <a:bodyPr/>
                    <a:lstStyle/>
                    <a:p>
                      <a:pPr>
                        <a:lnSpc>
                          <a:spcPct val="100000"/>
                        </a:lnSpc>
                      </a:pPr>
                      <a:endParaRPr sz="2000">
                        <a:latin typeface="Times New Roman"/>
                        <a:cs typeface="Times New Roman"/>
                      </a:endParaRPr>
                    </a:p>
                  </a:txBody>
                  <a:tcPr marL="0" marR="0" marB="0" marT="0"/>
                </a:tc>
                <a:tc hMerge="1">
                  <a:txBody>
                    <a:bodyPr/>
                    <a:lstStyle/>
                    <a:p>
                      <a:pPr/>
                    </a:p>
                  </a:txBody>
                  <a:tcPr marL="0" marR="0" marB="0" marT="0"/>
                </a:tc>
                <a:tc>
                  <a:txBody>
                    <a:bodyPr/>
                    <a:lstStyle/>
                    <a:p>
                      <a:pPr marL="586740">
                        <a:lnSpc>
                          <a:spcPct val="100000"/>
                        </a:lnSpc>
                        <a:spcBef>
                          <a:spcPts val="80"/>
                        </a:spcBef>
                      </a:pPr>
                      <a:r>
                        <a:rPr dirty="0" sz="2000" spc="-30" b="1">
                          <a:solidFill>
                            <a:srgbClr val="40458B"/>
                          </a:solidFill>
                          <a:latin typeface="宋体"/>
                          <a:cs typeface="宋体"/>
                        </a:rPr>
                        <a:t>相加</a:t>
                      </a:r>
                      <a:endParaRPr sz="2000">
                        <a:latin typeface="宋体"/>
                        <a:cs typeface="宋体"/>
                      </a:endParaRPr>
                    </a:p>
                    <a:p>
                      <a:pPr marL="273050">
                        <a:lnSpc>
                          <a:spcPct val="100000"/>
                        </a:lnSpc>
                        <a:spcBef>
                          <a:spcPts val="720"/>
                        </a:spcBef>
                      </a:pPr>
                      <a:r>
                        <a:rPr dirty="0" sz="2000" spc="-10" b="1">
                          <a:solidFill>
                            <a:srgbClr val="40458B"/>
                          </a:solidFill>
                          <a:latin typeface="宋体"/>
                          <a:cs typeface="宋体"/>
                        </a:rPr>
                        <a:t>；将结果向量存入</a:t>
                      </a:r>
                      <a:r>
                        <a:rPr dirty="0" sz="2000" spc="-10" b="1">
                          <a:solidFill>
                            <a:srgbClr val="9933FF"/>
                          </a:solidFill>
                          <a:latin typeface="宋体"/>
                          <a:cs typeface="宋体"/>
                        </a:rPr>
                        <a:t>A</a:t>
                      </a:r>
                      <a:r>
                        <a:rPr dirty="0" sz="2000" spc="-30" b="1">
                          <a:solidFill>
                            <a:srgbClr val="9933FF"/>
                          </a:solidFill>
                          <a:latin typeface="宋体"/>
                          <a:cs typeface="宋体"/>
                        </a:rPr>
                        <a:t>数组</a:t>
                      </a:r>
                      <a:endParaRPr sz="2000">
                        <a:latin typeface="宋体"/>
                        <a:cs typeface="宋体"/>
                      </a:endParaRPr>
                    </a:p>
                  </a:txBody>
                  <a:tcPr marL="0" marR="0" marB="0" marT="10160"/>
                </a:tc>
              </a:tr>
            </a:tbl>
          </a:graphicData>
        </a:graphic>
      </p:graphicFrame>
      <p:sp>
        <p:nvSpPr>
          <p:cNvPr id="13" name="object 13" descr=""/>
          <p:cNvSpPr txBox="1"/>
          <p:nvPr/>
        </p:nvSpPr>
        <p:spPr>
          <a:xfrm>
            <a:off x="1291844" y="1042494"/>
            <a:ext cx="4559935" cy="347345"/>
          </a:xfrm>
          <a:prstGeom prst="rect">
            <a:avLst/>
          </a:prstGeom>
        </p:spPr>
        <p:txBody>
          <a:bodyPr wrap="square" lIns="0" tIns="13970" rIns="0" bIns="0" rtlCol="0" vert="horz">
            <a:spAutoFit/>
          </a:bodyPr>
          <a:lstStyle/>
          <a:p>
            <a:pPr marL="451484" indent="-438784">
              <a:lnSpc>
                <a:spcPct val="100000"/>
              </a:lnSpc>
              <a:spcBef>
                <a:spcPts val="110"/>
              </a:spcBef>
              <a:buSzPct val="90000"/>
              <a:buFont typeface="Wingdings"/>
              <a:buChar char=""/>
              <a:tabLst>
                <a:tab pos="451484" algn="l"/>
              </a:tabLst>
            </a:pPr>
            <a:r>
              <a:rPr dirty="0" sz="2000" spc="-10" b="1">
                <a:solidFill>
                  <a:srgbClr val="40458B"/>
                </a:solidFill>
                <a:latin typeface="宋体"/>
                <a:cs typeface="宋体"/>
              </a:rPr>
              <a:t>当</a:t>
            </a:r>
            <a:r>
              <a:rPr dirty="0" sz="2100" b="1" i="1">
                <a:solidFill>
                  <a:srgbClr val="9933FF"/>
                </a:solidFill>
                <a:latin typeface="宋体"/>
                <a:cs typeface="宋体"/>
              </a:rPr>
              <a:t>N</a:t>
            </a:r>
            <a:r>
              <a:rPr dirty="0" sz="2100" spc="-95" b="1" i="1">
                <a:solidFill>
                  <a:srgbClr val="9933FF"/>
                </a:solidFill>
                <a:latin typeface="宋体"/>
                <a:cs typeface="宋体"/>
              </a:rPr>
              <a:t> </a:t>
            </a:r>
            <a:r>
              <a:rPr dirty="0" sz="2000" spc="-10" b="1">
                <a:solidFill>
                  <a:srgbClr val="9933FF"/>
                </a:solidFill>
                <a:latin typeface="宋体"/>
                <a:cs typeface="宋体"/>
              </a:rPr>
              <a:t>≤64</a:t>
            </a:r>
            <a:r>
              <a:rPr dirty="0" sz="2000" spc="-25" b="1">
                <a:solidFill>
                  <a:srgbClr val="40458B"/>
                </a:solidFill>
                <a:latin typeface="宋体"/>
                <a:cs typeface="宋体"/>
              </a:rPr>
              <a:t>时，可以用以下指令序列：</a:t>
            </a:r>
            <a:endParaRPr sz="2000">
              <a:latin typeface="宋体"/>
              <a:cs typeface="宋体"/>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1876170" y="4163923"/>
            <a:ext cx="6797675" cy="1031240"/>
          </a:xfrm>
          <a:prstGeom prst="rect">
            <a:avLst/>
          </a:prstGeom>
        </p:spPr>
        <p:txBody>
          <a:bodyPr wrap="square" lIns="0" tIns="12700" rIns="0" bIns="0" rtlCol="0" vert="horz">
            <a:spAutoFit/>
          </a:bodyPr>
          <a:lstStyle/>
          <a:p>
            <a:pPr marL="469900" marR="5080" indent="-457200">
              <a:lnSpc>
                <a:spcPct val="110000"/>
              </a:lnSpc>
              <a:spcBef>
                <a:spcPts val="100"/>
              </a:spcBef>
              <a:buClr>
                <a:srgbClr val="4668F5"/>
              </a:buClr>
              <a:buSzPct val="65000"/>
              <a:buFont typeface="Wingdings"/>
              <a:buChar char=""/>
              <a:tabLst>
                <a:tab pos="469900" algn="l"/>
              </a:tabLst>
            </a:pPr>
            <a:r>
              <a:rPr dirty="0" sz="2000" spc="-20" b="1">
                <a:solidFill>
                  <a:srgbClr val="00AFEF"/>
                </a:solidFill>
                <a:latin typeface="宋体"/>
                <a:cs typeface="宋体"/>
              </a:rPr>
              <a:t>在进入循环前，先对余数个元素进行计算，然后用循环的方式计算向量</a:t>
            </a:r>
            <a:r>
              <a:rPr dirty="0" sz="2000" spc="-15" b="1">
                <a:solidFill>
                  <a:srgbClr val="9933FF"/>
                </a:solidFill>
                <a:latin typeface="Times New Roman"/>
                <a:cs typeface="Times New Roman"/>
              </a:rPr>
              <a:t>A</a:t>
            </a:r>
            <a:r>
              <a:rPr dirty="0" sz="2000" spc="-20" b="1">
                <a:solidFill>
                  <a:srgbClr val="00AFEF"/>
                </a:solidFill>
                <a:latin typeface="宋体"/>
                <a:cs typeface="宋体"/>
              </a:rPr>
              <a:t>的其他部分，每次循环计算</a:t>
            </a:r>
            <a:r>
              <a:rPr dirty="0" sz="2000" spc="-10" b="1">
                <a:solidFill>
                  <a:srgbClr val="9933FF"/>
                </a:solidFill>
                <a:latin typeface="Times New Roman"/>
                <a:cs typeface="Times New Roman"/>
              </a:rPr>
              <a:t>6</a:t>
            </a:r>
            <a:r>
              <a:rPr dirty="0" sz="2000" spc="5" b="1">
                <a:solidFill>
                  <a:srgbClr val="9933FF"/>
                </a:solidFill>
                <a:latin typeface="Times New Roman"/>
                <a:cs typeface="Times New Roman"/>
              </a:rPr>
              <a:t>4</a:t>
            </a:r>
            <a:r>
              <a:rPr dirty="0" sz="2000" spc="-20" b="1">
                <a:solidFill>
                  <a:srgbClr val="00AFEF"/>
                </a:solidFill>
                <a:latin typeface="宋体"/>
                <a:cs typeface="宋体"/>
              </a:rPr>
              <a:t>个元素，而</a:t>
            </a:r>
            <a:r>
              <a:rPr dirty="0" sz="2000" spc="-10" b="1">
                <a:solidFill>
                  <a:srgbClr val="00AFEF"/>
                </a:solidFill>
                <a:latin typeface="宋体"/>
                <a:cs typeface="宋体"/>
              </a:rPr>
              <a:t>循环体则是由上述第</a:t>
            </a:r>
            <a:r>
              <a:rPr dirty="0" sz="2000" spc="-5" b="1">
                <a:solidFill>
                  <a:srgbClr val="9933FF"/>
                </a:solidFill>
                <a:latin typeface="Times New Roman"/>
                <a:cs typeface="Times New Roman"/>
              </a:rPr>
              <a:t>4</a:t>
            </a:r>
            <a:r>
              <a:rPr dirty="0" sz="2000" spc="-10" b="1">
                <a:solidFill>
                  <a:srgbClr val="00AFEF"/>
                </a:solidFill>
                <a:latin typeface="宋体"/>
                <a:cs typeface="宋体"/>
              </a:rPr>
              <a:t>条到第</a:t>
            </a:r>
            <a:r>
              <a:rPr dirty="0" sz="2000" spc="-10" b="1">
                <a:solidFill>
                  <a:srgbClr val="9933FF"/>
                </a:solidFill>
                <a:latin typeface="Times New Roman"/>
                <a:cs typeface="Times New Roman"/>
              </a:rPr>
              <a:t>7</a:t>
            </a:r>
            <a:r>
              <a:rPr dirty="0" sz="2000" spc="-20" b="1">
                <a:solidFill>
                  <a:srgbClr val="00AFEF"/>
                </a:solidFill>
                <a:latin typeface="宋体"/>
                <a:cs typeface="宋体"/>
              </a:rPr>
              <a:t>条向量指令组成。</a:t>
            </a:r>
            <a:endParaRPr sz="2000">
              <a:latin typeface="宋体"/>
              <a:cs typeface="宋体"/>
            </a:endParaRPr>
          </a:p>
        </p:txBody>
      </p:sp>
      <p:grpSp>
        <p:nvGrpSpPr>
          <p:cNvPr id="11" name="object 11" descr=""/>
          <p:cNvGrpSpPr/>
          <p:nvPr/>
        </p:nvGrpSpPr>
        <p:grpSpPr>
          <a:xfrm>
            <a:off x="3708400" y="2343213"/>
            <a:ext cx="936625" cy="640080"/>
            <a:chOff x="3708400" y="2343213"/>
            <a:chExt cx="936625" cy="640080"/>
          </a:xfrm>
        </p:grpSpPr>
        <p:sp>
          <p:nvSpPr>
            <p:cNvPr id="12" name="object 12" descr=""/>
            <p:cNvSpPr/>
            <p:nvPr/>
          </p:nvSpPr>
          <p:spPr>
            <a:xfrm>
              <a:off x="3708400" y="2343213"/>
              <a:ext cx="936625" cy="640080"/>
            </a:xfrm>
            <a:custGeom>
              <a:avLst/>
              <a:gdLst/>
              <a:ahLst/>
              <a:cxnLst/>
              <a:rect l="l" t="t" r="r" b="b"/>
              <a:pathLst>
                <a:path w="936625" h="640080">
                  <a:moveTo>
                    <a:pt x="936625" y="0"/>
                  </a:moveTo>
                  <a:lnTo>
                    <a:pt x="0" y="0"/>
                  </a:lnTo>
                  <a:lnTo>
                    <a:pt x="0" y="639762"/>
                  </a:lnTo>
                  <a:lnTo>
                    <a:pt x="936625" y="639762"/>
                  </a:lnTo>
                  <a:lnTo>
                    <a:pt x="936625" y="0"/>
                  </a:lnTo>
                  <a:close/>
                </a:path>
              </a:pathLst>
            </a:custGeom>
            <a:solidFill>
              <a:srgbClr val="EAEAEA"/>
            </a:solidFill>
          </p:spPr>
          <p:txBody>
            <a:bodyPr wrap="square" lIns="0" tIns="0" rIns="0" bIns="0" rtlCol="0"/>
            <a:lstStyle/>
            <a:p/>
          </p:txBody>
        </p:sp>
        <p:sp>
          <p:nvSpPr>
            <p:cNvPr id="13" name="object 13" descr=""/>
            <p:cNvSpPr/>
            <p:nvPr/>
          </p:nvSpPr>
          <p:spPr>
            <a:xfrm>
              <a:off x="4251630" y="2661588"/>
              <a:ext cx="248920" cy="0"/>
            </a:xfrm>
            <a:custGeom>
              <a:avLst/>
              <a:gdLst/>
              <a:ahLst/>
              <a:cxnLst/>
              <a:rect l="l" t="t" r="r" b="b"/>
              <a:pathLst>
                <a:path w="248920" h="0">
                  <a:moveTo>
                    <a:pt x="0" y="0"/>
                  </a:moveTo>
                  <a:lnTo>
                    <a:pt x="248828" y="0"/>
                  </a:lnTo>
                </a:path>
              </a:pathLst>
            </a:custGeom>
            <a:ln w="10099">
              <a:solidFill>
                <a:srgbClr val="000000"/>
              </a:solidFill>
            </a:ln>
          </p:spPr>
          <p:txBody>
            <a:bodyPr wrap="square" lIns="0" tIns="0" rIns="0" bIns="0" rtlCol="0"/>
            <a:lstStyle/>
            <a:p/>
          </p:txBody>
        </p:sp>
      </p:grpSp>
      <p:sp>
        <p:nvSpPr>
          <p:cNvPr id="14" name="object 14" descr=""/>
          <p:cNvSpPr txBox="1"/>
          <p:nvPr/>
        </p:nvSpPr>
        <p:spPr>
          <a:xfrm>
            <a:off x="1210157" y="1313001"/>
            <a:ext cx="4625340" cy="2023110"/>
          </a:xfrm>
          <a:prstGeom prst="rect">
            <a:avLst/>
          </a:prstGeom>
        </p:spPr>
        <p:txBody>
          <a:bodyPr wrap="square" lIns="0" tIns="106680" rIns="0" bIns="0" rtlCol="0" vert="horz">
            <a:spAutoFit/>
          </a:bodyPr>
          <a:lstStyle/>
          <a:p>
            <a:pPr marL="507365" indent="-456565">
              <a:lnSpc>
                <a:spcPct val="100000"/>
              </a:lnSpc>
              <a:spcBef>
                <a:spcPts val="840"/>
              </a:spcBef>
              <a:buSzPct val="90000"/>
              <a:buFont typeface="Wingdings"/>
              <a:buChar char=""/>
              <a:tabLst>
                <a:tab pos="507365" algn="l"/>
              </a:tabLst>
            </a:pPr>
            <a:r>
              <a:rPr dirty="0" sz="2000">
                <a:solidFill>
                  <a:srgbClr val="40458B"/>
                </a:solidFill>
                <a:latin typeface="黑体"/>
                <a:cs typeface="黑体"/>
              </a:rPr>
              <a:t>当</a:t>
            </a:r>
            <a:r>
              <a:rPr dirty="0" sz="2100" i="1">
                <a:solidFill>
                  <a:srgbClr val="9933FF"/>
                </a:solidFill>
                <a:latin typeface="黑体"/>
                <a:cs typeface="黑体"/>
              </a:rPr>
              <a:t>N</a:t>
            </a:r>
            <a:r>
              <a:rPr dirty="0" sz="2100" spc="-90" i="1">
                <a:solidFill>
                  <a:srgbClr val="9933FF"/>
                </a:solidFill>
                <a:latin typeface="黑体"/>
                <a:cs typeface="黑体"/>
              </a:rPr>
              <a:t> </a:t>
            </a:r>
            <a:r>
              <a:rPr dirty="0" sz="2000" spc="-10">
                <a:solidFill>
                  <a:srgbClr val="9933FF"/>
                </a:solidFill>
                <a:latin typeface="黑体"/>
                <a:cs typeface="黑体"/>
              </a:rPr>
              <a:t>＞64</a:t>
            </a:r>
            <a:r>
              <a:rPr dirty="0" sz="2000" spc="-20">
                <a:solidFill>
                  <a:srgbClr val="40458B"/>
                </a:solidFill>
                <a:latin typeface="黑体"/>
                <a:cs typeface="黑体"/>
              </a:rPr>
              <a:t>时，就需要进行分段开采。</a:t>
            </a:r>
            <a:endParaRPr sz="2000">
              <a:latin typeface="黑体"/>
              <a:cs typeface="黑体"/>
            </a:endParaRPr>
          </a:p>
          <a:p>
            <a:pPr lvl="1" marL="1135380" indent="-457200">
              <a:lnSpc>
                <a:spcPct val="100000"/>
              </a:lnSpc>
              <a:spcBef>
                <a:spcPts val="700"/>
              </a:spcBef>
              <a:buClr>
                <a:srgbClr val="4668F5"/>
              </a:buClr>
              <a:buSzPct val="65000"/>
              <a:buFont typeface="Wingdings"/>
              <a:buChar char=""/>
              <a:tabLst>
                <a:tab pos="1135380" algn="l"/>
              </a:tabLst>
            </a:pPr>
            <a:r>
              <a:rPr dirty="0" sz="2000" spc="-10" b="1">
                <a:solidFill>
                  <a:srgbClr val="00AFEF"/>
                </a:solidFill>
                <a:latin typeface="宋体"/>
                <a:cs typeface="宋体"/>
              </a:rPr>
              <a:t>循环次数</a:t>
            </a:r>
            <a:r>
              <a:rPr dirty="0" sz="2000" b="1">
                <a:solidFill>
                  <a:srgbClr val="9933FF"/>
                </a:solidFill>
                <a:latin typeface="宋体"/>
                <a:cs typeface="宋体"/>
              </a:rPr>
              <a:t>K</a:t>
            </a:r>
            <a:r>
              <a:rPr dirty="0" sz="2000" spc="-15" b="1">
                <a:solidFill>
                  <a:srgbClr val="9933FF"/>
                </a:solidFill>
                <a:latin typeface="宋体"/>
                <a:cs typeface="宋体"/>
              </a:rPr>
              <a:t> </a:t>
            </a:r>
            <a:r>
              <a:rPr dirty="0" sz="2000" spc="-50" b="1">
                <a:solidFill>
                  <a:srgbClr val="00AFEF"/>
                </a:solidFill>
                <a:latin typeface="宋体"/>
                <a:cs typeface="宋体"/>
              </a:rPr>
              <a:t>：</a:t>
            </a:r>
            <a:endParaRPr sz="2000">
              <a:latin typeface="宋体"/>
              <a:cs typeface="宋体"/>
            </a:endParaRPr>
          </a:p>
          <a:p>
            <a:pPr marL="2543810">
              <a:lnSpc>
                <a:spcPts val="1830"/>
              </a:lnSpc>
              <a:spcBef>
                <a:spcPts val="1905"/>
              </a:spcBef>
            </a:pPr>
            <a:r>
              <a:rPr dirty="0" baseline="-32679" sz="2550" i="1">
                <a:latin typeface="Times New Roman"/>
                <a:cs typeface="Times New Roman"/>
              </a:rPr>
              <a:t>K</a:t>
            </a:r>
            <a:r>
              <a:rPr dirty="0" baseline="-32679" sz="2550" spc="292" i="1">
                <a:latin typeface="Times New Roman"/>
                <a:cs typeface="Times New Roman"/>
              </a:rPr>
              <a:t> </a:t>
            </a:r>
            <a:r>
              <a:rPr dirty="0" baseline="-32679" sz="2550">
                <a:latin typeface="Symbol"/>
                <a:cs typeface="Symbol"/>
              </a:rPr>
              <a:t></a:t>
            </a:r>
            <a:r>
              <a:rPr dirty="0" baseline="-32679" sz="2550" spc="60">
                <a:latin typeface="Times New Roman"/>
                <a:cs typeface="Times New Roman"/>
              </a:rPr>
              <a:t> </a:t>
            </a:r>
            <a:r>
              <a:rPr dirty="0" sz="1700">
                <a:latin typeface="Symbol"/>
                <a:cs typeface="Symbol"/>
              </a:rPr>
              <a:t></a:t>
            </a:r>
            <a:r>
              <a:rPr dirty="0" sz="1700" spc="25">
                <a:latin typeface="Times New Roman"/>
                <a:cs typeface="Times New Roman"/>
              </a:rPr>
              <a:t> </a:t>
            </a:r>
            <a:r>
              <a:rPr dirty="0" baseline="3267" sz="2550" i="1">
                <a:latin typeface="Times New Roman"/>
                <a:cs typeface="Times New Roman"/>
              </a:rPr>
              <a:t>N</a:t>
            </a:r>
            <a:r>
              <a:rPr dirty="0" baseline="3267" sz="2550" spc="202" i="1">
                <a:latin typeface="Times New Roman"/>
                <a:cs typeface="Times New Roman"/>
              </a:rPr>
              <a:t> </a:t>
            </a:r>
            <a:r>
              <a:rPr dirty="0" sz="1700" spc="-50">
                <a:latin typeface="Symbol"/>
                <a:cs typeface="Symbol"/>
              </a:rPr>
              <a:t></a:t>
            </a:r>
            <a:endParaRPr sz="1700">
              <a:latin typeface="Symbol"/>
              <a:cs typeface="Symbol"/>
            </a:endParaRPr>
          </a:p>
          <a:p>
            <a:pPr marL="2947670">
              <a:lnSpc>
                <a:spcPts val="1830"/>
              </a:lnSpc>
            </a:pPr>
            <a:r>
              <a:rPr dirty="0" sz="1700" spc="-310">
                <a:latin typeface="Symbol"/>
                <a:cs typeface="Symbol"/>
              </a:rPr>
              <a:t></a:t>
            </a:r>
            <a:r>
              <a:rPr dirty="0" baseline="-31045" sz="2550" spc="-465">
                <a:latin typeface="Symbol"/>
                <a:cs typeface="Symbol"/>
              </a:rPr>
              <a:t></a:t>
            </a:r>
            <a:r>
              <a:rPr dirty="0" baseline="-31045" sz="2550" spc="-337">
                <a:latin typeface="Times New Roman"/>
                <a:cs typeface="Times New Roman"/>
              </a:rPr>
              <a:t> </a:t>
            </a:r>
            <a:r>
              <a:rPr dirty="0" baseline="-22875" sz="2550">
                <a:latin typeface="Times New Roman"/>
                <a:cs typeface="Times New Roman"/>
              </a:rPr>
              <a:t>64</a:t>
            </a:r>
            <a:r>
              <a:rPr dirty="0" baseline="-22875" sz="2550" spc="-337">
                <a:latin typeface="Times New Roman"/>
                <a:cs typeface="Times New Roman"/>
              </a:rPr>
              <a:t> </a:t>
            </a:r>
            <a:r>
              <a:rPr dirty="0" sz="1700" spc="-335">
                <a:latin typeface="Symbol"/>
                <a:cs typeface="Symbol"/>
              </a:rPr>
              <a:t></a:t>
            </a:r>
            <a:r>
              <a:rPr dirty="0" baseline="-31045" sz="2550" spc="-502">
                <a:latin typeface="Symbol"/>
                <a:cs typeface="Symbol"/>
              </a:rPr>
              <a:t></a:t>
            </a:r>
            <a:endParaRPr baseline="-31045" sz="2550">
              <a:latin typeface="Symbol"/>
              <a:cs typeface="Symbol"/>
            </a:endParaRPr>
          </a:p>
          <a:p>
            <a:pPr lvl="1" marL="1135380" indent="-457200">
              <a:lnSpc>
                <a:spcPct val="100000"/>
              </a:lnSpc>
              <a:spcBef>
                <a:spcPts val="1395"/>
              </a:spcBef>
              <a:buClr>
                <a:srgbClr val="4668F5"/>
              </a:buClr>
              <a:buSzPct val="65000"/>
              <a:buFont typeface="Wingdings"/>
              <a:buChar char=""/>
              <a:tabLst>
                <a:tab pos="1135380" algn="l"/>
              </a:tabLst>
            </a:pPr>
            <a:r>
              <a:rPr dirty="0" sz="2000" spc="-10" b="1">
                <a:solidFill>
                  <a:srgbClr val="00AFEF"/>
                </a:solidFill>
                <a:latin typeface="宋体"/>
                <a:cs typeface="宋体"/>
              </a:rPr>
              <a:t>余数</a:t>
            </a:r>
            <a:r>
              <a:rPr dirty="0" sz="2000" spc="-25" b="1">
                <a:solidFill>
                  <a:srgbClr val="9933FF"/>
                </a:solidFill>
                <a:latin typeface="宋体"/>
                <a:cs typeface="宋体"/>
              </a:rPr>
              <a:t>L</a:t>
            </a:r>
            <a:r>
              <a:rPr dirty="0" sz="2000" spc="-25" b="1">
                <a:solidFill>
                  <a:srgbClr val="00AFEF"/>
                </a:solidFill>
                <a:latin typeface="宋体"/>
                <a:cs typeface="宋体"/>
              </a:rPr>
              <a:t>：</a:t>
            </a:r>
            <a:endParaRPr sz="2000">
              <a:latin typeface="宋体"/>
              <a:cs typeface="宋体"/>
            </a:endParaRPr>
          </a:p>
        </p:txBody>
      </p:sp>
      <p:grpSp>
        <p:nvGrpSpPr>
          <p:cNvPr id="15" name="object 15" descr=""/>
          <p:cNvGrpSpPr/>
          <p:nvPr/>
        </p:nvGrpSpPr>
        <p:grpSpPr>
          <a:xfrm>
            <a:off x="3564001" y="3428936"/>
            <a:ext cx="1800225" cy="684530"/>
            <a:chOff x="3564001" y="3428936"/>
            <a:chExt cx="1800225" cy="684530"/>
          </a:xfrm>
        </p:grpSpPr>
        <p:sp>
          <p:nvSpPr>
            <p:cNvPr id="16" name="object 16" descr=""/>
            <p:cNvSpPr/>
            <p:nvPr/>
          </p:nvSpPr>
          <p:spPr>
            <a:xfrm>
              <a:off x="3564001" y="3428936"/>
              <a:ext cx="1800225" cy="684530"/>
            </a:xfrm>
            <a:custGeom>
              <a:avLst/>
              <a:gdLst/>
              <a:ahLst/>
              <a:cxnLst/>
              <a:rect l="l" t="t" r="r" b="b"/>
              <a:pathLst>
                <a:path w="1800225" h="684529">
                  <a:moveTo>
                    <a:pt x="1800225" y="0"/>
                  </a:moveTo>
                  <a:lnTo>
                    <a:pt x="0" y="0"/>
                  </a:lnTo>
                  <a:lnTo>
                    <a:pt x="0" y="684212"/>
                  </a:lnTo>
                  <a:lnTo>
                    <a:pt x="1800225" y="684212"/>
                  </a:lnTo>
                  <a:lnTo>
                    <a:pt x="1800225" y="0"/>
                  </a:lnTo>
                  <a:close/>
                </a:path>
              </a:pathLst>
            </a:custGeom>
            <a:solidFill>
              <a:srgbClr val="EAEAEA"/>
            </a:solidFill>
          </p:spPr>
          <p:txBody>
            <a:bodyPr wrap="square" lIns="0" tIns="0" rIns="0" bIns="0" rtlCol="0"/>
            <a:lstStyle/>
            <a:p/>
          </p:txBody>
        </p:sp>
        <p:sp>
          <p:nvSpPr>
            <p:cNvPr id="17" name="object 17" descr=""/>
            <p:cNvSpPr/>
            <p:nvPr/>
          </p:nvSpPr>
          <p:spPr>
            <a:xfrm>
              <a:off x="4952605" y="3769559"/>
              <a:ext cx="259715" cy="0"/>
            </a:xfrm>
            <a:custGeom>
              <a:avLst/>
              <a:gdLst/>
              <a:ahLst/>
              <a:cxnLst/>
              <a:rect l="l" t="t" r="r" b="b"/>
              <a:pathLst>
                <a:path w="259714" h="0">
                  <a:moveTo>
                    <a:pt x="0" y="0"/>
                  </a:moveTo>
                  <a:lnTo>
                    <a:pt x="259352" y="0"/>
                  </a:lnTo>
                </a:path>
              </a:pathLst>
            </a:custGeom>
            <a:ln w="10801">
              <a:solidFill>
                <a:srgbClr val="000000"/>
              </a:solidFill>
            </a:ln>
          </p:spPr>
          <p:txBody>
            <a:bodyPr wrap="square" lIns="0" tIns="0" rIns="0" bIns="0" rtlCol="0"/>
            <a:lstStyle/>
            <a:p/>
          </p:txBody>
        </p:sp>
      </p:grpSp>
      <p:sp>
        <p:nvSpPr>
          <p:cNvPr id="18" name="object 18" descr=""/>
          <p:cNvSpPr txBox="1"/>
          <p:nvPr/>
        </p:nvSpPr>
        <p:spPr>
          <a:xfrm>
            <a:off x="4829396" y="3668779"/>
            <a:ext cx="527050" cy="305435"/>
          </a:xfrm>
          <a:prstGeom prst="rect">
            <a:avLst/>
          </a:prstGeom>
        </p:spPr>
        <p:txBody>
          <a:bodyPr wrap="square" lIns="0" tIns="17145" rIns="0" bIns="0" rtlCol="0" vert="horz">
            <a:spAutoFit/>
          </a:bodyPr>
          <a:lstStyle/>
          <a:p>
            <a:pPr marL="25400">
              <a:lnSpc>
                <a:spcPct val="100000"/>
              </a:lnSpc>
              <a:spcBef>
                <a:spcPts val="135"/>
              </a:spcBef>
            </a:pPr>
            <a:r>
              <a:rPr dirty="0" sz="1800" spc="-330">
                <a:latin typeface="Symbol"/>
                <a:cs typeface="Symbol"/>
              </a:rPr>
              <a:t></a:t>
            </a:r>
            <a:r>
              <a:rPr dirty="0" baseline="-30864" sz="2700" spc="-494">
                <a:latin typeface="Symbol"/>
                <a:cs typeface="Symbol"/>
              </a:rPr>
              <a:t></a:t>
            </a:r>
            <a:r>
              <a:rPr dirty="0" baseline="-30864" sz="2700" spc="-419">
                <a:latin typeface="Times New Roman"/>
                <a:cs typeface="Times New Roman"/>
              </a:rPr>
              <a:t> </a:t>
            </a:r>
            <a:r>
              <a:rPr dirty="0" baseline="-23148" sz="2700" spc="-75">
                <a:latin typeface="Times New Roman"/>
                <a:cs typeface="Times New Roman"/>
              </a:rPr>
              <a:t>64</a:t>
            </a:r>
            <a:r>
              <a:rPr dirty="0" sz="1800" spc="-50">
                <a:latin typeface="Symbol"/>
                <a:cs typeface="Symbol"/>
              </a:rPr>
              <a:t></a:t>
            </a:r>
            <a:r>
              <a:rPr dirty="0" baseline="-30864" sz="2700" spc="-75">
                <a:latin typeface="Symbol"/>
                <a:cs typeface="Symbol"/>
              </a:rPr>
              <a:t></a:t>
            </a:r>
            <a:endParaRPr baseline="-30864" sz="2700">
              <a:latin typeface="Symbol"/>
              <a:cs typeface="Symbol"/>
            </a:endParaRPr>
          </a:p>
        </p:txBody>
      </p:sp>
      <p:sp>
        <p:nvSpPr>
          <p:cNvPr id="19" name="object 19" descr=""/>
          <p:cNvSpPr txBox="1"/>
          <p:nvPr/>
        </p:nvSpPr>
        <p:spPr>
          <a:xfrm>
            <a:off x="3586407" y="3581632"/>
            <a:ext cx="1769745" cy="305435"/>
          </a:xfrm>
          <a:prstGeom prst="rect">
            <a:avLst/>
          </a:prstGeom>
        </p:spPr>
        <p:txBody>
          <a:bodyPr wrap="square" lIns="0" tIns="17145" rIns="0" bIns="0" rtlCol="0" vert="horz">
            <a:spAutoFit/>
          </a:bodyPr>
          <a:lstStyle/>
          <a:p>
            <a:pPr marL="25400">
              <a:lnSpc>
                <a:spcPct val="100000"/>
              </a:lnSpc>
              <a:spcBef>
                <a:spcPts val="135"/>
              </a:spcBef>
            </a:pPr>
            <a:r>
              <a:rPr dirty="0" sz="1800" i="1">
                <a:latin typeface="Times New Roman"/>
                <a:cs typeface="Times New Roman"/>
              </a:rPr>
              <a:t>L</a:t>
            </a:r>
            <a:r>
              <a:rPr dirty="0" sz="1800" spc="10" i="1">
                <a:latin typeface="Times New Roman"/>
                <a:cs typeface="Times New Roman"/>
              </a:rPr>
              <a:t> </a:t>
            </a:r>
            <a:r>
              <a:rPr dirty="0" sz="1800">
                <a:latin typeface="Symbol"/>
                <a:cs typeface="Symbol"/>
              </a:rPr>
              <a:t></a:t>
            </a:r>
            <a:r>
              <a:rPr dirty="0" sz="1800" spc="85">
                <a:latin typeface="Times New Roman"/>
                <a:cs typeface="Times New Roman"/>
              </a:rPr>
              <a:t> </a:t>
            </a:r>
            <a:r>
              <a:rPr dirty="0" sz="1800" i="1">
                <a:latin typeface="Times New Roman"/>
                <a:cs typeface="Times New Roman"/>
              </a:rPr>
              <a:t>N</a:t>
            </a:r>
            <a:r>
              <a:rPr dirty="0" sz="1800" spc="185" i="1">
                <a:latin typeface="Times New Roman"/>
                <a:cs typeface="Times New Roman"/>
              </a:rPr>
              <a:t> </a:t>
            </a:r>
            <a:r>
              <a:rPr dirty="0" sz="1800">
                <a:latin typeface="Symbol"/>
                <a:cs typeface="Symbol"/>
              </a:rPr>
              <a:t></a:t>
            </a:r>
            <a:r>
              <a:rPr dirty="0" sz="1800" spc="-35">
                <a:latin typeface="Times New Roman"/>
                <a:cs typeface="Times New Roman"/>
              </a:rPr>
              <a:t> </a:t>
            </a:r>
            <a:r>
              <a:rPr dirty="0" sz="1800">
                <a:latin typeface="Times New Roman"/>
                <a:cs typeface="Times New Roman"/>
              </a:rPr>
              <a:t>64</a:t>
            </a:r>
            <a:r>
              <a:rPr dirty="0" sz="1800" spc="-175">
                <a:latin typeface="Times New Roman"/>
                <a:cs typeface="Times New Roman"/>
              </a:rPr>
              <a:t> </a:t>
            </a:r>
            <a:r>
              <a:rPr dirty="0" sz="1800">
                <a:latin typeface="Symbol"/>
                <a:cs typeface="Symbol"/>
              </a:rPr>
              <a:t></a:t>
            </a:r>
            <a:r>
              <a:rPr dirty="0" sz="1800" spc="-40">
                <a:latin typeface="Times New Roman"/>
                <a:cs typeface="Times New Roman"/>
              </a:rPr>
              <a:t> </a:t>
            </a:r>
            <a:r>
              <a:rPr dirty="0" baseline="32407" sz="2700">
                <a:latin typeface="Symbol"/>
                <a:cs typeface="Symbol"/>
              </a:rPr>
              <a:t></a:t>
            </a:r>
            <a:r>
              <a:rPr dirty="0" baseline="32407" sz="2700" spc="15">
                <a:latin typeface="Times New Roman"/>
                <a:cs typeface="Times New Roman"/>
              </a:rPr>
              <a:t> </a:t>
            </a:r>
            <a:r>
              <a:rPr dirty="0" baseline="35493" sz="2700" i="1">
                <a:latin typeface="Times New Roman"/>
                <a:cs typeface="Times New Roman"/>
              </a:rPr>
              <a:t>N</a:t>
            </a:r>
            <a:r>
              <a:rPr dirty="0" baseline="35493" sz="2700" spc="187" i="1">
                <a:latin typeface="Times New Roman"/>
                <a:cs typeface="Times New Roman"/>
              </a:rPr>
              <a:t> </a:t>
            </a:r>
            <a:r>
              <a:rPr dirty="0" baseline="32407" sz="2700" spc="-75">
                <a:latin typeface="Symbol"/>
                <a:cs typeface="Symbol"/>
              </a:rPr>
              <a:t></a:t>
            </a:r>
            <a:endParaRPr baseline="32407" sz="2700">
              <a:latin typeface="Symbol"/>
              <a:cs typeface="Symbo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6529070" cy="514350"/>
          </a:xfrm>
          <a:prstGeom prst="rect"/>
        </p:spPr>
        <p:txBody>
          <a:bodyPr wrap="square" lIns="0" tIns="13335" rIns="0" bIns="0" rtlCol="0" vert="horz">
            <a:spAutoFit/>
          </a:bodyPr>
          <a:lstStyle/>
          <a:p>
            <a:pPr marL="12700">
              <a:lnSpc>
                <a:spcPct val="100000"/>
              </a:lnSpc>
              <a:spcBef>
                <a:spcPts val="105"/>
              </a:spcBef>
            </a:pPr>
            <a:r>
              <a:rPr dirty="0"/>
              <a:t>4.3</a:t>
            </a:r>
            <a:r>
              <a:rPr dirty="0" spc="-25"/>
              <a:t> 提高向量处理机性能的常用技术</a:t>
            </a:r>
          </a:p>
        </p:txBody>
      </p:sp>
      <p:sp>
        <p:nvSpPr>
          <p:cNvPr id="10" name="object 10" descr=""/>
          <p:cNvSpPr txBox="1"/>
          <p:nvPr/>
        </p:nvSpPr>
        <p:spPr>
          <a:xfrm>
            <a:off x="499973" y="941070"/>
            <a:ext cx="7614920" cy="4486910"/>
          </a:xfrm>
          <a:prstGeom prst="rect">
            <a:avLst/>
          </a:prstGeom>
        </p:spPr>
        <p:txBody>
          <a:bodyPr wrap="square" lIns="0" tIns="13335" rIns="0" bIns="0" rtlCol="0" vert="horz">
            <a:spAutoFit/>
          </a:bodyPr>
          <a:lstStyle/>
          <a:p>
            <a:pPr marL="345440">
              <a:lnSpc>
                <a:spcPct val="100000"/>
              </a:lnSpc>
              <a:spcBef>
                <a:spcPts val="105"/>
              </a:spcBef>
            </a:pPr>
            <a:r>
              <a:rPr dirty="0" sz="2600">
                <a:solidFill>
                  <a:srgbClr val="0000CC"/>
                </a:solidFill>
                <a:latin typeface="黑体"/>
                <a:cs typeface="黑体"/>
              </a:rPr>
              <a:t>4.3.4</a:t>
            </a:r>
            <a:r>
              <a:rPr dirty="0" sz="2600" spc="-15">
                <a:solidFill>
                  <a:srgbClr val="0000CC"/>
                </a:solidFill>
                <a:latin typeface="黑体"/>
                <a:cs typeface="黑体"/>
              </a:rPr>
              <a:t> 采用多处理机系统</a:t>
            </a:r>
            <a:endParaRPr sz="2600">
              <a:latin typeface="黑体"/>
              <a:cs typeface="黑体"/>
            </a:endParaRPr>
          </a:p>
          <a:p>
            <a:pPr>
              <a:lnSpc>
                <a:spcPct val="100000"/>
              </a:lnSpc>
              <a:spcBef>
                <a:spcPts val="3335"/>
              </a:spcBef>
            </a:pPr>
            <a:endParaRPr sz="2600">
              <a:latin typeface="黑体"/>
              <a:cs typeface="黑体"/>
            </a:endParaRPr>
          </a:p>
          <a:p>
            <a:pPr marL="583565">
              <a:lnSpc>
                <a:spcPct val="100000"/>
              </a:lnSpc>
            </a:pPr>
            <a:r>
              <a:rPr dirty="0" sz="2400" spc="-5">
                <a:solidFill>
                  <a:srgbClr val="40458B"/>
                </a:solidFill>
                <a:latin typeface="黑体"/>
                <a:cs typeface="黑体"/>
              </a:rPr>
              <a:t>许多新型向量处理机系统采用了多处理机系统结构。</a:t>
            </a:r>
            <a:endParaRPr sz="2400">
              <a:latin typeface="黑体"/>
              <a:cs typeface="黑体"/>
            </a:endParaRPr>
          </a:p>
          <a:p>
            <a:pPr marL="12700">
              <a:lnSpc>
                <a:spcPct val="100000"/>
              </a:lnSpc>
              <a:spcBef>
                <a:spcPts val="1445"/>
              </a:spcBef>
            </a:pPr>
            <a:r>
              <a:rPr dirty="0" sz="2400" spc="-20">
                <a:solidFill>
                  <a:srgbClr val="40458B"/>
                </a:solidFill>
                <a:latin typeface="黑体"/>
                <a:cs typeface="黑体"/>
              </a:rPr>
              <a:t>例如：</a:t>
            </a:r>
            <a:endParaRPr sz="2400">
              <a:latin typeface="黑体"/>
              <a:cs typeface="黑体"/>
            </a:endParaRPr>
          </a:p>
          <a:p>
            <a:pPr marL="1053465" indent="-457200">
              <a:lnSpc>
                <a:spcPct val="100000"/>
              </a:lnSpc>
              <a:spcBef>
                <a:spcPts val="1275"/>
              </a:spcBef>
              <a:buClr>
                <a:srgbClr val="4668F5"/>
              </a:buClr>
              <a:buSzPct val="65000"/>
              <a:buFont typeface="Wingdings"/>
              <a:buChar char=""/>
              <a:tabLst>
                <a:tab pos="1053465" algn="l"/>
              </a:tabLst>
            </a:pPr>
            <a:r>
              <a:rPr dirty="0" sz="2000" spc="-10" b="1">
                <a:solidFill>
                  <a:srgbClr val="00AFEF"/>
                </a:solidFill>
                <a:latin typeface="宋体"/>
                <a:cs typeface="宋体"/>
              </a:rPr>
              <a:t>CRAY-</a:t>
            </a:r>
            <a:r>
              <a:rPr dirty="0" sz="2000" spc="-50" b="1">
                <a:solidFill>
                  <a:srgbClr val="00AFEF"/>
                </a:solidFill>
                <a:latin typeface="宋体"/>
                <a:cs typeface="宋体"/>
              </a:rPr>
              <a:t>2</a:t>
            </a:r>
            <a:endParaRPr sz="2000">
              <a:latin typeface="宋体"/>
              <a:cs typeface="宋体"/>
            </a:endParaRPr>
          </a:p>
          <a:p>
            <a:pPr lvl="1" marL="1614170" indent="-381000">
              <a:lnSpc>
                <a:spcPct val="100000"/>
              </a:lnSpc>
              <a:spcBef>
                <a:spcPts val="1200"/>
              </a:spcBef>
              <a:buClr>
                <a:srgbClr val="006600"/>
              </a:buClr>
              <a:buSzPct val="65000"/>
              <a:buFont typeface="Wingdings"/>
              <a:buChar char=""/>
              <a:tabLst>
                <a:tab pos="1614170" algn="l"/>
              </a:tabLst>
            </a:pPr>
            <a:r>
              <a:rPr dirty="0" sz="2000" spc="-15" b="1">
                <a:solidFill>
                  <a:srgbClr val="40458B"/>
                </a:solidFill>
                <a:latin typeface="宋体"/>
                <a:cs typeface="宋体"/>
              </a:rPr>
              <a:t>包含了</a:t>
            </a:r>
            <a:r>
              <a:rPr dirty="0" sz="2000" b="1">
                <a:solidFill>
                  <a:srgbClr val="9933FF"/>
                </a:solidFill>
                <a:latin typeface="宋体"/>
                <a:cs typeface="宋体"/>
              </a:rPr>
              <a:t>4</a:t>
            </a:r>
            <a:r>
              <a:rPr dirty="0" sz="2000" spc="-25" b="1">
                <a:solidFill>
                  <a:srgbClr val="40458B"/>
                </a:solidFill>
                <a:latin typeface="宋体"/>
                <a:cs typeface="宋体"/>
              </a:rPr>
              <a:t>个向量处理机</a:t>
            </a:r>
            <a:endParaRPr sz="2000">
              <a:latin typeface="宋体"/>
              <a:cs typeface="宋体"/>
            </a:endParaRPr>
          </a:p>
          <a:p>
            <a:pPr lvl="1" marL="1614170" indent="-381000">
              <a:lnSpc>
                <a:spcPct val="100000"/>
              </a:lnSpc>
              <a:spcBef>
                <a:spcPts val="1205"/>
              </a:spcBef>
              <a:buClr>
                <a:srgbClr val="006600"/>
              </a:buClr>
              <a:buSzPct val="65000"/>
              <a:buFont typeface="Wingdings"/>
              <a:buChar char=""/>
              <a:tabLst>
                <a:tab pos="1614170" algn="l"/>
              </a:tabLst>
            </a:pPr>
            <a:r>
              <a:rPr dirty="0" sz="2000" spc="-10" b="1">
                <a:solidFill>
                  <a:srgbClr val="40458B"/>
                </a:solidFill>
                <a:latin typeface="宋体"/>
                <a:cs typeface="宋体"/>
              </a:rPr>
              <a:t>浮点运算速度最高可达</a:t>
            </a:r>
            <a:r>
              <a:rPr dirty="0" sz="2000" spc="-10" b="1">
                <a:solidFill>
                  <a:srgbClr val="9933FF"/>
                </a:solidFill>
                <a:latin typeface="宋体"/>
                <a:cs typeface="宋体"/>
              </a:rPr>
              <a:t>1800MFLOPS</a:t>
            </a:r>
            <a:endParaRPr sz="2000">
              <a:latin typeface="宋体"/>
              <a:cs typeface="宋体"/>
            </a:endParaRPr>
          </a:p>
          <a:p>
            <a:pPr marL="1053465" indent="-457200">
              <a:lnSpc>
                <a:spcPct val="100000"/>
              </a:lnSpc>
              <a:spcBef>
                <a:spcPts val="1200"/>
              </a:spcBef>
              <a:buClr>
                <a:srgbClr val="4668F5"/>
              </a:buClr>
              <a:buSzPct val="65000"/>
              <a:buFont typeface="Wingdings"/>
              <a:buChar char=""/>
              <a:tabLst>
                <a:tab pos="1053465" algn="l"/>
              </a:tabLst>
            </a:pPr>
            <a:r>
              <a:rPr dirty="0" sz="2000" b="1">
                <a:solidFill>
                  <a:srgbClr val="00AFEF"/>
                </a:solidFill>
                <a:latin typeface="宋体"/>
                <a:cs typeface="宋体"/>
              </a:rPr>
              <a:t>CRAY</a:t>
            </a:r>
            <a:r>
              <a:rPr dirty="0" sz="2000" spc="-35" b="1">
                <a:solidFill>
                  <a:srgbClr val="00AFEF"/>
                </a:solidFill>
                <a:latin typeface="宋体"/>
                <a:cs typeface="宋体"/>
              </a:rPr>
              <a:t> </a:t>
            </a:r>
            <a:r>
              <a:rPr dirty="0" sz="2000" b="1">
                <a:solidFill>
                  <a:srgbClr val="00AFEF"/>
                </a:solidFill>
                <a:latin typeface="宋体"/>
                <a:cs typeface="宋体"/>
              </a:rPr>
              <a:t>Y-</a:t>
            </a:r>
            <a:r>
              <a:rPr dirty="0" sz="2000" spc="-10" b="1">
                <a:solidFill>
                  <a:srgbClr val="00AFEF"/>
                </a:solidFill>
                <a:latin typeface="宋体"/>
                <a:cs typeface="宋体"/>
              </a:rPr>
              <a:t>MP、</a:t>
            </a:r>
            <a:r>
              <a:rPr dirty="0" sz="2000" spc="-25" b="1">
                <a:solidFill>
                  <a:srgbClr val="00AFEF"/>
                </a:solidFill>
                <a:latin typeface="宋体"/>
                <a:cs typeface="宋体"/>
              </a:rPr>
              <a:t>C90</a:t>
            </a:r>
            <a:endParaRPr sz="2000">
              <a:latin typeface="宋体"/>
              <a:cs typeface="宋体"/>
            </a:endParaRPr>
          </a:p>
          <a:p>
            <a:pPr marL="1619250">
              <a:lnSpc>
                <a:spcPct val="100000"/>
              </a:lnSpc>
              <a:spcBef>
                <a:spcPts val="1200"/>
              </a:spcBef>
            </a:pPr>
            <a:r>
              <a:rPr dirty="0" sz="2000" spc="-15" b="1">
                <a:solidFill>
                  <a:srgbClr val="40458B"/>
                </a:solidFill>
                <a:latin typeface="宋体"/>
                <a:cs typeface="宋体"/>
              </a:rPr>
              <a:t>最多可包含</a:t>
            </a:r>
            <a:r>
              <a:rPr dirty="0" sz="2000" b="1">
                <a:solidFill>
                  <a:srgbClr val="9933FF"/>
                </a:solidFill>
                <a:latin typeface="宋体"/>
                <a:cs typeface="宋体"/>
              </a:rPr>
              <a:t>16</a:t>
            </a:r>
            <a:r>
              <a:rPr dirty="0" sz="2000" spc="-25" b="1">
                <a:solidFill>
                  <a:srgbClr val="40458B"/>
                </a:solidFill>
                <a:latin typeface="宋体"/>
                <a:cs typeface="宋体"/>
              </a:rPr>
              <a:t>个向量处理机</a:t>
            </a:r>
            <a:endParaRPr sz="2000">
              <a:latin typeface="宋体"/>
              <a:cs typeface="宋体"/>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763016" y="1621027"/>
            <a:ext cx="7208520" cy="2403475"/>
          </a:xfrm>
          <a:prstGeom prst="rect">
            <a:avLst/>
          </a:prstGeom>
        </p:spPr>
        <p:txBody>
          <a:bodyPr wrap="square" lIns="0" tIns="122555" rIns="0" bIns="0" rtlCol="0" vert="horz">
            <a:spAutoFit/>
          </a:bodyPr>
          <a:lstStyle/>
          <a:p>
            <a:pPr marL="12700">
              <a:lnSpc>
                <a:spcPct val="100000"/>
              </a:lnSpc>
              <a:spcBef>
                <a:spcPts val="965"/>
              </a:spcBef>
            </a:pPr>
            <a:r>
              <a:rPr dirty="0" sz="2400">
                <a:solidFill>
                  <a:srgbClr val="E14B04"/>
                </a:solidFill>
                <a:latin typeface="黑体"/>
                <a:cs typeface="黑体"/>
              </a:rPr>
              <a:t>衡量向量处理机性能的</a:t>
            </a:r>
            <a:r>
              <a:rPr dirty="0" sz="2400" spc="-85">
                <a:solidFill>
                  <a:srgbClr val="D50092"/>
                </a:solidFill>
                <a:latin typeface="黑体"/>
                <a:cs typeface="黑体"/>
              </a:rPr>
              <a:t>主要参数 ：</a:t>
            </a:r>
            <a:endParaRPr sz="2400">
              <a:latin typeface="黑体"/>
              <a:cs typeface="黑体"/>
            </a:endParaRPr>
          </a:p>
          <a:p>
            <a:pPr marL="1099185" indent="-457200">
              <a:lnSpc>
                <a:spcPct val="100000"/>
              </a:lnSpc>
              <a:spcBef>
                <a:spcPts val="860"/>
              </a:spcBef>
              <a:buSzPct val="89583"/>
              <a:buFont typeface="Wingdings"/>
              <a:buChar char=""/>
              <a:tabLst>
                <a:tab pos="1099185" algn="l"/>
              </a:tabLst>
            </a:pPr>
            <a:r>
              <a:rPr dirty="0" sz="2400" spc="-10">
                <a:solidFill>
                  <a:srgbClr val="40458B"/>
                </a:solidFill>
                <a:latin typeface="黑体"/>
                <a:cs typeface="黑体"/>
              </a:rPr>
              <a:t>向量指令的处理时间</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向量长度为无穷大时的向量处理机的最大性能</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半性能向量长度</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向量长度临界值</a:t>
            </a:r>
            <a:endParaRPr sz="2400">
              <a:latin typeface="黑体"/>
              <a:cs typeface="黑体"/>
            </a:endParaRPr>
          </a:p>
        </p:txBody>
      </p:sp>
      <p:sp>
        <p:nvSpPr>
          <p:cNvPr id="10" name="object 10"/>
          <p:cNvSpPr txBox="1">
            <a:spLocks noGrp="1"/>
          </p:cNvSpPr>
          <p:nvPr>
            <p:ph type="title"/>
          </p:nvPr>
        </p:nvSpPr>
        <p:spPr>
          <a:xfrm>
            <a:off x="969670" y="177164"/>
            <a:ext cx="4904105" cy="513715"/>
          </a:xfrm>
          <a:prstGeom prst="rect"/>
        </p:spPr>
        <p:txBody>
          <a:bodyPr wrap="square" lIns="0" tIns="12700" rIns="0" bIns="0" rtlCol="0" vert="horz">
            <a:spAutoFit/>
          </a:bodyPr>
          <a:lstStyle/>
          <a:p>
            <a:pPr marL="12700">
              <a:lnSpc>
                <a:spcPct val="100000"/>
              </a:lnSpc>
              <a:spcBef>
                <a:spcPts val="100"/>
              </a:spcBef>
            </a:pPr>
            <a:r>
              <a:rPr dirty="0">
                <a:solidFill>
                  <a:srgbClr val="001F5F"/>
                </a:solidFill>
              </a:rPr>
              <a:t>4.4</a:t>
            </a:r>
            <a:r>
              <a:rPr dirty="0" spc="-20">
                <a:solidFill>
                  <a:srgbClr val="001F5F"/>
                </a:solidFill>
              </a:rPr>
              <a:t> 向量处理机的性能评价</a:t>
            </a:r>
          </a:p>
        </p:txBody>
      </p:sp>
      <p:sp>
        <p:nvSpPr>
          <p:cNvPr id="11" name="object 11" descr=""/>
          <p:cNvSpPr txBox="1"/>
          <p:nvPr/>
        </p:nvSpPr>
        <p:spPr>
          <a:xfrm>
            <a:off x="-11126" y="-6857"/>
            <a:ext cx="220345" cy="184150"/>
          </a:xfrm>
          <a:prstGeom prst="rect">
            <a:avLst/>
          </a:prstGeom>
        </p:spPr>
        <p:txBody>
          <a:bodyPr wrap="square" lIns="0" tIns="17780" rIns="0" bIns="0" rtlCol="0" vert="horz">
            <a:spAutoFit/>
          </a:bodyPr>
          <a:lstStyle/>
          <a:p>
            <a:pPr marL="38100">
              <a:lnSpc>
                <a:spcPct val="100000"/>
              </a:lnSpc>
              <a:spcBef>
                <a:spcPts val="140"/>
              </a:spcBef>
            </a:pPr>
            <a:r>
              <a:rPr dirty="0" sz="1000" spc="-25" i="1">
                <a:latin typeface="Times New Roman"/>
                <a:cs typeface="Times New Roman"/>
              </a:rPr>
              <a:t>R</a:t>
            </a:r>
            <a:r>
              <a:rPr dirty="0" baseline="-19841" sz="1050" spc="-37">
                <a:latin typeface="Symbol"/>
                <a:cs typeface="Symbol"/>
              </a:rPr>
              <a:t></a:t>
            </a:r>
            <a:endParaRPr baseline="-19841" sz="1050">
              <a:latin typeface="Symbol"/>
              <a:cs typeface="Symbo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339242" y="807161"/>
            <a:ext cx="7734934" cy="1574800"/>
          </a:xfrm>
          <a:prstGeom prst="rect">
            <a:avLst/>
          </a:prstGeom>
        </p:spPr>
        <p:txBody>
          <a:bodyPr wrap="square" lIns="0" tIns="13335" rIns="0" bIns="0" rtlCol="0" vert="horz">
            <a:spAutoFit/>
          </a:bodyPr>
          <a:lstStyle/>
          <a:p>
            <a:pPr marL="721995">
              <a:lnSpc>
                <a:spcPct val="100000"/>
              </a:lnSpc>
              <a:spcBef>
                <a:spcPts val="105"/>
              </a:spcBef>
            </a:pPr>
            <a:r>
              <a:rPr dirty="0" sz="2600">
                <a:solidFill>
                  <a:srgbClr val="0000CC"/>
                </a:solidFill>
                <a:latin typeface="黑体"/>
                <a:cs typeface="黑体"/>
              </a:rPr>
              <a:t>4.4.1</a:t>
            </a:r>
            <a:r>
              <a:rPr dirty="0" sz="2600" spc="-20">
                <a:solidFill>
                  <a:srgbClr val="0000CC"/>
                </a:solidFill>
                <a:latin typeface="黑体"/>
                <a:cs typeface="黑体"/>
              </a:rPr>
              <a:t> 向量指令的处理时间</a:t>
            </a:r>
            <a:r>
              <a:rPr dirty="0" sz="2600" spc="-25">
                <a:solidFill>
                  <a:srgbClr val="0000CC"/>
                </a:solidFill>
                <a:latin typeface="黑体"/>
                <a:cs typeface="黑体"/>
              </a:rPr>
              <a:t>T</a:t>
            </a:r>
            <a:r>
              <a:rPr dirty="0" baseline="-21241" sz="2550" spc="-37">
                <a:solidFill>
                  <a:srgbClr val="0000CC"/>
                </a:solidFill>
                <a:latin typeface="黑体"/>
                <a:cs typeface="黑体"/>
              </a:rPr>
              <a:t>vp</a:t>
            </a:r>
            <a:endParaRPr baseline="-21241" sz="2550">
              <a:latin typeface="黑体"/>
              <a:cs typeface="黑体"/>
            </a:endParaRPr>
          </a:p>
          <a:p>
            <a:pPr marL="38100">
              <a:lnSpc>
                <a:spcPct val="100000"/>
              </a:lnSpc>
              <a:spcBef>
                <a:spcPts val="2445"/>
              </a:spcBef>
            </a:pPr>
            <a:r>
              <a:rPr dirty="0" sz="2400">
                <a:solidFill>
                  <a:srgbClr val="E14B04"/>
                </a:solidFill>
                <a:latin typeface="黑体"/>
                <a:cs typeface="黑体"/>
              </a:rPr>
              <a:t>一条向量指令的处理时间</a:t>
            </a:r>
            <a:r>
              <a:rPr dirty="0" sz="2400" spc="-25">
                <a:solidFill>
                  <a:srgbClr val="E14B04"/>
                </a:solidFill>
                <a:latin typeface="Tahoma"/>
                <a:cs typeface="Tahoma"/>
              </a:rPr>
              <a:t>T</a:t>
            </a:r>
            <a:r>
              <a:rPr dirty="0" baseline="-20833" sz="2400" spc="-37">
                <a:solidFill>
                  <a:srgbClr val="E14B04"/>
                </a:solidFill>
                <a:latin typeface="Tahoma"/>
                <a:cs typeface="Tahoma"/>
              </a:rPr>
              <a:t>vp</a:t>
            </a:r>
            <a:endParaRPr baseline="-20833" sz="2400">
              <a:latin typeface="Tahoma"/>
              <a:cs typeface="Tahoma"/>
            </a:endParaRPr>
          </a:p>
          <a:p>
            <a:pPr marL="1124585" indent="-457200">
              <a:lnSpc>
                <a:spcPct val="100000"/>
              </a:lnSpc>
              <a:spcBef>
                <a:spcPts val="865"/>
              </a:spcBef>
              <a:buSzPct val="89583"/>
              <a:buFont typeface="Wingdings"/>
              <a:buChar char=""/>
              <a:tabLst>
                <a:tab pos="1124585" algn="l"/>
              </a:tabLst>
            </a:pPr>
            <a:r>
              <a:rPr dirty="0" sz="2400">
                <a:solidFill>
                  <a:srgbClr val="40458B"/>
                </a:solidFill>
                <a:latin typeface="黑体"/>
                <a:cs typeface="黑体"/>
              </a:rPr>
              <a:t>执行一条向量长度为</a:t>
            </a:r>
            <a:r>
              <a:rPr dirty="0" sz="2400">
                <a:solidFill>
                  <a:srgbClr val="40458B"/>
                </a:solidFill>
                <a:latin typeface="Tahoma"/>
                <a:cs typeface="Tahoma"/>
              </a:rPr>
              <a:t>n</a:t>
            </a:r>
            <a:r>
              <a:rPr dirty="0" sz="2400" spc="-5">
                <a:solidFill>
                  <a:srgbClr val="40458B"/>
                </a:solidFill>
                <a:latin typeface="黑体"/>
                <a:cs typeface="黑体"/>
              </a:rPr>
              <a:t>的向量指令所需的时间为：</a:t>
            </a:r>
            <a:endParaRPr sz="2400">
              <a:latin typeface="黑体"/>
              <a:cs typeface="黑体"/>
            </a:endParaRPr>
          </a:p>
        </p:txBody>
      </p:sp>
      <p:sp>
        <p:nvSpPr>
          <p:cNvPr id="11" name="object 11" descr=""/>
          <p:cNvSpPr txBox="1"/>
          <p:nvPr/>
        </p:nvSpPr>
        <p:spPr>
          <a:xfrm>
            <a:off x="1596516" y="3314166"/>
            <a:ext cx="6797040" cy="2342515"/>
          </a:xfrm>
          <a:prstGeom prst="rect">
            <a:avLst/>
          </a:prstGeom>
        </p:spPr>
        <p:txBody>
          <a:bodyPr wrap="square" lIns="0" tIns="104140" rIns="0" bIns="0" rtlCol="0" vert="horz">
            <a:spAutoFit/>
          </a:bodyPr>
          <a:lstStyle/>
          <a:p>
            <a:pPr marL="495300" indent="-457200">
              <a:lnSpc>
                <a:spcPct val="100000"/>
              </a:lnSpc>
              <a:spcBef>
                <a:spcPts val="820"/>
              </a:spcBef>
              <a:buClr>
                <a:srgbClr val="4668F5"/>
              </a:buClr>
              <a:buSzPct val="65000"/>
              <a:buFont typeface="Wingdings"/>
              <a:buChar char=""/>
              <a:tabLst>
                <a:tab pos="495300" algn="l"/>
              </a:tabLst>
            </a:pP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s</a:t>
            </a:r>
            <a:r>
              <a:rPr dirty="0" baseline="-21367" sz="1950" spc="270" b="1">
                <a:solidFill>
                  <a:srgbClr val="D50092"/>
                </a:solidFill>
                <a:latin typeface="Times New Roman"/>
                <a:cs typeface="Times New Roman"/>
              </a:rPr>
              <a:t> </a:t>
            </a:r>
            <a:r>
              <a:rPr dirty="0" sz="2000" spc="-20" b="1">
                <a:solidFill>
                  <a:srgbClr val="00AFEF"/>
                </a:solidFill>
                <a:latin typeface="宋体"/>
                <a:cs typeface="宋体"/>
              </a:rPr>
              <a:t>：向量处理部件流水线的建立时间</a:t>
            </a:r>
            <a:endParaRPr sz="2000">
              <a:latin typeface="宋体"/>
              <a:cs typeface="宋体"/>
            </a:endParaRPr>
          </a:p>
          <a:p>
            <a:pPr marL="495300" marR="154305" indent="511809">
              <a:lnSpc>
                <a:spcPct val="110000"/>
              </a:lnSpc>
              <a:spcBef>
                <a:spcPts val="480"/>
              </a:spcBef>
            </a:pPr>
            <a:r>
              <a:rPr dirty="0" sz="2000" spc="-15" b="1">
                <a:solidFill>
                  <a:srgbClr val="00AFEF"/>
                </a:solidFill>
                <a:latin typeface="宋体"/>
                <a:cs typeface="宋体"/>
              </a:rPr>
              <a:t>为了使处理部件流水线能开始工作</a:t>
            </a:r>
            <a:r>
              <a:rPr dirty="0" sz="2000" spc="-10" b="1">
                <a:solidFill>
                  <a:srgbClr val="00AFEF"/>
                </a:solidFill>
                <a:latin typeface="宋体"/>
                <a:cs typeface="宋体"/>
              </a:rPr>
              <a:t>（</a:t>
            </a:r>
            <a:r>
              <a:rPr dirty="0" sz="2000" spc="-25" b="1">
                <a:solidFill>
                  <a:srgbClr val="00AFEF"/>
                </a:solidFill>
                <a:latin typeface="宋体"/>
                <a:cs typeface="宋体"/>
              </a:rPr>
              <a:t>即开始流入数</a:t>
            </a:r>
            <a:r>
              <a:rPr dirty="0" sz="2000" spc="-10" b="1">
                <a:solidFill>
                  <a:srgbClr val="00AFEF"/>
                </a:solidFill>
                <a:latin typeface="宋体"/>
                <a:cs typeface="宋体"/>
              </a:rPr>
              <a:t>据）</a:t>
            </a:r>
            <a:r>
              <a:rPr dirty="0" sz="2000" spc="-15" b="1">
                <a:solidFill>
                  <a:srgbClr val="00AFEF"/>
                </a:solidFill>
                <a:latin typeface="宋体"/>
                <a:cs typeface="宋体"/>
              </a:rPr>
              <a:t>所需要的准备时间。</a:t>
            </a:r>
            <a:endParaRPr sz="2000">
              <a:latin typeface="宋体"/>
              <a:cs typeface="宋体"/>
            </a:endParaRPr>
          </a:p>
          <a:p>
            <a:pPr marL="495300" indent="-457200">
              <a:lnSpc>
                <a:spcPct val="100000"/>
              </a:lnSpc>
              <a:spcBef>
                <a:spcPts val="720"/>
              </a:spcBef>
              <a:buClr>
                <a:srgbClr val="4668F5"/>
              </a:buClr>
              <a:buSzPct val="65000"/>
              <a:buFont typeface="Wingdings"/>
              <a:buChar char=""/>
              <a:tabLst>
                <a:tab pos="495300" algn="l"/>
              </a:tabLst>
            </a:pP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e</a:t>
            </a:r>
            <a:r>
              <a:rPr dirty="0" baseline="-21367" sz="1950" spc="262" b="1">
                <a:solidFill>
                  <a:srgbClr val="D50092"/>
                </a:solidFill>
                <a:latin typeface="Times New Roman"/>
                <a:cs typeface="Times New Roman"/>
              </a:rPr>
              <a:t> </a:t>
            </a:r>
            <a:r>
              <a:rPr dirty="0" sz="2000" spc="-20" b="1">
                <a:solidFill>
                  <a:srgbClr val="00AFEF"/>
                </a:solidFill>
                <a:latin typeface="宋体"/>
                <a:cs typeface="宋体"/>
              </a:rPr>
              <a:t>：向量流水线的通过时间</a:t>
            </a:r>
            <a:endParaRPr sz="2000">
              <a:latin typeface="宋体"/>
              <a:cs typeface="宋体"/>
            </a:endParaRPr>
          </a:p>
          <a:p>
            <a:pPr marL="38100">
              <a:lnSpc>
                <a:spcPct val="100000"/>
              </a:lnSpc>
              <a:spcBef>
                <a:spcPts val="720"/>
              </a:spcBef>
            </a:pPr>
            <a:r>
              <a:rPr dirty="0" sz="2000" spc="-45" b="1">
                <a:solidFill>
                  <a:srgbClr val="00AFEF"/>
                </a:solidFill>
                <a:latin typeface="宋体"/>
                <a:cs typeface="宋体"/>
              </a:rPr>
              <a:t>第一对向量元素通过流水线并产生第一个结果所花的时间 。</a:t>
            </a:r>
            <a:endParaRPr sz="2000">
              <a:latin typeface="宋体"/>
              <a:cs typeface="宋体"/>
            </a:endParaRPr>
          </a:p>
          <a:p>
            <a:pPr marL="495300" indent="-457200">
              <a:lnSpc>
                <a:spcPct val="100000"/>
              </a:lnSpc>
              <a:spcBef>
                <a:spcPts val="720"/>
              </a:spcBef>
              <a:buClr>
                <a:srgbClr val="4668F5"/>
              </a:buClr>
              <a:buSzPct val="65000"/>
              <a:buFont typeface="Wingdings"/>
              <a:buChar char=""/>
              <a:tabLst>
                <a:tab pos="495300" algn="l"/>
              </a:tabLst>
            </a:pP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c</a:t>
            </a:r>
            <a:r>
              <a:rPr dirty="0" baseline="-21367" sz="1950" spc="247" b="1">
                <a:solidFill>
                  <a:srgbClr val="D50092"/>
                </a:solidFill>
                <a:latin typeface="Times New Roman"/>
                <a:cs typeface="Times New Roman"/>
              </a:rPr>
              <a:t> </a:t>
            </a:r>
            <a:r>
              <a:rPr dirty="0" sz="2000" spc="-15" b="1">
                <a:solidFill>
                  <a:srgbClr val="00AFEF"/>
                </a:solidFill>
                <a:latin typeface="宋体"/>
                <a:cs typeface="宋体"/>
              </a:rPr>
              <a:t>：流水线的时钟周期时间</a:t>
            </a:r>
            <a:endParaRPr sz="2000">
              <a:latin typeface="宋体"/>
              <a:cs typeface="宋体"/>
            </a:endParaRPr>
          </a:p>
        </p:txBody>
      </p:sp>
      <p:sp>
        <p:nvSpPr>
          <p:cNvPr id="12" name="object 12" descr=""/>
          <p:cNvSpPr txBox="1"/>
          <p:nvPr/>
        </p:nvSpPr>
        <p:spPr>
          <a:xfrm>
            <a:off x="2697226" y="2636837"/>
            <a:ext cx="3384550" cy="582930"/>
          </a:xfrm>
          <a:prstGeom prst="rect">
            <a:avLst/>
          </a:prstGeom>
          <a:solidFill>
            <a:srgbClr val="EAEAEA"/>
          </a:solidFill>
        </p:spPr>
        <p:txBody>
          <a:bodyPr wrap="square" lIns="0" tIns="0" rIns="0" bIns="0" rtlCol="0" vert="horz">
            <a:spAutoFit/>
          </a:bodyPr>
          <a:lstStyle/>
          <a:p>
            <a:pPr marL="33655">
              <a:lnSpc>
                <a:spcPts val="3475"/>
              </a:lnSpc>
            </a:pPr>
            <a:r>
              <a:rPr dirty="0" sz="2900" i="1">
                <a:latin typeface="Times New Roman"/>
                <a:cs typeface="Times New Roman"/>
              </a:rPr>
              <a:t>T</a:t>
            </a:r>
            <a:r>
              <a:rPr dirty="0" baseline="-22875" sz="2550" i="1">
                <a:latin typeface="Times New Roman"/>
                <a:cs typeface="Times New Roman"/>
              </a:rPr>
              <a:t>vp</a:t>
            </a:r>
            <a:r>
              <a:rPr dirty="0" baseline="-22875" sz="2550" spc="585" i="1">
                <a:latin typeface="Times New Roman"/>
                <a:cs typeface="Times New Roman"/>
              </a:rPr>
              <a:t> </a:t>
            </a:r>
            <a:r>
              <a:rPr dirty="0" sz="2900">
                <a:latin typeface="Symbol"/>
                <a:cs typeface="Symbol"/>
              </a:rPr>
              <a:t></a:t>
            </a:r>
            <a:r>
              <a:rPr dirty="0" sz="2900" spc="-210">
                <a:latin typeface="Times New Roman"/>
                <a:cs typeface="Times New Roman"/>
              </a:rPr>
              <a:t> </a:t>
            </a:r>
            <a:r>
              <a:rPr dirty="0" sz="2900" i="1">
                <a:latin typeface="Times New Roman"/>
                <a:cs typeface="Times New Roman"/>
              </a:rPr>
              <a:t>T</a:t>
            </a:r>
            <a:r>
              <a:rPr dirty="0" baseline="-22875" sz="2550" i="1">
                <a:latin typeface="Times New Roman"/>
                <a:cs typeface="Times New Roman"/>
              </a:rPr>
              <a:t>s</a:t>
            </a:r>
            <a:r>
              <a:rPr dirty="0" baseline="-22875" sz="2550" spc="630" i="1">
                <a:latin typeface="Times New Roman"/>
                <a:cs typeface="Times New Roman"/>
              </a:rPr>
              <a:t> </a:t>
            </a:r>
            <a:r>
              <a:rPr dirty="0" sz="2900">
                <a:latin typeface="Symbol"/>
                <a:cs typeface="Symbol"/>
              </a:rPr>
              <a:t></a:t>
            </a:r>
            <a:r>
              <a:rPr dirty="0" sz="2900" spc="-280">
                <a:latin typeface="Times New Roman"/>
                <a:cs typeface="Times New Roman"/>
              </a:rPr>
              <a:t> </a:t>
            </a:r>
            <a:r>
              <a:rPr dirty="0" sz="2900" i="1">
                <a:latin typeface="Times New Roman"/>
                <a:cs typeface="Times New Roman"/>
              </a:rPr>
              <a:t>T</a:t>
            </a:r>
            <a:r>
              <a:rPr dirty="0" baseline="-22875" sz="2550" i="1">
                <a:latin typeface="Times New Roman"/>
                <a:cs typeface="Times New Roman"/>
              </a:rPr>
              <a:t>e</a:t>
            </a:r>
            <a:r>
              <a:rPr dirty="0" baseline="-22875" sz="2550" spc="555" i="1">
                <a:latin typeface="Times New Roman"/>
                <a:cs typeface="Times New Roman"/>
              </a:rPr>
              <a:t> </a:t>
            </a:r>
            <a:r>
              <a:rPr dirty="0" sz="2900">
                <a:latin typeface="Symbol"/>
                <a:cs typeface="Symbol"/>
              </a:rPr>
              <a:t></a:t>
            </a:r>
            <a:r>
              <a:rPr dirty="0" sz="2900" spc="-180">
                <a:latin typeface="Times New Roman"/>
                <a:cs typeface="Times New Roman"/>
              </a:rPr>
              <a:t> </a:t>
            </a:r>
            <a:r>
              <a:rPr dirty="0" sz="2900" spc="55">
                <a:latin typeface="Times New Roman"/>
                <a:cs typeface="Times New Roman"/>
              </a:rPr>
              <a:t>(</a:t>
            </a:r>
            <a:r>
              <a:rPr dirty="0" sz="2900" spc="55" i="1">
                <a:latin typeface="Times New Roman"/>
                <a:cs typeface="Times New Roman"/>
              </a:rPr>
              <a:t>n</a:t>
            </a:r>
            <a:r>
              <a:rPr dirty="0" sz="2900" spc="-180" i="1">
                <a:latin typeface="Times New Roman"/>
                <a:cs typeface="Times New Roman"/>
              </a:rPr>
              <a:t> </a:t>
            </a:r>
            <a:r>
              <a:rPr dirty="0" sz="2900" spc="-10">
                <a:latin typeface="Symbol"/>
                <a:cs typeface="Symbol"/>
              </a:rPr>
              <a:t></a:t>
            </a:r>
            <a:r>
              <a:rPr dirty="0" sz="2900" spc="-10">
                <a:latin typeface="Times New Roman"/>
                <a:cs typeface="Times New Roman"/>
              </a:rPr>
              <a:t>1)</a:t>
            </a:r>
            <a:r>
              <a:rPr dirty="0" sz="2900" spc="-10" i="1">
                <a:latin typeface="Times New Roman"/>
                <a:cs typeface="Times New Roman"/>
              </a:rPr>
              <a:t>T</a:t>
            </a:r>
            <a:r>
              <a:rPr dirty="0" baseline="-22875" sz="2550" spc="-15" i="1">
                <a:latin typeface="Times New Roman"/>
                <a:cs typeface="Times New Roman"/>
              </a:rPr>
              <a:t>c</a:t>
            </a:r>
            <a:endParaRPr baseline="-22875" sz="2550">
              <a:latin typeface="Times New Roman"/>
              <a:cs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887679" y="965453"/>
            <a:ext cx="606615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30">
                <a:solidFill>
                  <a:srgbClr val="40458B"/>
                </a:solidFill>
                <a:latin typeface="黑体"/>
                <a:cs typeface="黑体"/>
              </a:rPr>
              <a:t>把上式中的参数都折算成时钟周期个数 ：</a:t>
            </a:r>
            <a:endParaRPr sz="2400">
              <a:latin typeface="黑体"/>
              <a:cs typeface="黑体"/>
            </a:endParaRPr>
          </a:p>
        </p:txBody>
      </p:sp>
      <p:sp>
        <p:nvSpPr>
          <p:cNvPr id="11" name="object 11" descr=""/>
          <p:cNvSpPr txBox="1"/>
          <p:nvPr/>
        </p:nvSpPr>
        <p:spPr>
          <a:xfrm>
            <a:off x="849579" y="2209901"/>
            <a:ext cx="4166870" cy="1287145"/>
          </a:xfrm>
          <a:prstGeom prst="rect">
            <a:avLst/>
          </a:prstGeom>
        </p:spPr>
        <p:txBody>
          <a:bodyPr wrap="square" lIns="0" tIns="104140" rIns="0" bIns="0" rtlCol="0" vert="horz">
            <a:spAutoFit/>
          </a:bodyPr>
          <a:lstStyle/>
          <a:p>
            <a:pPr marL="1136015" indent="-457834">
              <a:lnSpc>
                <a:spcPct val="100000"/>
              </a:lnSpc>
              <a:spcBef>
                <a:spcPts val="820"/>
              </a:spcBef>
              <a:buClr>
                <a:srgbClr val="4668F5"/>
              </a:buClr>
              <a:buSzPct val="65000"/>
              <a:buFont typeface="Wingdings"/>
              <a:buChar char=""/>
              <a:tabLst>
                <a:tab pos="1136015" algn="l"/>
              </a:tabLst>
            </a:pPr>
            <a:r>
              <a:rPr dirty="0" sz="2000" spc="-10" b="1">
                <a:solidFill>
                  <a:srgbClr val="D50092"/>
                </a:solidFill>
                <a:latin typeface="宋体"/>
                <a:cs typeface="宋体"/>
              </a:rPr>
              <a:t>s：</a:t>
            </a:r>
            <a:r>
              <a:rPr dirty="0" sz="2000" spc="-10" b="1">
                <a:solidFill>
                  <a:srgbClr val="00AFEF"/>
                </a:solidFill>
                <a:latin typeface="Times New Roman"/>
                <a:cs typeface="Times New Roman"/>
              </a:rPr>
              <a:t>T</a:t>
            </a:r>
            <a:r>
              <a:rPr dirty="0" baseline="-21367" sz="1950" spc="-15" b="1">
                <a:solidFill>
                  <a:srgbClr val="00AFEF"/>
                </a:solidFill>
                <a:latin typeface="Times New Roman"/>
                <a:cs typeface="Times New Roman"/>
              </a:rPr>
              <a:t>s</a:t>
            </a:r>
            <a:r>
              <a:rPr dirty="0" sz="2000" spc="-15" b="1">
                <a:solidFill>
                  <a:srgbClr val="00AFEF"/>
                </a:solidFill>
                <a:latin typeface="宋体"/>
                <a:cs typeface="宋体"/>
              </a:rPr>
              <a:t>所对应的时钟周期数</a:t>
            </a:r>
            <a:endParaRPr sz="2000">
              <a:latin typeface="宋体"/>
              <a:cs typeface="宋体"/>
            </a:endParaRPr>
          </a:p>
          <a:p>
            <a:pPr marL="1136015" indent="-457834">
              <a:lnSpc>
                <a:spcPct val="100000"/>
              </a:lnSpc>
              <a:spcBef>
                <a:spcPts val="720"/>
              </a:spcBef>
              <a:buClr>
                <a:srgbClr val="4668F5"/>
              </a:buClr>
              <a:buSzPct val="65000"/>
              <a:buFont typeface="Wingdings"/>
              <a:buChar char=""/>
              <a:tabLst>
                <a:tab pos="1136015" algn="l"/>
              </a:tabLst>
            </a:pPr>
            <a:r>
              <a:rPr dirty="0" sz="2000" spc="-20" b="1">
                <a:solidFill>
                  <a:srgbClr val="D50092"/>
                </a:solidFill>
                <a:latin typeface="Times New Roman"/>
                <a:cs typeface="Times New Roman"/>
              </a:rPr>
              <a:t>e</a:t>
            </a:r>
            <a:r>
              <a:rPr dirty="0" sz="2000" spc="-254" b="1">
                <a:solidFill>
                  <a:srgbClr val="D50092"/>
                </a:solidFill>
                <a:latin typeface="宋体"/>
                <a:cs typeface="宋体"/>
              </a:rPr>
              <a:t>： </a:t>
            </a:r>
            <a:r>
              <a:rPr dirty="0" sz="2000" spc="-10" b="1">
                <a:solidFill>
                  <a:srgbClr val="00AFEF"/>
                </a:solidFill>
                <a:latin typeface="Times New Roman"/>
                <a:cs typeface="Times New Roman"/>
              </a:rPr>
              <a:t>T</a:t>
            </a:r>
            <a:r>
              <a:rPr dirty="0" baseline="-21367" sz="1950" spc="-15" b="1">
                <a:solidFill>
                  <a:srgbClr val="00AFEF"/>
                </a:solidFill>
                <a:latin typeface="Times New Roman"/>
                <a:cs typeface="Times New Roman"/>
              </a:rPr>
              <a:t>e</a:t>
            </a:r>
            <a:r>
              <a:rPr dirty="0" sz="2000" spc="-15" b="1">
                <a:solidFill>
                  <a:srgbClr val="00AFEF"/>
                </a:solidFill>
                <a:latin typeface="宋体"/>
                <a:cs typeface="宋体"/>
              </a:rPr>
              <a:t>所对应的时钟周期数</a:t>
            </a:r>
            <a:endParaRPr sz="2000">
              <a:latin typeface="宋体"/>
              <a:cs typeface="宋体"/>
            </a:endParaRPr>
          </a:p>
          <a:p>
            <a:pPr marL="507365" indent="-456565">
              <a:lnSpc>
                <a:spcPct val="100000"/>
              </a:lnSpc>
              <a:spcBef>
                <a:spcPts val="810"/>
              </a:spcBef>
              <a:buSzPct val="89583"/>
              <a:buFont typeface="Wingdings"/>
              <a:buChar char=""/>
              <a:tabLst>
                <a:tab pos="507365" algn="l"/>
              </a:tabLst>
            </a:pPr>
            <a:r>
              <a:rPr dirty="0" sz="2400" spc="-10">
                <a:solidFill>
                  <a:srgbClr val="40458B"/>
                </a:solidFill>
                <a:latin typeface="黑体"/>
                <a:cs typeface="黑体"/>
              </a:rPr>
              <a:t>不考虑</a:t>
            </a:r>
            <a:r>
              <a:rPr dirty="0" sz="2400" spc="-10">
                <a:solidFill>
                  <a:srgbClr val="9933FF"/>
                </a:solidFill>
                <a:latin typeface="Tahoma"/>
                <a:cs typeface="Tahoma"/>
              </a:rPr>
              <a:t>T</a:t>
            </a:r>
            <a:r>
              <a:rPr dirty="0" baseline="-20833" sz="2400" spc="-15">
                <a:solidFill>
                  <a:srgbClr val="9933FF"/>
                </a:solidFill>
                <a:latin typeface="Tahoma"/>
                <a:cs typeface="Tahoma"/>
              </a:rPr>
              <a:t>s</a:t>
            </a:r>
            <a:r>
              <a:rPr dirty="0" sz="2400" spc="-10">
                <a:solidFill>
                  <a:srgbClr val="40458B"/>
                </a:solidFill>
                <a:latin typeface="黑体"/>
                <a:cs typeface="黑体"/>
              </a:rPr>
              <a:t>，并令</a:t>
            </a:r>
            <a:r>
              <a:rPr dirty="0" sz="2400" spc="-10">
                <a:solidFill>
                  <a:srgbClr val="9933FF"/>
                </a:solidFill>
                <a:latin typeface="Tahoma"/>
                <a:cs typeface="Tahoma"/>
              </a:rPr>
              <a:t>T</a:t>
            </a:r>
            <a:r>
              <a:rPr dirty="0" baseline="-20833" sz="2400" spc="-15">
                <a:solidFill>
                  <a:srgbClr val="9933FF"/>
                </a:solidFill>
                <a:latin typeface="Tahoma"/>
                <a:cs typeface="Tahoma"/>
              </a:rPr>
              <a:t>start</a:t>
            </a:r>
            <a:r>
              <a:rPr dirty="0" sz="2400" spc="-10">
                <a:solidFill>
                  <a:srgbClr val="9933FF"/>
                </a:solidFill>
                <a:latin typeface="Tahoma"/>
                <a:cs typeface="Tahoma"/>
              </a:rPr>
              <a:t>=e</a:t>
            </a:r>
            <a:r>
              <a:rPr dirty="0" sz="2400" spc="-10">
                <a:solidFill>
                  <a:srgbClr val="9933FF"/>
                </a:solidFill>
                <a:latin typeface="黑体"/>
                <a:cs typeface="黑体"/>
              </a:rPr>
              <a:t>－</a:t>
            </a:r>
            <a:r>
              <a:rPr dirty="0" sz="2400" spc="-10">
                <a:solidFill>
                  <a:srgbClr val="9933FF"/>
                </a:solidFill>
                <a:latin typeface="Tahoma"/>
                <a:cs typeface="Tahoma"/>
              </a:rPr>
              <a:t>1</a:t>
            </a:r>
            <a:endParaRPr sz="2400">
              <a:latin typeface="Tahoma"/>
              <a:cs typeface="Tahoma"/>
            </a:endParaRPr>
          </a:p>
        </p:txBody>
      </p:sp>
      <p:sp>
        <p:nvSpPr>
          <p:cNvPr id="12" name="object 12" descr=""/>
          <p:cNvSpPr txBox="1"/>
          <p:nvPr/>
        </p:nvSpPr>
        <p:spPr>
          <a:xfrm>
            <a:off x="1490217" y="4489678"/>
            <a:ext cx="7689850" cy="1032510"/>
          </a:xfrm>
          <a:prstGeom prst="rect">
            <a:avLst/>
          </a:prstGeom>
        </p:spPr>
        <p:txBody>
          <a:bodyPr wrap="square" lIns="0" tIns="12700" rIns="0" bIns="0" rtlCol="0" vert="horz">
            <a:spAutoFit/>
          </a:bodyPr>
          <a:lstStyle/>
          <a:p>
            <a:pPr marL="495300" marR="30480" indent="-457834">
              <a:lnSpc>
                <a:spcPct val="110100"/>
              </a:lnSpc>
              <a:spcBef>
                <a:spcPts val="100"/>
              </a:spcBef>
              <a:buClr>
                <a:srgbClr val="4668F5"/>
              </a:buClr>
              <a:buSzPct val="65000"/>
              <a:buFont typeface="Wingdings"/>
              <a:buChar char=""/>
              <a:tabLst>
                <a:tab pos="495300" algn="l"/>
              </a:tabLst>
            </a:pP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start</a:t>
            </a:r>
            <a:r>
              <a:rPr dirty="0" sz="2000" b="1">
                <a:solidFill>
                  <a:srgbClr val="D50092"/>
                </a:solidFill>
                <a:latin typeface="宋体"/>
                <a:cs typeface="宋体"/>
              </a:rPr>
              <a:t>：</a:t>
            </a:r>
            <a:r>
              <a:rPr dirty="0" sz="2000" spc="-25" b="1">
                <a:solidFill>
                  <a:srgbClr val="00AFEF"/>
                </a:solidFill>
                <a:latin typeface="宋体"/>
                <a:cs typeface="宋体"/>
              </a:rPr>
              <a:t>从一条向量指令开始执行到还差一个时钟周期就产生第</a:t>
            </a:r>
            <a:r>
              <a:rPr dirty="0" sz="2000" spc="-50" b="1">
                <a:solidFill>
                  <a:srgbClr val="00AFEF"/>
                </a:solidFill>
                <a:latin typeface="宋体"/>
                <a:cs typeface="宋体"/>
              </a:rPr>
              <a:t> </a:t>
            </a:r>
            <a:r>
              <a:rPr dirty="0" sz="2000" spc="-20" b="1">
                <a:solidFill>
                  <a:srgbClr val="00AFEF"/>
                </a:solidFill>
                <a:latin typeface="宋体"/>
                <a:cs typeface="宋体"/>
              </a:rPr>
              <a:t>一个结果所需的时钟周期数。可称之为该</a:t>
            </a:r>
            <a:r>
              <a:rPr dirty="0" sz="2000" spc="-20" b="1">
                <a:solidFill>
                  <a:srgbClr val="FF3300"/>
                </a:solidFill>
                <a:latin typeface="宋体"/>
                <a:cs typeface="宋体"/>
              </a:rPr>
              <a:t>向量指令的启动时间</a:t>
            </a:r>
            <a:r>
              <a:rPr dirty="0" sz="2000" spc="-50" b="1">
                <a:solidFill>
                  <a:srgbClr val="00AFEF"/>
                </a:solidFill>
                <a:latin typeface="宋体"/>
                <a:cs typeface="宋体"/>
              </a:rPr>
              <a:t>。</a:t>
            </a:r>
            <a:r>
              <a:rPr dirty="0" sz="2000" spc="-20" b="1">
                <a:solidFill>
                  <a:srgbClr val="00AFEF"/>
                </a:solidFill>
                <a:latin typeface="宋体"/>
                <a:cs typeface="宋体"/>
              </a:rPr>
              <a:t>此后，便是每个时钟周期流出一个结果，共有</a:t>
            </a:r>
            <a:r>
              <a:rPr dirty="0" sz="2000" b="1">
                <a:solidFill>
                  <a:srgbClr val="9933FF"/>
                </a:solidFill>
                <a:latin typeface="Times New Roman"/>
                <a:cs typeface="Times New Roman"/>
              </a:rPr>
              <a:t>n</a:t>
            </a:r>
            <a:r>
              <a:rPr dirty="0" sz="2000" spc="-25" b="1">
                <a:solidFill>
                  <a:srgbClr val="00AFEF"/>
                </a:solidFill>
                <a:latin typeface="宋体"/>
                <a:cs typeface="宋体"/>
              </a:rPr>
              <a:t>个结果。</a:t>
            </a:r>
            <a:endParaRPr sz="2000">
              <a:latin typeface="宋体"/>
              <a:cs typeface="宋体"/>
            </a:endParaRPr>
          </a:p>
        </p:txBody>
      </p:sp>
      <p:sp>
        <p:nvSpPr>
          <p:cNvPr id="13" name="object 13" descr=""/>
          <p:cNvSpPr/>
          <p:nvPr/>
        </p:nvSpPr>
        <p:spPr>
          <a:xfrm>
            <a:off x="2916301" y="1844738"/>
            <a:ext cx="3311525" cy="563880"/>
          </a:xfrm>
          <a:custGeom>
            <a:avLst/>
            <a:gdLst/>
            <a:ahLst/>
            <a:cxnLst/>
            <a:rect l="l" t="t" r="r" b="b"/>
            <a:pathLst>
              <a:path w="3311525" h="563880">
                <a:moveTo>
                  <a:pt x="3311525" y="0"/>
                </a:moveTo>
                <a:lnTo>
                  <a:pt x="0" y="0"/>
                </a:lnTo>
                <a:lnTo>
                  <a:pt x="0" y="563562"/>
                </a:lnTo>
                <a:lnTo>
                  <a:pt x="3311525" y="563562"/>
                </a:lnTo>
                <a:lnTo>
                  <a:pt x="3311525" y="0"/>
                </a:lnTo>
                <a:close/>
              </a:path>
            </a:pathLst>
          </a:custGeom>
          <a:solidFill>
            <a:srgbClr val="EAEAEA"/>
          </a:solidFill>
        </p:spPr>
        <p:txBody>
          <a:bodyPr wrap="square" lIns="0" tIns="0" rIns="0" bIns="0" rtlCol="0"/>
          <a:lstStyle/>
          <a:p/>
        </p:txBody>
      </p:sp>
      <p:sp>
        <p:nvSpPr>
          <p:cNvPr id="14" name="object 14" descr=""/>
          <p:cNvSpPr txBox="1"/>
          <p:nvPr/>
        </p:nvSpPr>
        <p:spPr>
          <a:xfrm>
            <a:off x="2922884" y="1918769"/>
            <a:ext cx="467995" cy="454025"/>
          </a:xfrm>
          <a:prstGeom prst="rect">
            <a:avLst/>
          </a:prstGeom>
        </p:spPr>
        <p:txBody>
          <a:bodyPr wrap="square" lIns="0" tIns="13970" rIns="0" bIns="0" rtlCol="0" vert="horz">
            <a:spAutoFit/>
          </a:bodyPr>
          <a:lstStyle/>
          <a:p>
            <a:pPr marL="25400">
              <a:lnSpc>
                <a:spcPct val="100000"/>
              </a:lnSpc>
              <a:spcBef>
                <a:spcPts val="110"/>
              </a:spcBef>
            </a:pPr>
            <a:r>
              <a:rPr dirty="0" baseline="13888" sz="4200" spc="-37" i="1">
                <a:latin typeface="Times New Roman"/>
                <a:cs typeface="Times New Roman"/>
              </a:rPr>
              <a:t>T</a:t>
            </a:r>
            <a:r>
              <a:rPr dirty="0" sz="1600" spc="-25" i="1">
                <a:latin typeface="Times New Roman"/>
                <a:cs typeface="Times New Roman"/>
              </a:rPr>
              <a:t>vp</a:t>
            </a:r>
            <a:endParaRPr sz="1600">
              <a:latin typeface="Times New Roman"/>
              <a:cs typeface="Times New Roman"/>
            </a:endParaRPr>
          </a:p>
        </p:txBody>
      </p:sp>
      <p:sp>
        <p:nvSpPr>
          <p:cNvPr id="15" name="object 15" descr=""/>
          <p:cNvSpPr txBox="1"/>
          <p:nvPr/>
        </p:nvSpPr>
        <p:spPr>
          <a:xfrm>
            <a:off x="3462890" y="1830621"/>
            <a:ext cx="2723515" cy="454025"/>
          </a:xfrm>
          <a:prstGeom prst="rect">
            <a:avLst/>
          </a:prstGeom>
        </p:spPr>
        <p:txBody>
          <a:bodyPr wrap="square" lIns="0" tIns="13970" rIns="0" bIns="0" rtlCol="0" vert="horz">
            <a:spAutoFit/>
          </a:bodyPr>
          <a:lstStyle/>
          <a:p>
            <a:pPr marL="25400">
              <a:lnSpc>
                <a:spcPct val="100000"/>
              </a:lnSpc>
              <a:spcBef>
                <a:spcPts val="110"/>
              </a:spcBef>
            </a:pPr>
            <a:r>
              <a:rPr dirty="0" sz="2800">
                <a:latin typeface="Symbol"/>
                <a:cs typeface="Symbol"/>
              </a:rPr>
              <a:t></a:t>
            </a:r>
            <a:r>
              <a:rPr dirty="0" sz="2800" spc="-175">
                <a:latin typeface="Times New Roman"/>
                <a:cs typeface="Times New Roman"/>
              </a:rPr>
              <a:t> </a:t>
            </a:r>
            <a:r>
              <a:rPr dirty="0" sz="2800" spc="75">
                <a:latin typeface="Times New Roman"/>
                <a:cs typeface="Times New Roman"/>
              </a:rPr>
              <a:t>[</a:t>
            </a:r>
            <a:r>
              <a:rPr dirty="0" sz="2800" spc="75" i="1">
                <a:latin typeface="Times New Roman"/>
                <a:cs typeface="Times New Roman"/>
              </a:rPr>
              <a:t>s</a:t>
            </a:r>
            <a:r>
              <a:rPr dirty="0" sz="2800" spc="-65" i="1">
                <a:latin typeface="Times New Roman"/>
                <a:cs typeface="Times New Roman"/>
              </a:rPr>
              <a:t> </a:t>
            </a:r>
            <a:r>
              <a:rPr dirty="0" sz="2800">
                <a:latin typeface="Symbol"/>
                <a:cs typeface="Symbol"/>
              </a:rPr>
              <a:t></a:t>
            </a:r>
            <a:r>
              <a:rPr dirty="0" sz="2800" spc="-130">
                <a:latin typeface="Times New Roman"/>
                <a:cs typeface="Times New Roman"/>
              </a:rPr>
              <a:t> </a:t>
            </a:r>
            <a:r>
              <a:rPr dirty="0" sz="2800" i="1">
                <a:latin typeface="Times New Roman"/>
                <a:cs typeface="Times New Roman"/>
              </a:rPr>
              <a:t>e</a:t>
            </a:r>
            <a:r>
              <a:rPr dirty="0" sz="2800" spc="-135" i="1">
                <a:latin typeface="Times New Roman"/>
                <a:cs typeface="Times New Roman"/>
              </a:rPr>
              <a:t> </a:t>
            </a:r>
            <a:r>
              <a:rPr dirty="0" sz="2800">
                <a:latin typeface="Symbol"/>
                <a:cs typeface="Symbol"/>
              </a:rPr>
              <a:t></a:t>
            </a:r>
            <a:r>
              <a:rPr dirty="0" sz="2800" spc="-130">
                <a:latin typeface="Times New Roman"/>
                <a:cs typeface="Times New Roman"/>
              </a:rPr>
              <a:t> </a:t>
            </a:r>
            <a:r>
              <a:rPr dirty="0" sz="2800" spc="55">
                <a:latin typeface="Times New Roman"/>
                <a:cs typeface="Times New Roman"/>
              </a:rPr>
              <a:t>(</a:t>
            </a:r>
            <a:r>
              <a:rPr dirty="0" sz="2800" spc="55" i="1">
                <a:latin typeface="Times New Roman"/>
                <a:cs typeface="Times New Roman"/>
              </a:rPr>
              <a:t>n</a:t>
            </a:r>
            <a:r>
              <a:rPr dirty="0" sz="2800" spc="-120" i="1">
                <a:latin typeface="Times New Roman"/>
                <a:cs typeface="Times New Roman"/>
              </a:rPr>
              <a:t> </a:t>
            </a:r>
            <a:r>
              <a:rPr dirty="0" sz="2800" spc="-10">
                <a:latin typeface="Symbol"/>
                <a:cs typeface="Symbol"/>
              </a:rPr>
              <a:t></a:t>
            </a:r>
            <a:r>
              <a:rPr dirty="0" sz="2800" spc="-10">
                <a:latin typeface="Times New Roman"/>
                <a:cs typeface="Times New Roman"/>
              </a:rPr>
              <a:t>1)]</a:t>
            </a:r>
            <a:r>
              <a:rPr dirty="0" sz="2800" spc="-10" i="1">
                <a:latin typeface="Times New Roman"/>
                <a:cs typeface="Times New Roman"/>
              </a:rPr>
              <a:t>T</a:t>
            </a:r>
            <a:r>
              <a:rPr dirty="0" baseline="-24305" sz="2400" spc="-15" i="1">
                <a:latin typeface="Times New Roman"/>
                <a:cs typeface="Times New Roman"/>
              </a:rPr>
              <a:t>c</a:t>
            </a:r>
            <a:endParaRPr baseline="-24305" sz="2400">
              <a:latin typeface="Times New Roman"/>
              <a:cs typeface="Times New Roman"/>
            </a:endParaRPr>
          </a:p>
        </p:txBody>
      </p:sp>
      <p:sp>
        <p:nvSpPr>
          <p:cNvPr id="16" name="object 16" descr=""/>
          <p:cNvSpPr/>
          <p:nvPr/>
        </p:nvSpPr>
        <p:spPr>
          <a:xfrm>
            <a:off x="3492500" y="4005262"/>
            <a:ext cx="2305050" cy="519430"/>
          </a:xfrm>
          <a:custGeom>
            <a:avLst/>
            <a:gdLst/>
            <a:ahLst/>
            <a:cxnLst/>
            <a:rect l="l" t="t" r="r" b="b"/>
            <a:pathLst>
              <a:path w="2305050" h="519429">
                <a:moveTo>
                  <a:pt x="2305050" y="0"/>
                </a:moveTo>
                <a:lnTo>
                  <a:pt x="0" y="0"/>
                </a:lnTo>
                <a:lnTo>
                  <a:pt x="0" y="519112"/>
                </a:lnTo>
                <a:lnTo>
                  <a:pt x="2305050" y="519112"/>
                </a:lnTo>
                <a:lnTo>
                  <a:pt x="2305050" y="0"/>
                </a:lnTo>
                <a:close/>
              </a:path>
            </a:pathLst>
          </a:custGeom>
          <a:solidFill>
            <a:srgbClr val="EAEAEA"/>
          </a:solidFill>
        </p:spPr>
        <p:txBody>
          <a:bodyPr wrap="square" lIns="0" tIns="0" rIns="0" bIns="0" rtlCol="0"/>
          <a:lstStyle/>
          <a:p/>
        </p:txBody>
      </p:sp>
      <p:sp>
        <p:nvSpPr>
          <p:cNvPr id="17" name="object 17" descr=""/>
          <p:cNvSpPr txBox="1"/>
          <p:nvPr/>
        </p:nvSpPr>
        <p:spPr>
          <a:xfrm>
            <a:off x="4936199" y="3886349"/>
            <a:ext cx="835660" cy="546100"/>
          </a:xfrm>
          <a:prstGeom prst="rect">
            <a:avLst/>
          </a:prstGeom>
        </p:spPr>
        <p:txBody>
          <a:bodyPr wrap="square" lIns="0" tIns="14605" rIns="0" bIns="0" rtlCol="0" vert="horz">
            <a:spAutoFit/>
          </a:bodyPr>
          <a:lstStyle/>
          <a:p>
            <a:pPr marL="38100">
              <a:lnSpc>
                <a:spcPct val="100000"/>
              </a:lnSpc>
              <a:spcBef>
                <a:spcPts val="115"/>
              </a:spcBef>
            </a:pPr>
            <a:r>
              <a:rPr dirty="0" sz="2550" spc="55">
                <a:latin typeface="Symbol"/>
                <a:cs typeface="Symbol"/>
              </a:rPr>
              <a:t></a:t>
            </a:r>
            <a:r>
              <a:rPr dirty="0" sz="2550" spc="-170">
                <a:latin typeface="Times New Roman"/>
                <a:cs typeface="Times New Roman"/>
              </a:rPr>
              <a:t> </a:t>
            </a:r>
            <a:r>
              <a:rPr dirty="0" sz="2550" spc="-55" i="1">
                <a:latin typeface="Times New Roman"/>
                <a:cs typeface="Times New Roman"/>
              </a:rPr>
              <a:t>n</a:t>
            </a:r>
            <a:r>
              <a:rPr dirty="0" sz="3400" spc="-55">
                <a:latin typeface="Symbol"/>
                <a:cs typeface="Symbol"/>
              </a:rPr>
              <a:t></a:t>
            </a:r>
            <a:r>
              <a:rPr dirty="0" sz="2550" spc="-55" i="1">
                <a:latin typeface="Times New Roman"/>
                <a:cs typeface="Times New Roman"/>
              </a:rPr>
              <a:t>T</a:t>
            </a:r>
            <a:r>
              <a:rPr dirty="0" baseline="-24074" sz="2250" spc="-82" i="1">
                <a:latin typeface="Times New Roman"/>
                <a:cs typeface="Times New Roman"/>
              </a:rPr>
              <a:t>c</a:t>
            </a:r>
            <a:endParaRPr baseline="-24074" sz="2250">
              <a:latin typeface="Times New Roman"/>
              <a:cs typeface="Times New Roman"/>
            </a:endParaRPr>
          </a:p>
        </p:txBody>
      </p:sp>
      <p:sp>
        <p:nvSpPr>
          <p:cNvPr id="18" name="object 18" descr=""/>
          <p:cNvSpPr txBox="1"/>
          <p:nvPr/>
        </p:nvSpPr>
        <p:spPr>
          <a:xfrm>
            <a:off x="3483897" y="3967545"/>
            <a:ext cx="1432560" cy="546100"/>
          </a:xfrm>
          <a:prstGeom prst="rect">
            <a:avLst/>
          </a:prstGeom>
        </p:spPr>
        <p:txBody>
          <a:bodyPr wrap="square" lIns="0" tIns="14605" rIns="0" bIns="0" rtlCol="0" vert="horz">
            <a:spAutoFit/>
          </a:bodyPr>
          <a:lstStyle/>
          <a:p>
            <a:pPr marL="38100">
              <a:lnSpc>
                <a:spcPct val="100000"/>
              </a:lnSpc>
              <a:spcBef>
                <a:spcPts val="115"/>
              </a:spcBef>
            </a:pPr>
            <a:r>
              <a:rPr dirty="0" baseline="14161" sz="3825" i="1">
                <a:latin typeface="Times New Roman"/>
                <a:cs typeface="Times New Roman"/>
              </a:rPr>
              <a:t>T</a:t>
            </a:r>
            <a:r>
              <a:rPr dirty="0" sz="1500" i="1">
                <a:latin typeface="Times New Roman"/>
                <a:cs typeface="Times New Roman"/>
              </a:rPr>
              <a:t>vp</a:t>
            </a:r>
            <a:r>
              <a:rPr dirty="0" sz="1500" spc="60" i="1">
                <a:latin typeface="Times New Roman"/>
                <a:cs typeface="Times New Roman"/>
              </a:rPr>
              <a:t>  </a:t>
            </a:r>
            <a:r>
              <a:rPr dirty="0" baseline="14161" sz="3825" spc="82">
                <a:latin typeface="Symbol"/>
                <a:cs typeface="Symbol"/>
              </a:rPr>
              <a:t></a:t>
            </a:r>
            <a:r>
              <a:rPr dirty="0" baseline="14161" sz="3825" spc="-157">
                <a:latin typeface="Times New Roman"/>
                <a:cs typeface="Times New Roman"/>
              </a:rPr>
              <a:t> </a:t>
            </a:r>
            <a:r>
              <a:rPr dirty="0" baseline="10620" sz="5100" spc="-15">
                <a:latin typeface="Symbol"/>
                <a:cs typeface="Symbol"/>
              </a:rPr>
              <a:t></a:t>
            </a:r>
            <a:r>
              <a:rPr dirty="0" baseline="14161" sz="3825" spc="-15" i="1">
                <a:latin typeface="Times New Roman"/>
                <a:cs typeface="Times New Roman"/>
              </a:rPr>
              <a:t>T</a:t>
            </a:r>
            <a:r>
              <a:rPr dirty="0" sz="1500" spc="-10" i="1">
                <a:latin typeface="Times New Roman"/>
                <a:cs typeface="Times New Roman"/>
              </a:rPr>
              <a:t>start</a:t>
            </a:r>
            <a:endParaRPr sz="1500">
              <a:latin typeface="Times New Roman"/>
              <a:cs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78739" y="738885"/>
            <a:ext cx="9038590" cy="4382770"/>
          </a:xfrm>
          <a:prstGeom prst="rect">
            <a:avLst/>
          </a:prstGeom>
        </p:spPr>
        <p:txBody>
          <a:bodyPr wrap="square" lIns="0" tIns="195580" rIns="0" bIns="0" rtlCol="0" vert="horz">
            <a:spAutoFit/>
          </a:bodyPr>
          <a:lstStyle/>
          <a:p>
            <a:pPr marL="469265" indent="-456565">
              <a:lnSpc>
                <a:spcPct val="100000"/>
              </a:lnSpc>
              <a:spcBef>
                <a:spcPts val="1540"/>
              </a:spcBef>
              <a:buClr>
                <a:srgbClr val="40458B"/>
              </a:buClr>
              <a:buFont typeface="Tahoma"/>
              <a:buAutoNum type="arabicPeriod" startAt="2"/>
              <a:tabLst>
                <a:tab pos="469265" algn="l"/>
              </a:tabLst>
            </a:pPr>
            <a:r>
              <a:rPr dirty="0" sz="2400" spc="-5">
                <a:solidFill>
                  <a:srgbClr val="E14B04"/>
                </a:solidFill>
                <a:latin typeface="黑体"/>
                <a:cs typeface="黑体"/>
              </a:rPr>
              <a:t>一组向量指令的处理时间</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a:solidFill>
                  <a:srgbClr val="40458B"/>
                </a:solidFill>
                <a:latin typeface="黑体"/>
                <a:cs typeface="黑体"/>
              </a:rPr>
              <a:t>对于一组向量指令而言，其执行时间主要取决于</a:t>
            </a:r>
            <a:r>
              <a:rPr dirty="0" sz="2400" spc="-10">
                <a:solidFill>
                  <a:srgbClr val="D50092"/>
                </a:solidFill>
                <a:latin typeface="黑体"/>
                <a:cs typeface="黑体"/>
              </a:rPr>
              <a:t>三个因素：</a:t>
            </a:r>
            <a:endParaRPr sz="2400">
              <a:latin typeface="黑体"/>
              <a:cs typeface="黑体"/>
            </a:endParaRPr>
          </a:p>
          <a:p>
            <a:pPr lvl="2" marL="1727200" indent="-457200">
              <a:lnSpc>
                <a:spcPct val="100000"/>
              </a:lnSpc>
              <a:spcBef>
                <a:spcPts val="1280"/>
              </a:spcBef>
              <a:buClr>
                <a:srgbClr val="4668F5"/>
              </a:buClr>
              <a:buSzPct val="65000"/>
              <a:buFont typeface="Wingdings"/>
              <a:buChar char=""/>
              <a:tabLst>
                <a:tab pos="1727200" algn="l"/>
              </a:tabLst>
            </a:pPr>
            <a:r>
              <a:rPr dirty="0" sz="2000" spc="-20" b="1">
                <a:solidFill>
                  <a:srgbClr val="00AFEF"/>
                </a:solidFill>
                <a:latin typeface="宋体"/>
                <a:cs typeface="宋体"/>
              </a:rPr>
              <a:t>向量的长度</a:t>
            </a:r>
            <a:endParaRPr sz="2000">
              <a:latin typeface="宋体"/>
              <a:cs typeface="宋体"/>
            </a:endParaRPr>
          </a:p>
          <a:p>
            <a:pPr lvl="2" marL="1727200" indent="-457200">
              <a:lnSpc>
                <a:spcPct val="100000"/>
              </a:lnSpc>
              <a:spcBef>
                <a:spcPts val="1200"/>
              </a:spcBef>
              <a:buClr>
                <a:srgbClr val="4668F5"/>
              </a:buClr>
              <a:buSzPct val="65000"/>
              <a:buFont typeface="Wingdings"/>
              <a:buChar char=""/>
              <a:tabLst>
                <a:tab pos="1727200" algn="l"/>
              </a:tabLst>
            </a:pPr>
            <a:r>
              <a:rPr dirty="0" sz="2000" spc="-25" b="1">
                <a:solidFill>
                  <a:srgbClr val="00AFEF"/>
                </a:solidFill>
                <a:latin typeface="宋体"/>
                <a:cs typeface="宋体"/>
              </a:rPr>
              <a:t>向量操作之间是否存在流水功能部件的使用冲突</a:t>
            </a:r>
            <a:endParaRPr sz="2000">
              <a:latin typeface="宋体"/>
              <a:cs typeface="宋体"/>
            </a:endParaRPr>
          </a:p>
          <a:p>
            <a:pPr lvl="2" marL="1727200" indent="-457200">
              <a:lnSpc>
                <a:spcPct val="100000"/>
              </a:lnSpc>
              <a:spcBef>
                <a:spcPts val="1200"/>
              </a:spcBef>
              <a:buClr>
                <a:srgbClr val="4668F5"/>
              </a:buClr>
              <a:buSzPct val="65000"/>
              <a:buFont typeface="Wingdings"/>
              <a:buChar char=""/>
              <a:tabLst>
                <a:tab pos="1727200" algn="l"/>
              </a:tabLst>
            </a:pPr>
            <a:r>
              <a:rPr dirty="0" sz="2000" spc="-20" b="1">
                <a:solidFill>
                  <a:srgbClr val="00AFEF"/>
                </a:solidFill>
                <a:latin typeface="宋体"/>
                <a:cs typeface="宋体"/>
              </a:rPr>
              <a:t>数据的相关性</a:t>
            </a:r>
            <a:endParaRPr sz="2000">
              <a:latin typeface="宋体"/>
              <a:cs typeface="宋体"/>
            </a:endParaRPr>
          </a:p>
          <a:p>
            <a:pPr lvl="1" marL="1099185" marR="310515" indent="-457834">
              <a:lnSpc>
                <a:spcPct val="130000"/>
              </a:lnSpc>
              <a:spcBef>
                <a:spcPts val="500"/>
              </a:spcBef>
              <a:buSzPct val="89583"/>
              <a:buFont typeface="Wingdings"/>
              <a:buChar char=""/>
              <a:tabLst>
                <a:tab pos="1099185" algn="l"/>
              </a:tabLst>
            </a:pPr>
            <a:r>
              <a:rPr dirty="0" sz="2400" spc="-5">
                <a:solidFill>
                  <a:srgbClr val="40458B"/>
                </a:solidFill>
                <a:latin typeface="黑体"/>
                <a:cs typeface="黑体"/>
              </a:rPr>
              <a:t>把能在同一个时钟周期内一起开始执行的几条向量指令称为一个</a:t>
            </a:r>
            <a:r>
              <a:rPr dirty="0" sz="2400" spc="-20">
                <a:solidFill>
                  <a:srgbClr val="FF0000"/>
                </a:solidFill>
                <a:latin typeface="黑体"/>
                <a:cs typeface="黑体"/>
              </a:rPr>
              <a:t>编队。</a:t>
            </a:r>
            <a:endParaRPr sz="2400">
              <a:latin typeface="黑体"/>
              <a:cs typeface="黑体"/>
            </a:endParaRPr>
          </a:p>
          <a:p>
            <a:pPr lvl="2" marL="1913255" marR="466090" indent="-457200">
              <a:lnSpc>
                <a:spcPct val="130100"/>
              </a:lnSpc>
              <a:spcBef>
                <a:spcPts val="555"/>
              </a:spcBef>
              <a:buClr>
                <a:srgbClr val="4668F5"/>
              </a:buClr>
              <a:buSzPct val="65000"/>
              <a:buFont typeface="Wingdings"/>
              <a:buChar char=""/>
              <a:tabLst>
                <a:tab pos="1913255" algn="l"/>
              </a:tabLst>
            </a:pPr>
            <a:r>
              <a:rPr dirty="0" sz="2000" spc="-25" b="1">
                <a:solidFill>
                  <a:srgbClr val="00AFEF"/>
                </a:solidFill>
                <a:latin typeface="宋体"/>
                <a:cs typeface="宋体"/>
              </a:rPr>
              <a:t>可以看出：同一个编队中的向量指令之间一定不存在流水向</a:t>
            </a:r>
            <a:r>
              <a:rPr dirty="0" sz="2000" spc="-20" b="1">
                <a:solidFill>
                  <a:srgbClr val="00AFEF"/>
                </a:solidFill>
                <a:latin typeface="宋体"/>
                <a:cs typeface="宋体"/>
              </a:rPr>
              <a:t>量功能部件的冲突和数据的冲突。</a:t>
            </a:r>
            <a:endParaRPr sz="2000">
              <a:latin typeface="宋体"/>
              <a:cs typeface="宋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78739" y="793749"/>
            <a:ext cx="8732520" cy="1415415"/>
          </a:xfrm>
          <a:prstGeom prst="rect">
            <a:avLst/>
          </a:prstGeom>
        </p:spPr>
        <p:txBody>
          <a:bodyPr wrap="square" lIns="0" tIns="140335" rIns="0" bIns="0" rtlCol="0" vert="horz">
            <a:spAutoFit/>
          </a:bodyPr>
          <a:lstStyle/>
          <a:p>
            <a:pPr marL="469265" indent="-456565">
              <a:lnSpc>
                <a:spcPct val="100000"/>
              </a:lnSpc>
              <a:spcBef>
                <a:spcPts val="1105"/>
              </a:spcBef>
              <a:buClr>
                <a:srgbClr val="40458B"/>
              </a:buClr>
              <a:buFont typeface="Tahoma"/>
              <a:buAutoNum type="arabicPeriod" startAt="2"/>
              <a:tabLst>
                <a:tab pos="469265" algn="l"/>
              </a:tabLst>
            </a:pPr>
            <a:r>
              <a:rPr dirty="0" sz="2400" spc="-5">
                <a:solidFill>
                  <a:srgbClr val="E14B04"/>
                </a:solidFill>
                <a:latin typeface="黑体"/>
                <a:cs typeface="黑体"/>
              </a:rPr>
              <a:t>一组向量指令的处理时间</a:t>
            </a:r>
            <a:endParaRPr sz="2400">
              <a:latin typeface="黑体"/>
              <a:cs typeface="黑体"/>
            </a:endParaRPr>
          </a:p>
          <a:p>
            <a:pPr lvl="1" marL="1099185" marR="5080" indent="-457834">
              <a:lnSpc>
                <a:spcPct val="110000"/>
              </a:lnSpc>
              <a:spcBef>
                <a:spcPts val="720"/>
              </a:spcBef>
              <a:buSzPct val="89583"/>
              <a:buFont typeface="Wingdings"/>
              <a:buChar char=""/>
              <a:tabLst>
                <a:tab pos="1099185" algn="l"/>
              </a:tabLst>
            </a:pPr>
            <a:r>
              <a:rPr dirty="0" sz="2400" spc="-5">
                <a:solidFill>
                  <a:srgbClr val="40458B"/>
                </a:solidFill>
                <a:latin typeface="黑体"/>
                <a:cs typeface="黑体"/>
              </a:rPr>
              <a:t>编队后，这个向量指令序列的总的执行时间为各编队的执</a:t>
            </a:r>
            <a:r>
              <a:rPr dirty="0" sz="2400" spc="-80">
                <a:solidFill>
                  <a:srgbClr val="40458B"/>
                </a:solidFill>
                <a:latin typeface="黑体"/>
                <a:cs typeface="黑体"/>
              </a:rPr>
              <a:t>行时间的和 。</a:t>
            </a:r>
            <a:endParaRPr sz="2400">
              <a:latin typeface="黑体"/>
              <a:cs typeface="黑体"/>
            </a:endParaRPr>
          </a:p>
        </p:txBody>
      </p:sp>
      <p:sp>
        <p:nvSpPr>
          <p:cNvPr id="11" name="object 11" descr=""/>
          <p:cNvSpPr txBox="1"/>
          <p:nvPr/>
        </p:nvSpPr>
        <p:spPr>
          <a:xfrm>
            <a:off x="1310894" y="3617442"/>
            <a:ext cx="3716020" cy="817880"/>
          </a:xfrm>
          <a:prstGeom prst="rect">
            <a:avLst/>
          </a:prstGeom>
        </p:spPr>
        <p:txBody>
          <a:bodyPr wrap="square" lIns="0" tIns="104140" rIns="0" bIns="0" rtlCol="0" vert="horz">
            <a:spAutoFit/>
          </a:bodyPr>
          <a:lstStyle/>
          <a:p>
            <a:pPr marL="494665" indent="-456565">
              <a:lnSpc>
                <a:spcPct val="100000"/>
              </a:lnSpc>
              <a:spcBef>
                <a:spcPts val="820"/>
              </a:spcBef>
              <a:buClr>
                <a:srgbClr val="4668F5"/>
              </a:buClr>
              <a:buSzPct val="65000"/>
              <a:buFont typeface="Wingdings"/>
              <a:buChar char=""/>
              <a:tabLst>
                <a:tab pos="494665" algn="l"/>
              </a:tabLst>
            </a:pPr>
            <a:r>
              <a:rPr dirty="0" sz="2000" b="1">
                <a:solidFill>
                  <a:srgbClr val="D50092"/>
                </a:solidFill>
                <a:latin typeface="Times New Roman"/>
                <a:cs typeface="Times New Roman"/>
              </a:rPr>
              <a:t>T</a:t>
            </a:r>
            <a:r>
              <a:rPr dirty="0" baseline="25641" sz="1950" b="1">
                <a:solidFill>
                  <a:srgbClr val="D50092"/>
                </a:solidFill>
                <a:latin typeface="Times New Roman"/>
                <a:cs typeface="Times New Roman"/>
              </a:rPr>
              <a:t>(i)</a:t>
            </a:r>
            <a:r>
              <a:rPr dirty="0" baseline="-21367" sz="1950" b="1">
                <a:solidFill>
                  <a:srgbClr val="D50092"/>
                </a:solidFill>
                <a:latin typeface="Times New Roman"/>
                <a:cs typeface="Times New Roman"/>
              </a:rPr>
              <a:t>vp</a:t>
            </a:r>
            <a:r>
              <a:rPr dirty="0" baseline="-21367" sz="1950" spc="60" b="1">
                <a:solidFill>
                  <a:srgbClr val="D50092"/>
                </a:solidFill>
                <a:latin typeface="Times New Roman"/>
                <a:cs typeface="Times New Roman"/>
              </a:rPr>
              <a:t> </a:t>
            </a:r>
            <a:r>
              <a:rPr dirty="0" sz="2000" spc="-10" b="1">
                <a:solidFill>
                  <a:srgbClr val="00AFEF"/>
                </a:solidFill>
                <a:latin typeface="宋体"/>
                <a:cs typeface="宋体"/>
              </a:rPr>
              <a:t>：第</a:t>
            </a:r>
            <a:r>
              <a:rPr dirty="0" sz="2000" b="1">
                <a:solidFill>
                  <a:srgbClr val="9933FF"/>
                </a:solidFill>
                <a:latin typeface="Times New Roman"/>
                <a:cs typeface="Times New Roman"/>
              </a:rPr>
              <a:t>i</a:t>
            </a:r>
            <a:r>
              <a:rPr dirty="0" sz="2000" spc="-20" b="1">
                <a:solidFill>
                  <a:srgbClr val="00AFEF"/>
                </a:solidFill>
                <a:latin typeface="宋体"/>
                <a:cs typeface="宋体"/>
              </a:rPr>
              <a:t>个编队的执行时间</a:t>
            </a:r>
            <a:endParaRPr sz="2000">
              <a:latin typeface="宋体"/>
              <a:cs typeface="宋体"/>
            </a:endParaRPr>
          </a:p>
          <a:p>
            <a:pPr marL="494665" indent="-456565">
              <a:lnSpc>
                <a:spcPct val="100000"/>
              </a:lnSpc>
              <a:spcBef>
                <a:spcPts val="720"/>
              </a:spcBef>
              <a:buClr>
                <a:srgbClr val="4668F5"/>
              </a:buClr>
              <a:buSzPct val="65000"/>
              <a:buFont typeface="Wingdings"/>
              <a:buChar char=""/>
              <a:tabLst>
                <a:tab pos="494665" algn="l"/>
              </a:tabLst>
            </a:pPr>
            <a:r>
              <a:rPr dirty="0" sz="2000" spc="-10" b="1">
                <a:solidFill>
                  <a:srgbClr val="D50092"/>
                </a:solidFill>
                <a:latin typeface="Times New Roman"/>
                <a:cs typeface="Times New Roman"/>
              </a:rPr>
              <a:t>m</a:t>
            </a:r>
            <a:r>
              <a:rPr dirty="0" sz="2000" spc="-20" b="1">
                <a:solidFill>
                  <a:srgbClr val="00AFEF"/>
                </a:solidFill>
                <a:latin typeface="宋体"/>
                <a:cs typeface="宋体"/>
              </a:rPr>
              <a:t>：编队的个数</a:t>
            </a:r>
            <a:endParaRPr sz="2000">
              <a:latin typeface="宋体"/>
              <a:cs typeface="宋体"/>
            </a:endParaRPr>
          </a:p>
        </p:txBody>
      </p:sp>
      <p:sp>
        <p:nvSpPr>
          <p:cNvPr id="12" name="object 12" descr=""/>
          <p:cNvSpPr/>
          <p:nvPr/>
        </p:nvSpPr>
        <p:spPr>
          <a:xfrm>
            <a:off x="3671951" y="2133600"/>
            <a:ext cx="1656080" cy="908050"/>
          </a:xfrm>
          <a:custGeom>
            <a:avLst/>
            <a:gdLst/>
            <a:ahLst/>
            <a:cxnLst/>
            <a:rect l="l" t="t" r="r" b="b"/>
            <a:pathLst>
              <a:path w="1656079" h="908050">
                <a:moveTo>
                  <a:pt x="1655699" y="0"/>
                </a:moveTo>
                <a:lnTo>
                  <a:pt x="0" y="0"/>
                </a:lnTo>
                <a:lnTo>
                  <a:pt x="0" y="908050"/>
                </a:lnTo>
                <a:lnTo>
                  <a:pt x="1655699" y="908050"/>
                </a:lnTo>
                <a:lnTo>
                  <a:pt x="1655699" y="0"/>
                </a:lnTo>
                <a:close/>
              </a:path>
            </a:pathLst>
          </a:custGeom>
          <a:solidFill>
            <a:srgbClr val="EAEAEA"/>
          </a:solidFill>
        </p:spPr>
        <p:txBody>
          <a:bodyPr wrap="square" lIns="0" tIns="0" rIns="0" bIns="0" rtlCol="0"/>
          <a:lstStyle/>
          <a:p/>
        </p:txBody>
      </p:sp>
      <p:sp>
        <p:nvSpPr>
          <p:cNvPr id="13" name="object 13" descr=""/>
          <p:cNvSpPr txBox="1"/>
          <p:nvPr/>
        </p:nvSpPr>
        <p:spPr>
          <a:xfrm>
            <a:off x="4535232" y="2141683"/>
            <a:ext cx="149225" cy="251460"/>
          </a:xfrm>
          <a:prstGeom prst="rect">
            <a:avLst/>
          </a:prstGeom>
        </p:spPr>
        <p:txBody>
          <a:bodyPr wrap="square" lIns="0" tIns="16510" rIns="0" bIns="0" rtlCol="0" vert="horz">
            <a:spAutoFit/>
          </a:bodyPr>
          <a:lstStyle/>
          <a:p>
            <a:pPr>
              <a:lnSpc>
                <a:spcPct val="100000"/>
              </a:lnSpc>
              <a:spcBef>
                <a:spcPts val="130"/>
              </a:spcBef>
            </a:pPr>
            <a:r>
              <a:rPr dirty="0" sz="1450" spc="-50" i="1">
                <a:latin typeface="Times New Roman"/>
                <a:cs typeface="Times New Roman"/>
              </a:rPr>
              <a:t>m</a:t>
            </a:r>
            <a:endParaRPr sz="1450">
              <a:latin typeface="Times New Roman"/>
              <a:cs typeface="Times New Roman"/>
            </a:endParaRPr>
          </a:p>
        </p:txBody>
      </p:sp>
      <p:sp>
        <p:nvSpPr>
          <p:cNvPr id="14" name="object 14" descr=""/>
          <p:cNvSpPr txBox="1"/>
          <p:nvPr/>
        </p:nvSpPr>
        <p:spPr>
          <a:xfrm>
            <a:off x="4959720" y="2548074"/>
            <a:ext cx="196850" cy="251460"/>
          </a:xfrm>
          <a:prstGeom prst="rect">
            <a:avLst/>
          </a:prstGeom>
        </p:spPr>
        <p:txBody>
          <a:bodyPr wrap="square" lIns="0" tIns="16510" rIns="0" bIns="0" rtlCol="0" vert="horz">
            <a:spAutoFit/>
          </a:bodyPr>
          <a:lstStyle/>
          <a:p>
            <a:pPr>
              <a:lnSpc>
                <a:spcPct val="100000"/>
              </a:lnSpc>
              <a:spcBef>
                <a:spcPts val="130"/>
              </a:spcBef>
            </a:pPr>
            <a:r>
              <a:rPr dirty="0" sz="1450" spc="-25" i="1">
                <a:latin typeface="Times New Roman"/>
                <a:cs typeface="Times New Roman"/>
              </a:rPr>
              <a:t>vp</a:t>
            </a:r>
            <a:endParaRPr sz="1450">
              <a:latin typeface="Times New Roman"/>
              <a:cs typeface="Times New Roman"/>
            </a:endParaRPr>
          </a:p>
        </p:txBody>
      </p:sp>
      <p:sp>
        <p:nvSpPr>
          <p:cNvPr id="15" name="object 15" descr=""/>
          <p:cNvSpPr txBox="1"/>
          <p:nvPr/>
        </p:nvSpPr>
        <p:spPr>
          <a:xfrm>
            <a:off x="3865666" y="2548074"/>
            <a:ext cx="215265" cy="251460"/>
          </a:xfrm>
          <a:prstGeom prst="rect">
            <a:avLst/>
          </a:prstGeom>
        </p:spPr>
        <p:txBody>
          <a:bodyPr wrap="square" lIns="0" tIns="16510" rIns="0" bIns="0" rtlCol="0" vert="horz">
            <a:spAutoFit/>
          </a:bodyPr>
          <a:lstStyle/>
          <a:p>
            <a:pPr>
              <a:lnSpc>
                <a:spcPct val="100000"/>
              </a:lnSpc>
              <a:spcBef>
                <a:spcPts val="130"/>
              </a:spcBef>
            </a:pPr>
            <a:r>
              <a:rPr dirty="0" sz="1450" spc="-25" i="1">
                <a:latin typeface="Times New Roman"/>
                <a:cs typeface="Times New Roman"/>
              </a:rPr>
              <a:t>all</a:t>
            </a:r>
            <a:endParaRPr sz="1450">
              <a:latin typeface="Times New Roman"/>
              <a:cs typeface="Times New Roman"/>
            </a:endParaRPr>
          </a:p>
        </p:txBody>
      </p:sp>
      <p:sp>
        <p:nvSpPr>
          <p:cNvPr id="16" name="object 16" descr=""/>
          <p:cNvSpPr txBox="1"/>
          <p:nvPr/>
        </p:nvSpPr>
        <p:spPr>
          <a:xfrm>
            <a:off x="4797427" y="2333591"/>
            <a:ext cx="193040" cy="412115"/>
          </a:xfrm>
          <a:prstGeom prst="rect">
            <a:avLst/>
          </a:prstGeom>
        </p:spPr>
        <p:txBody>
          <a:bodyPr wrap="square" lIns="0" tIns="17145" rIns="0" bIns="0" rtlCol="0" vert="horz">
            <a:spAutoFit/>
          </a:bodyPr>
          <a:lstStyle/>
          <a:p>
            <a:pPr>
              <a:lnSpc>
                <a:spcPct val="100000"/>
              </a:lnSpc>
              <a:spcBef>
                <a:spcPts val="135"/>
              </a:spcBef>
            </a:pPr>
            <a:r>
              <a:rPr dirty="0" sz="2500" spc="-50" i="1">
                <a:latin typeface="Times New Roman"/>
                <a:cs typeface="Times New Roman"/>
              </a:rPr>
              <a:t>T</a:t>
            </a:r>
            <a:endParaRPr sz="2500">
              <a:latin typeface="Times New Roman"/>
              <a:cs typeface="Times New Roman"/>
            </a:endParaRPr>
          </a:p>
        </p:txBody>
      </p:sp>
      <p:sp>
        <p:nvSpPr>
          <p:cNvPr id="17" name="object 17" descr=""/>
          <p:cNvSpPr txBox="1"/>
          <p:nvPr/>
        </p:nvSpPr>
        <p:spPr>
          <a:xfrm>
            <a:off x="3700078" y="2333591"/>
            <a:ext cx="673100" cy="412115"/>
          </a:xfrm>
          <a:prstGeom prst="rect">
            <a:avLst/>
          </a:prstGeom>
        </p:spPr>
        <p:txBody>
          <a:bodyPr wrap="square" lIns="0" tIns="17145" rIns="0" bIns="0" rtlCol="0" vert="horz">
            <a:spAutoFit/>
          </a:bodyPr>
          <a:lstStyle/>
          <a:p>
            <a:pPr>
              <a:lnSpc>
                <a:spcPct val="100000"/>
              </a:lnSpc>
              <a:spcBef>
                <a:spcPts val="135"/>
              </a:spcBef>
              <a:tabLst>
                <a:tab pos="482600" algn="l"/>
              </a:tabLst>
            </a:pPr>
            <a:r>
              <a:rPr dirty="0" sz="2500" spc="-50" i="1">
                <a:latin typeface="Times New Roman"/>
                <a:cs typeface="Times New Roman"/>
              </a:rPr>
              <a:t>T</a:t>
            </a:r>
            <a:r>
              <a:rPr dirty="0" sz="2500" i="1">
                <a:latin typeface="Times New Roman"/>
                <a:cs typeface="Times New Roman"/>
              </a:rPr>
              <a:t>	</a:t>
            </a:r>
            <a:r>
              <a:rPr dirty="0" sz="2500" spc="-50">
                <a:latin typeface="Symbol"/>
                <a:cs typeface="Symbol"/>
              </a:rPr>
              <a:t></a:t>
            </a:r>
            <a:endParaRPr sz="2500">
              <a:latin typeface="Symbol"/>
              <a:cs typeface="Symbol"/>
            </a:endParaRPr>
          </a:p>
        </p:txBody>
      </p:sp>
      <p:sp>
        <p:nvSpPr>
          <p:cNvPr id="18" name="object 18" descr=""/>
          <p:cNvSpPr txBox="1"/>
          <p:nvPr/>
        </p:nvSpPr>
        <p:spPr>
          <a:xfrm>
            <a:off x="4431431" y="2246813"/>
            <a:ext cx="358775" cy="779780"/>
          </a:xfrm>
          <a:prstGeom prst="rect">
            <a:avLst/>
          </a:prstGeom>
        </p:spPr>
        <p:txBody>
          <a:bodyPr wrap="square" lIns="0" tIns="13335" rIns="0" bIns="0" rtlCol="0" vert="horz">
            <a:spAutoFit/>
          </a:bodyPr>
          <a:lstStyle/>
          <a:p>
            <a:pPr>
              <a:lnSpc>
                <a:spcPts val="4370"/>
              </a:lnSpc>
              <a:spcBef>
                <a:spcPts val="105"/>
              </a:spcBef>
            </a:pPr>
            <a:r>
              <a:rPr dirty="0" sz="3800" spc="-50">
                <a:latin typeface="Symbol"/>
                <a:cs typeface="Symbol"/>
              </a:rPr>
              <a:t></a:t>
            </a:r>
            <a:endParaRPr sz="3800">
              <a:latin typeface="Symbol"/>
              <a:cs typeface="Symbol"/>
            </a:endParaRPr>
          </a:p>
          <a:p>
            <a:pPr marL="49530">
              <a:lnSpc>
                <a:spcPts val="1550"/>
              </a:lnSpc>
            </a:pPr>
            <a:r>
              <a:rPr dirty="0" sz="1450" spc="-25" i="1">
                <a:latin typeface="Times New Roman"/>
                <a:cs typeface="Times New Roman"/>
              </a:rPr>
              <a:t>i</a:t>
            </a:r>
            <a:r>
              <a:rPr dirty="0" sz="1450" spc="-25">
                <a:latin typeface="Symbol"/>
                <a:cs typeface="Symbol"/>
              </a:rPr>
              <a:t></a:t>
            </a:r>
            <a:r>
              <a:rPr dirty="0" sz="1450" spc="-25">
                <a:latin typeface="Times New Roman"/>
                <a:cs typeface="Times New Roman"/>
              </a:rPr>
              <a:t>1</a:t>
            </a:r>
            <a:endParaRPr sz="1450">
              <a:latin typeface="Times New Roman"/>
              <a:cs typeface="Times New Roman"/>
            </a:endParaRPr>
          </a:p>
        </p:txBody>
      </p:sp>
      <p:sp>
        <p:nvSpPr>
          <p:cNvPr id="19" name="object 19" descr=""/>
          <p:cNvSpPr txBox="1"/>
          <p:nvPr/>
        </p:nvSpPr>
        <p:spPr>
          <a:xfrm>
            <a:off x="5027391" y="2324334"/>
            <a:ext cx="216535" cy="251460"/>
          </a:xfrm>
          <a:prstGeom prst="rect">
            <a:avLst/>
          </a:prstGeom>
        </p:spPr>
        <p:txBody>
          <a:bodyPr wrap="square" lIns="0" tIns="16510" rIns="0" bIns="0" rtlCol="0" vert="horz">
            <a:spAutoFit/>
          </a:bodyPr>
          <a:lstStyle/>
          <a:p>
            <a:pPr>
              <a:lnSpc>
                <a:spcPct val="100000"/>
              </a:lnSpc>
              <a:spcBef>
                <a:spcPts val="130"/>
              </a:spcBef>
            </a:pPr>
            <a:r>
              <a:rPr dirty="0" sz="1450" spc="45">
                <a:latin typeface="Times New Roman"/>
                <a:cs typeface="Times New Roman"/>
              </a:rPr>
              <a:t>(</a:t>
            </a:r>
            <a:r>
              <a:rPr dirty="0" sz="1450" spc="45" i="1">
                <a:latin typeface="Times New Roman"/>
                <a:cs typeface="Times New Roman"/>
              </a:rPr>
              <a:t>i</a:t>
            </a:r>
            <a:r>
              <a:rPr dirty="0" sz="1450" spc="45">
                <a:latin typeface="Times New Roman"/>
                <a:cs typeface="Times New Roman"/>
              </a:rPr>
              <a:t>)</a:t>
            </a:r>
            <a:endParaRPr sz="1450">
              <a:latin typeface="Times New Roman"/>
              <a:cs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62/72</a:t>
            </a:r>
            <a:endParaRPr sz="1600">
              <a:latin typeface="宋体"/>
              <a:cs typeface="宋体"/>
            </a:endParaRPr>
          </a:p>
        </p:txBody>
      </p:sp>
      <p:grpSp>
        <p:nvGrpSpPr>
          <p:cNvPr id="3" name="object 3" descr=""/>
          <p:cNvGrpSpPr/>
          <p:nvPr/>
        </p:nvGrpSpPr>
        <p:grpSpPr>
          <a:xfrm>
            <a:off x="50800" y="311150"/>
            <a:ext cx="808355" cy="274955"/>
            <a:chOff x="50800" y="311150"/>
            <a:chExt cx="808355" cy="274955"/>
          </a:xfrm>
        </p:grpSpPr>
        <p:sp>
          <p:nvSpPr>
            <p:cNvPr id="4" name="object 4"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5" name="object 5"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6" name="object 6"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730250" y="239395"/>
            <a:ext cx="8426450" cy="513715"/>
          </a:xfrm>
          <a:prstGeom prst="rect"/>
        </p:spPr>
        <p:txBody>
          <a:bodyPr wrap="square" lIns="0" tIns="12700" rIns="0" bIns="0" rtlCol="0" vert="horz">
            <a:spAutoFit/>
          </a:bodyPr>
          <a:lstStyle/>
          <a:p>
            <a:pPr marL="12700">
              <a:lnSpc>
                <a:spcPct val="100000"/>
              </a:lnSpc>
              <a:spcBef>
                <a:spcPts val="100"/>
              </a:spcBef>
              <a:tabLst>
                <a:tab pos="570865" algn="l"/>
                <a:tab pos="8413115" algn="l"/>
              </a:tabLst>
            </a:pPr>
            <a:r>
              <a:rPr dirty="0" u="heavy">
                <a:uFill>
                  <a:solidFill>
                    <a:srgbClr val="2C44A3"/>
                  </a:solidFill>
                </a:uFill>
              </a:rPr>
              <a:t>	4.4</a:t>
            </a:r>
            <a:r>
              <a:rPr dirty="0" u="heavy" spc="-10">
                <a:uFill>
                  <a:solidFill>
                    <a:srgbClr val="2C44A3"/>
                  </a:solidFill>
                </a:uFill>
              </a:rPr>
              <a:t> </a:t>
            </a:r>
            <a:r>
              <a:rPr dirty="0" u="heavy">
                <a:uFill>
                  <a:solidFill>
                    <a:srgbClr val="2C44A3"/>
                  </a:solidFill>
                </a:uFill>
              </a:rPr>
              <a:t>向量处</a:t>
            </a:r>
            <a:r>
              <a:rPr dirty="0" u="heavy" spc="-15">
                <a:uFill>
                  <a:solidFill>
                    <a:srgbClr val="2C44A3"/>
                  </a:solidFill>
                </a:uFill>
              </a:rPr>
              <a:t>理</a:t>
            </a:r>
            <a:r>
              <a:rPr dirty="0" u="heavy">
                <a:uFill>
                  <a:solidFill>
                    <a:srgbClr val="2C44A3"/>
                  </a:solidFill>
                </a:uFill>
              </a:rPr>
              <a:t>机的</a:t>
            </a:r>
            <a:r>
              <a:rPr dirty="0" u="heavy" spc="-15">
                <a:uFill>
                  <a:solidFill>
                    <a:srgbClr val="2C44A3"/>
                  </a:solidFill>
                </a:uFill>
              </a:rPr>
              <a:t>性</a:t>
            </a:r>
            <a:r>
              <a:rPr dirty="0" u="heavy">
                <a:uFill>
                  <a:solidFill>
                    <a:srgbClr val="2C44A3"/>
                  </a:solidFill>
                </a:uFill>
              </a:rPr>
              <a:t>能评</a:t>
            </a:r>
            <a:r>
              <a:rPr dirty="0" u="heavy" spc="-50">
                <a:uFill>
                  <a:solidFill>
                    <a:srgbClr val="2C44A3"/>
                  </a:solidFill>
                </a:uFill>
              </a:rPr>
              <a:t>价</a:t>
            </a:r>
            <a:r>
              <a:rPr dirty="0" u="heavy">
                <a:uFill>
                  <a:solidFill>
                    <a:srgbClr val="2C44A3"/>
                  </a:solidFill>
                </a:uFill>
              </a:rPr>
              <a:t>	</a:t>
            </a:r>
          </a:p>
        </p:txBody>
      </p:sp>
      <p:sp>
        <p:nvSpPr>
          <p:cNvPr id="9" name="object 9" descr=""/>
          <p:cNvSpPr txBox="1"/>
          <p:nvPr/>
        </p:nvSpPr>
        <p:spPr>
          <a:xfrm>
            <a:off x="790955" y="1213191"/>
            <a:ext cx="7543800" cy="1306195"/>
          </a:xfrm>
          <a:prstGeom prst="rect">
            <a:avLst/>
          </a:prstGeom>
        </p:spPr>
        <p:txBody>
          <a:bodyPr wrap="square" lIns="0" tIns="12065" rIns="0" bIns="0" rtlCol="0" vert="horz">
            <a:spAutoFit/>
          </a:bodyPr>
          <a:lstStyle/>
          <a:p>
            <a:pPr marL="495300" marR="30480" indent="-457200">
              <a:lnSpc>
                <a:spcPct val="110000"/>
              </a:lnSpc>
              <a:spcBef>
                <a:spcPts val="95"/>
              </a:spcBef>
              <a:buSzPct val="89583"/>
              <a:buFont typeface="Wingdings"/>
              <a:buChar char=""/>
              <a:tabLst>
                <a:tab pos="495300" algn="l"/>
              </a:tabLst>
            </a:pPr>
            <a:r>
              <a:rPr dirty="0" sz="2400" spc="-5">
                <a:solidFill>
                  <a:srgbClr val="40458B"/>
                </a:solidFill>
                <a:latin typeface="黑体"/>
                <a:cs typeface="黑体"/>
              </a:rPr>
              <a:t>当一个编队是由若干条指令组成时，其执行时间就应</a:t>
            </a:r>
            <a:r>
              <a:rPr dirty="0" sz="2400" spc="-15">
                <a:solidFill>
                  <a:srgbClr val="40458B"/>
                </a:solidFill>
                <a:latin typeface="黑体"/>
                <a:cs typeface="黑体"/>
              </a:rPr>
              <a:t>该由该编队中各指令的执行时间的最大值来确定。</a:t>
            </a:r>
            <a:endParaRPr sz="2400">
              <a:latin typeface="黑体"/>
              <a:cs typeface="黑体"/>
            </a:endParaRPr>
          </a:p>
          <a:p>
            <a:pPr marL="894080">
              <a:lnSpc>
                <a:spcPts val="1800"/>
              </a:lnSpc>
              <a:spcBef>
                <a:spcPts val="150"/>
              </a:spcBef>
            </a:pPr>
            <a:r>
              <a:rPr dirty="0" baseline="-16203" sz="3600" spc="-30" b="1">
                <a:solidFill>
                  <a:srgbClr val="D50092"/>
                </a:solidFill>
                <a:latin typeface="Times New Roman"/>
                <a:cs typeface="Times New Roman"/>
              </a:rPr>
              <a:t>T</a:t>
            </a:r>
            <a:r>
              <a:rPr dirty="0" sz="1600" spc="-20" b="1">
                <a:solidFill>
                  <a:srgbClr val="D50092"/>
                </a:solidFill>
                <a:latin typeface="Times New Roman"/>
                <a:cs typeface="Times New Roman"/>
              </a:rPr>
              <a:t>(i)</a:t>
            </a:r>
            <a:endParaRPr sz="1600">
              <a:latin typeface="Times New Roman"/>
              <a:cs typeface="Times New Roman"/>
            </a:endParaRPr>
          </a:p>
          <a:p>
            <a:pPr algn="ctr" marR="81915">
              <a:lnSpc>
                <a:spcPts val="1800"/>
              </a:lnSpc>
            </a:pPr>
            <a:r>
              <a:rPr dirty="0" baseline="-20833" sz="2400" spc="-15" b="1">
                <a:solidFill>
                  <a:srgbClr val="D50092"/>
                </a:solidFill>
                <a:latin typeface="Times New Roman"/>
                <a:cs typeface="Times New Roman"/>
              </a:rPr>
              <a:t>start</a:t>
            </a:r>
            <a:r>
              <a:rPr dirty="0" sz="2400" spc="-10" b="1">
                <a:solidFill>
                  <a:srgbClr val="080808"/>
                </a:solidFill>
                <a:latin typeface="宋体"/>
                <a:cs typeface="宋体"/>
              </a:rPr>
              <a:t>：</a:t>
            </a:r>
            <a:r>
              <a:rPr dirty="0" sz="2000" spc="-10" b="1">
                <a:solidFill>
                  <a:srgbClr val="00AFEF"/>
                </a:solidFill>
                <a:latin typeface="宋体"/>
                <a:cs typeface="宋体"/>
              </a:rPr>
              <a:t>第</a:t>
            </a:r>
            <a:r>
              <a:rPr dirty="0" sz="2000" b="1">
                <a:solidFill>
                  <a:srgbClr val="9933FF"/>
                </a:solidFill>
                <a:latin typeface="Times New Roman"/>
                <a:cs typeface="Times New Roman"/>
              </a:rPr>
              <a:t>i</a:t>
            </a:r>
            <a:r>
              <a:rPr dirty="0" sz="2000" spc="-15" b="1">
                <a:solidFill>
                  <a:srgbClr val="00AFEF"/>
                </a:solidFill>
                <a:latin typeface="宋体"/>
                <a:cs typeface="宋体"/>
              </a:rPr>
              <a:t>编队中各指令的启动时间的最大值</a:t>
            </a:r>
            <a:endParaRPr sz="2000">
              <a:latin typeface="宋体"/>
              <a:cs typeface="宋体"/>
            </a:endParaRPr>
          </a:p>
        </p:txBody>
      </p:sp>
      <p:sp>
        <p:nvSpPr>
          <p:cNvPr id="10" name="object 10" descr=""/>
          <p:cNvSpPr txBox="1"/>
          <p:nvPr/>
        </p:nvSpPr>
        <p:spPr>
          <a:xfrm>
            <a:off x="3085845" y="3814952"/>
            <a:ext cx="463105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AFEF"/>
                </a:solidFill>
                <a:latin typeface="宋体"/>
                <a:cs typeface="宋体"/>
              </a:rPr>
              <a:t>该组指令总的启动时间（</a:t>
            </a:r>
            <a:r>
              <a:rPr dirty="0" sz="2000" spc="-20" b="1">
                <a:solidFill>
                  <a:srgbClr val="00AFEF"/>
                </a:solidFill>
                <a:latin typeface="宋体"/>
                <a:cs typeface="宋体"/>
              </a:rPr>
              <a:t>时钟周期个数</a:t>
            </a:r>
            <a:r>
              <a:rPr dirty="0" sz="2000" spc="-50" b="1">
                <a:solidFill>
                  <a:srgbClr val="00AFEF"/>
                </a:solidFill>
                <a:latin typeface="宋体"/>
                <a:cs typeface="宋体"/>
              </a:rPr>
              <a:t>）</a:t>
            </a:r>
            <a:endParaRPr sz="2000">
              <a:latin typeface="宋体"/>
              <a:cs typeface="宋体"/>
            </a:endParaRPr>
          </a:p>
        </p:txBody>
      </p:sp>
      <p:sp>
        <p:nvSpPr>
          <p:cNvPr id="11" name="object 11" descr=""/>
          <p:cNvSpPr txBox="1"/>
          <p:nvPr/>
        </p:nvSpPr>
        <p:spPr>
          <a:xfrm>
            <a:off x="1418844" y="4888890"/>
            <a:ext cx="2837815" cy="942975"/>
          </a:xfrm>
          <a:prstGeom prst="rect">
            <a:avLst/>
          </a:prstGeom>
        </p:spPr>
        <p:txBody>
          <a:bodyPr wrap="square" lIns="0" tIns="166370" rIns="0" bIns="0" rtlCol="0" vert="horz">
            <a:spAutoFit/>
          </a:bodyPr>
          <a:lstStyle/>
          <a:p>
            <a:pPr marL="494665" indent="-456565">
              <a:lnSpc>
                <a:spcPct val="100000"/>
              </a:lnSpc>
              <a:spcBef>
                <a:spcPts val="1310"/>
              </a:spcBef>
              <a:buClr>
                <a:srgbClr val="4668F5"/>
              </a:buClr>
              <a:buSzPct val="65000"/>
              <a:buFont typeface="Wingdings"/>
              <a:buChar char=""/>
              <a:tabLst>
                <a:tab pos="494665" algn="l"/>
              </a:tabLst>
            </a:pPr>
            <a:r>
              <a:rPr dirty="0" sz="2000" spc="-15" b="1">
                <a:solidFill>
                  <a:srgbClr val="00AFEF"/>
                </a:solidFill>
                <a:latin typeface="宋体"/>
                <a:cs typeface="宋体"/>
              </a:rPr>
              <a:t>表示成时钟周期个数</a:t>
            </a:r>
            <a:endParaRPr sz="2000">
              <a:latin typeface="宋体"/>
              <a:cs typeface="宋体"/>
            </a:endParaRPr>
          </a:p>
          <a:p>
            <a:pPr marL="990600">
              <a:lnSpc>
                <a:spcPct val="100000"/>
              </a:lnSpc>
              <a:spcBef>
                <a:spcPts val="1210"/>
              </a:spcBef>
            </a:pP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all</a:t>
            </a:r>
            <a:r>
              <a:rPr dirty="0" sz="1300" spc="190" b="1">
                <a:solidFill>
                  <a:srgbClr val="9933FF"/>
                </a:solidFill>
                <a:latin typeface="Times New Roman"/>
                <a:cs typeface="Times New Roman"/>
              </a:rPr>
              <a:t> </a:t>
            </a:r>
            <a:r>
              <a:rPr dirty="0" baseline="13888" sz="3000" b="1">
                <a:solidFill>
                  <a:srgbClr val="9933FF"/>
                </a:solidFill>
                <a:latin typeface="Times New Roman"/>
                <a:cs typeface="Times New Roman"/>
              </a:rPr>
              <a:t>= T</a:t>
            </a:r>
            <a:r>
              <a:rPr dirty="0" sz="1300" b="1">
                <a:solidFill>
                  <a:srgbClr val="9933FF"/>
                </a:solidFill>
                <a:latin typeface="Times New Roman"/>
                <a:cs typeface="Times New Roman"/>
              </a:rPr>
              <a:t>start</a:t>
            </a:r>
            <a:r>
              <a:rPr dirty="0" sz="1300" spc="40" b="1">
                <a:solidFill>
                  <a:srgbClr val="9933FF"/>
                </a:solidFill>
                <a:latin typeface="Times New Roman"/>
                <a:cs typeface="Times New Roman"/>
              </a:rPr>
              <a:t> </a:t>
            </a:r>
            <a:r>
              <a:rPr dirty="0" baseline="13888" sz="3000" b="1">
                <a:solidFill>
                  <a:srgbClr val="9933FF"/>
                </a:solidFill>
                <a:latin typeface="Times New Roman"/>
                <a:cs typeface="Times New Roman"/>
              </a:rPr>
              <a:t>+</a:t>
            </a:r>
            <a:r>
              <a:rPr dirty="0" baseline="13888" sz="3000" spc="-7" b="1">
                <a:solidFill>
                  <a:srgbClr val="9933FF"/>
                </a:solidFill>
                <a:latin typeface="Times New Roman"/>
                <a:cs typeface="Times New Roman"/>
              </a:rPr>
              <a:t> </a:t>
            </a:r>
            <a:r>
              <a:rPr dirty="0" baseline="13888" sz="3000" spc="-52" b="1">
                <a:solidFill>
                  <a:srgbClr val="9933FF"/>
                </a:solidFill>
                <a:latin typeface="Times New Roman"/>
                <a:cs typeface="Times New Roman"/>
              </a:rPr>
              <a:t>mn</a:t>
            </a:r>
            <a:endParaRPr baseline="13888" sz="3000">
              <a:latin typeface="Times New Roman"/>
              <a:cs typeface="Times New Roman"/>
            </a:endParaRPr>
          </a:p>
        </p:txBody>
      </p:sp>
      <p:sp>
        <p:nvSpPr>
          <p:cNvPr id="12" name="object 12" descr=""/>
          <p:cNvSpPr txBox="1"/>
          <p:nvPr/>
        </p:nvSpPr>
        <p:spPr>
          <a:xfrm>
            <a:off x="4759578" y="5438343"/>
            <a:ext cx="793750"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AFEF"/>
                </a:solidFill>
                <a:latin typeface="宋体"/>
                <a:cs typeface="宋体"/>
              </a:rPr>
              <a:t>（拍</a:t>
            </a:r>
            <a:r>
              <a:rPr dirty="0" sz="2000" spc="-50" b="1">
                <a:solidFill>
                  <a:srgbClr val="00AFEF"/>
                </a:solidFill>
                <a:latin typeface="宋体"/>
                <a:cs typeface="宋体"/>
              </a:rPr>
              <a:t>）</a:t>
            </a:r>
            <a:endParaRPr sz="2000">
              <a:latin typeface="宋体"/>
              <a:cs typeface="宋体"/>
            </a:endParaRPr>
          </a:p>
        </p:txBody>
      </p:sp>
      <p:sp>
        <p:nvSpPr>
          <p:cNvPr id="13" name="object 13" descr=""/>
          <p:cNvSpPr/>
          <p:nvPr/>
        </p:nvSpPr>
        <p:spPr>
          <a:xfrm>
            <a:off x="1619250" y="2833687"/>
            <a:ext cx="6624955" cy="728980"/>
          </a:xfrm>
          <a:custGeom>
            <a:avLst/>
            <a:gdLst/>
            <a:ahLst/>
            <a:cxnLst/>
            <a:rect l="l" t="t" r="r" b="b"/>
            <a:pathLst>
              <a:path w="6624955" h="728979">
                <a:moveTo>
                  <a:pt x="6624701" y="0"/>
                </a:moveTo>
                <a:lnTo>
                  <a:pt x="0" y="0"/>
                </a:lnTo>
                <a:lnTo>
                  <a:pt x="0" y="728662"/>
                </a:lnTo>
                <a:lnTo>
                  <a:pt x="6624701" y="728662"/>
                </a:lnTo>
                <a:lnTo>
                  <a:pt x="6624701" y="0"/>
                </a:lnTo>
                <a:close/>
              </a:path>
            </a:pathLst>
          </a:custGeom>
          <a:solidFill>
            <a:srgbClr val="EAEAEA"/>
          </a:solidFill>
        </p:spPr>
        <p:txBody>
          <a:bodyPr wrap="square" lIns="0" tIns="0" rIns="0" bIns="0" rtlCol="0"/>
          <a:lstStyle/>
          <a:p/>
        </p:txBody>
      </p:sp>
      <p:sp>
        <p:nvSpPr>
          <p:cNvPr id="14" name="object 14" descr=""/>
          <p:cNvSpPr txBox="1"/>
          <p:nvPr/>
        </p:nvSpPr>
        <p:spPr>
          <a:xfrm>
            <a:off x="8118695" y="3163772"/>
            <a:ext cx="80645" cy="207010"/>
          </a:xfrm>
          <a:prstGeom prst="rect">
            <a:avLst/>
          </a:prstGeom>
        </p:spPr>
        <p:txBody>
          <a:bodyPr wrap="square" lIns="0" tIns="17145" rIns="0" bIns="0" rtlCol="0" vert="horz">
            <a:spAutoFit/>
          </a:bodyPr>
          <a:lstStyle/>
          <a:p>
            <a:pPr>
              <a:lnSpc>
                <a:spcPct val="100000"/>
              </a:lnSpc>
              <a:spcBef>
                <a:spcPts val="135"/>
              </a:spcBef>
            </a:pPr>
            <a:r>
              <a:rPr dirty="0" sz="1150" spc="-50" i="1">
                <a:latin typeface="Times New Roman"/>
                <a:cs typeface="Times New Roman"/>
              </a:rPr>
              <a:t>c</a:t>
            </a:r>
            <a:endParaRPr sz="1150">
              <a:latin typeface="Times New Roman"/>
              <a:cs typeface="Times New Roman"/>
            </a:endParaRPr>
          </a:p>
        </p:txBody>
      </p:sp>
      <p:sp>
        <p:nvSpPr>
          <p:cNvPr id="15" name="object 15" descr=""/>
          <p:cNvSpPr txBox="1"/>
          <p:nvPr/>
        </p:nvSpPr>
        <p:spPr>
          <a:xfrm>
            <a:off x="7051706" y="3163772"/>
            <a:ext cx="297815" cy="207010"/>
          </a:xfrm>
          <a:prstGeom prst="rect">
            <a:avLst/>
          </a:prstGeom>
        </p:spPr>
        <p:txBody>
          <a:bodyPr wrap="square" lIns="0" tIns="17145" rIns="0" bIns="0" rtlCol="0" vert="horz">
            <a:spAutoFit/>
          </a:bodyPr>
          <a:lstStyle/>
          <a:p>
            <a:pPr>
              <a:lnSpc>
                <a:spcPct val="100000"/>
              </a:lnSpc>
              <a:spcBef>
                <a:spcPts val="135"/>
              </a:spcBef>
            </a:pPr>
            <a:r>
              <a:rPr dirty="0" sz="1150" spc="-10" i="1">
                <a:latin typeface="Times New Roman"/>
                <a:cs typeface="Times New Roman"/>
              </a:rPr>
              <a:t>start</a:t>
            </a:r>
            <a:endParaRPr sz="1150">
              <a:latin typeface="Times New Roman"/>
              <a:cs typeface="Times New Roman"/>
            </a:endParaRPr>
          </a:p>
        </p:txBody>
      </p:sp>
      <p:sp>
        <p:nvSpPr>
          <p:cNvPr id="16" name="object 16" descr=""/>
          <p:cNvSpPr txBox="1"/>
          <p:nvPr/>
        </p:nvSpPr>
        <p:spPr>
          <a:xfrm>
            <a:off x="6488530" y="3163772"/>
            <a:ext cx="80645" cy="207010"/>
          </a:xfrm>
          <a:prstGeom prst="rect">
            <a:avLst/>
          </a:prstGeom>
        </p:spPr>
        <p:txBody>
          <a:bodyPr wrap="square" lIns="0" tIns="17145" rIns="0" bIns="0" rtlCol="0" vert="horz">
            <a:spAutoFit/>
          </a:bodyPr>
          <a:lstStyle/>
          <a:p>
            <a:pPr>
              <a:lnSpc>
                <a:spcPct val="100000"/>
              </a:lnSpc>
              <a:spcBef>
                <a:spcPts val="135"/>
              </a:spcBef>
            </a:pPr>
            <a:r>
              <a:rPr dirty="0" sz="1150" spc="-50" i="1">
                <a:latin typeface="Times New Roman"/>
                <a:cs typeface="Times New Roman"/>
              </a:rPr>
              <a:t>c</a:t>
            </a:r>
            <a:endParaRPr sz="1150">
              <a:latin typeface="Times New Roman"/>
              <a:cs typeface="Times New Roman"/>
            </a:endParaRPr>
          </a:p>
        </p:txBody>
      </p:sp>
      <p:sp>
        <p:nvSpPr>
          <p:cNvPr id="17" name="object 17" descr=""/>
          <p:cNvSpPr txBox="1"/>
          <p:nvPr/>
        </p:nvSpPr>
        <p:spPr>
          <a:xfrm>
            <a:off x="5076520" y="2837665"/>
            <a:ext cx="123189" cy="207010"/>
          </a:xfrm>
          <a:prstGeom prst="rect">
            <a:avLst/>
          </a:prstGeom>
        </p:spPr>
        <p:txBody>
          <a:bodyPr wrap="square" lIns="0" tIns="17145" rIns="0" bIns="0" rtlCol="0" vert="horz">
            <a:spAutoFit/>
          </a:bodyPr>
          <a:lstStyle/>
          <a:p>
            <a:pPr>
              <a:lnSpc>
                <a:spcPct val="100000"/>
              </a:lnSpc>
              <a:spcBef>
                <a:spcPts val="135"/>
              </a:spcBef>
            </a:pPr>
            <a:r>
              <a:rPr dirty="0" sz="1150" spc="-50" i="1">
                <a:latin typeface="Times New Roman"/>
                <a:cs typeface="Times New Roman"/>
              </a:rPr>
              <a:t>m</a:t>
            </a:r>
            <a:endParaRPr sz="1150">
              <a:latin typeface="Times New Roman"/>
              <a:cs typeface="Times New Roman"/>
            </a:endParaRPr>
          </a:p>
        </p:txBody>
      </p:sp>
      <p:sp>
        <p:nvSpPr>
          <p:cNvPr id="18" name="object 18" descr=""/>
          <p:cNvSpPr txBox="1"/>
          <p:nvPr/>
        </p:nvSpPr>
        <p:spPr>
          <a:xfrm>
            <a:off x="3235614" y="2837665"/>
            <a:ext cx="123189" cy="207010"/>
          </a:xfrm>
          <a:prstGeom prst="rect">
            <a:avLst/>
          </a:prstGeom>
        </p:spPr>
        <p:txBody>
          <a:bodyPr wrap="square" lIns="0" tIns="17145" rIns="0" bIns="0" rtlCol="0" vert="horz">
            <a:spAutoFit/>
          </a:bodyPr>
          <a:lstStyle/>
          <a:p>
            <a:pPr>
              <a:lnSpc>
                <a:spcPct val="100000"/>
              </a:lnSpc>
              <a:spcBef>
                <a:spcPts val="135"/>
              </a:spcBef>
            </a:pPr>
            <a:r>
              <a:rPr dirty="0" sz="1150" spc="-50" i="1">
                <a:latin typeface="Times New Roman"/>
                <a:cs typeface="Times New Roman"/>
              </a:rPr>
              <a:t>m</a:t>
            </a:r>
            <a:endParaRPr sz="1150">
              <a:latin typeface="Times New Roman"/>
              <a:cs typeface="Times New Roman"/>
            </a:endParaRPr>
          </a:p>
        </p:txBody>
      </p:sp>
      <p:sp>
        <p:nvSpPr>
          <p:cNvPr id="19" name="object 19" descr=""/>
          <p:cNvSpPr txBox="1"/>
          <p:nvPr/>
        </p:nvSpPr>
        <p:spPr>
          <a:xfrm>
            <a:off x="2310382" y="2837665"/>
            <a:ext cx="123189" cy="207010"/>
          </a:xfrm>
          <a:prstGeom prst="rect">
            <a:avLst/>
          </a:prstGeom>
        </p:spPr>
        <p:txBody>
          <a:bodyPr wrap="square" lIns="0" tIns="17145" rIns="0" bIns="0" rtlCol="0" vert="horz">
            <a:spAutoFit/>
          </a:bodyPr>
          <a:lstStyle/>
          <a:p>
            <a:pPr>
              <a:lnSpc>
                <a:spcPct val="100000"/>
              </a:lnSpc>
              <a:spcBef>
                <a:spcPts val="135"/>
              </a:spcBef>
            </a:pPr>
            <a:r>
              <a:rPr dirty="0" sz="1150" spc="-50" i="1">
                <a:latin typeface="Times New Roman"/>
                <a:cs typeface="Times New Roman"/>
              </a:rPr>
              <a:t>m</a:t>
            </a:r>
            <a:endParaRPr sz="1150">
              <a:latin typeface="Times New Roman"/>
              <a:cs typeface="Times New Roman"/>
            </a:endParaRPr>
          </a:p>
        </p:txBody>
      </p:sp>
      <p:sp>
        <p:nvSpPr>
          <p:cNvPr id="20" name="object 20" descr=""/>
          <p:cNvSpPr txBox="1"/>
          <p:nvPr/>
        </p:nvSpPr>
        <p:spPr>
          <a:xfrm>
            <a:off x="5471472" y="2984233"/>
            <a:ext cx="175895" cy="207010"/>
          </a:xfrm>
          <a:prstGeom prst="rect">
            <a:avLst/>
          </a:prstGeom>
        </p:spPr>
        <p:txBody>
          <a:bodyPr wrap="square" lIns="0" tIns="17145" rIns="0" bIns="0" rtlCol="0" vert="horz">
            <a:spAutoFit/>
          </a:bodyPr>
          <a:lstStyle/>
          <a:p>
            <a:pPr>
              <a:lnSpc>
                <a:spcPct val="100000"/>
              </a:lnSpc>
              <a:spcBef>
                <a:spcPts val="135"/>
              </a:spcBef>
            </a:pPr>
            <a:r>
              <a:rPr dirty="0" sz="1150" spc="30">
                <a:latin typeface="Times New Roman"/>
                <a:cs typeface="Times New Roman"/>
              </a:rPr>
              <a:t>(</a:t>
            </a:r>
            <a:r>
              <a:rPr dirty="0" sz="1150" spc="30" i="1">
                <a:latin typeface="Times New Roman"/>
                <a:cs typeface="Times New Roman"/>
              </a:rPr>
              <a:t>i</a:t>
            </a:r>
            <a:r>
              <a:rPr dirty="0" sz="1150" spc="30">
                <a:latin typeface="Times New Roman"/>
                <a:cs typeface="Times New Roman"/>
              </a:rPr>
              <a:t>)</a:t>
            </a:r>
            <a:endParaRPr sz="1150">
              <a:latin typeface="Times New Roman"/>
              <a:cs typeface="Times New Roman"/>
            </a:endParaRPr>
          </a:p>
        </p:txBody>
      </p:sp>
      <p:sp>
        <p:nvSpPr>
          <p:cNvPr id="21" name="object 21" descr=""/>
          <p:cNvSpPr txBox="1"/>
          <p:nvPr/>
        </p:nvSpPr>
        <p:spPr>
          <a:xfrm>
            <a:off x="3718663" y="2984233"/>
            <a:ext cx="176530" cy="207010"/>
          </a:xfrm>
          <a:prstGeom prst="rect">
            <a:avLst/>
          </a:prstGeom>
        </p:spPr>
        <p:txBody>
          <a:bodyPr wrap="square" lIns="0" tIns="17145" rIns="0" bIns="0" rtlCol="0" vert="horz">
            <a:spAutoFit/>
          </a:bodyPr>
          <a:lstStyle/>
          <a:p>
            <a:pPr>
              <a:lnSpc>
                <a:spcPct val="100000"/>
              </a:lnSpc>
              <a:spcBef>
                <a:spcPts val="135"/>
              </a:spcBef>
            </a:pPr>
            <a:r>
              <a:rPr dirty="0" sz="1150" spc="30">
                <a:latin typeface="Times New Roman"/>
                <a:cs typeface="Times New Roman"/>
              </a:rPr>
              <a:t>(</a:t>
            </a:r>
            <a:r>
              <a:rPr dirty="0" sz="1150" spc="30" i="1">
                <a:latin typeface="Times New Roman"/>
                <a:cs typeface="Times New Roman"/>
              </a:rPr>
              <a:t>i</a:t>
            </a:r>
            <a:r>
              <a:rPr dirty="0" sz="1150" spc="30">
                <a:latin typeface="Times New Roman"/>
                <a:cs typeface="Times New Roman"/>
              </a:rPr>
              <a:t>)</a:t>
            </a:r>
            <a:endParaRPr sz="1150">
              <a:latin typeface="Times New Roman"/>
              <a:cs typeface="Times New Roman"/>
            </a:endParaRPr>
          </a:p>
        </p:txBody>
      </p:sp>
      <p:sp>
        <p:nvSpPr>
          <p:cNvPr id="22" name="object 22" descr=""/>
          <p:cNvSpPr txBox="1"/>
          <p:nvPr/>
        </p:nvSpPr>
        <p:spPr>
          <a:xfrm>
            <a:off x="2704776" y="2984233"/>
            <a:ext cx="176530" cy="207010"/>
          </a:xfrm>
          <a:prstGeom prst="rect">
            <a:avLst/>
          </a:prstGeom>
        </p:spPr>
        <p:txBody>
          <a:bodyPr wrap="square" lIns="0" tIns="17145" rIns="0" bIns="0" rtlCol="0" vert="horz">
            <a:spAutoFit/>
          </a:bodyPr>
          <a:lstStyle/>
          <a:p>
            <a:pPr>
              <a:lnSpc>
                <a:spcPct val="100000"/>
              </a:lnSpc>
              <a:spcBef>
                <a:spcPts val="135"/>
              </a:spcBef>
            </a:pPr>
            <a:r>
              <a:rPr dirty="0" sz="1150" spc="30">
                <a:latin typeface="Times New Roman"/>
                <a:cs typeface="Times New Roman"/>
              </a:rPr>
              <a:t>(</a:t>
            </a:r>
            <a:r>
              <a:rPr dirty="0" sz="1150" spc="30" i="1">
                <a:latin typeface="Times New Roman"/>
                <a:cs typeface="Times New Roman"/>
              </a:rPr>
              <a:t>i</a:t>
            </a:r>
            <a:r>
              <a:rPr dirty="0" sz="1150" spc="30">
                <a:latin typeface="Times New Roman"/>
                <a:cs typeface="Times New Roman"/>
              </a:rPr>
              <a:t>)</a:t>
            </a:r>
            <a:endParaRPr sz="1150">
              <a:latin typeface="Times New Roman"/>
              <a:cs typeface="Times New Roman"/>
            </a:endParaRPr>
          </a:p>
        </p:txBody>
      </p:sp>
      <p:sp>
        <p:nvSpPr>
          <p:cNvPr id="23" name="object 23" descr=""/>
          <p:cNvSpPr txBox="1"/>
          <p:nvPr/>
        </p:nvSpPr>
        <p:spPr>
          <a:xfrm>
            <a:off x="7405726" y="2991661"/>
            <a:ext cx="741045" cy="335915"/>
          </a:xfrm>
          <a:prstGeom prst="rect">
            <a:avLst/>
          </a:prstGeom>
        </p:spPr>
        <p:txBody>
          <a:bodyPr wrap="square" lIns="0" tIns="17145" rIns="0" bIns="0" rtlCol="0" vert="horz">
            <a:spAutoFit/>
          </a:bodyPr>
          <a:lstStyle/>
          <a:p>
            <a:pPr>
              <a:lnSpc>
                <a:spcPct val="100000"/>
              </a:lnSpc>
              <a:spcBef>
                <a:spcPts val="135"/>
              </a:spcBef>
            </a:pPr>
            <a:r>
              <a:rPr dirty="0" sz="2000">
                <a:latin typeface="Symbol"/>
                <a:cs typeface="Symbol"/>
              </a:rPr>
              <a:t></a:t>
            </a:r>
            <a:r>
              <a:rPr dirty="0" sz="2000" spc="-125">
                <a:latin typeface="Times New Roman"/>
                <a:cs typeface="Times New Roman"/>
              </a:rPr>
              <a:t> </a:t>
            </a:r>
            <a:r>
              <a:rPr dirty="0" sz="2000" spc="-20" i="1">
                <a:latin typeface="Times New Roman"/>
                <a:cs typeface="Times New Roman"/>
              </a:rPr>
              <a:t>mn</a:t>
            </a:r>
            <a:r>
              <a:rPr dirty="0" sz="2000" spc="-20">
                <a:latin typeface="Times New Roman"/>
                <a:cs typeface="Times New Roman"/>
              </a:rPr>
              <a:t>)</a:t>
            </a:r>
            <a:r>
              <a:rPr dirty="0" sz="2000" spc="-20" i="1">
                <a:latin typeface="Times New Roman"/>
                <a:cs typeface="Times New Roman"/>
              </a:rPr>
              <a:t>T</a:t>
            </a:r>
            <a:endParaRPr sz="2000">
              <a:latin typeface="Times New Roman"/>
              <a:cs typeface="Times New Roman"/>
            </a:endParaRPr>
          </a:p>
        </p:txBody>
      </p:sp>
      <p:sp>
        <p:nvSpPr>
          <p:cNvPr id="24" name="object 24" descr=""/>
          <p:cNvSpPr txBox="1"/>
          <p:nvPr/>
        </p:nvSpPr>
        <p:spPr>
          <a:xfrm>
            <a:off x="5776204" y="2991661"/>
            <a:ext cx="1299210" cy="335915"/>
          </a:xfrm>
          <a:prstGeom prst="rect">
            <a:avLst/>
          </a:prstGeom>
        </p:spPr>
        <p:txBody>
          <a:bodyPr wrap="square" lIns="0" tIns="17145" rIns="0" bIns="0" rtlCol="0" vert="horz">
            <a:spAutoFit/>
          </a:bodyPr>
          <a:lstStyle/>
          <a:p>
            <a:pPr>
              <a:lnSpc>
                <a:spcPct val="100000"/>
              </a:lnSpc>
              <a:spcBef>
                <a:spcPts val="135"/>
              </a:spcBef>
              <a:tabLst>
                <a:tab pos="867410" algn="l"/>
              </a:tabLst>
            </a:pPr>
            <a:r>
              <a:rPr dirty="0" sz="2000">
                <a:latin typeface="Symbol"/>
                <a:cs typeface="Symbol"/>
              </a:rPr>
              <a:t></a:t>
            </a:r>
            <a:r>
              <a:rPr dirty="0" sz="2000" spc="-130">
                <a:latin typeface="Times New Roman"/>
                <a:cs typeface="Times New Roman"/>
              </a:rPr>
              <a:t> </a:t>
            </a:r>
            <a:r>
              <a:rPr dirty="0" sz="2000" spc="-20" i="1">
                <a:latin typeface="Times New Roman"/>
                <a:cs typeface="Times New Roman"/>
              </a:rPr>
              <a:t>mn</a:t>
            </a:r>
            <a:r>
              <a:rPr dirty="0" sz="2000" spc="-20">
                <a:latin typeface="Times New Roman"/>
                <a:cs typeface="Times New Roman"/>
              </a:rPr>
              <a:t>)</a:t>
            </a:r>
            <a:r>
              <a:rPr dirty="0" sz="2000" spc="-20" i="1">
                <a:latin typeface="Times New Roman"/>
                <a:cs typeface="Times New Roman"/>
              </a:rPr>
              <a:t>T</a:t>
            </a:r>
            <a:r>
              <a:rPr dirty="0" sz="2000" i="1">
                <a:latin typeface="Times New Roman"/>
                <a:cs typeface="Times New Roman"/>
              </a:rPr>
              <a:t>	</a:t>
            </a:r>
            <a:r>
              <a:rPr dirty="0" sz="2000">
                <a:latin typeface="Symbol"/>
                <a:cs typeface="Symbol"/>
              </a:rPr>
              <a:t></a:t>
            </a:r>
            <a:r>
              <a:rPr dirty="0" sz="2000" spc="-65">
                <a:latin typeface="Times New Roman"/>
                <a:cs typeface="Times New Roman"/>
              </a:rPr>
              <a:t> </a:t>
            </a:r>
            <a:r>
              <a:rPr dirty="0" sz="2000" spc="-25">
                <a:latin typeface="Times New Roman"/>
                <a:cs typeface="Times New Roman"/>
              </a:rPr>
              <a:t>(</a:t>
            </a:r>
            <a:r>
              <a:rPr dirty="0" sz="2000" spc="-25" i="1">
                <a:latin typeface="Times New Roman"/>
                <a:cs typeface="Times New Roman"/>
              </a:rPr>
              <a:t>T</a:t>
            </a:r>
            <a:endParaRPr sz="2000">
              <a:latin typeface="Times New Roman"/>
              <a:cs typeface="Times New Roman"/>
            </a:endParaRPr>
          </a:p>
        </p:txBody>
      </p:sp>
      <p:sp>
        <p:nvSpPr>
          <p:cNvPr id="25" name="object 25" descr=""/>
          <p:cNvSpPr txBox="1"/>
          <p:nvPr/>
        </p:nvSpPr>
        <p:spPr>
          <a:xfrm>
            <a:off x="3458012" y="2991661"/>
            <a:ext cx="1987550" cy="335915"/>
          </a:xfrm>
          <a:prstGeom prst="rect">
            <a:avLst/>
          </a:prstGeom>
        </p:spPr>
        <p:txBody>
          <a:bodyPr wrap="square" lIns="0" tIns="17145" rIns="0" bIns="0" rtlCol="0" vert="horz">
            <a:spAutoFit/>
          </a:bodyPr>
          <a:lstStyle/>
          <a:p>
            <a:pPr>
              <a:lnSpc>
                <a:spcPct val="100000"/>
              </a:lnSpc>
              <a:spcBef>
                <a:spcPts val="135"/>
              </a:spcBef>
              <a:tabLst>
                <a:tab pos="565150" algn="l"/>
                <a:tab pos="1247775" algn="l"/>
                <a:tab pos="1828800" algn="l"/>
              </a:tabLst>
            </a:pPr>
            <a:r>
              <a:rPr dirty="0" sz="2000" spc="-25">
                <a:latin typeface="Times New Roman"/>
                <a:cs typeface="Times New Roman"/>
              </a:rPr>
              <a:t>(</a:t>
            </a:r>
            <a:r>
              <a:rPr dirty="0" sz="2000" spc="-25" i="1">
                <a:latin typeface="Times New Roman"/>
                <a:cs typeface="Times New Roman"/>
              </a:rPr>
              <a:t>T</a:t>
            </a:r>
            <a:r>
              <a:rPr dirty="0" sz="2000" i="1">
                <a:latin typeface="Times New Roman"/>
                <a:cs typeface="Times New Roman"/>
              </a:rPr>
              <a:t>	</a:t>
            </a:r>
            <a:r>
              <a:rPr dirty="0" sz="2000">
                <a:latin typeface="Symbol"/>
                <a:cs typeface="Symbol"/>
              </a:rPr>
              <a:t></a:t>
            </a:r>
            <a:r>
              <a:rPr dirty="0" sz="2000" spc="-125">
                <a:latin typeface="Times New Roman"/>
                <a:cs typeface="Times New Roman"/>
              </a:rPr>
              <a:t> </a:t>
            </a:r>
            <a:r>
              <a:rPr dirty="0" sz="2000" spc="-25" i="1">
                <a:latin typeface="Times New Roman"/>
                <a:cs typeface="Times New Roman"/>
              </a:rPr>
              <a:t>n</a:t>
            </a:r>
            <a:r>
              <a:rPr dirty="0" sz="2000" spc="-25">
                <a:latin typeface="Times New Roman"/>
                <a:cs typeface="Times New Roman"/>
              </a:rPr>
              <a:t>)</a:t>
            </a:r>
            <a:r>
              <a:rPr dirty="0" sz="2000" spc="-25" i="1">
                <a:latin typeface="Times New Roman"/>
                <a:cs typeface="Times New Roman"/>
              </a:rPr>
              <a:t>T</a:t>
            </a:r>
            <a:r>
              <a:rPr dirty="0" sz="2000" i="1">
                <a:latin typeface="Times New Roman"/>
                <a:cs typeface="Times New Roman"/>
              </a:rPr>
              <a:t>	</a:t>
            </a:r>
            <a:r>
              <a:rPr dirty="0" sz="2000">
                <a:latin typeface="Symbol"/>
                <a:cs typeface="Symbol"/>
              </a:rPr>
              <a:t></a:t>
            </a:r>
            <a:r>
              <a:rPr dirty="0" sz="2000" spc="-60">
                <a:latin typeface="Times New Roman"/>
                <a:cs typeface="Times New Roman"/>
              </a:rPr>
              <a:t> </a:t>
            </a:r>
            <a:r>
              <a:rPr dirty="0" sz="2000" spc="-50">
                <a:latin typeface="Times New Roman"/>
                <a:cs typeface="Times New Roman"/>
              </a:rPr>
              <a:t>(</a:t>
            </a:r>
            <a:r>
              <a:rPr dirty="0" sz="2000">
                <a:latin typeface="Times New Roman"/>
                <a:cs typeface="Times New Roman"/>
              </a:rPr>
              <a:t>	</a:t>
            </a:r>
            <a:r>
              <a:rPr dirty="0" sz="2000" spc="-50" i="1">
                <a:latin typeface="Times New Roman"/>
                <a:cs typeface="Times New Roman"/>
              </a:rPr>
              <a:t>T</a:t>
            </a:r>
            <a:endParaRPr sz="2000">
              <a:latin typeface="Times New Roman"/>
              <a:cs typeface="Times New Roman"/>
            </a:endParaRPr>
          </a:p>
        </p:txBody>
      </p:sp>
      <p:sp>
        <p:nvSpPr>
          <p:cNvPr id="26" name="object 26" descr=""/>
          <p:cNvSpPr txBox="1"/>
          <p:nvPr/>
        </p:nvSpPr>
        <p:spPr>
          <a:xfrm>
            <a:off x="2520587" y="2991661"/>
            <a:ext cx="589280" cy="335915"/>
          </a:xfrm>
          <a:prstGeom prst="rect">
            <a:avLst/>
          </a:prstGeom>
        </p:spPr>
        <p:txBody>
          <a:bodyPr wrap="square" lIns="0" tIns="17145" rIns="0" bIns="0" rtlCol="0" vert="horz">
            <a:spAutoFit/>
          </a:bodyPr>
          <a:lstStyle/>
          <a:p>
            <a:pPr>
              <a:lnSpc>
                <a:spcPct val="100000"/>
              </a:lnSpc>
              <a:spcBef>
                <a:spcPts val="135"/>
              </a:spcBef>
              <a:tabLst>
                <a:tab pos="433070" algn="l"/>
              </a:tabLst>
            </a:pPr>
            <a:r>
              <a:rPr dirty="0" sz="2000" spc="-50" i="1">
                <a:latin typeface="Times New Roman"/>
                <a:cs typeface="Times New Roman"/>
              </a:rPr>
              <a:t>T</a:t>
            </a:r>
            <a:r>
              <a:rPr dirty="0" sz="2000" i="1">
                <a:latin typeface="Times New Roman"/>
                <a:cs typeface="Times New Roman"/>
              </a:rPr>
              <a:t>	</a:t>
            </a:r>
            <a:r>
              <a:rPr dirty="0" sz="2000" spc="-50">
                <a:latin typeface="Symbol"/>
                <a:cs typeface="Symbol"/>
              </a:rPr>
              <a:t></a:t>
            </a:r>
            <a:endParaRPr sz="2000">
              <a:latin typeface="Symbol"/>
              <a:cs typeface="Symbol"/>
            </a:endParaRPr>
          </a:p>
        </p:txBody>
      </p:sp>
      <p:sp>
        <p:nvSpPr>
          <p:cNvPr id="27" name="object 27" descr=""/>
          <p:cNvSpPr txBox="1"/>
          <p:nvPr/>
        </p:nvSpPr>
        <p:spPr>
          <a:xfrm>
            <a:off x="1642074" y="2991661"/>
            <a:ext cx="542925" cy="335915"/>
          </a:xfrm>
          <a:prstGeom prst="rect">
            <a:avLst/>
          </a:prstGeom>
        </p:spPr>
        <p:txBody>
          <a:bodyPr wrap="square" lIns="0" tIns="17145" rIns="0" bIns="0" rtlCol="0" vert="horz">
            <a:spAutoFit/>
          </a:bodyPr>
          <a:lstStyle/>
          <a:p>
            <a:pPr>
              <a:lnSpc>
                <a:spcPct val="100000"/>
              </a:lnSpc>
              <a:spcBef>
                <a:spcPts val="135"/>
              </a:spcBef>
              <a:tabLst>
                <a:tab pos="386080" algn="l"/>
              </a:tabLst>
            </a:pPr>
            <a:r>
              <a:rPr dirty="0" sz="2000" spc="-50" i="1">
                <a:latin typeface="Times New Roman"/>
                <a:cs typeface="Times New Roman"/>
              </a:rPr>
              <a:t>T</a:t>
            </a:r>
            <a:r>
              <a:rPr dirty="0" sz="2000" i="1">
                <a:latin typeface="Times New Roman"/>
                <a:cs typeface="Times New Roman"/>
              </a:rPr>
              <a:t>	</a:t>
            </a:r>
            <a:r>
              <a:rPr dirty="0" sz="2000" spc="-50">
                <a:latin typeface="Symbol"/>
                <a:cs typeface="Symbol"/>
              </a:rPr>
              <a:t></a:t>
            </a:r>
            <a:endParaRPr sz="2000">
              <a:latin typeface="Symbol"/>
              <a:cs typeface="Symbol"/>
            </a:endParaRPr>
          </a:p>
        </p:txBody>
      </p:sp>
      <p:sp>
        <p:nvSpPr>
          <p:cNvPr id="28" name="object 28" descr=""/>
          <p:cNvSpPr txBox="1"/>
          <p:nvPr/>
        </p:nvSpPr>
        <p:spPr>
          <a:xfrm>
            <a:off x="4551061" y="2926737"/>
            <a:ext cx="1167765" cy="490855"/>
          </a:xfrm>
          <a:prstGeom prst="rect">
            <a:avLst/>
          </a:prstGeom>
        </p:spPr>
        <p:txBody>
          <a:bodyPr wrap="square" lIns="0" tIns="13335" rIns="0" bIns="0" rtlCol="0" vert="horz">
            <a:spAutoFit/>
          </a:bodyPr>
          <a:lstStyle/>
          <a:p>
            <a:pPr>
              <a:lnSpc>
                <a:spcPct val="100000"/>
              </a:lnSpc>
              <a:spcBef>
                <a:spcPts val="105"/>
              </a:spcBef>
              <a:tabLst>
                <a:tab pos="442595" algn="l"/>
                <a:tab pos="869950" algn="l"/>
              </a:tabLst>
            </a:pPr>
            <a:r>
              <a:rPr dirty="0" sz="1150" spc="-50" i="1">
                <a:latin typeface="Times New Roman"/>
                <a:cs typeface="Times New Roman"/>
              </a:rPr>
              <a:t>c</a:t>
            </a:r>
            <a:r>
              <a:rPr dirty="0" sz="1150" i="1">
                <a:latin typeface="Times New Roman"/>
                <a:cs typeface="Times New Roman"/>
              </a:rPr>
              <a:t>	</a:t>
            </a:r>
            <a:r>
              <a:rPr dirty="0" sz="3050" spc="-50">
                <a:latin typeface="Symbol"/>
                <a:cs typeface="Symbol"/>
              </a:rPr>
              <a:t></a:t>
            </a:r>
            <a:r>
              <a:rPr dirty="0" sz="3050">
                <a:latin typeface="Times New Roman"/>
                <a:cs typeface="Times New Roman"/>
              </a:rPr>
              <a:t>	</a:t>
            </a:r>
            <a:r>
              <a:rPr dirty="0" sz="1150" spc="-20" i="1">
                <a:latin typeface="Times New Roman"/>
                <a:cs typeface="Times New Roman"/>
              </a:rPr>
              <a:t>start</a:t>
            </a:r>
            <a:endParaRPr sz="1150">
              <a:latin typeface="Times New Roman"/>
              <a:cs typeface="Times New Roman"/>
            </a:endParaRPr>
          </a:p>
        </p:txBody>
      </p:sp>
      <p:sp>
        <p:nvSpPr>
          <p:cNvPr id="29" name="object 29" descr=""/>
          <p:cNvSpPr txBox="1"/>
          <p:nvPr/>
        </p:nvSpPr>
        <p:spPr>
          <a:xfrm>
            <a:off x="1774781" y="2926737"/>
            <a:ext cx="744855" cy="490855"/>
          </a:xfrm>
          <a:prstGeom prst="rect">
            <a:avLst/>
          </a:prstGeom>
        </p:spPr>
        <p:txBody>
          <a:bodyPr wrap="square" lIns="0" tIns="13335" rIns="0" bIns="0" rtlCol="0" vert="horz">
            <a:spAutoFit/>
          </a:bodyPr>
          <a:lstStyle/>
          <a:p>
            <a:pPr>
              <a:lnSpc>
                <a:spcPct val="100000"/>
              </a:lnSpc>
              <a:spcBef>
                <a:spcPts val="105"/>
              </a:spcBef>
              <a:tabLst>
                <a:tab pos="452120" algn="l"/>
              </a:tabLst>
            </a:pPr>
            <a:r>
              <a:rPr dirty="0" sz="1150" spc="-25" i="1">
                <a:latin typeface="Times New Roman"/>
                <a:cs typeface="Times New Roman"/>
              </a:rPr>
              <a:t>all</a:t>
            </a:r>
            <a:r>
              <a:rPr dirty="0" sz="1150" i="1">
                <a:latin typeface="Times New Roman"/>
                <a:cs typeface="Times New Roman"/>
              </a:rPr>
              <a:t>	</a:t>
            </a:r>
            <a:r>
              <a:rPr dirty="0" sz="3050" spc="-50">
                <a:latin typeface="Symbol"/>
                <a:cs typeface="Symbol"/>
              </a:rPr>
              <a:t></a:t>
            </a:r>
            <a:endParaRPr sz="3050">
              <a:latin typeface="Symbol"/>
              <a:cs typeface="Symbol"/>
            </a:endParaRPr>
          </a:p>
        </p:txBody>
      </p:sp>
      <p:sp>
        <p:nvSpPr>
          <p:cNvPr id="30" name="object 30" descr=""/>
          <p:cNvSpPr txBox="1"/>
          <p:nvPr/>
        </p:nvSpPr>
        <p:spPr>
          <a:xfrm>
            <a:off x="5034089" y="3345944"/>
            <a:ext cx="217170" cy="207010"/>
          </a:xfrm>
          <a:prstGeom prst="rect">
            <a:avLst/>
          </a:prstGeom>
        </p:spPr>
        <p:txBody>
          <a:bodyPr wrap="square" lIns="0" tIns="17145" rIns="0" bIns="0" rtlCol="0" vert="horz">
            <a:spAutoFit/>
          </a:bodyPr>
          <a:lstStyle/>
          <a:p>
            <a:pPr>
              <a:lnSpc>
                <a:spcPct val="100000"/>
              </a:lnSpc>
              <a:spcBef>
                <a:spcPts val="135"/>
              </a:spcBef>
            </a:pPr>
            <a:r>
              <a:rPr dirty="0" sz="1150" spc="-25" i="1">
                <a:latin typeface="Times New Roman"/>
                <a:cs typeface="Times New Roman"/>
              </a:rPr>
              <a:t>i</a:t>
            </a:r>
            <a:r>
              <a:rPr dirty="0" sz="1150" spc="-25">
                <a:latin typeface="Symbol"/>
                <a:cs typeface="Symbol"/>
              </a:rPr>
              <a:t></a:t>
            </a:r>
            <a:r>
              <a:rPr dirty="0" sz="1150" spc="-25">
                <a:latin typeface="Times New Roman"/>
                <a:cs typeface="Times New Roman"/>
              </a:rPr>
              <a:t>1</a:t>
            </a:r>
            <a:endParaRPr sz="1150">
              <a:latin typeface="Times New Roman"/>
              <a:cs typeface="Times New Roman"/>
            </a:endParaRPr>
          </a:p>
        </p:txBody>
      </p:sp>
      <p:sp>
        <p:nvSpPr>
          <p:cNvPr id="31" name="object 31" descr=""/>
          <p:cNvSpPr txBox="1"/>
          <p:nvPr/>
        </p:nvSpPr>
        <p:spPr>
          <a:xfrm>
            <a:off x="2650645" y="2926737"/>
            <a:ext cx="1316355" cy="626110"/>
          </a:xfrm>
          <a:prstGeom prst="rect">
            <a:avLst/>
          </a:prstGeom>
        </p:spPr>
        <p:txBody>
          <a:bodyPr wrap="square" lIns="0" tIns="99060" rIns="0" bIns="0" rtlCol="0" vert="horz">
            <a:spAutoFit/>
          </a:bodyPr>
          <a:lstStyle/>
          <a:p>
            <a:pPr marL="542290" marR="5080" indent="-542925">
              <a:lnSpc>
                <a:spcPct val="81500"/>
              </a:lnSpc>
              <a:spcBef>
                <a:spcPts val="780"/>
              </a:spcBef>
              <a:tabLst>
                <a:tab pos="501650" algn="l"/>
                <a:tab pos="1018540" algn="l"/>
              </a:tabLst>
            </a:pPr>
            <a:r>
              <a:rPr dirty="0" sz="1150" spc="-25" i="1">
                <a:latin typeface="Times New Roman"/>
                <a:cs typeface="Times New Roman"/>
              </a:rPr>
              <a:t>vp</a:t>
            </a:r>
            <a:r>
              <a:rPr dirty="0" sz="1150" i="1">
                <a:latin typeface="Times New Roman"/>
                <a:cs typeface="Times New Roman"/>
              </a:rPr>
              <a:t>	</a:t>
            </a:r>
            <a:r>
              <a:rPr dirty="0" sz="3050" spc="-50">
                <a:latin typeface="Symbol"/>
                <a:cs typeface="Symbol"/>
              </a:rPr>
              <a:t></a:t>
            </a:r>
            <a:r>
              <a:rPr dirty="0" sz="3050">
                <a:latin typeface="Times New Roman"/>
                <a:cs typeface="Times New Roman"/>
              </a:rPr>
              <a:t>	</a:t>
            </a:r>
            <a:r>
              <a:rPr dirty="0" sz="1150" spc="-20" i="1">
                <a:latin typeface="Times New Roman"/>
                <a:cs typeface="Times New Roman"/>
              </a:rPr>
              <a:t>start</a:t>
            </a:r>
            <a:r>
              <a:rPr dirty="0" sz="1150" spc="-20" i="1">
                <a:latin typeface="Times New Roman"/>
                <a:cs typeface="Times New Roman"/>
              </a:rPr>
              <a:t> </a:t>
            </a:r>
            <a:r>
              <a:rPr dirty="0" sz="1150" spc="-25" i="1">
                <a:latin typeface="Times New Roman"/>
                <a:cs typeface="Times New Roman"/>
              </a:rPr>
              <a:t>i</a:t>
            </a:r>
            <a:r>
              <a:rPr dirty="0" sz="1150" spc="-25">
                <a:latin typeface="Symbol"/>
                <a:cs typeface="Symbol"/>
              </a:rPr>
              <a:t></a:t>
            </a:r>
            <a:r>
              <a:rPr dirty="0" sz="1150" spc="-25">
                <a:latin typeface="Times New Roman"/>
                <a:cs typeface="Times New Roman"/>
              </a:rPr>
              <a:t>1</a:t>
            </a:r>
            <a:endParaRPr sz="1150">
              <a:latin typeface="Times New Roman"/>
              <a:cs typeface="Times New Roman"/>
            </a:endParaRPr>
          </a:p>
        </p:txBody>
      </p:sp>
      <p:sp>
        <p:nvSpPr>
          <p:cNvPr id="32" name="object 32" descr=""/>
          <p:cNvSpPr txBox="1"/>
          <p:nvPr/>
        </p:nvSpPr>
        <p:spPr>
          <a:xfrm>
            <a:off x="2267394" y="3345944"/>
            <a:ext cx="217170" cy="207010"/>
          </a:xfrm>
          <a:prstGeom prst="rect">
            <a:avLst/>
          </a:prstGeom>
        </p:spPr>
        <p:txBody>
          <a:bodyPr wrap="square" lIns="0" tIns="17145" rIns="0" bIns="0" rtlCol="0" vert="horz">
            <a:spAutoFit/>
          </a:bodyPr>
          <a:lstStyle/>
          <a:p>
            <a:pPr>
              <a:lnSpc>
                <a:spcPct val="100000"/>
              </a:lnSpc>
              <a:spcBef>
                <a:spcPts val="135"/>
              </a:spcBef>
            </a:pPr>
            <a:r>
              <a:rPr dirty="0" sz="1150" spc="-25" i="1">
                <a:latin typeface="Times New Roman"/>
                <a:cs typeface="Times New Roman"/>
              </a:rPr>
              <a:t>i</a:t>
            </a:r>
            <a:r>
              <a:rPr dirty="0" sz="1150" spc="-25">
                <a:latin typeface="Symbol"/>
                <a:cs typeface="Symbol"/>
              </a:rPr>
              <a:t></a:t>
            </a:r>
            <a:r>
              <a:rPr dirty="0" sz="1150" spc="-25">
                <a:latin typeface="Times New Roman"/>
                <a:cs typeface="Times New Roman"/>
              </a:rPr>
              <a:t>1</a:t>
            </a:r>
            <a:endParaRPr sz="1150">
              <a:latin typeface="Times New Roman"/>
              <a:cs typeface="Times New Roman"/>
            </a:endParaRPr>
          </a:p>
        </p:txBody>
      </p:sp>
      <p:sp>
        <p:nvSpPr>
          <p:cNvPr id="33" name="object 33" descr=""/>
          <p:cNvSpPr/>
          <p:nvPr/>
        </p:nvSpPr>
        <p:spPr>
          <a:xfrm>
            <a:off x="3175000" y="4389437"/>
            <a:ext cx="1200150" cy="582930"/>
          </a:xfrm>
          <a:custGeom>
            <a:avLst/>
            <a:gdLst/>
            <a:ahLst/>
            <a:cxnLst/>
            <a:rect l="l" t="t" r="r" b="b"/>
            <a:pathLst>
              <a:path w="1200150" h="582929">
                <a:moveTo>
                  <a:pt x="1200150" y="0"/>
                </a:moveTo>
                <a:lnTo>
                  <a:pt x="0" y="0"/>
                </a:lnTo>
                <a:lnTo>
                  <a:pt x="0" y="582612"/>
                </a:lnTo>
                <a:lnTo>
                  <a:pt x="1200150" y="582612"/>
                </a:lnTo>
                <a:lnTo>
                  <a:pt x="1200150" y="0"/>
                </a:lnTo>
                <a:close/>
              </a:path>
            </a:pathLst>
          </a:custGeom>
          <a:solidFill>
            <a:srgbClr val="EAEAEA"/>
          </a:solidFill>
        </p:spPr>
        <p:txBody>
          <a:bodyPr wrap="square" lIns="0" tIns="0" rIns="0" bIns="0" rtlCol="0"/>
          <a:lstStyle/>
          <a:p/>
        </p:txBody>
      </p:sp>
      <p:sp>
        <p:nvSpPr>
          <p:cNvPr id="34" name="object 34" descr=""/>
          <p:cNvSpPr txBox="1"/>
          <p:nvPr/>
        </p:nvSpPr>
        <p:spPr>
          <a:xfrm>
            <a:off x="3821712" y="4390478"/>
            <a:ext cx="100965" cy="170180"/>
          </a:xfrm>
          <a:prstGeom prst="rect">
            <a:avLst/>
          </a:prstGeom>
        </p:spPr>
        <p:txBody>
          <a:bodyPr wrap="square" lIns="0" tIns="12700" rIns="0" bIns="0" rtlCol="0" vert="horz">
            <a:spAutoFit/>
          </a:bodyPr>
          <a:lstStyle/>
          <a:p>
            <a:pPr>
              <a:lnSpc>
                <a:spcPct val="100000"/>
              </a:lnSpc>
              <a:spcBef>
                <a:spcPts val="100"/>
              </a:spcBef>
            </a:pPr>
            <a:r>
              <a:rPr dirty="0" sz="950" spc="-50" i="1">
                <a:latin typeface="Times New Roman"/>
                <a:cs typeface="Times New Roman"/>
              </a:rPr>
              <a:t>m</a:t>
            </a:r>
            <a:endParaRPr sz="950">
              <a:latin typeface="Times New Roman"/>
              <a:cs typeface="Times New Roman"/>
            </a:endParaRPr>
          </a:p>
        </p:txBody>
      </p:sp>
      <p:sp>
        <p:nvSpPr>
          <p:cNvPr id="35" name="object 35" descr=""/>
          <p:cNvSpPr txBox="1"/>
          <p:nvPr/>
        </p:nvSpPr>
        <p:spPr>
          <a:xfrm>
            <a:off x="3755587" y="4461307"/>
            <a:ext cx="582295" cy="398145"/>
          </a:xfrm>
          <a:prstGeom prst="rect">
            <a:avLst/>
          </a:prstGeom>
        </p:spPr>
        <p:txBody>
          <a:bodyPr wrap="square" lIns="0" tIns="12065" rIns="0" bIns="0" rtlCol="0" vert="horz">
            <a:spAutoFit/>
          </a:bodyPr>
          <a:lstStyle/>
          <a:p>
            <a:pPr>
              <a:lnSpc>
                <a:spcPct val="100000"/>
              </a:lnSpc>
              <a:spcBef>
                <a:spcPts val="95"/>
              </a:spcBef>
            </a:pPr>
            <a:r>
              <a:rPr dirty="0" baseline="1133" sz="3675">
                <a:latin typeface="Symbol"/>
                <a:cs typeface="Symbol"/>
              </a:rPr>
              <a:t></a:t>
            </a:r>
            <a:r>
              <a:rPr dirty="0" baseline="1133" sz="3675" spc="457">
                <a:latin typeface="Times New Roman"/>
                <a:cs typeface="Times New Roman"/>
              </a:rPr>
              <a:t> </a:t>
            </a:r>
            <a:r>
              <a:rPr dirty="0" sz="950" spc="-10" i="1">
                <a:latin typeface="Times New Roman"/>
                <a:cs typeface="Times New Roman"/>
              </a:rPr>
              <a:t>start</a:t>
            </a:r>
            <a:endParaRPr sz="950">
              <a:latin typeface="Times New Roman"/>
              <a:cs typeface="Times New Roman"/>
            </a:endParaRPr>
          </a:p>
        </p:txBody>
      </p:sp>
      <p:sp>
        <p:nvSpPr>
          <p:cNvPr id="36" name="object 36" descr=""/>
          <p:cNvSpPr txBox="1"/>
          <p:nvPr/>
        </p:nvSpPr>
        <p:spPr>
          <a:xfrm>
            <a:off x="3300865" y="4651239"/>
            <a:ext cx="240665" cy="170180"/>
          </a:xfrm>
          <a:prstGeom prst="rect">
            <a:avLst/>
          </a:prstGeom>
        </p:spPr>
        <p:txBody>
          <a:bodyPr wrap="square" lIns="0" tIns="12700" rIns="0" bIns="0" rtlCol="0" vert="horz">
            <a:spAutoFit/>
          </a:bodyPr>
          <a:lstStyle/>
          <a:p>
            <a:pPr>
              <a:lnSpc>
                <a:spcPct val="100000"/>
              </a:lnSpc>
              <a:spcBef>
                <a:spcPts val="100"/>
              </a:spcBef>
            </a:pPr>
            <a:r>
              <a:rPr dirty="0" sz="950" spc="-10" i="1">
                <a:latin typeface="Times New Roman"/>
                <a:cs typeface="Times New Roman"/>
              </a:rPr>
              <a:t>start</a:t>
            </a:r>
            <a:endParaRPr sz="950">
              <a:latin typeface="Times New Roman"/>
              <a:cs typeface="Times New Roman"/>
            </a:endParaRPr>
          </a:p>
        </p:txBody>
      </p:sp>
      <p:sp>
        <p:nvSpPr>
          <p:cNvPr id="37" name="object 37" descr=""/>
          <p:cNvSpPr txBox="1"/>
          <p:nvPr/>
        </p:nvSpPr>
        <p:spPr>
          <a:xfrm>
            <a:off x="3193222" y="4513184"/>
            <a:ext cx="925830" cy="274320"/>
          </a:xfrm>
          <a:prstGeom prst="rect">
            <a:avLst/>
          </a:prstGeom>
        </p:spPr>
        <p:txBody>
          <a:bodyPr wrap="square" lIns="0" tIns="16510" rIns="0" bIns="0" rtlCol="0" vert="horz">
            <a:spAutoFit/>
          </a:bodyPr>
          <a:lstStyle/>
          <a:p>
            <a:pPr>
              <a:lnSpc>
                <a:spcPct val="100000"/>
              </a:lnSpc>
              <a:spcBef>
                <a:spcPts val="130"/>
              </a:spcBef>
              <a:tabLst>
                <a:tab pos="403225" algn="l"/>
                <a:tab pos="796290" algn="l"/>
              </a:tabLst>
            </a:pPr>
            <a:r>
              <a:rPr dirty="0" sz="1600" spc="-50" i="1">
                <a:latin typeface="Times New Roman"/>
                <a:cs typeface="Times New Roman"/>
              </a:rPr>
              <a:t>T</a:t>
            </a:r>
            <a:r>
              <a:rPr dirty="0" sz="1600" i="1">
                <a:latin typeface="Times New Roman"/>
                <a:cs typeface="Times New Roman"/>
              </a:rPr>
              <a:t>	</a:t>
            </a:r>
            <a:r>
              <a:rPr dirty="0" sz="1600" spc="-50">
                <a:latin typeface="Symbol"/>
                <a:cs typeface="Symbol"/>
              </a:rPr>
              <a:t></a:t>
            </a:r>
            <a:r>
              <a:rPr dirty="0" sz="1600">
                <a:latin typeface="Times New Roman"/>
                <a:cs typeface="Times New Roman"/>
              </a:rPr>
              <a:t>	</a:t>
            </a:r>
            <a:r>
              <a:rPr dirty="0" sz="1600" spc="-50" i="1">
                <a:latin typeface="Times New Roman"/>
                <a:cs typeface="Times New Roman"/>
              </a:rPr>
              <a:t>T</a:t>
            </a:r>
            <a:endParaRPr sz="1600">
              <a:latin typeface="Times New Roman"/>
              <a:cs typeface="Times New Roman"/>
            </a:endParaRPr>
          </a:p>
        </p:txBody>
      </p:sp>
      <p:sp>
        <p:nvSpPr>
          <p:cNvPr id="38" name="object 38" descr=""/>
          <p:cNvSpPr txBox="1"/>
          <p:nvPr/>
        </p:nvSpPr>
        <p:spPr>
          <a:xfrm>
            <a:off x="3787375" y="4796893"/>
            <a:ext cx="176530" cy="170180"/>
          </a:xfrm>
          <a:prstGeom prst="rect">
            <a:avLst/>
          </a:prstGeom>
        </p:spPr>
        <p:txBody>
          <a:bodyPr wrap="square" lIns="0" tIns="12700" rIns="0" bIns="0" rtlCol="0" vert="horz">
            <a:spAutoFit/>
          </a:bodyPr>
          <a:lstStyle/>
          <a:p>
            <a:pPr>
              <a:lnSpc>
                <a:spcPct val="100000"/>
              </a:lnSpc>
              <a:spcBef>
                <a:spcPts val="100"/>
              </a:spcBef>
            </a:pPr>
            <a:r>
              <a:rPr dirty="0" sz="950" spc="-25" i="1">
                <a:latin typeface="Times New Roman"/>
                <a:cs typeface="Times New Roman"/>
              </a:rPr>
              <a:t>i</a:t>
            </a:r>
            <a:r>
              <a:rPr dirty="0" sz="950" spc="-25">
                <a:latin typeface="Symbol"/>
                <a:cs typeface="Symbol"/>
              </a:rPr>
              <a:t></a:t>
            </a:r>
            <a:r>
              <a:rPr dirty="0" sz="950" spc="-25">
                <a:latin typeface="Times New Roman"/>
                <a:cs typeface="Times New Roman"/>
              </a:rPr>
              <a:t>1</a:t>
            </a:r>
            <a:endParaRPr sz="950">
              <a:latin typeface="Times New Roman"/>
              <a:cs typeface="Times New Roman"/>
            </a:endParaRPr>
          </a:p>
        </p:txBody>
      </p:sp>
      <p:sp>
        <p:nvSpPr>
          <p:cNvPr id="39" name="object 39" descr=""/>
          <p:cNvSpPr txBox="1"/>
          <p:nvPr/>
        </p:nvSpPr>
        <p:spPr>
          <a:xfrm>
            <a:off x="4137010" y="4507262"/>
            <a:ext cx="143510" cy="170180"/>
          </a:xfrm>
          <a:prstGeom prst="rect">
            <a:avLst/>
          </a:prstGeom>
        </p:spPr>
        <p:txBody>
          <a:bodyPr wrap="square" lIns="0" tIns="12700" rIns="0" bIns="0" rtlCol="0" vert="horz">
            <a:spAutoFit/>
          </a:bodyPr>
          <a:lstStyle/>
          <a:p>
            <a:pPr>
              <a:lnSpc>
                <a:spcPct val="100000"/>
              </a:lnSpc>
              <a:spcBef>
                <a:spcPts val="100"/>
              </a:spcBef>
            </a:pPr>
            <a:r>
              <a:rPr dirty="0" sz="950" spc="-25">
                <a:latin typeface="Times New Roman"/>
                <a:cs typeface="Times New Roman"/>
              </a:rPr>
              <a:t>(</a:t>
            </a:r>
            <a:r>
              <a:rPr dirty="0" sz="950" spc="-25" i="1">
                <a:latin typeface="Times New Roman"/>
                <a:cs typeface="Times New Roman"/>
              </a:rPr>
              <a:t>i</a:t>
            </a:r>
            <a:r>
              <a:rPr dirty="0" sz="950" spc="-25">
                <a:latin typeface="Times New Roman"/>
                <a:cs typeface="Times New Roman"/>
              </a:rPr>
              <a:t>)</a:t>
            </a:r>
            <a:endParaRPr sz="95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222044" y="1219895"/>
            <a:ext cx="6994525" cy="695960"/>
          </a:xfrm>
          <a:prstGeom prst="rect">
            <a:avLst/>
          </a:prstGeom>
        </p:spPr>
        <p:txBody>
          <a:bodyPr wrap="square" lIns="0" tIns="42545" rIns="0" bIns="0" rtlCol="0" vert="horz">
            <a:spAutoFit/>
          </a:bodyPr>
          <a:lstStyle/>
          <a:p>
            <a:pPr marL="585470">
              <a:lnSpc>
                <a:spcPct val="100000"/>
              </a:lnSpc>
              <a:spcBef>
                <a:spcPts val="335"/>
              </a:spcBef>
            </a:pPr>
            <a:r>
              <a:rPr dirty="0" sz="2000" spc="-10" b="1">
                <a:solidFill>
                  <a:srgbClr val="E14B04"/>
                </a:solidFill>
                <a:latin typeface="宋体"/>
                <a:cs typeface="宋体"/>
              </a:rPr>
              <a:t>例</a:t>
            </a:r>
            <a:r>
              <a:rPr dirty="0" sz="2000" b="1">
                <a:solidFill>
                  <a:srgbClr val="E14B04"/>
                </a:solidFill>
                <a:latin typeface="宋体"/>
                <a:cs typeface="宋体"/>
              </a:rPr>
              <a:t>4.4</a:t>
            </a:r>
            <a:r>
              <a:rPr dirty="0" sz="2000" spc="-50" b="1">
                <a:solidFill>
                  <a:srgbClr val="E14B04"/>
                </a:solidFill>
                <a:latin typeface="宋体"/>
                <a:cs typeface="宋体"/>
              </a:rPr>
              <a:t> </a:t>
            </a:r>
            <a:r>
              <a:rPr dirty="0" sz="2000" spc="-20" b="1">
                <a:latin typeface="宋体"/>
                <a:cs typeface="宋体"/>
              </a:rPr>
              <a:t>假设每种向量功能部件只有一个，</a:t>
            </a:r>
            <a:r>
              <a:rPr dirty="0" sz="2000" spc="-25" b="1">
                <a:solidFill>
                  <a:srgbClr val="080808"/>
                </a:solidFill>
                <a:latin typeface="宋体"/>
                <a:cs typeface="宋体"/>
              </a:rPr>
              <a:t>而且不考虑向量</a:t>
            </a:r>
            <a:endParaRPr sz="2000">
              <a:latin typeface="宋体"/>
              <a:cs typeface="宋体"/>
            </a:endParaRPr>
          </a:p>
          <a:p>
            <a:pPr marL="12700">
              <a:lnSpc>
                <a:spcPct val="100000"/>
              </a:lnSpc>
              <a:spcBef>
                <a:spcPts val="240"/>
              </a:spcBef>
            </a:pPr>
            <a:r>
              <a:rPr dirty="0" sz="2000" spc="-15" b="1">
                <a:solidFill>
                  <a:srgbClr val="080808"/>
                </a:solidFill>
                <a:latin typeface="宋体"/>
                <a:cs typeface="宋体"/>
              </a:rPr>
              <a:t>链接，</a:t>
            </a:r>
            <a:r>
              <a:rPr dirty="0" sz="2000" spc="-30" b="1">
                <a:latin typeface="宋体"/>
                <a:cs typeface="宋体"/>
              </a:rPr>
              <a:t>那么下面的一组向量指令能分成几个编队？</a:t>
            </a:r>
            <a:endParaRPr sz="2000">
              <a:latin typeface="宋体"/>
              <a:cs typeface="宋体"/>
            </a:endParaRPr>
          </a:p>
        </p:txBody>
      </p:sp>
      <p:graphicFrame>
        <p:nvGraphicFramePr>
          <p:cNvPr id="11" name="object 11" descr=""/>
          <p:cNvGraphicFramePr>
            <a:graphicFrameLocks noGrp="1"/>
          </p:cNvGraphicFramePr>
          <p:nvPr/>
        </p:nvGraphicFramePr>
        <p:xfrm>
          <a:off x="1317244" y="2021739"/>
          <a:ext cx="7111365" cy="2304415"/>
        </p:xfrm>
        <a:graphic>
          <a:graphicData uri="http://schemas.openxmlformats.org/drawingml/2006/table">
            <a:tbl>
              <a:tblPr firstRow="1" bandRow="1">
                <a:tableStyleId>{2D5ABB26-0587-4C30-8999-92F81FD0307C}</a:tableStyleId>
              </a:tblPr>
              <a:tblGrid>
                <a:gridCol w="2169795"/>
                <a:gridCol w="1633220"/>
                <a:gridCol w="3232150"/>
              </a:tblGrid>
              <a:tr h="338455">
                <a:tc>
                  <a:txBody>
                    <a:bodyPr/>
                    <a:lstStyle/>
                    <a:p>
                      <a:pPr marL="974725">
                        <a:lnSpc>
                          <a:spcPts val="2185"/>
                        </a:lnSpc>
                      </a:pPr>
                      <a:r>
                        <a:rPr dirty="0" sz="2000" spc="-25" b="1">
                          <a:solidFill>
                            <a:srgbClr val="40458B"/>
                          </a:solidFill>
                          <a:latin typeface="宋体"/>
                          <a:cs typeface="宋体"/>
                        </a:rPr>
                        <a:t>LV</a:t>
                      </a:r>
                      <a:endParaRPr sz="2000">
                        <a:latin typeface="宋体"/>
                        <a:cs typeface="宋体"/>
                      </a:endParaRPr>
                    </a:p>
                  </a:txBody>
                  <a:tcPr marL="0" marR="0" marB="0" marT="0"/>
                </a:tc>
                <a:tc>
                  <a:txBody>
                    <a:bodyPr/>
                    <a:lstStyle/>
                    <a:p>
                      <a:pPr marL="89535">
                        <a:lnSpc>
                          <a:spcPts val="2185"/>
                        </a:lnSpc>
                      </a:pPr>
                      <a:r>
                        <a:rPr dirty="0" sz="2000" spc="-10" b="1">
                          <a:solidFill>
                            <a:srgbClr val="40458B"/>
                          </a:solidFill>
                          <a:latin typeface="宋体"/>
                          <a:cs typeface="宋体"/>
                        </a:rPr>
                        <a:t>V1，Rx</a:t>
                      </a:r>
                      <a:endParaRPr sz="2000">
                        <a:latin typeface="宋体"/>
                        <a:cs typeface="宋体"/>
                      </a:endParaRPr>
                    </a:p>
                  </a:txBody>
                  <a:tcPr marL="0" marR="0" marB="0" marT="0"/>
                </a:tc>
                <a:tc>
                  <a:txBody>
                    <a:bodyPr/>
                    <a:lstStyle/>
                    <a:p>
                      <a:pPr marL="257175">
                        <a:lnSpc>
                          <a:spcPts val="2185"/>
                        </a:lnSpc>
                      </a:pPr>
                      <a:r>
                        <a:rPr dirty="0" sz="2000" spc="-5" b="1">
                          <a:solidFill>
                            <a:srgbClr val="00AFEF"/>
                          </a:solidFill>
                          <a:latin typeface="Times New Roman"/>
                          <a:cs typeface="Times New Roman"/>
                        </a:rPr>
                        <a:t>// </a:t>
                      </a:r>
                      <a:r>
                        <a:rPr dirty="0" sz="2000" spc="-10" b="1">
                          <a:solidFill>
                            <a:srgbClr val="00AFEF"/>
                          </a:solidFill>
                          <a:latin typeface="宋体"/>
                          <a:cs typeface="宋体"/>
                        </a:rPr>
                        <a:t>取向量</a:t>
                      </a:r>
                      <a:r>
                        <a:rPr dirty="0" sz="2000" spc="-50" b="1">
                          <a:solidFill>
                            <a:srgbClr val="00AFEF"/>
                          </a:solidFill>
                          <a:latin typeface="Times New Roman"/>
                          <a:cs typeface="Times New Roman"/>
                        </a:rPr>
                        <a:t>x</a:t>
                      </a:r>
                      <a:endParaRPr sz="2000">
                        <a:latin typeface="Times New Roman"/>
                        <a:cs typeface="Times New Roman"/>
                      </a:endParaRPr>
                    </a:p>
                  </a:txBody>
                  <a:tcPr marL="0" marR="0" marB="0" marT="0"/>
                </a:tc>
              </a:tr>
              <a:tr h="395605">
                <a:tc>
                  <a:txBody>
                    <a:bodyPr/>
                    <a:lstStyle/>
                    <a:p>
                      <a:pPr marL="974725">
                        <a:lnSpc>
                          <a:spcPct val="100000"/>
                        </a:lnSpc>
                        <a:spcBef>
                          <a:spcPts val="235"/>
                        </a:spcBef>
                      </a:pPr>
                      <a:r>
                        <a:rPr dirty="0" sz="2000" spc="-10" b="1">
                          <a:solidFill>
                            <a:srgbClr val="40458B"/>
                          </a:solidFill>
                          <a:latin typeface="宋体"/>
                          <a:cs typeface="宋体"/>
                        </a:rPr>
                        <a:t>MULTSV</a:t>
                      </a:r>
                      <a:endParaRPr sz="2000">
                        <a:latin typeface="宋体"/>
                        <a:cs typeface="宋体"/>
                      </a:endParaRPr>
                    </a:p>
                  </a:txBody>
                  <a:tcPr marL="0" marR="0" marB="0" marT="29845"/>
                </a:tc>
                <a:tc>
                  <a:txBody>
                    <a:bodyPr/>
                    <a:lstStyle/>
                    <a:p>
                      <a:pPr marL="89535">
                        <a:lnSpc>
                          <a:spcPct val="100000"/>
                        </a:lnSpc>
                        <a:spcBef>
                          <a:spcPts val="235"/>
                        </a:spcBef>
                      </a:pPr>
                      <a:r>
                        <a:rPr dirty="0" sz="2000" spc="-10" b="1">
                          <a:solidFill>
                            <a:srgbClr val="40458B"/>
                          </a:solidFill>
                          <a:latin typeface="宋体"/>
                          <a:cs typeface="宋体"/>
                        </a:rPr>
                        <a:t>V2，R0，V1</a:t>
                      </a:r>
                      <a:endParaRPr sz="2000">
                        <a:latin typeface="宋体"/>
                        <a:cs typeface="宋体"/>
                      </a:endParaRPr>
                    </a:p>
                  </a:txBody>
                  <a:tcPr marL="0" marR="0" marB="0" marT="29845"/>
                </a:tc>
                <a:tc>
                  <a:txBody>
                    <a:bodyPr/>
                    <a:lstStyle/>
                    <a:p>
                      <a:pPr marL="255270">
                        <a:lnSpc>
                          <a:spcPct val="100000"/>
                        </a:lnSpc>
                        <a:spcBef>
                          <a:spcPts val="235"/>
                        </a:spcBef>
                      </a:pPr>
                      <a:r>
                        <a:rPr dirty="0" sz="2000" spc="-5" b="1">
                          <a:solidFill>
                            <a:srgbClr val="080808"/>
                          </a:solidFill>
                          <a:latin typeface="Times New Roman"/>
                          <a:cs typeface="Times New Roman"/>
                        </a:rPr>
                        <a:t>// </a:t>
                      </a:r>
                      <a:r>
                        <a:rPr dirty="0" sz="2000" spc="-10" b="1">
                          <a:solidFill>
                            <a:srgbClr val="080808"/>
                          </a:solidFill>
                          <a:latin typeface="宋体"/>
                          <a:cs typeface="宋体"/>
                        </a:rPr>
                        <a:t>向量</a:t>
                      </a:r>
                      <a:r>
                        <a:rPr dirty="0" sz="2000" b="1">
                          <a:solidFill>
                            <a:srgbClr val="080808"/>
                          </a:solidFill>
                          <a:latin typeface="Times New Roman"/>
                          <a:cs typeface="Times New Roman"/>
                        </a:rPr>
                        <a:t>x</a:t>
                      </a:r>
                      <a:r>
                        <a:rPr dirty="0" sz="2000" spc="-10" b="1">
                          <a:solidFill>
                            <a:srgbClr val="080808"/>
                          </a:solidFill>
                          <a:latin typeface="宋体"/>
                          <a:cs typeface="宋体"/>
                        </a:rPr>
                        <a:t>和标量（</a:t>
                      </a:r>
                      <a:r>
                        <a:rPr dirty="0" sz="2000" spc="-10" b="1">
                          <a:solidFill>
                            <a:srgbClr val="080808"/>
                          </a:solidFill>
                          <a:latin typeface="Times New Roman"/>
                          <a:cs typeface="Times New Roman"/>
                        </a:rPr>
                        <a:t>R0</a:t>
                      </a:r>
                      <a:r>
                        <a:rPr dirty="0" sz="2000" spc="-10" b="1">
                          <a:solidFill>
                            <a:srgbClr val="080808"/>
                          </a:solidFill>
                          <a:latin typeface="宋体"/>
                          <a:cs typeface="宋体"/>
                        </a:rPr>
                        <a:t>）</a:t>
                      </a:r>
                      <a:r>
                        <a:rPr dirty="0" sz="2000" spc="-30" b="1">
                          <a:solidFill>
                            <a:srgbClr val="080808"/>
                          </a:solidFill>
                          <a:latin typeface="宋体"/>
                          <a:cs typeface="宋体"/>
                        </a:rPr>
                        <a:t>相乘</a:t>
                      </a:r>
                      <a:endParaRPr sz="2000">
                        <a:latin typeface="宋体"/>
                        <a:cs typeface="宋体"/>
                      </a:endParaRPr>
                    </a:p>
                  </a:txBody>
                  <a:tcPr marL="0" marR="0" marB="0" marT="29845"/>
                </a:tc>
              </a:tr>
              <a:tr h="396240">
                <a:tc>
                  <a:txBody>
                    <a:bodyPr/>
                    <a:lstStyle/>
                    <a:p>
                      <a:pPr marL="974725">
                        <a:lnSpc>
                          <a:spcPct val="100000"/>
                        </a:lnSpc>
                        <a:spcBef>
                          <a:spcPts val="235"/>
                        </a:spcBef>
                      </a:pPr>
                      <a:r>
                        <a:rPr dirty="0" sz="2000" spc="-25" b="1">
                          <a:solidFill>
                            <a:srgbClr val="40458B"/>
                          </a:solidFill>
                          <a:latin typeface="宋体"/>
                          <a:cs typeface="宋体"/>
                        </a:rPr>
                        <a:t>LV</a:t>
                      </a:r>
                      <a:endParaRPr sz="2000">
                        <a:latin typeface="宋体"/>
                        <a:cs typeface="宋体"/>
                      </a:endParaRPr>
                    </a:p>
                  </a:txBody>
                  <a:tcPr marL="0" marR="0" marB="0" marT="29845"/>
                </a:tc>
                <a:tc>
                  <a:txBody>
                    <a:bodyPr/>
                    <a:lstStyle/>
                    <a:p>
                      <a:pPr marL="89535">
                        <a:lnSpc>
                          <a:spcPct val="100000"/>
                        </a:lnSpc>
                        <a:spcBef>
                          <a:spcPts val="235"/>
                        </a:spcBef>
                      </a:pPr>
                      <a:r>
                        <a:rPr dirty="0" sz="2000" spc="-10" b="1">
                          <a:solidFill>
                            <a:srgbClr val="40458B"/>
                          </a:solidFill>
                          <a:latin typeface="宋体"/>
                          <a:cs typeface="宋体"/>
                        </a:rPr>
                        <a:t>V3，Ry</a:t>
                      </a:r>
                      <a:endParaRPr sz="2000">
                        <a:latin typeface="宋体"/>
                        <a:cs typeface="宋体"/>
                      </a:endParaRPr>
                    </a:p>
                  </a:txBody>
                  <a:tcPr marL="0" marR="0" marB="0" marT="29845"/>
                </a:tc>
                <a:tc>
                  <a:txBody>
                    <a:bodyPr/>
                    <a:lstStyle/>
                    <a:p>
                      <a:pPr marL="257175">
                        <a:lnSpc>
                          <a:spcPct val="100000"/>
                        </a:lnSpc>
                        <a:spcBef>
                          <a:spcPts val="235"/>
                        </a:spcBef>
                      </a:pPr>
                      <a:r>
                        <a:rPr dirty="0" sz="2000" spc="-5" b="1">
                          <a:solidFill>
                            <a:srgbClr val="00AFEF"/>
                          </a:solidFill>
                          <a:latin typeface="Times New Roman"/>
                          <a:cs typeface="Times New Roman"/>
                        </a:rPr>
                        <a:t>// </a:t>
                      </a:r>
                      <a:r>
                        <a:rPr dirty="0" sz="2000" spc="-10" b="1">
                          <a:solidFill>
                            <a:srgbClr val="00AFEF"/>
                          </a:solidFill>
                          <a:latin typeface="宋体"/>
                          <a:cs typeface="宋体"/>
                        </a:rPr>
                        <a:t>取向量</a:t>
                      </a:r>
                      <a:r>
                        <a:rPr dirty="0" sz="2000" spc="-50" b="1">
                          <a:solidFill>
                            <a:srgbClr val="00AFEF"/>
                          </a:solidFill>
                          <a:latin typeface="Times New Roman"/>
                          <a:cs typeface="Times New Roman"/>
                        </a:rPr>
                        <a:t>y</a:t>
                      </a:r>
                      <a:endParaRPr sz="2000">
                        <a:latin typeface="Times New Roman"/>
                        <a:cs typeface="Times New Roman"/>
                      </a:endParaRPr>
                    </a:p>
                  </a:txBody>
                  <a:tcPr marL="0" marR="0" marB="0" marT="29845"/>
                </a:tc>
              </a:tr>
              <a:tr h="396240">
                <a:tc>
                  <a:txBody>
                    <a:bodyPr/>
                    <a:lstStyle/>
                    <a:p>
                      <a:pPr marL="974725">
                        <a:lnSpc>
                          <a:spcPct val="100000"/>
                        </a:lnSpc>
                        <a:spcBef>
                          <a:spcPts val="235"/>
                        </a:spcBef>
                      </a:pPr>
                      <a:r>
                        <a:rPr dirty="0" sz="2000" spc="-20" b="1">
                          <a:solidFill>
                            <a:srgbClr val="40458B"/>
                          </a:solidFill>
                          <a:latin typeface="宋体"/>
                          <a:cs typeface="宋体"/>
                        </a:rPr>
                        <a:t>ADDV</a:t>
                      </a:r>
                      <a:endParaRPr sz="2000">
                        <a:latin typeface="宋体"/>
                        <a:cs typeface="宋体"/>
                      </a:endParaRPr>
                    </a:p>
                  </a:txBody>
                  <a:tcPr marL="0" marR="0" marB="0" marT="29845"/>
                </a:tc>
                <a:tc>
                  <a:txBody>
                    <a:bodyPr/>
                    <a:lstStyle/>
                    <a:p>
                      <a:pPr marL="89535">
                        <a:lnSpc>
                          <a:spcPct val="100000"/>
                        </a:lnSpc>
                        <a:spcBef>
                          <a:spcPts val="235"/>
                        </a:spcBef>
                      </a:pPr>
                      <a:r>
                        <a:rPr dirty="0" sz="2000" spc="-10" b="1">
                          <a:solidFill>
                            <a:srgbClr val="40458B"/>
                          </a:solidFill>
                          <a:latin typeface="宋体"/>
                          <a:cs typeface="宋体"/>
                        </a:rPr>
                        <a:t>V4，V2，V3</a:t>
                      </a:r>
                      <a:endParaRPr sz="2000">
                        <a:latin typeface="宋体"/>
                        <a:cs typeface="宋体"/>
                      </a:endParaRPr>
                    </a:p>
                  </a:txBody>
                  <a:tcPr marL="0" marR="0" marB="0" marT="29845"/>
                </a:tc>
                <a:tc>
                  <a:txBody>
                    <a:bodyPr/>
                    <a:lstStyle/>
                    <a:p>
                      <a:pPr marL="255270">
                        <a:lnSpc>
                          <a:spcPct val="100000"/>
                        </a:lnSpc>
                        <a:spcBef>
                          <a:spcPts val="235"/>
                        </a:spcBef>
                      </a:pPr>
                      <a:r>
                        <a:rPr dirty="0" sz="2000" b="1">
                          <a:solidFill>
                            <a:srgbClr val="00AFEF"/>
                          </a:solidFill>
                          <a:latin typeface="Times New Roman"/>
                          <a:cs typeface="Times New Roman"/>
                        </a:rPr>
                        <a:t>// </a:t>
                      </a:r>
                      <a:r>
                        <a:rPr dirty="0" sz="2000" spc="-10" b="1">
                          <a:solidFill>
                            <a:srgbClr val="00AFEF"/>
                          </a:solidFill>
                          <a:latin typeface="宋体"/>
                          <a:cs typeface="宋体"/>
                        </a:rPr>
                        <a:t>相加，结果保存到</a:t>
                      </a:r>
                      <a:r>
                        <a:rPr dirty="0" sz="2000" spc="-10" b="1">
                          <a:solidFill>
                            <a:srgbClr val="00AFEF"/>
                          </a:solidFill>
                          <a:latin typeface="Times New Roman"/>
                          <a:cs typeface="Times New Roman"/>
                        </a:rPr>
                        <a:t>V4</a:t>
                      </a:r>
                      <a:r>
                        <a:rPr dirty="0" sz="2000" spc="-50" b="1">
                          <a:solidFill>
                            <a:srgbClr val="00AFEF"/>
                          </a:solidFill>
                          <a:latin typeface="宋体"/>
                          <a:cs typeface="宋体"/>
                        </a:rPr>
                        <a:t>中</a:t>
                      </a:r>
                      <a:endParaRPr sz="2000">
                        <a:latin typeface="宋体"/>
                        <a:cs typeface="宋体"/>
                      </a:endParaRPr>
                    </a:p>
                  </a:txBody>
                  <a:tcPr marL="0" marR="0" marB="0" marT="29845"/>
                </a:tc>
              </a:tr>
              <a:tr h="777875">
                <a:tc>
                  <a:txBody>
                    <a:bodyPr/>
                    <a:lstStyle/>
                    <a:p>
                      <a:pPr algn="ctr" marL="36830">
                        <a:lnSpc>
                          <a:spcPct val="100000"/>
                        </a:lnSpc>
                        <a:spcBef>
                          <a:spcPts val="235"/>
                        </a:spcBef>
                      </a:pPr>
                      <a:r>
                        <a:rPr dirty="0" sz="2000" spc="-25" b="1">
                          <a:solidFill>
                            <a:srgbClr val="40458B"/>
                          </a:solidFill>
                          <a:latin typeface="宋体"/>
                          <a:cs typeface="宋体"/>
                        </a:rPr>
                        <a:t>SV</a:t>
                      </a:r>
                      <a:endParaRPr sz="2000">
                        <a:latin typeface="宋体"/>
                        <a:cs typeface="宋体"/>
                      </a:endParaRPr>
                    </a:p>
                    <a:p>
                      <a:pPr marL="31750">
                        <a:lnSpc>
                          <a:spcPts val="2180"/>
                        </a:lnSpc>
                        <a:spcBef>
                          <a:spcPts val="1210"/>
                        </a:spcBef>
                      </a:pPr>
                      <a:r>
                        <a:rPr dirty="0" sz="2000" spc="-10" b="1">
                          <a:solidFill>
                            <a:srgbClr val="E14B04"/>
                          </a:solidFill>
                          <a:latin typeface="宋体"/>
                          <a:cs typeface="宋体"/>
                        </a:rPr>
                        <a:t>解：</a:t>
                      </a:r>
                      <a:r>
                        <a:rPr dirty="0" sz="2000" spc="-20" b="1">
                          <a:latin typeface="宋体"/>
                          <a:cs typeface="宋体"/>
                        </a:rPr>
                        <a:t>分为四个编队</a:t>
                      </a:r>
                      <a:endParaRPr sz="2000">
                        <a:latin typeface="宋体"/>
                        <a:cs typeface="宋体"/>
                      </a:endParaRPr>
                    </a:p>
                  </a:txBody>
                  <a:tcPr marL="0" marR="0" marB="0" marT="29845"/>
                </a:tc>
                <a:tc>
                  <a:txBody>
                    <a:bodyPr/>
                    <a:lstStyle/>
                    <a:p>
                      <a:pPr marL="89535">
                        <a:lnSpc>
                          <a:spcPct val="100000"/>
                        </a:lnSpc>
                        <a:spcBef>
                          <a:spcPts val="235"/>
                        </a:spcBef>
                      </a:pPr>
                      <a:r>
                        <a:rPr dirty="0" sz="2000" spc="-10" b="1">
                          <a:solidFill>
                            <a:srgbClr val="40458B"/>
                          </a:solidFill>
                          <a:latin typeface="宋体"/>
                          <a:cs typeface="宋体"/>
                        </a:rPr>
                        <a:t>Ry，V4</a:t>
                      </a:r>
                      <a:endParaRPr sz="2000">
                        <a:latin typeface="宋体"/>
                        <a:cs typeface="宋体"/>
                      </a:endParaRPr>
                    </a:p>
                  </a:txBody>
                  <a:tcPr marL="0" marR="0" marB="0" marT="29845"/>
                </a:tc>
                <a:tc>
                  <a:txBody>
                    <a:bodyPr/>
                    <a:lstStyle/>
                    <a:p>
                      <a:pPr marL="257175">
                        <a:lnSpc>
                          <a:spcPct val="100000"/>
                        </a:lnSpc>
                        <a:spcBef>
                          <a:spcPts val="235"/>
                        </a:spcBef>
                      </a:pPr>
                      <a:r>
                        <a:rPr dirty="0" sz="2000" spc="-5" b="1">
                          <a:solidFill>
                            <a:srgbClr val="00AFEF"/>
                          </a:solidFill>
                          <a:latin typeface="Times New Roman"/>
                          <a:cs typeface="Times New Roman"/>
                        </a:rPr>
                        <a:t>// </a:t>
                      </a:r>
                      <a:r>
                        <a:rPr dirty="0" sz="2000" spc="-25" b="1">
                          <a:solidFill>
                            <a:srgbClr val="00AFEF"/>
                          </a:solidFill>
                          <a:latin typeface="宋体"/>
                          <a:cs typeface="宋体"/>
                        </a:rPr>
                        <a:t>存结果</a:t>
                      </a:r>
                      <a:endParaRPr sz="2000">
                        <a:latin typeface="宋体"/>
                        <a:cs typeface="宋体"/>
                      </a:endParaRPr>
                    </a:p>
                  </a:txBody>
                  <a:tcPr marL="0" marR="0" marB="0" marT="29845"/>
                </a:tc>
              </a:tr>
            </a:tbl>
          </a:graphicData>
        </a:graphic>
      </p:graphicFrame>
      <p:sp>
        <p:nvSpPr>
          <p:cNvPr id="12" name="object 12" descr=""/>
          <p:cNvSpPr txBox="1"/>
          <p:nvPr/>
        </p:nvSpPr>
        <p:spPr>
          <a:xfrm>
            <a:off x="2022094" y="4347819"/>
            <a:ext cx="3176270" cy="1610995"/>
          </a:xfrm>
          <a:prstGeom prst="rect">
            <a:avLst/>
          </a:prstGeom>
        </p:spPr>
        <p:txBody>
          <a:bodyPr wrap="square" lIns="0" tIns="104140" rIns="0" bIns="0" rtlCol="0" vert="horz">
            <a:spAutoFit/>
          </a:bodyPr>
          <a:lstStyle/>
          <a:p>
            <a:pPr marL="469265" indent="-456565">
              <a:lnSpc>
                <a:spcPct val="100000"/>
              </a:lnSpc>
              <a:spcBef>
                <a:spcPts val="820"/>
              </a:spcBef>
              <a:buClr>
                <a:srgbClr val="4668F5"/>
              </a:buClr>
              <a:buSzPct val="65000"/>
              <a:buFont typeface="Wingdings"/>
              <a:buChar char=""/>
              <a:tabLst>
                <a:tab pos="469265" algn="l"/>
              </a:tabLst>
            </a:pPr>
            <a:r>
              <a:rPr dirty="0" sz="2000" spc="-15" b="1">
                <a:solidFill>
                  <a:srgbClr val="40458B"/>
                </a:solidFill>
                <a:latin typeface="宋体"/>
                <a:cs typeface="宋体"/>
              </a:rPr>
              <a:t>第一编队：</a:t>
            </a:r>
            <a:r>
              <a:rPr dirty="0" sz="2000" spc="-25" b="1">
                <a:solidFill>
                  <a:srgbClr val="D50092"/>
                </a:solidFill>
                <a:latin typeface="宋体"/>
                <a:cs typeface="宋体"/>
              </a:rPr>
              <a:t>LV</a:t>
            </a:r>
            <a:endParaRPr sz="2000">
              <a:latin typeface="宋体"/>
              <a:cs typeface="宋体"/>
            </a:endParaRPr>
          </a:p>
          <a:p>
            <a:pPr marL="469265" indent="-456565">
              <a:lnSpc>
                <a:spcPct val="100000"/>
              </a:lnSpc>
              <a:spcBef>
                <a:spcPts val="720"/>
              </a:spcBef>
              <a:buClr>
                <a:srgbClr val="4668F5"/>
              </a:buClr>
              <a:buSzPct val="65000"/>
              <a:buFont typeface="Wingdings"/>
              <a:buChar char=""/>
              <a:tabLst>
                <a:tab pos="469265" algn="l"/>
              </a:tabLst>
            </a:pPr>
            <a:r>
              <a:rPr dirty="0" sz="2000" spc="-10" b="1">
                <a:solidFill>
                  <a:srgbClr val="40458B"/>
                </a:solidFill>
                <a:latin typeface="宋体"/>
                <a:cs typeface="宋体"/>
              </a:rPr>
              <a:t>第二编队：</a:t>
            </a:r>
            <a:r>
              <a:rPr dirty="0" sz="2000" b="1">
                <a:solidFill>
                  <a:srgbClr val="D50092"/>
                </a:solidFill>
                <a:latin typeface="宋体"/>
                <a:cs typeface="宋体"/>
              </a:rPr>
              <a:t>MULTSV</a:t>
            </a:r>
            <a:r>
              <a:rPr dirty="0" sz="2000" spc="-45" b="1">
                <a:solidFill>
                  <a:srgbClr val="D50092"/>
                </a:solidFill>
                <a:latin typeface="宋体"/>
                <a:cs typeface="宋体"/>
              </a:rPr>
              <a:t>； </a:t>
            </a:r>
            <a:r>
              <a:rPr dirty="0" sz="2000" spc="-25" b="1">
                <a:solidFill>
                  <a:srgbClr val="D50092"/>
                </a:solidFill>
                <a:latin typeface="宋体"/>
                <a:cs typeface="宋体"/>
              </a:rPr>
              <a:t>LV</a:t>
            </a:r>
            <a:endParaRPr sz="2000">
              <a:latin typeface="宋体"/>
              <a:cs typeface="宋体"/>
            </a:endParaRPr>
          </a:p>
          <a:p>
            <a:pPr marL="469265" indent="-456565">
              <a:lnSpc>
                <a:spcPct val="100000"/>
              </a:lnSpc>
              <a:spcBef>
                <a:spcPts val="720"/>
              </a:spcBef>
              <a:buClr>
                <a:srgbClr val="4668F5"/>
              </a:buClr>
              <a:buSzPct val="65000"/>
              <a:buFont typeface="Wingdings"/>
              <a:buChar char=""/>
              <a:tabLst>
                <a:tab pos="469265" algn="l"/>
              </a:tabLst>
            </a:pPr>
            <a:r>
              <a:rPr dirty="0" sz="2000" spc="-10" b="1">
                <a:solidFill>
                  <a:srgbClr val="40458B"/>
                </a:solidFill>
                <a:latin typeface="宋体"/>
                <a:cs typeface="宋体"/>
              </a:rPr>
              <a:t>第三编队：</a:t>
            </a:r>
            <a:r>
              <a:rPr dirty="0" sz="2000" spc="-10" b="1">
                <a:solidFill>
                  <a:srgbClr val="D50092"/>
                </a:solidFill>
                <a:latin typeface="宋体"/>
                <a:cs typeface="宋体"/>
              </a:rPr>
              <a:t>ADDV</a:t>
            </a:r>
            <a:endParaRPr sz="2000">
              <a:latin typeface="宋体"/>
              <a:cs typeface="宋体"/>
            </a:endParaRPr>
          </a:p>
          <a:p>
            <a:pPr marL="469265" indent="-456565">
              <a:lnSpc>
                <a:spcPct val="100000"/>
              </a:lnSpc>
              <a:spcBef>
                <a:spcPts val="715"/>
              </a:spcBef>
              <a:buClr>
                <a:srgbClr val="4668F5"/>
              </a:buClr>
              <a:buSzPct val="65000"/>
              <a:buFont typeface="Wingdings"/>
              <a:buChar char=""/>
              <a:tabLst>
                <a:tab pos="469265" algn="l"/>
              </a:tabLst>
            </a:pPr>
            <a:r>
              <a:rPr dirty="0" sz="2000" spc="-20" b="1">
                <a:solidFill>
                  <a:srgbClr val="40458B"/>
                </a:solidFill>
                <a:latin typeface="宋体"/>
                <a:cs typeface="宋体"/>
              </a:rPr>
              <a:t>第四编队：</a:t>
            </a:r>
            <a:r>
              <a:rPr dirty="0" sz="2000" spc="-25" b="1">
                <a:solidFill>
                  <a:srgbClr val="D50092"/>
                </a:solidFill>
                <a:latin typeface="宋体"/>
                <a:cs typeface="宋体"/>
              </a:rPr>
              <a:t>SV</a:t>
            </a:r>
            <a:endParaRPr sz="2000">
              <a:latin typeface="宋体"/>
              <a:cs typeface="宋体"/>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144016" y="107695"/>
            <a:ext cx="4904105" cy="513715"/>
          </a:xfrm>
          <a:prstGeom prst="rect"/>
        </p:spPr>
        <p:txBody>
          <a:bodyPr wrap="square" lIns="0" tIns="12700" rIns="0" bIns="0" rtlCol="0" vert="horz">
            <a:spAutoFit/>
          </a:bodyPr>
          <a:lstStyle/>
          <a:p>
            <a:pPr marL="12700">
              <a:lnSpc>
                <a:spcPct val="100000"/>
              </a:lnSpc>
              <a:spcBef>
                <a:spcPts val="100"/>
              </a:spcBef>
            </a:pPr>
            <a:r>
              <a:rPr dirty="0"/>
              <a:t>4.4</a:t>
            </a:r>
            <a:r>
              <a:rPr dirty="0" spc="-20"/>
              <a:t> 向量处理机的性能评价</a:t>
            </a:r>
          </a:p>
        </p:txBody>
      </p:sp>
      <p:sp>
        <p:nvSpPr>
          <p:cNvPr id="10" name="object 10" descr=""/>
          <p:cNvSpPr txBox="1"/>
          <p:nvPr/>
        </p:nvSpPr>
        <p:spPr>
          <a:xfrm>
            <a:off x="751840" y="1175893"/>
            <a:ext cx="7759065" cy="2294890"/>
          </a:xfrm>
          <a:prstGeom prst="rect">
            <a:avLst/>
          </a:prstGeom>
        </p:spPr>
        <p:txBody>
          <a:bodyPr wrap="square" lIns="0" tIns="140970" rIns="0" bIns="0" rtlCol="0" vert="horz">
            <a:spAutoFit/>
          </a:bodyPr>
          <a:lstStyle/>
          <a:p>
            <a:pPr marL="482600" indent="-457200">
              <a:lnSpc>
                <a:spcPct val="100000"/>
              </a:lnSpc>
              <a:spcBef>
                <a:spcPts val="1110"/>
              </a:spcBef>
              <a:buClr>
                <a:srgbClr val="40458B"/>
              </a:buClr>
              <a:buFont typeface="Tahoma"/>
              <a:buAutoNum type="arabicPeriod" startAt="3"/>
              <a:tabLst>
                <a:tab pos="482600" algn="l"/>
              </a:tabLst>
            </a:pPr>
            <a:r>
              <a:rPr dirty="0" sz="2400" spc="-5">
                <a:solidFill>
                  <a:srgbClr val="E14B04"/>
                </a:solidFill>
                <a:latin typeface="黑体"/>
                <a:cs typeface="黑体"/>
              </a:rPr>
              <a:t>分段开采时一组向量指令的总执行时间</a:t>
            </a:r>
            <a:endParaRPr sz="2400">
              <a:latin typeface="黑体"/>
              <a:cs typeface="黑体"/>
            </a:endParaRPr>
          </a:p>
          <a:p>
            <a:pPr lvl="1" marL="1111885" marR="17780" indent="-457200">
              <a:lnSpc>
                <a:spcPct val="110000"/>
              </a:lnSpc>
              <a:spcBef>
                <a:spcPts val="720"/>
              </a:spcBef>
              <a:buClr>
                <a:srgbClr val="40458B"/>
              </a:buClr>
              <a:buSzPct val="89583"/>
              <a:buFont typeface="Wingdings"/>
              <a:buChar char=""/>
              <a:tabLst>
                <a:tab pos="1111885" algn="l"/>
              </a:tabLst>
            </a:pPr>
            <a:r>
              <a:rPr dirty="0" sz="2400">
                <a:solidFill>
                  <a:srgbClr val="006FC0"/>
                </a:solidFill>
                <a:latin typeface="黑体"/>
                <a:cs typeface="黑体"/>
              </a:rPr>
              <a:t>当向量长度</a:t>
            </a:r>
            <a:r>
              <a:rPr dirty="0" sz="2400">
                <a:solidFill>
                  <a:srgbClr val="9933FF"/>
                </a:solidFill>
                <a:latin typeface="Times New Roman"/>
                <a:cs typeface="Times New Roman"/>
              </a:rPr>
              <a:t>n</a:t>
            </a:r>
            <a:r>
              <a:rPr dirty="0" sz="2400">
                <a:solidFill>
                  <a:srgbClr val="006FC0"/>
                </a:solidFill>
                <a:latin typeface="黑体"/>
                <a:cs typeface="黑体"/>
              </a:rPr>
              <a:t>大于向量寄存器长度</a:t>
            </a:r>
            <a:r>
              <a:rPr dirty="0" sz="2400" spc="-25">
                <a:solidFill>
                  <a:srgbClr val="9933FF"/>
                </a:solidFill>
                <a:latin typeface="Times New Roman"/>
                <a:cs typeface="Times New Roman"/>
              </a:rPr>
              <a:t>MVL</a:t>
            </a:r>
            <a:r>
              <a:rPr dirty="0" sz="2400" spc="-10">
                <a:solidFill>
                  <a:srgbClr val="006FC0"/>
                </a:solidFill>
                <a:latin typeface="黑体"/>
                <a:cs typeface="黑体"/>
              </a:rPr>
              <a:t>时，需要分</a:t>
            </a:r>
            <a:r>
              <a:rPr dirty="0" sz="2400" spc="-15">
                <a:solidFill>
                  <a:srgbClr val="006FC0"/>
                </a:solidFill>
                <a:latin typeface="黑体"/>
                <a:cs typeface="黑体"/>
              </a:rPr>
              <a:t>段开采。</a:t>
            </a:r>
            <a:endParaRPr sz="2400">
              <a:latin typeface="黑体"/>
              <a:cs typeface="黑体"/>
            </a:endParaRPr>
          </a:p>
          <a:p>
            <a:pPr lvl="1" marL="1111885" indent="-457200">
              <a:lnSpc>
                <a:spcPct val="100000"/>
              </a:lnSpc>
              <a:spcBef>
                <a:spcPts val="865"/>
              </a:spcBef>
              <a:buClr>
                <a:srgbClr val="40458B"/>
              </a:buClr>
              <a:buSzPct val="89583"/>
              <a:buFont typeface="Wingdings"/>
              <a:buChar char=""/>
              <a:tabLst>
                <a:tab pos="1111885" algn="l"/>
              </a:tabLst>
            </a:pPr>
            <a:r>
              <a:rPr dirty="0" sz="2400" spc="-15">
                <a:solidFill>
                  <a:srgbClr val="006FC0"/>
                </a:solidFill>
                <a:latin typeface="黑体"/>
                <a:cs typeface="黑体"/>
              </a:rPr>
              <a:t>引入一些额外的处理操作</a:t>
            </a:r>
            <a:endParaRPr sz="2400">
              <a:latin typeface="黑体"/>
              <a:cs typeface="黑体"/>
            </a:endParaRPr>
          </a:p>
          <a:p>
            <a:pPr marL="1282700">
              <a:lnSpc>
                <a:spcPct val="100000"/>
              </a:lnSpc>
              <a:spcBef>
                <a:spcPts val="775"/>
              </a:spcBef>
            </a:pPr>
            <a:r>
              <a:rPr dirty="0" sz="2000" spc="-10" b="1">
                <a:solidFill>
                  <a:srgbClr val="FF5CFF"/>
                </a:solidFill>
                <a:latin typeface="宋体"/>
                <a:cs typeface="宋体"/>
              </a:rPr>
              <a:t>（</a:t>
            </a:r>
            <a:r>
              <a:rPr dirty="0" sz="2000" spc="-20" b="1">
                <a:solidFill>
                  <a:srgbClr val="FF5CFF"/>
                </a:solidFill>
                <a:latin typeface="宋体"/>
                <a:cs typeface="宋体"/>
              </a:rPr>
              <a:t>假设：这些操作所引入的额外时间为</a:t>
            </a:r>
            <a:r>
              <a:rPr dirty="0" sz="2000" b="1">
                <a:solidFill>
                  <a:srgbClr val="9933FF"/>
                </a:solidFill>
                <a:latin typeface="Times New Roman"/>
                <a:cs typeface="Times New Roman"/>
              </a:rPr>
              <a:t>T</a:t>
            </a:r>
            <a:r>
              <a:rPr dirty="0" baseline="-21367" sz="1950" b="1">
                <a:solidFill>
                  <a:srgbClr val="9933FF"/>
                </a:solidFill>
                <a:latin typeface="Times New Roman"/>
                <a:cs typeface="Times New Roman"/>
              </a:rPr>
              <a:t>loop</a:t>
            </a:r>
            <a:r>
              <a:rPr dirty="0" sz="2000" spc="-20" b="1">
                <a:solidFill>
                  <a:srgbClr val="FF5CFF"/>
                </a:solidFill>
                <a:latin typeface="宋体"/>
                <a:cs typeface="宋体"/>
              </a:rPr>
              <a:t>个时钟周期</a:t>
            </a:r>
            <a:r>
              <a:rPr dirty="0" sz="2000" spc="-50" b="1">
                <a:solidFill>
                  <a:srgbClr val="FF5CFF"/>
                </a:solidFill>
                <a:latin typeface="宋体"/>
                <a:cs typeface="宋体"/>
              </a:rPr>
              <a:t>）</a:t>
            </a:r>
            <a:endParaRPr sz="2000">
              <a:latin typeface="宋体"/>
              <a:cs typeface="宋体"/>
            </a:endParaRPr>
          </a:p>
        </p:txBody>
      </p:sp>
      <p:sp>
        <p:nvSpPr>
          <p:cNvPr id="11" name="object 11" descr=""/>
          <p:cNvSpPr txBox="1"/>
          <p:nvPr/>
        </p:nvSpPr>
        <p:spPr>
          <a:xfrm>
            <a:off x="4957953" y="3536060"/>
            <a:ext cx="93535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9933FF"/>
                </a:solidFill>
                <a:latin typeface="Times New Roman"/>
                <a:cs typeface="Times New Roman"/>
              </a:rPr>
              <a:t>q</a:t>
            </a:r>
            <a:r>
              <a:rPr dirty="0" sz="2000" spc="-25" b="1">
                <a:solidFill>
                  <a:srgbClr val="FF5CFF"/>
                </a:solidFill>
                <a:latin typeface="宋体"/>
                <a:cs typeface="宋体"/>
              </a:rPr>
              <a:t>：余数</a:t>
            </a:r>
            <a:endParaRPr sz="2000">
              <a:latin typeface="宋体"/>
              <a:cs typeface="宋体"/>
            </a:endParaRPr>
          </a:p>
        </p:txBody>
      </p:sp>
      <p:sp>
        <p:nvSpPr>
          <p:cNvPr id="12" name="object 12" descr=""/>
          <p:cNvSpPr txBox="1"/>
          <p:nvPr/>
        </p:nvSpPr>
        <p:spPr>
          <a:xfrm>
            <a:off x="1368805" y="4241841"/>
            <a:ext cx="6275705" cy="1352550"/>
          </a:xfrm>
          <a:prstGeom prst="rect">
            <a:avLst/>
          </a:prstGeom>
        </p:spPr>
        <p:txBody>
          <a:bodyPr wrap="square" lIns="0" tIns="99695" rIns="0" bIns="0" rtlCol="0" vert="horz">
            <a:spAutoFit/>
          </a:bodyPr>
          <a:lstStyle/>
          <a:p>
            <a:pPr marL="1122680" indent="-457200">
              <a:lnSpc>
                <a:spcPct val="100000"/>
              </a:lnSpc>
              <a:spcBef>
                <a:spcPts val="785"/>
              </a:spcBef>
              <a:buClr>
                <a:srgbClr val="4668F5"/>
              </a:buClr>
              <a:buSzPct val="65000"/>
              <a:buFont typeface="Wingdings"/>
              <a:buChar char=""/>
              <a:tabLst>
                <a:tab pos="1122680" algn="l"/>
              </a:tabLst>
            </a:pPr>
            <a:r>
              <a:rPr dirty="0" sz="2000" spc="-15" b="1">
                <a:solidFill>
                  <a:srgbClr val="FF5CFF"/>
                </a:solidFill>
                <a:latin typeface="宋体"/>
                <a:cs typeface="宋体"/>
              </a:rPr>
              <a:t>共有</a:t>
            </a:r>
            <a:r>
              <a:rPr dirty="0" sz="2000" spc="-10" b="1">
                <a:solidFill>
                  <a:srgbClr val="FF5CFF"/>
                </a:solidFill>
                <a:latin typeface="Times New Roman"/>
                <a:cs typeface="Times New Roman"/>
              </a:rPr>
              <a:t>m</a:t>
            </a:r>
            <a:r>
              <a:rPr dirty="0" sz="2000" spc="-30" b="1">
                <a:solidFill>
                  <a:srgbClr val="FF5CFF"/>
                </a:solidFill>
                <a:latin typeface="宋体"/>
                <a:cs typeface="宋体"/>
              </a:rPr>
              <a:t>个编队</a:t>
            </a:r>
            <a:endParaRPr sz="2000">
              <a:latin typeface="宋体"/>
              <a:cs typeface="宋体"/>
            </a:endParaRPr>
          </a:p>
          <a:p>
            <a:pPr marL="494665" indent="-456565">
              <a:lnSpc>
                <a:spcPct val="100000"/>
              </a:lnSpc>
              <a:spcBef>
                <a:spcPts val="815"/>
              </a:spcBef>
              <a:buClr>
                <a:srgbClr val="40458B"/>
              </a:buClr>
              <a:buSzPct val="89583"/>
              <a:buFont typeface="Wingdings"/>
              <a:buChar char=""/>
              <a:tabLst>
                <a:tab pos="494665" algn="l"/>
              </a:tabLst>
            </a:pPr>
            <a:r>
              <a:rPr dirty="0" sz="2400">
                <a:solidFill>
                  <a:srgbClr val="006FC0"/>
                </a:solidFill>
                <a:latin typeface="黑体"/>
                <a:cs typeface="黑体"/>
              </a:rPr>
              <a:t>对于最后一次循环来说，所需要的时间为</a:t>
            </a:r>
            <a:r>
              <a:rPr dirty="0" sz="2000" spc="-50">
                <a:solidFill>
                  <a:srgbClr val="006FC0"/>
                </a:solidFill>
                <a:latin typeface="黑体"/>
                <a:cs typeface="黑体"/>
              </a:rPr>
              <a:t>：</a:t>
            </a:r>
            <a:endParaRPr sz="2000">
              <a:latin typeface="黑体"/>
              <a:cs typeface="黑体"/>
            </a:endParaRPr>
          </a:p>
          <a:p>
            <a:pPr marL="1156335">
              <a:lnSpc>
                <a:spcPct val="100000"/>
              </a:lnSpc>
              <a:spcBef>
                <a:spcPts val="1265"/>
              </a:spcBef>
            </a:pP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last</a:t>
            </a:r>
            <a:r>
              <a:rPr dirty="0" sz="1300" spc="215" b="1">
                <a:solidFill>
                  <a:srgbClr val="9933FF"/>
                </a:solidFill>
                <a:latin typeface="Times New Roman"/>
                <a:cs typeface="Times New Roman"/>
              </a:rPr>
              <a:t> </a:t>
            </a:r>
            <a:r>
              <a:rPr dirty="0" baseline="13888" sz="3000" b="1">
                <a:solidFill>
                  <a:srgbClr val="9933FF"/>
                </a:solidFill>
                <a:latin typeface="Times New Roman"/>
                <a:cs typeface="Times New Roman"/>
              </a:rPr>
              <a:t>=</a:t>
            </a:r>
            <a:r>
              <a:rPr dirty="0" baseline="13888" sz="3000" spc="44" b="1">
                <a:solidFill>
                  <a:srgbClr val="9933FF"/>
                </a:solidFill>
                <a:latin typeface="Times New Roman"/>
                <a:cs typeface="Times New Roman"/>
              </a:rPr>
              <a:t> </a:t>
            </a: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start</a:t>
            </a:r>
            <a:r>
              <a:rPr dirty="0" sz="1300" spc="215" b="1">
                <a:solidFill>
                  <a:srgbClr val="9933FF"/>
                </a:solidFill>
                <a:latin typeface="Times New Roman"/>
                <a:cs typeface="Times New Roman"/>
              </a:rPr>
              <a:t> </a:t>
            </a: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loop</a:t>
            </a:r>
            <a:r>
              <a:rPr dirty="0" baseline="13888" sz="3000" b="1">
                <a:solidFill>
                  <a:srgbClr val="9933FF"/>
                </a:solidFill>
                <a:latin typeface="Times New Roman"/>
                <a:cs typeface="Times New Roman"/>
              </a:rPr>
              <a:t>+ </a:t>
            </a:r>
            <a:r>
              <a:rPr dirty="0" baseline="13888" sz="3000" spc="-37" b="1">
                <a:solidFill>
                  <a:srgbClr val="9933FF"/>
                </a:solidFill>
                <a:latin typeface="Times New Roman"/>
                <a:cs typeface="Times New Roman"/>
              </a:rPr>
              <a:t>m</a:t>
            </a:r>
            <a:r>
              <a:rPr dirty="0" baseline="13888" sz="3000" spc="-37" b="1">
                <a:solidFill>
                  <a:srgbClr val="9933FF"/>
                </a:solidFill>
                <a:latin typeface="黑体"/>
                <a:cs typeface="黑体"/>
              </a:rPr>
              <a:t>×</a:t>
            </a:r>
            <a:r>
              <a:rPr dirty="0" baseline="13888" sz="3000" spc="-37" b="1">
                <a:solidFill>
                  <a:srgbClr val="9933FF"/>
                </a:solidFill>
                <a:latin typeface="Times New Roman"/>
                <a:cs typeface="Times New Roman"/>
              </a:rPr>
              <a:t>q</a:t>
            </a:r>
            <a:endParaRPr baseline="13888" sz="3000">
              <a:latin typeface="Times New Roman"/>
              <a:cs typeface="Times New Roman"/>
            </a:endParaRPr>
          </a:p>
        </p:txBody>
      </p:sp>
      <p:grpSp>
        <p:nvGrpSpPr>
          <p:cNvPr id="13" name="object 13" descr=""/>
          <p:cNvGrpSpPr/>
          <p:nvPr/>
        </p:nvGrpSpPr>
        <p:grpSpPr>
          <a:xfrm>
            <a:off x="3059176" y="3500373"/>
            <a:ext cx="1368425" cy="774700"/>
            <a:chOff x="3059176" y="3500373"/>
            <a:chExt cx="1368425" cy="774700"/>
          </a:xfrm>
        </p:grpSpPr>
        <p:sp>
          <p:nvSpPr>
            <p:cNvPr id="14" name="object 14" descr=""/>
            <p:cNvSpPr/>
            <p:nvPr/>
          </p:nvSpPr>
          <p:spPr>
            <a:xfrm>
              <a:off x="3059176" y="3500373"/>
              <a:ext cx="1368425" cy="774700"/>
            </a:xfrm>
            <a:custGeom>
              <a:avLst/>
              <a:gdLst/>
              <a:ahLst/>
              <a:cxnLst/>
              <a:rect l="l" t="t" r="r" b="b"/>
              <a:pathLst>
                <a:path w="1368425" h="774700">
                  <a:moveTo>
                    <a:pt x="1368425" y="0"/>
                  </a:moveTo>
                  <a:lnTo>
                    <a:pt x="0" y="0"/>
                  </a:lnTo>
                  <a:lnTo>
                    <a:pt x="0" y="774700"/>
                  </a:lnTo>
                  <a:lnTo>
                    <a:pt x="1368425" y="774700"/>
                  </a:lnTo>
                  <a:lnTo>
                    <a:pt x="1368425" y="0"/>
                  </a:lnTo>
                  <a:close/>
                </a:path>
              </a:pathLst>
            </a:custGeom>
            <a:solidFill>
              <a:srgbClr val="EAEAEA"/>
            </a:solidFill>
          </p:spPr>
          <p:txBody>
            <a:bodyPr wrap="square" lIns="0" tIns="0" rIns="0" bIns="0" rtlCol="0"/>
            <a:lstStyle/>
            <a:p/>
          </p:txBody>
        </p:sp>
        <p:sp>
          <p:nvSpPr>
            <p:cNvPr id="15" name="object 15" descr=""/>
            <p:cNvSpPr/>
            <p:nvPr/>
          </p:nvSpPr>
          <p:spPr>
            <a:xfrm>
              <a:off x="3220391" y="3888841"/>
              <a:ext cx="585470" cy="0"/>
            </a:xfrm>
            <a:custGeom>
              <a:avLst/>
              <a:gdLst/>
              <a:ahLst/>
              <a:cxnLst/>
              <a:rect l="l" t="t" r="r" b="b"/>
              <a:pathLst>
                <a:path w="585470" h="0">
                  <a:moveTo>
                    <a:pt x="0" y="0"/>
                  </a:moveTo>
                  <a:lnTo>
                    <a:pt x="585324" y="0"/>
                  </a:lnTo>
                </a:path>
              </a:pathLst>
            </a:custGeom>
            <a:ln w="11175">
              <a:solidFill>
                <a:srgbClr val="000000"/>
              </a:solidFill>
            </a:ln>
          </p:spPr>
          <p:txBody>
            <a:bodyPr wrap="square" lIns="0" tIns="0" rIns="0" bIns="0" rtlCol="0"/>
            <a:lstStyle/>
            <a:p/>
          </p:txBody>
        </p:sp>
      </p:grpSp>
      <p:sp>
        <p:nvSpPr>
          <p:cNvPr id="16" name="object 16" descr=""/>
          <p:cNvSpPr txBox="1"/>
          <p:nvPr/>
        </p:nvSpPr>
        <p:spPr>
          <a:xfrm>
            <a:off x="3446777" y="3496585"/>
            <a:ext cx="151765" cy="356235"/>
          </a:xfrm>
          <a:prstGeom prst="rect">
            <a:avLst/>
          </a:prstGeom>
        </p:spPr>
        <p:txBody>
          <a:bodyPr wrap="square" lIns="0" tIns="15240" rIns="0" bIns="0" rtlCol="0" vert="horz">
            <a:spAutoFit/>
          </a:bodyPr>
          <a:lstStyle/>
          <a:p>
            <a:pPr>
              <a:lnSpc>
                <a:spcPct val="100000"/>
              </a:lnSpc>
              <a:spcBef>
                <a:spcPts val="120"/>
              </a:spcBef>
            </a:pPr>
            <a:r>
              <a:rPr dirty="0" sz="2150" spc="-50" i="1">
                <a:latin typeface="Times New Roman"/>
                <a:cs typeface="Times New Roman"/>
              </a:rPr>
              <a:t>n</a:t>
            </a:r>
            <a:endParaRPr sz="2150">
              <a:latin typeface="Times New Roman"/>
              <a:cs typeface="Times New Roman"/>
            </a:endParaRPr>
          </a:p>
        </p:txBody>
      </p:sp>
      <p:sp>
        <p:nvSpPr>
          <p:cNvPr id="17" name="object 17" descr=""/>
          <p:cNvSpPr txBox="1"/>
          <p:nvPr/>
        </p:nvSpPr>
        <p:spPr>
          <a:xfrm>
            <a:off x="3797732" y="3669106"/>
            <a:ext cx="626110" cy="356235"/>
          </a:xfrm>
          <a:prstGeom prst="rect">
            <a:avLst/>
          </a:prstGeom>
        </p:spPr>
        <p:txBody>
          <a:bodyPr wrap="square" lIns="0" tIns="15240" rIns="0" bIns="0" rtlCol="0" vert="horz">
            <a:spAutoFit/>
          </a:bodyPr>
          <a:lstStyle/>
          <a:p>
            <a:pPr marL="25400">
              <a:lnSpc>
                <a:spcPct val="100000"/>
              </a:lnSpc>
              <a:spcBef>
                <a:spcPts val="120"/>
              </a:spcBef>
            </a:pPr>
            <a:r>
              <a:rPr dirty="0" baseline="31007" sz="3225">
                <a:latin typeface="Symbol"/>
                <a:cs typeface="Symbol"/>
              </a:rPr>
              <a:t></a:t>
            </a:r>
            <a:r>
              <a:rPr dirty="0" baseline="31007" sz="3225" spc="22">
                <a:latin typeface="Times New Roman"/>
                <a:cs typeface="Times New Roman"/>
              </a:rPr>
              <a:t> </a:t>
            </a:r>
            <a:r>
              <a:rPr dirty="0" sz="2150">
                <a:latin typeface="Symbol"/>
                <a:cs typeface="Symbol"/>
              </a:rPr>
              <a:t></a:t>
            </a:r>
            <a:r>
              <a:rPr dirty="0" sz="2150" spc="229">
                <a:latin typeface="Times New Roman"/>
                <a:cs typeface="Times New Roman"/>
              </a:rPr>
              <a:t> </a:t>
            </a:r>
            <a:r>
              <a:rPr dirty="0" sz="2150" spc="-50" i="1">
                <a:latin typeface="Times New Roman"/>
                <a:cs typeface="Times New Roman"/>
              </a:rPr>
              <a:t>p</a:t>
            </a:r>
            <a:endParaRPr sz="2150">
              <a:latin typeface="Times New Roman"/>
              <a:cs typeface="Times New Roman"/>
            </a:endParaRPr>
          </a:p>
        </p:txBody>
      </p:sp>
      <p:sp>
        <p:nvSpPr>
          <p:cNvPr id="18" name="object 18" descr=""/>
          <p:cNvSpPr txBox="1"/>
          <p:nvPr/>
        </p:nvSpPr>
        <p:spPr>
          <a:xfrm>
            <a:off x="3079275" y="3883382"/>
            <a:ext cx="888365" cy="356235"/>
          </a:xfrm>
          <a:prstGeom prst="rect">
            <a:avLst/>
          </a:prstGeom>
        </p:spPr>
        <p:txBody>
          <a:bodyPr wrap="square" lIns="0" tIns="15240" rIns="0" bIns="0" rtlCol="0" vert="horz">
            <a:spAutoFit/>
          </a:bodyPr>
          <a:lstStyle/>
          <a:p>
            <a:pPr marL="25400">
              <a:lnSpc>
                <a:spcPct val="100000"/>
              </a:lnSpc>
              <a:spcBef>
                <a:spcPts val="120"/>
              </a:spcBef>
            </a:pPr>
            <a:r>
              <a:rPr dirty="0" baseline="20671" sz="3225" spc="-615">
                <a:latin typeface="Symbol"/>
                <a:cs typeface="Symbol"/>
              </a:rPr>
              <a:t></a:t>
            </a:r>
            <a:r>
              <a:rPr dirty="0" baseline="-6459" sz="3225" spc="-615">
                <a:latin typeface="Symbol"/>
                <a:cs typeface="Symbol"/>
              </a:rPr>
              <a:t></a:t>
            </a:r>
            <a:r>
              <a:rPr dirty="0" baseline="-6459" sz="3225" spc="-397">
                <a:latin typeface="Times New Roman"/>
                <a:cs typeface="Times New Roman"/>
              </a:rPr>
              <a:t> </a:t>
            </a:r>
            <a:r>
              <a:rPr dirty="0" sz="2150" i="1">
                <a:latin typeface="Times New Roman"/>
                <a:cs typeface="Times New Roman"/>
              </a:rPr>
              <a:t>MVL</a:t>
            </a:r>
            <a:r>
              <a:rPr dirty="0" sz="2150" spc="-320" i="1">
                <a:latin typeface="Times New Roman"/>
                <a:cs typeface="Times New Roman"/>
              </a:rPr>
              <a:t> </a:t>
            </a:r>
            <a:r>
              <a:rPr dirty="0" baseline="20671" sz="3225" spc="-652">
                <a:latin typeface="Symbol"/>
                <a:cs typeface="Symbol"/>
              </a:rPr>
              <a:t></a:t>
            </a:r>
            <a:r>
              <a:rPr dirty="0" baseline="-6459" sz="3225" spc="-652">
                <a:latin typeface="Symbol"/>
                <a:cs typeface="Symbol"/>
              </a:rPr>
              <a:t></a:t>
            </a:r>
            <a:endParaRPr baseline="-6459" sz="3225">
              <a:latin typeface="Symbol"/>
              <a:cs typeface="Symbol"/>
            </a:endParaRPr>
          </a:p>
        </p:txBody>
      </p:sp>
      <p:sp>
        <p:nvSpPr>
          <p:cNvPr id="19" name="object 19" descr=""/>
          <p:cNvSpPr txBox="1"/>
          <p:nvPr/>
        </p:nvSpPr>
        <p:spPr>
          <a:xfrm>
            <a:off x="2022094" y="3516075"/>
            <a:ext cx="1202055" cy="356235"/>
          </a:xfrm>
          <a:prstGeom prst="rect">
            <a:avLst/>
          </a:prstGeom>
        </p:spPr>
        <p:txBody>
          <a:bodyPr wrap="square" lIns="0" tIns="15240" rIns="0" bIns="0" rtlCol="0" vert="horz">
            <a:spAutoFit/>
          </a:bodyPr>
          <a:lstStyle/>
          <a:p>
            <a:pPr marL="469265" indent="-456565">
              <a:lnSpc>
                <a:spcPct val="100000"/>
              </a:lnSpc>
              <a:spcBef>
                <a:spcPts val="120"/>
              </a:spcBef>
              <a:buClr>
                <a:srgbClr val="4668F5"/>
              </a:buClr>
              <a:buSzPct val="65000"/>
              <a:buFont typeface="Wingdings"/>
              <a:buChar char=""/>
              <a:tabLst>
                <a:tab pos="469265" algn="l"/>
                <a:tab pos="1082040" algn="l"/>
              </a:tabLst>
            </a:pPr>
            <a:r>
              <a:rPr dirty="0" sz="2000" spc="-50" b="1">
                <a:solidFill>
                  <a:srgbClr val="FF5CFF"/>
                </a:solidFill>
                <a:latin typeface="宋体"/>
                <a:cs typeface="宋体"/>
              </a:rPr>
              <a:t>设</a:t>
            </a:r>
            <a:r>
              <a:rPr dirty="0" sz="2000" b="1">
                <a:solidFill>
                  <a:srgbClr val="FF5CFF"/>
                </a:solidFill>
                <a:latin typeface="宋体"/>
                <a:cs typeface="宋体"/>
              </a:rPr>
              <a:t>	</a:t>
            </a:r>
            <a:r>
              <a:rPr dirty="0" sz="2150" spc="-50">
                <a:latin typeface="Symbol"/>
                <a:cs typeface="Symbol"/>
              </a:rPr>
              <a:t></a:t>
            </a:r>
            <a:endParaRPr sz="2150">
              <a:latin typeface="Symbol"/>
              <a:cs typeface="Symbo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16863" y="96393"/>
            <a:ext cx="4904105" cy="513715"/>
          </a:xfrm>
          <a:prstGeom prst="rect"/>
        </p:spPr>
        <p:txBody>
          <a:bodyPr wrap="square" lIns="0" tIns="12700" rIns="0" bIns="0" rtlCol="0" vert="horz">
            <a:spAutoFit/>
          </a:bodyPr>
          <a:lstStyle/>
          <a:p>
            <a:pPr marL="12700">
              <a:lnSpc>
                <a:spcPct val="100000"/>
              </a:lnSpc>
              <a:spcBef>
                <a:spcPts val="100"/>
              </a:spcBef>
            </a:pPr>
            <a:r>
              <a:rPr dirty="0"/>
              <a:t>4.4</a:t>
            </a:r>
            <a:r>
              <a:rPr dirty="0" spc="-20"/>
              <a:t> 向量处理机的性能评价</a:t>
            </a:r>
          </a:p>
        </p:txBody>
      </p:sp>
      <p:sp>
        <p:nvSpPr>
          <p:cNvPr id="10" name="object 10" descr=""/>
          <p:cNvSpPr txBox="1"/>
          <p:nvPr/>
        </p:nvSpPr>
        <p:spPr>
          <a:xfrm>
            <a:off x="1368805" y="1346109"/>
            <a:ext cx="7018020" cy="2735580"/>
          </a:xfrm>
          <a:prstGeom prst="rect">
            <a:avLst/>
          </a:prstGeom>
        </p:spPr>
        <p:txBody>
          <a:bodyPr wrap="square" lIns="0" tIns="205105" rIns="0" bIns="0" rtlCol="0" vert="horz">
            <a:spAutoFit/>
          </a:bodyPr>
          <a:lstStyle/>
          <a:p>
            <a:pPr marL="494665" indent="-456565">
              <a:lnSpc>
                <a:spcPct val="100000"/>
              </a:lnSpc>
              <a:spcBef>
                <a:spcPts val="1615"/>
              </a:spcBef>
              <a:buClr>
                <a:srgbClr val="40458B"/>
              </a:buClr>
              <a:buSzPct val="89583"/>
              <a:buFont typeface="Wingdings"/>
              <a:buChar char=""/>
              <a:tabLst>
                <a:tab pos="494665" algn="l"/>
              </a:tabLst>
            </a:pPr>
            <a:r>
              <a:rPr dirty="0" sz="2400" spc="-15">
                <a:solidFill>
                  <a:srgbClr val="006FC0"/>
                </a:solidFill>
                <a:latin typeface="黑体"/>
                <a:cs typeface="黑体"/>
              </a:rPr>
              <a:t>其他的每一次循环所要花费的时间为：</a:t>
            </a:r>
            <a:endParaRPr sz="2400">
              <a:latin typeface="黑体"/>
              <a:cs typeface="黑体"/>
            </a:endParaRPr>
          </a:p>
          <a:p>
            <a:pPr marL="855980">
              <a:lnSpc>
                <a:spcPct val="100000"/>
              </a:lnSpc>
              <a:spcBef>
                <a:spcPts val="1265"/>
              </a:spcBef>
            </a:pP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step</a:t>
            </a:r>
            <a:r>
              <a:rPr dirty="0" sz="1300" spc="215" b="1">
                <a:solidFill>
                  <a:srgbClr val="9933FF"/>
                </a:solidFill>
                <a:latin typeface="Times New Roman"/>
                <a:cs typeface="Times New Roman"/>
              </a:rPr>
              <a:t> </a:t>
            </a:r>
            <a:r>
              <a:rPr dirty="0" baseline="13888" sz="3000" b="1">
                <a:solidFill>
                  <a:srgbClr val="9933FF"/>
                </a:solidFill>
                <a:latin typeface="Times New Roman"/>
                <a:cs typeface="Times New Roman"/>
              </a:rPr>
              <a:t>=</a:t>
            </a:r>
            <a:r>
              <a:rPr dirty="0" baseline="13888" sz="3000" spc="22" b="1">
                <a:solidFill>
                  <a:srgbClr val="9933FF"/>
                </a:solidFill>
                <a:latin typeface="Times New Roman"/>
                <a:cs typeface="Times New Roman"/>
              </a:rPr>
              <a:t> </a:t>
            </a: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start</a:t>
            </a:r>
            <a:r>
              <a:rPr dirty="0" sz="1300" spc="210" b="1">
                <a:solidFill>
                  <a:srgbClr val="9933FF"/>
                </a:solidFill>
                <a:latin typeface="Times New Roman"/>
                <a:cs typeface="Times New Roman"/>
              </a:rPr>
              <a:t> </a:t>
            </a:r>
            <a:r>
              <a:rPr dirty="0" baseline="13888" sz="3000" b="1">
                <a:solidFill>
                  <a:srgbClr val="9933FF"/>
                </a:solidFill>
                <a:latin typeface="Times New Roman"/>
                <a:cs typeface="Times New Roman"/>
              </a:rPr>
              <a:t>+T</a:t>
            </a:r>
            <a:r>
              <a:rPr dirty="0" sz="1300" b="1">
                <a:solidFill>
                  <a:srgbClr val="9933FF"/>
                </a:solidFill>
                <a:latin typeface="Times New Roman"/>
                <a:cs typeface="Times New Roman"/>
              </a:rPr>
              <a:t>loop</a:t>
            </a:r>
            <a:r>
              <a:rPr dirty="0" baseline="13888" sz="3000" b="1">
                <a:solidFill>
                  <a:srgbClr val="9933FF"/>
                </a:solidFill>
                <a:latin typeface="Times New Roman"/>
                <a:cs typeface="Times New Roman"/>
              </a:rPr>
              <a:t>+ </a:t>
            </a:r>
            <a:r>
              <a:rPr dirty="0" baseline="13888" sz="3000" spc="-15" b="1">
                <a:solidFill>
                  <a:srgbClr val="9933FF"/>
                </a:solidFill>
                <a:latin typeface="Times New Roman"/>
                <a:cs typeface="Times New Roman"/>
              </a:rPr>
              <a:t>m</a:t>
            </a:r>
            <a:r>
              <a:rPr dirty="0" baseline="13888" sz="3000" spc="-15" b="1">
                <a:solidFill>
                  <a:srgbClr val="9933FF"/>
                </a:solidFill>
                <a:latin typeface="宋体"/>
                <a:cs typeface="宋体"/>
              </a:rPr>
              <a:t>×</a:t>
            </a:r>
            <a:r>
              <a:rPr dirty="0" baseline="13888" sz="3000" spc="-15" b="1">
                <a:solidFill>
                  <a:srgbClr val="9933FF"/>
                </a:solidFill>
                <a:latin typeface="Times New Roman"/>
                <a:cs typeface="Times New Roman"/>
              </a:rPr>
              <a:t>MVL</a:t>
            </a:r>
            <a:endParaRPr baseline="13888" sz="3000">
              <a:latin typeface="Times New Roman"/>
              <a:cs typeface="Times New Roman"/>
            </a:endParaRPr>
          </a:p>
          <a:p>
            <a:pPr marL="494665" indent="-456565">
              <a:lnSpc>
                <a:spcPct val="100000"/>
              </a:lnSpc>
              <a:spcBef>
                <a:spcPts val="320"/>
              </a:spcBef>
              <a:buClr>
                <a:srgbClr val="40458B"/>
              </a:buClr>
              <a:buSzPct val="89583"/>
              <a:buFont typeface="Wingdings"/>
              <a:buChar char=""/>
              <a:tabLst>
                <a:tab pos="494665" algn="l"/>
              </a:tabLst>
            </a:pPr>
            <a:r>
              <a:rPr dirty="0" sz="2400" spc="-10">
                <a:solidFill>
                  <a:srgbClr val="006FC0"/>
                </a:solidFill>
                <a:latin typeface="黑体"/>
                <a:cs typeface="黑体"/>
              </a:rPr>
              <a:t>总的执行时间为：</a:t>
            </a:r>
            <a:endParaRPr sz="2400">
              <a:latin typeface="黑体"/>
              <a:cs typeface="黑体"/>
            </a:endParaRPr>
          </a:p>
          <a:p>
            <a:pPr marL="292100">
              <a:lnSpc>
                <a:spcPct val="100000"/>
              </a:lnSpc>
              <a:spcBef>
                <a:spcPts val="1445"/>
              </a:spcBef>
            </a:pPr>
            <a:r>
              <a:rPr dirty="0" baseline="13888" sz="3000">
                <a:solidFill>
                  <a:srgbClr val="080808"/>
                </a:solidFill>
                <a:latin typeface="Times New Roman"/>
                <a:cs typeface="Times New Roman"/>
              </a:rPr>
              <a:t>T</a:t>
            </a:r>
            <a:r>
              <a:rPr dirty="0" sz="1300">
                <a:solidFill>
                  <a:srgbClr val="080808"/>
                </a:solidFill>
                <a:latin typeface="Times New Roman"/>
                <a:cs typeface="Times New Roman"/>
              </a:rPr>
              <a:t>all</a:t>
            </a:r>
            <a:r>
              <a:rPr dirty="0" sz="1300" spc="20">
                <a:solidFill>
                  <a:srgbClr val="080808"/>
                </a:solidFill>
                <a:latin typeface="Times New Roman"/>
                <a:cs typeface="Times New Roman"/>
              </a:rPr>
              <a:t> </a:t>
            </a:r>
            <a:r>
              <a:rPr dirty="0" baseline="13888" sz="3000">
                <a:solidFill>
                  <a:srgbClr val="080808"/>
                </a:solidFill>
                <a:latin typeface="Times New Roman"/>
                <a:cs typeface="Times New Roman"/>
              </a:rPr>
              <a:t>=</a:t>
            </a:r>
            <a:r>
              <a:rPr dirty="0" baseline="13888" sz="3000" spc="30">
                <a:solidFill>
                  <a:srgbClr val="080808"/>
                </a:solidFill>
                <a:latin typeface="Times New Roman"/>
                <a:cs typeface="Times New Roman"/>
              </a:rPr>
              <a:t> </a:t>
            </a:r>
            <a:r>
              <a:rPr dirty="0" baseline="13888" sz="3000">
                <a:solidFill>
                  <a:srgbClr val="080808"/>
                </a:solidFill>
                <a:latin typeface="Times New Roman"/>
                <a:cs typeface="Times New Roman"/>
              </a:rPr>
              <a:t>T</a:t>
            </a:r>
            <a:r>
              <a:rPr dirty="0" sz="1300">
                <a:solidFill>
                  <a:srgbClr val="080808"/>
                </a:solidFill>
                <a:latin typeface="Times New Roman"/>
                <a:cs typeface="Times New Roman"/>
              </a:rPr>
              <a:t>step</a:t>
            </a:r>
            <a:r>
              <a:rPr dirty="0" baseline="13888" sz="3000">
                <a:solidFill>
                  <a:srgbClr val="080808"/>
                </a:solidFill>
                <a:latin typeface="黑体"/>
                <a:cs typeface="黑体"/>
              </a:rPr>
              <a:t>×</a:t>
            </a:r>
            <a:r>
              <a:rPr dirty="0" baseline="13888" sz="3000">
                <a:solidFill>
                  <a:srgbClr val="080808"/>
                </a:solidFill>
                <a:latin typeface="Times New Roman"/>
                <a:cs typeface="Times New Roman"/>
              </a:rPr>
              <a:t>p+</a:t>
            </a:r>
            <a:r>
              <a:rPr dirty="0" baseline="13888" sz="3000" spc="-15">
                <a:solidFill>
                  <a:srgbClr val="080808"/>
                </a:solidFill>
                <a:latin typeface="Times New Roman"/>
                <a:cs typeface="Times New Roman"/>
              </a:rPr>
              <a:t> T</a:t>
            </a:r>
            <a:r>
              <a:rPr dirty="0" sz="1300" spc="-10">
                <a:solidFill>
                  <a:srgbClr val="080808"/>
                </a:solidFill>
                <a:latin typeface="Times New Roman"/>
                <a:cs typeface="Times New Roman"/>
              </a:rPr>
              <a:t>last</a:t>
            </a:r>
            <a:endParaRPr sz="1300">
              <a:latin typeface="Times New Roman"/>
              <a:cs typeface="Times New Roman"/>
            </a:endParaRPr>
          </a:p>
          <a:p>
            <a:pPr marL="665480">
              <a:lnSpc>
                <a:spcPct val="100000"/>
              </a:lnSpc>
              <a:spcBef>
                <a:spcPts val="470"/>
              </a:spcBef>
            </a:pPr>
            <a:r>
              <a:rPr dirty="0" sz="2000" b="1">
                <a:solidFill>
                  <a:srgbClr val="080808"/>
                </a:solidFill>
                <a:latin typeface="Times New Roman"/>
                <a:cs typeface="Times New Roman"/>
              </a:rPr>
              <a:t>=</a:t>
            </a:r>
            <a:r>
              <a:rPr dirty="0" sz="2000" b="1">
                <a:solidFill>
                  <a:srgbClr val="080808"/>
                </a:solidFill>
                <a:latin typeface="宋体"/>
                <a:cs typeface="宋体"/>
              </a:rPr>
              <a:t>（</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start</a:t>
            </a:r>
            <a:r>
              <a:rPr dirty="0" baseline="-21367" sz="1950" spc="307" b="1">
                <a:solidFill>
                  <a:srgbClr val="080808"/>
                </a:solidFill>
                <a:latin typeface="Times New Roman"/>
                <a:cs typeface="Times New Roman"/>
              </a:rPr>
              <a:t> </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loop</a:t>
            </a:r>
            <a:r>
              <a:rPr dirty="0" sz="2000" b="1">
                <a:solidFill>
                  <a:srgbClr val="080808"/>
                </a:solidFill>
                <a:latin typeface="Times New Roman"/>
                <a:cs typeface="Times New Roman"/>
              </a:rPr>
              <a:t>+</a:t>
            </a:r>
            <a:r>
              <a:rPr dirty="0" sz="2000" spc="-25" b="1">
                <a:solidFill>
                  <a:srgbClr val="080808"/>
                </a:solidFill>
                <a:latin typeface="Times New Roman"/>
                <a:cs typeface="Times New Roman"/>
              </a:rPr>
              <a:t> </a:t>
            </a:r>
            <a:r>
              <a:rPr dirty="0" sz="2000" b="1">
                <a:solidFill>
                  <a:srgbClr val="080808"/>
                </a:solidFill>
                <a:latin typeface="Times New Roman"/>
                <a:cs typeface="Times New Roman"/>
              </a:rPr>
              <a:t>m</a:t>
            </a:r>
            <a:r>
              <a:rPr dirty="0" sz="2000" b="1">
                <a:solidFill>
                  <a:srgbClr val="080808"/>
                </a:solidFill>
                <a:latin typeface="宋体"/>
                <a:cs typeface="宋体"/>
              </a:rPr>
              <a:t>×</a:t>
            </a:r>
            <a:r>
              <a:rPr dirty="0" sz="2000" b="1">
                <a:solidFill>
                  <a:srgbClr val="080808"/>
                </a:solidFill>
                <a:latin typeface="Times New Roman"/>
                <a:cs typeface="Times New Roman"/>
              </a:rPr>
              <a:t>MVL</a:t>
            </a:r>
            <a:r>
              <a:rPr dirty="0" sz="2000" b="1">
                <a:solidFill>
                  <a:srgbClr val="080808"/>
                </a:solidFill>
                <a:latin typeface="宋体"/>
                <a:cs typeface="宋体"/>
              </a:rPr>
              <a:t>）×</a:t>
            </a:r>
            <a:r>
              <a:rPr dirty="0" sz="2000" b="1">
                <a:solidFill>
                  <a:srgbClr val="080808"/>
                </a:solidFill>
                <a:latin typeface="Times New Roman"/>
                <a:cs typeface="Times New Roman"/>
              </a:rPr>
              <a:t>p</a:t>
            </a:r>
            <a:r>
              <a:rPr dirty="0" sz="2000" spc="-5" b="1">
                <a:solidFill>
                  <a:srgbClr val="080808"/>
                </a:solidFill>
                <a:latin typeface="Times New Roman"/>
                <a:cs typeface="Times New Roman"/>
              </a:rPr>
              <a:t> </a:t>
            </a:r>
            <a:r>
              <a:rPr dirty="0" sz="2000" b="1">
                <a:solidFill>
                  <a:srgbClr val="080808"/>
                </a:solidFill>
                <a:latin typeface="Times New Roman"/>
                <a:cs typeface="Times New Roman"/>
              </a:rPr>
              <a:t>+</a:t>
            </a:r>
            <a:r>
              <a:rPr dirty="0" sz="2000" b="1">
                <a:solidFill>
                  <a:srgbClr val="080808"/>
                </a:solidFill>
                <a:latin typeface="宋体"/>
                <a:cs typeface="宋体"/>
              </a:rPr>
              <a:t>（</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start</a:t>
            </a:r>
            <a:r>
              <a:rPr dirty="0" baseline="-21367" sz="1950" spc="307" b="1">
                <a:solidFill>
                  <a:srgbClr val="080808"/>
                </a:solidFill>
                <a:latin typeface="Times New Roman"/>
                <a:cs typeface="Times New Roman"/>
              </a:rPr>
              <a:t> </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loop</a:t>
            </a:r>
            <a:r>
              <a:rPr dirty="0" sz="2000" b="1">
                <a:solidFill>
                  <a:srgbClr val="080808"/>
                </a:solidFill>
                <a:latin typeface="Times New Roman"/>
                <a:cs typeface="Times New Roman"/>
              </a:rPr>
              <a:t>+</a:t>
            </a:r>
            <a:r>
              <a:rPr dirty="0" sz="2000" spc="-20" b="1">
                <a:solidFill>
                  <a:srgbClr val="080808"/>
                </a:solidFill>
                <a:latin typeface="Times New Roman"/>
                <a:cs typeface="Times New Roman"/>
              </a:rPr>
              <a:t> </a:t>
            </a:r>
            <a:r>
              <a:rPr dirty="0" sz="2000" b="1">
                <a:solidFill>
                  <a:srgbClr val="080808"/>
                </a:solidFill>
                <a:latin typeface="Times New Roman"/>
                <a:cs typeface="Times New Roman"/>
              </a:rPr>
              <a:t>m</a:t>
            </a:r>
            <a:r>
              <a:rPr dirty="0" sz="2000" b="1">
                <a:solidFill>
                  <a:srgbClr val="080808"/>
                </a:solidFill>
                <a:latin typeface="宋体"/>
                <a:cs typeface="宋体"/>
              </a:rPr>
              <a:t>×</a:t>
            </a:r>
            <a:r>
              <a:rPr dirty="0" sz="2000" b="1">
                <a:solidFill>
                  <a:srgbClr val="080808"/>
                </a:solidFill>
                <a:latin typeface="Times New Roman"/>
                <a:cs typeface="Times New Roman"/>
              </a:rPr>
              <a:t>q</a:t>
            </a:r>
            <a:r>
              <a:rPr dirty="0" sz="2000" spc="5" b="1">
                <a:solidFill>
                  <a:srgbClr val="080808"/>
                </a:solidFill>
                <a:latin typeface="Times New Roman"/>
                <a:cs typeface="Times New Roman"/>
              </a:rPr>
              <a:t> </a:t>
            </a:r>
            <a:r>
              <a:rPr dirty="0" sz="2000" spc="-50" b="1">
                <a:solidFill>
                  <a:srgbClr val="080808"/>
                </a:solidFill>
                <a:latin typeface="宋体"/>
                <a:cs typeface="宋体"/>
              </a:rPr>
              <a:t>）</a:t>
            </a:r>
            <a:endParaRPr sz="2000">
              <a:latin typeface="宋体"/>
              <a:cs typeface="宋体"/>
            </a:endParaRPr>
          </a:p>
          <a:p>
            <a:pPr marL="665480">
              <a:lnSpc>
                <a:spcPct val="100000"/>
              </a:lnSpc>
              <a:spcBef>
                <a:spcPts val="960"/>
              </a:spcBef>
            </a:pPr>
            <a:r>
              <a:rPr dirty="0" sz="2000" b="1">
                <a:solidFill>
                  <a:srgbClr val="080808"/>
                </a:solidFill>
                <a:latin typeface="Times New Roman"/>
                <a:cs typeface="Times New Roman"/>
              </a:rPr>
              <a:t>=</a:t>
            </a:r>
            <a:r>
              <a:rPr dirty="0" sz="2000" b="1">
                <a:solidFill>
                  <a:srgbClr val="080808"/>
                </a:solidFill>
                <a:latin typeface="宋体"/>
                <a:cs typeface="宋体"/>
              </a:rPr>
              <a:t>（</a:t>
            </a:r>
            <a:r>
              <a:rPr dirty="0" sz="2000" b="1">
                <a:solidFill>
                  <a:srgbClr val="080808"/>
                </a:solidFill>
                <a:latin typeface="Times New Roman"/>
                <a:cs typeface="Times New Roman"/>
              </a:rPr>
              <a:t>p +1</a:t>
            </a:r>
            <a:r>
              <a:rPr dirty="0" sz="2000" b="1">
                <a:solidFill>
                  <a:srgbClr val="080808"/>
                </a:solidFill>
                <a:latin typeface="宋体"/>
                <a:cs typeface="宋体"/>
              </a:rPr>
              <a:t>）×（</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start</a:t>
            </a:r>
            <a:r>
              <a:rPr dirty="0" baseline="-21367" sz="1950" spc="262" b="1">
                <a:solidFill>
                  <a:srgbClr val="080808"/>
                </a:solidFill>
                <a:latin typeface="Times New Roman"/>
                <a:cs typeface="Times New Roman"/>
              </a:rPr>
              <a:t> </a:t>
            </a:r>
            <a:r>
              <a:rPr dirty="0" sz="2000" b="1">
                <a:solidFill>
                  <a:srgbClr val="080808"/>
                </a:solidFill>
                <a:latin typeface="Times New Roman"/>
                <a:cs typeface="Times New Roman"/>
              </a:rPr>
              <a:t>+T</a:t>
            </a:r>
            <a:r>
              <a:rPr dirty="0" baseline="-21367" sz="1950" b="1">
                <a:solidFill>
                  <a:srgbClr val="080808"/>
                </a:solidFill>
                <a:latin typeface="Times New Roman"/>
                <a:cs typeface="Times New Roman"/>
              </a:rPr>
              <a:t>loop</a:t>
            </a:r>
            <a:r>
              <a:rPr dirty="0" sz="2000" b="1">
                <a:solidFill>
                  <a:srgbClr val="080808"/>
                </a:solidFill>
                <a:latin typeface="宋体"/>
                <a:cs typeface="宋体"/>
              </a:rPr>
              <a:t>）</a:t>
            </a:r>
            <a:r>
              <a:rPr dirty="0" sz="2000" b="1">
                <a:solidFill>
                  <a:srgbClr val="080808"/>
                </a:solidFill>
                <a:latin typeface="Times New Roman"/>
                <a:cs typeface="Times New Roman"/>
              </a:rPr>
              <a:t>+</a:t>
            </a:r>
            <a:r>
              <a:rPr dirty="0" sz="2000" spc="-15" b="1">
                <a:solidFill>
                  <a:srgbClr val="080808"/>
                </a:solidFill>
                <a:latin typeface="Times New Roman"/>
                <a:cs typeface="Times New Roman"/>
              </a:rPr>
              <a:t> </a:t>
            </a:r>
            <a:r>
              <a:rPr dirty="0" sz="2000" spc="-10" b="1">
                <a:solidFill>
                  <a:srgbClr val="080808"/>
                </a:solidFill>
                <a:latin typeface="Times New Roman"/>
                <a:cs typeface="Times New Roman"/>
              </a:rPr>
              <a:t>m</a:t>
            </a:r>
            <a:r>
              <a:rPr dirty="0" sz="2000" spc="-10" b="1">
                <a:solidFill>
                  <a:srgbClr val="080808"/>
                </a:solidFill>
                <a:latin typeface="宋体"/>
                <a:cs typeface="宋体"/>
              </a:rPr>
              <a:t>（</a:t>
            </a:r>
            <a:r>
              <a:rPr dirty="0" sz="2000" spc="-10" b="1">
                <a:solidFill>
                  <a:srgbClr val="080808"/>
                </a:solidFill>
                <a:latin typeface="Times New Roman"/>
                <a:cs typeface="Times New Roman"/>
              </a:rPr>
              <a:t>MVL</a:t>
            </a:r>
            <a:r>
              <a:rPr dirty="0" sz="2000" spc="-10" b="1">
                <a:solidFill>
                  <a:srgbClr val="080808"/>
                </a:solidFill>
                <a:latin typeface="宋体"/>
                <a:cs typeface="宋体"/>
              </a:rPr>
              <a:t>×</a:t>
            </a:r>
            <a:r>
              <a:rPr dirty="0" sz="2000" spc="-10" b="1">
                <a:solidFill>
                  <a:srgbClr val="080808"/>
                </a:solidFill>
                <a:latin typeface="Times New Roman"/>
                <a:cs typeface="Times New Roman"/>
              </a:rPr>
              <a:t>p+q</a:t>
            </a:r>
            <a:r>
              <a:rPr dirty="0" sz="2000" spc="-10" b="1">
                <a:solidFill>
                  <a:srgbClr val="080808"/>
                </a:solidFill>
                <a:latin typeface="宋体"/>
                <a:cs typeface="宋体"/>
              </a:rPr>
              <a:t>）</a:t>
            </a:r>
            <a:endParaRPr sz="2000">
              <a:latin typeface="宋体"/>
              <a:cs typeface="宋体"/>
            </a:endParaRPr>
          </a:p>
        </p:txBody>
      </p:sp>
      <p:sp>
        <p:nvSpPr>
          <p:cNvPr id="11" name="object 11" descr=""/>
          <p:cNvSpPr/>
          <p:nvPr/>
        </p:nvSpPr>
        <p:spPr>
          <a:xfrm>
            <a:off x="2398920" y="4582893"/>
            <a:ext cx="542290" cy="0"/>
          </a:xfrm>
          <a:custGeom>
            <a:avLst/>
            <a:gdLst/>
            <a:ahLst/>
            <a:cxnLst/>
            <a:rect l="l" t="t" r="r" b="b"/>
            <a:pathLst>
              <a:path w="542289" h="0">
                <a:moveTo>
                  <a:pt x="0" y="0"/>
                </a:moveTo>
                <a:lnTo>
                  <a:pt x="541952" y="0"/>
                </a:lnTo>
              </a:path>
            </a:pathLst>
          </a:custGeom>
          <a:ln w="10373">
            <a:solidFill>
              <a:srgbClr val="000000"/>
            </a:solidFill>
          </a:ln>
        </p:spPr>
        <p:txBody>
          <a:bodyPr wrap="square" lIns="0" tIns="0" rIns="0" bIns="0" rtlCol="0"/>
          <a:lstStyle/>
          <a:p/>
        </p:txBody>
      </p:sp>
      <p:sp>
        <p:nvSpPr>
          <p:cNvPr id="12" name="object 12" descr=""/>
          <p:cNvSpPr txBox="1"/>
          <p:nvPr/>
        </p:nvSpPr>
        <p:spPr>
          <a:xfrm>
            <a:off x="2595994" y="4218382"/>
            <a:ext cx="154305" cy="332105"/>
          </a:xfrm>
          <a:prstGeom prst="rect">
            <a:avLst/>
          </a:prstGeom>
        </p:spPr>
        <p:txBody>
          <a:bodyPr wrap="square" lIns="0" tIns="13970" rIns="0" bIns="0" rtlCol="0" vert="horz">
            <a:spAutoFit/>
          </a:bodyPr>
          <a:lstStyle/>
          <a:p>
            <a:pPr marL="12700">
              <a:lnSpc>
                <a:spcPct val="100000"/>
              </a:lnSpc>
              <a:spcBef>
                <a:spcPts val="110"/>
              </a:spcBef>
            </a:pPr>
            <a:r>
              <a:rPr dirty="0" sz="2000" spc="-50" i="1">
                <a:latin typeface="Times New Roman"/>
                <a:cs typeface="Times New Roman"/>
              </a:rPr>
              <a:t>n</a:t>
            </a:r>
            <a:endParaRPr sz="2000">
              <a:latin typeface="Times New Roman"/>
              <a:cs typeface="Times New Roman"/>
            </a:endParaRPr>
          </a:p>
        </p:txBody>
      </p:sp>
      <p:sp>
        <p:nvSpPr>
          <p:cNvPr id="13" name="object 13" descr=""/>
          <p:cNvSpPr txBox="1"/>
          <p:nvPr/>
        </p:nvSpPr>
        <p:spPr>
          <a:xfrm>
            <a:off x="3453927" y="4548414"/>
            <a:ext cx="942340" cy="204470"/>
          </a:xfrm>
          <a:prstGeom prst="rect">
            <a:avLst/>
          </a:prstGeom>
        </p:spPr>
        <p:txBody>
          <a:bodyPr wrap="square" lIns="0" tIns="15240" rIns="0" bIns="0" rtlCol="0" vert="horz">
            <a:spAutoFit/>
          </a:bodyPr>
          <a:lstStyle/>
          <a:p>
            <a:pPr marL="12700">
              <a:lnSpc>
                <a:spcPct val="100000"/>
              </a:lnSpc>
              <a:spcBef>
                <a:spcPts val="120"/>
              </a:spcBef>
              <a:tabLst>
                <a:tab pos="659130" algn="l"/>
              </a:tabLst>
            </a:pPr>
            <a:r>
              <a:rPr dirty="0" sz="1150" spc="-10" i="1">
                <a:latin typeface="Times New Roman"/>
                <a:cs typeface="Times New Roman"/>
              </a:rPr>
              <a:t>start</a:t>
            </a:r>
            <a:r>
              <a:rPr dirty="0" sz="1150" i="1">
                <a:latin typeface="Times New Roman"/>
                <a:cs typeface="Times New Roman"/>
              </a:rPr>
              <a:t>	</a:t>
            </a:r>
            <a:r>
              <a:rPr dirty="0" sz="1150" spc="-20" i="1">
                <a:latin typeface="Times New Roman"/>
                <a:cs typeface="Times New Roman"/>
              </a:rPr>
              <a:t>loop</a:t>
            </a:r>
            <a:endParaRPr sz="1150">
              <a:latin typeface="Times New Roman"/>
              <a:cs typeface="Times New Roman"/>
            </a:endParaRPr>
          </a:p>
        </p:txBody>
      </p:sp>
      <p:sp>
        <p:nvSpPr>
          <p:cNvPr id="14" name="object 14" descr=""/>
          <p:cNvSpPr txBox="1"/>
          <p:nvPr/>
        </p:nvSpPr>
        <p:spPr>
          <a:xfrm>
            <a:off x="2253578" y="4577445"/>
            <a:ext cx="840740" cy="332105"/>
          </a:xfrm>
          <a:prstGeom prst="rect">
            <a:avLst/>
          </a:prstGeom>
        </p:spPr>
        <p:txBody>
          <a:bodyPr wrap="square" lIns="0" tIns="13970" rIns="0" bIns="0" rtlCol="0" vert="horz">
            <a:spAutoFit/>
          </a:bodyPr>
          <a:lstStyle/>
          <a:p>
            <a:pPr marL="38100">
              <a:lnSpc>
                <a:spcPct val="100000"/>
              </a:lnSpc>
              <a:spcBef>
                <a:spcPts val="110"/>
              </a:spcBef>
            </a:pPr>
            <a:r>
              <a:rPr dirty="0" baseline="-6944" sz="3000">
                <a:latin typeface="Symbol"/>
                <a:cs typeface="Symbol"/>
              </a:rPr>
              <a:t></a:t>
            </a:r>
            <a:r>
              <a:rPr dirty="0" baseline="-6944" sz="3000" spc="-375">
                <a:latin typeface="Times New Roman"/>
                <a:cs typeface="Times New Roman"/>
              </a:rPr>
              <a:t> </a:t>
            </a:r>
            <a:r>
              <a:rPr dirty="0" sz="2000" i="1">
                <a:latin typeface="Times New Roman"/>
                <a:cs typeface="Times New Roman"/>
              </a:rPr>
              <a:t>MVL</a:t>
            </a:r>
            <a:r>
              <a:rPr dirty="0" sz="2000" spc="-295" i="1">
                <a:latin typeface="Times New Roman"/>
                <a:cs typeface="Times New Roman"/>
              </a:rPr>
              <a:t> </a:t>
            </a:r>
            <a:r>
              <a:rPr dirty="0" baseline="-6944" sz="3000" spc="-75">
                <a:latin typeface="Symbol"/>
                <a:cs typeface="Symbol"/>
              </a:rPr>
              <a:t></a:t>
            </a:r>
            <a:endParaRPr baseline="-6944" sz="3000">
              <a:latin typeface="Symbol"/>
              <a:cs typeface="Symbol"/>
            </a:endParaRPr>
          </a:p>
        </p:txBody>
      </p:sp>
      <p:sp>
        <p:nvSpPr>
          <p:cNvPr id="15" name="object 15" descr=""/>
          <p:cNvSpPr txBox="1"/>
          <p:nvPr/>
        </p:nvSpPr>
        <p:spPr>
          <a:xfrm>
            <a:off x="2893592" y="4378551"/>
            <a:ext cx="2188210" cy="332105"/>
          </a:xfrm>
          <a:prstGeom prst="rect">
            <a:avLst/>
          </a:prstGeom>
        </p:spPr>
        <p:txBody>
          <a:bodyPr wrap="square" lIns="0" tIns="13970" rIns="0" bIns="0" rtlCol="0" vert="horz">
            <a:spAutoFit/>
          </a:bodyPr>
          <a:lstStyle/>
          <a:p>
            <a:pPr marL="63500">
              <a:lnSpc>
                <a:spcPct val="100000"/>
              </a:lnSpc>
              <a:spcBef>
                <a:spcPts val="110"/>
              </a:spcBef>
              <a:tabLst>
                <a:tab pos="922655" algn="l"/>
                <a:tab pos="1516380" algn="l"/>
              </a:tabLst>
            </a:pPr>
            <a:r>
              <a:rPr dirty="0" baseline="30555" sz="3000" spc="127">
                <a:latin typeface="Symbol"/>
                <a:cs typeface="Symbol"/>
              </a:rPr>
              <a:t></a:t>
            </a:r>
            <a:r>
              <a:rPr dirty="0" sz="2000" spc="85">
                <a:latin typeface="Symbol"/>
                <a:cs typeface="Symbol"/>
              </a:rPr>
              <a:t></a:t>
            </a:r>
            <a:r>
              <a:rPr dirty="0" sz="2000" spc="85">
                <a:latin typeface="Times New Roman"/>
                <a:cs typeface="Times New Roman"/>
              </a:rPr>
              <a:t>(</a:t>
            </a:r>
            <a:r>
              <a:rPr dirty="0" sz="2000" spc="85" i="1">
                <a:latin typeface="Times New Roman"/>
                <a:cs typeface="Times New Roman"/>
              </a:rPr>
              <a:t>T</a:t>
            </a:r>
            <a:r>
              <a:rPr dirty="0" sz="2000" i="1">
                <a:latin typeface="Times New Roman"/>
                <a:cs typeface="Times New Roman"/>
              </a:rPr>
              <a:t>	</a:t>
            </a:r>
            <a:r>
              <a:rPr dirty="0" sz="2000">
                <a:latin typeface="Symbol"/>
                <a:cs typeface="Symbol"/>
              </a:rPr>
              <a:t></a:t>
            </a:r>
            <a:r>
              <a:rPr dirty="0" sz="2000" spc="-260">
                <a:latin typeface="Times New Roman"/>
                <a:cs typeface="Times New Roman"/>
              </a:rPr>
              <a:t> </a:t>
            </a:r>
            <a:r>
              <a:rPr dirty="0" sz="2000" spc="-50" i="1">
                <a:latin typeface="Times New Roman"/>
                <a:cs typeface="Times New Roman"/>
              </a:rPr>
              <a:t>T</a:t>
            </a:r>
            <a:r>
              <a:rPr dirty="0" sz="2000" i="1">
                <a:latin typeface="Times New Roman"/>
                <a:cs typeface="Times New Roman"/>
              </a:rPr>
              <a:t>	</a:t>
            </a:r>
            <a:r>
              <a:rPr dirty="0" sz="2000">
                <a:latin typeface="Times New Roman"/>
                <a:cs typeface="Times New Roman"/>
              </a:rPr>
              <a:t>)</a:t>
            </a:r>
            <a:r>
              <a:rPr dirty="0" sz="2000" spc="-175">
                <a:latin typeface="Times New Roman"/>
                <a:cs typeface="Times New Roman"/>
              </a:rPr>
              <a:t> </a:t>
            </a:r>
            <a:r>
              <a:rPr dirty="0" sz="2000">
                <a:latin typeface="Symbol"/>
                <a:cs typeface="Symbol"/>
              </a:rPr>
              <a:t></a:t>
            </a:r>
            <a:r>
              <a:rPr dirty="0" sz="2000" spc="-135">
                <a:latin typeface="Times New Roman"/>
                <a:cs typeface="Times New Roman"/>
              </a:rPr>
              <a:t> </a:t>
            </a:r>
            <a:r>
              <a:rPr dirty="0" sz="2000" spc="-25" i="1">
                <a:latin typeface="Times New Roman"/>
                <a:cs typeface="Times New Roman"/>
              </a:rPr>
              <a:t>mn</a:t>
            </a:r>
            <a:endParaRPr sz="2000">
              <a:latin typeface="Times New Roman"/>
              <a:cs typeface="Times New Roman"/>
            </a:endParaRPr>
          </a:p>
        </p:txBody>
      </p:sp>
      <p:sp>
        <p:nvSpPr>
          <p:cNvPr id="16" name="object 16" descr=""/>
          <p:cNvSpPr txBox="1"/>
          <p:nvPr/>
        </p:nvSpPr>
        <p:spPr>
          <a:xfrm>
            <a:off x="2051137" y="4236997"/>
            <a:ext cx="377825" cy="332105"/>
          </a:xfrm>
          <a:prstGeom prst="rect">
            <a:avLst/>
          </a:prstGeom>
        </p:spPr>
        <p:txBody>
          <a:bodyPr wrap="square" lIns="0" tIns="13970" rIns="0" bIns="0" rtlCol="0" vert="horz">
            <a:spAutoFit/>
          </a:bodyPr>
          <a:lstStyle/>
          <a:p>
            <a:pPr marL="38100">
              <a:lnSpc>
                <a:spcPct val="100000"/>
              </a:lnSpc>
              <a:spcBef>
                <a:spcPts val="110"/>
              </a:spcBef>
            </a:pPr>
            <a:r>
              <a:rPr dirty="0" baseline="-30555" sz="3000">
                <a:latin typeface="Symbol"/>
                <a:cs typeface="Symbol"/>
              </a:rPr>
              <a:t></a:t>
            </a:r>
            <a:r>
              <a:rPr dirty="0" baseline="-30555" sz="3000" spc="-15">
                <a:latin typeface="Times New Roman"/>
                <a:cs typeface="Times New Roman"/>
              </a:rPr>
              <a:t> </a:t>
            </a:r>
            <a:r>
              <a:rPr dirty="0" sz="2000" spc="-50">
                <a:latin typeface="Symbol"/>
                <a:cs typeface="Symbol"/>
              </a:rPr>
              <a:t></a:t>
            </a:r>
            <a:endParaRPr sz="2000">
              <a:latin typeface="Symbol"/>
              <a:cs typeface="Symbo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222044" y="1476911"/>
            <a:ext cx="7020559" cy="2480945"/>
          </a:xfrm>
          <a:prstGeom prst="rect">
            <a:avLst/>
          </a:prstGeom>
        </p:spPr>
        <p:txBody>
          <a:bodyPr wrap="square" lIns="0" tIns="188595" rIns="0" bIns="0" rtlCol="0" vert="horz">
            <a:spAutoFit/>
          </a:bodyPr>
          <a:lstStyle/>
          <a:p>
            <a:pPr marL="478790">
              <a:lnSpc>
                <a:spcPct val="100000"/>
              </a:lnSpc>
              <a:spcBef>
                <a:spcPts val="1485"/>
              </a:spcBef>
            </a:pPr>
            <a:r>
              <a:rPr dirty="0" sz="2000" spc="-15" b="1">
                <a:solidFill>
                  <a:srgbClr val="E14B04"/>
                </a:solidFill>
                <a:latin typeface="宋体"/>
                <a:cs typeface="宋体"/>
              </a:rPr>
              <a:t>例</a:t>
            </a:r>
            <a:r>
              <a:rPr dirty="0" sz="2000" b="1">
                <a:solidFill>
                  <a:srgbClr val="E14B04"/>
                </a:solidFill>
                <a:latin typeface="宋体"/>
                <a:cs typeface="宋体"/>
              </a:rPr>
              <a:t>4.5</a:t>
            </a:r>
            <a:r>
              <a:rPr dirty="0" sz="2000" spc="30" b="1">
                <a:solidFill>
                  <a:srgbClr val="E14B04"/>
                </a:solidFill>
                <a:latin typeface="宋体"/>
                <a:cs typeface="宋体"/>
              </a:rPr>
              <a:t> </a:t>
            </a:r>
            <a:r>
              <a:rPr dirty="0" sz="2000" spc="-15" b="1">
                <a:latin typeface="宋体"/>
                <a:cs typeface="宋体"/>
              </a:rPr>
              <a:t>在某向量处理机上执行</a:t>
            </a:r>
            <a:r>
              <a:rPr dirty="0" sz="2000" spc="-10" b="1">
                <a:latin typeface="宋体"/>
                <a:cs typeface="宋体"/>
              </a:rPr>
              <a:t>DAXPY</a:t>
            </a:r>
            <a:r>
              <a:rPr dirty="0" sz="2000" spc="-25" b="1">
                <a:latin typeface="宋体"/>
                <a:cs typeface="宋体"/>
              </a:rPr>
              <a:t>的向量指令序列，也即</a:t>
            </a:r>
            <a:endParaRPr sz="2000">
              <a:latin typeface="宋体"/>
              <a:cs typeface="宋体"/>
            </a:endParaRPr>
          </a:p>
          <a:p>
            <a:pPr marL="12700">
              <a:lnSpc>
                <a:spcPct val="100000"/>
              </a:lnSpc>
              <a:spcBef>
                <a:spcPts val="1380"/>
              </a:spcBef>
            </a:pPr>
            <a:r>
              <a:rPr dirty="0" sz="2000" spc="-25" b="1">
                <a:latin typeface="宋体"/>
                <a:cs typeface="宋体"/>
              </a:rPr>
              <a:t>完成：</a:t>
            </a:r>
            <a:endParaRPr sz="2000">
              <a:latin typeface="宋体"/>
              <a:cs typeface="宋体"/>
            </a:endParaRPr>
          </a:p>
          <a:p>
            <a:pPr algn="ctr" marR="673735">
              <a:lnSpc>
                <a:spcPct val="100000"/>
              </a:lnSpc>
              <a:spcBef>
                <a:spcPts val="220"/>
              </a:spcBef>
            </a:pPr>
            <a:r>
              <a:rPr dirty="0" sz="2250" spc="60" i="1">
                <a:latin typeface="Times New Roman"/>
                <a:cs typeface="Times New Roman"/>
              </a:rPr>
              <a:t>Y</a:t>
            </a:r>
            <a:r>
              <a:rPr dirty="0" sz="2250" spc="270" i="1">
                <a:latin typeface="Times New Roman"/>
                <a:cs typeface="Times New Roman"/>
              </a:rPr>
              <a:t> </a:t>
            </a:r>
            <a:r>
              <a:rPr dirty="0" sz="2250" spc="60">
                <a:latin typeface="Symbol"/>
                <a:cs typeface="Symbol"/>
              </a:rPr>
              <a:t></a:t>
            </a:r>
            <a:r>
              <a:rPr dirty="0" sz="2250">
                <a:latin typeface="Times New Roman"/>
                <a:cs typeface="Times New Roman"/>
              </a:rPr>
              <a:t> </a:t>
            </a:r>
            <a:r>
              <a:rPr dirty="0" sz="2250" spc="55" i="1">
                <a:latin typeface="Times New Roman"/>
                <a:cs typeface="Times New Roman"/>
              </a:rPr>
              <a:t>a</a:t>
            </a:r>
            <a:r>
              <a:rPr dirty="0" sz="2250" spc="-250" i="1">
                <a:latin typeface="Times New Roman"/>
                <a:cs typeface="Times New Roman"/>
              </a:rPr>
              <a:t> </a:t>
            </a:r>
            <a:r>
              <a:rPr dirty="0" sz="2250" spc="60">
                <a:latin typeface="Symbol"/>
                <a:cs typeface="Symbol"/>
              </a:rPr>
              <a:t></a:t>
            </a:r>
            <a:r>
              <a:rPr dirty="0" sz="2250" spc="-40">
                <a:latin typeface="Times New Roman"/>
                <a:cs typeface="Times New Roman"/>
              </a:rPr>
              <a:t> </a:t>
            </a:r>
            <a:r>
              <a:rPr dirty="0" sz="2250" spc="65" i="1">
                <a:latin typeface="Times New Roman"/>
                <a:cs typeface="Times New Roman"/>
              </a:rPr>
              <a:t>X</a:t>
            </a:r>
            <a:r>
              <a:rPr dirty="0" sz="2250" spc="210" i="1">
                <a:latin typeface="Times New Roman"/>
                <a:cs typeface="Times New Roman"/>
              </a:rPr>
              <a:t> </a:t>
            </a:r>
            <a:r>
              <a:rPr dirty="0" sz="2250" spc="60">
                <a:latin typeface="Symbol"/>
                <a:cs typeface="Symbol"/>
              </a:rPr>
              <a:t></a:t>
            </a:r>
            <a:r>
              <a:rPr dirty="0" sz="2250" spc="-260">
                <a:latin typeface="Times New Roman"/>
                <a:cs typeface="Times New Roman"/>
              </a:rPr>
              <a:t> </a:t>
            </a:r>
            <a:r>
              <a:rPr dirty="0" sz="2250" spc="10" i="1">
                <a:latin typeface="Times New Roman"/>
                <a:cs typeface="Times New Roman"/>
              </a:rPr>
              <a:t>Y</a:t>
            </a:r>
            <a:endParaRPr sz="2250">
              <a:latin typeface="Times New Roman"/>
              <a:cs typeface="Times New Roman"/>
            </a:endParaRPr>
          </a:p>
          <a:p>
            <a:pPr>
              <a:lnSpc>
                <a:spcPct val="100000"/>
              </a:lnSpc>
              <a:spcBef>
                <a:spcPts val="254"/>
              </a:spcBef>
            </a:pPr>
            <a:endParaRPr sz="2250">
              <a:latin typeface="Times New Roman"/>
              <a:cs typeface="Times New Roman"/>
            </a:endParaRPr>
          </a:p>
          <a:p>
            <a:pPr marL="70485">
              <a:lnSpc>
                <a:spcPct val="100000"/>
              </a:lnSpc>
            </a:pPr>
            <a:r>
              <a:rPr dirty="0" sz="2000" spc="-15" b="1">
                <a:latin typeface="宋体"/>
                <a:cs typeface="宋体"/>
              </a:rPr>
              <a:t>其中</a:t>
            </a:r>
            <a:r>
              <a:rPr dirty="0" sz="2000" b="1">
                <a:solidFill>
                  <a:srgbClr val="9933FF"/>
                </a:solidFill>
                <a:latin typeface="宋体"/>
                <a:cs typeface="宋体"/>
              </a:rPr>
              <a:t>X</a:t>
            </a:r>
            <a:r>
              <a:rPr dirty="0" sz="2000" spc="-15" b="1">
                <a:latin typeface="宋体"/>
                <a:cs typeface="宋体"/>
              </a:rPr>
              <a:t>和</a:t>
            </a:r>
            <a:r>
              <a:rPr dirty="0" sz="2000" b="1">
                <a:solidFill>
                  <a:srgbClr val="9933FF"/>
                </a:solidFill>
                <a:latin typeface="宋体"/>
                <a:cs typeface="宋体"/>
              </a:rPr>
              <a:t>Y</a:t>
            </a:r>
            <a:r>
              <a:rPr dirty="0" sz="2000" spc="-20" b="1">
                <a:latin typeface="宋体"/>
                <a:cs typeface="宋体"/>
              </a:rPr>
              <a:t>是向量，最初保存在主存中，</a:t>
            </a:r>
            <a:r>
              <a:rPr dirty="0" sz="2000" spc="-10" b="1">
                <a:solidFill>
                  <a:srgbClr val="9933FF"/>
                </a:solidFill>
                <a:latin typeface="宋体"/>
                <a:cs typeface="宋体"/>
              </a:rPr>
              <a:t>α</a:t>
            </a:r>
            <a:r>
              <a:rPr dirty="0" sz="2000" spc="-25" b="1">
                <a:latin typeface="宋体"/>
                <a:cs typeface="宋体"/>
              </a:rPr>
              <a:t>是一个标量，已存放</a:t>
            </a:r>
            <a:endParaRPr sz="2000">
              <a:latin typeface="宋体"/>
              <a:cs typeface="宋体"/>
            </a:endParaRPr>
          </a:p>
          <a:p>
            <a:pPr marL="12700">
              <a:lnSpc>
                <a:spcPct val="100000"/>
              </a:lnSpc>
              <a:spcBef>
                <a:spcPts val="1200"/>
              </a:spcBef>
            </a:pPr>
            <a:r>
              <a:rPr dirty="0" sz="2000" spc="-10" b="1">
                <a:latin typeface="宋体"/>
                <a:cs typeface="宋体"/>
              </a:rPr>
              <a:t>在寄存器</a:t>
            </a:r>
            <a:r>
              <a:rPr dirty="0" sz="2000" spc="-10" b="1">
                <a:solidFill>
                  <a:srgbClr val="9933FF"/>
                </a:solidFill>
                <a:latin typeface="宋体"/>
                <a:cs typeface="宋体"/>
              </a:rPr>
              <a:t>F0</a:t>
            </a:r>
            <a:r>
              <a:rPr dirty="0" sz="2000" spc="-25" b="1">
                <a:latin typeface="宋体"/>
                <a:cs typeface="宋体"/>
              </a:rPr>
              <a:t>中。它们的向量指令序列如下：</a:t>
            </a:r>
            <a:endParaRPr sz="2000">
              <a:latin typeface="宋体"/>
              <a:cs typeface="宋体"/>
            </a:endParaRPr>
          </a:p>
        </p:txBody>
      </p:sp>
      <p:sp>
        <p:nvSpPr>
          <p:cNvPr id="11" name="object 11" descr=""/>
          <p:cNvSpPr txBox="1"/>
          <p:nvPr/>
        </p:nvSpPr>
        <p:spPr>
          <a:xfrm>
            <a:off x="2850895" y="4097248"/>
            <a:ext cx="799465" cy="1854835"/>
          </a:xfrm>
          <a:prstGeom prst="rect">
            <a:avLst/>
          </a:prstGeom>
        </p:spPr>
        <p:txBody>
          <a:bodyPr wrap="square" lIns="0" tIns="12700" rIns="0" bIns="0" rtlCol="0" vert="horz">
            <a:spAutoFit/>
          </a:bodyPr>
          <a:lstStyle/>
          <a:p>
            <a:pPr marL="12700" marR="5080">
              <a:lnSpc>
                <a:spcPct val="120000"/>
              </a:lnSpc>
              <a:spcBef>
                <a:spcPts val="100"/>
              </a:spcBef>
            </a:pPr>
            <a:r>
              <a:rPr dirty="0" sz="2000" spc="-25" b="1">
                <a:solidFill>
                  <a:srgbClr val="40458B"/>
                </a:solidFill>
                <a:latin typeface="宋体"/>
                <a:cs typeface="宋体"/>
              </a:rPr>
              <a:t>LV </a:t>
            </a:r>
            <a:r>
              <a:rPr dirty="0" sz="2000" spc="-10" b="1">
                <a:solidFill>
                  <a:srgbClr val="40458B"/>
                </a:solidFill>
                <a:latin typeface="宋体"/>
                <a:cs typeface="宋体"/>
              </a:rPr>
              <a:t>MULTFV </a:t>
            </a:r>
            <a:r>
              <a:rPr dirty="0" sz="2000" spc="-25" b="1">
                <a:solidFill>
                  <a:srgbClr val="40458B"/>
                </a:solidFill>
                <a:latin typeface="宋体"/>
                <a:cs typeface="宋体"/>
              </a:rPr>
              <a:t>LV </a:t>
            </a:r>
            <a:r>
              <a:rPr dirty="0" sz="2000" spc="-20" b="1">
                <a:solidFill>
                  <a:srgbClr val="40458B"/>
                </a:solidFill>
                <a:latin typeface="宋体"/>
                <a:cs typeface="宋体"/>
              </a:rPr>
              <a:t>ADDV </a:t>
            </a:r>
            <a:r>
              <a:rPr dirty="0" sz="2000" spc="-25" b="1">
                <a:solidFill>
                  <a:srgbClr val="40458B"/>
                </a:solidFill>
                <a:latin typeface="宋体"/>
                <a:cs typeface="宋体"/>
              </a:rPr>
              <a:t>SV</a:t>
            </a:r>
            <a:endParaRPr sz="2000">
              <a:latin typeface="宋体"/>
              <a:cs typeface="宋体"/>
            </a:endParaRPr>
          </a:p>
        </p:txBody>
      </p:sp>
      <p:sp>
        <p:nvSpPr>
          <p:cNvPr id="12" name="object 12" descr=""/>
          <p:cNvSpPr txBox="1"/>
          <p:nvPr/>
        </p:nvSpPr>
        <p:spPr>
          <a:xfrm>
            <a:off x="4135152" y="4097248"/>
            <a:ext cx="1314450" cy="1854835"/>
          </a:xfrm>
          <a:prstGeom prst="rect">
            <a:avLst/>
          </a:prstGeom>
        </p:spPr>
        <p:txBody>
          <a:bodyPr wrap="square" lIns="0" tIns="12700" rIns="0" bIns="0" rtlCol="0" vert="horz">
            <a:spAutoFit/>
          </a:bodyPr>
          <a:lstStyle/>
          <a:p>
            <a:pPr marL="12700" marR="5080">
              <a:lnSpc>
                <a:spcPct val="120000"/>
              </a:lnSpc>
              <a:spcBef>
                <a:spcPts val="100"/>
              </a:spcBef>
            </a:pPr>
            <a:r>
              <a:rPr dirty="0" sz="2000" spc="-10" b="1">
                <a:solidFill>
                  <a:srgbClr val="40458B"/>
                </a:solidFill>
                <a:latin typeface="宋体"/>
                <a:cs typeface="宋体"/>
              </a:rPr>
              <a:t>V1，Rx V2，F0，V1</a:t>
            </a:r>
            <a:endParaRPr sz="2000">
              <a:latin typeface="宋体"/>
              <a:cs typeface="宋体"/>
            </a:endParaRPr>
          </a:p>
          <a:p>
            <a:pPr marL="12700">
              <a:lnSpc>
                <a:spcPct val="100000"/>
              </a:lnSpc>
              <a:spcBef>
                <a:spcPts val="480"/>
              </a:spcBef>
            </a:pPr>
            <a:r>
              <a:rPr dirty="0" sz="2000" spc="-10" b="1">
                <a:solidFill>
                  <a:srgbClr val="40458B"/>
                </a:solidFill>
                <a:latin typeface="宋体"/>
                <a:cs typeface="宋体"/>
              </a:rPr>
              <a:t>V3，Ry</a:t>
            </a:r>
            <a:endParaRPr sz="2000">
              <a:latin typeface="宋体"/>
              <a:cs typeface="宋体"/>
            </a:endParaRPr>
          </a:p>
          <a:p>
            <a:pPr marL="12700">
              <a:lnSpc>
                <a:spcPct val="100000"/>
              </a:lnSpc>
              <a:spcBef>
                <a:spcPts val="480"/>
              </a:spcBef>
            </a:pPr>
            <a:r>
              <a:rPr dirty="0" sz="2000" spc="-10" b="1">
                <a:solidFill>
                  <a:srgbClr val="40458B"/>
                </a:solidFill>
                <a:latin typeface="宋体"/>
                <a:cs typeface="宋体"/>
              </a:rPr>
              <a:t>V4，V2，V3</a:t>
            </a:r>
            <a:endParaRPr sz="2000">
              <a:latin typeface="宋体"/>
              <a:cs typeface="宋体"/>
            </a:endParaRPr>
          </a:p>
          <a:p>
            <a:pPr marL="12700">
              <a:lnSpc>
                <a:spcPct val="100000"/>
              </a:lnSpc>
              <a:spcBef>
                <a:spcPts val="480"/>
              </a:spcBef>
            </a:pPr>
            <a:r>
              <a:rPr dirty="0" sz="2000" spc="-10" b="1">
                <a:solidFill>
                  <a:srgbClr val="40458B"/>
                </a:solidFill>
                <a:latin typeface="宋体"/>
                <a:cs typeface="宋体"/>
              </a:rPr>
              <a:t>V4，Ry</a:t>
            </a:r>
            <a:endParaRPr sz="2000">
              <a:latin typeface="宋体"/>
              <a:cs typeface="宋体"/>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096670" y="1913610"/>
            <a:ext cx="7298690" cy="3226435"/>
          </a:xfrm>
          <a:prstGeom prst="rect">
            <a:avLst/>
          </a:prstGeom>
        </p:spPr>
        <p:txBody>
          <a:bodyPr wrap="square" lIns="0" tIns="12700" rIns="0" bIns="0" rtlCol="0" vert="horz">
            <a:spAutoFit/>
          </a:bodyPr>
          <a:lstStyle/>
          <a:p>
            <a:pPr marL="38100" marR="78105" indent="444500">
              <a:lnSpc>
                <a:spcPct val="150000"/>
              </a:lnSpc>
              <a:spcBef>
                <a:spcPts val="100"/>
              </a:spcBef>
            </a:pPr>
            <a:r>
              <a:rPr dirty="0" sz="2000" spc="-10" b="1">
                <a:solidFill>
                  <a:srgbClr val="080808"/>
                </a:solidFill>
                <a:latin typeface="宋体"/>
                <a:cs typeface="宋体"/>
              </a:rPr>
              <a:t>假设向量寄存器的长度</a:t>
            </a:r>
            <a:r>
              <a:rPr dirty="0" sz="2000" spc="-10" b="1">
                <a:solidFill>
                  <a:srgbClr val="9933FF"/>
                </a:solidFill>
                <a:latin typeface="Times New Roman"/>
                <a:cs typeface="Times New Roman"/>
              </a:rPr>
              <a:t>MVL=64</a:t>
            </a:r>
            <a:r>
              <a:rPr dirty="0" sz="2000" spc="-10" b="1">
                <a:solidFill>
                  <a:srgbClr val="080808"/>
                </a:solidFill>
                <a:latin typeface="宋体"/>
                <a:cs typeface="宋体"/>
              </a:rPr>
              <a:t>，</a:t>
            </a:r>
            <a:r>
              <a:rPr dirty="0" sz="2000" spc="-10" b="1">
                <a:solidFill>
                  <a:srgbClr val="9933FF"/>
                </a:solidFill>
                <a:latin typeface="Times New Roman"/>
                <a:cs typeface="Times New Roman"/>
              </a:rPr>
              <a:t>T</a:t>
            </a:r>
            <a:r>
              <a:rPr dirty="0" baseline="-21367" sz="1950" spc="-15" b="1">
                <a:solidFill>
                  <a:srgbClr val="9933FF"/>
                </a:solidFill>
                <a:latin typeface="Times New Roman"/>
                <a:cs typeface="Times New Roman"/>
              </a:rPr>
              <a:t>loop</a:t>
            </a:r>
            <a:r>
              <a:rPr dirty="0" sz="2000" spc="-10" b="1">
                <a:solidFill>
                  <a:srgbClr val="9933FF"/>
                </a:solidFill>
                <a:latin typeface="Times New Roman"/>
                <a:cs typeface="Times New Roman"/>
              </a:rPr>
              <a:t>=15</a:t>
            </a:r>
            <a:r>
              <a:rPr dirty="0" sz="2000" spc="-20" b="1">
                <a:solidFill>
                  <a:srgbClr val="080808"/>
                </a:solidFill>
                <a:latin typeface="宋体"/>
                <a:cs typeface="宋体"/>
              </a:rPr>
              <a:t>，各功能部件的启动时间为：</a:t>
            </a:r>
            <a:endParaRPr sz="2000">
              <a:latin typeface="宋体"/>
              <a:cs typeface="宋体"/>
            </a:endParaRPr>
          </a:p>
          <a:p>
            <a:pPr marL="863600">
              <a:lnSpc>
                <a:spcPct val="100000"/>
              </a:lnSpc>
              <a:spcBef>
                <a:spcPts val="1200"/>
              </a:spcBef>
            </a:pPr>
            <a:r>
              <a:rPr dirty="0" sz="2000" spc="-15" b="1">
                <a:solidFill>
                  <a:srgbClr val="080808"/>
                </a:solidFill>
                <a:latin typeface="宋体"/>
                <a:cs typeface="宋体"/>
              </a:rPr>
              <a:t>取数和存数部件为</a:t>
            </a:r>
            <a:r>
              <a:rPr dirty="0" sz="2000" spc="-10" b="1">
                <a:solidFill>
                  <a:srgbClr val="9933FF"/>
                </a:solidFill>
                <a:latin typeface="Times New Roman"/>
                <a:cs typeface="Times New Roman"/>
              </a:rPr>
              <a:t>12</a:t>
            </a:r>
            <a:r>
              <a:rPr dirty="0" sz="2000" spc="-25" b="1">
                <a:solidFill>
                  <a:srgbClr val="080808"/>
                </a:solidFill>
                <a:latin typeface="宋体"/>
                <a:cs typeface="宋体"/>
              </a:rPr>
              <a:t>个时钟周期；</a:t>
            </a:r>
            <a:endParaRPr sz="2000">
              <a:latin typeface="宋体"/>
              <a:cs typeface="宋体"/>
            </a:endParaRPr>
          </a:p>
          <a:p>
            <a:pPr marL="863600" marR="3485515">
              <a:lnSpc>
                <a:spcPct val="150000"/>
              </a:lnSpc>
            </a:pPr>
            <a:r>
              <a:rPr dirty="0" sz="2000" spc="-10" b="1">
                <a:solidFill>
                  <a:srgbClr val="080808"/>
                </a:solidFill>
                <a:latin typeface="宋体"/>
                <a:cs typeface="宋体"/>
              </a:rPr>
              <a:t>乘法部件为</a:t>
            </a:r>
            <a:r>
              <a:rPr dirty="0" sz="2000" b="1">
                <a:solidFill>
                  <a:srgbClr val="9933FF"/>
                </a:solidFill>
                <a:latin typeface="Times New Roman"/>
                <a:cs typeface="Times New Roman"/>
              </a:rPr>
              <a:t>7</a:t>
            </a:r>
            <a:r>
              <a:rPr dirty="0" sz="2000" spc="-25" b="1">
                <a:solidFill>
                  <a:srgbClr val="080808"/>
                </a:solidFill>
                <a:latin typeface="宋体"/>
                <a:cs typeface="宋体"/>
              </a:rPr>
              <a:t>个时钟周期；</a:t>
            </a:r>
            <a:r>
              <a:rPr dirty="0" sz="2000" spc="-10" b="1">
                <a:solidFill>
                  <a:srgbClr val="080808"/>
                </a:solidFill>
                <a:latin typeface="宋体"/>
                <a:cs typeface="宋体"/>
              </a:rPr>
              <a:t>加法部件为</a:t>
            </a:r>
            <a:r>
              <a:rPr dirty="0" sz="2000" b="1">
                <a:solidFill>
                  <a:srgbClr val="9933FF"/>
                </a:solidFill>
                <a:latin typeface="Times New Roman"/>
                <a:cs typeface="Times New Roman"/>
              </a:rPr>
              <a:t>6</a:t>
            </a:r>
            <a:r>
              <a:rPr dirty="0" sz="2000" spc="-25" b="1">
                <a:solidFill>
                  <a:srgbClr val="080808"/>
                </a:solidFill>
                <a:latin typeface="宋体"/>
                <a:cs typeface="宋体"/>
              </a:rPr>
              <a:t>个时钟周期。</a:t>
            </a:r>
            <a:endParaRPr sz="2000">
              <a:latin typeface="宋体"/>
              <a:cs typeface="宋体"/>
            </a:endParaRPr>
          </a:p>
          <a:p>
            <a:pPr marL="38100" marR="30480" indent="570865">
              <a:lnSpc>
                <a:spcPct val="150000"/>
              </a:lnSpc>
              <a:spcBef>
                <a:spcPts val="5"/>
              </a:spcBef>
            </a:pPr>
            <a:r>
              <a:rPr dirty="0" sz="2000" spc="-25" b="1">
                <a:solidFill>
                  <a:srgbClr val="080808"/>
                </a:solidFill>
                <a:latin typeface="宋体"/>
                <a:cs typeface="宋体"/>
              </a:rPr>
              <a:t>分别对于不采用向量链接技术和采用链接技术的两种情况，</a:t>
            </a:r>
            <a:r>
              <a:rPr dirty="0" sz="2000" spc="-20" b="1">
                <a:solidFill>
                  <a:srgbClr val="080808"/>
                </a:solidFill>
                <a:latin typeface="宋体"/>
                <a:cs typeface="宋体"/>
              </a:rPr>
              <a:t>求完成上述向量操作的总执行时间。</a:t>
            </a:r>
            <a:endParaRPr sz="2000">
              <a:latin typeface="宋体"/>
              <a:cs typeface="宋体"/>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7375" y="983995"/>
            <a:ext cx="7059295" cy="330835"/>
          </a:xfrm>
          <a:prstGeom prst="rect"/>
        </p:spPr>
        <p:txBody>
          <a:bodyPr wrap="square" lIns="0" tIns="13335" rIns="0" bIns="0" rtlCol="0" vert="horz">
            <a:spAutoFit/>
          </a:bodyPr>
          <a:lstStyle/>
          <a:p>
            <a:pPr marL="12700">
              <a:lnSpc>
                <a:spcPct val="100000"/>
              </a:lnSpc>
              <a:spcBef>
                <a:spcPts val="105"/>
              </a:spcBef>
            </a:pPr>
            <a:r>
              <a:rPr dirty="0" sz="2000" spc="-10" b="1">
                <a:solidFill>
                  <a:srgbClr val="E14B04"/>
                </a:solidFill>
                <a:latin typeface="宋体"/>
                <a:cs typeface="宋体"/>
              </a:rPr>
              <a:t>解：</a:t>
            </a:r>
            <a:r>
              <a:rPr dirty="0" sz="2000" spc="-15" b="1">
                <a:solidFill>
                  <a:srgbClr val="080808"/>
                </a:solidFill>
                <a:latin typeface="宋体"/>
                <a:cs typeface="宋体"/>
              </a:rPr>
              <a:t>当不采用向量链接技术时，</a:t>
            </a:r>
            <a:r>
              <a:rPr dirty="0" sz="2000" spc="-20" b="1">
                <a:solidFill>
                  <a:srgbClr val="000000"/>
                </a:solidFill>
                <a:latin typeface="宋体"/>
                <a:cs typeface="宋体"/>
              </a:rPr>
              <a:t>可以把上述五条向量指令分成</a:t>
            </a:r>
            <a:r>
              <a:rPr dirty="0" sz="2000" spc="-50" b="1">
                <a:solidFill>
                  <a:srgbClr val="000000"/>
                </a:solidFill>
                <a:latin typeface="Times New Roman"/>
                <a:cs typeface="Times New Roman"/>
              </a:rPr>
              <a:t>4</a:t>
            </a:r>
            <a:endParaRPr sz="2000">
              <a:latin typeface="Times New Roman"/>
              <a:cs typeface="Times New Roman"/>
            </a:endParaRPr>
          </a:p>
        </p:txBody>
      </p:sp>
      <p:sp>
        <p:nvSpPr>
          <p:cNvPr id="3" name="object 3" descr=""/>
          <p:cNvSpPr txBox="1"/>
          <p:nvPr/>
        </p:nvSpPr>
        <p:spPr>
          <a:xfrm>
            <a:off x="809244" y="1288725"/>
            <a:ext cx="7428865" cy="3684904"/>
          </a:xfrm>
          <a:prstGeom prst="rect">
            <a:avLst/>
          </a:prstGeom>
        </p:spPr>
        <p:txBody>
          <a:bodyPr wrap="square" lIns="0" tIns="165735" rIns="0" bIns="0" rtlCol="0" vert="horz">
            <a:spAutoFit/>
          </a:bodyPr>
          <a:lstStyle/>
          <a:p>
            <a:pPr marL="38100">
              <a:lnSpc>
                <a:spcPct val="100000"/>
              </a:lnSpc>
              <a:spcBef>
                <a:spcPts val="1305"/>
              </a:spcBef>
            </a:pPr>
            <a:r>
              <a:rPr dirty="0" sz="2000" spc="-25" b="1">
                <a:latin typeface="宋体"/>
                <a:cs typeface="宋体"/>
              </a:rPr>
              <a:t>个编队：</a:t>
            </a:r>
            <a:endParaRPr sz="2000">
              <a:latin typeface="宋体"/>
              <a:cs typeface="宋体"/>
            </a:endParaRPr>
          </a:p>
          <a:p>
            <a:pPr marL="1752600" indent="-457200">
              <a:lnSpc>
                <a:spcPct val="100000"/>
              </a:lnSpc>
              <a:spcBef>
                <a:spcPts val="1200"/>
              </a:spcBef>
              <a:buClr>
                <a:srgbClr val="4668F5"/>
              </a:buClr>
              <a:buSzPct val="65000"/>
              <a:buFont typeface="Wingdings"/>
              <a:buChar char=""/>
              <a:tabLst>
                <a:tab pos="1752600" algn="l"/>
              </a:tabLst>
            </a:pPr>
            <a:r>
              <a:rPr dirty="0" sz="2000" spc="-10" b="1">
                <a:solidFill>
                  <a:srgbClr val="00AFEF"/>
                </a:solidFill>
                <a:latin typeface="宋体"/>
                <a:cs typeface="宋体"/>
              </a:rPr>
              <a:t>第一编队：</a:t>
            </a:r>
            <a:r>
              <a:rPr dirty="0" sz="2000" b="1">
                <a:solidFill>
                  <a:srgbClr val="D50092"/>
                </a:solidFill>
                <a:latin typeface="宋体"/>
                <a:cs typeface="宋体"/>
              </a:rPr>
              <a:t>LV</a:t>
            </a:r>
            <a:r>
              <a:rPr dirty="0" sz="2000" spc="-45" b="1">
                <a:solidFill>
                  <a:srgbClr val="D50092"/>
                </a:solidFill>
                <a:latin typeface="宋体"/>
                <a:cs typeface="宋体"/>
              </a:rPr>
              <a:t> </a:t>
            </a:r>
            <a:r>
              <a:rPr dirty="0" sz="2000" spc="-10" b="1">
                <a:solidFill>
                  <a:srgbClr val="D50092"/>
                </a:solidFill>
                <a:latin typeface="宋体"/>
                <a:cs typeface="宋体"/>
              </a:rPr>
              <a:t>V1，Rx；</a:t>
            </a:r>
            <a:endParaRPr sz="2000">
              <a:latin typeface="宋体"/>
              <a:cs typeface="宋体"/>
            </a:endParaRPr>
          </a:p>
          <a:p>
            <a:pPr marL="1752600" indent="-457200">
              <a:lnSpc>
                <a:spcPct val="100000"/>
              </a:lnSpc>
              <a:spcBef>
                <a:spcPts val="1200"/>
              </a:spcBef>
              <a:buClr>
                <a:srgbClr val="4668F5"/>
              </a:buClr>
              <a:buSzPct val="65000"/>
              <a:buFont typeface="Wingdings"/>
              <a:buChar char=""/>
              <a:tabLst>
                <a:tab pos="1752600" algn="l"/>
              </a:tabLst>
            </a:pPr>
            <a:r>
              <a:rPr dirty="0" sz="2000" spc="-10" b="1">
                <a:solidFill>
                  <a:srgbClr val="00AFEF"/>
                </a:solidFill>
                <a:latin typeface="宋体"/>
                <a:cs typeface="宋体"/>
              </a:rPr>
              <a:t>第二编队：</a:t>
            </a:r>
            <a:r>
              <a:rPr dirty="0" sz="2000" b="1">
                <a:solidFill>
                  <a:srgbClr val="D50092"/>
                </a:solidFill>
                <a:latin typeface="宋体"/>
                <a:cs typeface="宋体"/>
              </a:rPr>
              <a:t>MULTFV</a:t>
            </a:r>
            <a:r>
              <a:rPr dirty="0" sz="2000" spc="-105" b="1">
                <a:solidFill>
                  <a:srgbClr val="D50092"/>
                </a:solidFill>
                <a:latin typeface="宋体"/>
                <a:cs typeface="宋体"/>
              </a:rPr>
              <a:t> </a:t>
            </a:r>
            <a:r>
              <a:rPr dirty="0" sz="2000" b="1">
                <a:solidFill>
                  <a:srgbClr val="D50092"/>
                </a:solidFill>
                <a:latin typeface="宋体"/>
                <a:cs typeface="宋体"/>
              </a:rPr>
              <a:t>V2，F0，V1；LV</a:t>
            </a:r>
            <a:r>
              <a:rPr dirty="0" sz="2000" spc="-100" b="1">
                <a:solidFill>
                  <a:srgbClr val="D50092"/>
                </a:solidFill>
                <a:latin typeface="宋体"/>
                <a:cs typeface="宋体"/>
              </a:rPr>
              <a:t> </a:t>
            </a:r>
            <a:r>
              <a:rPr dirty="0" sz="2000" spc="-10" b="1">
                <a:solidFill>
                  <a:srgbClr val="D50092"/>
                </a:solidFill>
                <a:latin typeface="宋体"/>
                <a:cs typeface="宋体"/>
              </a:rPr>
              <a:t>V3，Ry；</a:t>
            </a:r>
            <a:endParaRPr sz="2000">
              <a:latin typeface="宋体"/>
              <a:cs typeface="宋体"/>
            </a:endParaRPr>
          </a:p>
          <a:p>
            <a:pPr marL="1752600" indent="-457200">
              <a:lnSpc>
                <a:spcPct val="100000"/>
              </a:lnSpc>
              <a:spcBef>
                <a:spcPts val="1200"/>
              </a:spcBef>
              <a:buClr>
                <a:srgbClr val="4668F5"/>
              </a:buClr>
              <a:buSzPct val="65000"/>
              <a:buFont typeface="Wingdings"/>
              <a:buChar char=""/>
              <a:tabLst>
                <a:tab pos="1752600" algn="l"/>
              </a:tabLst>
            </a:pPr>
            <a:r>
              <a:rPr dirty="0" sz="2000" spc="-15" b="1">
                <a:solidFill>
                  <a:srgbClr val="00AFEF"/>
                </a:solidFill>
                <a:latin typeface="宋体"/>
                <a:cs typeface="宋体"/>
              </a:rPr>
              <a:t>第三编队：</a:t>
            </a:r>
            <a:r>
              <a:rPr dirty="0" sz="2000" b="1">
                <a:solidFill>
                  <a:srgbClr val="D50092"/>
                </a:solidFill>
                <a:latin typeface="宋体"/>
                <a:cs typeface="宋体"/>
              </a:rPr>
              <a:t>ADDV</a:t>
            </a:r>
            <a:r>
              <a:rPr dirty="0" sz="2000" spc="-60" b="1">
                <a:solidFill>
                  <a:srgbClr val="D50092"/>
                </a:solidFill>
                <a:latin typeface="宋体"/>
                <a:cs typeface="宋体"/>
              </a:rPr>
              <a:t> </a:t>
            </a:r>
            <a:r>
              <a:rPr dirty="0" sz="2000" spc="-10" b="1">
                <a:solidFill>
                  <a:srgbClr val="D50092"/>
                </a:solidFill>
                <a:latin typeface="宋体"/>
                <a:cs typeface="宋体"/>
              </a:rPr>
              <a:t>V4，V2，V3；</a:t>
            </a:r>
            <a:endParaRPr sz="2000">
              <a:latin typeface="宋体"/>
              <a:cs typeface="宋体"/>
            </a:endParaRPr>
          </a:p>
          <a:p>
            <a:pPr marL="1752600" indent="-457200">
              <a:lnSpc>
                <a:spcPct val="100000"/>
              </a:lnSpc>
              <a:spcBef>
                <a:spcPts val="1205"/>
              </a:spcBef>
              <a:buClr>
                <a:srgbClr val="4668F5"/>
              </a:buClr>
              <a:buSzPct val="65000"/>
              <a:buFont typeface="Wingdings"/>
              <a:buChar char=""/>
              <a:tabLst>
                <a:tab pos="1752600" algn="l"/>
              </a:tabLst>
            </a:pPr>
            <a:r>
              <a:rPr dirty="0" sz="2000" spc="-10" b="1">
                <a:solidFill>
                  <a:srgbClr val="00AFEF"/>
                </a:solidFill>
                <a:latin typeface="宋体"/>
                <a:cs typeface="宋体"/>
              </a:rPr>
              <a:t>第四编队：</a:t>
            </a:r>
            <a:r>
              <a:rPr dirty="0" sz="2000" b="1">
                <a:solidFill>
                  <a:srgbClr val="D50092"/>
                </a:solidFill>
                <a:latin typeface="宋体"/>
                <a:cs typeface="宋体"/>
              </a:rPr>
              <a:t>SV</a:t>
            </a:r>
            <a:r>
              <a:rPr dirty="0" sz="2000" spc="-15" b="1">
                <a:solidFill>
                  <a:srgbClr val="D50092"/>
                </a:solidFill>
                <a:latin typeface="宋体"/>
                <a:cs typeface="宋体"/>
              </a:rPr>
              <a:t> </a:t>
            </a:r>
            <a:r>
              <a:rPr dirty="0" sz="2000" spc="-10" b="1">
                <a:solidFill>
                  <a:srgbClr val="D50092"/>
                </a:solidFill>
                <a:latin typeface="宋体"/>
                <a:cs typeface="宋体"/>
              </a:rPr>
              <a:t>V4，Ry</a:t>
            </a:r>
            <a:r>
              <a:rPr dirty="0" sz="2000" spc="-50" b="1">
                <a:solidFill>
                  <a:srgbClr val="D50092"/>
                </a:solidFill>
                <a:latin typeface="宋体"/>
                <a:cs typeface="宋体"/>
              </a:rPr>
              <a:t>。</a:t>
            </a:r>
            <a:endParaRPr sz="2000">
              <a:latin typeface="宋体"/>
              <a:cs typeface="宋体"/>
            </a:endParaRPr>
          </a:p>
          <a:p>
            <a:pPr marL="1112520">
              <a:lnSpc>
                <a:spcPct val="100000"/>
              </a:lnSpc>
              <a:spcBef>
                <a:spcPts val="1200"/>
              </a:spcBef>
            </a:pPr>
            <a:r>
              <a:rPr dirty="0" sz="2000" spc="-10" b="1">
                <a:solidFill>
                  <a:srgbClr val="E14B04"/>
                </a:solidFill>
                <a:latin typeface="Times New Roman"/>
                <a:cs typeface="Times New Roman"/>
              </a:rPr>
              <a:t>T</a:t>
            </a:r>
            <a:r>
              <a:rPr dirty="0" baseline="-21367" sz="1950" spc="-15" b="1">
                <a:solidFill>
                  <a:srgbClr val="E14B04"/>
                </a:solidFill>
                <a:latin typeface="Times New Roman"/>
                <a:cs typeface="Times New Roman"/>
              </a:rPr>
              <a:t>start</a:t>
            </a:r>
            <a:r>
              <a:rPr dirty="0" sz="2000" spc="-10" b="1">
                <a:solidFill>
                  <a:srgbClr val="E14B04"/>
                </a:solidFill>
                <a:latin typeface="Times New Roman"/>
                <a:cs typeface="Times New Roman"/>
              </a:rPr>
              <a:t>=12+12+6+12</a:t>
            </a:r>
            <a:r>
              <a:rPr dirty="0" sz="2000" spc="-10" b="1">
                <a:solidFill>
                  <a:srgbClr val="E14B04"/>
                </a:solidFill>
                <a:latin typeface="宋体"/>
                <a:cs typeface="宋体"/>
              </a:rPr>
              <a:t>，</a:t>
            </a:r>
            <a:r>
              <a:rPr dirty="0" sz="2000" spc="-10" b="1">
                <a:solidFill>
                  <a:srgbClr val="E14B04"/>
                </a:solidFill>
                <a:latin typeface="Times New Roman"/>
                <a:cs typeface="Times New Roman"/>
              </a:rPr>
              <a:t>m=4</a:t>
            </a:r>
            <a:endParaRPr sz="2000">
              <a:latin typeface="Times New Roman"/>
              <a:cs typeface="Times New Roman"/>
            </a:endParaRPr>
          </a:p>
          <a:p>
            <a:pPr marL="38100" marR="30480" indent="693420">
              <a:lnSpc>
                <a:spcPct val="150000"/>
              </a:lnSpc>
            </a:pPr>
            <a:r>
              <a:rPr dirty="0" sz="2000" spc="-10" b="1">
                <a:solidFill>
                  <a:srgbClr val="40458B"/>
                </a:solidFill>
                <a:latin typeface="宋体"/>
                <a:cs typeface="宋体"/>
              </a:rPr>
              <a:t>可知，对</a:t>
            </a:r>
            <a:r>
              <a:rPr dirty="0" sz="2000" b="1">
                <a:solidFill>
                  <a:srgbClr val="40458B"/>
                </a:solidFill>
                <a:latin typeface="Times New Roman"/>
                <a:cs typeface="Times New Roman"/>
              </a:rPr>
              <a:t>n</a:t>
            </a:r>
            <a:r>
              <a:rPr dirty="0" sz="2000" spc="-15" b="1">
                <a:solidFill>
                  <a:srgbClr val="40458B"/>
                </a:solidFill>
                <a:latin typeface="宋体"/>
                <a:cs typeface="宋体"/>
              </a:rPr>
              <a:t>个向量元素进行</a:t>
            </a:r>
            <a:r>
              <a:rPr dirty="0" sz="2000" spc="-20" b="1">
                <a:solidFill>
                  <a:srgbClr val="40458B"/>
                </a:solidFill>
                <a:latin typeface="Times New Roman"/>
                <a:cs typeface="Times New Roman"/>
              </a:rPr>
              <a:t>DAXPY</a:t>
            </a:r>
            <a:r>
              <a:rPr dirty="0" sz="2000" spc="-25" b="1">
                <a:solidFill>
                  <a:srgbClr val="40458B"/>
                </a:solidFill>
                <a:latin typeface="宋体"/>
                <a:cs typeface="宋体"/>
              </a:rPr>
              <a:t>表达式计算所需的时钟周</a:t>
            </a:r>
            <a:r>
              <a:rPr dirty="0" sz="2000" spc="-20" b="1">
                <a:solidFill>
                  <a:srgbClr val="40458B"/>
                </a:solidFill>
                <a:latin typeface="宋体"/>
                <a:cs typeface="宋体"/>
              </a:rPr>
              <a:t>期个数为：</a:t>
            </a:r>
            <a:endParaRPr sz="2000">
              <a:latin typeface="宋体"/>
              <a:cs typeface="宋体"/>
            </a:endParaRPr>
          </a:p>
        </p:txBody>
      </p:sp>
      <p:grpSp>
        <p:nvGrpSpPr>
          <p:cNvPr id="4" name="object 4" descr=""/>
          <p:cNvGrpSpPr/>
          <p:nvPr/>
        </p:nvGrpSpPr>
        <p:grpSpPr>
          <a:xfrm>
            <a:off x="2268601" y="4868862"/>
            <a:ext cx="5040630" cy="1265555"/>
            <a:chOff x="2268601" y="4868862"/>
            <a:chExt cx="5040630" cy="1265555"/>
          </a:xfrm>
        </p:grpSpPr>
        <p:sp>
          <p:nvSpPr>
            <p:cNvPr id="5" name="object 5" descr=""/>
            <p:cNvSpPr/>
            <p:nvPr/>
          </p:nvSpPr>
          <p:spPr>
            <a:xfrm>
              <a:off x="2268601" y="4868862"/>
              <a:ext cx="5040630" cy="1265555"/>
            </a:xfrm>
            <a:custGeom>
              <a:avLst/>
              <a:gdLst/>
              <a:ahLst/>
              <a:cxnLst/>
              <a:rect l="l" t="t" r="r" b="b"/>
              <a:pathLst>
                <a:path w="5040630" h="1265554">
                  <a:moveTo>
                    <a:pt x="5040249" y="0"/>
                  </a:moveTo>
                  <a:lnTo>
                    <a:pt x="0" y="0"/>
                  </a:lnTo>
                  <a:lnTo>
                    <a:pt x="0" y="1265237"/>
                  </a:lnTo>
                  <a:lnTo>
                    <a:pt x="5040249" y="1265237"/>
                  </a:lnTo>
                  <a:lnTo>
                    <a:pt x="5040249" y="0"/>
                  </a:lnTo>
                  <a:close/>
                </a:path>
              </a:pathLst>
            </a:custGeom>
            <a:solidFill>
              <a:srgbClr val="EAEAEA"/>
            </a:solidFill>
          </p:spPr>
          <p:txBody>
            <a:bodyPr wrap="square" lIns="0" tIns="0" rIns="0" bIns="0" rtlCol="0"/>
            <a:lstStyle/>
            <a:p/>
          </p:txBody>
        </p:sp>
        <p:sp>
          <p:nvSpPr>
            <p:cNvPr id="6" name="object 6" descr=""/>
            <p:cNvSpPr/>
            <p:nvPr/>
          </p:nvSpPr>
          <p:spPr>
            <a:xfrm>
              <a:off x="2821598" y="5209463"/>
              <a:ext cx="3484245" cy="602615"/>
            </a:xfrm>
            <a:custGeom>
              <a:avLst/>
              <a:gdLst/>
              <a:ahLst/>
              <a:cxnLst/>
              <a:rect l="l" t="t" r="r" b="b"/>
              <a:pathLst>
                <a:path w="3484245" h="602614">
                  <a:moveTo>
                    <a:pt x="0" y="0"/>
                  </a:moveTo>
                  <a:lnTo>
                    <a:pt x="471542" y="0"/>
                  </a:lnTo>
                </a:path>
                <a:path w="3484245" h="602614">
                  <a:moveTo>
                    <a:pt x="0" y="602130"/>
                  </a:moveTo>
                  <a:lnTo>
                    <a:pt x="243760" y="602130"/>
                  </a:lnTo>
                </a:path>
                <a:path w="3484245" h="602614">
                  <a:moveTo>
                    <a:pt x="3240106" y="602130"/>
                  </a:moveTo>
                  <a:lnTo>
                    <a:pt x="3483950" y="602130"/>
                  </a:lnTo>
                </a:path>
              </a:pathLst>
            </a:custGeom>
            <a:ln w="10342">
              <a:solidFill>
                <a:srgbClr val="000000"/>
              </a:solidFill>
            </a:ln>
          </p:spPr>
          <p:txBody>
            <a:bodyPr wrap="square" lIns="0" tIns="0" rIns="0" bIns="0" rtlCol="0"/>
            <a:lstStyle/>
            <a:p/>
          </p:txBody>
        </p:sp>
      </p:grpSp>
      <p:sp>
        <p:nvSpPr>
          <p:cNvPr id="7" name="object 7" descr=""/>
          <p:cNvSpPr txBox="1"/>
          <p:nvPr/>
        </p:nvSpPr>
        <p:spPr>
          <a:xfrm>
            <a:off x="3004543" y="4886302"/>
            <a:ext cx="123825" cy="292735"/>
          </a:xfrm>
          <a:prstGeom prst="rect">
            <a:avLst/>
          </a:prstGeom>
        </p:spPr>
        <p:txBody>
          <a:bodyPr wrap="square" lIns="0" tIns="12700" rIns="0" bIns="0" rtlCol="0" vert="horz">
            <a:spAutoFit/>
          </a:bodyPr>
          <a:lstStyle/>
          <a:p>
            <a:pPr>
              <a:lnSpc>
                <a:spcPct val="100000"/>
              </a:lnSpc>
              <a:spcBef>
                <a:spcPts val="100"/>
              </a:spcBef>
            </a:pPr>
            <a:r>
              <a:rPr dirty="0" sz="1750" spc="-50" i="1">
                <a:latin typeface="Times New Roman"/>
                <a:cs typeface="Times New Roman"/>
              </a:rPr>
              <a:t>n</a:t>
            </a:r>
            <a:endParaRPr sz="1750">
              <a:latin typeface="Times New Roman"/>
              <a:cs typeface="Times New Roman"/>
            </a:endParaRPr>
          </a:p>
        </p:txBody>
      </p:sp>
      <p:sp>
        <p:nvSpPr>
          <p:cNvPr id="8" name="object 8" descr=""/>
          <p:cNvSpPr txBox="1"/>
          <p:nvPr/>
        </p:nvSpPr>
        <p:spPr>
          <a:xfrm>
            <a:off x="4382053" y="5159468"/>
            <a:ext cx="288925" cy="203835"/>
          </a:xfrm>
          <a:prstGeom prst="rect">
            <a:avLst/>
          </a:prstGeom>
        </p:spPr>
        <p:txBody>
          <a:bodyPr wrap="square" lIns="0" tIns="14604" rIns="0" bIns="0" rtlCol="0" vert="horz">
            <a:spAutoFit/>
          </a:bodyPr>
          <a:lstStyle/>
          <a:p>
            <a:pPr>
              <a:lnSpc>
                <a:spcPct val="100000"/>
              </a:lnSpc>
              <a:spcBef>
                <a:spcPts val="114"/>
              </a:spcBef>
            </a:pPr>
            <a:r>
              <a:rPr dirty="0" sz="1150" spc="-10" i="1">
                <a:latin typeface="Times New Roman"/>
                <a:cs typeface="Times New Roman"/>
              </a:rPr>
              <a:t>start</a:t>
            </a:r>
            <a:endParaRPr sz="1150">
              <a:latin typeface="Times New Roman"/>
              <a:cs typeface="Times New Roman"/>
            </a:endParaRPr>
          </a:p>
        </p:txBody>
      </p:sp>
      <p:sp>
        <p:nvSpPr>
          <p:cNvPr id="9" name="object 9" descr=""/>
          <p:cNvSpPr txBox="1"/>
          <p:nvPr/>
        </p:nvSpPr>
        <p:spPr>
          <a:xfrm>
            <a:off x="3768823" y="5159468"/>
            <a:ext cx="278130" cy="203835"/>
          </a:xfrm>
          <a:prstGeom prst="rect">
            <a:avLst/>
          </a:prstGeom>
        </p:spPr>
        <p:txBody>
          <a:bodyPr wrap="square" lIns="0" tIns="14604" rIns="0" bIns="0" rtlCol="0" vert="horz">
            <a:spAutoFit/>
          </a:bodyPr>
          <a:lstStyle/>
          <a:p>
            <a:pPr>
              <a:lnSpc>
                <a:spcPct val="100000"/>
              </a:lnSpc>
              <a:spcBef>
                <a:spcPts val="114"/>
              </a:spcBef>
            </a:pPr>
            <a:r>
              <a:rPr dirty="0" sz="1150" spc="-20" i="1">
                <a:latin typeface="Times New Roman"/>
                <a:cs typeface="Times New Roman"/>
              </a:rPr>
              <a:t>loop</a:t>
            </a:r>
            <a:endParaRPr sz="1150">
              <a:latin typeface="Times New Roman"/>
              <a:cs typeface="Times New Roman"/>
            </a:endParaRPr>
          </a:p>
        </p:txBody>
      </p:sp>
      <p:sp>
        <p:nvSpPr>
          <p:cNvPr id="10" name="object 10" descr=""/>
          <p:cNvSpPr txBox="1"/>
          <p:nvPr/>
        </p:nvSpPr>
        <p:spPr>
          <a:xfrm>
            <a:off x="2406720" y="5159468"/>
            <a:ext cx="86995" cy="203835"/>
          </a:xfrm>
          <a:prstGeom prst="rect">
            <a:avLst/>
          </a:prstGeom>
        </p:spPr>
        <p:txBody>
          <a:bodyPr wrap="square" lIns="0" tIns="14604" rIns="0" bIns="0" rtlCol="0" vert="horz">
            <a:spAutoFit/>
          </a:bodyPr>
          <a:lstStyle/>
          <a:p>
            <a:pPr>
              <a:lnSpc>
                <a:spcPct val="100000"/>
              </a:lnSpc>
              <a:spcBef>
                <a:spcPts val="114"/>
              </a:spcBef>
            </a:pPr>
            <a:r>
              <a:rPr dirty="0" sz="1150" spc="-50" i="1">
                <a:latin typeface="Times New Roman"/>
                <a:cs typeface="Times New Roman"/>
              </a:rPr>
              <a:t>n</a:t>
            </a:r>
            <a:endParaRPr sz="1150">
              <a:latin typeface="Times New Roman"/>
              <a:cs typeface="Times New Roman"/>
            </a:endParaRPr>
          </a:p>
        </p:txBody>
      </p:sp>
      <p:sp>
        <p:nvSpPr>
          <p:cNvPr id="11" name="object 11" descr=""/>
          <p:cNvSpPr txBox="1"/>
          <p:nvPr/>
        </p:nvSpPr>
        <p:spPr>
          <a:xfrm>
            <a:off x="2517038" y="5632099"/>
            <a:ext cx="4807585" cy="373380"/>
          </a:xfrm>
          <a:prstGeom prst="rect">
            <a:avLst/>
          </a:prstGeom>
        </p:spPr>
        <p:txBody>
          <a:bodyPr wrap="square" lIns="0" tIns="12700" rIns="0" bIns="0" rtlCol="0" vert="horz">
            <a:spAutoFit/>
          </a:bodyPr>
          <a:lstStyle/>
          <a:p>
            <a:pPr marL="38100">
              <a:lnSpc>
                <a:spcPts val="1365"/>
              </a:lnSpc>
              <a:spcBef>
                <a:spcPts val="100"/>
              </a:spcBef>
            </a:pPr>
            <a:r>
              <a:rPr dirty="0" sz="1750">
                <a:latin typeface="Symbol"/>
                <a:cs typeface="Symbol"/>
              </a:rPr>
              <a:t></a:t>
            </a:r>
            <a:r>
              <a:rPr dirty="0" sz="1750" spc="-70">
                <a:latin typeface="Times New Roman"/>
                <a:cs typeface="Times New Roman"/>
              </a:rPr>
              <a:t> </a:t>
            </a:r>
            <a:r>
              <a:rPr dirty="0" baseline="33333" sz="2625">
                <a:latin typeface="Symbol"/>
                <a:cs typeface="Symbol"/>
              </a:rPr>
              <a:t></a:t>
            </a:r>
            <a:r>
              <a:rPr dirty="0" baseline="33333" sz="2625" spc="225">
                <a:latin typeface="Times New Roman"/>
                <a:cs typeface="Times New Roman"/>
              </a:rPr>
              <a:t> </a:t>
            </a:r>
            <a:r>
              <a:rPr dirty="0" baseline="36507" sz="2625" i="1">
                <a:latin typeface="Times New Roman"/>
                <a:cs typeface="Times New Roman"/>
              </a:rPr>
              <a:t>n</a:t>
            </a:r>
            <a:r>
              <a:rPr dirty="0" baseline="36507" sz="2625" spc="240" i="1">
                <a:latin typeface="Times New Roman"/>
                <a:cs typeface="Times New Roman"/>
              </a:rPr>
              <a:t> </a:t>
            </a:r>
            <a:r>
              <a:rPr dirty="0" baseline="33333" sz="2625" spc="-30">
                <a:latin typeface="Symbol"/>
                <a:cs typeface="Symbol"/>
              </a:rPr>
              <a:t></a:t>
            </a:r>
            <a:r>
              <a:rPr dirty="0" baseline="33333" sz="2625" spc="-150">
                <a:latin typeface="Times New Roman"/>
                <a:cs typeface="Times New Roman"/>
              </a:rPr>
              <a:t> </a:t>
            </a:r>
            <a:r>
              <a:rPr dirty="0" sz="1750" spc="-10">
                <a:latin typeface="Symbol"/>
                <a:cs typeface="Symbol"/>
              </a:rPr>
              <a:t></a:t>
            </a:r>
            <a:r>
              <a:rPr dirty="0" sz="1750" spc="-125">
                <a:latin typeface="Times New Roman"/>
                <a:cs typeface="Times New Roman"/>
              </a:rPr>
              <a:t> </a:t>
            </a:r>
            <a:r>
              <a:rPr dirty="0" sz="1750" spc="-65">
                <a:latin typeface="Times New Roman"/>
                <a:cs typeface="Times New Roman"/>
              </a:rPr>
              <a:t>(15</a:t>
            </a:r>
            <a:r>
              <a:rPr dirty="0" sz="1750" spc="-110">
                <a:latin typeface="Times New Roman"/>
                <a:cs typeface="Times New Roman"/>
              </a:rPr>
              <a:t> </a:t>
            </a:r>
            <a:r>
              <a:rPr dirty="0" sz="1750" spc="-10">
                <a:latin typeface="Symbol"/>
                <a:cs typeface="Symbol"/>
              </a:rPr>
              <a:t></a:t>
            </a:r>
            <a:r>
              <a:rPr dirty="0" sz="1750" spc="-204">
                <a:latin typeface="Times New Roman"/>
                <a:cs typeface="Times New Roman"/>
              </a:rPr>
              <a:t> </a:t>
            </a:r>
            <a:r>
              <a:rPr dirty="0" sz="1750">
                <a:latin typeface="Times New Roman"/>
                <a:cs typeface="Times New Roman"/>
              </a:rPr>
              <a:t>12</a:t>
            </a:r>
            <a:r>
              <a:rPr dirty="0" sz="1750" spc="-90">
                <a:latin typeface="Times New Roman"/>
                <a:cs typeface="Times New Roman"/>
              </a:rPr>
              <a:t> </a:t>
            </a:r>
            <a:r>
              <a:rPr dirty="0" sz="1750" spc="-10">
                <a:latin typeface="Symbol"/>
                <a:cs typeface="Symbol"/>
              </a:rPr>
              <a:t></a:t>
            </a:r>
            <a:r>
              <a:rPr dirty="0" sz="1750" spc="-204">
                <a:latin typeface="Times New Roman"/>
                <a:cs typeface="Times New Roman"/>
              </a:rPr>
              <a:t> </a:t>
            </a:r>
            <a:r>
              <a:rPr dirty="0" sz="1750">
                <a:latin typeface="Times New Roman"/>
                <a:cs typeface="Times New Roman"/>
              </a:rPr>
              <a:t>12</a:t>
            </a:r>
            <a:r>
              <a:rPr dirty="0" sz="1750" spc="-85">
                <a:latin typeface="Times New Roman"/>
                <a:cs typeface="Times New Roman"/>
              </a:rPr>
              <a:t> </a:t>
            </a:r>
            <a:r>
              <a:rPr dirty="0" sz="1750">
                <a:latin typeface="Symbol"/>
                <a:cs typeface="Symbol"/>
              </a:rPr>
              <a:t></a:t>
            </a:r>
            <a:r>
              <a:rPr dirty="0" sz="1750" spc="-50">
                <a:latin typeface="Times New Roman"/>
                <a:cs typeface="Times New Roman"/>
              </a:rPr>
              <a:t> </a:t>
            </a:r>
            <a:r>
              <a:rPr dirty="0" sz="1750">
                <a:latin typeface="Times New Roman"/>
                <a:cs typeface="Times New Roman"/>
              </a:rPr>
              <a:t>6</a:t>
            </a:r>
            <a:r>
              <a:rPr dirty="0" sz="1750" spc="-75">
                <a:latin typeface="Times New Roman"/>
                <a:cs typeface="Times New Roman"/>
              </a:rPr>
              <a:t> </a:t>
            </a:r>
            <a:r>
              <a:rPr dirty="0" sz="1750" spc="-10">
                <a:latin typeface="Symbol"/>
                <a:cs typeface="Symbol"/>
              </a:rPr>
              <a:t></a:t>
            </a:r>
            <a:r>
              <a:rPr dirty="0" sz="1750" spc="-204">
                <a:latin typeface="Times New Roman"/>
                <a:cs typeface="Times New Roman"/>
              </a:rPr>
              <a:t> </a:t>
            </a:r>
            <a:r>
              <a:rPr dirty="0" sz="1750">
                <a:latin typeface="Times New Roman"/>
                <a:cs typeface="Times New Roman"/>
              </a:rPr>
              <a:t>12)</a:t>
            </a:r>
            <a:r>
              <a:rPr dirty="0" sz="1750" spc="-55">
                <a:latin typeface="Times New Roman"/>
                <a:cs typeface="Times New Roman"/>
              </a:rPr>
              <a:t> </a:t>
            </a:r>
            <a:r>
              <a:rPr dirty="0" sz="1750">
                <a:latin typeface="Symbol"/>
                <a:cs typeface="Symbol"/>
              </a:rPr>
              <a:t></a:t>
            </a:r>
            <a:r>
              <a:rPr dirty="0" sz="1750" spc="-20">
                <a:latin typeface="Times New Roman"/>
                <a:cs typeface="Times New Roman"/>
              </a:rPr>
              <a:t> </a:t>
            </a:r>
            <a:r>
              <a:rPr dirty="0" sz="1750">
                <a:latin typeface="Times New Roman"/>
                <a:cs typeface="Times New Roman"/>
              </a:rPr>
              <a:t>4</a:t>
            </a:r>
            <a:r>
              <a:rPr dirty="0" sz="1750" i="1">
                <a:latin typeface="Times New Roman"/>
                <a:cs typeface="Times New Roman"/>
              </a:rPr>
              <a:t>n</a:t>
            </a:r>
            <a:r>
              <a:rPr dirty="0" sz="1750" spc="-50" i="1">
                <a:latin typeface="Times New Roman"/>
                <a:cs typeface="Times New Roman"/>
              </a:rPr>
              <a:t> </a:t>
            </a:r>
            <a:r>
              <a:rPr dirty="0" sz="1750">
                <a:latin typeface="Symbol"/>
                <a:cs typeface="Symbol"/>
              </a:rPr>
              <a:t></a:t>
            </a:r>
            <a:r>
              <a:rPr dirty="0" sz="1750" spc="-25">
                <a:latin typeface="Times New Roman"/>
                <a:cs typeface="Times New Roman"/>
              </a:rPr>
              <a:t> </a:t>
            </a:r>
            <a:r>
              <a:rPr dirty="0" baseline="33333" sz="2625">
                <a:latin typeface="Symbol"/>
                <a:cs typeface="Symbol"/>
              </a:rPr>
              <a:t></a:t>
            </a:r>
            <a:r>
              <a:rPr dirty="0" baseline="33333" sz="2625" spc="217">
                <a:latin typeface="Times New Roman"/>
                <a:cs typeface="Times New Roman"/>
              </a:rPr>
              <a:t> </a:t>
            </a:r>
            <a:r>
              <a:rPr dirty="0" baseline="36507" sz="2625" i="1">
                <a:latin typeface="Times New Roman"/>
                <a:cs typeface="Times New Roman"/>
              </a:rPr>
              <a:t>n</a:t>
            </a:r>
            <a:r>
              <a:rPr dirty="0" baseline="36507" sz="2625" spc="240" i="1">
                <a:latin typeface="Times New Roman"/>
                <a:cs typeface="Times New Roman"/>
              </a:rPr>
              <a:t> </a:t>
            </a:r>
            <a:r>
              <a:rPr dirty="0" baseline="33333" sz="2625" spc="-30">
                <a:latin typeface="Symbol"/>
                <a:cs typeface="Symbol"/>
              </a:rPr>
              <a:t></a:t>
            </a:r>
            <a:r>
              <a:rPr dirty="0" baseline="33333" sz="2625" spc="-150">
                <a:latin typeface="Times New Roman"/>
                <a:cs typeface="Times New Roman"/>
              </a:rPr>
              <a:t> </a:t>
            </a:r>
            <a:r>
              <a:rPr dirty="0" sz="1750" spc="-10">
                <a:latin typeface="Symbol"/>
                <a:cs typeface="Symbol"/>
              </a:rPr>
              <a:t></a:t>
            </a:r>
            <a:r>
              <a:rPr dirty="0" sz="1750" spc="-150">
                <a:latin typeface="Times New Roman"/>
                <a:cs typeface="Times New Roman"/>
              </a:rPr>
              <a:t> </a:t>
            </a:r>
            <a:r>
              <a:rPr dirty="0" sz="1750">
                <a:latin typeface="Times New Roman"/>
                <a:cs typeface="Times New Roman"/>
              </a:rPr>
              <a:t>57</a:t>
            </a:r>
            <a:r>
              <a:rPr dirty="0" sz="1750" spc="-60">
                <a:latin typeface="Times New Roman"/>
                <a:cs typeface="Times New Roman"/>
              </a:rPr>
              <a:t> </a:t>
            </a:r>
            <a:r>
              <a:rPr dirty="0" sz="1750">
                <a:latin typeface="Symbol"/>
                <a:cs typeface="Symbol"/>
              </a:rPr>
              <a:t></a:t>
            </a:r>
            <a:r>
              <a:rPr dirty="0" sz="1750" spc="-25">
                <a:latin typeface="Times New Roman"/>
                <a:cs typeface="Times New Roman"/>
              </a:rPr>
              <a:t> 4</a:t>
            </a:r>
            <a:r>
              <a:rPr dirty="0" sz="1750" spc="-25" i="1">
                <a:latin typeface="Times New Roman"/>
                <a:cs typeface="Times New Roman"/>
              </a:rPr>
              <a:t>n</a:t>
            </a:r>
            <a:endParaRPr sz="1750">
              <a:latin typeface="Times New Roman"/>
              <a:cs typeface="Times New Roman"/>
            </a:endParaRPr>
          </a:p>
          <a:p>
            <a:pPr marL="212725">
              <a:lnSpc>
                <a:spcPts val="1365"/>
              </a:lnSpc>
              <a:tabLst>
                <a:tab pos="3452495" algn="l"/>
              </a:tabLst>
            </a:pPr>
            <a:r>
              <a:rPr dirty="0" sz="1750" spc="-345">
                <a:latin typeface="Symbol"/>
                <a:cs typeface="Symbol"/>
              </a:rPr>
              <a:t></a:t>
            </a:r>
            <a:r>
              <a:rPr dirty="0" baseline="-31746" sz="2625" spc="-517">
                <a:latin typeface="Symbol"/>
                <a:cs typeface="Symbol"/>
              </a:rPr>
              <a:t></a:t>
            </a:r>
            <a:r>
              <a:rPr dirty="0" baseline="-31746" sz="2625" spc="-405">
                <a:latin typeface="Times New Roman"/>
                <a:cs typeface="Times New Roman"/>
              </a:rPr>
              <a:t> </a:t>
            </a:r>
            <a:r>
              <a:rPr dirty="0" baseline="-23809" sz="2625" spc="-15">
                <a:latin typeface="Times New Roman"/>
                <a:cs typeface="Times New Roman"/>
              </a:rPr>
              <a:t>64</a:t>
            </a:r>
            <a:r>
              <a:rPr dirty="0" baseline="-23809" sz="2625" spc="-405">
                <a:latin typeface="Times New Roman"/>
                <a:cs typeface="Times New Roman"/>
              </a:rPr>
              <a:t> </a:t>
            </a:r>
            <a:r>
              <a:rPr dirty="0" sz="1750" spc="-380">
                <a:latin typeface="Symbol"/>
                <a:cs typeface="Symbol"/>
              </a:rPr>
              <a:t></a:t>
            </a:r>
            <a:r>
              <a:rPr dirty="0" baseline="-31746" sz="2625" spc="-569">
                <a:latin typeface="Symbol"/>
                <a:cs typeface="Symbol"/>
              </a:rPr>
              <a:t></a:t>
            </a:r>
            <a:r>
              <a:rPr dirty="0" baseline="-31746" sz="2625">
                <a:latin typeface="Times New Roman"/>
                <a:cs typeface="Times New Roman"/>
              </a:rPr>
              <a:t>	</a:t>
            </a:r>
            <a:r>
              <a:rPr dirty="0" sz="1750" spc="-345">
                <a:latin typeface="Symbol"/>
                <a:cs typeface="Symbol"/>
              </a:rPr>
              <a:t></a:t>
            </a:r>
            <a:r>
              <a:rPr dirty="0" baseline="-31746" sz="2625" spc="-517">
                <a:latin typeface="Symbol"/>
                <a:cs typeface="Symbol"/>
              </a:rPr>
              <a:t></a:t>
            </a:r>
            <a:r>
              <a:rPr dirty="0" baseline="-31746" sz="2625" spc="-412">
                <a:latin typeface="Times New Roman"/>
                <a:cs typeface="Times New Roman"/>
              </a:rPr>
              <a:t> </a:t>
            </a:r>
            <a:r>
              <a:rPr dirty="0" baseline="-23809" sz="2625" spc="-15">
                <a:latin typeface="Times New Roman"/>
                <a:cs typeface="Times New Roman"/>
              </a:rPr>
              <a:t>64</a:t>
            </a:r>
            <a:r>
              <a:rPr dirty="0" baseline="-23809" sz="2625" spc="-405">
                <a:latin typeface="Times New Roman"/>
                <a:cs typeface="Times New Roman"/>
              </a:rPr>
              <a:t> </a:t>
            </a:r>
            <a:r>
              <a:rPr dirty="0" sz="1750" spc="-370">
                <a:latin typeface="Symbol"/>
                <a:cs typeface="Symbol"/>
              </a:rPr>
              <a:t></a:t>
            </a:r>
            <a:r>
              <a:rPr dirty="0" baseline="-31746" sz="2625" spc="-555">
                <a:latin typeface="Symbol"/>
                <a:cs typeface="Symbol"/>
              </a:rPr>
              <a:t></a:t>
            </a:r>
            <a:endParaRPr baseline="-31746" sz="2625">
              <a:latin typeface="Symbol"/>
              <a:cs typeface="Symbol"/>
            </a:endParaRPr>
          </a:p>
        </p:txBody>
      </p:sp>
      <p:sp>
        <p:nvSpPr>
          <p:cNvPr id="12" name="object 12" descr=""/>
          <p:cNvSpPr txBox="1"/>
          <p:nvPr/>
        </p:nvSpPr>
        <p:spPr>
          <a:xfrm>
            <a:off x="4105876" y="5029990"/>
            <a:ext cx="1162050" cy="292735"/>
          </a:xfrm>
          <a:prstGeom prst="rect">
            <a:avLst/>
          </a:prstGeom>
        </p:spPr>
        <p:txBody>
          <a:bodyPr wrap="square" lIns="0" tIns="12700" rIns="0" bIns="0" rtlCol="0" vert="horz">
            <a:spAutoFit/>
          </a:bodyPr>
          <a:lstStyle/>
          <a:p>
            <a:pPr>
              <a:lnSpc>
                <a:spcPct val="100000"/>
              </a:lnSpc>
              <a:spcBef>
                <a:spcPts val="100"/>
              </a:spcBef>
              <a:tabLst>
                <a:tab pos="577215" algn="l"/>
              </a:tabLst>
            </a:pPr>
            <a:r>
              <a:rPr dirty="0" sz="1750" spc="-10">
                <a:latin typeface="Symbol"/>
                <a:cs typeface="Symbol"/>
              </a:rPr>
              <a:t></a:t>
            </a:r>
            <a:r>
              <a:rPr dirty="0" sz="1750" spc="-125">
                <a:latin typeface="Times New Roman"/>
                <a:cs typeface="Times New Roman"/>
              </a:rPr>
              <a:t> </a:t>
            </a:r>
            <a:r>
              <a:rPr dirty="0" sz="1750" spc="-50" i="1">
                <a:latin typeface="Times New Roman"/>
                <a:cs typeface="Times New Roman"/>
              </a:rPr>
              <a:t>T</a:t>
            </a:r>
            <a:r>
              <a:rPr dirty="0" sz="1750" i="1">
                <a:latin typeface="Times New Roman"/>
                <a:cs typeface="Times New Roman"/>
              </a:rPr>
              <a:t>	</a:t>
            </a:r>
            <a:r>
              <a:rPr dirty="0" sz="1750">
                <a:latin typeface="Times New Roman"/>
                <a:cs typeface="Times New Roman"/>
              </a:rPr>
              <a:t>)</a:t>
            </a:r>
            <a:r>
              <a:rPr dirty="0" sz="1750" spc="-60">
                <a:latin typeface="Times New Roman"/>
                <a:cs typeface="Times New Roman"/>
              </a:rPr>
              <a:t> </a:t>
            </a:r>
            <a:r>
              <a:rPr dirty="0" sz="1750">
                <a:latin typeface="Symbol"/>
                <a:cs typeface="Symbol"/>
              </a:rPr>
              <a:t></a:t>
            </a:r>
            <a:r>
              <a:rPr dirty="0" sz="1750" spc="-25">
                <a:latin typeface="Times New Roman"/>
                <a:cs typeface="Times New Roman"/>
              </a:rPr>
              <a:t> </a:t>
            </a:r>
            <a:r>
              <a:rPr dirty="0" sz="1750" spc="-25" i="1">
                <a:latin typeface="Times New Roman"/>
                <a:cs typeface="Times New Roman"/>
              </a:rPr>
              <a:t>mn</a:t>
            </a:r>
            <a:endParaRPr sz="1750">
              <a:latin typeface="Times New Roman"/>
              <a:cs typeface="Times New Roman"/>
            </a:endParaRPr>
          </a:p>
        </p:txBody>
      </p:sp>
      <p:sp>
        <p:nvSpPr>
          <p:cNvPr id="13" name="object 13" descr=""/>
          <p:cNvSpPr txBox="1"/>
          <p:nvPr/>
        </p:nvSpPr>
        <p:spPr>
          <a:xfrm>
            <a:off x="3281139" y="5029990"/>
            <a:ext cx="540385" cy="292735"/>
          </a:xfrm>
          <a:prstGeom prst="rect">
            <a:avLst/>
          </a:prstGeom>
        </p:spPr>
        <p:txBody>
          <a:bodyPr wrap="square" lIns="0" tIns="12700" rIns="0" bIns="0" rtlCol="0" vert="horz">
            <a:spAutoFit/>
          </a:bodyPr>
          <a:lstStyle/>
          <a:p>
            <a:pPr marL="25400">
              <a:lnSpc>
                <a:spcPct val="100000"/>
              </a:lnSpc>
              <a:spcBef>
                <a:spcPts val="100"/>
              </a:spcBef>
            </a:pPr>
            <a:r>
              <a:rPr dirty="0" baseline="33333" sz="2625" spc="-30">
                <a:latin typeface="Symbol"/>
                <a:cs typeface="Symbol"/>
              </a:rPr>
              <a:t></a:t>
            </a:r>
            <a:r>
              <a:rPr dirty="0" baseline="33333" sz="2625" spc="-150">
                <a:latin typeface="Times New Roman"/>
                <a:cs typeface="Times New Roman"/>
              </a:rPr>
              <a:t> </a:t>
            </a:r>
            <a:r>
              <a:rPr dirty="0" sz="1750" spc="-10">
                <a:latin typeface="Symbol"/>
                <a:cs typeface="Symbol"/>
              </a:rPr>
              <a:t></a:t>
            </a:r>
            <a:r>
              <a:rPr dirty="0" sz="1750" spc="-120">
                <a:latin typeface="Times New Roman"/>
                <a:cs typeface="Times New Roman"/>
              </a:rPr>
              <a:t> </a:t>
            </a:r>
            <a:r>
              <a:rPr dirty="0" sz="1750" spc="-25">
                <a:latin typeface="Times New Roman"/>
                <a:cs typeface="Times New Roman"/>
              </a:rPr>
              <a:t>(</a:t>
            </a:r>
            <a:r>
              <a:rPr dirty="0" sz="1750" spc="-25" i="1">
                <a:latin typeface="Times New Roman"/>
                <a:cs typeface="Times New Roman"/>
              </a:rPr>
              <a:t>T</a:t>
            </a:r>
            <a:endParaRPr sz="1750">
              <a:latin typeface="Times New Roman"/>
              <a:cs typeface="Times New Roman"/>
            </a:endParaRPr>
          </a:p>
        </p:txBody>
      </p:sp>
      <p:sp>
        <p:nvSpPr>
          <p:cNvPr id="14" name="object 14" descr=""/>
          <p:cNvSpPr txBox="1"/>
          <p:nvPr/>
        </p:nvSpPr>
        <p:spPr>
          <a:xfrm>
            <a:off x="2704444" y="5206735"/>
            <a:ext cx="725170" cy="292735"/>
          </a:xfrm>
          <a:prstGeom prst="rect">
            <a:avLst/>
          </a:prstGeom>
        </p:spPr>
        <p:txBody>
          <a:bodyPr wrap="square" lIns="0" tIns="12700" rIns="0" bIns="0" rtlCol="0" vert="horz">
            <a:spAutoFit/>
          </a:bodyPr>
          <a:lstStyle/>
          <a:p>
            <a:pPr marL="25400">
              <a:lnSpc>
                <a:spcPct val="100000"/>
              </a:lnSpc>
              <a:spcBef>
                <a:spcPts val="100"/>
              </a:spcBef>
            </a:pPr>
            <a:r>
              <a:rPr dirty="0" baseline="-7936" sz="2625" spc="-30">
                <a:latin typeface="Symbol"/>
                <a:cs typeface="Symbol"/>
              </a:rPr>
              <a:t></a:t>
            </a:r>
            <a:r>
              <a:rPr dirty="0" baseline="-7936" sz="2625" spc="-322">
                <a:latin typeface="Times New Roman"/>
                <a:cs typeface="Times New Roman"/>
              </a:rPr>
              <a:t> </a:t>
            </a:r>
            <a:r>
              <a:rPr dirty="0" sz="1750" spc="-20" i="1">
                <a:latin typeface="Times New Roman"/>
                <a:cs typeface="Times New Roman"/>
              </a:rPr>
              <a:t>MVL</a:t>
            </a:r>
            <a:r>
              <a:rPr dirty="0" baseline="-7936" sz="2625" spc="-30">
                <a:latin typeface="Symbol"/>
                <a:cs typeface="Symbol"/>
              </a:rPr>
              <a:t></a:t>
            </a:r>
            <a:endParaRPr baseline="-7936" sz="2625">
              <a:latin typeface="Symbol"/>
              <a:cs typeface="Symbol"/>
            </a:endParaRPr>
          </a:p>
        </p:txBody>
      </p:sp>
      <p:sp>
        <p:nvSpPr>
          <p:cNvPr id="15" name="object 15" descr=""/>
          <p:cNvSpPr txBox="1"/>
          <p:nvPr/>
        </p:nvSpPr>
        <p:spPr>
          <a:xfrm>
            <a:off x="2267938" y="5029990"/>
            <a:ext cx="585470" cy="292735"/>
          </a:xfrm>
          <a:prstGeom prst="rect">
            <a:avLst/>
          </a:prstGeom>
        </p:spPr>
        <p:txBody>
          <a:bodyPr wrap="square" lIns="0" tIns="12700" rIns="0" bIns="0" rtlCol="0" vert="horz">
            <a:spAutoFit/>
          </a:bodyPr>
          <a:lstStyle/>
          <a:p>
            <a:pPr marL="25400">
              <a:lnSpc>
                <a:spcPct val="100000"/>
              </a:lnSpc>
              <a:spcBef>
                <a:spcPts val="100"/>
              </a:spcBef>
              <a:tabLst>
                <a:tab pos="287020" algn="l"/>
              </a:tabLst>
            </a:pPr>
            <a:r>
              <a:rPr dirty="0" sz="1750" spc="-50" i="1">
                <a:latin typeface="Times New Roman"/>
                <a:cs typeface="Times New Roman"/>
              </a:rPr>
              <a:t>T</a:t>
            </a:r>
            <a:r>
              <a:rPr dirty="0" sz="1750" i="1">
                <a:latin typeface="Times New Roman"/>
                <a:cs typeface="Times New Roman"/>
              </a:rPr>
              <a:t>	</a:t>
            </a:r>
            <a:r>
              <a:rPr dirty="0" sz="1750">
                <a:latin typeface="Symbol"/>
                <a:cs typeface="Symbol"/>
              </a:rPr>
              <a:t></a:t>
            </a:r>
            <a:r>
              <a:rPr dirty="0" sz="1750" spc="-30">
                <a:latin typeface="Times New Roman"/>
                <a:cs typeface="Times New Roman"/>
              </a:rPr>
              <a:t> </a:t>
            </a:r>
            <a:r>
              <a:rPr dirty="0" baseline="33333" sz="2625" spc="-75">
                <a:latin typeface="Symbol"/>
                <a:cs typeface="Symbol"/>
              </a:rPr>
              <a:t></a:t>
            </a:r>
            <a:endParaRPr baseline="33333" sz="2625">
              <a:latin typeface="Symbol"/>
              <a:cs typeface="Symbo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786790" y="1599057"/>
            <a:ext cx="7759065" cy="3933825"/>
          </a:xfrm>
          <a:prstGeom prst="rect">
            <a:avLst/>
          </a:prstGeom>
        </p:spPr>
        <p:txBody>
          <a:bodyPr wrap="square" lIns="0" tIns="13335" rIns="0" bIns="0" rtlCol="0" vert="horz">
            <a:spAutoFit/>
          </a:bodyPr>
          <a:lstStyle/>
          <a:p>
            <a:pPr marL="62865">
              <a:lnSpc>
                <a:spcPct val="100000"/>
              </a:lnSpc>
              <a:spcBef>
                <a:spcPts val="105"/>
              </a:spcBef>
            </a:pPr>
            <a:r>
              <a:rPr dirty="0" sz="2000" spc="-15" b="1">
                <a:solidFill>
                  <a:srgbClr val="080808"/>
                </a:solidFill>
                <a:latin typeface="宋体"/>
                <a:cs typeface="宋体"/>
              </a:rPr>
              <a:t>采用向量链接技术，那么上述</a:t>
            </a:r>
            <a:r>
              <a:rPr dirty="0" sz="2000" spc="-10" b="1">
                <a:solidFill>
                  <a:srgbClr val="080808"/>
                </a:solidFill>
                <a:latin typeface="Times New Roman"/>
                <a:cs typeface="Times New Roman"/>
              </a:rPr>
              <a:t>5</a:t>
            </a:r>
            <a:r>
              <a:rPr dirty="0" sz="2000" spc="-20" b="1">
                <a:solidFill>
                  <a:srgbClr val="080808"/>
                </a:solidFill>
                <a:latin typeface="宋体"/>
                <a:cs typeface="宋体"/>
              </a:rPr>
              <a:t>条向量指令的编队结果如下</a:t>
            </a:r>
            <a:r>
              <a:rPr dirty="0" sz="2000" spc="-10" b="1">
                <a:solidFill>
                  <a:srgbClr val="080808"/>
                </a:solidFill>
                <a:latin typeface="宋体"/>
                <a:cs typeface="宋体"/>
              </a:rPr>
              <a:t>（</a:t>
            </a:r>
            <a:r>
              <a:rPr dirty="0" sz="2000" spc="-10" b="1">
                <a:solidFill>
                  <a:srgbClr val="080808"/>
                </a:solidFill>
                <a:latin typeface="Times New Roman"/>
                <a:cs typeface="Times New Roman"/>
              </a:rPr>
              <a:t>m=3</a:t>
            </a:r>
            <a:r>
              <a:rPr dirty="0" sz="2000" spc="-10" b="1">
                <a:solidFill>
                  <a:srgbClr val="080808"/>
                </a:solidFill>
                <a:latin typeface="宋体"/>
                <a:cs typeface="宋体"/>
              </a:rPr>
              <a:t>）</a:t>
            </a:r>
            <a:endParaRPr sz="2000">
              <a:latin typeface="宋体"/>
              <a:cs typeface="宋体"/>
            </a:endParaRPr>
          </a:p>
          <a:p>
            <a:pPr marL="1270000" indent="-457200">
              <a:lnSpc>
                <a:spcPct val="100000"/>
              </a:lnSpc>
              <a:spcBef>
                <a:spcPts val="1340"/>
              </a:spcBef>
              <a:buClr>
                <a:srgbClr val="4668F5"/>
              </a:buClr>
              <a:buSzPct val="63888"/>
              <a:buFont typeface="Wingdings"/>
              <a:buChar char=""/>
              <a:tabLst>
                <a:tab pos="1270000" algn="l"/>
              </a:tabLst>
            </a:pPr>
            <a:r>
              <a:rPr dirty="0" sz="1800" spc="-10" b="1">
                <a:solidFill>
                  <a:srgbClr val="080808"/>
                </a:solidFill>
                <a:latin typeface="宋体"/>
                <a:cs typeface="宋体"/>
              </a:rPr>
              <a:t>第一编队：</a:t>
            </a:r>
            <a:r>
              <a:rPr dirty="0" sz="1800" b="1">
                <a:solidFill>
                  <a:srgbClr val="D50092"/>
                </a:solidFill>
                <a:latin typeface="Times New Roman"/>
                <a:cs typeface="Times New Roman"/>
              </a:rPr>
              <a:t>LV</a:t>
            </a:r>
            <a:r>
              <a:rPr dirty="0" sz="1800" spc="455" b="1">
                <a:solidFill>
                  <a:srgbClr val="D50092"/>
                </a:solidFill>
                <a:latin typeface="Times New Roman"/>
                <a:cs typeface="Times New Roman"/>
              </a:rPr>
              <a:t> </a:t>
            </a:r>
            <a:r>
              <a:rPr dirty="0" sz="1800" spc="-10" b="1">
                <a:solidFill>
                  <a:srgbClr val="D50092"/>
                </a:solidFill>
                <a:latin typeface="Times New Roman"/>
                <a:cs typeface="Times New Roman"/>
              </a:rPr>
              <a:t>V1,Rx</a:t>
            </a:r>
            <a:r>
              <a:rPr dirty="0" sz="1800" spc="-10" b="1">
                <a:solidFill>
                  <a:srgbClr val="D50092"/>
                </a:solidFill>
                <a:latin typeface="宋体"/>
                <a:cs typeface="宋体"/>
              </a:rPr>
              <a:t>；</a:t>
            </a:r>
            <a:r>
              <a:rPr dirty="0" sz="1800" spc="-10" b="1">
                <a:solidFill>
                  <a:srgbClr val="D50092"/>
                </a:solidFill>
                <a:latin typeface="Times New Roman"/>
                <a:cs typeface="Times New Roman"/>
              </a:rPr>
              <a:t>MULTFV</a:t>
            </a:r>
            <a:r>
              <a:rPr dirty="0" sz="1800" spc="-15" b="1">
                <a:solidFill>
                  <a:srgbClr val="D50092"/>
                </a:solidFill>
                <a:latin typeface="Times New Roman"/>
                <a:cs typeface="Times New Roman"/>
              </a:rPr>
              <a:t> </a:t>
            </a:r>
            <a:r>
              <a:rPr dirty="0" sz="1800" spc="-10" b="1">
                <a:solidFill>
                  <a:srgbClr val="D50092"/>
                </a:solidFill>
                <a:latin typeface="Times New Roman"/>
                <a:cs typeface="Times New Roman"/>
              </a:rPr>
              <a:t>V2,F0,V1</a:t>
            </a:r>
            <a:r>
              <a:rPr dirty="0" sz="1800" spc="-10" b="1">
                <a:solidFill>
                  <a:srgbClr val="D50092"/>
                </a:solidFill>
                <a:latin typeface="宋体"/>
                <a:cs typeface="宋体"/>
              </a:rPr>
              <a:t>；</a:t>
            </a:r>
            <a:endParaRPr sz="1800">
              <a:latin typeface="宋体"/>
              <a:cs typeface="宋体"/>
            </a:endParaRPr>
          </a:p>
          <a:p>
            <a:pPr marL="1270000" indent="-457200">
              <a:lnSpc>
                <a:spcPct val="100000"/>
              </a:lnSpc>
              <a:spcBef>
                <a:spcPts val="1295"/>
              </a:spcBef>
              <a:buClr>
                <a:srgbClr val="4668F5"/>
              </a:buClr>
              <a:buSzPct val="63888"/>
              <a:buFont typeface="Wingdings"/>
              <a:buChar char=""/>
              <a:tabLst>
                <a:tab pos="1270000" algn="l"/>
              </a:tabLst>
            </a:pPr>
            <a:r>
              <a:rPr dirty="0" sz="1800" spc="-10" b="1">
                <a:solidFill>
                  <a:srgbClr val="080808"/>
                </a:solidFill>
                <a:latin typeface="宋体"/>
                <a:cs typeface="宋体"/>
              </a:rPr>
              <a:t>第二编队：</a:t>
            </a:r>
            <a:r>
              <a:rPr dirty="0" sz="1800" b="1">
                <a:solidFill>
                  <a:srgbClr val="D50092"/>
                </a:solidFill>
                <a:latin typeface="Times New Roman"/>
                <a:cs typeface="Times New Roman"/>
              </a:rPr>
              <a:t>LV</a:t>
            </a:r>
            <a:r>
              <a:rPr dirty="0" sz="1800" spc="400" b="1">
                <a:solidFill>
                  <a:srgbClr val="D50092"/>
                </a:solidFill>
                <a:latin typeface="Times New Roman"/>
                <a:cs typeface="Times New Roman"/>
              </a:rPr>
              <a:t> </a:t>
            </a:r>
            <a:r>
              <a:rPr dirty="0" sz="1800" b="1">
                <a:solidFill>
                  <a:srgbClr val="D50092"/>
                </a:solidFill>
                <a:latin typeface="Times New Roman"/>
                <a:cs typeface="Times New Roman"/>
              </a:rPr>
              <a:t>V3,Ry</a:t>
            </a:r>
            <a:r>
              <a:rPr dirty="0" sz="1800" b="1">
                <a:solidFill>
                  <a:srgbClr val="D50092"/>
                </a:solidFill>
                <a:latin typeface="宋体"/>
                <a:cs typeface="宋体"/>
              </a:rPr>
              <a:t>；</a:t>
            </a:r>
            <a:r>
              <a:rPr dirty="0" sz="1800" b="1">
                <a:solidFill>
                  <a:srgbClr val="D50092"/>
                </a:solidFill>
                <a:latin typeface="Times New Roman"/>
                <a:cs typeface="Times New Roman"/>
              </a:rPr>
              <a:t>ADDV</a:t>
            </a:r>
            <a:r>
              <a:rPr dirty="0" sz="1800" spc="-30" b="1">
                <a:solidFill>
                  <a:srgbClr val="D50092"/>
                </a:solidFill>
                <a:latin typeface="Times New Roman"/>
                <a:cs typeface="Times New Roman"/>
              </a:rPr>
              <a:t> </a:t>
            </a:r>
            <a:r>
              <a:rPr dirty="0" sz="1800" spc="-10" b="1">
                <a:solidFill>
                  <a:srgbClr val="D50092"/>
                </a:solidFill>
                <a:latin typeface="Times New Roman"/>
                <a:cs typeface="Times New Roman"/>
              </a:rPr>
              <a:t>V4,V2,V3</a:t>
            </a:r>
            <a:r>
              <a:rPr dirty="0" sz="1800" spc="-10" b="1">
                <a:solidFill>
                  <a:srgbClr val="D50092"/>
                </a:solidFill>
                <a:latin typeface="宋体"/>
                <a:cs typeface="宋体"/>
              </a:rPr>
              <a:t>；</a:t>
            </a:r>
            <a:endParaRPr sz="1800">
              <a:latin typeface="宋体"/>
              <a:cs typeface="宋体"/>
            </a:endParaRPr>
          </a:p>
          <a:p>
            <a:pPr marL="1270000" indent="-457200">
              <a:lnSpc>
                <a:spcPct val="100000"/>
              </a:lnSpc>
              <a:spcBef>
                <a:spcPts val="1395"/>
              </a:spcBef>
              <a:buClr>
                <a:srgbClr val="4668F5"/>
              </a:buClr>
              <a:buSzPct val="63888"/>
              <a:buFont typeface="Wingdings"/>
              <a:buChar char=""/>
              <a:tabLst>
                <a:tab pos="1270000" algn="l"/>
              </a:tabLst>
            </a:pPr>
            <a:r>
              <a:rPr dirty="0" sz="1800" spc="-90" b="1">
                <a:solidFill>
                  <a:srgbClr val="080808"/>
                </a:solidFill>
                <a:latin typeface="宋体"/>
                <a:cs typeface="宋体"/>
              </a:rPr>
              <a:t>第三编队： </a:t>
            </a:r>
            <a:r>
              <a:rPr dirty="0" sz="2000" b="1">
                <a:solidFill>
                  <a:srgbClr val="D50092"/>
                </a:solidFill>
                <a:latin typeface="宋体"/>
                <a:cs typeface="宋体"/>
              </a:rPr>
              <a:t>SV</a:t>
            </a:r>
            <a:r>
              <a:rPr dirty="0" sz="2000" spc="5" b="1">
                <a:solidFill>
                  <a:srgbClr val="D50092"/>
                </a:solidFill>
                <a:latin typeface="宋体"/>
                <a:cs typeface="宋体"/>
              </a:rPr>
              <a:t> </a:t>
            </a:r>
            <a:r>
              <a:rPr dirty="0" sz="2000" spc="-10" b="1">
                <a:solidFill>
                  <a:srgbClr val="D50092"/>
                </a:solidFill>
                <a:latin typeface="宋体"/>
                <a:cs typeface="宋体"/>
              </a:rPr>
              <a:t>V4，Ry</a:t>
            </a:r>
            <a:r>
              <a:rPr dirty="0" sz="2000" spc="-570" b="1">
                <a:solidFill>
                  <a:srgbClr val="D50092"/>
                </a:solidFill>
                <a:latin typeface="宋体"/>
                <a:cs typeface="宋体"/>
              </a:rPr>
              <a:t> </a:t>
            </a:r>
            <a:r>
              <a:rPr dirty="0" sz="1800" spc="-50" b="1">
                <a:solidFill>
                  <a:srgbClr val="D50092"/>
                </a:solidFill>
                <a:latin typeface="宋体"/>
                <a:cs typeface="宋体"/>
              </a:rPr>
              <a:t>。</a:t>
            </a:r>
            <a:endParaRPr sz="1800">
              <a:latin typeface="宋体"/>
              <a:cs typeface="宋体"/>
            </a:endParaRPr>
          </a:p>
          <a:p>
            <a:pPr marL="12700" marR="5080" indent="572770">
              <a:lnSpc>
                <a:spcPct val="140000"/>
              </a:lnSpc>
              <a:spcBef>
                <a:spcPts val="484"/>
              </a:spcBef>
            </a:pPr>
            <a:r>
              <a:rPr dirty="0" sz="2000" spc="-25" b="1">
                <a:solidFill>
                  <a:srgbClr val="080808"/>
                </a:solidFill>
                <a:latin typeface="宋体"/>
                <a:cs typeface="宋体"/>
              </a:rPr>
              <a:t>前两个编队中各自的两条向量指令都可以链接执行。根据链接的</a:t>
            </a:r>
            <a:r>
              <a:rPr dirty="0" sz="2000" spc="-20" b="1">
                <a:solidFill>
                  <a:srgbClr val="080808"/>
                </a:solidFill>
                <a:latin typeface="宋体"/>
                <a:cs typeface="宋体"/>
              </a:rPr>
              <a:t>含义可知：</a:t>
            </a:r>
            <a:endParaRPr sz="2000">
              <a:latin typeface="宋体"/>
              <a:cs typeface="宋体"/>
            </a:endParaRPr>
          </a:p>
          <a:p>
            <a:pPr marL="1270000" indent="-457200">
              <a:lnSpc>
                <a:spcPct val="100000"/>
              </a:lnSpc>
              <a:spcBef>
                <a:spcPts val="1340"/>
              </a:spcBef>
              <a:buClr>
                <a:srgbClr val="4668F5"/>
              </a:buClr>
              <a:buSzPct val="63888"/>
              <a:buFont typeface="Wingdings"/>
              <a:buChar char=""/>
              <a:tabLst>
                <a:tab pos="1270000" algn="l"/>
              </a:tabLst>
            </a:pPr>
            <a:r>
              <a:rPr dirty="0" sz="1800" spc="-20" b="1">
                <a:solidFill>
                  <a:srgbClr val="00AFEF"/>
                </a:solidFill>
                <a:latin typeface="宋体"/>
                <a:cs typeface="宋体"/>
              </a:rPr>
              <a:t>第一编队启动需要</a:t>
            </a:r>
            <a:r>
              <a:rPr dirty="0" sz="1800" spc="-10" b="1">
                <a:solidFill>
                  <a:srgbClr val="D50092"/>
                </a:solidFill>
                <a:latin typeface="宋体"/>
                <a:cs typeface="宋体"/>
              </a:rPr>
              <a:t>12+7=19个</a:t>
            </a:r>
            <a:r>
              <a:rPr dirty="0" sz="1800" spc="-30" b="1">
                <a:solidFill>
                  <a:srgbClr val="00AFEF"/>
                </a:solidFill>
                <a:latin typeface="宋体"/>
                <a:cs typeface="宋体"/>
              </a:rPr>
              <a:t>时钟周期</a:t>
            </a:r>
            <a:endParaRPr sz="1800">
              <a:latin typeface="宋体"/>
              <a:cs typeface="宋体"/>
            </a:endParaRPr>
          </a:p>
          <a:p>
            <a:pPr marL="1270000" indent="-457200">
              <a:lnSpc>
                <a:spcPct val="100000"/>
              </a:lnSpc>
              <a:spcBef>
                <a:spcPts val="1295"/>
              </a:spcBef>
              <a:buClr>
                <a:srgbClr val="4668F5"/>
              </a:buClr>
              <a:buSzPct val="63888"/>
              <a:buFont typeface="Wingdings"/>
              <a:buChar char=""/>
              <a:tabLst>
                <a:tab pos="1270000" algn="l"/>
              </a:tabLst>
            </a:pPr>
            <a:r>
              <a:rPr dirty="0" sz="1800" spc="-10" b="1">
                <a:solidFill>
                  <a:srgbClr val="00AFEF"/>
                </a:solidFill>
                <a:latin typeface="宋体"/>
                <a:cs typeface="宋体"/>
              </a:rPr>
              <a:t>第二个编队启动需要</a:t>
            </a:r>
            <a:r>
              <a:rPr dirty="0" sz="1800" spc="-10" b="1">
                <a:solidFill>
                  <a:srgbClr val="D50092"/>
                </a:solidFill>
                <a:latin typeface="宋体"/>
                <a:cs typeface="宋体"/>
              </a:rPr>
              <a:t>12+6=18个</a:t>
            </a:r>
            <a:r>
              <a:rPr dirty="0" sz="1800" spc="-20" b="1">
                <a:solidFill>
                  <a:srgbClr val="00AFEF"/>
                </a:solidFill>
                <a:latin typeface="宋体"/>
                <a:cs typeface="宋体"/>
              </a:rPr>
              <a:t>时钟周期</a:t>
            </a:r>
            <a:endParaRPr sz="1800">
              <a:latin typeface="宋体"/>
              <a:cs typeface="宋体"/>
            </a:endParaRPr>
          </a:p>
          <a:p>
            <a:pPr marL="1270000" indent="-457200">
              <a:lnSpc>
                <a:spcPct val="100000"/>
              </a:lnSpc>
              <a:spcBef>
                <a:spcPts val="1300"/>
              </a:spcBef>
              <a:buClr>
                <a:srgbClr val="4668F5"/>
              </a:buClr>
              <a:buSzPct val="63888"/>
              <a:buFont typeface="Wingdings"/>
              <a:buChar char=""/>
              <a:tabLst>
                <a:tab pos="1270000" algn="l"/>
              </a:tabLst>
            </a:pPr>
            <a:r>
              <a:rPr dirty="0" sz="1800" spc="-10" b="1">
                <a:solidFill>
                  <a:srgbClr val="00AFEF"/>
                </a:solidFill>
                <a:latin typeface="宋体"/>
                <a:cs typeface="宋体"/>
              </a:rPr>
              <a:t>第三个编队启动仍然需要</a:t>
            </a:r>
            <a:r>
              <a:rPr dirty="0" sz="1800" spc="-10" b="1">
                <a:solidFill>
                  <a:srgbClr val="D50092"/>
                </a:solidFill>
                <a:latin typeface="宋体"/>
                <a:cs typeface="宋体"/>
              </a:rPr>
              <a:t>12个</a:t>
            </a:r>
            <a:r>
              <a:rPr dirty="0" sz="1800" spc="-20" b="1">
                <a:solidFill>
                  <a:srgbClr val="00AFEF"/>
                </a:solidFill>
                <a:latin typeface="宋体"/>
                <a:cs typeface="宋体"/>
              </a:rPr>
              <a:t>时钟周期</a:t>
            </a:r>
            <a:endParaRPr sz="1800">
              <a:latin typeface="宋体"/>
              <a:cs typeface="宋体"/>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319530" y="2357374"/>
            <a:ext cx="5283200"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宋体"/>
                <a:cs typeface="宋体"/>
              </a:rPr>
              <a:t>对</a:t>
            </a:r>
            <a:r>
              <a:rPr dirty="0" sz="2000" b="1">
                <a:solidFill>
                  <a:srgbClr val="9933FF"/>
                </a:solidFill>
                <a:latin typeface="Times New Roman"/>
                <a:cs typeface="Times New Roman"/>
              </a:rPr>
              <a:t>n</a:t>
            </a:r>
            <a:r>
              <a:rPr dirty="0" sz="2000" spc="-25" b="1">
                <a:solidFill>
                  <a:srgbClr val="40458B"/>
                </a:solidFill>
                <a:latin typeface="宋体"/>
                <a:cs typeface="宋体"/>
              </a:rPr>
              <a:t>个向量元素进行计算所需的时钟周期数为：</a:t>
            </a:r>
            <a:endParaRPr sz="2000">
              <a:latin typeface="宋体"/>
              <a:cs typeface="宋体"/>
            </a:endParaRPr>
          </a:p>
        </p:txBody>
      </p:sp>
      <p:grpSp>
        <p:nvGrpSpPr>
          <p:cNvPr id="11" name="object 11" descr=""/>
          <p:cNvGrpSpPr/>
          <p:nvPr/>
        </p:nvGrpSpPr>
        <p:grpSpPr>
          <a:xfrm>
            <a:off x="1835150" y="3068701"/>
            <a:ext cx="5472430" cy="1459230"/>
            <a:chOff x="1835150" y="3068701"/>
            <a:chExt cx="5472430" cy="1459230"/>
          </a:xfrm>
        </p:grpSpPr>
        <p:sp>
          <p:nvSpPr>
            <p:cNvPr id="12" name="object 12" descr=""/>
            <p:cNvSpPr/>
            <p:nvPr/>
          </p:nvSpPr>
          <p:spPr>
            <a:xfrm>
              <a:off x="1835150" y="3068701"/>
              <a:ext cx="5472430" cy="1459230"/>
            </a:xfrm>
            <a:custGeom>
              <a:avLst/>
              <a:gdLst/>
              <a:ahLst/>
              <a:cxnLst/>
              <a:rect l="l" t="t" r="r" b="b"/>
              <a:pathLst>
                <a:path w="5472430" h="1459229">
                  <a:moveTo>
                    <a:pt x="5472176" y="0"/>
                  </a:moveTo>
                  <a:lnTo>
                    <a:pt x="0" y="0"/>
                  </a:lnTo>
                  <a:lnTo>
                    <a:pt x="0" y="1458849"/>
                  </a:lnTo>
                  <a:lnTo>
                    <a:pt x="5472176" y="1458849"/>
                  </a:lnTo>
                  <a:lnTo>
                    <a:pt x="5472176" y="0"/>
                  </a:lnTo>
                  <a:close/>
                </a:path>
              </a:pathLst>
            </a:custGeom>
            <a:solidFill>
              <a:srgbClr val="EAEAEA"/>
            </a:solidFill>
          </p:spPr>
          <p:txBody>
            <a:bodyPr wrap="square" lIns="0" tIns="0" rIns="0" bIns="0" rtlCol="0"/>
            <a:lstStyle/>
            <a:p/>
          </p:txBody>
        </p:sp>
        <p:sp>
          <p:nvSpPr>
            <p:cNvPr id="13" name="object 13" descr=""/>
            <p:cNvSpPr/>
            <p:nvPr/>
          </p:nvSpPr>
          <p:spPr>
            <a:xfrm>
              <a:off x="2481261" y="3461381"/>
              <a:ext cx="3663950" cy="694690"/>
            </a:xfrm>
            <a:custGeom>
              <a:avLst/>
              <a:gdLst/>
              <a:ahLst/>
              <a:cxnLst/>
              <a:rect l="l" t="t" r="r" b="b"/>
              <a:pathLst>
                <a:path w="3663950" h="694689">
                  <a:moveTo>
                    <a:pt x="0" y="0"/>
                  </a:moveTo>
                  <a:lnTo>
                    <a:pt x="550468" y="0"/>
                  </a:lnTo>
                </a:path>
                <a:path w="3663950" h="694689">
                  <a:moveTo>
                    <a:pt x="0" y="694297"/>
                  </a:moveTo>
                  <a:lnTo>
                    <a:pt x="284572" y="694297"/>
                  </a:lnTo>
                </a:path>
                <a:path w="3663950" h="694689">
                  <a:moveTo>
                    <a:pt x="3379242" y="694297"/>
                  </a:moveTo>
                  <a:lnTo>
                    <a:pt x="3663645" y="694297"/>
                  </a:lnTo>
                </a:path>
              </a:pathLst>
            </a:custGeom>
            <a:ln w="11999">
              <a:solidFill>
                <a:srgbClr val="000000"/>
              </a:solidFill>
            </a:ln>
          </p:spPr>
          <p:txBody>
            <a:bodyPr wrap="square" lIns="0" tIns="0" rIns="0" bIns="0" rtlCol="0"/>
            <a:lstStyle/>
            <a:p/>
          </p:txBody>
        </p:sp>
      </p:grpSp>
      <p:sp>
        <p:nvSpPr>
          <p:cNvPr id="14" name="object 14" descr=""/>
          <p:cNvSpPr txBox="1"/>
          <p:nvPr/>
        </p:nvSpPr>
        <p:spPr>
          <a:xfrm>
            <a:off x="2694842" y="3090699"/>
            <a:ext cx="142240" cy="334010"/>
          </a:xfrm>
          <a:prstGeom prst="rect">
            <a:avLst/>
          </a:prstGeom>
        </p:spPr>
        <p:txBody>
          <a:bodyPr wrap="square" lIns="0" tIns="15240" rIns="0" bIns="0" rtlCol="0" vert="horz">
            <a:spAutoFit/>
          </a:bodyPr>
          <a:lstStyle/>
          <a:p>
            <a:pPr>
              <a:lnSpc>
                <a:spcPct val="100000"/>
              </a:lnSpc>
              <a:spcBef>
                <a:spcPts val="120"/>
              </a:spcBef>
            </a:pPr>
            <a:r>
              <a:rPr dirty="0" sz="2000" spc="-50" i="1">
                <a:latin typeface="Times New Roman"/>
                <a:cs typeface="Times New Roman"/>
              </a:rPr>
              <a:t>n</a:t>
            </a:r>
            <a:endParaRPr sz="2000">
              <a:latin typeface="Times New Roman"/>
              <a:cs typeface="Times New Roman"/>
            </a:endParaRPr>
          </a:p>
        </p:txBody>
      </p:sp>
      <p:sp>
        <p:nvSpPr>
          <p:cNvPr id="15" name="object 15" descr=""/>
          <p:cNvSpPr txBox="1"/>
          <p:nvPr/>
        </p:nvSpPr>
        <p:spPr>
          <a:xfrm>
            <a:off x="4304182" y="3405677"/>
            <a:ext cx="334645" cy="231140"/>
          </a:xfrm>
          <a:prstGeom prst="rect">
            <a:avLst/>
          </a:prstGeom>
        </p:spPr>
        <p:txBody>
          <a:bodyPr wrap="square" lIns="0" tIns="12065" rIns="0" bIns="0" rtlCol="0" vert="horz">
            <a:spAutoFit/>
          </a:bodyPr>
          <a:lstStyle/>
          <a:p>
            <a:pPr>
              <a:lnSpc>
                <a:spcPct val="100000"/>
              </a:lnSpc>
              <a:spcBef>
                <a:spcPts val="95"/>
              </a:spcBef>
            </a:pPr>
            <a:r>
              <a:rPr dirty="0" sz="1350" spc="-10" i="1">
                <a:latin typeface="Times New Roman"/>
                <a:cs typeface="Times New Roman"/>
              </a:rPr>
              <a:t>start</a:t>
            </a:r>
            <a:endParaRPr sz="1350">
              <a:latin typeface="Times New Roman"/>
              <a:cs typeface="Times New Roman"/>
            </a:endParaRPr>
          </a:p>
        </p:txBody>
      </p:sp>
      <p:sp>
        <p:nvSpPr>
          <p:cNvPr id="16" name="object 16" descr=""/>
          <p:cNvSpPr txBox="1"/>
          <p:nvPr/>
        </p:nvSpPr>
        <p:spPr>
          <a:xfrm>
            <a:off x="3587007" y="3405677"/>
            <a:ext cx="322580" cy="231140"/>
          </a:xfrm>
          <a:prstGeom prst="rect">
            <a:avLst/>
          </a:prstGeom>
        </p:spPr>
        <p:txBody>
          <a:bodyPr wrap="square" lIns="0" tIns="12065" rIns="0" bIns="0" rtlCol="0" vert="horz">
            <a:spAutoFit/>
          </a:bodyPr>
          <a:lstStyle/>
          <a:p>
            <a:pPr>
              <a:lnSpc>
                <a:spcPct val="100000"/>
              </a:lnSpc>
              <a:spcBef>
                <a:spcPts val="95"/>
              </a:spcBef>
            </a:pPr>
            <a:r>
              <a:rPr dirty="0" sz="1350" spc="-20" i="1">
                <a:latin typeface="Times New Roman"/>
                <a:cs typeface="Times New Roman"/>
              </a:rPr>
              <a:t>loop</a:t>
            </a:r>
            <a:endParaRPr sz="1350">
              <a:latin typeface="Times New Roman"/>
              <a:cs typeface="Times New Roman"/>
            </a:endParaRPr>
          </a:p>
        </p:txBody>
      </p:sp>
      <p:sp>
        <p:nvSpPr>
          <p:cNvPr id="17" name="object 17" descr=""/>
          <p:cNvSpPr txBox="1"/>
          <p:nvPr/>
        </p:nvSpPr>
        <p:spPr>
          <a:xfrm>
            <a:off x="1996380" y="3405677"/>
            <a:ext cx="99060" cy="231140"/>
          </a:xfrm>
          <a:prstGeom prst="rect">
            <a:avLst/>
          </a:prstGeom>
        </p:spPr>
        <p:txBody>
          <a:bodyPr wrap="square" lIns="0" tIns="12065" rIns="0" bIns="0" rtlCol="0" vert="horz">
            <a:spAutoFit/>
          </a:bodyPr>
          <a:lstStyle/>
          <a:p>
            <a:pPr>
              <a:lnSpc>
                <a:spcPct val="100000"/>
              </a:lnSpc>
              <a:spcBef>
                <a:spcPts val="95"/>
              </a:spcBef>
            </a:pPr>
            <a:r>
              <a:rPr dirty="0" sz="1350" spc="-50" i="1">
                <a:latin typeface="Times New Roman"/>
                <a:cs typeface="Times New Roman"/>
              </a:rPr>
              <a:t>n</a:t>
            </a:r>
            <a:endParaRPr sz="1350">
              <a:latin typeface="Times New Roman"/>
              <a:cs typeface="Times New Roman"/>
            </a:endParaRPr>
          </a:p>
        </p:txBody>
      </p:sp>
      <p:sp>
        <p:nvSpPr>
          <p:cNvPr id="18" name="object 18" descr=""/>
          <p:cNvSpPr txBox="1"/>
          <p:nvPr/>
        </p:nvSpPr>
        <p:spPr>
          <a:xfrm>
            <a:off x="2131532" y="3950653"/>
            <a:ext cx="5179695" cy="537845"/>
          </a:xfrm>
          <a:prstGeom prst="rect">
            <a:avLst/>
          </a:prstGeom>
        </p:spPr>
        <p:txBody>
          <a:bodyPr wrap="square" lIns="0" tIns="15240" rIns="0" bIns="0" rtlCol="0" vert="horz">
            <a:spAutoFit/>
          </a:bodyPr>
          <a:lstStyle/>
          <a:p>
            <a:pPr marL="38100">
              <a:lnSpc>
                <a:spcPts val="2000"/>
              </a:lnSpc>
              <a:spcBef>
                <a:spcPts val="120"/>
              </a:spcBef>
            </a:pPr>
            <a:r>
              <a:rPr dirty="0" sz="2000">
                <a:latin typeface="Symbol"/>
                <a:cs typeface="Symbol"/>
              </a:rPr>
              <a:t></a:t>
            </a:r>
            <a:r>
              <a:rPr dirty="0" sz="2000" spc="5">
                <a:latin typeface="Times New Roman"/>
                <a:cs typeface="Times New Roman"/>
              </a:rPr>
              <a:t> </a:t>
            </a:r>
            <a:r>
              <a:rPr dirty="0" baseline="33333" sz="3000">
                <a:latin typeface="Symbol"/>
                <a:cs typeface="Symbol"/>
              </a:rPr>
              <a:t></a:t>
            </a:r>
            <a:r>
              <a:rPr dirty="0" baseline="33333" sz="3000" spc="315">
                <a:latin typeface="Times New Roman"/>
                <a:cs typeface="Times New Roman"/>
              </a:rPr>
              <a:t> </a:t>
            </a:r>
            <a:r>
              <a:rPr dirty="0" baseline="36111" sz="3000" i="1">
                <a:latin typeface="Times New Roman"/>
                <a:cs typeface="Times New Roman"/>
              </a:rPr>
              <a:t>n</a:t>
            </a:r>
            <a:r>
              <a:rPr dirty="0" baseline="36111" sz="3000" spc="345" i="1">
                <a:latin typeface="Times New Roman"/>
                <a:cs typeface="Times New Roman"/>
              </a:rPr>
              <a:t> </a:t>
            </a:r>
            <a:r>
              <a:rPr dirty="0" baseline="33333" sz="3000">
                <a:latin typeface="Symbol"/>
                <a:cs typeface="Symbol"/>
              </a:rPr>
              <a:t></a:t>
            </a:r>
            <a:r>
              <a:rPr dirty="0" baseline="33333" sz="3000" spc="-150">
                <a:latin typeface="Times New Roman"/>
                <a:cs typeface="Times New Roman"/>
              </a:rPr>
              <a:t> </a:t>
            </a:r>
            <a:r>
              <a:rPr dirty="0" sz="2000">
                <a:latin typeface="Symbol"/>
                <a:cs typeface="Symbol"/>
              </a:rPr>
              <a:t></a:t>
            </a:r>
            <a:r>
              <a:rPr dirty="0" sz="2000" spc="-125">
                <a:latin typeface="Times New Roman"/>
                <a:cs typeface="Times New Roman"/>
              </a:rPr>
              <a:t> </a:t>
            </a:r>
            <a:r>
              <a:rPr dirty="0" sz="2000" spc="-50">
                <a:latin typeface="Times New Roman"/>
                <a:cs typeface="Times New Roman"/>
              </a:rPr>
              <a:t>(15</a:t>
            </a:r>
            <a:r>
              <a:rPr dirty="0" sz="2000" spc="-100">
                <a:latin typeface="Times New Roman"/>
                <a:cs typeface="Times New Roman"/>
              </a:rPr>
              <a:t> </a:t>
            </a:r>
            <a:r>
              <a:rPr dirty="0" sz="2000">
                <a:latin typeface="Symbol"/>
                <a:cs typeface="Symbol"/>
              </a:rPr>
              <a:t></a:t>
            </a:r>
            <a:r>
              <a:rPr dirty="0" sz="2000" spc="-225">
                <a:latin typeface="Times New Roman"/>
                <a:cs typeface="Times New Roman"/>
              </a:rPr>
              <a:t> </a:t>
            </a:r>
            <a:r>
              <a:rPr dirty="0" sz="2000">
                <a:latin typeface="Times New Roman"/>
                <a:cs typeface="Times New Roman"/>
              </a:rPr>
              <a:t>19</a:t>
            </a:r>
            <a:r>
              <a:rPr dirty="0" sz="2000" spc="-75">
                <a:latin typeface="Times New Roman"/>
                <a:cs typeface="Times New Roman"/>
              </a:rPr>
              <a:t> </a:t>
            </a:r>
            <a:r>
              <a:rPr dirty="0" sz="2000">
                <a:latin typeface="Symbol"/>
                <a:cs typeface="Symbol"/>
              </a:rPr>
              <a:t></a:t>
            </a:r>
            <a:r>
              <a:rPr dirty="0" sz="2000" spc="-225">
                <a:latin typeface="Times New Roman"/>
                <a:cs typeface="Times New Roman"/>
              </a:rPr>
              <a:t> </a:t>
            </a:r>
            <a:r>
              <a:rPr dirty="0" sz="2000">
                <a:latin typeface="Times New Roman"/>
                <a:cs typeface="Times New Roman"/>
              </a:rPr>
              <a:t>18</a:t>
            </a:r>
            <a:r>
              <a:rPr dirty="0" sz="2000" spc="-100">
                <a:latin typeface="Times New Roman"/>
                <a:cs typeface="Times New Roman"/>
              </a:rPr>
              <a:t> </a:t>
            </a:r>
            <a:r>
              <a:rPr dirty="0" sz="2000">
                <a:latin typeface="Symbol"/>
                <a:cs typeface="Symbol"/>
              </a:rPr>
              <a:t></a:t>
            </a:r>
            <a:r>
              <a:rPr dirty="0" sz="2000" spc="-215">
                <a:latin typeface="Times New Roman"/>
                <a:cs typeface="Times New Roman"/>
              </a:rPr>
              <a:t> </a:t>
            </a:r>
            <a:r>
              <a:rPr dirty="0" sz="2000">
                <a:latin typeface="Times New Roman"/>
                <a:cs typeface="Times New Roman"/>
              </a:rPr>
              <a:t>12)</a:t>
            </a:r>
            <a:r>
              <a:rPr dirty="0" sz="2000" spc="-30">
                <a:latin typeface="Times New Roman"/>
                <a:cs typeface="Times New Roman"/>
              </a:rPr>
              <a:t> </a:t>
            </a:r>
            <a:r>
              <a:rPr dirty="0" sz="2000">
                <a:latin typeface="Symbol"/>
                <a:cs typeface="Symbol"/>
              </a:rPr>
              <a:t></a:t>
            </a:r>
            <a:r>
              <a:rPr dirty="0" sz="2000" spc="-60">
                <a:latin typeface="Times New Roman"/>
                <a:cs typeface="Times New Roman"/>
              </a:rPr>
              <a:t> </a:t>
            </a:r>
            <a:r>
              <a:rPr dirty="0" sz="2000">
                <a:latin typeface="Times New Roman"/>
                <a:cs typeface="Times New Roman"/>
              </a:rPr>
              <a:t>3</a:t>
            </a:r>
            <a:r>
              <a:rPr dirty="0" sz="2000" i="1">
                <a:latin typeface="Times New Roman"/>
                <a:cs typeface="Times New Roman"/>
              </a:rPr>
              <a:t>n</a:t>
            </a:r>
            <a:r>
              <a:rPr dirty="0" sz="2000" spc="-25" i="1">
                <a:latin typeface="Times New Roman"/>
                <a:cs typeface="Times New Roman"/>
              </a:rPr>
              <a:t> </a:t>
            </a:r>
            <a:r>
              <a:rPr dirty="0" sz="2000">
                <a:latin typeface="Symbol"/>
                <a:cs typeface="Symbol"/>
              </a:rPr>
              <a:t></a:t>
            </a:r>
            <a:r>
              <a:rPr dirty="0" sz="2000" spc="10">
                <a:latin typeface="Times New Roman"/>
                <a:cs typeface="Times New Roman"/>
              </a:rPr>
              <a:t> </a:t>
            </a:r>
            <a:r>
              <a:rPr dirty="0" baseline="33333" sz="3000">
                <a:latin typeface="Symbol"/>
                <a:cs typeface="Symbol"/>
              </a:rPr>
              <a:t></a:t>
            </a:r>
            <a:r>
              <a:rPr dirty="0" baseline="33333" sz="3000" spc="315">
                <a:latin typeface="Times New Roman"/>
                <a:cs typeface="Times New Roman"/>
              </a:rPr>
              <a:t> </a:t>
            </a:r>
            <a:r>
              <a:rPr dirty="0" baseline="36111" sz="3000" i="1">
                <a:latin typeface="Times New Roman"/>
                <a:cs typeface="Times New Roman"/>
              </a:rPr>
              <a:t>n</a:t>
            </a:r>
            <a:r>
              <a:rPr dirty="0" baseline="36111" sz="3000" spc="352" i="1">
                <a:latin typeface="Times New Roman"/>
                <a:cs typeface="Times New Roman"/>
              </a:rPr>
              <a:t> </a:t>
            </a:r>
            <a:r>
              <a:rPr dirty="0" baseline="33333" sz="3000">
                <a:latin typeface="Symbol"/>
                <a:cs typeface="Symbol"/>
              </a:rPr>
              <a:t></a:t>
            </a:r>
            <a:r>
              <a:rPr dirty="0" baseline="33333" sz="3000" spc="-150">
                <a:latin typeface="Times New Roman"/>
                <a:cs typeface="Times New Roman"/>
              </a:rPr>
              <a:t> </a:t>
            </a:r>
            <a:r>
              <a:rPr dirty="0" sz="2000">
                <a:latin typeface="Symbol"/>
                <a:cs typeface="Symbol"/>
              </a:rPr>
              <a:t></a:t>
            </a:r>
            <a:r>
              <a:rPr dirty="0" sz="2000" spc="-120">
                <a:latin typeface="Times New Roman"/>
                <a:cs typeface="Times New Roman"/>
              </a:rPr>
              <a:t> </a:t>
            </a:r>
            <a:r>
              <a:rPr dirty="0" sz="2000">
                <a:latin typeface="Times New Roman"/>
                <a:cs typeface="Times New Roman"/>
              </a:rPr>
              <a:t>64</a:t>
            </a:r>
            <a:r>
              <a:rPr dirty="0" sz="2000" spc="-70">
                <a:latin typeface="Times New Roman"/>
                <a:cs typeface="Times New Roman"/>
              </a:rPr>
              <a:t> </a:t>
            </a:r>
            <a:r>
              <a:rPr dirty="0" sz="2000">
                <a:latin typeface="Symbol"/>
                <a:cs typeface="Symbol"/>
              </a:rPr>
              <a:t></a:t>
            </a:r>
            <a:r>
              <a:rPr dirty="0" sz="2000" spc="-60">
                <a:latin typeface="Times New Roman"/>
                <a:cs typeface="Times New Roman"/>
              </a:rPr>
              <a:t> </a:t>
            </a:r>
            <a:r>
              <a:rPr dirty="0" sz="2000" spc="-25">
                <a:latin typeface="Times New Roman"/>
                <a:cs typeface="Times New Roman"/>
              </a:rPr>
              <a:t>3</a:t>
            </a:r>
            <a:r>
              <a:rPr dirty="0" sz="2000" spc="-25" i="1">
                <a:latin typeface="Times New Roman"/>
                <a:cs typeface="Times New Roman"/>
              </a:rPr>
              <a:t>n</a:t>
            </a:r>
            <a:endParaRPr sz="2000">
              <a:latin typeface="Times New Roman"/>
              <a:cs typeface="Times New Roman"/>
            </a:endParaRPr>
          </a:p>
          <a:p>
            <a:pPr marL="242570">
              <a:lnSpc>
                <a:spcPts val="2000"/>
              </a:lnSpc>
              <a:tabLst>
                <a:tab pos="3621404" algn="l"/>
              </a:tabLst>
            </a:pPr>
            <a:r>
              <a:rPr dirty="0" baseline="-6944" sz="3000">
                <a:latin typeface="Symbol"/>
                <a:cs typeface="Symbol"/>
              </a:rPr>
              <a:t></a:t>
            </a:r>
            <a:r>
              <a:rPr dirty="0" baseline="-6944" sz="3000" spc="-427">
                <a:latin typeface="Times New Roman"/>
                <a:cs typeface="Times New Roman"/>
              </a:rPr>
              <a:t> </a:t>
            </a:r>
            <a:r>
              <a:rPr dirty="0" sz="2000">
                <a:latin typeface="Times New Roman"/>
                <a:cs typeface="Times New Roman"/>
              </a:rPr>
              <a:t>64</a:t>
            </a:r>
            <a:r>
              <a:rPr dirty="0" sz="2000" spc="-290">
                <a:latin typeface="Times New Roman"/>
                <a:cs typeface="Times New Roman"/>
              </a:rPr>
              <a:t> </a:t>
            </a:r>
            <a:r>
              <a:rPr dirty="0" baseline="-6944" sz="3000" spc="-75">
                <a:latin typeface="Symbol"/>
                <a:cs typeface="Symbol"/>
              </a:rPr>
              <a:t></a:t>
            </a:r>
            <a:r>
              <a:rPr dirty="0" baseline="-6944" sz="3000">
                <a:latin typeface="Times New Roman"/>
                <a:cs typeface="Times New Roman"/>
              </a:rPr>
              <a:t>	</a:t>
            </a:r>
            <a:r>
              <a:rPr dirty="0" baseline="-6944" sz="3000">
                <a:latin typeface="Symbol"/>
                <a:cs typeface="Symbol"/>
              </a:rPr>
              <a:t></a:t>
            </a:r>
            <a:r>
              <a:rPr dirty="0" baseline="-6944" sz="3000" spc="-427">
                <a:latin typeface="Times New Roman"/>
                <a:cs typeface="Times New Roman"/>
              </a:rPr>
              <a:t> </a:t>
            </a:r>
            <a:r>
              <a:rPr dirty="0" sz="2000">
                <a:latin typeface="Times New Roman"/>
                <a:cs typeface="Times New Roman"/>
              </a:rPr>
              <a:t>64</a:t>
            </a:r>
            <a:r>
              <a:rPr dirty="0" sz="2000" spc="-285">
                <a:latin typeface="Times New Roman"/>
                <a:cs typeface="Times New Roman"/>
              </a:rPr>
              <a:t> </a:t>
            </a:r>
            <a:r>
              <a:rPr dirty="0" baseline="-6944" sz="3000" spc="-75">
                <a:latin typeface="Symbol"/>
                <a:cs typeface="Symbol"/>
              </a:rPr>
              <a:t></a:t>
            </a:r>
            <a:endParaRPr baseline="-6944" sz="3000">
              <a:latin typeface="Symbol"/>
              <a:cs typeface="Symbol"/>
            </a:endParaRPr>
          </a:p>
        </p:txBody>
      </p:sp>
      <p:sp>
        <p:nvSpPr>
          <p:cNvPr id="19" name="object 19" descr=""/>
          <p:cNvSpPr txBox="1"/>
          <p:nvPr/>
        </p:nvSpPr>
        <p:spPr>
          <a:xfrm>
            <a:off x="3981066" y="3256380"/>
            <a:ext cx="1355090" cy="334010"/>
          </a:xfrm>
          <a:prstGeom prst="rect">
            <a:avLst/>
          </a:prstGeom>
        </p:spPr>
        <p:txBody>
          <a:bodyPr wrap="square" lIns="0" tIns="15240" rIns="0" bIns="0" rtlCol="0" vert="horz">
            <a:spAutoFit/>
          </a:bodyPr>
          <a:lstStyle/>
          <a:p>
            <a:pPr>
              <a:lnSpc>
                <a:spcPct val="100000"/>
              </a:lnSpc>
              <a:spcBef>
                <a:spcPts val="120"/>
              </a:spcBef>
              <a:tabLst>
                <a:tab pos="674370" algn="l"/>
              </a:tabLst>
            </a:pPr>
            <a:r>
              <a:rPr dirty="0" sz="2000">
                <a:latin typeface="Symbol"/>
                <a:cs typeface="Symbol"/>
              </a:rPr>
              <a:t></a:t>
            </a:r>
            <a:r>
              <a:rPr dirty="0" sz="2000" spc="-125">
                <a:latin typeface="Times New Roman"/>
                <a:cs typeface="Times New Roman"/>
              </a:rPr>
              <a:t> </a:t>
            </a:r>
            <a:r>
              <a:rPr dirty="0" sz="2000" spc="-50" i="1">
                <a:latin typeface="Times New Roman"/>
                <a:cs typeface="Times New Roman"/>
              </a:rPr>
              <a:t>T</a:t>
            </a:r>
            <a:r>
              <a:rPr dirty="0" sz="2000" i="1">
                <a:latin typeface="Times New Roman"/>
                <a:cs typeface="Times New Roman"/>
              </a:rPr>
              <a:t>	</a:t>
            </a:r>
            <a:r>
              <a:rPr dirty="0" sz="2000">
                <a:latin typeface="Times New Roman"/>
                <a:cs typeface="Times New Roman"/>
              </a:rPr>
              <a:t>)</a:t>
            </a:r>
            <a:r>
              <a:rPr dirty="0" sz="2000" spc="-35">
                <a:latin typeface="Times New Roman"/>
                <a:cs typeface="Times New Roman"/>
              </a:rPr>
              <a:t> </a:t>
            </a:r>
            <a:r>
              <a:rPr dirty="0" sz="2000">
                <a:latin typeface="Symbol"/>
                <a:cs typeface="Symbol"/>
              </a:rPr>
              <a:t></a:t>
            </a:r>
            <a:r>
              <a:rPr dirty="0" sz="2000" spc="5">
                <a:latin typeface="Times New Roman"/>
                <a:cs typeface="Times New Roman"/>
              </a:rPr>
              <a:t> </a:t>
            </a:r>
            <a:r>
              <a:rPr dirty="0" sz="2000" spc="-25" i="1">
                <a:latin typeface="Times New Roman"/>
                <a:cs typeface="Times New Roman"/>
              </a:rPr>
              <a:t>mn</a:t>
            </a:r>
            <a:endParaRPr sz="2000">
              <a:latin typeface="Times New Roman"/>
              <a:cs typeface="Times New Roman"/>
            </a:endParaRPr>
          </a:p>
        </p:txBody>
      </p:sp>
      <p:sp>
        <p:nvSpPr>
          <p:cNvPr id="20" name="object 20" descr=""/>
          <p:cNvSpPr txBox="1"/>
          <p:nvPr/>
        </p:nvSpPr>
        <p:spPr>
          <a:xfrm>
            <a:off x="3021970" y="3256380"/>
            <a:ext cx="619760" cy="334010"/>
          </a:xfrm>
          <a:prstGeom prst="rect">
            <a:avLst/>
          </a:prstGeom>
        </p:spPr>
        <p:txBody>
          <a:bodyPr wrap="square" lIns="0" tIns="15240" rIns="0" bIns="0" rtlCol="0" vert="horz">
            <a:spAutoFit/>
          </a:bodyPr>
          <a:lstStyle/>
          <a:p>
            <a:pPr marL="25400">
              <a:lnSpc>
                <a:spcPct val="100000"/>
              </a:lnSpc>
              <a:spcBef>
                <a:spcPts val="120"/>
              </a:spcBef>
            </a:pPr>
            <a:r>
              <a:rPr dirty="0" baseline="33333" sz="3000">
                <a:latin typeface="Symbol"/>
                <a:cs typeface="Symbol"/>
              </a:rPr>
              <a:t></a:t>
            </a:r>
            <a:r>
              <a:rPr dirty="0" baseline="33333" sz="3000" spc="-150">
                <a:latin typeface="Times New Roman"/>
                <a:cs typeface="Times New Roman"/>
              </a:rPr>
              <a:t> </a:t>
            </a:r>
            <a:r>
              <a:rPr dirty="0" sz="2000">
                <a:latin typeface="Symbol"/>
                <a:cs typeface="Symbol"/>
              </a:rPr>
              <a:t></a:t>
            </a:r>
            <a:r>
              <a:rPr dirty="0" sz="2000" spc="-120">
                <a:latin typeface="Times New Roman"/>
                <a:cs typeface="Times New Roman"/>
              </a:rPr>
              <a:t> </a:t>
            </a:r>
            <a:r>
              <a:rPr dirty="0" sz="2000" spc="-25">
                <a:latin typeface="Times New Roman"/>
                <a:cs typeface="Times New Roman"/>
              </a:rPr>
              <a:t>(</a:t>
            </a:r>
            <a:r>
              <a:rPr dirty="0" sz="2000" spc="-25" i="1">
                <a:latin typeface="Times New Roman"/>
                <a:cs typeface="Times New Roman"/>
              </a:rPr>
              <a:t>T</a:t>
            </a:r>
            <a:endParaRPr sz="2000">
              <a:latin typeface="Times New Roman"/>
              <a:cs typeface="Times New Roman"/>
            </a:endParaRPr>
          </a:p>
        </p:txBody>
      </p:sp>
      <p:sp>
        <p:nvSpPr>
          <p:cNvPr id="21" name="object 21" descr=""/>
          <p:cNvSpPr txBox="1"/>
          <p:nvPr/>
        </p:nvSpPr>
        <p:spPr>
          <a:xfrm>
            <a:off x="2348779" y="3460179"/>
            <a:ext cx="836294" cy="334010"/>
          </a:xfrm>
          <a:prstGeom prst="rect">
            <a:avLst/>
          </a:prstGeom>
        </p:spPr>
        <p:txBody>
          <a:bodyPr wrap="square" lIns="0" tIns="15240" rIns="0" bIns="0" rtlCol="0" vert="horz">
            <a:spAutoFit/>
          </a:bodyPr>
          <a:lstStyle/>
          <a:p>
            <a:pPr marL="25400">
              <a:lnSpc>
                <a:spcPct val="100000"/>
              </a:lnSpc>
              <a:spcBef>
                <a:spcPts val="120"/>
              </a:spcBef>
            </a:pPr>
            <a:r>
              <a:rPr dirty="0" baseline="-6944" sz="3000">
                <a:latin typeface="Symbol"/>
                <a:cs typeface="Symbol"/>
              </a:rPr>
              <a:t></a:t>
            </a:r>
            <a:r>
              <a:rPr dirty="0" baseline="-6944" sz="3000" spc="-352">
                <a:latin typeface="Times New Roman"/>
                <a:cs typeface="Times New Roman"/>
              </a:rPr>
              <a:t> </a:t>
            </a:r>
            <a:r>
              <a:rPr dirty="0" sz="2000" spc="40" i="1">
                <a:latin typeface="Times New Roman"/>
                <a:cs typeface="Times New Roman"/>
              </a:rPr>
              <a:t>MVL</a:t>
            </a:r>
            <a:r>
              <a:rPr dirty="0" baseline="-6944" sz="3000" spc="60">
                <a:latin typeface="Symbol"/>
                <a:cs typeface="Symbol"/>
              </a:rPr>
              <a:t></a:t>
            </a:r>
            <a:endParaRPr baseline="-6944" sz="3000">
              <a:latin typeface="Symbol"/>
              <a:cs typeface="Symbol"/>
            </a:endParaRPr>
          </a:p>
        </p:txBody>
      </p:sp>
      <p:sp>
        <p:nvSpPr>
          <p:cNvPr id="22" name="object 22" descr=""/>
          <p:cNvSpPr txBox="1"/>
          <p:nvPr/>
        </p:nvSpPr>
        <p:spPr>
          <a:xfrm>
            <a:off x="1838627" y="3256380"/>
            <a:ext cx="673100" cy="334010"/>
          </a:xfrm>
          <a:prstGeom prst="rect">
            <a:avLst/>
          </a:prstGeom>
        </p:spPr>
        <p:txBody>
          <a:bodyPr wrap="square" lIns="0" tIns="15240" rIns="0" bIns="0" rtlCol="0" vert="horz">
            <a:spAutoFit/>
          </a:bodyPr>
          <a:lstStyle/>
          <a:p>
            <a:pPr marL="25400">
              <a:lnSpc>
                <a:spcPct val="100000"/>
              </a:lnSpc>
              <a:spcBef>
                <a:spcPts val="120"/>
              </a:spcBef>
              <a:tabLst>
                <a:tab pos="330835" algn="l"/>
              </a:tabLst>
            </a:pPr>
            <a:r>
              <a:rPr dirty="0" sz="2000" spc="-50" i="1">
                <a:latin typeface="Times New Roman"/>
                <a:cs typeface="Times New Roman"/>
              </a:rPr>
              <a:t>T</a:t>
            </a:r>
            <a:r>
              <a:rPr dirty="0" sz="2000" i="1">
                <a:latin typeface="Times New Roman"/>
                <a:cs typeface="Times New Roman"/>
              </a:rPr>
              <a:t>	</a:t>
            </a:r>
            <a:r>
              <a:rPr dirty="0" sz="2000">
                <a:latin typeface="Symbol"/>
                <a:cs typeface="Symbol"/>
              </a:rPr>
              <a:t></a:t>
            </a:r>
            <a:r>
              <a:rPr dirty="0" sz="2000" spc="5">
                <a:latin typeface="Times New Roman"/>
                <a:cs typeface="Times New Roman"/>
              </a:rPr>
              <a:t> </a:t>
            </a:r>
            <a:r>
              <a:rPr dirty="0" baseline="33333" sz="3000" spc="-75">
                <a:latin typeface="Symbol"/>
                <a:cs typeface="Symbol"/>
              </a:rPr>
              <a:t></a:t>
            </a:r>
            <a:endParaRPr baseline="33333" sz="3000">
              <a:latin typeface="Symbol"/>
              <a:cs typeface="Symbo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71/72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737616" y="1453133"/>
            <a:ext cx="7498715" cy="2037080"/>
          </a:xfrm>
          <a:prstGeom prst="rect">
            <a:avLst/>
          </a:prstGeom>
        </p:spPr>
        <p:txBody>
          <a:bodyPr wrap="square" lIns="0" tIns="13335" rIns="0" bIns="0" rtlCol="0" vert="horz">
            <a:spAutoFit/>
          </a:bodyPr>
          <a:lstStyle/>
          <a:p>
            <a:pPr marL="38100">
              <a:lnSpc>
                <a:spcPct val="100000"/>
              </a:lnSpc>
              <a:spcBef>
                <a:spcPts val="105"/>
              </a:spcBef>
            </a:pPr>
            <a:r>
              <a:rPr dirty="0" sz="2600">
                <a:solidFill>
                  <a:srgbClr val="0000CC"/>
                </a:solidFill>
                <a:latin typeface="黑体"/>
                <a:cs typeface="黑体"/>
              </a:rPr>
              <a:t>4.4.2 最大性能</a:t>
            </a:r>
            <a:r>
              <a:rPr dirty="0" sz="2600" spc="-10">
                <a:solidFill>
                  <a:srgbClr val="0000CC"/>
                </a:solidFill>
                <a:latin typeface="Times New Roman"/>
                <a:cs typeface="Times New Roman"/>
              </a:rPr>
              <a:t>R</a:t>
            </a:r>
            <a:r>
              <a:rPr dirty="0" baseline="-21241" sz="2550" spc="-15">
                <a:solidFill>
                  <a:srgbClr val="0000CC"/>
                </a:solidFill>
                <a:latin typeface="Times New Roman"/>
                <a:cs typeface="Times New Roman"/>
              </a:rPr>
              <a:t>∞</a:t>
            </a:r>
            <a:r>
              <a:rPr dirty="0" sz="2600" spc="-10">
                <a:solidFill>
                  <a:srgbClr val="0000CC"/>
                </a:solidFill>
                <a:latin typeface="黑体"/>
                <a:cs typeface="黑体"/>
              </a:rPr>
              <a:t>和半性能向量长度</a:t>
            </a:r>
            <a:r>
              <a:rPr dirty="0" sz="2600" spc="-20">
                <a:solidFill>
                  <a:srgbClr val="0000CC"/>
                </a:solidFill>
                <a:latin typeface="Times New Roman"/>
                <a:cs typeface="Times New Roman"/>
              </a:rPr>
              <a:t>n</a:t>
            </a:r>
            <a:r>
              <a:rPr dirty="0" baseline="-21241" sz="2550" spc="-30">
                <a:solidFill>
                  <a:srgbClr val="0000CC"/>
                </a:solidFill>
                <a:latin typeface="Times New Roman"/>
                <a:cs typeface="Times New Roman"/>
              </a:rPr>
              <a:t>1/2</a:t>
            </a:r>
            <a:endParaRPr baseline="-21241" sz="2550">
              <a:latin typeface="Times New Roman"/>
              <a:cs typeface="Times New Roman"/>
            </a:endParaRPr>
          </a:p>
          <a:p>
            <a:pPr marL="114300">
              <a:lnSpc>
                <a:spcPct val="100000"/>
              </a:lnSpc>
              <a:spcBef>
                <a:spcPts val="1764"/>
              </a:spcBef>
            </a:pPr>
            <a:r>
              <a:rPr dirty="0" sz="2400" spc="-40">
                <a:solidFill>
                  <a:srgbClr val="E14B04"/>
                </a:solidFill>
                <a:latin typeface="黑体"/>
                <a:cs typeface="黑体"/>
              </a:rPr>
              <a:t>向量处理机的峰值性能 </a:t>
            </a:r>
            <a:r>
              <a:rPr dirty="0" sz="2400" spc="-25">
                <a:solidFill>
                  <a:srgbClr val="E14B04"/>
                </a:solidFill>
                <a:latin typeface="Tahoma"/>
                <a:cs typeface="Tahoma"/>
              </a:rPr>
              <a:t>R</a:t>
            </a:r>
            <a:r>
              <a:rPr dirty="0" baseline="-20833" sz="2400" spc="-37">
                <a:solidFill>
                  <a:srgbClr val="E14B04"/>
                </a:solidFill>
                <a:latin typeface="Tahoma"/>
                <a:cs typeface="Tahoma"/>
              </a:rPr>
              <a:t>∞</a:t>
            </a:r>
            <a:endParaRPr baseline="-20833" sz="2400">
              <a:latin typeface="Tahoma"/>
              <a:cs typeface="Tahoma"/>
            </a:endParaRPr>
          </a:p>
          <a:p>
            <a:pPr marL="1200785" indent="-457200">
              <a:lnSpc>
                <a:spcPct val="100000"/>
              </a:lnSpc>
              <a:spcBef>
                <a:spcPts val="1440"/>
              </a:spcBef>
              <a:buSzPct val="89583"/>
              <a:buFont typeface="Wingdings"/>
              <a:buChar char=""/>
              <a:tabLst>
                <a:tab pos="1200785" algn="l"/>
              </a:tabLst>
            </a:pPr>
            <a:r>
              <a:rPr dirty="0" sz="2400">
                <a:solidFill>
                  <a:srgbClr val="40458B"/>
                </a:solidFill>
                <a:latin typeface="Tahoma"/>
                <a:cs typeface="Tahoma"/>
              </a:rPr>
              <a:t>R</a:t>
            </a:r>
            <a:r>
              <a:rPr dirty="0" sz="2400" spc="80">
                <a:solidFill>
                  <a:srgbClr val="40458B"/>
                </a:solidFill>
                <a:latin typeface="Tahoma"/>
                <a:cs typeface="Tahoma"/>
              </a:rPr>
              <a:t> </a:t>
            </a:r>
            <a:r>
              <a:rPr dirty="0" baseline="-20833" sz="2400">
                <a:solidFill>
                  <a:srgbClr val="40458B"/>
                </a:solidFill>
                <a:latin typeface="Tahoma"/>
                <a:cs typeface="Tahoma"/>
              </a:rPr>
              <a:t>∞</a:t>
            </a:r>
            <a:r>
              <a:rPr dirty="0" sz="2400" spc="-15">
                <a:solidFill>
                  <a:srgbClr val="40458B"/>
                </a:solidFill>
                <a:latin typeface="黑体"/>
                <a:cs typeface="黑体"/>
              </a:rPr>
              <a:t>表示当向量长度为无穷大时，向量处理机的</a:t>
            </a:r>
            <a:endParaRPr sz="2400">
              <a:latin typeface="黑体"/>
              <a:cs typeface="黑体"/>
            </a:endParaRPr>
          </a:p>
          <a:p>
            <a:pPr marL="1200785">
              <a:lnSpc>
                <a:spcPct val="100000"/>
              </a:lnSpc>
              <a:spcBef>
                <a:spcPts val="870"/>
              </a:spcBef>
            </a:pPr>
            <a:r>
              <a:rPr dirty="0" sz="2400">
                <a:solidFill>
                  <a:srgbClr val="40458B"/>
                </a:solidFill>
                <a:latin typeface="黑体"/>
                <a:cs typeface="黑体"/>
              </a:rPr>
              <a:t>最高性能，也称为</a:t>
            </a:r>
            <a:r>
              <a:rPr dirty="0" sz="2400" spc="-10">
                <a:solidFill>
                  <a:srgbClr val="FF0000"/>
                </a:solidFill>
                <a:latin typeface="黑体"/>
                <a:cs typeface="黑体"/>
              </a:rPr>
              <a:t>峰值性能。</a:t>
            </a:r>
            <a:endParaRPr sz="2400">
              <a:latin typeface="黑体"/>
              <a:cs typeface="黑体"/>
            </a:endParaRPr>
          </a:p>
        </p:txBody>
      </p:sp>
      <p:sp>
        <p:nvSpPr>
          <p:cNvPr id="11" name="object 11" descr=""/>
          <p:cNvSpPr txBox="1"/>
          <p:nvPr/>
        </p:nvSpPr>
        <p:spPr>
          <a:xfrm>
            <a:off x="1468882" y="4635500"/>
            <a:ext cx="6851015" cy="1452245"/>
          </a:xfrm>
          <a:prstGeom prst="rect">
            <a:avLst/>
          </a:prstGeom>
        </p:spPr>
        <p:txBody>
          <a:bodyPr wrap="square" lIns="0" tIns="12700" rIns="0" bIns="0" rtlCol="0" vert="horz">
            <a:spAutoFit/>
          </a:bodyPr>
          <a:lstStyle/>
          <a:p>
            <a:pPr marL="469900" marR="5080" indent="-457200">
              <a:lnSpc>
                <a:spcPct val="130000"/>
              </a:lnSpc>
              <a:spcBef>
                <a:spcPts val="100"/>
              </a:spcBef>
              <a:buSzPct val="89583"/>
              <a:buFont typeface="Wingdings"/>
              <a:buChar char=""/>
              <a:tabLst>
                <a:tab pos="469900" algn="l"/>
                <a:tab pos="2450465" algn="l"/>
                <a:tab pos="5177790" algn="l"/>
              </a:tabLst>
            </a:pPr>
            <a:r>
              <a:rPr dirty="0" sz="2400">
                <a:solidFill>
                  <a:srgbClr val="40458B"/>
                </a:solidFill>
                <a:latin typeface="黑体"/>
                <a:cs typeface="黑体"/>
              </a:rPr>
              <a:t>对于上述</a:t>
            </a:r>
            <a:r>
              <a:rPr dirty="0" sz="2400">
                <a:solidFill>
                  <a:srgbClr val="D50092"/>
                </a:solidFill>
                <a:latin typeface="黑体"/>
                <a:cs typeface="黑体"/>
              </a:rPr>
              <a:t>例题4.5</a:t>
            </a:r>
            <a:r>
              <a:rPr dirty="0" sz="2400">
                <a:solidFill>
                  <a:srgbClr val="40458B"/>
                </a:solidFill>
                <a:latin typeface="黑体"/>
                <a:cs typeface="黑体"/>
              </a:rPr>
              <a:t>向量指令序列中的操作而言</a:t>
            </a:r>
            <a:r>
              <a:rPr dirty="0" sz="2400" spc="-50">
                <a:solidFill>
                  <a:srgbClr val="40458B"/>
                </a:solidFill>
                <a:latin typeface="黑体"/>
                <a:cs typeface="黑体"/>
              </a:rPr>
              <a:t>，</a:t>
            </a:r>
            <a:r>
              <a:rPr dirty="0" sz="2400">
                <a:solidFill>
                  <a:srgbClr val="40458B"/>
                </a:solidFill>
                <a:latin typeface="黑体"/>
                <a:cs typeface="黑体"/>
              </a:rPr>
              <a:t>只有</a:t>
            </a:r>
            <a:r>
              <a:rPr dirty="0" sz="2400" spc="-10">
                <a:solidFill>
                  <a:srgbClr val="D50092"/>
                </a:solidFill>
                <a:latin typeface="黑体"/>
                <a:cs typeface="黑体"/>
              </a:rPr>
              <a:t>“MULTFV</a:t>
            </a:r>
            <a:r>
              <a:rPr dirty="0" sz="2400">
                <a:solidFill>
                  <a:srgbClr val="D50092"/>
                </a:solidFill>
                <a:latin typeface="黑体"/>
                <a:cs typeface="黑体"/>
              </a:rPr>
              <a:t>	V2,F0,V1</a:t>
            </a:r>
            <a:r>
              <a:rPr dirty="0" sz="2400">
                <a:solidFill>
                  <a:srgbClr val="D50092"/>
                </a:solidFill>
                <a:latin typeface="Times New Roman"/>
                <a:cs typeface="Times New Roman"/>
              </a:rPr>
              <a:t>”</a:t>
            </a:r>
            <a:r>
              <a:rPr dirty="0" sz="2400">
                <a:solidFill>
                  <a:srgbClr val="40458B"/>
                </a:solidFill>
                <a:latin typeface="黑体"/>
                <a:cs typeface="黑体"/>
              </a:rPr>
              <a:t>和</a:t>
            </a:r>
            <a:r>
              <a:rPr dirty="0" sz="2400" spc="-10">
                <a:solidFill>
                  <a:srgbClr val="D50092"/>
                </a:solidFill>
                <a:latin typeface="黑体"/>
                <a:cs typeface="黑体"/>
              </a:rPr>
              <a:t>“ADDV</a:t>
            </a:r>
            <a:r>
              <a:rPr dirty="0" sz="2400">
                <a:solidFill>
                  <a:srgbClr val="D50092"/>
                </a:solidFill>
                <a:latin typeface="黑体"/>
                <a:cs typeface="黑体"/>
              </a:rPr>
              <a:t>	V4,V2,V3</a:t>
            </a:r>
            <a:r>
              <a:rPr dirty="0" sz="2400">
                <a:solidFill>
                  <a:srgbClr val="D50092"/>
                </a:solidFill>
                <a:latin typeface="Times New Roman"/>
                <a:cs typeface="Times New Roman"/>
              </a:rPr>
              <a:t>”</a:t>
            </a:r>
            <a:r>
              <a:rPr dirty="0" sz="2400" spc="-50">
                <a:solidFill>
                  <a:srgbClr val="40458B"/>
                </a:solidFill>
                <a:latin typeface="黑体"/>
                <a:cs typeface="黑体"/>
              </a:rPr>
              <a:t>两</a:t>
            </a:r>
            <a:endParaRPr sz="2400">
              <a:latin typeface="黑体"/>
              <a:cs typeface="黑体"/>
            </a:endParaRPr>
          </a:p>
          <a:p>
            <a:pPr marL="469900">
              <a:lnSpc>
                <a:spcPct val="100000"/>
              </a:lnSpc>
              <a:spcBef>
                <a:spcPts val="865"/>
              </a:spcBef>
            </a:pPr>
            <a:r>
              <a:rPr dirty="0" sz="2400" spc="-5">
                <a:solidFill>
                  <a:srgbClr val="40458B"/>
                </a:solidFill>
                <a:latin typeface="黑体"/>
                <a:cs typeface="黑体"/>
              </a:rPr>
              <a:t>条浮点操作向量指令。</a:t>
            </a:r>
            <a:endParaRPr sz="2400">
              <a:latin typeface="黑体"/>
              <a:cs typeface="黑体"/>
            </a:endParaRPr>
          </a:p>
        </p:txBody>
      </p:sp>
      <p:grpSp>
        <p:nvGrpSpPr>
          <p:cNvPr id="12" name="object 12" descr=""/>
          <p:cNvGrpSpPr/>
          <p:nvPr/>
        </p:nvGrpSpPr>
        <p:grpSpPr>
          <a:xfrm>
            <a:off x="1835150" y="3860800"/>
            <a:ext cx="5473700" cy="695325"/>
            <a:chOff x="1835150" y="3860800"/>
            <a:chExt cx="5473700" cy="695325"/>
          </a:xfrm>
        </p:grpSpPr>
        <p:sp>
          <p:nvSpPr>
            <p:cNvPr id="13" name="object 13" descr=""/>
            <p:cNvSpPr/>
            <p:nvPr/>
          </p:nvSpPr>
          <p:spPr>
            <a:xfrm>
              <a:off x="1835150" y="3860800"/>
              <a:ext cx="5473700" cy="695325"/>
            </a:xfrm>
            <a:custGeom>
              <a:avLst/>
              <a:gdLst/>
              <a:ahLst/>
              <a:cxnLst/>
              <a:rect l="l" t="t" r="r" b="b"/>
              <a:pathLst>
                <a:path w="5473700" h="695325">
                  <a:moveTo>
                    <a:pt x="5473700" y="0"/>
                  </a:moveTo>
                  <a:lnTo>
                    <a:pt x="0" y="0"/>
                  </a:lnTo>
                  <a:lnTo>
                    <a:pt x="0" y="695325"/>
                  </a:lnTo>
                  <a:lnTo>
                    <a:pt x="5473700" y="695325"/>
                  </a:lnTo>
                  <a:lnTo>
                    <a:pt x="5473700" y="0"/>
                  </a:lnTo>
                  <a:close/>
                </a:path>
              </a:pathLst>
            </a:custGeom>
            <a:solidFill>
              <a:srgbClr val="EAEAEA"/>
            </a:solidFill>
          </p:spPr>
          <p:txBody>
            <a:bodyPr wrap="square" lIns="0" tIns="0" rIns="0" bIns="0" rtlCol="0"/>
            <a:lstStyle/>
            <a:p/>
          </p:txBody>
        </p:sp>
        <p:sp>
          <p:nvSpPr>
            <p:cNvPr id="14" name="object 14" descr=""/>
            <p:cNvSpPr/>
            <p:nvPr/>
          </p:nvSpPr>
          <p:spPr>
            <a:xfrm>
              <a:off x="2861042" y="4193135"/>
              <a:ext cx="4382770" cy="0"/>
            </a:xfrm>
            <a:custGeom>
              <a:avLst/>
              <a:gdLst/>
              <a:ahLst/>
              <a:cxnLst/>
              <a:rect l="l" t="t" r="r" b="b"/>
              <a:pathLst>
                <a:path w="4382770" h="0">
                  <a:moveTo>
                    <a:pt x="0" y="0"/>
                  </a:moveTo>
                  <a:lnTo>
                    <a:pt x="4382574" y="0"/>
                  </a:lnTo>
                </a:path>
              </a:pathLst>
            </a:custGeom>
            <a:ln w="11406">
              <a:solidFill>
                <a:srgbClr val="000000"/>
              </a:solidFill>
            </a:ln>
          </p:spPr>
          <p:txBody>
            <a:bodyPr wrap="square" lIns="0" tIns="0" rIns="0" bIns="0" rtlCol="0"/>
            <a:lstStyle/>
            <a:p/>
          </p:txBody>
        </p:sp>
      </p:grpSp>
      <p:sp>
        <p:nvSpPr>
          <p:cNvPr id="15" name="object 15" descr=""/>
          <p:cNvSpPr txBox="1"/>
          <p:nvPr/>
        </p:nvSpPr>
        <p:spPr>
          <a:xfrm>
            <a:off x="3095156" y="4187978"/>
            <a:ext cx="3900170" cy="318135"/>
          </a:xfrm>
          <a:prstGeom prst="rect">
            <a:avLst/>
          </a:prstGeom>
        </p:spPr>
        <p:txBody>
          <a:bodyPr wrap="square" lIns="0" tIns="14604" rIns="0" bIns="0" rtlCol="0" vert="horz">
            <a:spAutoFit/>
          </a:bodyPr>
          <a:lstStyle/>
          <a:p>
            <a:pPr>
              <a:lnSpc>
                <a:spcPct val="100000"/>
              </a:lnSpc>
              <a:spcBef>
                <a:spcPts val="114"/>
              </a:spcBef>
            </a:pPr>
            <a:r>
              <a:rPr dirty="0" sz="1900" spc="-30">
                <a:latin typeface="宋体"/>
                <a:cs typeface="宋体"/>
              </a:rPr>
              <a:t>向量指令序列执行所需的时钟周期数</a:t>
            </a:r>
            <a:endParaRPr sz="1900">
              <a:latin typeface="宋体"/>
              <a:cs typeface="宋体"/>
            </a:endParaRPr>
          </a:p>
        </p:txBody>
      </p:sp>
      <p:sp>
        <p:nvSpPr>
          <p:cNvPr id="16" name="object 16" descr=""/>
          <p:cNvSpPr txBox="1"/>
          <p:nvPr/>
        </p:nvSpPr>
        <p:spPr>
          <a:xfrm>
            <a:off x="2038838" y="4138886"/>
            <a:ext cx="129539" cy="220979"/>
          </a:xfrm>
          <a:prstGeom prst="rect">
            <a:avLst/>
          </a:prstGeom>
        </p:spPr>
        <p:txBody>
          <a:bodyPr wrap="square" lIns="0" tIns="16510" rIns="0" bIns="0" rtlCol="0" vert="horz">
            <a:spAutoFit/>
          </a:bodyPr>
          <a:lstStyle/>
          <a:p>
            <a:pPr>
              <a:lnSpc>
                <a:spcPct val="100000"/>
              </a:lnSpc>
              <a:spcBef>
                <a:spcPts val="130"/>
              </a:spcBef>
            </a:pPr>
            <a:r>
              <a:rPr dirty="0" sz="1250" spc="-50">
                <a:latin typeface="Symbol"/>
                <a:cs typeface="Symbol"/>
              </a:rPr>
              <a:t></a:t>
            </a:r>
            <a:endParaRPr sz="1250">
              <a:latin typeface="Symbol"/>
              <a:cs typeface="Symbol"/>
            </a:endParaRPr>
          </a:p>
        </p:txBody>
      </p:sp>
      <p:sp>
        <p:nvSpPr>
          <p:cNvPr id="17" name="object 17" descr=""/>
          <p:cNvSpPr txBox="1"/>
          <p:nvPr/>
        </p:nvSpPr>
        <p:spPr>
          <a:xfrm>
            <a:off x="2443912" y="4239998"/>
            <a:ext cx="382905" cy="220979"/>
          </a:xfrm>
          <a:prstGeom prst="rect">
            <a:avLst/>
          </a:prstGeom>
        </p:spPr>
        <p:txBody>
          <a:bodyPr wrap="square" lIns="0" tIns="16510" rIns="0" bIns="0" rtlCol="0" vert="horz">
            <a:spAutoFit/>
          </a:bodyPr>
          <a:lstStyle/>
          <a:p>
            <a:pPr>
              <a:lnSpc>
                <a:spcPct val="100000"/>
              </a:lnSpc>
              <a:spcBef>
                <a:spcPts val="130"/>
              </a:spcBef>
            </a:pPr>
            <a:r>
              <a:rPr dirty="0" sz="1250" spc="-25" i="1">
                <a:latin typeface="Times New Roman"/>
                <a:cs typeface="Times New Roman"/>
              </a:rPr>
              <a:t>n</a:t>
            </a:r>
            <a:r>
              <a:rPr dirty="0" sz="1250" spc="-25">
                <a:latin typeface="Symbol"/>
                <a:cs typeface="Symbol"/>
              </a:rPr>
              <a:t></a:t>
            </a:r>
            <a:endParaRPr sz="1250">
              <a:latin typeface="Symbol"/>
              <a:cs typeface="Symbol"/>
            </a:endParaRPr>
          </a:p>
        </p:txBody>
      </p:sp>
      <p:sp>
        <p:nvSpPr>
          <p:cNvPr id="18" name="object 18" descr=""/>
          <p:cNvSpPr txBox="1"/>
          <p:nvPr/>
        </p:nvSpPr>
        <p:spPr>
          <a:xfrm>
            <a:off x="1885067" y="3997686"/>
            <a:ext cx="162560" cy="318135"/>
          </a:xfrm>
          <a:prstGeom prst="rect">
            <a:avLst/>
          </a:prstGeom>
        </p:spPr>
        <p:txBody>
          <a:bodyPr wrap="square" lIns="0" tIns="14604" rIns="0" bIns="0" rtlCol="0" vert="horz">
            <a:spAutoFit/>
          </a:bodyPr>
          <a:lstStyle/>
          <a:p>
            <a:pPr>
              <a:lnSpc>
                <a:spcPct val="100000"/>
              </a:lnSpc>
              <a:spcBef>
                <a:spcPts val="114"/>
              </a:spcBef>
            </a:pPr>
            <a:r>
              <a:rPr dirty="0" sz="1900" spc="-50" i="1">
                <a:latin typeface="Times New Roman"/>
                <a:cs typeface="Times New Roman"/>
              </a:rPr>
              <a:t>R</a:t>
            </a:r>
            <a:endParaRPr sz="1900">
              <a:latin typeface="Times New Roman"/>
              <a:cs typeface="Times New Roman"/>
            </a:endParaRPr>
          </a:p>
        </p:txBody>
      </p:sp>
      <p:sp>
        <p:nvSpPr>
          <p:cNvPr id="19" name="object 19" descr=""/>
          <p:cNvSpPr txBox="1"/>
          <p:nvPr/>
        </p:nvSpPr>
        <p:spPr>
          <a:xfrm>
            <a:off x="2225721" y="3843717"/>
            <a:ext cx="5029200" cy="318135"/>
          </a:xfrm>
          <a:prstGeom prst="rect">
            <a:avLst/>
          </a:prstGeom>
        </p:spPr>
        <p:txBody>
          <a:bodyPr wrap="square" lIns="0" tIns="14604" rIns="0" bIns="0" rtlCol="0" vert="horz">
            <a:spAutoFit/>
          </a:bodyPr>
          <a:lstStyle/>
          <a:p>
            <a:pPr marL="25400">
              <a:lnSpc>
                <a:spcPct val="100000"/>
              </a:lnSpc>
              <a:spcBef>
                <a:spcPts val="114"/>
              </a:spcBef>
            </a:pPr>
            <a:r>
              <a:rPr dirty="0" baseline="-35087" sz="2850">
                <a:latin typeface="Symbol"/>
                <a:cs typeface="Symbol"/>
              </a:rPr>
              <a:t></a:t>
            </a:r>
            <a:r>
              <a:rPr dirty="0" baseline="-35087" sz="2850" spc="300">
                <a:latin typeface="Times New Roman"/>
                <a:cs typeface="Times New Roman"/>
              </a:rPr>
              <a:t> </a:t>
            </a:r>
            <a:r>
              <a:rPr dirty="0" baseline="-35087" sz="2850">
                <a:latin typeface="Times New Roman"/>
                <a:cs typeface="Times New Roman"/>
              </a:rPr>
              <a:t>lim</a:t>
            </a:r>
            <a:r>
              <a:rPr dirty="0" baseline="-35087" sz="2850" spc="300">
                <a:latin typeface="Times New Roman"/>
                <a:cs typeface="Times New Roman"/>
              </a:rPr>
              <a:t> </a:t>
            </a:r>
            <a:r>
              <a:rPr dirty="0" sz="1900" spc="-60">
                <a:latin typeface="宋体"/>
                <a:cs typeface="宋体"/>
              </a:rPr>
              <a:t>向量指令序列中浮点运算次数 </a:t>
            </a:r>
            <a:r>
              <a:rPr dirty="0" sz="1900">
                <a:latin typeface="Symbol"/>
                <a:cs typeface="Symbol"/>
              </a:rPr>
              <a:t></a:t>
            </a:r>
            <a:r>
              <a:rPr dirty="0" sz="1900" spc="-130">
                <a:latin typeface="Times New Roman"/>
                <a:cs typeface="Times New Roman"/>
              </a:rPr>
              <a:t> </a:t>
            </a:r>
            <a:r>
              <a:rPr dirty="0" sz="1900" spc="-30">
                <a:latin typeface="宋体"/>
                <a:cs typeface="宋体"/>
              </a:rPr>
              <a:t>时钟频率</a:t>
            </a:r>
            <a:endParaRPr sz="1900">
              <a:latin typeface="宋体"/>
              <a:cs typeface="宋体"/>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p:nvPr/>
        </p:nvSpPr>
        <p:spPr>
          <a:xfrm>
            <a:off x="2797175" y="2738501"/>
            <a:ext cx="4635500" cy="1905"/>
          </a:xfrm>
          <a:custGeom>
            <a:avLst/>
            <a:gdLst/>
            <a:ahLst/>
            <a:cxnLst/>
            <a:rect l="l" t="t" r="r" b="b"/>
            <a:pathLst>
              <a:path w="4635500" h="1905">
                <a:moveTo>
                  <a:pt x="0" y="0"/>
                </a:moveTo>
                <a:lnTo>
                  <a:pt x="4635500" y="1524"/>
                </a:lnTo>
              </a:path>
            </a:pathLst>
          </a:custGeom>
          <a:ln w="12700">
            <a:solidFill>
              <a:srgbClr val="000000"/>
            </a:solidFill>
          </a:ln>
        </p:spPr>
        <p:txBody>
          <a:bodyPr wrap="square" lIns="0" tIns="0" rIns="0" bIns="0" rtlCol="0"/>
          <a:lstStyle/>
          <a:p/>
        </p:txBody>
      </p:sp>
      <p:sp>
        <p:nvSpPr>
          <p:cNvPr id="11" name="object 11" descr=""/>
          <p:cNvSpPr txBox="1"/>
          <p:nvPr/>
        </p:nvSpPr>
        <p:spPr>
          <a:xfrm>
            <a:off x="2113152" y="2414727"/>
            <a:ext cx="5436870" cy="331470"/>
          </a:xfrm>
          <a:prstGeom prst="rect">
            <a:avLst/>
          </a:prstGeom>
        </p:spPr>
        <p:txBody>
          <a:bodyPr wrap="square" lIns="0" tIns="13335" rIns="0" bIns="0" rtlCol="0" vert="horz">
            <a:spAutoFit/>
          </a:bodyPr>
          <a:lstStyle/>
          <a:p>
            <a:pPr marL="38100">
              <a:lnSpc>
                <a:spcPct val="100000"/>
              </a:lnSpc>
              <a:spcBef>
                <a:spcPts val="105"/>
              </a:spcBef>
            </a:pPr>
            <a:r>
              <a:rPr dirty="0" baseline="-23611" sz="3000">
                <a:latin typeface="Symbol"/>
                <a:cs typeface="Symbol"/>
              </a:rPr>
              <a:t></a:t>
            </a:r>
            <a:r>
              <a:rPr dirty="0" baseline="-23611" sz="3000" spc="277">
                <a:latin typeface="Times New Roman"/>
                <a:cs typeface="Times New Roman"/>
              </a:rPr>
              <a:t> </a:t>
            </a:r>
            <a:r>
              <a:rPr dirty="0" baseline="-30555" sz="3000">
                <a:latin typeface="Times New Roman"/>
                <a:cs typeface="Times New Roman"/>
              </a:rPr>
              <a:t>lim</a:t>
            </a:r>
            <a:r>
              <a:rPr dirty="0" baseline="-30555" sz="3000" spc="172">
                <a:latin typeface="Times New Roman"/>
                <a:cs typeface="Times New Roman"/>
              </a:rPr>
              <a:t> </a:t>
            </a:r>
            <a:r>
              <a:rPr dirty="0" sz="2000" spc="20" b="1">
                <a:latin typeface="宋体"/>
                <a:cs typeface="宋体"/>
              </a:rPr>
              <a:t>向量指令序列中浮点运算次数</a:t>
            </a:r>
            <a:r>
              <a:rPr dirty="0" baseline="11111" sz="3000" spc="-562" b="1">
                <a:latin typeface="宋体"/>
                <a:cs typeface="宋体"/>
              </a:rPr>
              <a:t>× </a:t>
            </a:r>
            <a:r>
              <a:rPr dirty="0" baseline="5555" sz="3000" spc="-37" b="1">
                <a:latin typeface="宋体"/>
                <a:cs typeface="宋体"/>
              </a:rPr>
              <a:t>时钟频率</a:t>
            </a:r>
            <a:endParaRPr baseline="5555" sz="3000">
              <a:latin typeface="宋体"/>
              <a:cs typeface="宋体"/>
            </a:endParaRPr>
          </a:p>
        </p:txBody>
      </p:sp>
      <p:sp>
        <p:nvSpPr>
          <p:cNvPr id="12" name="object 12" descr=""/>
          <p:cNvSpPr txBox="1"/>
          <p:nvPr/>
        </p:nvSpPr>
        <p:spPr>
          <a:xfrm>
            <a:off x="2933700" y="2623160"/>
            <a:ext cx="4237990" cy="950594"/>
          </a:xfrm>
          <a:prstGeom prst="rect">
            <a:avLst/>
          </a:prstGeom>
        </p:spPr>
        <p:txBody>
          <a:bodyPr wrap="square" lIns="0" tIns="170180" rIns="0" bIns="0" rtlCol="0" vert="horz">
            <a:spAutoFit/>
          </a:bodyPr>
          <a:lstStyle/>
          <a:p>
            <a:pPr marL="111125">
              <a:lnSpc>
                <a:spcPct val="100000"/>
              </a:lnSpc>
              <a:spcBef>
                <a:spcPts val="1340"/>
              </a:spcBef>
            </a:pPr>
            <a:r>
              <a:rPr dirty="0" sz="2000" b="1">
                <a:latin typeface="宋体"/>
                <a:cs typeface="宋体"/>
              </a:rPr>
              <a:t>向量指令序列执行所需</a:t>
            </a:r>
            <a:r>
              <a:rPr dirty="0" baseline="2777" sz="3000" spc="-30" b="1">
                <a:latin typeface="宋体"/>
                <a:cs typeface="宋体"/>
              </a:rPr>
              <a:t>的时钟周期数</a:t>
            </a:r>
            <a:endParaRPr baseline="2777" sz="3000">
              <a:latin typeface="宋体"/>
              <a:cs typeface="宋体"/>
            </a:endParaRPr>
          </a:p>
          <a:p>
            <a:pPr marL="12700">
              <a:lnSpc>
                <a:spcPct val="100000"/>
              </a:lnSpc>
              <a:spcBef>
                <a:spcPts val="1240"/>
              </a:spcBef>
              <a:tabLst>
                <a:tab pos="348615" algn="l"/>
                <a:tab pos="1999614" algn="l"/>
              </a:tabLst>
            </a:pPr>
            <a:r>
              <a:rPr dirty="0" u="heavy" sz="2000" b="1">
                <a:uFill>
                  <a:solidFill>
                    <a:srgbClr val="000000"/>
                  </a:solidFill>
                </a:uFill>
                <a:latin typeface="宋体"/>
                <a:cs typeface="宋体"/>
              </a:rPr>
              <a:t>	2×</a:t>
            </a:r>
            <a:r>
              <a:rPr dirty="0" u="heavy" sz="2000" spc="-20" b="1">
                <a:uFill>
                  <a:solidFill>
                    <a:srgbClr val="000000"/>
                  </a:solidFill>
                </a:uFill>
                <a:latin typeface="宋体"/>
                <a:cs typeface="宋体"/>
              </a:rPr>
              <a:t> </a:t>
            </a:r>
            <a:r>
              <a:rPr dirty="0" u="heavy" sz="2000" b="1">
                <a:uFill>
                  <a:solidFill>
                    <a:srgbClr val="000000"/>
                  </a:solidFill>
                </a:uFill>
                <a:latin typeface="宋体"/>
                <a:cs typeface="宋体"/>
              </a:rPr>
              <a:t>n </a:t>
            </a:r>
            <a:r>
              <a:rPr dirty="0" u="heavy" sz="2000" spc="-20" b="1">
                <a:uFill>
                  <a:solidFill>
                    <a:srgbClr val="000000"/>
                  </a:solidFill>
                </a:uFill>
                <a:latin typeface="宋体"/>
                <a:cs typeface="宋体"/>
              </a:rPr>
              <a:t>×</a:t>
            </a:r>
            <a:r>
              <a:rPr dirty="0" u="heavy" sz="2000" spc="-505" b="1">
                <a:uFill>
                  <a:solidFill>
                    <a:srgbClr val="000000"/>
                  </a:solidFill>
                </a:uFill>
                <a:latin typeface="宋体"/>
                <a:cs typeface="宋体"/>
              </a:rPr>
              <a:t> </a:t>
            </a:r>
            <a:r>
              <a:rPr dirty="0" u="heavy" sz="2000" spc="-25" b="1">
                <a:uFill>
                  <a:solidFill>
                    <a:srgbClr val="000000"/>
                  </a:solidFill>
                </a:uFill>
                <a:latin typeface="Symbol"/>
                <a:cs typeface="Symbol"/>
              </a:rPr>
              <a:t></a:t>
            </a:r>
            <a:r>
              <a:rPr dirty="0" u="heavy" sz="2000">
                <a:uFill>
                  <a:solidFill>
                    <a:srgbClr val="000000"/>
                  </a:solidFill>
                </a:uFill>
                <a:latin typeface="Times New Roman"/>
                <a:cs typeface="Times New Roman"/>
              </a:rPr>
              <a:t>	</a:t>
            </a:r>
            <a:endParaRPr sz="2000">
              <a:latin typeface="Times New Roman"/>
              <a:cs typeface="Times New Roman"/>
            </a:endParaRPr>
          </a:p>
        </p:txBody>
      </p:sp>
      <p:sp>
        <p:nvSpPr>
          <p:cNvPr id="13" name="object 13" descr=""/>
          <p:cNvSpPr txBox="1"/>
          <p:nvPr/>
        </p:nvSpPr>
        <p:spPr>
          <a:xfrm>
            <a:off x="2300732" y="2802458"/>
            <a:ext cx="515620" cy="240029"/>
          </a:xfrm>
          <a:prstGeom prst="rect">
            <a:avLst/>
          </a:prstGeom>
        </p:spPr>
        <p:txBody>
          <a:bodyPr wrap="square" lIns="0" tIns="13335" rIns="0" bIns="0" rtlCol="0" vert="horz">
            <a:spAutoFit/>
          </a:bodyPr>
          <a:lstStyle/>
          <a:p>
            <a:pPr marL="12700">
              <a:lnSpc>
                <a:spcPct val="100000"/>
              </a:lnSpc>
              <a:spcBef>
                <a:spcPts val="105"/>
              </a:spcBef>
              <a:tabLst>
                <a:tab pos="379095" algn="l"/>
              </a:tabLst>
            </a:pPr>
            <a:r>
              <a:rPr dirty="0" sz="1400" spc="-50" i="1">
                <a:latin typeface="Times New Roman"/>
                <a:cs typeface="Times New Roman"/>
              </a:rPr>
              <a:t>n</a:t>
            </a:r>
            <a:r>
              <a:rPr dirty="0" sz="1400" i="1">
                <a:latin typeface="Times New Roman"/>
                <a:cs typeface="Times New Roman"/>
              </a:rPr>
              <a:t>	</a:t>
            </a:r>
            <a:r>
              <a:rPr dirty="0" sz="1050" spc="-50">
                <a:solidFill>
                  <a:srgbClr val="080808"/>
                </a:solidFill>
                <a:latin typeface="Tahoma"/>
                <a:cs typeface="Tahoma"/>
              </a:rPr>
              <a:t>∞</a:t>
            </a:r>
            <a:endParaRPr sz="1050">
              <a:latin typeface="Tahoma"/>
              <a:cs typeface="Tahoma"/>
            </a:endParaRPr>
          </a:p>
        </p:txBody>
      </p:sp>
      <p:sp>
        <p:nvSpPr>
          <p:cNvPr id="14" name="object 14" descr=""/>
          <p:cNvSpPr txBox="1"/>
          <p:nvPr/>
        </p:nvSpPr>
        <p:spPr>
          <a:xfrm>
            <a:off x="1921255" y="2771648"/>
            <a:ext cx="149225" cy="188595"/>
          </a:xfrm>
          <a:prstGeom prst="rect">
            <a:avLst/>
          </a:prstGeom>
        </p:spPr>
        <p:txBody>
          <a:bodyPr wrap="square" lIns="0" tIns="14604" rIns="0" bIns="0" rtlCol="0" vert="horz">
            <a:spAutoFit/>
          </a:bodyPr>
          <a:lstStyle/>
          <a:p>
            <a:pPr marL="12700">
              <a:lnSpc>
                <a:spcPct val="100000"/>
              </a:lnSpc>
              <a:spcBef>
                <a:spcPts val="114"/>
              </a:spcBef>
            </a:pPr>
            <a:r>
              <a:rPr dirty="0" sz="1050" spc="-50">
                <a:solidFill>
                  <a:srgbClr val="080808"/>
                </a:solidFill>
                <a:latin typeface="Tahoma"/>
                <a:cs typeface="Tahoma"/>
              </a:rPr>
              <a:t>∞</a:t>
            </a:r>
            <a:endParaRPr sz="1050">
              <a:latin typeface="Tahoma"/>
              <a:cs typeface="Tahoma"/>
            </a:endParaRPr>
          </a:p>
        </p:txBody>
      </p:sp>
      <p:sp>
        <p:nvSpPr>
          <p:cNvPr id="15" name="object 15" descr=""/>
          <p:cNvSpPr txBox="1"/>
          <p:nvPr/>
        </p:nvSpPr>
        <p:spPr>
          <a:xfrm>
            <a:off x="1751202" y="2552192"/>
            <a:ext cx="180975" cy="330835"/>
          </a:xfrm>
          <a:prstGeom prst="rect">
            <a:avLst/>
          </a:prstGeom>
        </p:spPr>
        <p:txBody>
          <a:bodyPr wrap="square" lIns="0" tIns="13335" rIns="0" bIns="0" rtlCol="0" vert="horz">
            <a:spAutoFit/>
          </a:bodyPr>
          <a:lstStyle/>
          <a:p>
            <a:pPr marL="12700">
              <a:lnSpc>
                <a:spcPct val="100000"/>
              </a:lnSpc>
              <a:spcBef>
                <a:spcPts val="105"/>
              </a:spcBef>
            </a:pPr>
            <a:r>
              <a:rPr dirty="0" sz="2000" spc="-50" i="1">
                <a:latin typeface="Times New Roman"/>
                <a:cs typeface="Times New Roman"/>
              </a:rPr>
              <a:t>R</a:t>
            </a:r>
            <a:endParaRPr sz="2000">
              <a:latin typeface="Times New Roman"/>
              <a:cs typeface="Times New Roman"/>
            </a:endParaRPr>
          </a:p>
        </p:txBody>
      </p:sp>
      <p:pic>
        <p:nvPicPr>
          <p:cNvPr id="16" name="object 16" descr=""/>
          <p:cNvPicPr/>
          <p:nvPr/>
        </p:nvPicPr>
        <p:blipFill>
          <a:blip r:embed="rId2" cstate="print"/>
          <a:stretch>
            <a:fillRect/>
          </a:stretch>
        </p:blipFill>
        <p:spPr>
          <a:xfrm>
            <a:off x="2411476" y="2909951"/>
            <a:ext cx="228473" cy="76200"/>
          </a:xfrm>
          <a:prstGeom prst="rect">
            <a:avLst/>
          </a:prstGeom>
        </p:spPr>
      </p:pic>
      <p:sp>
        <p:nvSpPr>
          <p:cNvPr id="17" name="object 17" descr=""/>
          <p:cNvSpPr txBox="1"/>
          <p:nvPr/>
        </p:nvSpPr>
        <p:spPr>
          <a:xfrm>
            <a:off x="2300732" y="3641216"/>
            <a:ext cx="114935" cy="239395"/>
          </a:xfrm>
          <a:prstGeom prst="rect">
            <a:avLst/>
          </a:prstGeom>
        </p:spPr>
        <p:txBody>
          <a:bodyPr wrap="square" lIns="0" tIns="12700" rIns="0" bIns="0" rtlCol="0" vert="horz">
            <a:spAutoFit/>
          </a:bodyPr>
          <a:lstStyle/>
          <a:p>
            <a:pPr marL="12700">
              <a:lnSpc>
                <a:spcPct val="100000"/>
              </a:lnSpc>
              <a:spcBef>
                <a:spcPts val="100"/>
              </a:spcBef>
            </a:pPr>
            <a:r>
              <a:rPr dirty="0" sz="1400" spc="-50" i="1">
                <a:latin typeface="Times New Roman"/>
                <a:cs typeface="Times New Roman"/>
              </a:rPr>
              <a:t>n</a:t>
            </a:r>
            <a:endParaRPr sz="1400">
              <a:latin typeface="Times New Roman"/>
              <a:cs typeface="Times New Roman"/>
            </a:endParaRPr>
          </a:p>
        </p:txBody>
      </p:sp>
      <p:sp>
        <p:nvSpPr>
          <p:cNvPr id="18" name="object 18" descr=""/>
          <p:cNvSpPr txBox="1"/>
          <p:nvPr/>
        </p:nvSpPr>
        <p:spPr>
          <a:xfrm>
            <a:off x="2113152" y="3390087"/>
            <a:ext cx="643255" cy="331470"/>
          </a:xfrm>
          <a:prstGeom prst="rect">
            <a:avLst/>
          </a:prstGeom>
        </p:spPr>
        <p:txBody>
          <a:bodyPr wrap="square" lIns="0" tIns="13335" rIns="0" bIns="0" rtlCol="0" vert="horz">
            <a:spAutoFit/>
          </a:bodyPr>
          <a:lstStyle/>
          <a:p>
            <a:pPr marL="38100">
              <a:lnSpc>
                <a:spcPct val="100000"/>
              </a:lnSpc>
              <a:spcBef>
                <a:spcPts val="105"/>
              </a:spcBef>
            </a:pPr>
            <a:r>
              <a:rPr dirty="0" baseline="6944" sz="3000">
                <a:latin typeface="Symbol"/>
                <a:cs typeface="Symbol"/>
              </a:rPr>
              <a:t></a:t>
            </a:r>
            <a:r>
              <a:rPr dirty="0" baseline="6944" sz="3000" spc="300">
                <a:latin typeface="Times New Roman"/>
                <a:cs typeface="Times New Roman"/>
              </a:rPr>
              <a:t> </a:t>
            </a:r>
            <a:r>
              <a:rPr dirty="0" sz="2000" spc="-25">
                <a:latin typeface="Times New Roman"/>
                <a:cs typeface="Times New Roman"/>
              </a:rPr>
              <a:t>lim</a:t>
            </a:r>
            <a:endParaRPr sz="2000">
              <a:latin typeface="Times New Roman"/>
              <a:cs typeface="Times New Roman"/>
            </a:endParaRPr>
          </a:p>
        </p:txBody>
      </p:sp>
      <p:pic>
        <p:nvPicPr>
          <p:cNvPr id="19" name="object 19" descr=""/>
          <p:cNvPicPr/>
          <p:nvPr/>
        </p:nvPicPr>
        <p:blipFill>
          <a:blip r:embed="rId3" cstate="print"/>
          <a:stretch>
            <a:fillRect/>
          </a:stretch>
        </p:blipFill>
        <p:spPr>
          <a:xfrm>
            <a:off x="2411476" y="3748023"/>
            <a:ext cx="228473" cy="76200"/>
          </a:xfrm>
          <a:prstGeom prst="rect">
            <a:avLst/>
          </a:prstGeom>
        </p:spPr>
      </p:pic>
      <p:sp>
        <p:nvSpPr>
          <p:cNvPr id="20" name="object 20" descr=""/>
          <p:cNvSpPr/>
          <p:nvPr/>
        </p:nvSpPr>
        <p:spPr>
          <a:xfrm>
            <a:off x="2982976" y="3698875"/>
            <a:ext cx="76200" cy="609600"/>
          </a:xfrm>
          <a:custGeom>
            <a:avLst/>
            <a:gdLst/>
            <a:ahLst/>
            <a:cxnLst/>
            <a:rect l="l" t="t" r="r" b="b"/>
            <a:pathLst>
              <a:path w="76200" h="609600">
                <a:moveTo>
                  <a:pt x="0" y="609600"/>
                </a:moveTo>
                <a:lnTo>
                  <a:pt x="0" y="0"/>
                </a:lnTo>
              </a:path>
              <a:path w="76200" h="609600">
                <a:moveTo>
                  <a:pt x="0" y="0"/>
                </a:moveTo>
                <a:lnTo>
                  <a:pt x="76200" y="0"/>
                </a:lnTo>
              </a:path>
            </a:pathLst>
          </a:custGeom>
          <a:ln w="9525">
            <a:solidFill>
              <a:srgbClr val="000000"/>
            </a:solidFill>
          </a:ln>
        </p:spPr>
        <p:txBody>
          <a:bodyPr wrap="square" lIns="0" tIns="0" rIns="0" bIns="0" rtlCol="0"/>
          <a:lstStyle/>
          <a:p/>
        </p:txBody>
      </p:sp>
      <p:sp>
        <p:nvSpPr>
          <p:cNvPr id="21" name="object 21" descr=""/>
          <p:cNvSpPr txBox="1"/>
          <p:nvPr/>
        </p:nvSpPr>
        <p:spPr>
          <a:xfrm>
            <a:off x="3195573" y="3559555"/>
            <a:ext cx="153035" cy="330835"/>
          </a:xfrm>
          <a:prstGeom prst="rect">
            <a:avLst/>
          </a:prstGeom>
        </p:spPr>
        <p:txBody>
          <a:bodyPr wrap="square" lIns="0" tIns="13335" rIns="0" bIns="0" rtlCol="0" vert="horz">
            <a:spAutoFit/>
          </a:bodyPr>
          <a:lstStyle/>
          <a:p>
            <a:pPr marL="12700">
              <a:lnSpc>
                <a:spcPct val="100000"/>
              </a:lnSpc>
              <a:spcBef>
                <a:spcPts val="105"/>
              </a:spcBef>
            </a:pPr>
            <a:r>
              <a:rPr dirty="0" sz="2000" spc="-50" b="1">
                <a:latin typeface="宋体"/>
                <a:cs typeface="宋体"/>
              </a:rPr>
              <a:t>n</a:t>
            </a:r>
            <a:endParaRPr sz="2000">
              <a:latin typeface="宋体"/>
              <a:cs typeface="宋体"/>
            </a:endParaRPr>
          </a:p>
        </p:txBody>
      </p:sp>
      <p:sp>
        <p:nvSpPr>
          <p:cNvPr id="22" name="object 22" descr=""/>
          <p:cNvSpPr txBox="1"/>
          <p:nvPr/>
        </p:nvSpPr>
        <p:spPr>
          <a:xfrm>
            <a:off x="3143250" y="3931158"/>
            <a:ext cx="284480" cy="330835"/>
          </a:xfrm>
          <a:prstGeom prst="rect">
            <a:avLst/>
          </a:prstGeom>
        </p:spPr>
        <p:txBody>
          <a:bodyPr wrap="square" lIns="0" tIns="12700" rIns="0" bIns="0" rtlCol="0" vert="horz">
            <a:spAutoFit/>
          </a:bodyPr>
          <a:lstStyle/>
          <a:p>
            <a:pPr marL="12700">
              <a:lnSpc>
                <a:spcPct val="100000"/>
              </a:lnSpc>
              <a:spcBef>
                <a:spcPts val="100"/>
              </a:spcBef>
            </a:pPr>
            <a:r>
              <a:rPr dirty="0" sz="2000" spc="-25" b="1">
                <a:latin typeface="宋体"/>
                <a:cs typeface="宋体"/>
              </a:rPr>
              <a:t>64</a:t>
            </a:r>
            <a:endParaRPr sz="2000">
              <a:latin typeface="宋体"/>
              <a:cs typeface="宋体"/>
            </a:endParaRPr>
          </a:p>
        </p:txBody>
      </p:sp>
      <p:sp>
        <p:nvSpPr>
          <p:cNvPr id="23" name="object 23" descr=""/>
          <p:cNvSpPr txBox="1"/>
          <p:nvPr/>
        </p:nvSpPr>
        <p:spPr>
          <a:xfrm>
            <a:off x="3618103" y="3784219"/>
            <a:ext cx="1175385"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×64＋</a:t>
            </a:r>
            <a:r>
              <a:rPr dirty="0" sz="2000" spc="-520" b="1">
                <a:latin typeface="宋体"/>
                <a:cs typeface="宋体"/>
              </a:rPr>
              <a:t> </a:t>
            </a:r>
            <a:r>
              <a:rPr dirty="0" sz="2000" b="1">
                <a:latin typeface="Symbol"/>
                <a:cs typeface="Symbol"/>
              </a:rPr>
              <a:t></a:t>
            </a:r>
            <a:r>
              <a:rPr dirty="0" sz="2000" spc="-5">
                <a:latin typeface="Times New Roman"/>
                <a:cs typeface="Times New Roman"/>
              </a:rPr>
              <a:t> </a:t>
            </a:r>
            <a:r>
              <a:rPr dirty="0" sz="2000" spc="-50" b="1">
                <a:latin typeface="宋体"/>
                <a:cs typeface="宋体"/>
              </a:rPr>
              <a:t>n</a:t>
            </a:r>
            <a:endParaRPr sz="2000">
              <a:latin typeface="宋体"/>
              <a:cs typeface="宋体"/>
            </a:endParaRPr>
          </a:p>
        </p:txBody>
      </p:sp>
      <p:grpSp>
        <p:nvGrpSpPr>
          <p:cNvPr id="24" name="object 24" descr=""/>
          <p:cNvGrpSpPr/>
          <p:nvPr/>
        </p:nvGrpSpPr>
        <p:grpSpPr>
          <a:xfrm>
            <a:off x="3059176" y="3706876"/>
            <a:ext cx="539750" cy="615950"/>
            <a:chOff x="3059176" y="3706876"/>
            <a:chExt cx="539750" cy="615950"/>
          </a:xfrm>
        </p:grpSpPr>
        <p:sp>
          <p:nvSpPr>
            <p:cNvPr id="25" name="object 25" descr=""/>
            <p:cNvSpPr/>
            <p:nvPr/>
          </p:nvSpPr>
          <p:spPr>
            <a:xfrm>
              <a:off x="3059176" y="3922776"/>
              <a:ext cx="457200" cy="0"/>
            </a:xfrm>
            <a:custGeom>
              <a:avLst/>
              <a:gdLst/>
              <a:ahLst/>
              <a:cxnLst/>
              <a:rect l="l" t="t" r="r" b="b"/>
              <a:pathLst>
                <a:path w="457200" h="0">
                  <a:moveTo>
                    <a:pt x="0" y="0"/>
                  </a:moveTo>
                  <a:lnTo>
                    <a:pt x="457200" y="0"/>
                  </a:lnTo>
                </a:path>
              </a:pathLst>
            </a:custGeom>
            <a:ln w="9525">
              <a:solidFill>
                <a:srgbClr val="000000"/>
              </a:solidFill>
            </a:ln>
          </p:spPr>
          <p:txBody>
            <a:bodyPr wrap="square" lIns="0" tIns="0" rIns="0" bIns="0" rtlCol="0"/>
            <a:lstStyle/>
            <a:p/>
          </p:txBody>
        </p:sp>
        <p:sp>
          <p:nvSpPr>
            <p:cNvPr id="26" name="object 26" descr=""/>
            <p:cNvSpPr/>
            <p:nvPr/>
          </p:nvSpPr>
          <p:spPr>
            <a:xfrm>
              <a:off x="3516376" y="3713226"/>
              <a:ext cx="76200" cy="609600"/>
            </a:xfrm>
            <a:custGeom>
              <a:avLst/>
              <a:gdLst/>
              <a:ahLst/>
              <a:cxnLst/>
              <a:rect l="l" t="t" r="r" b="b"/>
              <a:pathLst>
                <a:path w="76200" h="609600">
                  <a:moveTo>
                    <a:pt x="76200" y="609600"/>
                  </a:moveTo>
                  <a:lnTo>
                    <a:pt x="76073" y="0"/>
                  </a:lnTo>
                </a:path>
                <a:path w="76200" h="609600">
                  <a:moveTo>
                    <a:pt x="76200" y="0"/>
                  </a:moveTo>
                  <a:lnTo>
                    <a:pt x="0" y="0"/>
                  </a:lnTo>
                </a:path>
              </a:pathLst>
            </a:custGeom>
            <a:ln w="12700">
              <a:solidFill>
                <a:srgbClr val="000000"/>
              </a:solidFill>
            </a:ln>
          </p:spPr>
          <p:txBody>
            <a:bodyPr wrap="square" lIns="0" tIns="0" rIns="0" bIns="0" rtlCol="0"/>
            <a:lstStyle/>
            <a:p/>
          </p:txBody>
        </p:sp>
      </p:grpSp>
      <p:sp>
        <p:nvSpPr>
          <p:cNvPr id="27" name="object 27" descr=""/>
          <p:cNvSpPr txBox="1"/>
          <p:nvPr/>
        </p:nvSpPr>
        <p:spPr>
          <a:xfrm>
            <a:off x="2941701" y="4325975"/>
            <a:ext cx="2012950" cy="756285"/>
          </a:xfrm>
          <a:prstGeom prst="rect">
            <a:avLst/>
          </a:prstGeom>
        </p:spPr>
        <p:txBody>
          <a:bodyPr wrap="square" lIns="0" tIns="73025" rIns="0" bIns="0" rtlCol="0" vert="horz">
            <a:spAutoFit/>
          </a:bodyPr>
          <a:lstStyle/>
          <a:p>
            <a:pPr marL="12700">
              <a:lnSpc>
                <a:spcPct val="100000"/>
              </a:lnSpc>
              <a:spcBef>
                <a:spcPts val="575"/>
              </a:spcBef>
              <a:tabLst>
                <a:tab pos="348615" algn="l"/>
                <a:tab pos="1999614" algn="l"/>
              </a:tabLst>
            </a:pPr>
            <a:r>
              <a:rPr dirty="0" u="heavy" sz="2000" b="1">
                <a:uFill>
                  <a:solidFill>
                    <a:srgbClr val="000000"/>
                  </a:solidFill>
                </a:uFill>
                <a:latin typeface="宋体"/>
                <a:cs typeface="宋体"/>
              </a:rPr>
              <a:t>	2×</a:t>
            </a:r>
            <a:r>
              <a:rPr dirty="0" u="heavy" sz="2000" spc="-20" b="1">
                <a:uFill>
                  <a:solidFill>
                    <a:srgbClr val="000000"/>
                  </a:solidFill>
                </a:uFill>
                <a:latin typeface="宋体"/>
                <a:cs typeface="宋体"/>
              </a:rPr>
              <a:t> </a:t>
            </a:r>
            <a:r>
              <a:rPr dirty="0" u="heavy" sz="2000" b="1">
                <a:uFill>
                  <a:solidFill>
                    <a:srgbClr val="000000"/>
                  </a:solidFill>
                </a:uFill>
                <a:latin typeface="宋体"/>
                <a:cs typeface="宋体"/>
              </a:rPr>
              <a:t>n </a:t>
            </a:r>
            <a:r>
              <a:rPr dirty="0" u="heavy" sz="2000" spc="-20" b="1">
                <a:uFill>
                  <a:solidFill>
                    <a:srgbClr val="000000"/>
                  </a:solidFill>
                </a:uFill>
                <a:latin typeface="宋体"/>
                <a:cs typeface="宋体"/>
              </a:rPr>
              <a:t>×</a:t>
            </a:r>
            <a:r>
              <a:rPr dirty="0" u="heavy" sz="2000" spc="-505" b="1">
                <a:uFill>
                  <a:solidFill>
                    <a:srgbClr val="000000"/>
                  </a:solidFill>
                </a:uFill>
                <a:latin typeface="宋体"/>
                <a:cs typeface="宋体"/>
              </a:rPr>
              <a:t> </a:t>
            </a:r>
            <a:r>
              <a:rPr dirty="0" u="heavy" sz="2000" spc="-25" b="1">
                <a:uFill>
                  <a:solidFill>
                    <a:srgbClr val="000000"/>
                  </a:solidFill>
                </a:uFill>
                <a:latin typeface="Symbol"/>
                <a:cs typeface="Symbol"/>
              </a:rPr>
              <a:t></a:t>
            </a:r>
            <a:r>
              <a:rPr dirty="0" u="heavy" sz="2000">
                <a:uFill>
                  <a:solidFill>
                    <a:srgbClr val="000000"/>
                  </a:solidFill>
                </a:uFill>
                <a:latin typeface="Times New Roman"/>
                <a:cs typeface="Times New Roman"/>
              </a:rPr>
              <a:t>	</a:t>
            </a:r>
            <a:endParaRPr sz="2000">
              <a:latin typeface="Times New Roman"/>
              <a:cs typeface="Times New Roman"/>
            </a:endParaRPr>
          </a:p>
          <a:p>
            <a:pPr algn="ctr" marR="92075">
              <a:lnSpc>
                <a:spcPct val="100000"/>
              </a:lnSpc>
              <a:spcBef>
                <a:spcPts val="475"/>
              </a:spcBef>
            </a:pPr>
            <a:r>
              <a:rPr dirty="0" sz="2000" b="1">
                <a:latin typeface="Symbol"/>
                <a:cs typeface="Symbol"/>
              </a:rPr>
              <a:t></a:t>
            </a:r>
            <a:r>
              <a:rPr dirty="0" sz="2000" spc="-5">
                <a:latin typeface="Times New Roman"/>
                <a:cs typeface="Times New Roman"/>
              </a:rPr>
              <a:t> </a:t>
            </a:r>
            <a:r>
              <a:rPr dirty="0" sz="2000" spc="-50" b="1">
                <a:latin typeface="宋体"/>
                <a:cs typeface="宋体"/>
              </a:rPr>
              <a:t>n</a:t>
            </a:r>
            <a:endParaRPr sz="2000">
              <a:latin typeface="宋体"/>
              <a:cs typeface="宋体"/>
            </a:endParaRPr>
          </a:p>
        </p:txBody>
      </p:sp>
      <p:pic>
        <p:nvPicPr>
          <p:cNvPr id="28" name="object 28" descr=""/>
          <p:cNvPicPr/>
          <p:nvPr/>
        </p:nvPicPr>
        <p:blipFill>
          <a:blip r:embed="rId4" cstate="print"/>
          <a:stretch>
            <a:fillRect/>
          </a:stretch>
        </p:blipFill>
        <p:spPr>
          <a:xfrm>
            <a:off x="2419350" y="4891023"/>
            <a:ext cx="228600" cy="76200"/>
          </a:xfrm>
          <a:prstGeom prst="rect">
            <a:avLst/>
          </a:prstGeom>
        </p:spPr>
      </p:pic>
      <p:sp>
        <p:nvSpPr>
          <p:cNvPr id="29" name="object 29" descr=""/>
          <p:cNvSpPr txBox="1"/>
          <p:nvPr/>
        </p:nvSpPr>
        <p:spPr>
          <a:xfrm>
            <a:off x="2121407" y="4533341"/>
            <a:ext cx="742315" cy="495934"/>
          </a:xfrm>
          <a:prstGeom prst="rect">
            <a:avLst/>
          </a:prstGeom>
        </p:spPr>
        <p:txBody>
          <a:bodyPr wrap="square" lIns="0" tIns="13335" rIns="0" bIns="0" rtlCol="0" vert="horz">
            <a:spAutoFit/>
          </a:bodyPr>
          <a:lstStyle/>
          <a:p>
            <a:pPr marL="38100">
              <a:lnSpc>
                <a:spcPts val="2205"/>
              </a:lnSpc>
              <a:spcBef>
                <a:spcPts val="105"/>
              </a:spcBef>
            </a:pPr>
            <a:r>
              <a:rPr dirty="0" baseline="5555" sz="3000">
                <a:latin typeface="Symbol"/>
                <a:cs typeface="Symbol"/>
              </a:rPr>
              <a:t></a:t>
            </a:r>
            <a:r>
              <a:rPr dirty="0" baseline="5555" sz="3000" spc="277">
                <a:latin typeface="Times New Roman"/>
                <a:cs typeface="Times New Roman"/>
              </a:rPr>
              <a:t> </a:t>
            </a:r>
            <a:r>
              <a:rPr dirty="0" sz="2000" spc="-25">
                <a:latin typeface="Times New Roman"/>
                <a:cs typeface="Times New Roman"/>
              </a:rPr>
              <a:t>lim</a:t>
            </a:r>
            <a:endParaRPr sz="2000">
              <a:latin typeface="Times New Roman"/>
              <a:cs typeface="Times New Roman"/>
            </a:endParaRPr>
          </a:p>
          <a:p>
            <a:pPr marL="199390">
              <a:lnSpc>
                <a:spcPts val="1485"/>
              </a:lnSpc>
              <a:tabLst>
                <a:tab pos="580390" algn="l"/>
              </a:tabLst>
            </a:pPr>
            <a:r>
              <a:rPr dirty="0" baseline="1984" sz="2100" spc="-75" i="1">
                <a:latin typeface="Times New Roman"/>
                <a:cs typeface="Times New Roman"/>
              </a:rPr>
              <a:t>n</a:t>
            </a:r>
            <a:r>
              <a:rPr dirty="0" baseline="1984" sz="2100" i="1">
                <a:latin typeface="Times New Roman"/>
                <a:cs typeface="Times New Roman"/>
              </a:rPr>
              <a:t>	</a:t>
            </a:r>
            <a:r>
              <a:rPr dirty="0" sz="1050" spc="-50">
                <a:solidFill>
                  <a:srgbClr val="080808"/>
                </a:solidFill>
                <a:latin typeface="Tahoma"/>
                <a:cs typeface="Tahoma"/>
              </a:rPr>
              <a:t>∞</a:t>
            </a:r>
            <a:endParaRPr sz="1050">
              <a:latin typeface="Tahoma"/>
              <a:cs typeface="Tahoma"/>
            </a:endParaRPr>
          </a:p>
        </p:txBody>
      </p:sp>
      <p:sp>
        <p:nvSpPr>
          <p:cNvPr id="30" name="object 30" descr=""/>
          <p:cNvSpPr txBox="1"/>
          <p:nvPr/>
        </p:nvSpPr>
        <p:spPr>
          <a:xfrm>
            <a:off x="2121407" y="5234685"/>
            <a:ext cx="1526540" cy="330835"/>
          </a:xfrm>
          <a:prstGeom prst="rect">
            <a:avLst/>
          </a:prstGeom>
        </p:spPr>
        <p:txBody>
          <a:bodyPr wrap="square" lIns="0" tIns="12700" rIns="0" bIns="0" rtlCol="0" vert="horz">
            <a:spAutoFit/>
          </a:bodyPr>
          <a:lstStyle/>
          <a:p>
            <a:pPr marL="38100">
              <a:lnSpc>
                <a:spcPct val="100000"/>
              </a:lnSpc>
              <a:spcBef>
                <a:spcPts val="100"/>
              </a:spcBef>
            </a:pPr>
            <a:r>
              <a:rPr dirty="0" baseline="5555" sz="3000">
                <a:latin typeface="Symbol"/>
                <a:cs typeface="Symbol"/>
              </a:rPr>
              <a:t></a:t>
            </a:r>
            <a:r>
              <a:rPr dirty="0" baseline="5555" sz="3000" spc="-7">
                <a:latin typeface="Times New Roman"/>
                <a:cs typeface="Times New Roman"/>
              </a:rPr>
              <a:t> </a:t>
            </a:r>
            <a:r>
              <a:rPr dirty="0" baseline="5555" sz="3000" b="1">
                <a:latin typeface="Symbol"/>
                <a:cs typeface="Symbol"/>
              </a:rPr>
              <a:t></a:t>
            </a:r>
            <a:r>
              <a:rPr dirty="0" baseline="5555" sz="3000" spc="427">
                <a:latin typeface="Times New Roman"/>
                <a:cs typeface="Times New Roman"/>
              </a:rPr>
              <a:t> </a:t>
            </a:r>
            <a:r>
              <a:rPr dirty="0" sz="2000" spc="-10">
                <a:latin typeface="黑体"/>
                <a:cs typeface="黑体"/>
              </a:rPr>
              <a:t>MFLOPS</a:t>
            </a:r>
            <a:endParaRPr sz="2000">
              <a:latin typeface="黑体"/>
              <a:cs typeface="黑体"/>
            </a:endParaRPr>
          </a:p>
        </p:txBody>
      </p:sp>
      <p:sp>
        <p:nvSpPr>
          <p:cNvPr id="31" name="object 31" descr=""/>
          <p:cNvSpPr txBox="1"/>
          <p:nvPr/>
        </p:nvSpPr>
        <p:spPr>
          <a:xfrm>
            <a:off x="1050442" y="1656079"/>
            <a:ext cx="659638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假设该向量处理机的时钟频率为</a:t>
            </a:r>
            <a:r>
              <a:rPr dirty="0" sz="2400" spc="-20">
                <a:solidFill>
                  <a:srgbClr val="9933FF"/>
                </a:solidFill>
                <a:latin typeface="Times New Roman"/>
                <a:cs typeface="Times New Roman"/>
              </a:rPr>
              <a:t>200MHz</a:t>
            </a:r>
            <a:r>
              <a:rPr dirty="0" sz="2400" spc="-20">
                <a:solidFill>
                  <a:srgbClr val="40458B"/>
                </a:solidFill>
                <a:latin typeface="黑体"/>
                <a:cs typeface="黑体"/>
              </a:rPr>
              <a:t>，那么：</a:t>
            </a:r>
            <a:endParaRPr sz="2400">
              <a:latin typeface="黑体"/>
              <a:cs typeface="黑体"/>
            </a:endParaRPr>
          </a:p>
        </p:txBody>
      </p:sp>
      <p:sp>
        <p:nvSpPr>
          <p:cNvPr id="32" name="object 32" descr=""/>
          <p:cNvSpPr txBox="1"/>
          <p:nvPr/>
        </p:nvSpPr>
        <p:spPr>
          <a:xfrm>
            <a:off x="2670810" y="3688841"/>
            <a:ext cx="149225" cy="188595"/>
          </a:xfrm>
          <a:prstGeom prst="rect">
            <a:avLst/>
          </a:prstGeom>
        </p:spPr>
        <p:txBody>
          <a:bodyPr wrap="square" lIns="0" tIns="14604" rIns="0" bIns="0" rtlCol="0" vert="horz">
            <a:spAutoFit/>
          </a:bodyPr>
          <a:lstStyle/>
          <a:p>
            <a:pPr marL="12700">
              <a:lnSpc>
                <a:spcPct val="100000"/>
              </a:lnSpc>
              <a:spcBef>
                <a:spcPts val="114"/>
              </a:spcBef>
            </a:pPr>
            <a:r>
              <a:rPr dirty="0" sz="1050" spc="-50">
                <a:solidFill>
                  <a:srgbClr val="080808"/>
                </a:solidFill>
                <a:latin typeface="Tahoma"/>
                <a:cs typeface="Tahoma"/>
              </a:rPr>
              <a:t>∞</a:t>
            </a:r>
            <a:endParaRPr sz="1050">
              <a:latin typeface="Tahoma"/>
              <a:cs typeface="Tahom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713740" y="1243029"/>
            <a:ext cx="7627620" cy="4645660"/>
          </a:xfrm>
          <a:prstGeom prst="rect">
            <a:avLst/>
          </a:prstGeom>
        </p:spPr>
        <p:txBody>
          <a:bodyPr wrap="square" lIns="0" tIns="196215" rIns="0" bIns="0" rtlCol="0" vert="horz">
            <a:spAutoFit/>
          </a:bodyPr>
          <a:lstStyle/>
          <a:p>
            <a:pPr marL="520700" indent="-457200">
              <a:lnSpc>
                <a:spcPct val="100000"/>
              </a:lnSpc>
              <a:spcBef>
                <a:spcPts val="1545"/>
              </a:spcBef>
              <a:buClr>
                <a:srgbClr val="40458B"/>
              </a:buClr>
              <a:buFont typeface="Tahoma"/>
              <a:buAutoNum type="arabicPeriod" startAt="2"/>
              <a:tabLst>
                <a:tab pos="520700" algn="l"/>
              </a:tabLst>
            </a:pPr>
            <a:r>
              <a:rPr dirty="0" sz="2400" spc="-10">
                <a:solidFill>
                  <a:srgbClr val="E14B04"/>
                </a:solidFill>
                <a:latin typeface="黑体"/>
                <a:cs typeface="黑体"/>
              </a:rPr>
              <a:t>半性能向量长度</a:t>
            </a:r>
            <a:r>
              <a:rPr dirty="0" sz="2400" spc="-20" b="1">
                <a:solidFill>
                  <a:srgbClr val="E14B04"/>
                </a:solidFill>
                <a:latin typeface="黑体"/>
                <a:cs typeface="黑体"/>
              </a:rPr>
              <a:t>n</a:t>
            </a:r>
            <a:r>
              <a:rPr dirty="0" baseline="-20833" sz="2400" spc="-30" b="1">
                <a:solidFill>
                  <a:srgbClr val="E14B04"/>
                </a:solidFill>
                <a:latin typeface="黑体"/>
                <a:cs typeface="黑体"/>
              </a:rPr>
              <a:t>1/2</a:t>
            </a:r>
            <a:endParaRPr baseline="-20833" sz="2400">
              <a:latin typeface="黑体"/>
              <a:cs typeface="黑体"/>
            </a:endParaRPr>
          </a:p>
          <a:p>
            <a:pPr lvl="1" marL="1149985" marR="212090" indent="-457200">
              <a:lnSpc>
                <a:spcPct val="130000"/>
              </a:lnSpc>
              <a:spcBef>
                <a:spcPts val="575"/>
              </a:spcBef>
              <a:buClr>
                <a:srgbClr val="40458B"/>
              </a:buClr>
              <a:buSzPct val="89583"/>
              <a:buFont typeface="Wingdings"/>
              <a:buChar char=""/>
              <a:tabLst>
                <a:tab pos="1149985" algn="l"/>
              </a:tabLst>
            </a:pPr>
            <a:r>
              <a:rPr dirty="0" sz="2400">
                <a:solidFill>
                  <a:srgbClr val="FF0000"/>
                </a:solidFill>
                <a:latin typeface="黑体"/>
                <a:cs typeface="黑体"/>
              </a:rPr>
              <a:t>半性能向量长度</a:t>
            </a:r>
            <a:r>
              <a:rPr dirty="0" sz="2400" spc="-10" b="1">
                <a:solidFill>
                  <a:srgbClr val="FF0000"/>
                </a:solidFill>
                <a:latin typeface="黑体"/>
                <a:cs typeface="黑体"/>
              </a:rPr>
              <a:t>n</a:t>
            </a:r>
            <a:r>
              <a:rPr dirty="0" baseline="-20833" sz="2400" spc="-15" b="1">
                <a:solidFill>
                  <a:srgbClr val="FF0000"/>
                </a:solidFill>
                <a:latin typeface="黑体"/>
                <a:cs typeface="黑体"/>
              </a:rPr>
              <a:t>1/2</a:t>
            </a:r>
            <a:r>
              <a:rPr dirty="0" sz="2400" spc="-10">
                <a:solidFill>
                  <a:srgbClr val="40458B"/>
                </a:solidFill>
                <a:latin typeface="黑体"/>
                <a:cs typeface="黑体"/>
              </a:rPr>
              <a:t>是指向量处理机的性能为其</a:t>
            </a:r>
            <a:r>
              <a:rPr dirty="0" sz="2400" spc="-5">
                <a:solidFill>
                  <a:srgbClr val="40458B"/>
                </a:solidFill>
                <a:latin typeface="黑体"/>
                <a:cs typeface="黑体"/>
              </a:rPr>
              <a:t>最大性能的一半时所需的向量长度。</a:t>
            </a:r>
            <a:endParaRPr sz="2400">
              <a:latin typeface="黑体"/>
              <a:cs typeface="黑体"/>
            </a:endParaRPr>
          </a:p>
          <a:p>
            <a:pPr lvl="1" marL="1149985" marR="68580" indent="-457200">
              <a:lnSpc>
                <a:spcPct val="130000"/>
              </a:lnSpc>
              <a:spcBef>
                <a:spcPts val="580"/>
              </a:spcBef>
              <a:buSzPct val="89583"/>
              <a:buFont typeface="Wingdings"/>
              <a:buChar char=""/>
              <a:tabLst>
                <a:tab pos="1149985" algn="l"/>
              </a:tabLst>
            </a:pPr>
            <a:r>
              <a:rPr dirty="0" sz="2400" spc="-5">
                <a:solidFill>
                  <a:srgbClr val="40458B"/>
                </a:solidFill>
                <a:latin typeface="黑体"/>
                <a:cs typeface="黑体"/>
              </a:rPr>
              <a:t>评价向量流水线的建立时间对性能影响的重要参</a:t>
            </a:r>
            <a:r>
              <a:rPr dirty="0" sz="2400" spc="-25">
                <a:solidFill>
                  <a:srgbClr val="40458B"/>
                </a:solidFill>
                <a:latin typeface="黑体"/>
                <a:cs typeface="黑体"/>
              </a:rPr>
              <a:t>数。</a:t>
            </a:r>
            <a:endParaRPr sz="2400">
              <a:latin typeface="黑体"/>
              <a:cs typeface="黑体"/>
            </a:endParaRPr>
          </a:p>
          <a:p>
            <a:pPr marL="63500" marR="109855" indent="643255">
              <a:lnSpc>
                <a:spcPts val="4320"/>
              </a:lnSpc>
              <a:spcBef>
                <a:spcPts val="385"/>
              </a:spcBef>
              <a:tabLst>
                <a:tab pos="1652905" algn="l"/>
              </a:tabLst>
            </a:pPr>
            <a:r>
              <a:rPr dirty="0" sz="2000" spc="-10" b="1">
                <a:solidFill>
                  <a:srgbClr val="E14B04"/>
                </a:solidFill>
                <a:latin typeface="宋体"/>
                <a:cs typeface="宋体"/>
              </a:rPr>
              <a:t>例</a:t>
            </a:r>
            <a:r>
              <a:rPr dirty="0" sz="2000" spc="-25" b="1">
                <a:solidFill>
                  <a:srgbClr val="E14B04"/>
                </a:solidFill>
                <a:latin typeface="宋体"/>
                <a:cs typeface="宋体"/>
              </a:rPr>
              <a:t>4.6</a:t>
            </a:r>
            <a:r>
              <a:rPr dirty="0" sz="2000" b="1">
                <a:solidFill>
                  <a:srgbClr val="E14B04"/>
                </a:solidFill>
                <a:latin typeface="宋体"/>
                <a:cs typeface="宋体"/>
              </a:rPr>
              <a:t>	</a:t>
            </a:r>
            <a:r>
              <a:rPr dirty="0" sz="2000" spc="-10" b="1">
                <a:solidFill>
                  <a:srgbClr val="080808"/>
                </a:solidFill>
                <a:latin typeface="宋体"/>
                <a:cs typeface="宋体"/>
              </a:rPr>
              <a:t>对于例</a:t>
            </a:r>
            <a:r>
              <a:rPr dirty="0" sz="2000" b="1">
                <a:solidFill>
                  <a:srgbClr val="080808"/>
                </a:solidFill>
                <a:latin typeface="Times New Roman"/>
                <a:cs typeface="Times New Roman"/>
              </a:rPr>
              <a:t>4.5</a:t>
            </a:r>
            <a:r>
              <a:rPr dirty="0" sz="2000" b="1">
                <a:solidFill>
                  <a:srgbClr val="080808"/>
                </a:solidFill>
                <a:latin typeface="宋体"/>
                <a:cs typeface="宋体"/>
              </a:rPr>
              <a:t>，</a:t>
            </a:r>
            <a:r>
              <a:rPr dirty="0" sz="2000" spc="-10" b="1">
                <a:solidFill>
                  <a:srgbClr val="080808"/>
                </a:solidFill>
                <a:latin typeface="宋体"/>
                <a:cs typeface="宋体"/>
              </a:rPr>
              <a:t>假</a:t>
            </a:r>
            <a:r>
              <a:rPr dirty="0" sz="2000" spc="-20" b="1">
                <a:solidFill>
                  <a:srgbClr val="080808"/>
                </a:solidFill>
                <a:latin typeface="宋体"/>
                <a:cs typeface="宋体"/>
              </a:rPr>
              <a:t>设</a:t>
            </a:r>
            <a:r>
              <a:rPr dirty="0" sz="2000" spc="-10" b="1">
                <a:solidFill>
                  <a:srgbClr val="080808"/>
                </a:solidFill>
                <a:latin typeface="宋体"/>
                <a:cs typeface="宋体"/>
              </a:rPr>
              <a:t>时钟</a:t>
            </a:r>
            <a:r>
              <a:rPr dirty="0" sz="2000" spc="-20" b="1">
                <a:solidFill>
                  <a:srgbClr val="080808"/>
                </a:solidFill>
                <a:latin typeface="宋体"/>
                <a:cs typeface="宋体"/>
              </a:rPr>
              <a:t>频</a:t>
            </a:r>
            <a:r>
              <a:rPr dirty="0" sz="2000" spc="-10" b="1">
                <a:solidFill>
                  <a:srgbClr val="080808"/>
                </a:solidFill>
                <a:latin typeface="宋体"/>
                <a:cs typeface="宋体"/>
              </a:rPr>
              <a:t>率</a:t>
            </a:r>
            <a:r>
              <a:rPr dirty="0" sz="2000" b="1">
                <a:solidFill>
                  <a:srgbClr val="080808"/>
                </a:solidFill>
                <a:latin typeface="宋体"/>
                <a:cs typeface="宋体"/>
              </a:rPr>
              <a:t>为</a:t>
            </a:r>
            <a:r>
              <a:rPr dirty="0" sz="2000" spc="-10" b="1">
                <a:solidFill>
                  <a:srgbClr val="9933FF"/>
                </a:solidFill>
                <a:latin typeface="Times New Roman"/>
                <a:cs typeface="Times New Roman"/>
              </a:rPr>
              <a:t>200MHz</a:t>
            </a:r>
            <a:r>
              <a:rPr dirty="0" sz="2000" spc="-10" b="1">
                <a:solidFill>
                  <a:srgbClr val="080808"/>
                </a:solidFill>
                <a:latin typeface="宋体"/>
                <a:cs typeface="宋体"/>
              </a:rPr>
              <a:t>，求半性能向</a:t>
            </a:r>
            <a:r>
              <a:rPr dirty="0" sz="2000" spc="-50" b="1">
                <a:solidFill>
                  <a:srgbClr val="080808"/>
                </a:solidFill>
                <a:latin typeface="宋体"/>
                <a:cs typeface="宋体"/>
              </a:rPr>
              <a:t>量</a:t>
            </a:r>
            <a:r>
              <a:rPr dirty="0" sz="2000" spc="-10" b="1">
                <a:solidFill>
                  <a:srgbClr val="080808"/>
                </a:solidFill>
                <a:latin typeface="宋体"/>
                <a:cs typeface="宋体"/>
              </a:rPr>
              <a:t>长度</a:t>
            </a:r>
            <a:r>
              <a:rPr dirty="0" sz="2000" b="1">
                <a:solidFill>
                  <a:srgbClr val="080808"/>
                </a:solidFill>
                <a:latin typeface="Times New Roman"/>
                <a:cs typeface="Times New Roman"/>
              </a:rPr>
              <a:t>n</a:t>
            </a:r>
            <a:r>
              <a:rPr dirty="0" baseline="-21367" sz="1950" b="1">
                <a:solidFill>
                  <a:srgbClr val="080808"/>
                </a:solidFill>
                <a:latin typeface="Times New Roman"/>
                <a:cs typeface="Times New Roman"/>
              </a:rPr>
              <a:t>1/2</a:t>
            </a:r>
            <a:r>
              <a:rPr dirty="0" sz="2000" spc="-50" b="1">
                <a:solidFill>
                  <a:srgbClr val="080808"/>
                </a:solidFill>
                <a:latin typeface="宋体"/>
                <a:cs typeface="宋体"/>
              </a:rPr>
              <a:t>。</a:t>
            </a:r>
            <a:endParaRPr sz="2000">
              <a:latin typeface="宋体"/>
              <a:cs typeface="宋体"/>
            </a:endParaRPr>
          </a:p>
          <a:p>
            <a:pPr marL="635000">
              <a:lnSpc>
                <a:spcPct val="100000"/>
              </a:lnSpc>
              <a:spcBef>
                <a:spcPts val="894"/>
              </a:spcBef>
            </a:pPr>
            <a:r>
              <a:rPr dirty="0" sz="2000" spc="-15" b="1">
                <a:solidFill>
                  <a:srgbClr val="080808"/>
                </a:solidFill>
                <a:latin typeface="宋体"/>
                <a:cs typeface="宋体"/>
              </a:rPr>
              <a:t>假设该向量处理机的峰值性能</a:t>
            </a:r>
            <a:r>
              <a:rPr dirty="0" sz="2000" b="1">
                <a:solidFill>
                  <a:srgbClr val="D50092"/>
                </a:solidFill>
                <a:latin typeface="Times New Roman"/>
                <a:cs typeface="Times New Roman"/>
              </a:rPr>
              <a:t>R</a:t>
            </a:r>
            <a:r>
              <a:rPr dirty="0" baseline="-21367" sz="1950" b="1">
                <a:solidFill>
                  <a:srgbClr val="D50092"/>
                </a:solidFill>
                <a:latin typeface="Times New Roman"/>
                <a:cs typeface="Times New Roman"/>
              </a:rPr>
              <a:t>∞</a:t>
            </a:r>
            <a:r>
              <a:rPr dirty="0" sz="2000" b="1">
                <a:solidFill>
                  <a:srgbClr val="D50092"/>
                </a:solidFill>
                <a:latin typeface="宋体"/>
                <a:cs typeface="宋体"/>
              </a:rPr>
              <a:t>＝</a:t>
            </a:r>
            <a:r>
              <a:rPr dirty="0" sz="2000" b="1">
                <a:solidFill>
                  <a:srgbClr val="D50092"/>
                </a:solidFill>
                <a:latin typeface="Times New Roman"/>
                <a:cs typeface="Times New Roman"/>
              </a:rPr>
              <a:t>100</a:t>
            </a:r>
            <a:r>
              <a:rPr dirty="0" sz="2000" spc="-15" b="1">
                <a:solidFill>
                  <a:srgbClr val="D50092"/>
                </a:solidFill>
                <a:latin typeface="Times New Roman"/>
                <a:cs typeface="Times New Roman"/>
              </a:rPr>
              <a:t> </a:t>
            </a:r>
            <a:r>
              <a:rPr dirty="0" sz="2000" spc="-10" b="1">
                <a:solidFill>
                  <a:srgbClr val="D50092"/>
                </a:solidFill>
                <a:latin typeface="Times New Roman"/>
                <a:cs typeface="Times New Roman"/>
              </a:rPr>
              <a:t>MFLOPS</a:t>
            </a:r>
            <a:r>
              <a:rPr dirty="0" sz="2000" spc="-10" b="1">
                <a:solidFill>
                  <a:srgbClr val="D50092"/>
                </a:solidFill>
                <a:latin typeface="宋体"/>
                <a:cs typeface="宋体"/>
              </a:rPr>
              <a:t>，</a:t>
            </a:r>
            <a:r>
              <a:rPr dirty="0" sz="2000" spc="-20" b="1">
                <a:solidFill>
                  <a:srgbClr val="080808"/>
                </a:solidFill>
                <a:latin typeface="宋体"/>
                <a:cs typeface="宋体"/>
              </a:rPr>
              <a:t>所以根据半</a:t>
            </a:r>
            <a:endParaRPr sz="2000">
              <a:latin typeface="宋体"/>
              <a:cs typeface="宋体"/>
            </a:endParaRPr>
          </a:p>
          <a:p>
            <a:pPr marL="63500">
              <a:lnSpc>
                <a:spcPct val="100000"/>
              </a:lnSpc>
              <a:spcBef>
                <a:spcPts val="1200"/>
              </a:spcBef>
            </a:pPr>
            <a:r>
              <a:rPr dirty="0" sz="2000" spc="-15" b="1">
                <a:solidFill>
                  <a:srgbClr val="080808"/>
                </a:solidFill>
                <a:latin typeface="宋体"/>
                <a:cs typeface="宋体"/>
              </a:rPr>
              <a:t>性能向量长度的定义有：</a:t>
            </a:r>
            <a:endParaRPr sz="2000">
              <a:latin typeface="宋体"/>
              <a:cs typeface="宋体"/>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425194" y="2786634"/>
            <a:ext cx="3451225" cy="391160"/>
          </a:xfrm>
          <a:prstGeom prst="rect">
            <a:avLst/>
          </a:prstGeom>
        </p:spPr>
        <p:txBody>
          <a:bodyPr wrap="square" lIns="0" tIns="12700" rIns="0" bIns="0" rtlCol="0" vert="horz">
            <a:spAutoFit/>
          </a:bodyPr>
          <a:lstStyle/>
          <a:p>
            <a:pPr marL="38100">
              <a:lnSpc>
                <a:spcPct val="100000"/>
              </a:lnSpc>
              <a:spcBef>
                <a:spcPts val="100"/>
              </a:spcBef>
            </a:pPr>
            <a:r>
              <a:rPr dirty="0" sz="2400" spc="265" b="1">
                <a:solidFill>
                  <a:srgbClr val="40458B"/>
                </a:solidFill>
                <a:latin typeface="宋体"/>
                <a:cs typeface="宋体"/>
              </a:rPr>
              <a:t>假设</a:t>
            </a:r>
            <a:r>
              <a:rPr dirty="0" baseline="3472" sz="3600" spc="-15" b="1">
                <a:solidFill>
                  <a:srgbClr val="D50092"/>
                </a:solidFill>
                <a:latin typeface="宋体"/>
                <a:cs typeface="宋体"/>
              </a:rPr>
              <a:t>n</a:t>
            </a:r>
            <a:r>
              <a:rPr dirty="0" baseline="-13888" sz="2400" spc="-15" b="1">
                <a:solidFill>
                  <a:srgbClr val="D50092"/>
                </a:solidFill>
                <a:latin typeface="宋体"/>
                <a:cs typeface="宋体"/>
              </a:rPr>
              <a:t>1/2</a:t>
            </a:r>
            <a:r>
              <a:rPr dirty="0" baseline="-13888" sz="2400" spc="-179" b="1">
                <a:solidFill>
                  <a:srgbClr val="D50092"/>
                </a:solidFill>
                <a:latin typeface="宋体"/>
                <a:cs typeface="宋体"/>
              </a:rPr>
              <a:t> </a:t>
            </a:r>
            <a:r>
              <a:rPr dirty="0" sz="2400" spc="-20" b="1">
                <a:solidFill>
                  <a:srgbClr val="D50092"/>
                </a:solidFill>
                <a:latin typeface="宋体"/>
                <a:cs typeface="宋体"/>
              </a:rPr>
              <a:t>≤64</a:t>
            </a:r>
            <a:r>
              <a:rPr dirty="0" sz="2400" spc="-30" b="1">
                <a:solidFill>
                  <a:srgbClr val="40458B"/>
                </a:solidFill>
                <a:latin typeface="宋体"/>
                <a:cs typeface="宋体"/>
              </a:rPr>
              <a:t>，那么有：</a:t>
            </a:r>
            <a:endParaRPr sz="2400">
              <a:latin typeface="宋体"/>
              <a:cs typeface="宋体"/>
            </a:endParaRPr>
          </a:p>
        </p:txBody>
      </p:sp>
      <p:sp>
        <p:nvSpPr>
          <p:cNvPr id="11" name="object 11" descr=""/>
          <p:cNvSpPr txBox="1"/>
          <p:nvPr/>
        </p:nvSpPr>
        <p:spPr>
          <a:xfrm>
            <a:off x="2369947" y="3563239"/>
            <a:ext cx="958850" cy="39116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Times New Roman"/>
                <a:cs typeface="Times New Roman"/>
              </a:rPr>
              <a:t>64</a:t>
            </a:r>
            <a:r>
              <a:rPr dirty="0" sz="2400" spc="-10" b="1">
                <a:latin typeface="宋体"/>
                <a:cs typeface="宋体"/>
              </a:rPr>
              <a:t>＋</a:t>
            </a:r>
            <a:r>
              <a:rPr dirty="0" sz="2400" spc="-10" b="1">
                <a:latin typeface="Times New Roman"/>
                <a:cs typeface="Times New Roman"/>
              </a:rPr>
              <a:t>3n</a:t>
            </a:r>
            <a:endParaRPr sz="2400">
              <a:latin typeface="Times New Roman"/>
              <a:cs typeface="Times New Roman"/>
            </a:endParaRPr>
          </a:p>
        </p:txBody>
      </p:sp>
      <p:sp>
        <p:nvSpPr>
          <p:cNvPr id="12" name="object 12" descr=""/>
          <p:cNvSpPr txBox="1"/>
          <p:nvPr/>
        </p:nvSpPr>
        <p:spPr>
          <a:xfrm>
            <a:off x="3302634" y="3740022"/>
            <a:ext cx="285115" cy="269240"/>
          </a:xfrm>
          <a:prstGeom prst="rect">
            <a:avLst/>
          </a:prstGeom>
        </p:spPr>
        <p:txBody>
          <a:bodyPr wrap="square" lIns="0" tIns="12065" rIns="0" bIns="0" rtlCol="0" vert="horz">
            <a:spAutoFit/>
          </a:bodyPr>
          <a:lstStyle/>
          <a:p>
            <a:pPr marL="12700">
              <a:lnSpc>
                <a:spcPct val="100000"/>
              </a:lnSpc>
              <a:spcBef>
                <a:spcPts val="95"/>
              </a:spcBef>
            </a:pPr>
            <a:r>
              <a:rPr dirty="0" sz="1600" spc="-25" b="1">
                <a:latin typeface="Times New Roman"/>
                <a:cs typeface="Times New Roman"/>
              </a:rPr>
              <a:t>1/2</a:t>
            </a:r>
            <a:endParaRPr sz="1600">
              <a:latin typeface="Times New Roman"/>
              <a:cs typeface="Times New Roman"/>
            </a:endParaRPr>
          </a:p>
        </p:txBody>
      </p:sp>
      <p:sp>
        <p:nvSpPr>
          <p:cNvPr id="13" name="object 13" descr=""/>
          <p:cNvSpPr/>
          <p:nvPr/>
        </p:nvSpPr>
        <p:spPr>
          <a:xfrm>
            <a:off x="3967226" y="3757548"/>
            <a:ext cx="1752600" cy="635"/>
          </a:xfrm>
          <a:custGeom>
            <a:avLst/>
            <a:gdLst/>
            <a:ahLst/>
            <a:cxnLst/>
            <a:rect l="l" t="t" r="r" b="b"/>
            <a:pathLst>
              <a:path w="1752600" h="635">
                <a:moveTo>
                  <a:pt x="0" y="0"/>
                </a:moveTo>
                <a:lnTo>
                  <a:pt x="1752600" y="126"/>
                </a:lnTo>
              </a:path>
            </a:pathLst>
          </a:custGeom>
          <a:ln w="9525">
            <a:solidFill>
              <a:srgbClr val="000000"/>
            </a:solidFill>
          </a:ln>
        </p:spPr>
        <p:txBody>
          <a:bodyPr wrap="square" lIns="0" tIns="0" rIns="0" bIns="0" rtlCol="0"/>
          <a:lstStyle/>
          <a:p/>
        </p:txBody>
      </p:sp>
      <p:sp>
        <p:nvSpPr>
          <p:cNvPr id="14" name="object 14" descr=""/>
          <p:cNvSpPr txBox="1"/>
          <p:nvPr/>
        </p:nvSpPr>
        <p:spPr>
          <a:xfrm>
            <a:off x="4561078" y="3747642"/>
            <a:ext cx="330200" cy="391160"/>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Times New Roman"/>
                <a:cs typeface="Times New Roman"/>
              </a:rPr>
              <a:t>50</a:t>
            </a:r>
            <a:endParaRPr sz="2400">
              <a:latin typeface="Times New Roman"/>
              <a:cs typeface="Times New Roman"/>
            </a:endParaRPr>
          </a:p>
        </p:txBody>
      </p:sp>
      <p:sp>
        <p:nvSpPr>
          <p:cNvPr id="15" name="object 15" descr=""/>
          <p:cNvSpPr txBox="1"/>
          <p:nvPr/>
        </p:nvSpPr>
        <p:spPr>
          <a:xfrm>
            <a:off x="3589909" y="3318764"/>
            <a:ext cx="2960370" cy="636270"/>
          </a:xfrm>
          <a:prstGeom prst="rect">
            <a:avLst/>
          </a:prstGeom>
        </p:spPr>
        <p:txBody>
          <a:bodyPr wrap="square" lIns="0" tIns="12700" rIns="0" bIns="0" rtlCol="0" vert="horz">
            <a:spAutoFit/>
          </a:bodyPr>
          <a:lstStyle/>
          <a:p>
            <a:pPr marL="402590">
              <a:lnSpc>
                <a:spcPts val="2405"/>
              </a:lnSpc>
              <a:spcBef>
                <a:spcPts val="100"/>
              </a:spcBef>
            </a:pPr>
            <a:r>
              <a:rPr dirty="0" sz="2400" b="1">
                <a:latin typeface="Times New Roman"/>
                <a:cs typeface="Times New Roman"/>
              </a:rPr>
              <a:t>2</a:t>
            </a:r>
            <a:r>
              <a:rPr dirty="0" sz="2400" b="1">
                <a:latin typeface="宋体"/>
                <a:cs typeface="宋体"/>
              </a:rPr>
              <a:t>×</a:t>
            </a:r>
            <a:r>
              <a:rPr dirty="0" sz="2400" b="1">
                <a:latin typeface="Times New Roman"/>
                <a:cs typeface="Times New Roman"/>
              </a:rPr>
              <a:t>n</a:t>
            </a:r>
            <a:r>
              <a:rPr dirty="0" baseline="-20833" sz="2400" b="1">
                <a:latin typeface="Times New Roman"/>
                <a:cs typeface="Times New Roman"/>
              </a:rPr>
              <a:t>1/2</a:t>
            </a:r>
            <a:r>
              <a:rPr dirty="0" baseline="-20833" sz="2400" spc="225" b="1">
                <a:latin typeface="Times New Roman"/>
                <a:cs typeface="Times New Roman"/>
              </a:rPr>
              <a:t> </a:t>
            </a:r>
            <a:r>
              <a:rPr dirty="0" sz="2400" spc="-20" b="1">
                <a:latin typeface="宋体"/>
                <a:cs typeface="宋体"/>
              </a:rPr>
              <a:t>×</a:t>
            </a:r>
            <a:r>
              <a:rPr dirty="0" sz="2400" spc="-20" b="1">
                <a:latin typeface="Times New Roman"/>
                <a:cs typeface="Times New Roman"/>
              </a:rPr>
              <a:t>200</a:t>
            </a:r>
            <a:endParaRPr sz="2400">
              <a:latin typeface="Times New Roman"/>
              <a:cs typeface="Times New Roman"/>
            </a:endParaRPr>
          </a:p>
          <a:p>
            <a:pPr marL="38100">
              <a:lnSpc>
                <a:spcPts val="2405"/>
              </a:lnSpc>
              <a:tabLst>
                <a:tab pos="2216785" algn="l"/>
              </a:tabLst>
            </a:pPr>
            <a:r>
              <a:rPr dirty="0" sz="2400" spc="-50" b="1">
                <a:latin typeface="宋体"/>
                <a:cs typeface="宋体"/>
              </a:rPr>
              <a:t>＝</a:t>
            </a:r>
            <a:r>
              <a:rPr dirty="0" sz="2400" b="1">
                <a:latin typeface="宋体"/>
                <a:cs typeface="宋体"/>
              </a:rPr>
              <a:t>	</a:t>
            </a:r>
            <a:r>
              <a:rPr dirty="0" baseline="2314" sz="3600" spc="-44" b="1">
                <a:latin typeface="宋体"/>
                <a:cs typeface="宋体"/>
              </a:rPr>
              <a:t>＝</a:t>
            </a:r>
            <a:r>
              <a:rPr dirty="0" baseline="2314" sz="3600" spc="-892" b="1">
                <a:latin typeface="宋体"/>
                <a:cs typeface="宋体"/>
              </a:rPr>
              <a:t> </a:t>
            </a:r>
            <a:r>
              <a:rPr dirty="0" baseline="2314" sz="3600" spc="-37" b="1">
                <a:latin typeface="Times New Roman"/>
                <a:cs typeface="Times New Roman"/>
              </a:rPr>
              <a:t>8n</a:t>
            </a:r>
            <a:endParaRPr baseline="2314" sz="3600">
              <a:latin typeface="Times New Roman"/>
              <a:cs typeface="Times New Roman"/>
            </a:endParaRPr>
          </a:p>
        </p:txBody>
      </p:sp>
      <p:sp>
        <p:nvSpPr>
          <p:cNvPr id="16" name="object 16" descr=""/>
          <p:cNvSpPr txBox="1"/>
          <p:nvPr/>
        </p:nvSpPr>
        <p:spPr>
          <a:xfrm>
            <a:off x="6498716" y="3728415"/>
            <a:ext cx="285750" cy="269240"/>
          </a:xfrm>
          <a:prstGeom prst="rect">
            <a:avLst/>
          </a:prstGeom>
        </p:spPr>
        <p:txBody>
          <a:bodyPr wrap="square" lIns="0" tIns="12065" rIns="0" bIns="0" rtlCol="0" vert="horz">
            <a:spAutoFit/>
          </a:bodyPr>
          <a:lstStyle/>
          <a:p>
            <a:pPr marL="12700">
              <a:lnSpc>
                <a:spcPct val="100000"/>
              </a:lnSpc>
              <a:spcBef>
                <a:spcPts val="95"/>
              </a:spcBef>
            </a:pPr>
            <a:r>
              <a:rPr dirty="0" sz="1600" spc="-25" b="1">
                <a:latin typeface="Times New Roman"/>
                <a:cs typeface="Times New Roman"/>
              </a:rPr>
              <a:t>1/2</a:t>
            </a:r>
            <a:endParaRPr sz="1600">
              <a:latin typeface="Times New Roman"/>
              <a:cs typeface="Times New Roman"/>
            </a:endParaRPr>
          </a:p>
        </p:txBody>
      </p:sp>
      <p:sp>
        <p:nvSpPr>
          <p:cNvPr id="17" name="object 17" descr=""/>
          <p:cNvSpPr txBox="1"/>
          <p:nvPr/>
        </p:nvSpPr>
        <p:spPr>
          <a:xfrm>
            <a:off x="2403094" y="4398391"/>
            <a:ext cx="3049905" cy="1153795"/>
          </a:xfrm>
          <a:prstGeom prst="rect">
            <a:avLst/>
          </a:prstGeom>
        </p:spPr>
        <p:txBody>
          <a:bodyPr wrap="square" lIns="0" tIns="12700" rIns="0" bIns="0" rtlCol="0" vert="horz">
            <a:spAutoFit/>
          </a:bodyPr>
          <a:lstStyle/>
          <a:p>
            <a:pPr marL="50800">
              <a:lnSpc>
                <a:spcPct val="100000"/>
              </a:lnSpc>
              <a:spcBef>
                <a:spcPts val="100"/>
              </a:spcBef>
            </a:pPr>
            <a:r>
              <a:rPr dirty="0" sz="2400" b="1">
                <a:latin typeface="Times New Roman"/>
                <a:cs typeface="Times New Roman"/>
              </a:rPr>
              <a:t>5n</a:t>
            </a:r>
            <a:r>
              <a:rPr dirty="0" baseline="-20833" sz="2400" b="1">
                <a:latin typeface="Times New Roman"/>
                <a:cs typeface="Times New Roman"/>
              </a:rPr>
              <a:t>1/2</a:t>
            </a:r>
            <a:r>
              <a:rPr dirty="0" baseline="-20833" sz="2400" spc="-89" b="1">
                <a:latin typeface="Times New Roman"/>
                <a:cs typeface="Times New Roman"/>
              </a:rPr>
              <a:t> </a:t>
            </a:r>
            <a:r>
              <a:rPr dirty="0" sz="2400" spc="-30" b="1">
                <a:latin typeface="宋体"/>
                <a:cs typeface="宋体"/>
              </a:rPr>
              <a:t>＝</a:t>
            </a:r>
            <a:r>
              <a:rPr dirty="0" sz="2400" spc="-600" b="1">
                <a:latin typeface="宋体"/>
                <a:cs typeface="宋体"/>
              </a:rPr>
              <a:t> </a:t>
            </a:r>
            <a:r>
              <a:rPr dirty="0" sz="2400" b="1">
                <a:latin typeface="Times New Roman"/>
                <a:cs typeface="Times New Roman"/>
              </a:rPr>
              <a:t>64</a:t>
            </a:r>
            <a:r>
              <a:rPr dirty="0" sz="2400" b="1">
                <a:latin typeface="宋体"/>
                <a:cs typeface="宋体"/>
              </a:rPr>
              <a:t>，</a:t>
            </a:r>
            <a:r>
              <a:rPr dirty="0" sz="2400" b="1">
                <a:latin typeface="Times New Roman"/>
                <a:cs typeface="Times New Roman"/>
              </a:rPr>
              <a:t>n</a:t>
            </a:r>
            <a:r>
              <a:rPr dirty="0" baseline="-20833" sz="2400" b="1">
                <a:latin typeface="Times New Roman"/>
                <a:cs typeface="Times New Roman"/>
              </a:rPr>
              <a:t>1/2</a:t>
            </a:r>
            <a:r>
              <a:rPr dirty="0" baseline="-20833" sz="2400" spc="-37" b="1">
                <a:latin typeface="Times New Roman"/>
                <a:cs typeface="Times New Roman"/>
              </a:rPr>
              <a:t> </a:t>
            </a:r>
            <a:r>
              <a:rPr dirty="0" sz="2400" spc="-10" b="1">
                <a:latin typeface="宋体"/>
                <a:cs typeface="宋体"/>
              </a:rPr>
              <a:t>＝</a:t>
            </a:r>
            <a:r>
              <a:rPr dirty="0" sz="2400" spc="-10" b="1">
                <a:latin typeface="Times New Roman"/>
                <a:cs typeface="Times New Roman"/>
              </a:rPr>
              <a:t>12.8</a:t>
            </a:r>
            <a:endParaRPr sz="2400">
              <a:latin typeface="Times New Roman"/>
              <a:cs typeface="Times New Roman"/>
            </a:endParaRPr>
          </a:p>
          <a:p>
            <a:pPr>
              <a:lnSpc>
                <a:spcPct val="100000"/>
              </a:lnSpc>
              <a:spcBef>
                <a:spcPts val="360"/>
              </a:spcBef>
            </a:pPr>
            <a:endParaRPr sz="2400">
              <a:latin typeface="Times New Roman"/>
              <a:cs typeface="Times New Roman"/>
            </a:endParaRPr>
          </a:p>
          <a:p>
            <a:pPr marL="50800">
              <a:lnSpc>
                <a:spcPct val="100000"/>
              </a:lnSpc>
            </a:pPr>
            <a:r>
              <a:rPr dirty="0" sz="2400" b="1">
                <a:latin typeface="Times New Roman"/>
                <a:cs typeface="Times New Roman"/>
              </a:rPr>
              <a:t>n</a:t>
            </a:r>
            <a:r>
              <a:rPr dirty="0" baseline="-20833" sz="2400" b="1">
                <a:latin typeface="Times New Roman"/>
                <a:cs typeface="Times New Roman"/>
              </a:rPr>
              <a:t>1/2</a:t>
            </a:r>
            <a:r>
              <a:rPr dirty="0" baseline="-20833" sz="2400" spc="-30" b="1">
                <a:latin typeface="Times New Roman"/>
                <a:cs typeface="Times New Roman"/>
              </a:rPr>
              <a:t> </a:t>
            </a:r>
            <a:r>
              <a:rPr dirty="0" sz="2400" spc="-30" b="1">
                <a:latin typeface="宋体"/>
                <a:cs typeface="宋体"/>
              </a:rPr>
              <a:t>＝</a:t>
            </a:r>
            <a:r>
              <a:rPr dirty="0" sz="2400" spc="-600" b="1">
                <a:latin typeface="宋体"/>
                <a:cs typeface="宋体"/>
              </a:rPr>
              <a:t> </a:t>
            </a:r>
            <a:r>
              <a:rPr dirty="0" sz="2400" spc="-25" b="1">
                <a:latin typeface="Times New Roman"/>
                <a:cs typeface="Times New Roman"/>
              </a:rPr>
              <a:t>13</a:t>
            </a:r>
            <a:endParaRPr sz="2400">
              <a:latin typeface="Times New Roman"/>
              <a:cs typeface="Times New Roman"/>
            </a:endParaRPr>
          </a:p>
        </p:txBody>
      </p:sp>
      <p:sp>
        <p:nvSpPr>
          <p:cNvPr id="18" name="object 18" descr=""/>
          <p:cNvSpPr/>
          <p:nvPr/>
        </p:nvSpPr>
        <p:spPr>
          <a:xfrm>
            <a:off x="2819400" y="1935226"/>
            <a:ext cx="76200" cy="609600"/>
          </a:xfrm>
          <a:custGeom>
            <a:avLst/>
            <a:gdLst/>
            <a:ahLst/>
            <a:cxnLst/>
            <a:rect l="l" t="t" r="r" b="b"/>
            <a:pathLst>
              <a:path w="76200" h="609600">
                <a:moveTo>
                  <a:pt x="0" y="609600"/>
                </a:moveTo>
                <a:lnTo>
                  <a:pt x="0" y="0"/>
                </a:lnTo>
              </a:path>
              <a:path w="76200" h="609600">
                <a:moveTo>
                  <a:pt x="0" y="0"/>
                </a:moveTo>
                <a:lnTo>
                  <a:pt x="76200" y="0"/>
                </a:lnTo>
              </a:path>
            </a:pathLst>
          </a:custGeom>
          <a:ln w="9525">
            <a:solidFill>
              <a:srgbClr val="000000"/>
            </a:solidFill>
          </a:ln>
        </p:spPr>
        <p:txBody>
          <a:bodyPr wrap="square" lIns="0" tIns="0" rIns="0" bIns="0" rtlCol="0"/>
          <a:lstStyle/>
          <a:p/>
        </p:txBody>
      </p:sp>
      <p:sp>
        <p:nvSpPr>
          <p:cNvPr id="19" name="object 19" descr=""/>
          <p:cNvSpPr txBox="1"/>
          <p:nvPr/>
        </p:nvSpPr>
        <p:spPr>
          <a:xfrm>
            <a:off x="3101975" y="1395729"/>
            <a:ext cx="1804670" cy="391160"/>
          </a:xfrm>
          <a:prstGeom prst="rect">
            <a:avLst/>
          </a:prstGeom>
        </p:spPr>
        <p:txBody>
          <a:bodyPr wrap="square" lIns="0" tIns="12700" rIns="0" bIns="0" rtlCol="0" vert="horz">
            <a:spAutoFit/>
          </a:bodyPr>
          <a:lstStyle/>
          <a:p>
            <a:pPr marL="38100">
              <a:lnSpc>
                <a:spcPct val="100000"/>
              </a:lnSpc>
              <a:spcBef>
                <a:spcPts val="100"/>
              </a:spcBef>
            </a:pPr>
            <a:r>
              <a:rPr dirty="0" sz="2400" b="1">
                <a:latin typeface="Times New Roman"/>
                <a:cs typeface="Times New Roman"/>
              </a:rPr>
              <a:t>2</a:t>
            </a:r>
            <a:r>
              <a:rPr dirty="0" sz="2400" b="1">
                <a:latin typeface="宋体"/>
                <a:cs typeface="宋体"/>
              </a:rPr>
              <a:t>×</a:t>
            </a:r>
            <a:r>
              <a:rPr dirty="0" sz="2400" b="1">
                <a:latin typeface="Times New Roman"/>
                <a:cs typeface="Times New Roman"/>
              </a:rPr>
              <a:t>n</a:t>
            </a:r>
            <a:r>
              <a:rPr dirty="0" baseline="-20833" sz="2400" b="1">
                <a:latin typeface="Times New Roman"/>
                <a:cs typeface="Times New Roman"/>
              </a:rPr>
              <a:t>1/2</a:t>
            </a:r>
            <a:r>
              <a:rPr dirty="0" baseline="-20833" sz="2400" spc="225" b="1">
                <a:latin typeface="Times New Roman"/>
                <a:cs typeface="Times New Roman"/>
              </a:rPr>
              <a:t> </a:t>
            </a:r>
            <a:r>
              <a:rPr dirty="0" sz="2400" spc="-20" b="1">
                <a:latin typeface="宋体"/>
                <a:cs typeface="宋体"/>
              </a:rPr>
              <a:t>×</a:t>
            </a:r>
            <a:r>
              <a:rPr dirty="0" sz="2400" spc="-20" b="1">
                <a:latin typeface="Times New Roman"/>
                <a:cs typeface="Times New Roman"/>
              </a:rPr>
              <a:t>200</a:t>
            </a:r>
            <a:endParaRPr sz="2400">
              <a:latin typeface="Times New Roman"/>
              <a:cs typeface="Times New Roman"/>
            </a:endParaRPr>
          </a:p>
        </p:txBody>
      </p:sp>
      <p:sp>
        <p:nvSpPr>
          <p:cNvPr id="20" name="object 20" descr=""/>
          <p:cNvSpPr txBox="1"/>
          <p:nvPr/>
        </p:nvSpPr>
        <p:spPr>
          <a:xfrm>
            <a:off x="3813175" y="2010283"/>
            <a:ext cx="1264920" cy="39116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宋体"/>
                <a:cs typeface="宋体"/>
              </a:rPr>
              <a:t>×</a:t>
            </a:r>
            <a:r>
              <a:rPr dirty="0" sz="2400" spc="-10" b="1">
                <a:latin typeface="Times New Roman"/>
                <a:cs typeface="Times New Roman"/>
              </a:rPr>
              <a:t>64</a:t>
            </a:r>
            <a:r>
              <a:rPr dirty="0" sz="2400" spc="-10" b="1">
                <a:latin typeface="宋体"/>
                <a:cs typeface="宋体"/>
              </a:rPr>
              <a:t>＋</a:t>
            </a:r>
            <a:r>
              <a:rPr dirty="0" sz="2400" spc="-10" b="1">
                <a:latin typeface="Times New Roman"/>
                <a:cs typeface="Times New Roman"/>
              </a:rPr>
              <a:t>3n</a:t>
            </a:r>
            <a:endParaRPr sz="2400">
              <a:latin typeface="Times New Roman"/>
              <a:cs typeface="Times New Roman"/>
            </a:endParaRPr>
          </a:p>
        </p:txBody>
      </p:sp>
      <p:sp>
        <p:nvSpPr>
          <p:cNvPr id="21" name="object 21" descr=""/>
          <p:cNvSpPr txBox="1"/>
          <p:nvPr/>
        </p:nvSpPr>
        <p:spPr>
          <a:xfrm>
            <a:off x="5052440" y="2187067"/>
            <a:ext cx="285115" cy="269240"/>
          </a:xfrm>
          <a:prstGeom prst="rect">
            <a:avLst/>
          </a:prstGeom>
        </p:spPr>
        <p:txBody>
          <a:bodyPr wrap="square" lIns="0" tIns="12065" rIns="0" bIns="0" rtlCol="0" vert="horz">
            <a:spAutoFit/>
          </a:bodyPr>
          <a:lstStyle/>
          <a:p>
            <a:pPr marL="12700">
              <a:lnSpc>
                <a:spcPct val="100000"/>
              </a:lnSpc>
              <a:spcBef>
                <a:spcPts val="95"/>
              </a:spcBef>
            </a:pPr>
            <a:r>
              <a:rPr dirty="0" sz="1600" spc="-25" b="1">
                <a:latin typeface="Times New Roman"/>
                <a:cs typeface="Times New Roman"/>
              </a:rPr>
              <a:t>1/2</a:t>
            </a:r>
            <a:endParaRPr sz="1600">
              <a:latin typeface="Times New Roman"/>
              <a:cs typeface="Times New Roman"/>
            </a:endParaRPr>
          </a:p>
        </p:txBody>
      </p:sp>
      <p:sp>
        <p:nvSpPr>
          <p:cNvPr id="22" name="object 22" descr=""/>
          <p:cNvSpPr txBox="1"/>
          <p:nvPr/>
        </p:nvSpPr>
        <p:spPr>
          <a:xfrm>
            <a:off x="3025775" y="1846834"/>
            <a:ext cx="505459" cy="391160"/>
          </a:xfrm>
          <a:prstGeom prst="rect">
            <a:avLst/>
          </a:prstGeom>
        </p:spPr>
        <p:txBody>
          <a:bodyPr wrap="square" lIns="0" tIns="12700" rIns="0" bIns="0" rtlCol="0" vert="horz">
            <a:spAutoFit/>
          </a:bodyPr>
          <a:lstStyle/>
          <a:p>
            <a:pPr marL="38100">
              <a:lnSpc>
                <a:spcPct val="100000"/>
              </a:lnSpc>
              <a:spcBef>
                <a:spcPts val="100"/>
              </a:spcBef>
            </a:pPr>
            <a:r>
              <a:rPr dirty="0" baseline="13888" sz="3600" spc="-30" b="1">
                <a:latin typeface="Times New Roman"/>
                <a:cs typeface="Times New Roman"/>
              </a:rPr>
              <a:t>n</a:t>
            </a:r>
            <a:r>
              <a:rPr dirty="0" sz="1600" spc="-20" b="1">
                <a:latin typeface="Times New Roman"/>
                <a:cs typeface="Times New Roman"/>
              </a:rPr>
              <a:t>1/2</a:t>
            </a:r>
            <a:endParaRPr sz="1600">
              <a:latin typeface="Times New Roman"/>
              <a:cs typeface="Times New Roman"/>
            </a:endParaRPr>
          </a:p>
        </p:txBody>
      </p:sp>
      <p:sp>
        <p:nvSpPr>
          <p:cNvPr id="23" name="object 23" descr=""/>
          <p:cNvSpPr txBox="1"/>
          <p:nvPr/>
        </p:nvSpPr>
        <p:spPr>
          <a:xfrm>
            <a:off x="3051175" y="2181859"/>
            <a:ext cx="330200" cy="391160"/>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Times New Roman"/>
                <a:cs typeface="Times New Roman"/>
              </a:rPr>
              <a:t>64</a:t>
            </a:r>
            <a:endParaRPr sz="2400">
              <a:latin typeface="Times New Roman"/>
              <a:cs typeface="Times New Roman"/>
            </a:endParaRPr>
          </a:p>
        </p:txBody>
      </p:sp>
      <p:sp>
        <p:nvSpPr>
          <p:cNvPr id="24" name="object 24" descr=""/>
          <p:cNvSpPr/>
          <p:nvPr/>
        </p:nvSpPr>
        <p:spPr>
          <a:xfrm>
            <a:off x="2971800" y="2206625"/>
            <a:ext cx="533400" cy="0"/>
          </a:xfrm>
          <a:custGeom>
            <a:avLst/>
            <a:gdLst/>
            <a:ahLst/>
            <a:cxnLst/>
            <a:rect l="l" t="t" r="r" b="b"/>
            <a:pathLst>
              <a:path w="533400" h="0">
                <a:moveTo>
                  <a:pt x="0" y="0"/>
                </a:moveTo>
                <a:lnTo>
                  <a:pt x="533400" y="0"/>
                </a:lnTo>
              </a:path>
            </a:pathLst>
          </a:custGeom>
          <a:ln w="9525">
            <a:solidFill>
              <a:srgbClr val="000000"/>
            </a:solidFill>
          </a:ln>
        </p:spPr>
        <p:txBody>
          <a:bodyPr wrap="square" lIns="0" tIns="0" rIns="0" bIns="0" rtlCol="0"/>
          <a:lstStyle/>
          <a:p/>
        </p:txBody>
      </p:sp>
      <p:sp>
        <p:nvSpPr>
          <p:cNvPr id="25" name="object 25" descr=""/>
          <p:cNvSpPr/>
          <p:nvPr/>
        </p:nvSpPr>
        <p:spPr>
          <a:xfrm>
            <a:off x="2743200" y="1825625"/>
            <a:ext cx="2438400" cy="0"/>
          </a:xfrm>
          <a:custGeom>
            <a:avLst/>
            <a:gdLst/>
            <a:ahLst/>
            <a:cxnLst/>
            <a:rect l="l" t="t" r="r" b="b"/>
            <a:pathLst>
              <a:path w="2438400" h="0">
                <a:moveTo>
                  <a:pt x="0" y="0"/>
                </a:moveTo>
                <a:lnTo>
                  <a:pt x="2438400" y="0"/>
                </a:lnTo>
              </a:path>
            </a:pathLst>
          </a:custGeom>
          <a:ln w="9525">
            <a:solidFill>
              <a:srgbClr val="000000"/>
            </a:solidFill>
          </a:ln>
        </p:spPr>
        <p:txBody>
          <a:bodyPr wrap="square" lIns="0" tIns="0" rIns="0" bIns="0" rtlCol="0"/>
          <a:lstStyle/>
          <a:p/>
        </p:txBody>
      </p:sp>
      <p:sp>
        <p:nvSpPr>
          <p:cNvPr id="26" name="object 26" descr=""/>
          <p:cNvSpPr txBox="1"/>
          <p:nvPr/>
        </p:nvSpPr>
        <p:spPr>
          <a:xfrm>
            <a:off x="5337428" y="1624329"/>
            <a:ext cx="713105" cy="391160"/>
          </a:xfrm>
          <a:prstGeom prst="rect">
            <a:avLst/>
          </a:prstGeom>
        </p:spPr>
        <p:txBody>
          <a:bodyPr wrap="square" lIns="0" tIns="12700" rIns="0" bIns="0" rtlCol="0" vert="horz">
            <a:spAutoFit/>
          </a:bodyPr>
          <a:lstStyle/>
          <a:p>
            <a:pPr marL="12700">
              <a:lnSpc>
                <a:spcPct val="100000"/>
              </a:lnSpc>
              <a:spcBef>
                <a:spcPts val="100"/>
              </a:spcBef>
            </a:pPr>
            <a:r>
              <a:rPr dirty="0" sz="2400" spc="-30" b="1">
                <a:latin typeface="宋体"/>
                <a:cs typeface="宋体"/>
              </a:rPr>
              <a:t>＝</a:t>
            </a:r>
            <a:r>
              <a:rPr dirty="0" sz="2400" spc="-595" b="1">
                <a:latin typeface="宋体"/>
                <a:cs typeface="宋体"/>
              </a:rPr>
              <a:t> </a:t>
            </a:r>
            <a:r>
              <a:rPr dirty="0" sz="2400" spc="-25" b="1">
                <a:latin typeface="Times New Roman"/>
                <a:cs typeface="Times New Roman"/>
              </a:rPr>
              <a:t>50</a:t>
            </a:r>
            <a:endParaRPr sz="2400">
              <a:latin typeface="Times New Roman"/>
              <a:cs typeface="Times New Roman"/>
            </a:endParaRPr>
          </a:p>
        </p:txBody>
      </p:sp>
      <p:sp>
        <p:nvSpPr>
          <p:cNvPr id="27" name="object 27" descr=""/>
          <p:cNvSpPr/>
          <p:nvPr/>
        </p:nvSpPr>
        <p:spPr>
          <a:xfrm>
            <a:off x="3567176" y="1930400"/>
            <a:ext cx="76200" cy="609600"/>
          </a:xfrm>
          <a:custGeom>
            <a:avLst/>
            <a:gdLst/>
            <a:ahLst/>
            <a:cxnLst/>
            <a:rect l="l" t="t" r="r" b="b"/>
            <a:pathLst>
              <a:path w="76200" h="609600">
                <a:moveTo>
                  <a:pt x="76200" y="609600"/>
                </a:moveTo>
                <a:lnTo>
                  <a:pt x="76073" y="0"/>
                </a:lnTo>
              </a:path>
              <a:path w="76200" h="609600">
                <a:moveTo>
                  <a:pt x="76200" y="0"/>
                </a:moveTo>
                <a:lnTo>
                  <a:pt x="0" y="0"/>
                </a:lnTo>
              </a:path>
            </a:pathLst>
          </a:custGeom>
          <a:ln w="12700">
            <a:solidFill>
              <a:srgbClr val="000000"/>
            </a:solidFill>
          </a:ln>
        </p:spPr>
        <p:txBody>
          <a:bodyPr wrap="square" lIns="0" tIns="0" rIns="0" bIns="0" rtlCol="0"/>
          <a:lstStyl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232867" y="837437"/>
            <a:ext cx="8761730" cy="4653280"/>
          </a:xfrm>
          <a:prstGeom prst="rect">
            <a:avLst/>
          </a:prstGeom>
        </p:spPr>
        <p:txBody>
          <a:bodyPr wrap="square" lIns="0" tIns="195580" rIns="0" bIns="0" rtlCol="0" vert="horz">
            <a:spAutoFit/>
          </a:bodyPr>
          <a:lstStyle/>
          <a:p>
            <a:pPr marL="494665" indent="-456565">
              <a:lnSpc>
                <a:spcPct val="100000"/>
              </a:lnSpc>
              <a:spcBef>
                <a:spcPts val="1540"/>
              </a:spcBef>
              <a:buClr>
                <a:srgbClr val="40458B"/>
              </a:buClr>
              <a:buFont typeface="Tahoma"/>
              <a:buAutoNum type="arabicPeriod" startAt="4"/>
              <a:tabLst>
                <a:tab pos="494665" algn="l"/>
              </a:tabLst>
            </a:pPr>
            <a:r>
              <a:rPr dirty="0" sz="2400">
                <a:solidFill>
                  <a:srgbClr val="E14B04"/>
                </a:solidFill>
                <a:latin typeface="黑体"/>
                <a:cs typeface="黑体"/>
              </a:rPr>
              <a:t>向量长度临界值</a:t>
            </a:r>
            <a:r>
              <a:rPr dirty="0" sz="2400" spc="-25" b="1">
                <a:solidFill>
                  <a:srgbClr val="E14B04"/>
                </a:solidFill>
                <a:latin typeface="黑体"/>
                <a:cs typeface="黑体"/>
              </a:rPr>
              <a:t>n</a:t>
            </a:r>
            <a:r>
              <a:rPr dirty="0" baseline="-20833" sz="2400" spc="-37" b="1">
                <a:solidFill>
                  <a:srgbClr val="E14B04"/>
                </a:solidFill>
                <a:latin typeface="黑体"/>
                <a:cs typeface="黑体"/>
              </a:rPr>
              <a:t>v</a:t>
            </a:r>
            <a:endParaRPr baseline="-20833" sz="2400">
              <a:latin typeface="黑体"/>
              <a:cs typeface="黑体"/>
            </a:endParaRPr>
          </a:p>
          <a:p>
            <a:pPr lvl="1" marL="1124585" marR="55880" indent="-457834">
              <a:lnSpc>
                <a:spcPct val="130000"/>
              </a:lnSpc>
              <a:spcBef>
                <a:spcPts val="575"/>
              </a:spcBef>
              <a:buClr>
                <a:srgbClr val="40458B"/>
              </a:buClr>
              <a:buSzPct val="89583"/>
              <a:buFont typeface="Wingdings"/>
              <a:buChar char=""/>
              <a:tabLst>
                <a:tab pos="1124585" algn="l"/>
              </a:tabLst>
            </a:pPr>
            <a:r>
              <a:rPr dirty="0" sz="2400">
                <a:solidFill>
                  <a:srgbClr val="FF0000"/>
                </a:solidFill>
                <a:latin typeface="黑体"/>
                <a:cs typeface="黑体"/>
              </a:rPr>
              <a:t>向量长度临界值</a:t>
            </a:r>
            <a:r>
              <a:rPr dirty="0" sz="2400" spc="-10" b="1">
                <a:solidFill>
                  <a:srgbClr val="FF0000"/>
                </a:solidFill>
                <a:latin typeface="黑体"/>
                <a:cs typeface="黑体"/>
              </a:rPr>
              <a:t>n</a:t>
            </a:r>
            <a:r>
              <a:rPr dirty="0" baseline="-20833" sz="2400" spc="-15" b="1">
                <a:solidFill>
                  <a:srgbClr val="FF0000"/>
                </a:solidFill>
                <a:latin typeface="黑体"/>
                <a:cs typeface="黑体"/>
              </a:rPr>
              <a:t>v</a:t>
            </a:r>
            <a:r>
              <a:rPr dirty="0" sz="2400" spc="-5">
                <a:solidFill>
                  <a:srgbClr val="40458B"/>
                </a:solidFill>
                <a:latin typeface="黑体"/>
                <a:cs typeface="黑体"/>
              </a:rPr>
              <a:t>是指：对于某一计算任务而言，向量方</a:t>
            </a:r>
            <a:r>
              <a:rPr dirty="0" sz="2400" spc="-15">
                <a:solidFill>
                  <a:srgbClr val="40458B"/>
                </a:solidFill>
                <a:latin typeface="黑体"/>
                <a:cs typeface="黑体"/>
              </a:rPr>
              <a:t>式的处理速度优于标量串行方式处理速度时所需的最小</a:t>
            </a:r>
            <a:r>
              <a:rPr dirty="0" sz="2400" spc="-10">
                <a:solidFill>
                  <a:srgbClr val="40458B"/>
                </a:solidFill>
                <a:latin typeface="黑体"/>
                <a:cs typeface="黑体"/>
              </a:rPr>
              <a:t>向量长度。</a:t>
            </a:r>
            <a:endParaRPr sz="2400">
              <a:latin typeface="黑体"/>
              <a:cs typeface="黑体"/>
            </a:endParaRPr>
          </a:p>
          <a:p>
            <a:pPr lvl="1" marL="1124585" indent="-457200">
              <a:lnSpc>
                <a:spcPct val="100000"/>
              </a:lnSpc>
              <a:spcBef>
                <a:spcPts val="1440"/>
              </a:spcBef>
              <a:buSzPct val="89583"/>
              <a:buFont typeface="Wingdings"/>
              <a:buChar char=""/>
              <a:tabLst>
                <a:tab pos="1124585" algn="l"/>
              </a:tabLst>
            </a:pPr>
            <a:r>
              <a:rPr dirty="0" sz="2400" spc="-10">
                <a:solidFill>
                  <a:srgbClr val="40458B"/>
                </a:solidFill>
                <a:latin typeface="黑体"/>
                <a:cs typeface="黑体"/>
              </a:rPr>
              <a:t>对于上述</a:t>
            </a:r>
            <a:r>
              <a:rPr dirty="0" sz="2400" spc="-10">
                <a:solidFill>
                  <a:srgbClr val="9933FF"/>
                </a:solidFill>
                <a:latin typeface="黑体"/>
                <a:cs typeface="黑体"/>
              </a:rPr>
              <a:t>DAXPY</a:t>
            </a:r>
            <a:r>
              <a:rPr dirty="0" sz="2400" spc="-20">
                <a:solidFill>
                  <a:srgbClr val="40458B"/>
                </a:solidFill>
                <a:latin typeface="黑体"/>
                <a:cs typeface="黑体"/>
              </a:rPr>
              <a:t>的例子</a:t>
            </a:r>
            <a:endParaRPr sz="2400">
              <a:latin typeface="黑体"/>
              <a:cs typeface="黑体"/>
            </a:endParaRPr>
          </a:p>
          <a:p>
            <a:pPr lvl="2" marL="1295400" marR="1497330" indent="457200">
              <a:lnSpc>
                <a:spcPct val="150000"/>
              </a:lnSpc>
              <a:spcBef>
                <a:spcPts val="80"/>
              </a:spcBef>
              <a:buClr>
                <a:srgbClr val="4668F5"/>
              </a:buClr>
              <a:buSzPct val="65000"/>
              <a:buFont typeface="Wingdings"/>
              <a:buChar char=""/>
              <a:tabLst>
                <a:tab pos="1752600" algn="l"/>
              </a:tabLst>
            </a:pPr>
            <a:r>
              <a:rPr dirty="0" sz="2000" spc="-15" b="1">
                <a:solidFill>
                  <a:srgbClr val="00AFEF"/>
                </a:solidFill>
                <a:latin typeface="宋体"/>
                <a:cs typeface="宋体"/>
              </a:rPr>
              <a:t>假设，在标量串行工作方式下实现</a:t>
            </a:r>
            <a:r>
              <a:rPr dirty="0" sz="2000" spc="-10" b="1">
                <a:solidFill>
                  <a:srgbClr val="9933FF"/>
                </a:solidFill>
                <a:latin typeface="宋体"/>
                <a:cs typeface="宋体"/>
              </a:rPr>
              <a:t>DAXPY</a:t>
            </a:r>
            <a:r>
              <a:rPr dirty="0" sz="2000" spc="-25" b="1">
                <a:solidFill>
                  <a:srgbClr val="00AFEF"/>
                </a:solidFill>
                <a:latin typeface="宋体"/>
                <a:cs typeface="宋体"/>
              </a:rPr>
              <a:t>循环的开</a:t>
            </a:r>
            <a:r>
              <a:rPr dirty="0" sz="2000" spc="-10" b="1">
                <a:solidFill>
                  <a:srgbClr val="00AFEF"/>
                </a:solidFill>
                <a:latin typeface="宋体"/>
                <a:cs typeface="宋体"/>
              </a:rPr>
              <a:t>销为</a:t>
            </a:r>
            <a:r>
              <a:rPr dirty="0" sz="2000" spc="-10" b="1">
                <a:solidFill>
                  <a:srgbClr val="9933FF"/>
                </a:solidFill>
                <a:latin typeface="宋体"/>
                <a:cs typeface="宋体"/>
              </a:rPr>
              <a:t>10个</a:t>
            </a:r>
            <a:r>
              <a:rPr dirty="0" sz="2000" spc="-25" b="1">
                <a:solidFill>
                  <a:srgbClr val="00AFEF"/>
                </a:solidFill>
                <a:latin typeface="宋体"/>
                <a:cs typeface="宋体"/>
              </a:rPr>
              <a:t>时钟周期。那么在标量串行方式下，计算</a:t>
            </a:r>
            <a:r>
              <a:rPr dirty="0" sz="2000" spc="-50" b="1">
                <a:solidFill>
                  <a:srgbClr val="00AFEF"/>
                </a:solidFill>
                <a:latin typeface="宋体"/>
                <a:cs typeface="宋体"/>
              </a:rPr>
              <a:t> </a:t>
            </a:r>
            <a:r>
              <a:rPr dirty="0" sz="2000" spc="-10" b="1">
                <a:solidFill>
                  <a:srgbClr val="9933FF"/>
                </a:solidFill>
                <a:latin typeface="宋体"/>
                <a:cs typeface="宋体"/>
              </a:rPr>
              <a:t>DAXPY</a:t>
            </a:r>
            <a:r>
              <a:rPr dirty="0" sz="2000" spc="-25" b="1">
                <a:solidFill>
                  <a:srgbClr val="00AFEF"/>
                </a:solidFill>
                <a:latin typeface="宋体"/>
                <a:cs typeface="宋体"/>
              </a:rPr>
              <a:t>循环所需要的时钟周期数为：</a:t>
            </a:r>
            <a:endParaRPr sz="2000">
              <a:latin typeface="宋体"/>
              <a:cs typeface="宋体"/>
            </a:endParaRPr>
          </a:p>
          <a:p>
            <a:pPr marL="961390">
              <a:lnSpc>
                <a:spcPct val="100000"/>
              </a:lnSpc>
              <a:spcBef>
                <a:spcPts val="2230"/>
              </a:spcBef>
              <a:tabLst>
                <a:tab pos="1372870" algn="l"/>
                <a:tab pos="5933440" algn="l"/>
              </a:tabLst>
            </a:pPr>
            <a:r>
              <a:rPr dirty="0" sz="2400" spc="-25" b="1">
                <a:solidFill>
                  <a:srgbClr val="E14B04"/>
                </a:solidFill>
                <a:latin typeface="宋体"/>
                <a:cs typeface="宋体"/>
              </a:rPr>
              <a:t>T</a:t>
            </a:r>
            <a:r>
              <a:rPr dirty="0" baseline="-20833" sz="2400" spc="-37" b="1">
                <a:solidFill>
                  <a:srgbClr val="E14B04"/>
                </a:solidFill>
                <a:latin typeface="宋体"/>
                <a:cs typeface="宋体"/>
              </a:rPr>
              <a:t>s</a:t>
            </a:r>
            <a:r>
              <a:rPr dirty="0" baseline="-20833" sz="2400" b="1">
                <a:solidFill>
                  <a:srgbClr val="E14B04"/>
                </a:solidFill>
                <a:latin typeface="宋体"/>
                <a:cs typeface="宋体"/>
              </a:rPr>
              <a:t>	</a:t>
            </a:r>
            <a:r>
              <a:rPr dirty="0" sz="2400" b="1">
                <a:solidFill>
                  <a:srgbClr val="E14B04"/>
                </a:solidFill>
                <a:latin typeface="宋体"/>
                <a:cs typeface="宋体"/>
              </a:rPr>
              <a:t>=(</a:t>
            </a:r>
            <a:r>
              <a:rPr dirty="0" sz="2400" spc="-125" b="1">
                <a:solidFill>
                  <a:srgbClr val="E14B04"/>
                </a:solidFill>
                <a:latin typeface="宋体"/>
                <a:cs typeface="宋体"/>
              </a:rPr>
              <a:t> </a:t>
            </a:r>
            <a:r>
              <a:rPr dirty="0" sz="2400" b="1">
                <a:solidFill>
                  <a:srgbClr val="E14B04"/>
                </a:solidFill>
                <a:latin typeface="宋体"/>
                <a:cs typeface="宋体"/>
              </a:rPr>
              <a:t>10＋12＋12＋7＋6＋12</a:t>
            </a:r>
            <a:r>
              <a:rPr dirty="0" sz="2400" spc="-110" b="1">
                <a:solidFill>
                  <a:srgbClr val="E14B04"/>
                </a:solidFill>
                <a:latin typeface="宋体"/>
                <a:cs typeface="宋体"/>
              </a:rPr>
              <a:t> </a:t>
            </a:r>
            <a:r>
              <a:rPr dirty="0" sz="2400" spc="-20" b="1">
                <a:solidFill>
                  <a:srgbClr val="E14B04"/>
                </a:solidFill>
                <a:latin typeface="宋体"/>
                <a:cs typeface="宋体"/>
              </a:rPr>
              <a:t>)×n</a:t>
            </a:r>
            <a:r>
              <a:rPr dirty="0" baseline="-20833" sz="2400" spc="-30" b="1">
                <a:solidFill>
                  <a:srgbClr val="E14B04"/>
                </a:solidFill>
                <a:latin typeface="宋体"/>
                <a:cs typeface="宋体"/>
              </a:rPr>
              <a:t>v</a:t>
            </a:r>
            <a:r>
              <a:rPr dirty="0" baseline="-20833" sz="2400" b="1">
                <a:solidFill>
                  <a:srgbClr val="E14B04"/>
                </a:solidFill>
                <a:latin typeface="宋体"/>
                <a:cs typeface="宋体"/>
              </a:rPr>
              <a:t>	</a:t>
            </a:r>
            <a:r>
              <a:rPr dirty="0" sz="2400" b="1">
                <a:solidFill>
                  <a:srgbClr val="E14B04"/>
                </a:solidFill>
                <a:latin typeface="宋体"/>
                <a:cs typeface="宋体"/>
              </a:rPr>
              <a:t>=</a:t>
            </a:r>
            <a:r>
              <a:rPr dirty="0" sz="2400" spc="-15" b="1">
                <a:solidFill>
                  <a:srgbClr val="E14B04"/>
                </a:solidFill>
                <a:latin typeface="宋体"/>
                <a:cs typeface="宋体"/>
              </a:rPr>
              <a:t> </a:t>
            </a:r>
            <a:r>
              <a:rPr dirty="0" sz="2400" spc="-20" b="1">
                <a:solidFill>
                  <a:srgbClr val="E14B04"/>
                </a:solidFill>
                <a:latin typeface="宋体"/>
                <a:cs typeface="宋体"/>
              </a:rPr>
              <a:t>59n</a:t>
            </a:r>
            <a:r>
              <a:rPr dirty="0" baseline="-20833" sz="2400" spc="-30" b="1">
                <a:solidFill>
                  <a:srgbClr val="E14B04"/>
                </a:solidFill>
                <a:latin typeface="宋体"/>
                <a:cs typeface="宋体"/>
              </a:rPr>
              <a:t>v</a:t>
            </a:r>
            <a:endParaRPr baseline="-20833" sz="2400">
              <a:latin typeface="宋体"/>
              <a:cs typeface="宋体"/>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4.4</a:t>
            </a:r>
            <a:r>
              <a:rPr dirty="0" spc="-25"/>
              <a:t> 向量处理机的性能评价</a:t>
            </a:r>
          </a:p>
        </p:txBody>
      </p:sp>
      <p:sp>
        <p:nvSpPr>
          <p:cNvPr id="10" name="object 10" descr=""/>
          <p:cNvSpPr txBox="1"/>
          <p:nvPr/>
        </p:nvSpPr>
        <p:spPr>
          <a:xfrm>
            <a:off x="1596516" y="1452241"/>
            <a:ext cx="6878320" cy="2233930"/>
          </a:xfrm>
          <a:prstGeom prst="rect">
            <a:avLst/>
          </a:prstGeom>
        </p:spPr>
        <p:txBody>
          <a:bodyPr wrap="square" lIns="0" tIns="99060" rIns="0" bIns="0" rtlCol="0" vert="horz">
            <a:spAutoFit/>
          </a:bodyPr>
          <a:lstStyle/>
          <a:p>
            <a:pPr marL="533400" indent="-457200">
              <a:lnSpc>
                <a:spcPct val="100000"/>
              </a:lnSpc>
              <a:spcBef>
                <a:spcPts val="780"/>
              </a:spcBef>
              <a:buClr>
                <a:srgbClr val="4668F5"/>
              </a:buClr>
              <a:buSzPct val="65000"/>
              <a:buFont typeface="Wingdings"/>
              <a:buChar char=""/>
              <a:tabLst>
                <a:tab pos="533400" algn="l"/>
              </a:tabLst>
            </a:pPr>
            <a:r>
              <a:rPr dirty="0" sz="2000" spc="-10" b="1">
                <a:solidFill>
                  <a:srgbClr val="00AFEF"/>
                </a:solidFill>
                <a:latin typeface="宋体"/>
                <a:cs typeface="宋体"/>
              </a:rPr>
              <a:t>在向量方式下，计算</a:t>
            </a:r>
            <a:r>
              <a:rPr dirty="0" sz="2000" spc="-10" b="1">
                <a:solidFill>
                  <a:srgbClr val="9933FF"/>
                </a:solidFill>
                <a:latin typeface="宋体"/>
                <a:cs typeface="宋体"/>
              </a:rPr>
              <a:t>DAXPY</a:t>
            </a:r>
            <a:r>
              <a:rPr dirty="0" sz="2000" spc="-25" b="1">
                <a:solidFill>
                  <a:srgbClr val="00AFEF"/>
                </a:solidFill>
                <a:latin typeface="宋体"/>
                <a:cs typeface="宋体"/>
              </a:rPr>
              <a:t>循环所需要的时钟周期数为：</a:t>
            </a:r>
            <a:endParaRPr sz="2000">
              <a:latin typeface="宋体"/>
              <a:cs typeface="宋体"/>
            </a:endParaRPr>
          </a:p>
          <a:p>
            <a:pPr marL="1493520">
              <a:lnSpc>
                <a:spcPct val="100000"/>
              </a:lnSpc>
              <a:spcBef>
                <a:spcPts val="815"/>
              </a:spcBef>
              <a:tabLst>
                <a:tab pos="1905000" algn="l"/>
              </a:tabLst>
            </a:pPr>
            <a:r>
              <a:rPr dirty="0" sz="2400" spc="-25" b="1">
                <a:solidFill>
                  <a:srgbClr val="E14B04"/>
                </a:solidFill>
                <a:latin typeface="宋体"/>
                <a:cs typeface="宋体"/>
              </a:rPr>
              <a:t>T</a:t>
            </a:r>
            <a:r>
              <a:rPr dirty="0" baseline="-20833" sz="2400" spc="-37" b="1">
                <a:solidFill>
                  <a:srgbClr val="E14B04"/>
                </a:solidFill>
                <a:latin typeface="宋体"/>
                <a:cs typeface="宋体"/>
              </a:rPr>
              <a:t>v</a:t>
            </a:r>
            <a:r>
              <a:rPr dirty="0" baseline="-20833" sz="2400" b="1">
                <a:solidFill>
                  <a:srgbClr val="E14B04"/>
                </a:solidFill>
                <a:latin typeface="宋体"/>
                <a:cs typeface="宋体"/>
              </a:rPr>
              <a:t>	</a:t>
            </a:r>
            <a:r>
              <a:rPr dirty="0" sz="2400" b="1">
                <a:solidFill>
                  <a:srgbClr val="E14B04"/>
                </a:solidFill>
                <a:latin typeface="宋体"/>
                <a:cs typeface="宋体"/>
              </a:rPr>
              <a:t>=</a:t>
            </a:r>
            <a:r>
              <a:rPr dirty="0" sz="2400" spc="-15" b="1">
                <a:solidFill>
                  <a:srgbClr val="E14B04"/>
                </a:solidFill>
                <a:latin typeface="宋体"/>
                <a:cs typeface="宋体"/>
              </a:rPr>
              <a:t> </a:t>
            </a:r>
            <a:r>
              <a:rPr dirty="0" sz="2400" spc="-10" b="1">
                <a:solidFill>
                  <a:srgbClr val="E14B04"/>
                </a:solidFill>
                <a:latin typeface="宋体"/>
                <a:cs typeface="宋体"/>
              </a:rPr>
              <a:t>64＋3n</a:t>
            </a:r>
            <a:r>
              <a:rPr dirty="0" baseline="-20833" sz="2400" spc="-15" b="1">
                <a:solidFill>
                  <a:srgbClr val="E14B04"/>
                </a:solidFill>
                <a:latin typeface="宋体"/>
                <a:cs typeface="宋体"/>
              </a:rPr>
              <a:t>v</a:t>
            </a:r>
            <a:endParaRPr baseline="-20833" sz="2400">
              <a:latin typeface="宋体"/>
              <a:cs typeface="宋体"/>
            </a:endParaRPr>
          </a:p>
          <a:p>
            <a:pPr marL="533400" indent="-457200">
              <a:lnSpc>
                <a:spcPct val="100000"/>
              </a:lnSpc>
              <a:spcBef>
                <a:spcPts val="775"/>
              </a:spcBef>
              <a:buClr>
                <a:srgbClr val="4668F5"/>
              </a:buClr>
              <a:buSzPct val="65000"/>
              <a:buFont typeface="Wingdings"/>
              <a:buChar char=""/>
              <a:tabLst>
                <a:tab pos="533400" algn="l"/>
              </a:tabLst>
            </a:pPr>
            <a:r>
              <a:rPr dirty="0" sz="2000" spc="-20" b="1">
                <a:solidFill>
                  <a:srgbClr val="00AFEF"/>
                </a:solidFill>
                <a:latin typeface="宋体"/>
                <a:cs typeface="宋体"/>
              </a:rPr>
              <a:t>根据向量长度临界值的定义，有：</a:t>
            </a:r>
            <a:endParaRPr sz="2000">
              <a:latin typeface="宋体"/>
              <a:cs typeface="宋体"/>
            </a:endParaRPr>
          </a:p>
          <a:p>
            <a:pPr marL="1485900">
              <a:lnSpc>
                <a:spcPct val="100000"/>
              </a:lnSpc>
              <a:spcBef>
                <a:spcPts val="810"/>
              </a:spcBef>
              <a:tabLst>
                <a:tab pos="1897380" algn="l"/>
                <a:tab pos="2359025" algn="l"/>
              </a:tabLst>
            </a:pPr>
            <a:r>
              <a:rPr dirty="0" sz="2400" spc="-25" b="1">
                <a:solidFill>
                  <a:srgbClr val="E14B04"/>
                </a:solidFill>
                <a:latin typeface="宋体"/>
                <a:cs typeface="宋体"/>
              </a:rPr>
              <a:t>T</a:t>
            </a:r>
            <a:r>
              <a:rPr dirty="0" baseline="-20833" sz="2400" spc="-37" b="1">
                <a:solidFill>
                  <a:srgbClr val="E14B04"/>
                </a:solidFill>
                <a:latin typeface="宋体"/>
                <a:cs typeface="宋体"/>
              </a:rPr>
              <a:t>v</a:t>
            </a:r>
            <a:r>
              <a:rPr dirty="0" baseline="-20833" sz="2400" b="1">
                <a:solidFill>
                  <a:srgbClr val="E14B04"/>
                </a:solidFill>
                <a:latin typeface="宋体"/>
                <a:cs typeface="宋体"/>
              </a:rPr>
              <a:t>	</a:t>
            </a:r>
            <a:r>
              <a:rPr dirty="0" sz="2400" spc="-50" b="1">
                <a:solidFill>
                  <a:srgbClr val="E14B04"/>
                </a:solidFill>
                <a:latin typeface="宋体"/>
                <a:cs typeface="宋体"/>
              </a:rPr>
              <a:t>=</a:t>
            </a:r>
            <a:r>
              <a:rPr dirty="0" sz="2400" b="1">
                <a:solidFill>
                  <a:srgbClr val="E14B04"/>
                </a:solidFill>
                <a:latin typeface="宋体"/>
                <a:cs typeface="宋体"/>
              </a:rPr>
              <a:t>	</a:t>
            </a:r>
            <a:r>
              <a:rPr dirty="0" sz="2400" spc="-25" b="1">
                <a:solidFill>
                  <a:srgbClr val="E14B04"/>
                </a:solidFill>
                <a:latin typeface="宋体"/>
                <a:cs typeface="宋体"/>
              </a:rPr>
              <a:t>T</a:t>
            </a:r>
            <a:r>
              <a:rPr dirty="0" baseline="-20833" sz="2400" spc="-37" b="1">
                <a:solidFill>
                  <a:srgbClr val="E14B04"/>
                </a:solidFill>
                <a:latin typeface="宋体"/>
                <a:cs typeface="宋体"/>
              </a:rPr>
              <a:t>s</a:t>
            </a:r>
            <a:endParaRPr baseline="-20833" sz="2400">
              <a:latin typeface="宋体"/>
              <a:cs typeface="宋体"/>
            </a:endParaRPr>
          </a:p>
          <a:p>
            <a:pPr marL="1513205">
              <a:lnSpc>
                <a:spcPct val="100000"/>
              </a:lnSpc>
              <a:spcBef>
                <a:spcPts val="865"/>
              </a:spcBef>
              <a:tabLst>
                <a:tab pos="2693035" algn="l"/>
              </a:tabLst>
            </a:pPr>
            <a:r>
              <a:rPr dirty="0" sz="2400" spc="-10" b="1">
                <a:solidFill>
                  <a:srgbClr val="E14B04"/>
                </a:solidFill>
                <a:latin typeface="宋体"/>
                <a:cs typeface="宋体"/>
              </a:rPr>
              <a:t>64＋3n</a:t>
            </a:r>
            <a:r>
              <a:rPr dirty="0" baseline="-20833" sz="2400" spc="-15" b="1">
                <a:solidFill>
                  <a:srgbClr val="E14B04"/>
                </a:solidFill>
                <a:latin typeface="宋体"/>
                <a:cs typeface="宋体"/>
              </a:rPr>
              <a:t>v</a:t>
            </a:r>
            <a:r>
              <a:rPr dirty="0" baseline="-20833" sz="2400" b="1">
                <a:solidFill>
                  <a:srgbClr val="E14B04"/>
                </a:solidFill>
                <a:latin typeface="宋体"/>
                <a:cs typeface="宋体"/>
              </a:rPr>
              <a:t>	</a:t>
            </a:r>
            <a:r>
              <a:rPr dirty="0" sz="2400" b="1">
                <a:solidFill>
                  <a:srgbClr val="E14B04"/>
                </a:solidFill>
                <a:latin typeface="宋体"/>
                <a:cs typeface="宋体"/>
              </a:rPr>
              <a:t>=</a:t>
            </a:r>
            <a:r>
              <a:rPr dirty="0" sz="2400" spc="-15" b="1">
                <a:solidFill>
                  <a:srgbClr val="E14B04"/>
                </a:solidFill>
                <a:latin typeface="宋体"/>
                <a:cs typeface="宋体"/>
              </a:rPr>
              <a:t> </a:t>
            </a:r>
            <a:r>
              <a:rPr dirty="0" sz="2400" spc="-20" b="1">
                <a:solidFill>
                  <a:srgbClr val="E14B04"/>
                </a:solidFill>
                <a:latin typeface="宋体"/>
                <a:cs typeface="宋体"/>
              </a:rPr>
              <a:t>59n</a:t>
            </a:r>
            <a:r>
              <a:rPr dirty="0" baseline="-20833" sz="2400" spc="-30" b="1">
                <a:solidFill>
                  <a:srgbClr val="E14B04"/>
                </a:solidFill>
                <a:latin typeface="宋体"/>
                <a:cs typeface="宋体"/>
              </a:rPr>
              <a:t>v</a:t>
            </a:r>
            <a:endParaRPr baseline="-20833" sz="2400">
              <a:latin typeface="宋体"/>
              <a:cs typeface="宋体"/>
            </a:endParaRPr>
          </a:p>
        </p:txBody>
      </p:sp>
      <p:sp>
        <p:nvSpPr>
          <p:cNvPr id="11" name="object 11" descr=""/>
          <p:cNvSpPr txBox="1"/>
          <p:nvPr/>
        </p:nvSpPr>
        <p:spPr>
          <a:xfrm>
            <a:off x="3101975" y="4129532"/>
            <a:ext cx="561975" cy="391160"/>
          </a:xfrm>
          <a:prstGeom prst="rect">
            <a:avLst/>
          </a:prstGeom>
        </p:spPr>
        <p:txBody>
          <a:bodyPr wrap="square" lIns="0" tIns="12700" rIns="0" bIns="0" rtlCol="0" vert="horz">
            <a:spAutoFit/>
          </a:bodyPr>
          <a:lstStyle/>
          <a:p>
            <a:pPr marL="38100">
              <a:lnSpc>
                <a:spcPct val="100000"/>
              </a:lnSpc>
              <a:spcBef>
                <a:spcPts val="100"/>
              </a:spcBef>
            </a:pPr>
            <a:r>
              <a:rPr dirty="0" sz="2400">
                <a:solidFill>
                  <a:srgbClr val="E14B04"/>
                </a:solidFill>
                <a:latin typeface="黑体"/>
                <a:cs typeface="黑体"/>
              </a:rPr>
              <a:t>n</a:t>
            </a:r>
            <a:r>
              <a:rPr dirty="0" baseline="-20833" sz="2400">
                <a:solidFill>
                  <a:srgbClr val="E14B04"/>
                </a:solidFill>
                <a:latin typeface="黑体"/>
                <a:cs typeface="黑体"/>
              </a:rPr>
              <a:t>v</a:t>
            </a:r>
            <a:r>
              <a:rPr dirty="0" baseline="-20833" sz="2400" spc="-277">
                <a:solidFill>
                  <a:srgbClr val="E14B04"/>
                </a:solidFill>
                <a:latin typeface="黑体"/>
                <a:cs typeface="黑体"/>
              </a:rPr>
              <a:t> </a:t>
            </a:r>
            <a:r>
              <a:rPr dirty="0" baseline="-8101" sz="3600" spc="-75">
                <a:solidFill>
                  <a:srgbClr val="E14B04"/>
                </a:solidFill>
                <a:latin typeface="黑体"/>
                <a:cs typeface="黑体"/>
              </a:rPr>
              <a:t>=</a:t>
            </a:r>
            <a:endParaRPr baseline="-8101" sz="3600">
              <a:latin typeface="黑体"/>
              <a:cs typeface="黑体"/>
            </a:endParaRPr>
          </a:p>
        </p:txBody>
      </p:sp>
      <p:sp>
        <p:nvSpPr>
          <p:cNvPr id="12" name="object 12" descr=""/>
          <p:cNvSpPr txBox="1"/>
          <p:nvPr/>
        </p:nvSpPr>
        <p:spPr>
          <a:xfrm>
            <a:off x="3979926" y="4005453"/>
            <a:ext cx="390525" cy="744220"/>
          </a:xfrm>
          <a:prstGeom prst="rect">
            <a:avLst/>
          </a:prstGeom>
        </p:spPr>
        <p:txBody>
          <a:bodyPr wrap="square" lIns="0" tIns="12700" rIns="0" bIns="0" rtlCol="0" vert="horz">
            <a:spAutoFit/>
          </a:bodyPr>
          <a:lstStyle/>
          <a:p>
            <a:pPr marL="12700">
              <a:lnSpc>
                <a:spcPts val="2830"/>
              </a:lnSpc>
              <a:spcBef>
                <a:spcPts val="100"/>
              </a:spcBef>
            </a:pPr>
            <a:r>
              <a:rPr dirty="0" u="sng" sz="2400" spc="-25">
                <a:solidFill>
                  <a:srgbClr val="E14B04"/>
                </a:solidFill>
                <a:uFill>
                  <a:solidFill>
                    <a:srgbClr val="E14B04"/>
                  </a:solidFill>
                </a:uFill>
                <a:latin typeface="黑体"/>
                <a:cs typeface="黑体"/>
              </a:rPr>
              <a:t>64 </a:t>
            </a:r>
            <a:endParaRPr sz="2400">
              <a:latin typeface="黑体"/>
              <a:cs typeface="黑体"/>
            </a:endParaRPr>
          </a:p>
          <a:p>
            <a:pPr marL="12700">
              <a:lnSpc>
                <a:spcPts val="2830"/>
              </a:lnSpc>
            </a:pPr>
            <a:r>
              <a:rPr dirty="0" sz="2400" spc="-25">
                <a:solidFill>
                  <a:srgbClr val="E14B04"/>
                </a:solidFill>
                <a:latin typeface="黑体"/>
                <a:cs typeface="黑体"/>
              </a:rPr>
              <a:t>56</a:t>
            </a:r>
            <a:endParaRPr sz="2400">
              <a:latin typeface="黑体"/>
              <a:cs typeface="黑体"/>
            </a:endParaRPr>
          </a:p>
        </p:txBody>
      </p:sp>
      <p:sp>
        <p:nvSpPr>
          <p:cNvPr id="13" name="object 13" descr=""/>
          <p:cNvSpPr txBox="1"/>
          <p:nvPr/>
        </p:nvSpPr>
        <p:spPr>
          <a:xfrm>
            <a:off x="4632452" y="4177029"/>
            <a:ext cx="482600" cy="391160"/>
          </a:xfrm>
          <a:prstGeom prst="rect">
            <a:avLst/>
          </a:prstGeom>
        </p:spPr>
        <p:txBody>
          <a:bodyPr wrap="square" lIns="0" tIns="12700" rIns="0" bIns="0" rtlCol="0" vert="horz">
            <a:spAutoFit/>
          </a:bodyPr>
          <a:lstStyle/>
          <a:p>
            <a:pPr marL="12700">
              <a:lnSpc>
                <a:spcPct val="100000"/>
              </a:lnSpc>
              <a:spcBef>
                <a:spcPts val="100"/>
              </a:spcBef>
              <a:tabLst>
                <a:tab pos="316865" algn="l"/>
              </a:tabLst>
            </a:pPr>
            <a:r>
              <a:rPr dirty="0" sz="2400" spc="-50">
                <a:solidFill>
                  <a:srgbClr val="E14B04"/>
                </a:solidFill>
                <a:latin typeface="黑体"/>
                <a:cs typeface="黑体"/>
              </a:rPr>
              <a:t>=</a:t>
            </a:r>
            <a:r>
              <a:rPr dirty="0" sz="2400">
                <a:solidFill>
                  <a:srgbClr val="E14B04"/>
                </a:solidFill>
                <a:latin typeface="黑体"/>
                <a:cs typeface="黑体"/>
              </a:rPr>
              <a:t>	</a:t>
            </a:r>
            <a:r>
              <a:rPr dirty="0" sz="2400" spc="-50">
                <a:solidFill>
                  <a:srgbClr val="E14B04"/>
                </a:solidFill>
                <a:latin typeface="黑体"/>
                <a:cs typeface="黑体"/>
              </a:rPr>
              <a:t>2</a:t>
            </a:r>
            <a:endParaRPr sz="2400">
              <a:latin typeface="黑体"/>
              <a:cs typeface="黑体"/>
            </a:endParaRPr>
          </a:p>
        </p:txBody>
      </p:sp>
      <p:sp>
        <p:nvSpPr>
          <p:cNvPr id="14" name="object 14" descr=""/>
          <p:cNvSpPr/>
          <p:nvPr/>
        </p:nvSpPr>
        <p:spPr>
          <a:xfrm>
            <a:off x="4416425" y="4090923"/>
            <a:ext cx="76200" cy="609600"/>
          </a:xfrm>
          <a:custGeom>
            <a:avLst/>
            <a:gdLst/>
            <a:ahLst/>
            <a:cxnLst/>
            <a:rect l="l" t="t" r="r" b="b"/>
            <a:pathLst>
              <a:path w="76200" h="609600">
                <a:moveTo>
                  <a:pt x="76200" y="609600"/>
                </a:moveTo>
                <a:lnTo>
                  <a:pt x="76200" y="0"/>
                </a:lnTo>
              </a:path>
              <a:path w="76200" h="609600">
                <a:moveTo>
                  <a:pt x="76200" y="0"/>
                </a:moveTo>
                <a:lnTo>
                  <a:pt x="0" y="126"/>
                </a:lnTo>
              </a:path>
            </a:pathLst>
          </a:custGeom>
          <a:ln w="12700">
            <a:solidFill>
              <a:srgbClr val="E14B04"/>
            </a:solidFill>
          </a:ln>
        </p:spPr>
        <p:txBody>
          <a:bodyPr wrap="square" lIns="0" tIns="0" rIns="0" bIns="0" rtlCol="0"/>
          <a:lstStyle/>
          <a:p/>
        </p:txBody>
      </p:sp>
      <p:sp>
        <p:nvSpPr>
          <p:cNvPr id="15" name="object 15" descr=""/>
          <p:cNvSpPr/>
          <p:nvPr/>
        </p:nvSpPr>
        <p:spPr>
          <a:xfrm>
            <a:off x="3800475" y="4086225"/>
            <a:ext cx="76200" cy="609600"/>
          </a:xfrm>
          <a:custGeom>
            <a:avLst/>
            <a:gdLst/>
            <a:ahLst/>
            <a:cxnLst/>
            <a:rect l="l" t="t" r="r" b="b"/>
            <a:pathLst>
              <a:path w="76200" h="609600">
                <a:moveTo>
                  <a:pt x="0" y="609600"/>
                </a:moveTo>
                <a:lnTo>
                  <a:pt x="0" y="0"/>
                </a:lnTo>
              </a:path>
              <a:path w="76200" h="609600">
                <a:moveTo>
                  <a:pt x="0" y="0"/>
                </a:moveTo>
                <a:lnTo>
                  <a:pt x="76200" y="0"/>
                </a:lnTo>
              </a:path>
            </a:pathLst>
          </a:custGeom>
          <a:ln w="12700">
            <a:solidFill>
              <a:srgbClr val="E14B04"/>
            </a:solidFill>
          </a:ln>
        </p:spPr>
        <p:txBody>
          <a:bodyPr wrap="square" lIns="0" tIns="0" rIns="0" bIns="0" rtlCol="0"/>
          <a:lstStyl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77/72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763016" y="2608326"/>
            <a:ext cx="7135495" cy="1314450"/>
          </a:xfrm>
          <a:prstGeom prst="rect">
            <a:avLst/>
          </a:prstGeom>
        </p:spPr>
        <p:txBody>
          <a:bodyPr wrap="square" lIns="0" tIns="13335" rIns="0" bIns="0" rtlCol="0" vert="horz">
            <a:spAutoFit/>
          </a:bodyPr>
          <a:lstStyle/>
          <a:p>
            <a:pPr lvl="2" marL="1003300" indent="-990600">
              <a:lnSpc>
                <a:spcPct val="100000"/>
              </a:lnSpc>
              <a:spcBef>
                <a:spcPts val="105"/>
              </a:spcBef>
              <a:buAutoNum type="arabicPeriod"/>
              <a:tabLst>
                <a:tab pos="1003300" algn="l"/>
              </a:tabLst>
            </a:pPr>
            <a:r>
              <a:rPr dirty="0" sz="2600" spc="-15">
                <a:solidFill>
                  <a:srgbClr val="0000CC"/>
                </a:solidFill>
                <a:latin typeface="黑体"/>
                <a:cs typeface="黑体"/>
              </a:rPr>
              <a:t>具有代表性的向量处理机</a:t>
            </a:r>
            <a:endParaRPr sz="2600">
              <a:latin typeface="黑体"/>
              <a:cs typeface="黑体"/>
            </a:endParaRPr>
          </a:p>
          <a:p>
            <a:pPr lvl="2">
              <a:lnSpc>
                <a:spcPct val="100000"/>
              </a:lnSpc>
              <a:spcBef>
                <a:spcPts val="760"/>
              </a:spcBef>
              <a:buClr>
                <a:srgbClr val="0000CC"/>
              </a:buClr>
              <a:buFont typeface=""/>
              <a:buAutoNum type="arabicPeriod"/>
            </a:pPr>
            <a:endParaRPr sz="2600">
              <a:latin typeface="黑体"/>
              <a:cs typeface="黑体"/>
            </a:endParaRPr>
          </a:p>
          <a:p>
            <a:pPr lvl="3" marL="1026160" indent="-457200">
              <a:lnSpc>
                <a:spcPct val="100000"/>
              </a:lnSpc>
              <a:buSzPct val="89583"/>
              <a:buFont typeface="Wingdings"/>
              <a:buChar char=""/>
              <a:tabLst>
                <a:tab pos="1026160" algn="l"/>
              </a:tabLst>
            </a:pPr>
            <a:r>
              <a:rPr dirty="0" sz="2400" spc="-15">
                <a:solidFill>
                  <a:srgbClr val="40458B"/>
                </a:solidFill>
                <a:latin typeface="黑体"/>
                <a:cs typeface="黑体"/>
              </a:rPr>
              <a:t>美国和日本生产的一些向量处理机的简要信息</a:t>
            </a:r>
            <a:endParaRPr sz="2400">
              <a:latin typeface="黑体"/>
              <a:cs typeface="黑体"/>
            </a:endParaRPr>
          </a:p>
        </p:txBody>
      </p:sp>
      <p:sp>
        <p:nvSpPr>
          <p:cNvPr id="10" name="object 10"/>
          <p:cNvSpPr txBox="1">
            <a:spLocks noGrp="1"/>
          </p:cNvSpPr>
          <p:nvPr>
            <p:ph type="title"/>
          </p:nvPr>
        </p:nvSpPr>
        <p:spPr>
          <a:xfrm>
            <a:off x="2960370" y="1659712"/>
            <a:ext cx="3225165"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4.5</a:t>
            </a:r>
            <a:r>
              <a:rPr dirty="0" sz="2800" spc="-40">
                <a:solidFill>
                  <a:srgbClr val="000000"/>
                </a:solidFill>
              </a:rPr>
              <a:t> 向量处理机实例</a:t>
            </a:r>
            <a:endParaRPr sz="28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317500" y="1405000"/>
          <a:ext cx="8729980" cy="4608830"/>
        </p:xfrm>
        <a:graphic>
          <a:graphicData uri="http://schemas.openxmlformats.org/drawingml/2006/table">
            <a:tbl>
              <a:tblPr firstRow="1" bandRow="1">
                <a:tableStyleId>{2D5ABB26-0587-4C30-8999-92F81FD0307C}</a:tableStyleId>
              </a:tblPr>
              <a:tblGrid>
                <a:gridCol w="1704975"/>
                <a:gridCol w="1043305"/>
                <a:gridCol w="3641725"/>
                <a:gridCol w="2251075"/>
              </a:tblGrid>
              <a:tr h="579120">
                <a:tc>
                  <a:txBody>
                    <a:bodyPr/>
                    <a:lstStyle/>
                    <a:p>
                      <a:pPr algn="ctr">
                        <a:lnSpc>
                          <a:spcPct val="100000"/>
                        </a:lnSpc>
                        <a:spcBef>
                          <a:spcPts val="1285"/>
                        </a:spcBef>
                      </a:pPr>
                      <a:r>
                        <a:rPr dirty="0" sz="1600" spc="-35" b="1">
                          <a:solidFill>
                            <a:srgbClr val="E14B04"/>
                          </a:solidFill>
                          <a:latin typeface="宋体"/>
                          <a:cs typeface="宋体"/>
                        </a:rPr>
                        <a:t>系统型号</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285"/>
                        </a:spcBef>
                      </a:pPr>
                      <a:r>
                        <a:rPr dirty="0" sz="1600" spc="-35" b="1">
                          <a:solidFill>
                            <a:srgbClr val="E14B04"/>
                          </a:solidFill>
                          <a:latin typeface="宋体"/>
                          <a:cs typeface="宋体"/>
                        </a:rPr>
                        <a:t>推出时间</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5994" marR="791845" indent="-177165">
                        <a:lnSpc>
                          <a:spcPct val="100000"/>
                        </a:lnSpc>
                        <a:spcBef>
                          <a:spcPts val="320"/>
                        </a:spcBef>
                      </a:pPr>
                      <a:r>
                        <a:rPr dirty="0" sz="1600" spc="-35" b="1">
                          <a:solidFill>
                            <a:srgbClr val="E14B04"/>
                          </a:solidFill>
                          <a:latin typeface="宋体"/>
                          <a:cs typeface="宋体"/>
                        </a:rPr>
                        <a:t>最大配置，时钟周期，操作系统</a:t>
                      </a:r>
                      <a:r>
                        <a:rPr dirty="0" sz="1600" spc="-10" b="1">
                          <a:solidFill>
                            <a:srgbClr val="E14B04"/>
                          </a:solidFill>
                          <a:latin typeface="Times New Roman"/>
                          <a:cs typeface="Times New Roman"/>
                        </a:rPr>
                        <a:t>/</a:t>
                      </a:r>
                      <a:r>
                        <a:rPr dirty="0" sz="1600" spc="-35" b="1">
                          <a:solidFill>
                            <a:srgbClr val="E14B04"/>
                          </a:solidFill>
                          <a:latin typeface="宋体"/>
                          <a:cs typeface="宋体"/>
                        </a:rPr>
                        <a:t>编译系统</a:t>
                      </a:r>
                      <a:endParaRPr sz="1600">
                        <a:latin typeface="宋体"/>
                        <a:cs typeface="宋体"/>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50">
                        <a:lnSpc>
                          <a:spcPct val="100000"/>
                        </a:lnSpc>
                        <a:spcBef>
                          <a:spcPts val="1285"/>
                        </a:spcBef>
                      </a:pPr>
                      <a:r>
                        <a:rPr dirty="0" sz="1600" spc="-35" b="1">
                          <a:solidFill>
                            <a:srgbClr val="E14B04"/>
                          </a:solidFill>
                          <a:latin typeface="宋体"/>
                          <a:cs typeface="宋体"/>
                        </a:rPr>
                        <a:t>特色和要点</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82625">
                <a:tc>
                  <a:txBody>
                    <a:bodyPr/>
                    <a:lstStyle/>
                    <a:p>
                      <a:pPr algn="ctr">
                        <a:lnSpc>
                          <a:spcPct val="100000"/>
                        </a:lnSpc>
                        <a:spcBef>
                          <a:spcPts val="1680"/>
                        </a:spcBef>
                      </a:pPr>
                      <a:r>
                        <a:rPr dirty="0" sz="1600" b="1">
                          <a:solidFill>
                            <a:srgbClr val="D50092"/>
                          </a:solidFill>
                          <a:latin typeface="Times New Roman"/>
                          <a:cs typeface="Times New Roman"/>
                        </a:rPr>
                        <a:t>Cray</a:t>
                      </a:r>
                      <a:r>
                        <a:rPr dirty="0" sz="1600" spc="-35" b="1">
                          <a:solidFill>
                            <a:srgbClr val="D50092"/>
                          </a:solidFill>
                          <a:latin typeface="Times New Roman"/>
                          <a:cs typeface="Times New Roman"/>
                        </a:rPr>
                        <a:t> </a:t>
                      </a:r>
                      <a:r>
                        <a:rPr dirty="0" sz="1600" spc="-25" b="1">
                          <a:solidFill>
                            <a:srgbClr val="D50092"/>
                          </a:solidFill>
                          <a:latin typeface="Times New Roman"/>
                          <a:cs typeface="Times New Roman"/>
                        </a:rPr>
                        <a:t>1S</a:t>
                      </a:r>
                      <a:endParaRPr sz="1600">
                        <a:latin typeface="Times New Roman"/>
                        <a:cs typeface="Times New Roman"/>
                      </a:endParaRPr>
                    </a:p>
                  </a:txBody>
                  <a:tcPr marL="0" marR="0" marB="0" marT="2133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89"/>
                        </a:spcBef>
                      </a:pPr>
                      <a:r>
                        <a:rPr dirty="0" sz="1600" spc="-10" b="1">
                          <a:solidFill>
                            <a:srgbClr val="40458B"/>
                          </a:solidFill>
                          <a:latin typeface="Times New Roman"/>
                          <a:cs typeface="Times New Roman"/>
                        </a:rPr>
                        <a:t>1976</a:t>
                      </a:r>
                      <a:r>
                        <a:rPr dirty="0" sz="1600" spc="-50" b="1">
                          <a:solidFill>
                            <a:srgbClr val="40458B"/>
                          </a:solidFill>
                          <a:latin typeface="宋体"/>
                          <a:cs typeface="宋体"/>
                        </a:rPr>
                        <a:t>年</a:t>
                      </a:r>
                      <a:endParaRPr sz="1600">
                        <a:latin typeface="宋体"/>
                        <a:cs typeface="宋体"/>
                      </a:endParaRPr>
                    </a:p>
                  </a:txBody>
                  <a:tcPr marL="0" marR="0" marB="0" marT="21462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ts val="1914"/>
                        </a:lnSpc>
                        <a:spcBef>
                          <a:spcPts val="730"/>
                        </a:spcBef>
                      </a:pPr>
                      <a:r>
                        <a:rPr dirty="0" sz="1600" spc="-30" b="1">
                          <a:solidFill>
                            <a:srgbClr val="40458B"/>
                          </a:solidFill>
                          <a:latin typeface="宋体"/>
                          <a:cs typeface="宋体"/>
                        </a:rPr>
                        <a:t>有</a:t>
                      </a:r>
                      <a:r>
                        <a:rPr dirty="0" sz="1600" spc="-10" b="1">
                          <a:solidFill>
                            <a:srgbClr val="40458B"/>
                          </a:solidFill>
                          <a:latin typeface="Times New Roman"/>
                          <a:cs typeface="Times New Roman"/>
                        </a:rPr>
                        <a:t>10</a:t>
                      </a:r>
                      <a:r>
                        <a:rPr dirty="0" sz="1600" spc="-30" b="1">
                          <a:solidFill>
                            <a:srgbClr val="40458B"/>
                          </a:solidFill>
                          <a:latin typeface="宋体"/>
                          <a:cs typeface="宋体"/>
                        </a:rPr>
                        <a:t>条流水线的单处理机，</a:t>
                      </a:r>
                      <a:r>
                        <a:rPr dirty="0" sz="1600" spc="-10" b="1">
                          <a:solidFill>
                            <a:srgbClr val="40458B"/>
                          </a:solidFill>
                          <a:latin typeface="Times New Roman"/>
                          <a:cs typeface="Times New Roman"/>
                        </a:rPr>
                        <a:t>12.5ns</a:t>
                      </a:r>
                      <a:r>
                        <a:rPr dirty="0" sz="1600" spc="-10" b="1">
                          <a:solidFill>
                            <a:srgbClr val="40458B"/>
                          </a:solidFill>
                          <a:latin typeface="宋体"/>
                          <a:cs typeface="宋体"/>
                        </a:rPr>
                        <a:t>，</a:t>
                      </a:r>
                      <a:endParaRPr sz="1600">
                        <a:latin typeface="宋体"/>
                        <a:cs typeface="宋体"/>
                      </a:endParaRPr>
                    </a:p>
                    <a:p>
                      <a:pPr marL="91440">
                        <a:lnSpc>
                          <a:spcPts val="1914"/>
                        </a:lnSpc>
                      </a:pPr>
                      <a:r>
                        <a:rPr dirty="0" sz="1600" b="1">
                          <a:solidFill>
                            <a:srgbClr val="40458B"/>
                          </a:solidFill>
                          <a:latin typeface="Times New Roman"/>
                          <a:cs typeface="Times New Roman"/>
                        </a:rPr>
                        <a:t>COS/CF7</a:t>
                      </a:r>
                      <a:r>
                        <a:rPr dirty="0" sz="1600" spc="-60" b="1">
                          <a:solidFill>
                            <a:srgbClr val="40458B"/>
                          </a:solidFill>
                          <a:latin typeface="Times New Roman"/>
                          <a:cs typeface="Times New Roman"/>
                        </a:rPr>
                        <a:t> </a:t>
                      </a:r>
                      <a:r>
                        <a:rPr dirty="0" sz="1600" spc="-25" b="1">
                          <a:solidFill>
                            <a:srgbClr val="40458B"/>
                          </a:solidFill>
                          <a:latin typeface="Times New Roman"/>
                          <a:cs typeface="Times New Roman"/>
                        </a:rPr>
                        <a:t>2.1</a:t>
                      </a:r>
                      <a:endParaRPr sz="1600">
                        <a:latin typeface="Times New Roman"/>
                        <a:cs typeface="Times New Roman"/>
                      </a:endParaRPr>
                    </a:p>
                  </a:txBody>
                  <a:tcPr marL="0" marR="0" marB="0" marT="927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98425">
                        <a:lnSpc>
                          <a:spcPct val="100000"/>
                        </a:lnSpc>
                        <a:spcBef>
                          <a:spcPts val="730"/>
                        </a:spcBef>
                      </a:pPr>
                      <a:r>
                        <a:rPr dirty="0" sz="1600" spc="-30" b="1">
                          <a:solidFill>
                            <a:srgbClr val="40458B"/>
                          </a:solidFill>
                          <a:latin typeface="宋体"/>
                          <a:cs typeface="宋体"/>
                        </a:rPr>
                        <a:t>第一台基于</a:t>
                      </a:r>
                      <a:r>
                        <a:rPr dirty="0" sz="1600" b="1">
                          <a:solidFill>
                            <a:srgbClr val="40458B"/>
                          </a:solidFill>
                          <a:latin typeface="Times New Roman"/>
                          <a:cs typeface="Times New Roman"/>
                        </a:rPr>
                        <a:t>ECL</a:t>
                      </a:r>
                      <a:r>
                        <a:rPr dirty="0" sz="1600" spc="-40" b="1">
                          <a:solidFill>
                            <a:srgbClr val="40458B"/>
                          </a:solidFill>
                          <a:latin typeface="宋体"/>
                          <a:cs typeface="宋体"/>
                        </a:rPr>
                        <a:t>的超级计算机</a:t>
                      </a:r>
                      <a:endParaRPr sz="1600">
                        <a:latin typeface="宋体"/>
                        <a:cs typeface="宋体"/>
                      </a:endParaRPr>
                    </a:p>
                  </a:txBody>
                  <a:tcPr marL="0" marR="0" marB="0" marT="927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83895">
                <a:tc>
                  <a:txBody>
                    <a:bodyPr/>
                    <a:lstStyle/>
                    <a:p>
                      <a:pPr algn="ctr" marL="635">
                        <a:lnSpc>
                          <a:spcPct val="100000"/>
                        </a:lnSpc>
                        <a:spcBef>
                          <a:spcPts val="1685"/>
                        </a:spcBef>
                      </a:pPr>
                      <a:r>
                        <a:rPr dirty="0" sz="1600" b="1">
                          <a:solidFill>
                            <a:srgbClr val="D50092"/>
                          </a:solidFill>
                          <a:latin typeface="Times New Roman"/>
                          <a:cs typeface="Times New Roman"/>
                        </a:rPr>
                        <a:t>Cray</a:t>
                      </a:r>
                      <a:r>
                        <a:rPr dirty="0" sz="1600" spc="-20" b="1">
                          <a:solidFill>
                            <a:srgbClr val="D50092"/>
                          </a:solidFill>
                          <a:latin typeface="Times New Roman"/>
                          <a:cs typeface="Times New Roman"/>
                        </a:rPr>
                        <a:t> </a:t>
                      </a:r>
                      <a:r>
                        <a:rPr dirty="0" sz="1600" spc="-10" b="1">
                          <a:solidFill>
                            <a:srgbClr val="D50092"/>
                          </a:solidFill>
                          <a:latin typeface="Times New Roman"/>
                          <a:cs typeface="Times New Roman"/>
                        </a:rPr>
                        <a:t>2S/4-</a:t>
                      </a:r>
                      <a:r>
                        <a:rPr dirty="0" sz="1600" spc="-25" b="1">
                          <a:solidFill>
                            <a:srgbClr val="D50092"/>
                          </a:solidFill>
                          <a:latin typeface="Times New Roman"/>
                          <a:cs typeface="Times New Roman"/>
                        </a:rPr>
                        <a:t>256</a:t>
                      </a:r>
                      <a:endParaRPr sz="1600">
                        <a:latin typeface="Times New Roman"/>
                        <a:cs typeface="Times New Roman"/>
                      </a:endParaRPr>
                    </a:p>
                  </a:txBody>
                  <a:tcPr marL="0" marR="0" marB="0" marT="2139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00"/>
                        </a:spcBef>
                      </a:pPr>
                      <a:r>
                        <a:rPr dirty="0" sz="1600" spc="-10" b="1">
                          <a:solidFill>
                            <a:srgbClr val="40458B"/>
                          </a:solidFill>
                          <a:latin typeface="Times New Roman"/>
                          <a:cs typeface="Times New Roman"/>
                        </a:rPr>
                        <a:t>1985</a:t>
                      </a:r>
                      <a:r>
                        <a:rPr dirty="0" sz="1600" spc="-50" b="1">
                          <a:solidFill>
                            <a:srgbClr val="40458B"/>
                          </a:solidFill>
                          <a:latin typeface="宋体"/>
                          <a:cs typeface="宋体"/>
                        </a:rPr>
                        <a:t>年</a:t>
                      </a:r>
                      <a:endParaRPr sz="1600">
                        <a:latin typeface="宋体"/>
                        <a:cs typeface="宋体"/>
                      </a:endParaRPr>
                    </a:p>
                  </a:txBody>
                  <a:tcPr marL="0" marR="0" marB="0" marT="215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249554">
                        <a:lnSpc>
                          <a:spcPct val="100000"/>
                        </a:lnSpc>
                        <a:spcBef>
                          <a:spcPts val="740"/>
                        </a:spcBef>
                      </a:pPr>
                      <a:r>
                        <a:rPr dirty="0" sz="1600" spc="-10" b="1">
                          <a:solidFill>
                            <a:srgbClr val="40458B"/>
                          </a:solidFill>
                          <a:latin typeface="Times New Roman"/>
                          <a:cs typeface="Times New Roman"/>
                        </a:rPr>
                        <a:t>256M</a:t>
                      </a:r>
                      <a:r>
                        <a:rPr dirty="0" sz="1600" spc="-30" b="1">
                          <a:solidFill>
                            <a:srgbClr val="40458B"/>
                          </a:solidFill>
                          <a:latin typeface="宋体"/>
                          <a:cs typeface="宋体"/>
                        </a:rPr>
                        <a:t>字存储器的</a:t>
                      </a:r>
                      <a:r>
                        <a:rPr dirty="0" sz="1600" spc="-10" b="1">
                          <a:solidFill>
                            <a:srgbClr val="40458B"/>
                          </a:solidFill>
                          <a:latin typeface="Times New Roman"/>
                          <a:cs typeface="Times New Roman"/>
                        </a:rPr>
                        <a:t>4</a:t>
                      </a:r>
                      <a:r>
                        <a:rPr dirty="0" sz="1600" spc="-30" b="1">
                          <a:solidFill>
                            <a:srgbClr val="40458B"/>
                          </a:solidFill>
                          <a:latin typeface="宋体"/>
                          <a:cs typeface="宋体"/>
                        </a:rPr>
                        <a:t>台处理机，</a:t>
                      </a:r>
                      <a:r>
                        <a:rPr dirty="0" sz="1600" spc="-10" b="1">
                          <a:solidFill>
                            <a:srgbClr val="40458B"/>
                          </a:solidFill>
                          <a:latin typeface="Times New Roman"/>
                          <a:cs typeface="Times New Roman"/>
                        </a:rPr>
                        <a:t>4.1ns</a:t>
                      </a:r>
                      <a:r>
                        <a:rPr dirty="0" sz="1600" spc="-10" b="1">
                          <a:solidFill>
                            <a:srgbClr val="40458B"/>
                          </a:solidFill>
                          <a:latin typeface="宋体"/>
                          <a:cs typeface="宋体"/>
                        </a:rPr>
                        <a:t>， </a:t>
                      </a:r>
                      <a:r>
                        <a:rPr dirty="0" sz="1600" spc="-20" b="1">
                          <a:solidFill>
                            <a:srgbClr val="40458B"/>
                          </a:solidFill>
                          <a:latin typeface="Times New Roman"/>
                          <a:cs typeface="Times New Roman"/>
                        </a:rPr>
                        <a:t>COS</a:t>
                      </a:r>
                      <a:r>
                        <a:rPr dirty="0" sz="1600" spc="-30" b="1">
                          <a:solidFill>
                            <a:srgbClr val="40458B"/>
                          </a:solidFill>
                          <a:latin typeface="宋体"/>
                          <a:cs typeface="宋体"/>
                        </a:rPr>
                        <a:t>或</a:t>
                      </a:r>
                      <a:r>
                        <a:rPr dirty="0" sz="1600" b="1">
                          <a:solidFill>
                            <a:srgbClr val="40458B"/>
                          </a:solidFill>
                          <a:latin typeface="Times New Roman"/>
                          <a:cs typeface="Times New Roman"/>
                        </a:rPr>
                        <a:t>UNIX/CF77</a:t>
                      </a:r>
                      <a:r>
                        <a:rPr dirty="0" sz="1600" spc="-10" b="1">
                          <a:solidFill>
                            <a:srgbClr val="40458B"/>
                          </a:solidFill>
                          <a:latin typeface="Times New Roman"/>
                          <a:cs typeface="Times New Roman"/>
                        </a:rPr>
                        <a:t> </a:t>
                      </a:r>
                      <a:r>
                        <a:rPr dirty="0" sz="1600" spc="-25" b="1">
                          <a:solidFill>
                            <a:srgbClr val="40458B"/>
                          </a:solidFill>
                          <a:latin typeface="Times New Roman"/>
                          <a:cs typeface="Times New Roman"/>
                        </a:rPr>
                        <a:t>3.0</a:t>
                      </a:r>
                      <a:endParaRPr sz="1600">
                        <a:latin typeface="Times New Roman"/>
                        <a:cs typeface="Times New Roman"/>
                      </a:endParaRPr>
                    </a:p>
                  </a:txBody>
                  <a:tcPr marL="0" marR="0" marB="0" marT="939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55575">
                        <a:lnSpc>
                          <a:spcPct val="100000"/>
                        </a:lnSpc>
                        <a:spcBef>
                          <a:spcPts val="740"/>
                        </a:spcBef>
                      </a:pPr>
                      <a:r>
                        <a:rPr dirty="0" sz="1600" spc="-10" b="1">
                          <a:solidFill>
                            <a:srgbClr val="40458B"/>
                          </a:solidFill>
                          <a:latin typeface="Times New Roman"/>
                          <a:cs typeface="Times New Roman"/>
                        </a:rPr>
                        <a:t>16K</a:t>
                      </a:r>
                      <a:r>
                        <a:rPr dirty="0" sz="1600" spc="-35" b="1">
                          <a:solidFill>
                            <a:srgbClr val="40458B"/>
                          </a:solidFill>
                          <a:latin typeface="宋体"/>
                          <a:cs typeface="宋体"/>
                        </a:rPr>
                        <a:t>字的本地存储器，</a:t>
                      </a:r>
                      <a:r>
                        <a:rPr dirty="0" sz="1600" spc="-30" b="1">
                          <a:solidFill>
                            <a:srgbClr val="40458B"/>
                          </a:solidFill>
                          <a:latin typeface="宋体"/>
                          <a:cs typeface="宋体"/>
                        </a:rPr>
                        <a:t>移植了</a:t>
                      </a:r>
                      <a:r>
                        <a:rPr dirty="0" sz="1600" b="1">
                          <a:solidFill>
                            <a:srgbClr val="40458B"/>
                          </a:solidFill>
                          <a:latin typeface="Times New Roman"/>
                          <a:cs typeface="Times New Roman"/>
                        </a:rPr>
                        <a:t>UNIX</a:t>
                      </a:r>
                      <a:r>
                        <a:rPr dirty="0" sz="1600" spc="-10" b="1">
                          <a:solidFill>
                            <a:srgbClr val="40458B"/>
                          </a:solidFill>
                          <a:latin typeface="Times New Roman"/>
                          <a:cs typeface="Times New Roman"/>
                        </a:rPr>
                        <a:t> </a:t>
                      </a:r>
                      <a:r>
                        <a:rPr dirty="0" sz="1600" spc="-50" b="1">
                          <a:solidFill>
                            <a:srgbClr val="40458B"/>
                          </a:solidFill>
                          <a:latin typeface="Times New Roman"/>
                          <a:cs typeface="Times New Roman"/>
                        </a:rPr>
                        <a:t>V</a:t>
                      </a:r>
                      <a:endParaRPr sz="1600">
                        <a:latin typeface="Times New Roman"/>
                        <a:cs typeface="Times New Roman"/>
                      </a:endParaRPr>
                    </a:p>
                  </a:txBody>
                  <a:tcPr marL="0" marR="0" marB="0" marT="939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79450">
                <a:tc>
                  <a:txBody>
                    <a:bodyPr/>
                    <a:lstStyle/>
                    <a:p>
                      <a:pPr algn="ctr">
                        <a:lnSpc>
                          <a:spcPct val="100000"/>
                        </a:lnSpc>
                        <a:spcBef>
                          <a:spcPts val="1670"/>
                        </a:spcBef>
                      </a:pPr>
                      <a:r>
                        <a:rPr dirty="0" sz="1600" b="1">
                          <a:solidFill>
                            <a:srgbClr val="D50092"/>
                          </a:solidFill>
                          <a:latin typeface="Times New Roman"/>
                          <a:cs typeface="Times New Roman"/>
                        </a:rPr>
                        <a:t>Cray</a:t>
                      </a:r>
                      <a:r>
                        <a:rPr dirty="0" sz="1600" spc="-25" b="1">
                          <a:solidFill>
                            <a:srgbClr val="D50092"/>
                          </a:solidFill>
                          <a:latin typeface="Times New Roman"/>
                          <a:cs typeface="Times New Roman"/>
                        </a:rPr>
                        <a:t> X-</a:t>
                      </a:r>
                      <a:r>
                        <a:rPr dirty="0" sz="1600" b="1">
                          <a:solidFill>
                            <a:srgbClr val="D50092"/>
                          </a:solidFill>
                          <a:latin typeface="Times New Roman"/>
                          <a:cs typeface="Times New Roman"/>
                        </a:rPr>
                        <a:t>MP</a:t>
                      </a:r>
                      <a:r>
                        <a:rPr dirty="0" sz="1600" spc="-90" b="1">
                          <a:solidFill>
                            <a:srgbClr val="D50092"/>
                          </a:solidFill>
                          <a:latin typeface="Times New Roman"/>
                          <a:cs typeface="Times New Roman"/>
                        </a:rPr>
                        <a:t> </a:t>
                      </a:r>
                      <a:r>
                        <a:rPr dirty="0" sz="1600" spc="-25" b="1">
                          <a:solidFill>
                            <a:srgbClr val="D50092"/>
                          </a:solidFill>
                          <a:latin typeface="Times New Roman"/>
                          <a:cs typeface="Times New Roman"/>
                        </a:rPr>
                        <a:t>416</a:t>
                      </a:r>
                      <a:endParaRPr sz="1600">
                        <a:latin typeface="Times New Roman"/>
                        <a:cs typeface="Times New Roman"/>
                      </a:endParaRPr>
                    </a:p>
                  </a:txBody>
                  <a:tcPr marL="0" marR="0" marB="0" marT="2120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80"/>
                        </a:spcBef>
                      </a:pPr>
                      <a:r>
                        <a:rPr dirty="0" sz="1600" spc="-10" b="1">
                          <a:solidFill>
                            <a:srgbClr val="40458B"/>
                          </a:solidFill>
                          <a:latin typeface="Times New Roman"/>
                          <a:cs typeface="Times New Roman"/>
                        </a:rPr>
                        <a:t>1983</a:t>
                      </a:r>
                      <a:r>
                        <a:rPr dirty="0" sz="1600" spc="-50" b="1">
                          <a:solidFill>
                            <a:srgbClr val="40458B"/>
                          </a:solidFill>
                          <a:latin typeface="宋体"/>
                          <a:cs typeface="宋体"/>
                        </a:rPr>
                        <a:t>年</a:t>
                      </a:r>
                      <a:endParaRPr sz="1600">
                        <a:latin typeface="宋体"/>
                        <a:cs typeface="宋体"/>
                      </a:endParaRPr>
                    </a:p>
                  </a:txBody>
                  <a:tcPr marL="0" marR="0" marB="0" marT="2133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720"/>
                        </a:spcBef>
                      </a:pPr>
                      <a:r>
                        <a:rPr dirty="0" sz="1600" spc="-10" b="1">
                          <a:solidFill>
                            <a:srgbClr val="40458B"/>
                          </a:solidFill>
                          <a:latin typeface="Times New Roman"/>
                          <a:cs typeface="Times New Roman"/>
                        </a:rPr>
                        <a:t>16M</a:t>
                      </a:r>
                      <a:r>
                        <a:rPr dirty="0" sz="1600" spc="-20" b="1">
                          <a:solidFill>
                            <a:srgbClr val="40458B"/>
                          </a:solidFill>
                          <a:latin typeface="宋体"/>
                          <a:cs typeface="宋体"/>
                        </a:rPr>
                        <a:t>字存储器的</a:t>
                      </a:r>
                      <a:r>
                        <a:rPr dirty="0" sz="1600" spc="-10" b="1">
                          <a:solidFill>
                            <a:srgbClr val="40458B"/>
                          </a:solidFill>
                          <a:latin typeface="Times New Roman"/>
                          <a:cs typeface="Times New Roman"/>
                        </a:rPr>
                        <a:t>4</a:t>
                      </a:r>
                      <a:r>
                        <a:rPr dirty="0" sz="1600" spc="-20" b="1">
                          <a:solidFill>
                            <a:srgbClr val="40458B"/>
                          </a:solidFill>
                          <a:latin typeface="宋体"/>
                          <a:cs typeface="宋体"/>
                        </a:rPr>
                        <a:t>台处理机，</a:t>
                      </a:r>
                      <a:r>
                        <a:rPr dirty="0" sz="1600" spc="-10" b="1">
                          <a:solidFill>
                            <a:srgbClr val="40458B"/>
                          </a:solidFill>
                          <a:latin typeface="Times New Roman"/>
                          <a:cs typeface="Times New Roman"/>
                        </a:rPr>
                        <a:t>128M</a:t>
                      </a:r>
                      <a:r>
                        <a:rPr dirty="0" sz="1600" spc="-50" b="1">
                          <a:solidFill>
                            <a:srgbClr val="40458B"/>
                          </a:solidFill>
                          <a:latin typeface="宋体"/>
                          <a:cs typeface="宋体"/>
                        </a:rPr>
                        <a:t>字</a:t>
                      </a:r>
                      <a:endParaRPr sz="1600">
                        <a:latin typeface="宋体"/>
                        <a:cs typeface="宋体"/>
                      </a:endParaRPr>
                    </a:p>
                    <a:p>
                      <a:pPr marL="91440">
                        <a:lnSpc>
                          <a:spcPct val="100000"/>
                        </a:lnSpc>
                      </a:pPr>
                      <a:r>
                        <a:rPr dirty="0" sz="1600" spc="-10" b="1">
                          <a:solidFill>
                            <a:srgbClr val="40458B"/>
                          </a:solidFill>
                          <a:latin typeface="Times New Roman"/>
                          <a:cs typeface="Times New Roman"/>
                        </a:rPr>
                        <a:t>SSD</a:t>
                      </a:r>
                      <a:r>
                        <a:rPr dirty="0" sz="1600" spc="-10" b="1">
                          <a:solidFill>
                            <a:srgbClr val="40458B"/>
                          </a:solidFill>
                          <a:latin typeface="宋体"/>
                          <a:cs typeface="宋体"/>
                        </a:rPr>
                        <a:t>，</a:t>
                      </a:r>
                      <a:r>
                        <a:rPr dirty="0" sz="1600" spc="-10" b="1">
                          <a:solidFill>
                            <a:srgbClr val="40458B"/>
                          </a:solidFill>
                          <a:latin typeface="Times New Roman"/>
                          <a:cs typeface="Times New Roman"/>
                        </a:rPr>
                        <a:t>8.5ns</a:t>
                      </a:r>
                      <a:r>
                        <a:rPr dirty="0" sz="1600" spc="-10" b="1">
                          <a:solidFill>
                            <a:srgbClr val="40458B"/>
                          </a:solidFill>
                          <a:latin typeface="宋体"/>
                          <a:cs typeface="宋体"/>
                        </a:rPr>
                        <a:t>，</a:t>
                      </a:r>
                      <a:r>
                        <a:rPr dirty="0" sz="1600" spc="-10" b="1">
                          <a:solidFill>
                            <a:srgbClr val="40458B"/>
                          </a:solidFill>
                          <a:latin typeface="Times New Roman"/>
                          <a:cs typeface="Times New Roman"/>
                        </a:rPr>
                        <a:t>COS/CF77</a:t>
                      </a:r>
                      <a:r>
                        <a:rPr dirty="0" sz="1600" spc="25" b="1">
                          <a:solidFill>
                            <a:srgbClr val="40458B"/>
                          </a:solidFill>
                          <a:latin typeface="Times New Roman"/>
                          <a:cs typeface="Times New Roman"/>
                        </a:rPr>
                        <a:t> </a:t>
                      </a:r>
                      <a:r>
                        <a:rPr dirty="0" sz="1600" spc="-25" b="1">
                          <a:solidFill>
                            <a:srgbClr val="40458B"/>
                          </a:solidFill>
                          <a:latin typeface="Times New Roman"/>
                          <a:cs typeface="Times New Roman"/>
                        </a:rPr>
                        <a:t>5.0</a:t>
                      </a:r>
                      <a:endParaRPr sz="1600">
                        <a:latin typeface="Times New Roman"/>
                        <a:cs typeface="Times New Roman"/>
                      </a:endParaRPr>
                    </a:p>
                  </a:txBody>
                  <a:tcPr marL="0" marR="0" marB="0" marT="914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1864"/>
                        </a:lnSpc>
                        <a:spcBef>
                          <a:spcPts val="815"/>
                        </a:spcBef>
                      </a:pPr>
                      <a:r>
                        <a:rPr dirty="0" sz="1600" spc="-25" b="1">
                          <a:solidFill>
                            <a:srgbClr val="40458B"/>
                          </a:solidFill>
                          <a:latin typeface="宋体"/>
                          <a:cs typeface="宋体"/>
                        </a:rPr>
                        <a:t>使用共享寄存器组用于</a:t>
                      </a:r>
                      <a:endParaRPr sz="1600">
                        <a:latin typeface="宋体"/>
                        <a:cs typeface="宋体"/>
                      </a:endParaRPr>
                    </a:p>
                    <a:p>
                      <a:pPr marL="92075">
                        <a:lnSpc>
                          <a:spcPts val="1864"/>
                        </a:lnSpc>
                      </a:pPr>
                      <a:r>
                        <a:rPr dirty="0" sz="1600" spc="-25" b="1">
                          <a:solidFill>
                            <a:srgbClr val="40458B"/>
                          </a:solidFill>
                          <a:latin typeface="Times New Roman"/>
                          <a:cs typeface="Times New Roman"/>
                        </a:rPr>
                        <a:t>IPC</a:t>
                      </a:r>
                      <a:endParaRPr sz="1600">
                        <a:latin typeface="Times New Roman"/>
                        <a:cs typeface="Times New Roman"/>
                      </a:endParaRPr>
                    </a:p>
                  </a:txBody>
                  <a:tcPr marL="0" marR="0" marB="0" marT="1035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20395">
                <a:tc>
                  <a:txBody>
                    <a:bodyPr/>
                    <a:lstStyle/>
                    <a:p>
                      <a:pPr algn="ctr">
                        <a:lnSpc>
                          <a:spcPct val="100000"/>
                        </a:lnSpc>
                        <a:spcBef>
                          <a:spcPts val="1440"/>
                        </a:spcBef>
                      </a:pPr>
                      <a:r>
                        <a:rPr dirty="0" sz="1600" b="1">
                          <a:solidFill>
                            <a:srgbClr val="D50092"/>
                          </a:solidFill>
                          <a:latin typeface="Times New Roman"/>
                          <a:cs typeface="Times New Roman"/>
                        </a:rPr>
                        <a:t>Cray</a:t>
                      </a:r>
                      <a:r>
                        <a:rPr dirty="0" sz="1600" spc="-80" b="1">
                          <a:solidFill>
                            <a:srgbClr val="D50092"/>
                          </a:solidFill>
                          <a:latin typeface="Times New Roman"/>
                          <a:cs typeface="Times New Roman"/>
                        </a:rPr>
                        <a:t> </a:t>
                      </a:r>
                      <a:r>
                        <a:rPr dirty="0" sz="1600" spc="-90" b="1">
                          <a:solidFill>
                            <a:srgbClr val="D50092"/>
                          </a:solidFill>
                          <a:latin typeface="Times New Roman"/>
                          <a:cs typeface="Times New Roman"/>
                        </a:rPr>
                        <a:t>Y-</a:t>
                      </a:r>
                      <a:r>
                        <a:rPr dirty="0" sz="1600" spc="-10" b="1">
                          <a:solidFill>
                            <a:srgbClr val="D50092"/>
                          </a:solidFill>
                          <a:latin typeface="Times New Roman"/>
                          <a:cs typeface="Times New Roman"/>
                        </a:rPr>
                        <a:t>MP</a:t>
                      </a:r>
                      <a:r>
                        <a:rPr dirty="0" sz="1600" spc="-90" b="1">
                          <a:solidFill>
                            <a:srgbClr val="D50092"/>
                          </a:solidFill>
                          <a:latin typeface="Times New Roman"/>
                          <a:cs typeface="Times New Roman"/>
                        </a:rPr>
                        <a:t> </a:t>
                      </a:r>
                      <a:r>
                        <a:rPr dirty="0" sz="1600" spc="-25" b="1">
                          <a:solidFill>
                            <a:srgbClr val="D50092"/>
                          </a:solidFill>
                          <a:latin typeface="Times New Roman"/>
                          <a:cs typeface="Times New Roman"/>
                        </a:rPr>
                        <a:t>832</a:t>
                      </a:r>
                      <a:endParaRPr sz="1600">
                        <a:latin typeface="Times New Roman"/>
                        <a:cs typeface="Times New Roman"/>
                      </a:endParaRPr>
                    </a:p>
                  </a:txBody>
                  <a:tcPr marL="0" marR="0" marB="0" marT="1828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50"/>
                        </a:spcBef>
                      </a:pPr>
                      <a:r>
                        <a:rPr dirty="0" sz="1600" spc="-10" b="1">
                          <a:solidFill>
                            <a:srgbClr val="40458B"/>
                          </a:solidFill>
                          <a:latin typeface="Times New Roman"/>
                          <a:cs typeface="Times New Roman"/>
                        </a:rPr>
                        <a:t>1988</a:t>
                      </a:r>
                      <a:r>
                        <a:rPr dirty="0" sz="1600" spc="-50" b="1">
                          <a:solidFill>
                            <a:srgbClr val="40458B"/>
                          </a:solidFill>
                          <a:latin typeface="宋体"/>
                          <a:cs typeface="宋体"/>
                        </a:rPr>
                        <a:t>年</a:t>
                      </a:r>
                      <a:endParaRPr sz="1600">
                        <a:latin typeface="宋体"/>
                        <a:cs typeface="宋体"/>
                      </a:endParaRPr>
                    </a:p>
                  </a:txBody>
                  <a:tcPr marL="0" marR="0" marB="0" marT="1841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401955">
                        <a:lnSpc>
                          <a:spcPts val="1910"/>
                        </a:lnSpc>
                        <a:spcBef>
                          <a:spcPts val="560"/>
                        </a:spcBef>
                      </a:pPr>
                      <a:r>
                        <a:rPr dirty="0" sz="1600" spc="-10" b="1">
                          <a:solidFill>
                            <a:srgbClr val="40458B"/>
                          </a:solidFill>
                          <a:latin typeface="Times New Roman"/>
                          <a:cs typeface="Times New Roman"/>
                        </a:rPr>
                        <a:t>128M</a:t>
                      </a:r>
                      <a:r>
                        <a:rPr dirty="0" sz="1600" spc="-30" b="1">
                          <a:solidFill>
                            <a:srgbClr val="40458B"/>
                          </a:solidFill>
                          <a:latin typeface="宋体"/>
                          <a:cs typeface="宋体"/>
                        </a:rPr>
                        <a:t>字存储器的</a:t>
                      </a:r>
                      <a:r>
                        <a:rPr dirty="0" sz="1600" spc="-10" b="1">
                          <a:solidFill>
                            <a:srgbClr val="40458B"/>
                          </a:solidFill>
                          <a:latin typeface="Times New Roman"/>
                          <a:cs typeface="Times New Roman"/>
                        </a:rPr>
                        <a:t>8</a:t>
                      </a:r>
                      <a:r>
                        <a:rPr dirty="0" sz="1600" spc="-30" b="1">
                          <a:solidFill>
                            <a:srgbClr val="40458B"/>
                          </a:solidFill>
                          <a:latin typeface="宋体"/>
                          <a:cs typeface="宋体"/>
                        </a:rPr>
                        <a:t>台处理机，</a:t>
                      </a:r>
                      <a:r>
                        <a:rPr dirty="0" sz="1600" spc="-20" b="1">
                          <a:solidFill>
                            <a:srgbClr val="40458B"/>
                          </a:solidFill>
                          <a:latin typeface="Times New Roman"/>
                          <a:cs typeface="Times New Roman"/>
                        </a:rPr>
                        <a:t>6ns</a:t>
                      </a:r>
                      <a:r>
                        <a:rPr dirty="0" sz="1600" spc="-20" b="1">
                          <a:solidFill>
                            <a:srgbClr val="40458B"/>
                          </a:solidFill>
                          <a:latin typeface="宋体"/>
                          <a:cs typeface="宋体"/>
                        </a:rPr>
                        <a:t>， </a:t>
                      </a:r>
                      <a:r>
                        <a:rPr dirty="0" sz="1600" b="1">
                          <a:solidFill>
                            <a:srgbClr val="40458B"/>
                          </a:solidFill>
                          <a:latin typeface="Times New Roman"/>
                          <a:cs typeface="Times New Roman"/>
                        </a:rPr>
                        <a:t>CF77</a:t>
                      </a:r>
                      <a:r>
                        <a:rPr dirty="0" sz="1600" spc="-35" b="1">
                          <a:solidFill>
                            <a:srgbClr val="40458B"/>
                          </a:solidFill>
                          <a:latin typeface="Times New Roman"/>
                          <a:cs typeface="Times New Roman"/>
                        </a:rPr>
                        <a:t> </a:t>
                      </a:r>
                      <a:r>
                        <a:rPr dirty="0" sz="1600" spc="-25" b="1">
                          <a:solidFill>
                            <a:srgbClr val="40458B"/>
                          </a:solidFill>
                          <a:latin typeface="Times New Roman"/>
                          <a:cs typeface="Times New Roman"/>
                        </a:rPr>
                        <a:t>5.0</a:t>
                      </a:r>
                      <a:endParaRPr sz="1600">
                        <a:latin typeface="Times New Roman"/>
                        <a:cs typeface="Times New Roman"/>
                      </a:endParaRPr>
                    </a:p>
                  </a:txBody>
                  <a:tcPr marL="0" marR="0" marB="0" marT="71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450"/>
                        </a:spcBef>
                      </a:pPr>
                      <a:r>
                        <a:rPr dirty="0" sz="1600" spc="-25" b="1">
                          <a:solidFill>
                            <a:srgbClr val="40458B"/>
                          </a:solidFill>
                          <a:latin typeface="Times New Roman"/>
                          <a:cs typeface="Times New Roman"/>
                        </a:rPr>
                        <a:t>X-</a:t>
                      </a:r>
                      <a:r>
                        <a:rPr dirty="0" sz="1600" spc="-20" b="1">
                          <a:solidFill>
                            <a:srgbClr val="40458B"/>
                          </a:solidFill>
                          <a:latin typeface="Times New Roman"/>
                          <a:cs typeface="Times New Roman"/>
                        </a:rPr>
                        <a:t>MP</a:t>
                      </a:r>
                      <a:r>
                        <a:rPr dirty="0" sz="1600" spc="-35" b="1">
                          <a:solidFill>
                            <a:srgbClr val="40458B"/>
                          </a:solidFill>
                          <a:latin typeface="宋体"/>
                          <a:cs typeface="宋体"/>
                        </a:rPr>
                        <a:t>的改进型</a:t>
                      </a:r>
                      <a:endParaRPr sz="1600">
                        <a:latin typeface="宋体"/>
                        <a:cs typeface="宋体"/>
                      </a:endParaRPr>
                    </a:p>
                  </a:txBody>
                  <a:tcPr marL="0" marR="0" marB="0" marT="1841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79450">
                <a:tc>
                  <a:txBody>
                    <a:bodyPr/>
                    <a:lstStyle/>
                    <a:p>
                      <a:pPr algn="ctr">
                        <a:lnSpc>
                          <a:spcPct val="100000"/>
                        </a:lnSpc>
                        <a:spcBef>
                          <a:spcPts val="1670"/>
                        </a:spcBef>
                      </a:pPr>
                      <a:r>
                        <a:rPr dirty="0" sz="1600" b="1">
                          <a:solidFill>
                            <a:srgbClr val="D50092"/>
                          </a:solidFill>
                          <a:latin typeface="Times New Roman"/>
                          <a:cs typeface="Times New Roman"/>
                        </a:rPr>
                        <a:t>Cray</a:t>
                      </a:r>
                      <a:r>
                        <a:rPr dirty="0" sz="1600" spc="-75" b="1">
                          <a:solidFill>
                            <a:srgbClr val="D50092"/>
                          </a:solidFill>
                          <a:latin typeface="Times New Roman"/>
                          <a:cs typeface="Times New Roman"/>
                        </a:rPr>
                        <a:t> </a:t>
                      </a:r>
                      <a:r>
                        <a:rPr dirty="0" sz="1600" spc="-85" b="1">
                          <a:solidFill>
                            <a:srgbClr val="D50092"/>
                          </a:solidFill>
                          <a:latin typeface="Times New Roman"/>
                          <a:cs typeface="Times New Roman"/>
                        </a:rPr>
                        <a:t>Y-</a:t>
                      </a:r>
                      <a:r>
                        <a:rPr dirty="0" sz="1600" spc="-10" b="1">
                          <a:solidFill>
                            <a:srgbClr val="D50092"/>
                          </a:solidFill>
                          <a:latin typeface="Times New Roman"/>
                          <a:cs typeface="Times New Roman"/>
                        </a:rPr>
                        <a:t>MP</a:t>
                      </a:r>
                      <a:r>
                        <a:rPr dirty="0" sz="1600" spc="-90" b="1">
                          <a:solidFill>
                            <a:srgbClr val="D50092"/>
                          </a:solidFill>
                          <a:latin typeface="Times New Roman"/>
                          <a:cs typeface="Times New Roman"/>
                        </a:rPr>
                        <a:t> </a:t>
                      </a:r>
                      <a:r>
                        <a:rPr dirty="0" sz="1600" spc="-10" b="1">
                          <a:solidFill>
                            <a:srgbClr val="D50092"/>
                          </a:solidFill>
                          <a:latin typeface="Times New Roman"/>
                          <a:cs typeface="Times New Roman"/>
                        </a:rPr>
                        <a:t>C-</a:t>
                      </a:r>
                      <a:r>
                        <a:rPr dirty="0" sz="1600" spc="-25" b="1">
                          <a:solidFill>
                            <a:srgbClr val="D50092"/>
                          </a:solidFill>
                          <a:latin typeface="Times New Roman"/>
                          <a:cs typeface="Times New Roman"/>
                        </a:rPr>
                        <a:t>90</a:t>
                      </a:r>
                      <a:endParaRPr sz="1600">
                        <a:latin typeface="Times New Roman"/>
                        <a:cs typeface="Times New Roman"/>
                      </a:endParaRPr>
                    </a:p>
                  </a:txBody>
                  <a:tcPr marL="0" marR="0" marB="0" marT="2120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85"/>
                        </a:spcBef>
                      </a:pPr>
                      <a:r>
                        <a:rPr dirty="0" sz="1600" spc="-10" b="1">
                          <a:solidFill>
                            <a:srgbClr val="40458B"/>
                          </a:solidFill>
                          <a:latin typeface="Times New Roman"/>
                          <a:cs typeface="Times New Roman"/>
                        </a:rPr>
                        <a:t>1991</a:t>
                      </a:r>
                      <a:r>
                        <a:rPr dirty="0" sz="1600" spc="-50" b="1">
                          <a:solidFill>
                            <a:srgbClr val="40458B"/>
                          </a:solidFill>
                          <a:latin typeface="宋体"/>
                          <a:cs typeface="宋体"/>
                        </a:rPr>
                        <a:t>年</a:t>
                      </a:r>
                      <a:endParaRPr sz="1600">
                        <a:latin typeface="宋体"/>
                        <a:cs typeface="宋体"/>
                      </a:endParaRPr>
                    </a:p>
                  </a:txBody>
                  <a:tcPr marL="0" marR="0" marB="0" marT="2139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172085">
                        <a:lnSpc>
                          <a:spcPct val="100000"/>
                        </a:lnSpc>
                        <a:spcBef>
                          <a:spcPts val="720"/>
                        </a:spcBef>
                      </a:pPr>
                      <a:r>
                        <a:rPr dirty="0" sz="1600" spc="-30" b="1">
                          <a:solidFill>
                            <a:srgbClr val="40458B"/>
                          </a:solidFill>
                          <a:latin typeface="宋体"/>
                          <a:cs typeface="宋体"/>
                        </a:rPr>
                        <a:t>每台处理机</a:t>
                      </a:r>
                      <a:r>
                        <a:rPr dirty="0" sz="1600" spc="-10" b="1">
                          <a:solidFill>
                            <a:srgbClr val="40458B"/>
                          </a:solidFill>
                          <a:latin typeface="Times New Roman"/>
                          <a:cs typeface="Times New Roman"/>
                        </a:rPr>
                        <a:t>2</a:t>
                      </a:r>
                      <a:r>
                        <a:rPr dirty="0" sz="1600" spc="-30" b="1">
                          <a:solidFill>
                            <a:srgbClr val="40458B"/>
                          </a:solidFill>
                          <a:latin typeface="宋体"/>
                          <a:cs typeface="宋体"/>
                        </a:rPr>
                        <a:t>条向量流水线，</a:t>
                      </a:r>
                      <a:r>
                        <a:rPr dirty="0" sz="1600" spc="-20" b="1">
                          <a:solidFill>
                            <a:srgbClr val="40458B"/>
                          </a:solidFill>
                          <a:latin typeface="Times New Roman"/>
                          <a:cs typeface="Times New Roman"/>
                        </a:rPr>
                        <a:t>16</a:t>
                      </a:r>
                      <a:r>
                        <a:rPr dirty="0" sz="1600" spc="-40" b="1">
                          <a:solidFill>
                            <a:srgbClr val="40458B"/>
                          </a:solidFill>
                          <a:latin typeface="宋体"/>
                          <a:cs typeface="宋体"/>
                        </a:rPr>
                        <a:t>台处理</a:t>
                      </a:r>
                      <a:r>
                        <a:rPr dirty="0" sz="1600" spc="-20" b="1">
                          <a:solidFill>
                            <a:srgbClr val="40458B"/>
                          </a:solidFill>
                          <a:latin typeface="宋体"/>
                          <a:cs typeface="宋体"/>
                        </a:rPr>
                        <a:t>机，</a:t>
                      </a:r>
                      <a:r>
                        <a:rPr dirty="0" sz="1600" spc="-10" b="1">
                          <a:solidFill>
                            <a:srgbClr val="40458B"/>
                          </a:solidFill>
                          <a:latin typeface="Times New Roman"/>
                          <a:cs typeface="Times New Roman"/>
                        </a:rPr>
                        <a:t>4.2ns</a:t>
                      </a:r>
                      <a:r>
                        <a:rPr dirty="0" sz="1600" spc="-10" b="1">
                          <a:solidFill>
                            <a:srgbClr val="40458B"/>
                          </a:solidFill>
                          <a:latin typeface="宋体"/>
                          <a:cs typeface="宋体"/>
                        </a:rPr>
                        <a:t>，</a:t>
                      </a:r>
                      <a:r>
                        <a:rPr dirty="0" sz="1600" spc="-10" b="1">
                          <a:solidFill>
                            <a:srgbClr val="40458B"/>
                          </a:solidFill>
                          <a:latin typeface="Times New Roman"/>
                          <a:cs typeface="Times New Roman"/>
                        </a:rPr>
                        <a:t>UNICOS/CF77</a:t>
                      </a:r>
                      <a:r>
                        <a:rPr dirty="0" sz="1600" spc="5" b="1">
                          <a:solidFill>
                            <a:srgbClr val="40458B"/>
                          </a:solidFill>
                          <a:latin typeface="Times New Roman"/>
                          <a:cs typeface="Times New Roman"/>
                        </a:rPr>
                        <a:t> </a:t>
                      </a:r>
                      <a:r>
                        <a:rPr dirty="0" sz="1600" spc="-25" b="1">
                          <a:solidFill>
                            <a:srgbClr val="40458B"/>
                          </a:solidFill>
                          <a:latin typeface="Times New Roman"/>
                          <a:cs typeface="Times New Roman"/>
                        </a:rPr>
                        <a:t>5.0</a:t>
                      </a:r>
                      <a:endParaRPr sz="1600">
                        <a:latin typeface="Times New Roman"/>
                        <a:cs typeface="Times New Roman"/>
                      </a:endParaRPr>
                    </a:p>
                  </a:txBody>
                  <a:tcPr marL="0" marR="0" marB="0" marT="914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685"/>
                        </a:spcBef>
                      </a:pPr>
                      <a:r>
                        <a:rPr dirty="0" sz="1600" spc="-20" b="1">
                          <a:solidFill>
                            <a:srgbClr val="40458B"/>
                          </a:solidFill>
                          <a:latin typeface="宋体"/>
                          <a:cs typeface="宋体"/>
                        </a:rPr>
                        <a:t>最大的</a:t>
                      </a:r>
                      <a:r>
                        <a:rPr dirty="0" sz="1600" spc="-10" b="1">
                          <a:solidFill>
                            <a:srgbClr val="40458B"/>
                          </a:solidFill>
                          <a:latin typeface="Times New Roman"/>
                          <a:cs typeface="Times New Roman"/>
                        </a:rPr>
                        <a:t>Cray</a:t>
                      </a:r>
                      <a:r>
                        <a:rPr dirty="0" sz="1600" spc="-35" b="1">
                          <a:solidFill>
                            <a:srgbClr val="40458B"/>
                          </a:solidFill>
                          <a:latin typeface="宋体"/>
                          <a:cs typeface="宋体"/>
                        </a:rPr>
                        <a:t>机器</a:t>
                      </a:r>
                      <a:endParaRPr sz="1600">
                        <a:latin typeface="宋体"/>
                        <a:cs typeface="宋体"/>
                      </a:endParaRPr>
                    </a:p>
                  </a:txBody>
                  <a:tcPr marL="0" marR="0" marB="0" marT="2139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83895">
                <a:tc>
                  <a:txBody>
                    <a:bodyPr/>
                    <a:lstStyle/>
                    <a:p>
                      <a:pPr algn="ctr">
                        <a:lnSpc>
                          <a:spcPct val="100000"/>
                        </a:lnSpc>
                        <a:spcBef>
                          <a:spcPts val="1689"/>
                        </a:spcBef>
                      </a:pPr>
                      <a:r>
                        <a:rPr dirty="0" sz="1600" b="1">
                          <a:solidFill>
                            <a:srgbClr val="D50092"/>
                          </a:solidFill>
                          <a:latin typeface="Times New Roman"/>
                          <a:cs typeface="Times New Roman"/>
                        </a:rPr>
                        <a:t>CDC</a:t>
                      </a:r>
                      <a:r>
                        <a:rPr dirty="0" sz="1600" spc="-35" b="1">
                          <a:solidFill>
                            <a:srgbClr val="D50092"/>
                          </a:solidFill>
                          <a:latin typeface="Times New Roman"/>
                          <a:cs typeface="Times New Roman"/>
                        </a:rPr>
                        <a:t> </a:t>
                      </a:r>
                      <a:r>
                        <a:rPr dirty="0" sz="1600" b="1">
                          <a:solidFill>
                            <a:srgbClr val="D50092"/>
                          </a:solidFill>
                          <a:latin typeface="Times New Roman"/>
                          <a:cs typeface="Times New Roman"/>
                        </a:rPr>
                        <a:t>Cyber</a:t>
                      </a:r>
                      <a:r>
                        <a:rPr dirty="0" sz="1600" spc="-50" b="1">
                          <a:solidFill>
                            <a:srgbClr val="D50092"/>
                          </a:solidFill>
                          <a:latin typeface="Times New Roman"/>
                          <a:cs typeface="Times New Roman"/>
                        </a:rPr>
                        <a:t> </a:t>
                      </a:r>
                      <a:r>
                        <a:rPr dirty="0" sz="1600" spc="-25" b="1">
                          <a:solidFill>
                            <a:srgbClr val="D50092"/>
                          </a:solidFill>
                          <a:latin typeface="Times New Roman"/>
                          <a:cs typeface="Times New Roman"/>
                        </a:rPr>
                        <a:t>205</a:t>
                      </a:r>
                      <a:endParaRPr sz="1600">
                        <a:latin typeface="Times New Roman"/>
                        <a:cs typeface="Times New Roman"/>
                      </a:endParaRPr>
                    </a:p>
                  </a:txBody>
                  <a:tcPr marL="0" marR="0" marB="0" marT="21462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700"/>
                        </a:spcBef>
                      </a:pPr>
                      <a:r>
                        <a:rPr dirty="0" sz="1600" spc="-10" b="1">
                          <a:solidFill>
                            <a:srgbClr val="40458B"/>
                          </a:solidFill>
                          <a:latin typeface="Times New Roman"/>
                          <a:cs typeface="Times New Roman"/>
                        </a:rPr>
                        <a:t>1982</a:t>
                      </a:r>
                      <a:r>
                        <a:rPr dirty="0" sz="1600" spc="-50" b="1">
                          <a:solidFill>
                            <a:srgbClr val="40458B"/>
                          </a:solidFill>
                          <a:latin typeface="宋体"/>
                          <a:cs typeface="宋体"/>
                        </a:rPr>
                        <a:t>年</a:t>
                      </a:r>
                      <a:endParaRPr sz="1600">
                        <a:latin typeface="宋体"/>
                        <a:cs typeface="宋体"/>
                      </a:endParaRPr>
                    </a:p>
                  </a:txBody>
                  <a:tcPr marL="0" marR="0" marB="0" marT="215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594360">
                        <a:lnSpc>
                          <a:spcPct val="100000"/>
                        </a:lnSpc>
                        <a:spcBef>
                          <a:spcPts val="740"/>
                        </a:spcBef>
                      </a:pPr>
                      <a:r>
                        <a:rPr dirty="0" sz="1600" spc="-30" b="1">
                          <a:solidFill>
                            <a:srgbClr val="40458B"/>
                          </a:solidFill>
                          <a:latin typeface="宋体"/>
                          <a:cs typeface="宋体"/>
                        </a:rPr>
                        <a:t>有</a:t>
                      </a:r>
                      <a:r>
                        <a:rPr dirty="0" sz="1600" spc="-10" b="1">
                          <a:solidFill>
                            <a:srgbClr val="40458B"/>
                          </a:solidFill>
                          <a:latin typeface="Times New Roman"/>
                          <a:cs typeface="Times New Roman"/>
                        </a:rPr>
                        <a:t>4</a:t>
                      </a:r>
                      <a:r>
                        <a:rPr dirty="0" sz="1600" spc="-30" b="1">
                          <a:solidFill>
                            <a:srgbClr val="40458B"/>
                          </a:solidFill>
                          <a:latin typeface="宋体"/>
                          <a:cs typeface="宋体"/>
                        </a:rPr>
                        <a:t>条流水线的单处理机，</a:t>
                      </a:r>
                      <a:r>
                        <a:rPr dirty="0" sz="1600" spc="-10" b="1">
                          <a:solidFill>
                            <a:srgbClr val="40458B"/>
                          </a:solidFill>
                          <a:latin typeface="Times New Roman"/>
                          <a:cs typeface="Times New Roman"/>
                        </a:rPr>
                        <a:t>20ns</a:t>
                      </a:r>
                      <a:r>
                        <a:rPr dirty="0" sz="1600" spc="-10" b="1">
                          <a:solidFill>
                            <a:srgbClr val="40458B"/>
                          </a:solidFill>
                          <a:latin typeface="宋体"/>
                          <a:cs typeface="宋体"/>
                        </a:rPr>
                        <a:t>，</a:t>
                      </a:r>
                      <a:r>
                        <a:rPr dirty="0" sz="1600" spc="-30" b="1">
                          <a:solidFill>
                            <a:srgbClr val="40458B"/>
                          </a:solidFill>
                          <a:latin typeface="宋体"/>
                          <a:cs typeface="宋体"/>
                        </a:rPr>
                        <a:t>虚拟</a:t>
                      </a:r>
                      <a:r>
                        <a:rPr dirty="0" sz="1600" spc="-10" b="1">
                          <a:solidFill>
                            <a:srgbClr val="40458B"/>
                          </a:solidFill>
                          <a:latin typeface="Times New Roman"/>
                          <a:cs typeface="Times New Roman"/>
                        </a:rPr>
                        <a:t>OS/FTN200</a:t>
                      </a:r>
                      <a:endParaRPr sz="1600">
                        <a:latin typeface="Times New Roman"/>
                        <a:cs typeface="Times New Roman"/>
                      </a:endParaRPr>
                    </a:p>
                  </a:txBody>
                  <a:tcPr marL="0" marR="0" marB="0" marT="939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45745">
                        <a:lnSpc>
                          <a:spcPct val="100000"/>
                        </a:lnSpc>
                        <a:spcBef>
                          <a:spcPts val="740"/>
                        </a:spcBef>
                      </a:pPr>
                      <a:r>
                        <a:rPr dirty="0" sz="1600" spc="-30" b="1">
                          <a:solidFill>
                            <a:srgbClr val="40458B"/>
                          </a:solidFill>
                          <a:latin typeface="宋体"/>
                          <a:cs typeface="宋体"/>
                        </a:rPr>
                        <a:t>存储器</a:t>
                      </a:r>
                      <a:r>
                        <a:rPr dirty="0" sz="1600" spc="-25" b="1">
                          <a:solidFill>
                            <a:srgbClr val="40458B"/>
                          </a:solidFill>
                          <a:latin typeface="Times New Roman"/>
                          <a:cs typeface="Times New Roman"/>
                        </a:rPr>
                        <a:t>-</a:t>
                      </a:r>
                      <a:r>
                        <a:rPr dirty="0" sz="1600" spc="-35" b="1">
                          <a:solidFill>
                            <a:srgbClr val="40458B"/>
                          </a:solidFill>
                          <a:latin typeface="宋体"/>
                          <a:cs typeface="宋体"/>
                        </a:rPr>
                        <a:t>存储器系统结</a:t>
                      </a:r>
                      <a:r>
                        <a:rPr dirty="0" sz="1600" spc="-50" b="1">
                          <a:solidFill>
                            <a:srgbClr val="40458B"/>
                          </a:solidFill>
                          <a:latin typeface="宋体"/>
                          <a:cs typeface="宋体"/>
                        </a:rPr>
                        <a:t>构</a:t>
                      </a:r>
                      <a:endParaRPr sz="1600">
                        <a:latin typeface="宋体"/>
                        <a:cs typeface="宋体"/>
                      </a:endParaRPr>
                    </a:p>
                  </a:txBody>
                  <a:tcPr marL="0" marR="0" marB="0" marT="939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object 10"/>
          <p:cNvSpPr txBox="1">
            <a:spLocks noGrp="1"/>
          </p:cNvSpPr>
          <p:nvPr>
            <p:ph type="title"/>
          </p:nvPr>
        </p:nvSpPr>
        <p:spPr>
          <a:xfrm>
            <a:off x="1028191" y="145745"/>
            <a:ext cx="3570604" cy="514350"/>
          </a:xfrm>
          <a:prstGeom prst="rect"/>
        </p:spPr>
        <p:txBody>
          <a:bodyPr wrap="square" lIns="0" tIns="13335" rIns="0" bIns="0" rtlCol="0" vert="horz">
            <a:spAutoFit/>
          </a:bodyPr>
          <a:lstStyle/>
          <a:p>
            <a:pPr marL="12700">
              <a:lnSpc>
                <a:spcPct val="100000"/>
              </a:lnSpc>
              <a:spcBef>
                <a:spcPts val="105"/>
              </a:spcBef>
            </a:pPr>
            <a:r>
              <a:rPr dirty="0">
                <a:latin typeface="Tahoma"/>
                <a:cs typeface="Tahoma"/>
              </a:rPr>
              <a:t>4.5</a:t>
            </a:r>
            <a:r>
              <a:rPr dirty="0" spc="-35">
                <a:latin typeface="Tahoma"/>
                <a:cs typeface="Tahoma"/>
              </a:rPr>
              <a:t> </a:t>
            </a:r>
            <a:r>
              <a:rPr dirty="0" spc="-15"/>
              <a:t>向量处理机实例</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79/72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394841" y="107695"/>
            <a:ext cx="3684904" cy="513715"/>
          </a:xfrm>
          <a:prstGeom prst="rect"/>
        </p:spPr>
        <p:txBody>
          <a:bodyPr wrap="square" lIns="0" tIns="12700" rIns="0" bIns="0" rtlCol="0" vert="horz">
            <a:spAutoFit/>
          </a:bodyPr>
          <a:lstStyle/>
          <a:p>
            <a:pPr marL="12700">
              <a:lnSpc>
                <a:spcPct val="100000"/>
              </a:lnSpc>
              <a:spcBef>
                <a:spcPts val="100"/>
              </a:spcBef>
            </a:pPr>
            <a:r>
              <a:rPr dirty="0"/>
              <a:t>4.5</a:t>
            </a:r>
            <a:r>
              <a:rPr dirty="0" spc="-15"/>
              <a:t> 向量处理机实例</a:t>
            </a:r>
          </a:p>
        </p:txBody>
      </p:sp>
      <p:graphicFrame>
        <p:nvGraphicFramePr>
          <p:cNvPr id="10" name="object 10" descr=""/>
          <p:cNvGraphicFramePr>
            <a:graphicFrameLocks noGrp="1"/>
          </p:cNvGraphicFramePr>
          <p:nvPr/>
        </p:nvGraphicFramePr>
        <p:xfrm>
          <a:off x="319087" y="1909826"/>
          <a:ext cx="8439785" cy="2915919"/>
        </p:xfrm>
        <a:graphic>
          <a:graphicData uri="http://schemas.openxmlformats.org/drawingml/2006/table">
            <a:tbl>
              <a:tblPr firstRow="1" bandRow="1">
                <a:tableStyleId>{2D5ABB26-0587-4C30-8999-92F81FD0307C}</a:tableStyleId>
              </a:tblPr>
              <a:tblGrid>
                <a:gridCol w="1773555"/>
                <a:gridCol w="1035684"/>
                <a:gridCol w="3397885"/>
                <a:gridCol w="2145665"/>
              </a:tblGrid>
              <a:tr h="579120">
                <a:tc>
                  <a:txBody>
                    <a:bodyPr/>
                    <a:lstStyle/>
                    <a:p>
                      <a:pPr algn="ctr">
                        <a:lnSpc>
                          <a:spcPct val="100000"/>
                        </a:lnSpc>
                        <a:spcBef>
                          <a:spcPts val="1280"/>
                        </a:spcBef>
                      </a:pPr>
                      <a:r>
                        <a:rPr dirty="0" sz="1600" spc="-35" b="1">
                          <a:solidFill>
                            <a:srgbClr val="E14B04"/>
                          </a:solidFill>
                          <a:latin typeface="宋体"/>
                          <a:cs typeface="宋体"/>
                        </a:rPr>
                        <a:t>系统型号</a:t>
                      </a:r>
                      <a:endParaRPr sz="1600">
                        <a:latin typeface="宋体"/>
                        <a:cs typeface="宋体"/>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0"/>
                        </a:spcBef>
                      </a:pPr>
                      <a:r>
                        <a:rPr dirty="0" sz="1600" spc="-35" b="1">
                          <a:solidFill>
                            <a:srgbClr val="E14B04"/>
                          </a:solidFill>
                          <a:latin typeface="宋体"/>
                          <a:cs typeface="宋体"/>
                        </a:rPr>
                        <a:t>推出时间</a:t>
                      </a:r>
                      <a:endParaRPr sz="1600">
                        <a:latin typeface="宋体"/>
                        <a:cs typeface="宋体"/>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320"/>
                        </a:spcBef>
                      </a:pPr>
                      <a:r>
                        <a:rPr dirty="0" sz="1600" spc="-35" b="1">
                          <a:solidFill>
                            <a:srgbClr val="E14B04"/>
                          </a:solidFill>
                          <a:latin typeface="宋体"/>
                          <a:cs typeface="宋体"/>
                        </a:rPr>
                        <a:t>最大配置，时钟周期，</a:t>
                      </a:r>
                      <a:endParaRPr sz="1600">
                        <a:latin typeface="宋体"/>
                        <a:cs typeface="宋体"/>
                      </a:endParaRPr>
                    </a:p>
                    <a:p>
                      <a:pPr algn="ctr">
                        <a:lnSpc>
                          <a:spcPct val="100000"/>
                        </a:lnSpc>
                      </a:pPr>
                      <a:r>
                        <a:rPr dirty="0" sz="1600" spc="-15" b="1">
                          <a:solidFill>
                            <a:srgbClr val="E14B04"/>
                          </a:solidFill>
                          <a:latin typeface="宋体"/>
                          <a:cs typeface="宋体"/>
                        </a:rPr>
                        <a:t>操作系统</a:t>
                      </a:r>
                      <a:r>
                        <a:rPr dirty="0" sz="1600" spc="-20" b="1">
                          <a:solidFill>
                            <a:srgbClr val="E14B04"/>
                          </a:solidFill>
                          <a:latin typeface="Times New Roman"/>
                          <a:cs typeface="Times New Roman"/>
                        </a:rPr>
                        <a:t>/</a:t>
                      </a:r>
                      <a:r>
                        <a:rPr dirty="0" sz="1600" spc="-30" b="1">
                          <a:solidFill>
                            <a:srgbClr val="E14B04"/>
                          </a:solidFill>
                          <a:latin typeface="宋体"/>
                          <a:cs typeface="宋体"/>
                        </a:rPr>
                        <a:t>编译系统</a:t>
                      </a:r>
                      <a:endParaRPr sz="1600">
                        <a:latin typeface="宋体"/>
                        <a:cs typeface="宋体"/>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280"/>
                        </a:spcBef>
                      </a:pPr>
                      <a:r>
                        <a:rPr dirty="0" sz="1600" spc="-35" b="1">
                          <a:solidFill>
                            <a:srgbClr val="E14B04"/>
                          </a:solidFill>
                          <a:latin typeface="宋体"/>
                          <a:cs typeface="宋体"/>
                        </a:rPr>
                        <a:t>特色和要点</a:t>
                      </a:r>
                      <a:endParaRPr sz="1600">
                        <a:latin typeface="宋体"/>
                        <a:cs typeface="宋体"/>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55600">
                <a:tc>
                  <a:txBody>
                    <a:bodyPr/>
                    <a:lstStyle/>
                    <a:p>
                      <a:pPr algn="ctr">
                        <a:lnSpc>
                          <a:spcPct val="100000"/>
                        </a:lnSpc>
                        <a:spcBef>
                          <a:spcPts val="390"/>
                        </a:spcBef>
                      </a:pPr>
                      <a:r>
                        <a:rPr dirty="0" sz="1600" spc="-45" b="1">
                          <a:solidFill>
                            <a:srgbClr val="D50092"/>
                          </a:solidFill>
                          <a:latin typeface="Times New Roman"/>
                          <a:cs typeface="Times New Roman"/>
                        </a:rPr>
                        <a:t>ETA</a:t>
                      </a:r>
                      <a:r>
                        <a:rPr dirty="0" sz="1600" spc="-85" b="1">
                          <a:solidFill>
                            <a:srgbClr val="D50092"/>
                          </a:solidFill>
                          <a:latin typeface="Times New Roman"/>
                          <a:cs typeface="Times New Roman"/>
                        </a:rPr>
                        <a:t> </a:t>
                      </a:r>
                      <a:r>
                        <a:rPr dirty="0" sz="1600" spc="-25" b="1">
                          <a:solidFill>
                            <a:srgbClr val="D50092"/>
                          </a:solidFill>
                          <a:latin typeface="Times New Roman"/>
                          <a:cs typeface="Times New Roman"/>
                        </a:rPr>
                        <a:t>10E</a:t>
                      </a:r>
                      <a:endParaRPr sz="1600">
                        <a:latin typeface="Times New Roman"/>
                        <a:cs typeface="Times New Roman"/>
                      </a:endParaRPr>
                    </a:p>
                  </a:txBody>
                  <a:tcPr marL="0" marR="0" marB="0" marT="495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5"/>
                        </a:spcBef>
                      </a:pPr>
                      <a:r>
                        <a:rPr dirty="0" sz="1600" spc="-10" b="1">
                          <a:solidFill>
                            <a:srgbClr val="40458B"/>
                          </a:solidFill>
                          <a:latin typeface="Times New Roman"/>
                          <a:cs typeface="Times New Roman"/>
                        </a:rPr>
                        <a:t>1985</a:t>
                      </a:r>
                      <a:r>
                        <a:rPr dirty="0" sz="1600" spc="-50" b="1">
                          <a:solidFill>
                            <a:srgbClr val="40458B"/>
                          </a:solidFill>
                          <a:latin typeface="宋体"/>
                          <a:cs typeface="宋体"/>
                        </a:rPr>
                        <a:t>年</a:t>
                      </a:r>
                      <a:endParaRPr sz="1600">
                        <a:latin typeface="宋体"/>
                        <a:cs typeface="宋体"/>
                      </a:endParaRPr>
                    </a:p>
                  </a:txBody>
                  <a:tcPr marL="0" marR="0" marB="0" marT="514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05"/>
                        </a:spcBef>
                      </a:pPr>
                      <a:r>
                        <a:rPr dirty="0" sz="1600" spc="-30" b="1">
                          <a:solidFill>
                            <a:srgbClr val="40458B"/>
                          </a:solidFill>
                          <a:latin typeface="宋体"/>
                          <a:cs typeface="宋体"/>
                        </a:rPr>
                        <a:t>单处理机，</a:t>
                      </a:r>
                      <a:r>
                        <a:rPr dirty="0" sz="1600" spc="-30" b="1">
                          <a:solidFill>
                            <a:srgbClr val="40458B"/>
                          </a:solidFill>
                          <a:latin typeface="Times New Roman"/>
                          <a:cs typeface="Times New Roman"/>
                        </a:rPr>
                        <a:t>10.5ns</a:t>
                      </a:r>
                      <a:r>
                        <a:rPr dirty="0" sz="1600" spc="-30" b="1">
                          <a:solidFill>
                            <a:srgbClr val="40458B"/>
                          </a:solidFill>
                          <a:latin typeface="宋体"/>
                          <a:cs typeface="宋体"/>
                        </a:rPr>
                        <a:t>，</a:t>
                      </a:r>
                      <a:r>
                        <a:rPr dirty="0" sz="1600" spc="-30" b="1">
                          <a:solidFill>
                            <a:srgbClr val="40458B"/>
                          </a:solidFill>
                          <a:latin typeface="Times New Roman"/>
                          <a:cs typeface="Times New Roman"/>
                        </a:rPr>
                        <a:t>ETAV/FTN</a:t>
                      </a:r>
                      <a:r>
                        <a:rPr dirty="0" sz="1600" spc="45" b="1">
                          <a:solidFill>
                            <a:srgbClr val="40458B"/>
                          </a:solidFill>
                          <a:latin typeface="Times New Roman"/>
                          <a:cs typeface="Times New Roman"/>
                        </a:rPr>
                        <a:t> </a:t>
                      </a:r>
                      <a:r>
                        <a:rPr dirty="0" sz="1600" spc="-25" b="1">
                          <a:solidFill>
                            <a:srgbClr val="40458B"/>
                          </a:solidFill>
                          <a:latin typeface="Times New Roman"/>
                          <a:cs typeface="Times New Roman"/>
                        </a:rPr>
                        <a:t>200</a:t>
                      </a:r>
                      <a:endParaRPr sz="1600">
                        <a:latin typeface="Times New Roman"/>
                        <a:cs typeface="Times New Roman"/>
                      </a:endParaRPr>
                    </a:p>
                  </a:txBody>
                  <a:tcPr marL="0" marR="0" marB="0" marT="514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R="36195">
                        <a:lnSpc>
                          <a:spcPct val="100000"/>
                        </a:lnSpc>
                        <a:spcBef>
                          <a:spcPts val="405"/>
                        </a:spcBef>
                      </a:pPr>
                      <a:r>
                        <a:rPr dirty="0" sz="1600" b="1">
                          <a:solidFill>
                            <a:srgbClr val="40458B"/>
                          </a:solidFill>
                          <a:latin typeface="Times New Roman"/>
                          <a:cs typeface="Times New Roman"/>
                        </a:rPr>
                        <a:t>Cyber</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205</a:t>
                      </a:r>
                      <a:r>
                        <a:rPr dirty="0" sz="1600" spc="-35" b="1">
                          <a:solidFill>
                            <a:srgbClr val="40458B"/>
                          </a:solidFill>
                          <a:latin typeface="宋体"/>
                          <a:cs typeface="宋体"/>
                        </a:rPr>
                        <a:t>的后继型号</a:t>
                      </a:r>
                      <a:endParaRPr sz="1600">
                        <a:latin typeface="宋体"/>
                        <a:cs typeface="宋体"/>
                      </a:endParaRPr>
                    </a:p>
                  </a:txBody>
                  <a:tcPr marL="0" marR="0" marB="0" marT="514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79120">
                <a:tc>
                  <a:txBody>
                    <a:bodyPr/>
                    <a:lstStyle/>
                    <a:p>
                      <a:pPr algn="ctr">
                        <a:lnSpc>
                          <a:spcPct val="100000"/>
                        </a:lnSpc>
                        <a:spcBef>
                          <a:spcPts val="1275"/>
                        </a:spcBef>
                      </a:pPr>
                      <a:r>
                        <a:rPr dirty="0" sz="1600" b="1">
                          <a:solidFill>
                            <a:srgbClr val="D50092"/>
                          </a:solidFill>
                          <a:latin typeface="Times New Roman"/>
                          <a:cs typeface="Times New Roman"/>
                        </a:rPr>
                        <a:t>NEC</a:t>
                      </a:r>
                      <a:r>
                        <a:rPr dirty="0" sz="1600" spc="10" b="1">
                          <a:solidFill>
                            <a:srgbClr val="D50092"/>
                          </a:solidFill>
                          <a:latin typeface="Times New Roman"/>
                          <a:cs typeface="Times New Roman"/>
                        </a:rPr>
                        <a:t> </a:t>
                      </a:r>
                      <a:r>
                        <a:rPr dirty="0" sz="1600" spc="-20" b="1">
                          <a:solidFill>
                            <a:srgbClr val="D50092"/>
                          </a:solidFill>
                          <a:latin typeface="Times New Roman"/>
                          <a:cs typeface="Times New Roman"/>
                        </a:rPr>
                        <a:t>SX-X/44</a:t>
                      </a:r>
                      <a:endParaRPr sz="1600">
                        <a:latin typeface="Times New Roman"/>
                        <a:cs typeface="Times New Roman"/>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600" spc="-10" b="1">
                          <a:solidFill>
                            <a:srgbClr val="40458B"/>
                          </a:solidFill>
                          <a:latin typeface="Times New Roman"/>
                          <a:cs typeface="Times New Roman"/>
                        </a:rPr>
                        <a:t>1991</a:t>
                      </a:r>
                      <a:r>
                        <a:rPr dirty="0" sz="1600" spc="-50" b="1">
                          <a:solidFill>
                            <a:srgbClr val="40458B"/>
                          </a:solidFill>
                          <a:latin typeface="宋体"/>
                          <a:cs typeface="宋体"/>
                        </a:rPr>
                        <a:t>年</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600" spc="-30" b="1">
                          <a:solidFill>
                            <a:srgbClr val="40458B"/>
                          </a:solidFill>
                          <a:latin typeface="宋体"/>
                          <a:cs typeface="宋体"/>
                        </a:rPr>
                        <a:t>每台处理机</a:t>
                      </a:r>
                      <a:r>
                        <a:rPr dirty="0" sz="1600" spc="-10" b="1">
                          <a:solidFill>
                            <a:srgbClr val="40458B"/>
                          </a:solidFill>
                          <a:latin typeface="Times New Roman"/>
                          <a:cs typeface="Times New Roman"/>
                        </a:rPr>
                        <a:t>4</a:t>
                      </a:r>
                      <a:r>
                        <a:rPr dirty="0" sz="1600" spc="-30" b="1">
                          <a:solidFill>
                            <a:srgbClr val="40458B"/>
                          </a:solidFill>
                          <a:latin typeface="宋体"/>
                          <a:cs typeface="宋体"/>
                        </a:rPr>
                        <a:t>组流水线，</a:t>
                      </a:r>
                      <a:r>
                        <a:rPr dirty="0" sz="1600" spc="-10" b="1">
                          <a:solidFill>
                            <a:srgbClr val="40458B"/>
                          </a:solidFill>
                          <a:latin typeface="Times New Roman"/>
                          <a:cs typeface="Times New Roman"/>
                        </a:rPr>
                        <a:t>4</a:t>
                      </a:r>
                      <a:r>
                        <a:rPr dirty="0" sz="1600" spc="-35" b="1">
                          <a:solidFill>
                            <a:srgbClr val="40458B"/>
                          </a:solidFill>
                          <a:latin typeface="宋体"/>
                          <a:cs typeface="宋体"/>
                        </a:rPr>
                        <a:t>台处理机，</a:t>
                      </a:r>
                      <a:endParaRPr sz="1600">
                        <a:latin typeface="宋体"/>
                        <a:cs typeface="宋体"/>
                      </a:endParaRPr>
                    </a:p>
                    <a:p>
                      <a:pPr marL="91440">
                        <a:lnSpc>
                          <a:spcPct val="100000"/>
                        </a:lnSpc>
                      </a:pPr>
                      <a:r>
                        <a:rPr dirty="0" sz="1600" spc="-10" b="1">
                          <a:solidFill>
                            <a:srgbClr val="40458B"/>
                          </a:solidFill>
                          <a:latin typeface="Times New Roman"/>
                          <a:cs typeface="Times New Roman"/>
                        </a:rPr>
                        <a:t>2.9ns</a:t>
                      </a:r>
                      <a:r>
                        <a:rPr dirty="0" sz="1600" spc="-10" b="1">
                          <a:solidFill>
                            <a:srgbClr val="40458B"/>
                          </a:solidFill>
                          <a:latin typeface="宋体"/>
                          <a:cs typeface="宋体"/>
                        </a:rPr>
                        <a:t>，</a:t>
                      </a:r>
                      <a:r>
                        <a:rPr dirty="0" sz="1600" spc="-10" b="1">
                          <a:solidFill>
                            <a:srgbClr val="40458B"/>
                          </a:solidFill>
                          <a:latin typeface="Times New Roman"/>
                          <a:cs typeface="Times New Roman"/>
                        </a:rPr>
                        <a:t>F77SX</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79120">
                <a:tc>
                  <a:txBody>
                    <a:bodyPr/>
                    <a:lstStyle/>
                    <a:p>
                      <a:pPr marL="416559" marR="411480" indent="160020">
                        <a:lnSpc>
                          <a:spcPct val="100000"/>
                        </a:lnSpc>
                        <a:spcBef>
                          <a:spcPts val="315"/>
                        </a:spcBef>
                      </a:pPr>
                      <a:r>
                        <a:rPr dirty="0" sz="1600" spc="-10" b="1">
                          <a:solidFill>
                            <a:srgbClr val="D50092"/>
                          </a:solidFill>
                          <a:latin typeface="Times New Roman"/>
                          <a:cs typeface="Times New Roman"/>
                        </a:rPr>
                        <a:t>Fujitsu VP2600/10</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600" spc="-10" b="1">
                          <a:solidFill>
                            <a:srgbClr val="40458B"/>
                          </a:solidFill>
                          <a:latin typeface="Times New Roman"/>
                          <a:cs typeface="Times New Roman"/>
                        </a:rPr>
                        <a:t>1991</a:t>
                      </a:r>
                      <a:r>
                        <a:rPr dirty="0" sz="1600" spc="-50" b="1">
                          <a:solidFill>
                            <a:srgbClr val="40458B"/>
                          </a:solidFill>
                          <a:latin typeface="宋体"/>
                          <a:cs typeface="宋体"/>
                        </a:rPr>
                        <a:t>年</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132080">
                        <a:lnSpc>
                          <a:spcPct val="100000"/>
                        </a:lnSpc>
                        <a:spcBef>
                          <a:spcPts val="325"/>
                        </a:spcBef>
                      </a:pPr>
                      <a:r>
                        <a:rPr dirty="0" sz="1600" spc="-10" b="1">
                          <a:solidFill>
                            <a:srgbClr val="40458B"/>
                          </a:solidFill>
                          <a:latin typeface="Times New Roman"/>
                          <a:cs typeface="Times New Roman"/>
                        </a:rPr>
                        <a:t>5</a:t>
                      </a:r>
                      <a:r>
                        <a:rPr dirty="0" sz="1600" spc="-35" b="1">
                          <a:solidFill>
                            <a:srgbClr val="40458B"/>
                          </a:solidFill>
                          <a:latin typeface="宋体"/>
                          <a:cs typeface="宋体"/>
                        </a:rPr>
                        <a:t>条流水线的单处理机和双标量处理</a:t>
                      </a:r>
                      <a:r>
                        <a:rPr dirty="0" sz="1600" spc="-25" b="1">
                          <a:solidFill>
                            <a:srgbClr val="40458B"/>
                          </a:solidFill>
                          <a:latin typeface="宋体"/>
                          <a:cs typeface="宋体"/>
                        </a:rPr>
                        <a:t>机，</a:t>
                      </a:r>
                      <a:r>
                        <a:rPr dirty="0" sz="1600" spc="-20" b="1">
                          <a:solidFill>
                            <a:srgbClr val="40458B"/>
                          </a:solidFill>
                          <a:latin typeface="Times New Roman"/>
                          <a:cs typeface="Times New Roman"/>
                        </a:rPr>
                        <a:t>3.2ns</a:t>
                      </a:r>
                      <a:r>
                        <a:rPr dirty="0" sz="1600" spc="-20" b="1">
                          <a:solidFill>
                            <a:srgbClr val="40458B"/>
                          </a:solidFill>
                          <a:latin typeface="宋体"/>
                          <a:cs typeface="宋体"/>
                        </a:rPr>
                        <a:t>，</a:t>
                      </a:r>
                      <a:r>
                        <a:rPr dirty="0" sz="1600" spc="-20" b="1">
                          <a:solidFill>
                            <a:srgbClr val="40458B"/>
                          </a:solidFill>
                          <a:latin typeface="Times New Roman"/>
                          <a:cs typeface="Times New Roman"/>
                        </a:rPr>
                        <a:t>MSP.EX/F77</a:t>
                      </a:r>
                      <a:r>
                        <a:rPr dirty="0" sz="1600" spc="50" b="1">
                          <a:solidFill>
                            <a:srgbClr val="40458B"/>
                          </a:solidFill>
                          <a:latin typeface="Times New Roman"/>
                          <a:cs typeface="Times New Roman"/>
                        </a:rPr>
                        <a:t> </a:t>
                      </a:r>
                      <a:r>
                        <a:rPr dirty="0" sz="1600" spc="-20" b="1">
                          <a:solidFill>
                            <a:srgbClr val="40458B"/>
                          </a:solidFill>
                          <a:latin typeface="Times New Roman"/>
                          <a:cs typeface="Times New Roman"/>
                        </a:rPr>
                        <a:t>EX/VP</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06375">
                        <a:lnSpc>
                          <a:spcPts val="1820"/>
                        </a:lnSpc>
                        <a:spcBef>
                          <a:spcPts val="565"/>
                        </a:spcBef>
                      </a:pPr>
                      <a:r>
                        <a:rPr dirty="0" sz="1600" spc="-35" b="1">
                          <a:solidFill>
                            <a:srgbClr val="40458B"/>
                          </a:solidFill>
                          <a:latin typeface="宋体"/>
                          <a:cs typeface="宋体"/>
                        </a:rPr>
                        <a:t>使用可重构微向量寄存器和屏蔽</a:t>
                      </a:r>
                      <a:endParaRPr sz="1600">
                        <a:latin typeface="宋体"/>
                        <a:cs typeface="宋体"/>
                      </a:endParaRPr>
                    </a:p>
                  </a:txBody>
                  <a:tcPr marL="0" marR="0" marB="0" marT="717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822960">
                <a:tc>
                  <a:txBody>
                    <a:bodyPr/>
                    <a:lstStyle/>
                    <a:p>
                      <a:pPr>
                        <a:lnSpc>
                          <a:spcPct val="100000"/>
                        </a:lnSpc>
                        <a:spcBef>
                          <a:spcPts val="395"/>
                        </a:spcBef>
                      </a:pPr>
                      <a:endParaRPr sz="1600">
                        <a:latin typeface="Times New Roman"/>
                        <a:cs typeface="Times New Roman"/>
                      </a:endParaRPr>
                    </a:p>
                    <a:p>
                      <a:pPr algn="ctr">
                        <a:lnSpc>
                          <a:spcPct val="100000"/>
                        </a:lnSpc>
                      </a:pPr>
                      <a:r>
                        <a:rPr dirty="0" sz="1600" b="1">
                          <a:solidFill>
                            <a:srgbClr val="D50092"/>
                          </a:solidFill>
                          <a:latin typeface="Times New Roman"/>
                          <a:cs typeface="Times New Roman"/>
                        </a:rPr>
                        <a:t>Hitachi</a:t>
                      </a:r>
                      <a:r>
                        <a:rPr dirty="0" sz="1600" spc="-40" b="1">
                          <a:solidFill>
                            <a:srgbClr val="D50092"/>
                          </a:solidFill>
                          <a:latin typeface="Times New Roman"/>
                          <a:cs typeface="Times New Roman"/>
                        </a:rPr>
                        <a:t> </a:t>
                      </a:r>
                      <a:r>
                        <a:rPr dirty="0" sz="1600" spc="-10" b="1">
                          <a:solidFill>
                            <a:srgbClr val="D50092"/>
                          </a:solidFill>
                          <a:latin typeface="Times New Roman"/>
                          <a:cs typeface="Times New Roman"/>
                        </a:rPr>
                        <a:t>820/80</a:t>
                      </a:r>
                      <a:endParaRPr sz="1600">
                        <a:latin typeface="Times New Roman"/>
                        <a:cs typeface="Times New Roman"/>
                      </a:endParaRPr>
                    </a:p>
                  </a:txBody>
                  <a:tcPr marL="0" marR="0" marB="0" marT="501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5"/>
                        </a:spcBef>
                      </a:pPr>
                      <a:endParaRPr sz="1600">
                        <a:latin typeface="Times New Roman"/>
                        <a:cs typeface="Times New Roman"/>
                      </a:endParaRPr>
                    </a:p>
                    <a:p>
                      <a:pPr algn="ctr">
                        <a:lnSpc>
                          <a:spcPct val="100000"/>
                        </a:lnSpc>
                      </a:pPr>
                      <a:r>
                        <a:rPr dirty="0" sz="1600" spc="-10" b="1">
                          <a:solidFill>
                            <a:srgbClr val="40458B"/>
                          </a:solidFill>
                          <a:latin typeface="Times New Roman"/>
                          <a:cs typeface="Times New Roman"/>
                        </a:rPr>
                        <a:t>1988</a:t>
                      </a:r>
                      <a:r>
                        <a:rPr dirty="0" sz="1600" spc="-50" b="1">
                          <a:solidFill>
                            <a:srgbClr val="40458B"/>
                          </a:solidFill>
                          <a:latin typeface="宋体"/>
                          <a:cs typeface="宋体"/>
                        </a:rPr>
                        <a:t>年</a:t>
                      </a:r>
                      <a:endParaRPr sz="1600">
                        <a:latin typeface="宋体"/>
                        <a:cs typeface="宋体"/>
                      </a:endParaRPr>
                    </a:p>
                  </a:txBody>
                  <a:tcPr marL="0" marR="0" marB="0" marT="514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213360">
                        <a:lnSpc>
                          <a:spcPct val="100000"/>
                        </a:lnSpc>
                        <a:spcBef>
                          <a:spcPts val="325"/>
                        </a:spcBef>
                      </a:pPr>
                      <a:r>
                        <a:rPr dirty="0" sz="1600" spc="-10" b="1">
                          <a:solidFill>
                            <a:srgbClr val="40458B"/>
                          </a:solidFill>
                          <a:latin typeface="Times New Roman"/>
                          <a:cs typeface="Times New Roman"/>
                        </a:rPr>
                        <a:t>512MB</a:t>
                      </a:r>
                      <a:r>
                        <a:rPr dirty="0" sz="1600" spc="-25" b="1">
                          <a:solidFill>
                            <a:srgbClr val="40458B"/>
                          </a:solidFill>
                          <a:latin typeface="宋体"/>
                          <a:cs typeface="宋体"/>
                        </a:rPr>
                        <a:t>存储器，</a:t>
                      </a:r>
                      <a:r>
                        <a:rPr dirty="0" sz="1600" spc="-10" b="1">
                          <a:solidFill>
                            <a:srgbClr val="40458B"/>
                          </a:solidFill>
                          <a:latin typeface="Times New Roman"/>
                          <a:cs typeface="Times New Roman"/>
                        </a:rPr>
                        <a:t>18</a:t>
                      </a:r>
                      <a:r>
                        <a:rPr dirty="0" sz="1600" spc="-35" b="1">
                          <a:solidFill>
                            <a:srgbClr val="40458B"/>
                          </a:solidFill>
                          <a:latin typeface="宋体"/>
                          <a:cs typeface="宋体"/>
                        </a:rPr>
                        <a:t>个流水线功能部</a:t>
                      </a:r>
                      <a:r>
                        <a:rPr dirty="0" sz="1600" spc="-20" b="1">
                          <a:solidFill>
                            <a:srgbClr val="40458B"/>
                          </a:solidFill>
                          <a:latin typeface="宋体"/>
                          <a:cs typeface="宋体"/>
                        </a:rPr>
                        <a:t>件的单处理机，</a:t>
                      </a:r>
                      <a:r>
                        <a:rPr dirty="0" sz="1600" spc="-10" b="1">
                          <a:solidFill>
                            <a:srgbClr val="40458B"/>
                          </a:solidFill>
                          <a:latin typeface="Times New Roman"/>
                          <a:cs typeface="Times New Roman"/>
                        </a:rPr>
                        <a:t>4ns</a:t>
                      </a:r>
                      <a:r>
                        <a:rPr dirty="0" sz="1600" spc="-10" b="1">
                          <a:solidFill>
                            <a:srgbClr val="40458B"/>
                          </a:solidFill>
                          <a:latin typeface="宋体"/>
                          <a:cs typeface="宋体"/>
                        </a:rPr>
                        <a:t>，</a:t>
                      </a:r>
                      <a:r>
                        <a:rPr dirty="0" sz="1600" spc="-10" b="1">
                          <a:solidFill>
                            <a:srgbClr val="40458B"/>
                          </a:solidFill>
                          <a:latin typeface="Times New Roman"/>
                          <a:cs typeface="Times New Roman"/>
                        </a:rPr>
                        <a:t>FORT 77/HAP</a:t>
                      </a:r>
                      <a:r>
                        <a:rPr dirty="0" sz="1600" spc="-60" b="1">
                          <a:solidFill>
                            <a:srgbClr val="40458B"/>
                          </a:solidFill>
                          <a:latin typeface="Times New Roman"/>
                          <a:cs typeface="Times New Roman"/>
                        </a:rPr>
                        <a:t> </a:t>
                      </a:r>
                      <a:r>
                        <a:rPr dirty="0" sz="1600" spc="-10" b="1">
                          <a:solidFill>
                            <a:srgbClr val="40458B"/>
                          </a:solidFill>
                          <a:latin typeface="Times New Roman"/>
                          <a:cs typeface="Times New Roman"/>
                        </a:rPr>
                        <a:t>V23-</a:t>
                      </a:r>
                      <a:r>
                        <a:rPr dirty="0" sz="1600" spc="-25" b="1">
                          <a:solidFill>
                            <a:srgbClr val="40458B"/>
                          </a:solidFill>
                          <a:latin typeface="Times New Roman"/>
                          <a:cs typeface="Times New Roman"/>
                        </a:rPr>
                        <a:t>OC</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285"/>
                        </a:spcBef>
                      </a:pPr>
                      <a:r>
                        <a:rPr dirty="0" sz="1600" spc="-10" b="1">
                          <a:solidFill>
                            <a:srgbClr val="40458B"/>
                          </a:solidFill>
                          <a:latin typeface="Times New Roman"/>
                          <a:cs typeface="Times New Roman"/>
                        </a:rPr>
                        <a:t>64</a:t>
                      </a:r>
                      <a:r>
                        <a:rPr dirty="0" sz="1600" spc="-30" b="1">
                          <a:solidFill>
                            <a:srgbClr val="40458B"/>
                          </a:solidFill>
                          <a:latin typeface="宋体"/>
                          <a:cs typeface="宋体"/>
                        </a:rPr>
                        <a:t>个</a:t>
                      </a:r>
                      <a:r>
                        <a:rPr dirty="0" sz="1600" spc="-10" b="1">
                          <a:solidFill>
                            <a:srgbClr val="40458B"/>
                          </a:solidFill>
                          <a:latin typeface="Times New Roman"/>
                          <a:cs typeface="Times New Roman"/>
                        </a:rPr>
                        <a:t>I/O</a:t>
                      </a:r>
                      <a:r>
                        <a:rPr dirty="0" sz="1600" spc="-35" b="1">
                          <a:solidFill>
                            <a:srgbClr val="40458B"/>
                          </a:solidFill>
                          <a:latin typeface="宋体"/>
                          <a:cs typeface="宋体"/>
                        </a:rPr>
                        <a:t>通道，最大传</a:t>
                      </a:r>
                      <a:endParaRPr sz="1600">
                        <a:latin typeface="宋体"/>
                        <a:cs typeface="宋体"/>
                      </a:endParaRPr>
                    </a:p>
                    <a:p>
                      <a:pPr marL="92075">
                        <a:lnSpc>
                          <a:spcPct val="100000"/>
                        </a:lnSpc>
                      </a:pPr>
                      <a:r>
                        <a:rPr dirty="0" sz="1600" spc="-20" b="1">
                          <a:solidFill>
                            <a:srgbClr val="40458B"/>
                          </a:solidFill>
                          <a:latin typeface="宋体"/>
                          <a:cs typeface="宋体"/>
                        </a:rPr>
                        <a:t>输率为</a:t>
                      </a:r>
                      <a:r>
                        <a:rPr dirty="0" sz="1600" spc="-10" b="1">
                          <a:solidFill>
                            <a:srgbClr val="40458B"/>
                          </a:solidFill>
                          <a:latin typeface="Times New Roman"/>
                          <a:cs typeface="Times New Roman"/>
                        </a:rPr>
                        <a:t>288MB/</a:t>
                      </a:r>
                      <a:r>
                        <a:rPr dirty="0" sz="1600" spc="-50" b="1">
                          <a:solidFill>
                            <a:srgbClr val="40458B"/>
                          </a:solidFill>
                          <a:latin typeface="宋体"/>
                          <a:cs typeface="宋体"/>
                        </a:rPr>
                        <a:t>秒</a:t>
                      </a:r>
                      <a:endParaRPr sz="16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80/72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763016" y="1193038"/>
            <a:ext cx="7555230" cy="4827270"/>
          </a:xfrm>
          <a:prstGeom prst="rect">
            <a:avLst/>
          </a:prstGeom>
        </p:spPr>
        <p:txBody>
          <a:bodyPr wrap="square" lIns="0" tIns="142240" rIns="0" bIns="0" rtlCol="0" vert="horz">
            <a:spAutoFit/>
          </a:bodyPr>
          <a:lstStyle/>
          <a:p>
            <a:pPr marL="12700">
              <a:lnSpc>
                <a:spcPct val="100000"/>
              </a:lnSpc>
              <a:spcBef>
                <a:spcPts val="1120"/>
              </a:spcBef>
            </a:pPr>
            <a:r>
              <a:rPr dirty="0" sz="2600">
                <a:solidFill>
                  <a:srgbClr val="0000CC"/>
                </a:solidFill>
                <a:latin typeface="黑体"/>
                <a:cs typeface="黑体"/>
              </a:rPr>
              <a:t>4.5.2</a:t>
            </a:r>
            <a:r>
              <a:rPr dirty="0" sz="2600" spc="-45">
                <a:solidFill>
                  <a:srgbClr val="0000CC"/>
                </a:solidFill>
                <a:latin typeface="黑体"/>
                <a:cs typeface="黑体"/>
              </a:rPr>
              <a:t> </a:t>
            </a:r>
            <a:r>
              <a:rPr dirty="0" sz="2400">
                <a:solidFill>
                  <a:srgbClr val="0000CC"/>
                </a:solidFill>
                <a:latin typeface="Tahoma"/>
                <a:cs typeface="Tahoma"/>
              </a:rPr>
              <a:t>Cray</a:t>
            </a:r>
            <a:r>
              <a:rPr dirty="0" sz="2400" spc="-5">
                <a:solidFill>
                  <a:srgbClr val="0000CC"/>
                </a:solidFill>
                <a:latin typeface="Tahoma"/>
                <a:cs typeface="Tahoma"/>
              </a:rPr>
              <a:t> </a:t>
            </a:r>
            <a:r>
              <a:rPr dirty="0" sz="2400" spc="-100">
                <a:solidFill>
                  <a:srgbClr val="0000CC"/>
                </a:solidFill>
                <a:latin typeface="Tahoma"/>
                <a:cs typeface="Tahoma"/>
              </a:rPr>
              <a:t>Y-</a:t>
            </a:r>
            <a:r>
              <a:rPr dirty="0" sz="2400" spc="-30">
                <a:solidFill>
                  <a:srgbClr val="0000CC"/>
                </a:solidFill>
                <a:latin typeface="Tahoma"/>
                <a:cs typeface="Tahoma"/>
              </a:rPr>
              <a:t>MP</a:t>
            </a:r>
            <a:r>
              <a:rPr dirty="0" sz="2400">
                <a:solidFill>
                  <a:srgbClr val="0000CC"/>
                </a:solidFill>
                <a:latin typeface="黑体"/>
                <a:cs typeface="黑体"/>
              </a:rPr>
              <a:t>和</a:t>
            </a:r>
            <a:r>
              <a:rPr dirty="0" sz="2400" spc="-45">
                <a:solidFill>
                  <a:srgbClr val="0000CC"/>
                </a:solidFill>
                <a:latin typeface="Tahoma"/>
                <a:cs typeface="Tahoma"/>
              </a:rPr>
              <a:t>C-</a:t>
            </a:r>
            <a:r>
              <a:rPr dirty="0" sz="2400" spc="-25">
                <a:solidFill>
                  <a:srgbClr val="0000CC"/>
                </a:solidFill>
                <a:latin typeface="Tahoma"/>
                <a:cs typeface="Tahoma"/>
              </a:rPr>
              <a:t>90</a:t>
            </a:r>
            <a:endParaRPr sz="2400">
              <a:latin typeface="Tahoma"/>
              <a:cs typeface="Tahoma"/>
            </a:endParaRPr>
          </a:p>
          <a:p>
            <a:pPr marL="13970">
              <a:lnSpc>
                <a:spcPct val="100000"/>
              </a:lnSpc>
              <a:spcBef>
                <a:spcPts val="1180"/>
              </a:spcBef>
            </a:pPr>
            <a:r>
              <a:rPr dirty="0" sz="2400">
                <a:solidFill>
                  <a:srgbClr val="E14B04"/>
                </a:solidFill>
                <a:latin typeface="Times New Roman"/>
                <a:cs typeface="Times New Roman"/>
              </a:rPr>
              <a:t>Cray</a:t>
            </a:r>
            <a:r>
              <a:rPr dirty="0" sz="2400" spc="-10">
                <a:solidFill>
                  <a:srgbClr val="E14B04"/>
                </a:solidFill>
                <a:latin typeface="Times New Roman"/>
                <a:cs typeface="Times New Roman"/>
              </a:rPr>
              <a:t> </a:t>
            </a:r>
            <a:r>
              <a:rPr dirty="0" sz="2400" spc="-25">
                <a:solidFill>
                  <a:srgbClr val="E14B04"/>
                </a:solidFill>
                <a:latin typeface="Times New Roman"/>
                <a:cs typeface="Times New Roman"/>
              </a:rPr>
              <a:t>Y-</a:t>
            </a:r>
            <a:r>
              <a:rPr dirty="0" sz="2400">
                <a:solidFill>
                  <a:srgbClr val="E14B04"/>
                </a:solidFill>
                <a:latin typeface="Times New Roman"/>
                <a:cs typeface="Times New Roman"/>
              </a:rPr>
              <a:t>MP</a:t>
            </a:r>
            <a:r>
              <a:rPr dirty="0" sz="2400" spc="-10">
                <a:solidFill>
                  <a:srgbClr val="E14B04"/>
                </a:solidFill>
                <a:latin typeface="Times New Roman"/>
                <a:cs typeface="Times New Roman"/>
              </a:rPr>
              <a:t> </a:t>
            </a:r>
            <a:r>
              <a:rPr dirty="0" sz="2400" spc="-25">
                <a:solidFill>
                  <a:srgbClr val="E14B04"/>
                </a:solidFill>
                <a:latin typeface="Times New Roman"/>
                <a:cs typeface="Times New Roman"/>
              </a:rPr>
              <a:t>816</a:t>
            </a:r>
            <a:endParaRPr sz="2400">
              <a:latin typeface="Times New Roman"/>
              <a:cs typeface="Times New Roman"/>
            </a:endParaRPr>
          </a:p>
          <a:p>
            <a:pPr marL="1100455" indent="-456565">
              <a:lnSpc>
                <a:spcPct val="100000"/>
              </a:lnSpc>
              <a:spcBef>
                <a:spcPts val="600"/>
              </a:spcBef>
              <a:buClr>
                <a:srgbClr val="40458B"/>
              </a:buClr>
              <a:buSzPct val="89583"/>
              <a:buFont typeface="Wingdings"/>
              <a:buChar char=""/>
              <a:tabLst>
                <a:tab pos="1100455" algn="l"/>
              </a:tabLst>
            </a:pPr>
            <a:r>
              <a:rPr dirty="0" sz="2400">
                <a:solidFill>
                  <a:srgbClr val="9933FF"/>
                </a:solidFill>
                <a:latin typeface="Times New Roman"/>
                <a:cs typeface="Times New Roman"/>
              </a:rPr>
              <a:t>1991</a:t>
            </a:r>
            <a:r>
              <a:rPr dirty="0" sz="2400">
                <a:solidFill>
                  <a:srgbClr val="9933FF"/>
                </a:solidFill>
                <a:latin typeface="黑体"/>
                <a:cs typeface="黑体"/>
              </a:rPr>
              <a:t>年</a:t>
            </a:r>
            <a:r>
              <a:rPr dirty="0" sz="2400" spc="-25">
                <a:solidFill>
                  <a:srgbClr val="40458B"/>
                </a:solidFill>
                <a:latin typeface="黑体"/>
                <a:cs typeface="黑体"/>
              </a:rPr>
              <a:t>问世</a:t>
            </a:r>
            <a:endParaRPr sz="2400">
              <a:latin typeface="黑体"/>
              <a:cs typeface="黑体"/>
            </a:endParaRPr>
          </a:p>
          <a:p>
            <a:pPr marL="1100455" indent="-456565">
              <a:lnSpc>
                <a:spcPct val="100000"/>
              </a:lnSpc>
              <a:spcBef>
                <a:spcPts val="580"/>
              </a:spcBef>
              <a:buSzPct val="89583"/>
              <a:buFont typeface="Wingdings"/>
              <a:buChar char=""/>
              <a:tabLst>
                <a:tab pos="1100455" algn="l"/>
              </a:tabLst>
            </a:pPr>
            <a:r>
              <a:rPr dirty="0" sz="2400" spc="-20">
                <a:solidFill>
                  <a:srgbClr val="40458B"/>
                </a:solidFill>
                <a:latin typeface="黑体"/>
                <a:cs typeface="黑体"/>
              </a:rPr>
              <a:t>系统结构图</a:t>
            </a:r>
            <a:endParaRPr sz="2400">
              <a:latin typeface="黑体"/>
              <a:cs typeface="黑体"/>
            </a:endParaRPr>
          </a:p>
          <a:p>
            <a:pPr lvl="1" marL="1728470" indent="-457200">
              <a:lnSpc>
                <a:spcPct val="100000"/>
              </a:lnSpc>
              <a:spcBef>
                <a:spcPts val="484"/>
              </a:spcBef>
              <a:buClr>
                <a:srgbClr val="4668F5"/>
              </a:buClr>
              <a:buSzPct val="65000"/>
              <a:buFont typeface="Wingdings"/>
              <a:buChar char=""/>
              <a:tabLst>
                <a:tab pos="1728470" algn="l"/>
              </a:tabLst>
            </a:pPr>
            <a:r>
              <a:rPr dirty="0" sz="2000" spc="-10" b="1">
                <a:solidFill>
                  <a:srgbClr val="00AFEF"/>
                </a:solidFill>
                <a:latin typeface="宋体"/>
                <a:cs typeface="宋体"/>
              </a:rPr>
              <a:t>可以配置</a:t>
            </a:r>
            <a:r>
              <a:rPr dirty="0" sz="2000" b="1">
                <a:solidFill>
                  <a:srgbClr val="9933FF"/>
                </a:solidFill>
                <a:latin typeface="Times New Roman"/>
                <a:cs typeface="Times New Roman"/>
              </a:rPr>
              <a:t>1</a:t>
            </a:r>
            <a:r>
              <a:rPr dirty="0" sz="2000" spc="-10" b="1">
                <a:solidFill>
                  <a:srgbClr val="00AFEF"/>
                </a:solidFill>
                <a:latin typeface="宋体"/>
                <a:cs typeface="宋体"/>
              </a:rPr>
              <a:t>台、</a:t>
            </a:r>
            <a:r>
              <a:rPr dirty="0" sz="2000" b="1">
                <a:solidFill>
                  <a:srgbClr val="9933FF"/>
                </a:solidFill>
                <a:latin typeface="Times New Roman"/>
                <a:cs typeface="Times New Roman"/>
              </a:rPr>
              <a:t>2</a:t>
            </a:r>
            <a:r>
              <a:rPr dirty="0" sz="2000" spc="-20" b="1">
                <a:solidFill>
                  <a:srgbClr val="00AFEF"/>
                </a:solidFill>
                <a:latin typeface="宋体"/>
                <a:cs typeface="宋体"/>
              </a:rPr>
              <a:t>台、</a:t>
            </a:r>
            <a:r>
              <a:rPr dirty="0" sz="2000" b="1">
                <a:solidFill>
                  <a:srgbClr val="9933FF"/>
                </a:solidFill>
                <a:latin typeface="Times New Roman"/>
                <a:cs typeface="Times New Roman"/>
              </a:rPr>
              <a:t>4</a:t>
            </a:r>
            <a:r>
              <a:rPr dirty="0" sz="2000" spc="-15" b="1">
                <a:solidFill>
                  <a:srgbClr val="00AFEF"/>
                </a:solidFill>
                <a:latin typeface="宋体"/>
                <a:cs typeface="宋体"/>
              </a:rPr>
              <a:t>台或</a:t>
            </a:r>
            <a:r>
              <a:rPr dirty="0" sz="2000" spc="-10" b="1">
                <a:solidFill>
                  <a:srgbClr val="9933FF"/>
                </a:solidFill>
                <a:latin typeface="Times New Roman"/>
                <a:cs typeface="Times New Roman"/>
              </a:rPr>
              <a:t>8</a:t>
            </a:r>
            <a:r>
              <a:rPr dirty="0" sz="2000" spc="-20" b="1">
                <a:solidFill>
                  <a:srgbClr val="00AFEF"/>
                </a:solidFill>
                <a:latin typeface="宋体"/>
                <a:cs typeface="宋体"/>
              </a:rPr>
              <a:t>台处理机</a:t>
            </a:r>
            <a:endParaRPr sz="2000">
              <a:latin typeface="宋体"/>
              <a:cs typeface="宋体"/>
            </a:endParaRPr>
          </a:p>
          <a:p>
            <a:pPr lvl="1" marL="1728470" marR="132715" indent="-457200">
              <a:lnSpc>
                <a:spcPct val="100000"/>
              </a:lnSpc>
              <a:spcBef>
                <a:spcPts val="480"/>
              </a:spcBef>
              <a:buClr>
                <a:srgbClr val="4668F5"/>
              </a:buClr>
              <a:buSzPct val="65000"/>
              <a:buFont typeface="Wingdings"/>
              <a:buChar char=""/>
              <a:tabLst>
                <a:tab pos="1728470" algn="l"/>
              </a:tabLst>
            </a:pPr>
            <a:r>
              <a:rPr dirty="0" sz="2000" b="1">
                <a:solidFill>
                  <a:srgbClr val="9933FF"/>
                </a:solidFill>
                <a:latin typeface="Times New Roman"/>
                <a:cs typeface="Times New Roman"/>
              </a:rPr>
              <a:t>8</a:t>
            </a:r>
            <a:r>
              <a:rPr dirty="0" sz="2000" spc="-10" b="1">
                <a:solidFill>
                  <a:srgbClr val="9933FF"/>
                </a:solidFill>
                <a:latin typeface="宋体"/>
                <a:cs typeface="宋体"/>
              </a:rPr>
              <a:t>个</a:t>
            </a:r>
            <a:r>
              <a:rPr dirty="0" sz="2000" spc="-20" b="1">
                <a:solidFill>
                  <a:srgbClr val="9933FF"/>
                </a:solidFill>
                <a:latin typeface="Times New Roman"/>
                <a:cs typeface="Times New Roman"/>
              </a:rPr>
              <a:t>CPU</a:t>
            </a:r>
            <a:r>
              <a:rPr dirty="0" sz="2000" spc="-15" b="1">
                <a:solidFill>
                  <a:srgbClr val="00AFEF"/>
                </a:solidFill>
                <a:latin typeface="宋体"/>
                <a:cs typeface="宋体"/>
              </a:rPr>
              <a:t>共享中央存储器、</a:t>
            </a:r>
            <a:r>
              <a:rPr dirty="0" sz="2000" b="1">
                <a:solidFill>
                  <a:srgbClr val="9933FF"/>
                </a:solidFill>
                <a:latin typeface="Times New Roman"/>
                <a:cs typeface="Times New Roman"/>
              </a:rPr>
              <a:t>I/O</a:t>
            </a:r>
            <a:r>
              <a:rPr dirty="0" sz="2000" spc="-25" b="1">
                <a:solidFill>
                  <a:srgbClr val="9933FF"/>
                </a:solidFill>
                <a:latin typeface="Times New Roman"/>
                <a:cs typeface="Times New Roman"/>
              </a:rPr>
              <a:t> </a:t>
            </a:r>
            <a:r>
              <a:rPr dirty="0" sz="2000" spc="-15" b="1">
                <a:solidFill>
                  <a:srgbClr val="00AFEF"/>
                </a:solidFill>
                <a:latin typeface="宋体"/>
                <a:cs typeface="宋体"/>
              </a:rPr>
              <a:t>子系统、处理机通信</a:t>
            </a:r>
            <a:r>
              <a:rPr dirty="0" sz="2000" spc="-20" b="1">
                <a:solidFill>
                  <a:srgbClr val="00AFEF"/>
                </a:solidFill>
                <a:latin typeface="宋体"/>
                <a:cs typeface="宋体"/>
              </a:rPr>
              <a:t>子系统和实时时钟</a:t>
            </a:r>
            <a:endParaRPr sz="2000">
              <a:latin typeface="宋体"/>
              <a:cs typeface="宋体"/>
            </a:endParaRPr>
          </a:p>
          <a:p>
            <a:pPr lvl="1" marL="1728470" indent="-457200">
              <a:lnSpc>
                <a:spcPct val="100000"/>
              </a:lnSpc>
              <a:spcBef>
                <a:spcPts val="480"/>
              </a:spcBef>
              <a:buClr>
                <a:srgbClr val="4668F5"/>
              </a:buClr>
              <a:buSzPct val="65000"/>
              <a:buFont typeface="Wingdings"/>
              <a:buChar char=""/>
              <a:tabLst>
                <a:tab pos="1728470" algn="l"/>
              </a:tabLst>
            </a:pPr>
            <a:r>
              <a:rPr dirty="0" sz="2000" spc="-25" b="1">
                <a:solidFill>
                  <a:srgbClr val="9933FF"/>
                </a:solidFill>
                <a:latin typeface="Times New Roman"/>
                <a:cs typeface="Times New Roman"/>
              </a:rPr>
              <a:t>CPU</a:t>
            </a:r>
            <a:r>
              <a:rPr dirty="0" sz="2000" spc="-20" b="1">
                <a:solidFill>
                  <a:srgbClr val="00AFEF"/>
                </a:solidFill>
                <a:latin typeface="宋体"/>
                <a:cs typeface="宋体"/>
              </a:rPr>
              <a:t>的时钟周期：</a:t>
            </a:r>
            <a:r>
              <a:rPr dirty="0" sz="2000" spc="-20" b="1">
                <a:solidFill>
                  <a:srgbClr val="9933FF"/>
                </a:solidFill>
                <a:latin typeface="Times New Roman"/>
                <a:cs typeface="Times New Roman"/>
              </a:rPr>
              <a:t>6ns</a:t>
            </a:r>
            <a:endParaRPr sz="2000">
              <a:latin typeface="Times New Roman"/>
              <a:cs typeface="Times New Roman"/>
            </a:endParaRPr>
          </a:p>
          <a:p>
            <a:pPr marL="1100455" indent="-456565">
              <a:lnSpc>
                <a:spcPct val="100000"/>
              </a:lnSpc>
              <a:spcBef>
                <a:spcPts val="575"/>
              </a:spcBef>
              <a:buSzPct val="89583"/>
              <a:buFont typeface="Wingdings"/>
              <a:buChar char=""/>
              <a:tabLst>
                <a:tab pos="1100455" algn="l"/>
              </a:tabLst>
            </a:pPr>
            <a:r>
              <a:rPr dirty="0" sz="2400" spc="-10">
                <a:solidFill>
                  <a:srgbClr val="40458B"/>
                </a:solidFill>
                <a:latin typeface="黑体"/>
                <a:cs typeface="黑体"/>
              </a:rPr>
              <a:t>中央存储器</a:t>
            </a:r>
            <a:endParaRPr sz="2400">
              <a:latin typeface="黑体"/>
              <a:cs typeface="黑体"/>
            </a:endParaRPr>
          </a:p>
          <a:p>
            <a:pPr lvl="1" marL="1728470" indent="-457200">
              <a:lnSpc>
                <a:spcPct val="100000"/>
              </a:lnSpc>
              <a:spcBef>
                <a:spcPts val="480"/>
              </a:spcBef>
              <a:buClr>
                <a:srgbClr val="4668F5"/>
              </a:buClr>
              <a:buSzPct val="65000"/>
              <a:buFont typeface="Wingdings"/>
              <a:buChar char=""/>
              <a:tabLst>
                <a:tab pos="1728470" algn="l"/>
              </a:tabLst>
            </a:pPr>
            <a:r>
              <a:rPr dirty="0" sz="2000" spc="-10" b="1">
                <a:solidFill>
                  <a:srgbClr val="00AFEF"/>
                </a:solidFill>
                <a:latin typeface="宋体"/>
                <a:cs typeface="宋体"/>
              </a:rPr>
              <a:t>分成</a:t>
            </a:r>
            <a:r>
              <a:rPr dirty="0" sz="2000" b="1">
                <a:solidFill>
                  <a:srgbClr val="9933FF"/>
                </a:solidFill>
                <a:latin typeface="Times New Roman"/>
                <a:cs typeface="Times New Roman"/>
              </a:rPr>
              <a:t>256</a:t>
            </a:r>
            <a:r>
              <a:rPr dirty="0" sz="2000" spc="-25" b="1">
                <a:solidFill>
                  <a:srgbClr val="00AFEF"/>
                </a:solidFill>
                <a:latin typeface="宋体"/>
                <a:cs typeface="宋体"/>
              </a:rPr>
              <a:t>个交叉访问的存储体</a:t>
            </a:r>
            <a:endParaRPr sz="2000">
              <a:latin typeface="宋体"/>
              <a:cs typeface="宋体"/>
            </a:endParaRPr>
          </a:p>
          <a:p>
            <a:pPr marL="2288540">
              <a:lnSpc>
                <a:spcPct val="100000"/>
              </a:lnSpc>
              <a:spcBef>
                <a:spcPts val="484"/>
              </a:spcBef>
            </a:pPr>
            <a:r>
              <a:rPr dirty="0" sz="2000" spc="-15" b="1">
                <a:solidFill>
                  <a:srgbClr val="00AFEF"/>
                </a:solidFill>
                <a:latin typeface="宋体"/>
                <a:cs typeface="宋体"/>
              </a:rPr>
              <a:t>通过每个</a:t>
            </a:r>
            <a:r>
              <a:rPr dirty="0" sz="2000" spc="-25" b="1">
                <a:solidFill>
                  <a:srgbClr val="9933FF"/>
                </a:solidFill>
                <a:latin typeface="Times New Roman"/>
                <a:cs typeface="Times New Roman"/>
              </a:rPr>
              <a:t>CPU</a:t>
            </a:r>
            <a:r>
              <a:rPr dirty="0" sz="2000" spc="-10" b="1">
                <a:solidFill>
                  <a:srgbClr val="00AFEF"/>
                </a:solidFill>
                <a:latin typeface="宋体"/>
                <a:cs typeface="宋体"/>
              </a:rPr>
              <a:t>对</a:t>
            </a:r>
            <a:r>
              <a:rPr dirty="0" sz="2000" b="1">
                <a:solidFill>
                  <a:srgbClr val="9933FF"/>
                </a:solidFill>
                <a:latin typeface="Times New Roman"/>
                <a:cs typeface="Times New Roman"/>
              </a:rPr>
              <a:t>4</a:t>
            </a:r>
            <a:r>
              <a:rPr dirty="0" sz="2000" spc="-25" b="1">
                <a:solidFill>
                  <a:srgbClr val="00AFEF"/>
                </a:solidFill>
                <a:latin typeface="宋体"/>
                <a:cs typeface="宋体"/>
              </a:rPr>
              <a:t>个存储器端口的交叉访问可以</a:t>
            </a:r>
            <a:endParaRPr sz="2000">
              <a:latin typeface="宋体"/>
              <a:cs typeface="宋体"/>
            </a:endParaRPr>
          </a:p>
          <a:p>
            <a:pPr marL="1728470">
              <a:lnSpc>
                <a:spcPct val="100000"/>
              </a:lnSpc>
            </a:pPr>
            <a:r>
              <a:rPr dirty="0" sz="2000" spc="-15" b="1">
                <a:solidFill>
                  <a:srgbClr val="00AFEF"/>
                </a:solidFill>
                <a:latin typeface="宋体"/>
                <a:cs typeface="宋体"/>
              </a:rPr>
              <a:t>实现对存储器的重叠存取。</a:t>
            </a:r>
            <a:endParaRPr sz="2000">
              <a:latin typeface="宋体"/>
              <a:cs typeface="宋体"/>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2999849" y="836314"/>
            <a:ext cx="4864735" cy="5334635"/>
            <a:chOff x="2999849" y="836314"/>
            <a:chExt cx="4864735" cy="5334635"/>
          </a:xfrm>
        </p:grpSpPr>
        <p:sp>
          <p:nvSpPr>
            <p:cNvPr id="3" name="object 3" descr=""/>
            <p:cNvSpPr/>
            <p:nvPr/>
          </p:nvSpPr>
          <p:spPr>
            <a:xfrm>
              <a:off x="3003794" y="840286"/>
              <a:ext cx="4852035" cy="5322570"/>
            </a:xfrm>
            <a:custGeom>
              <a:avLst/>
              <a:gdLst/>
              <a:ahLst/>
              <a:cxnLst/>
              <a:rect l="l" t="t" r="r" b="b"/>
              <a:pathLst>
                <a:path w="4852034" h="5322570">
                  <a:moveTo>
                    <a:pt x="4851983" y="0"/>
                  </a:moveTo>
                  <a:lnTo>
                    <a:pt x="0" y="0"/>
                  </a:lnTo>
                  <a:lnTo>
                    <a:pt x="0" y="5322006"/>
                  </a:lnTo>
                  <a:lnTo>
                    <a:pt x="4851983" y="5322006"/>
                  </a:lnTo>
                  <a:lnTo>
                    <a:pt x="4851983" y="0"/>
                  </a:lnTo>
                  <a:close/>
                </a:path>
              </a:pathLst>
            </a:custGeom>
            <a:solidFill>
              <a:srgbClr val="EAEAEA"/>
            </a:solidFill>
          </p:spPr>
          <p:txBody>
            <a:bodyPr wrap="square" lIns="0" tIns="0" rIns="0" bIns="0" rtlCol="0"/>
            <a:lstStyle/>
            <a:p/>
          </p:txBody>
        </p:sp>
        <p:sp>
          <p:nvSpPr>
            <p:cNvPr id="4" name="object 4" descr=""/>
            <p:cNvSpPr/>
            <p:nvPr/>
          </p:nvSpPr>
          <p:spPr>
            <a:xfrm>
              <a:off x="3000880" y="837343"/>
              <a:ext cx="4862830" cy="5332730"/>
            </a:xfrm>
            <a:custGeom>
              <a:avLst/>
              <a:gdLst/>
              <a:ahLst/>
              <a:cxnLst/>
              <a:rect l="l" t="t" r="r" b="b"/>
              <a:pathLst>
                <a:path w="4862830" h="5332730">
                  <a:moveTo>
                    <a:pt x="4857135" y="5149"/>
                  </a:moveTo>
                  <a:lnTo>
                    <a:pt x="4850069" y="5149"/>
                  </a:lnTo>
                  <a:lnTo>
                    <a:pt x="4850069" y="14125"/>
                  </a:lnTo>
                  <a:lnTo>
                    <a:pt x="4862581" y="14125"/>
                  </a:lnTo>
                  <a:lnTo>
                    <a:pt x="4862581" y="10594"/>
                  </a:lnTo>
                  <a:lnTo>
                    <a:pt x="4857135" y="10594"/>
                  </a:lnTo>
                  <a:lnTo>
                    <a:pt x="4857135" y="5149"/>
                  </a:lnTo>
                  <a:close/>
                </a:path>
                <a:path w="4862830" h="5332730">
                  <a:moveTo>
                    <a:pt x="4857135" y="0"/>
                  </a:moveTo>
                  <a:lnTo>
                    <a:pt x="4812975" y="0"/>
                  </a:lnTo>
                  <a:lnTo>
                    <a:pt x="4812975" y="10594"/>
                  </a:lnTo>
                  <a:lnTo>
                    <a:pt x="4850069" y="10594"/>
                  </a:lnTo>
                  <a:lnTo>
                    <a:pt x="4850069" y="5149"/>
                  </a:lnTo>
                  <a:lnTo>
                    <a:pt x="4857135" y="5149"/>
                  </a:lnTo>
                  <a:lnTo>
                    <a:pt x="4857135" y="0"/>
                  </a:lnTo>
                  <a:close/>
                </a:path>
                <a:path w="4862830" h="5332730">
                  <a:moveTo>
                    <a:pt x="4862581" y="5149"/>
                  </a:moveTo>
                  <a:lnTo>
                    <a:pt x="4857135" y="5149"/>
                  </a:lnTo>
                  <a:lnTo>
                    <a:pt x="4857135" y="10594"/>
                  </a:lnTo>
                  <a:lnTo>
                    <a:pt x="4862581" y="10594"/>
                  </a:lnTo>
                  <a:lnTo>
                    <a:pt x="4862581" y="5149"/>
                  </a:lnTo>
                  <a:close/>
                </a:path>
                <a:path w="4862830" h="5332730">
                  <a:moveTo>
                    <a:pt x="4779414" y="0"/>
                  </a:moveTo>
                  <a:lnTo>
                    <a:pt x="4735254" y="0"/>
                  </a:lnTo>
                  <a:lnTo>
                    <a:pt x="4735254" y="10594"/>
                  </a:lnTo>
                  <a:lnTo>
                    <a:pt x="4779414" y="10594"/>
                  </a:lnTo>
                  <a:lnTo>
                    <a:pt x="4779414" y="0"/>
                  </a:lnTo>
                  <a:close/>
                </a:path>
                <a:path w="4862830" h="5332730">
                  <a:moveTo>
                    <a:pt x="4701692" y="0"/>
                  </a:moveTo>
                  <a:lnTo>
                    <a:pt x="4657680" y="0"/>
                  </a:lnTo>
                  <a:lnTo>
                    <a:pt x="4657680" y="10594"/>
                  </a:lnTo>
                  <a:lnTo>
                    <a:pt x="4701692" y="10594"/>
                  </a:lnTo>
                  <a:lnTo>
                    <a:pt x="4701692" y="0"/>
                  </a:lnTo>
                  <a:close/>
                </a:path>
                <a:path w="4862830" h="5332730">
                  <a:moveTo>
                    <a:pt x="4624118" y="0"/>
                  </a:moveTo>
                  <a:lnTo>
                    <a:pt x="4579958" y="0"/>
                  </a:lnTo>
                  <a:lnTo>
                    <a:pt x="4579958" y="10594"/>
                  </a:lnTo>
                  <a:lnTo>
                    <a:pt x="4624118" y="10594"/>
                  </a:lnTo>
                  <a:lnTo>
                    <a:pt x="4624118" y="0"/>
                  </a:lnTo>
                  <a:close/>
                </a:path>
                <a:path w="4862830" h="5332730">
                  <a:moveTo>
                    <a:pt x="4547869" y="0"/>
                  </a:moveTo>
                  <a:lnTo>
                    <a:pt x="4503709" y="0"/>
                  </a:lnTo>
                  <a:lnTo>
                    <a:pt x="4503709" y="10594"/>
                  </a:lnTo>
                  <a:lnTo>
                    <a:pt x="4547869" y="10594"/>
                  </a:lnTo>
                  <a:lnTo>
                    <a:pt x="4547869" y="0"/>
                  </a:lnTo>
                  <a:close/>
                </a:path>
                <a:path w="4862830" h="5332730">
                  <a:moveTo>
                    <a:pt x="4470148" y="0"/>
                  </a:moveTo>
                  <a:lnTo>
                    <a:pt x="4426135" y="0"/>
                  </a:lnTo>
                  <a:lnTo>
                    <a:pt x="4426135" y="10594"/>
                  </a:lnTo>
                  <a:lnTo>
                    <a:pt x="4470148" y="10594"/>
                  </a:lnTo>
                  <a:lnTo>
                    <a:pt x="4470148" y="0"/>
                  </a:lnTo>
                  <a:close/>
                </a:path>
                <a:path w="4862830" h="5332730">
                  <a:moveTo>
                    <a:pt x="4392574" y="0"/>
                  </a:moveTo>
                  <a:lnTo>
                    <a:pt x="4348414" y="0"/>
                  </a:lnTo>
                  <a:lnTo>
                    <a:pt x="4348414" y="10594"/>
                  </a:lnTo>
                  <a:lnTo>
                    <a:pt x="4392574" y="10594"/>
                  </a:lnTo>
                  <a:lnTo>
                    <a:pt x="4392574" y="0"/>
                  </a:lnTo>
                  <a:close/>
                </a:path>
                <a:path w="4862830" h="5332730">
                  <a:moveTo>
                    <a:pt x="4314853" y="0"/>
                  </a:moveTo>
                  <a:lnTo>
                    <a:pt x="4270398" y="0"/>
                  </a:lnTo>
                  <a:lnTo>
                    <a:pt x="4270398" y="10594"/>
                  </a:lnTo>
                  <a:lnTo>
                    <a:pt x="4314853" y="10594"/>
                  </a:lnTo>
                  <a:lnTo>
                    <a:pt x="4314853" y="0"/>
                  </a:lnTo>
                  <a:close/>
                </a:path>
                <a:path w="4862830" h="5332730">
                  <a:moveTo>
                    <a:pt x="4238751" y="0"/>
                  </a:moveTo>
                  <a:lnTo>
                    <a:pt x="4194591" y="0"/>
                  </a:lnTo>
                  <a:lnTo>
                    <a:pt x="4194591" y="10594"/>
                  </a:lnTo>
                  <a:lnTo>
                    <a:pt x="4238751" y="10594"/>
                  </a:lnTo>
                  <a:lnTo>
                    <a:pt x="4238751" y="0"/>
                  </a:lnTo>
                  <a:close/>
                </a:path>
                <a:path w="4862830" h="5332730">
                  <a:moveTo>
                    <a:pt x="4161029" y="0"/>
                  </a:moveTo>
                  <a:lnTo>
                    <a:pt x="4116870" y="0"/>
                  </a:lnTo>
                  <a:lnTo>
                    <a:pt x="4116870" y="10594"/>
                  </a:lnTo>
                  <a:lnTo>
                    <a:pt x="4161029" y="10594"/>
                  </a:lnTo>
                  <a:lnTo>
                    <a:pt x="4161029" y="0"/>
                  </a:lnTo>
                  <a:close/>
                </a:path>
                <a:path w="4862830" h="5332730">
                  <a:moveTo>
                    <a:pt x="4083308" y="0"/>
                  </a:moveTo>
                  <a:lnTo>
                    <a:pt x="4039295" y="0"/>
                  </a:lnTo>
                  <a:lnTo>
                    <a:pt x="4039295" y="10594"/>
                  </a:lnTo>
                  <a:lnTo>
                    <a:pt x="4083308" y="10594"/>
                  </a:lnTo>
                  <a:lnTo>
                    <a:pt x="4083308" y="0"/>
                  </a:lnTo>
                  <a:close/>
                </a:path>
                <a:path w="4862830" h="5332730">
                  <a:moveTo>
                    <a:pt x="4005734" y="0"/>
                  </a:moveTo>
                  <a:lnTo>
                    <a:pt x="3961133" y="0"/>
                  </a:lnTo>
                  <a:lnTo>
                    <a:pt x="3961133" y="10594"/>
                  </a:lnTo>
                  <a:lnTo>
                    <a:pt x="4005734" y="10594"/>
                  </a:lnTo>
                  <a:lnTo>
                    <a:pt x="4005734" y="0"/>
                  </a:lnTo>
                  <a:close/>
                </a:path>
                <a:path w="4862830" h="5332730">
                  <a:moveTo>
                    <a:pt x="3929485" y="0"/>
                  </a:moveTo>
                  <a:lnTo>
                    <a:pt x="3885325" y="0"/>
                  </a:lnTo>
                  <a:lnTo>
                    <a:pt x="3885325" y="10594"/>
                  </a:lnTo>
                  <a:lnTo>
                    <a:pt x="3929485" y="10594"/>
                  </a:lnTo>
                  <a:lnTo>
                    <a:pt x="3929485" y="0"/>
                  </a:lnTo>
                  <a:close/>
                </a:path>
                <a:path w="4862830" h="5332730">
                  <a:moveTo>
                    <a:pt x="3851764" y="0"/>
                  </a:moveTo>
                  <a:lnTo>
                    <a:pt x="3807751" y="0"/>
                  </a:lnTo>
                  <a:lnTo>
                    <a:pt x="3807751" y="10594"/>
                  </a:lnTo>
                  <a:lnTo>
                    <a:pt x="3851764" y="10594"/>
                  </a:lnTo>
                  <a:lnTo>
                    <a:pt x="3851764" y="0"/>
                  </a:lnTo>
                  <a:close/>
                </a:path>
                <a:path w="4862830" h="5332730">
                  <a:moveTo>
                    <a:pt x="3774190" y="0"/>
                  </a:moveTo>
                  <a:lnTo>
                    <a:pt x="3730030" y="0"/>
                  </a:lnTo>
                  <a:lnTo>
                    <a:pt x="3730030" y="10594"/>
                  </a:lnTo>
                  <a:lnTo>
                    <a:pt x="3774190" y="10594"/>
                  </a:lnTo>
                  <a:lnTo>
                    <a:pt x="3774190" y="0"/>
                  </a:lnTo>
                  <a:close/>
                </a:path>
                <a:path w="4862830" h="5332730">
                  <a:moveTo>
                    <a:pt x="3696468" y="0"/>
                  </a:moveTo>
                  <a:lnTo>
                    <a:pt x="3652014" y="0"/>
                  </a:lnTo>
                  <a:lnTo>
                    <a:pt x="3652014" y="10594"/>
                  </a:lnTo>
                  <a:lnTo>
                    <a:pt x="3696468" y="10594"/>
                  </a:lnTo>
                  <a:lnTo>
                    <a:pt x="3696468" y="0"/>
                  </a:lnTo>
                  <a:close/>
                </a:path>
                <a:path w="4862830" h="5332730">
                  <a:moveTo>
                    <a:pt x="3620219" y="0"/>
                  </a:moveTo>
                  <a:lnTo>
                    <a:pt x="3576206" y="0"/>
                  </a:lnTo>
                  <a:lnTo>
                    <a:pt x="3576206" y="10594"/>
                  </a:lnTo>
                  <a:lnTo>
                    <a:pt x="3620219" y="10594"/>
                  </a:lnTo>
                  <a:lnTo>
                    <a:pt x="3620219" y="0"/>
                  </a:lnTo>
                  <a:close/>
                </a:path>
                <a:path w="4862830" h="5332730">
                  <a:moveTo>
                    <a:pt x="3542645" y="0"/>
                  </a:moveTo>
                  <a:lnTo>
                    <a:pt x="3498485" y="0"/>
                  </a:lnTo>
                  <a:lnTo>
                    <a:pt x="3498485" y="10594"/>
                  </a:lnTo>
                  <a:lnTo>
                    <a:pt x="3542645" y="10594"/>
                  </a:lnTo>
                  <a:lnTo>
                    <a:pt x="3542645" y="0"/>
                  </a:lnTo>
                  <a:close/>
                </a:path>
                <a:path w="4862830" h="5332730">
                  <a:moveTo>
                    <a:pt x="3464924" y="0"/>
                  </a:moveTo>
                  <a:lnTo>
                    <a:pt x="3420911" y="0"/>
                  </a:lnTo>
                  <a:lnTo>
                    <a:pt x="3420911" y="10594"/>
                  </a:lnTo>
                  <a:lnTo>
                    <a:pt x="3464924" y="10594"/>
                  </a:lnTo>
                  <a:lnTo>
                    <a:pt x="3464924" y="0"/>
                  </a:lnTo>
                  <a:close/>
                </a:path>
                <a:path w="4862830" h="5332730">
                  <a:moveTo>
                    <a:pt x="3386908" y="0"/>
                  </a:moveTo>
                  <a:lnTo>
                    <a:pt x="3342748" y="0"/>
                  </a:lnTo>
                  <a:lnTo>
                    <a:pt x="3342748" y="10594"/>
                  </a:lnTo>
                  <a:lnTo>
                    <a:pt x="3386908" y="10594"/>
                  </a:lnTo>
                  <a:lnTo>
                    <a:pt x="3386908" y="0"/>
                  </a:lnTo>
                  <a:close/>
                </a:path>
                <a:path w="4862830" h="5332730">
                  <a:moveTo>
                    <a:pt x="3311101" y="0"/>
                  </a:moveTo>
                  <a:lnTo>
                    <a:pt x="3266941" y="0"/>
                  </a:lnTo>
                  <a:lnTo>
                    <a:pt x="3266941" y="10594"/>
                  </a:lnTo>
                  <a:lnTo>
                    <a:pt x="3311101" y="10594"/>
                  </a:lnTo>
                  <a:lnTo>
                    <a:pt x="3311101" y="0"/>
                  </a:lnTo>
                  <a:close/>
                </a:path>
                <a:path w="4862830" h="5332730">
                  <a:moveTo>
                    <a:pt x="3233379" y="0"/>
                  </a:moveTo>
                  <a:lnTo>
                    <a:pt x="3189367" y="0"/>
                  </a:lnTo>
                  <a:lnTo>
                    <a:pt x="3189367" y="10594"/>
                  </a:lnTo>
                  <a:lnTo>
                    <a:pt x="3233379" y="10594"/>
                  </a:lnTo>
                  <a:lnTo>
                    <a:pt x="3233379" y="0"/>
                  </a:lnTo>
                  <a:close/>
                </a:path>
                <a:path w="4862830" h="5332730">
                  <a:moveTo>
                    <a:pt x="3155805" y="0"/>
                  </a:moveTo>
                  <a:lnTo>
                    <a:pt x="3111351" y="0"/>
                  </a:lnTo>
                  <a:lnTo>
                    <a:pt x="3111351" y="10594"/>
                  </a:lnTo>
                  <a:lnTo>
                    <a:pt x="3155805" y="10594"/>
                  </a:lnTo>
                  <a:lnTo>
                    <a:pt x="3155805" y="0"/>
                  </a:lnTo>
                  <a:close/>
                </a:path>
                <a:path w="4862830" h="5332730">
                  <a:moveTo>
                    <a:pt x="3077790" y="0"/>
                  </a:moveTo>
                  <a:lnTo>
                    <a:pt x="3033630" y="0"/>
                  </a:lnTo>
                  <a:lnTo>
                    <a:pt x="3033630" y="10594"/>
                  </a:lnTo>
                  <a:lnTo>
                    <a:pt x="3077790" y="10594"/>
                  </a:lnTo>
                  <a:lnTo>
                    <a:pt x="3077790" y="0"/>
                  </a:lnTo>
                  <a:close/>
                </a:path>
                <a:path w="4862830" h="5332730">
                  <a:moveTo>
                    <a:pt x="3001835" y="0"/>
                  </a:moveTo>
                  <a:lnTo>
                    <a:pt x="2957822" y="0"/>
                  </a:lnTo>
                  <a:lnTo>
                    <a:pt x="2957822" y="10594"/>
                  </a:lnTo>
                  <a:lnTo>
                    <a:pt x="3001835" y="10594"/>
                  </a:lnTo>
                  <a:lnTo>
                    <a:pt x="3001835" y="0"/>
                  </a:lnTo>
                  <a:close/>
                </a:path>
                <a:path w="4862830" h="5332730">
                  <a:moveTo>
                    <a:pt x="2924261" y="0"/>
                  </a:moveTo>
                  <a:lnTo>
                    <a:pt x="2880101" y="0"/>
                  </a:lnTo>
                  <a:lnTo>
                    <a:pt x="2880101" y="10594"/>
                  </a:lnTo>
                  <a:lnTo>
                    <a:pt x="2924261" y="10594"/>
                  </a:lnTo>
                  <a:lnTo>
                    <a:pt x="2924261" y="0"/>
                  </a:lnTo>
                  <a:close/>
                </a:path>
                <a:path w="4862830" h="5332730">
                  <a:moveTo>
                    <a:pt x="2846540" y="0"/>
                  </a:moveTo>
                  <a:lnTo>
                    <a:pt x="2802085" y="0"/>
                  </a:lnTo>
                  <a:lnTo>
                    <a:pt x="2802085" y="10594"/>
                  </a:lnTo>
                  <a:lnTo>
                    <a:pt x="2846540" y="10594"/>
                  </a:lnTo>
                  <a:lnTo>
                    <a:pt x="2846540" y="0"/>
                  </a:lnTo>
                  <a:close/>
                </a:path>
                <a:path w="4862830" h="5332730">
                  <a:moveTo>
                    <a:pt x="2768524" y="0"/>
                  </a:moveTo>
                  <a:lnTo>
                    <a:pt x="2724364" y="0"/>
                  </a:lnTo>
                  <a:lnTo>
                    <a:pt x="2724364" y="10594"/>
                  </a:lnTo>
                  <a:lnTo>
                    <a:pt x="2768524" y="10594"/>
                  </a:lnTo>
                  <a:lnTo>
                    <a:pt x="2768524" y="0"/>
                  </a:lnTo>
                  <a:close/>
                </a:path>
                <a:path w="4862830" h="5332730">
                  <a:moveTo>
                    <a:pt x="2692716" y="0"/>
                  </a:moveTo>
                  <a:lnTo>
                    <a:pt x="2648556" y="0"/>
                  </a:lnTo>
                  <a:lnTo>
                    <a:pt x="2648556" y="10594"/>
                  </a:lnTo>
                  <a:lnTo>
                    <a:pt x="2692716" y="10594"/>
                  </a:lnTo>
                  <a:lnTo>
                    <a:pt x="2692716" y="0"/>
                  </a:lnTo>
                  <a:close/>
                </a:path>
                <a:path w="4862830" h="5332730">
                  <a:moveTo>
                    <a:pt x="2614995" y="0"/>
                  </a:moveTo>
                  <a:lnTo>
                    <a:pt x="2570982" y="0"/>
                  </a:lnTo>
                  <a:lnTo>
                    <a:pt x="2570982" y="10594"/>
                  </a:lnTo>
                  <a:lnTo>
                    <a:pt x="2614995" y="10594"/>
                  </a:lnTo>
                  <a:lnTo>
                    <a:pt x="2614995" y="0"/>
                  </a:lnTo>
                  <a:close/>
                </a:path>
                <a:path w="4862830" h="5332730">
                  <a:moveTo>
                    <a:pt x="2537421" y="0"/>
                  </a:moveTo>
                  <a:lnTo>
                    <a:pt x="2492820" y="0"/>
                  </a:lnTo>
                  <a:lnTo>
                    <a:pt x="2492820" y="10594"/>
                  </a:lnTo>
                  <a:lnTo>
                    <a:pt x="2537421" y="10594"/>
                  </a:lnTo>
                  <a:lnTo>
                    <a:pt x="2537421" y="0"/>
                  </a:lnTo>
                  <a:close/>
                </a:path>
                <a:path w="4862830" h="5332730">
                  <a:moveTo>
                    <a:pt x="2459405" y="0"/>
                  </a:moveTo>
                  <a:lnTo>
                    <a:pt x="2415246" y="0"/>
                  </a:lnTo>
                  <a:lnTo>
                    <a:pt x="2415246" y="10594"/>
                  </a:lnTo>
                  <a:lnTo>
                    <a:pt x="2459405" y="10594"/>
                  </a:lnTo>
                  <a:lnTo>
                    <a:pt x="2459405" y="0"/>
                  </a:lnTo>
                  <a:close/>
                </a:path>
                <a:path w="4862830" h="5332730">
                  <a:moveTo>
                    <a:pt x="2383451" y="0"/>
                  </a:moveTo>
                  <a:lnTo>
                    <a:pt x="2339438" y="0"/>
                  </a:lnTo>
                  <a:lnTo>
                    <a:pt x="2339438" y="10594"/>
                  </a:lnTo>
                  <a:lnTo>
                    <a:pt x="2383451" y="10594"/>
                  </a:lnTo>
                  <a:lnTo>
                    <a:pt x="2383451" y="0"/>
                  </a:lnTo>
                  <a:close/>
                </a:path>
                <a:path w="4862830" h="5332730">
                  <a:moveTo>
                    <a:pt x="2305877" y="0"/>
                  </a:moveTo>
                  <a:lnTo>
                    <a:pt x="2261717" y="0"/>
                  </a:lnTo>
                  <a:lnTo>
                    <a:pt x="2261717" y="10594"/>
                  </a:lnTo>
                  <a:lnTo>
                    <a:pt x="2305877" y="10594"/>
                  </a:lnTo>
                  <a:lnTo>
                    <a:pt x="2305877" y="0"/>
                  </a:lnTo>
                  <a:close/>
                </a:path>
                <a:path w="4862830" h="5332730">
                  <a:moveTo>
                    <a:pt x="2227861" y="0"/>
                  </a:moveTo>
                  <a:lnTo>
                    <a:pt x="2183701" y="0"/>
                  </a:lnTo>
                  <a:lnTo>
                    <a:pt x="2183701" y="10594"/>
                  </a:lnTo>
                  <a:lnTo>
                    <a:pt x="2227861" y="10594"/>
                  </a:lnTo>
                  <a:lnTo>
                    <a:pt x="2227861" y="0"/>
                  </a:lnTo>
                  <a:close/>
                </a:path>
                <a:path w="4862830" h="5332730">
                  <a:moveTo>
                    <a:pt x="2150140" y="0"/>
                  </a:moveTo>
                  <a:lnTo>
                    <a:pt x="2105980" y="0"/>
                  </a:lnTo>
                  <a:lnTo>
                    <a:pt x="2105980" y="10594"/>
                  </a:lnTo>
                  <a:lnTo>
                    <a:pt x="2150140" y="10594"/>
                  </a:lnTo>
                  <a:lnTo>
                    <a:pt x="2150140" y="0"/>
                  </a:lnTo>
                  <a:close/>
                </a:path>
                <a:path w="4862830" h="5332730">
                  <a:moveTo>
                    <a:pt x="2074332" y="0"/>
                  </a:moveTo>
                  <a:lnTo>
                    <a:pt x="2030172" y="0"/>
                  </a:lnTo>
                  <a:lnTo>
                    <a:pt x="2030172" y="10594"/>
                  </a:lnTo>
                  <a:lnTo>
                    <a:pt x="2074332" y="10594"/>
                  </a:lnTo>
                  <a:lnTo>
                    <a:pt x="2074332" y="0"/>
                  </a:lnTo>
                  <a:close/>
                </a:path>
                <a:path w="4862830" h="5332730">
                  <a:moveTo>
                    <a:pt x="1996611" y="0"/>
                  </a:moveTo>
                  <a:lnTo>
                    <a:pt x="1952157" y="0"/>
                  </a:lnTo>
                  <a:lnTo>
                    <a:pt x="1952157" y="10594"/>
                  </a:lnTo>
                  <a:lnTo>
                    <a:pt x="1996611" y="10594"/>
                  </a:lnTo>
                  <a:lnTo>
                    <a:pt x="1996611" y="0"/>
                  </a:lnTo>
                  <a:close/>
                </a:path>
                <a:path w="4862830" h="5332730">
                  <a:moveTo>
                    <a:pt x="1918595" y="0"/>
                  </a:moveTo>
                  <a:lnTo>
                    <a:pt x="1874435" y="0"/>
                  </a:lnTo>
                  <a:lnTo>
                    <a:pt x="1874435" y="10594"/>
                  </a:lnTo>
                  <a:lnTo>
                    <a:pt x="1918595" y="10594"/>
                  </a:lnTo>
                  <a:lnTo>
                    <a:pt x="1918595" y="0"/>
                  </a:lnTo>
                  <a:close/>
                </a:path>
                <a:path w="4862830" h="5332730">
                  <a:moveTo>
                    <a:pt x="1841021" y="0"/>
                  </a:moveTo>
                  <a:lnTo>
                    <a:pt x="1796861" y="0"/>
                  </a:lnTo>
                  <a:lnTo>
                    <a:pt x="1796861" y="10594"/>
                  </a:lnTo>
                  <a:lnTo>
                    <a:pt x="1841021" y="10594"/>
                  </a:lnTo>
                  <a:lnTo>
                    <a:pt x="1841021" y="0"/>
                  </a:lnTo>
                  <a:close/>
                </a:path>
                <a:path w="4862830" h="5332730">
                  <a:moveTo>
                    <a:pt x="1765066" y="0"/>
                  </a:moveTo>
                  <a:lnTo>
                    <a:pt x="1721054" y="0"/>
                  </a:lnTo>
                  <a:lnTo>
                    <a:pt x="1721054" y="10594"/>
                  </a:lnTo>
                  <a:lnTo>
                    <a:pt x="1765066" y="10594"/>
                  </a:lnTo>
                  <a:lnTo>
                    <a:pt x="1765066" y="0"/>
                  </a:lnTo>
                  <a:close/>
                </a:path>
                <a:path w="4862830" h="5332730">
                  <a:moveTo>
                    <a:pt x="1687492" y="0"/>
                  </a:moveTo>
                  <a:lnTo>
                    <a:pt x="1643038" y="0"/>
                  </a:lnTo>
                  <a:lnTo>
                    <a:pt x="1643038" y="10594"/>
                  </a:lnTo>
                  <a:lnTo>
                    <a:pt x="1687492" y="10594"/>
                  </a:lnTo>
                  <a:lnTo>
                    <a:pt x="1687492" y="0"/>
                  </a:lnTo>
                  <a:close/>
                </a:path>
                <a:path w="4862830" h="5332730">
                  <a:moveTo>
                    <a:pt x="1609477" y="0"/>
                  </a:moveTo>
                  <a:lnTo>
                    <a:pt x="1565317" y="0"/>
                  </a:lnTo>
                  <a:lnTo>
                    <a:pt x="1565317" y="10594"/>
                  </a:lnTo>
                  <a:lnTo>
                    <a:pt x="1609477" y="10594"/>
                  </a:lnTo>
                  <a:lnTo>
                    <a:pt x="1609477" y="0"/>
                  </a:lnTo>
                  <a:close/>
                </a:path>
                <a:path w="4862830" h="5332730">
                  <a:moveTo>
                    <a:pt x="1531755" y="0"/>
                  </a:moveTo>
                  <a:lnTo>
                    <a:pt x="1487596" y="0"/>
                  </a:lnTo>
                  <a:lnTo>
                    <a:pt x="1487596" y="10594"/>
                  </a:lnTo>
                  <a:lnTo>
                    <a:pt x="1531755" y="10594"/>
                  </a:lnTo>
                  <a:lnTo>
                    <a:pt x="1531755" y="0"/>
                  </a:lnTo>
                  <a:close/>
                </a:path>
                <a:path w="4862830" h="5332730">
                  <a:moveTo>
                    <a:pt x="1455948" y="0"/>
                  </a:moveTo>
                  <a:lnTo>
                    <a:pt x="1411788" y="0"/>
                  </a:lnTo>
                  <a:lnTo>
                    <a:pt x="1411788" y="10594"/>
                  </a:lnTo>
                  <a:lnTo>
                    <a:pt x="1455948" y="10594"/>
                  </a:lnTo>
                  <a:lnTo>
                    <a:pt x="1455948" y="0"/>
                  </a:lnTo>
                  <a:close/>
                </a:path>
                <a:path w="4862830" h="5332730">
                  <a:moveTo>
                    <a:pt x="1378227" y="0"/>
                  </a:moveTo>
                  <a:lnTo>
                    <a:pt x="1333772" y="0"/>
                  </a:lnTo>
                  <a:lnTo>
                    <a:pt x="1333772" y="10594"/>
                  </a:lnTo>
                  <a:lnTo>
                    <a:pt x="1378227" y="10594"/>
                  </a:lnTo>
                  <a:lnTo>
                    <a:pt x="1378227" y="0"/>
                  </a:lnTo>
                  <a:close/>
                </a:path>
                <a:path w="4862830" h="5332730">
                  <a:moveTo>
                    <a:pt x="1300211" y="0"/>
                  </a:moveTo>
                  <a:lnTo>
                    <a:pt x="1256051" y="0"/>
                  </a:lnTo>
                  <a:lnTo>
                    <a:pt x="1256051" y="10594"/>
                  </a:lnTo>
                  <a:lnTo>
                    <a:pt x="1300211" y="10594"/>
                  </a:lnTo>
                  <a:lnTo>
                    <a:pt x="1300211" y="0"/>
                  </a:lnTo>
                  <a:close/>
                </a:path>
                <a:path w="4862830" h="5332730">
                  <a:moveTo>
                    <a:pt x="1222490" y="0"/>
                  </a:moveTo>
                  <a:lnTo>
                    <a:pt x="1178477" y="0"/>
                  </a:lnTo>
                  <a:lnTo>
                    <a:pt x="1178477" y="10594"/>
                  </a:lnTo>
                  <a:lnTo>
                    <a:pt x="1222490" y="10594"/>
                  </a:lnTo>
                  <a:lnTo>
                    <a:pt x="1222490" y="0"/>
                  </a:lnTo>
                  <a:close/>
                </a:path>
                <a:path w="4862830" h="5332730">
                  <a:moveTo>
                    <a:pt x="1146682" y="0"/>
                  </a:moveTo>
                  <a:lnTo>
                    <a:pt x="1102669" y="0"/>
                  </a:lnTo>
                  <a:lnTo>
                    <a:pt x="1102669" y="10594"/>
                  </a:lnTo>
                  <a:lnTo>
                    <a:pt x="1146682" y="10594"/>
                  </a:lnTo>
                  <a:lnTo>
                    <a:pt x="1146682" y="0"/>
                  </a:lnTo>
                  <a:close/>
                </a:path>
                <a:path w="4862830" h="5332730">
                  <a:moveTo>
                    <a:pt x="1068666" y="0"/>
                  </a:moveTo>
                  <a:lnTo>
                    <a:pt x="1024507" y="0"/>
                  </a:lnTo>
                  <a:lnTo>
                    <a:pt x="1024507" y="10594"/>
                  </a:lnTo>
                  <a:lnTo>
                    <a:pt x="1068666" y="10594"/>
                  </a:lnTo>
                  <a:lnTo>
                    <a:pt x="1068666" y="0"/>
                  </a:lnTo>
                  <a:close/>
                </a:path>
                <a:path w="4862830" h="5332730">
                  <a:moveTo>
                    <a:pt x="991092" y="0"/>
                  </a:moveTo>
                  <a:lnTo>
                    <a:pt x="946933" y="0"/>
                  </a:lnTo>
                  <a:lnTo>
                    <a:pt x="946933" y="10594"/>
                  </a:lnTo>
                  <a:lnTo>
                    <a:pt x="991092" y="10594"/>
                  </a:lnTo>
                  <a:lnTo>
                    <a:pt x="991092" y="0"/>
                  </a:lnTo>
                  <a:close/>
                </a:path>
                <a:path w="4862830" h="5332730">
                  <a:moveTo>
                    <a:pt x="913371" y="0"/>
                  </a:moveTo>
                  <a:lnTo>
                    <a:pt x="869211" y="0"/>
                  </a:lnTo>
                  <a:lnTo>
                    <a:pt x="869211" y="10594"/>
                  </a:lnTo>
                  <a:lnTo>
                    <a:pt x="913371" y="10594"/>
                  </a:lnTo>
                  <a:lnTo>
                    <a:pt x="913371" y="0"/>
                  </a:lnTo>
                  <a:close/>
                </a:path>
                <a:path w="4862830" h="5332730">
                  <a:moveTo>
                    <a:pt x="837564" y="0"/>
                  </a:moveTo>
                  <a:lnTo>
                    <a:pt x="793109" y="0"/>
                  </a:lnTo>
                  <a:lnTo>
                    <a:pt x="793109" y="10594"/>
                  </a:lnTo>
                  <a:lnTo>
                    <a:pt x="837564" y="10594"/>
                  </a:lnTo>
                  <a:lnTo>
                    <a:pt x="837564" y="0"/>
                  </a:lnTo>
                  <a:close/>
                </a:path>
                <a:path w="4862830" h="5332730">
                  <a:moveTo>
                    <a:pt x="759548" y="0"/>
                  </a:moveTo>
                  <a:lnTo>
                    <a:pt x="715388" y="0"/>
                  </a:lnTo>
                  <a:lnTo>
                    <a:pt x="715388" y="10594"/>
                  </a:lnTo>
                  <a:lnTo>
                    <a:pt x="759548" y="10594"/>
                  </a:lnTo>
                  <a:lnTo>
                    <a:pt x="759548" y="0"/>
                  </a:lnTo>
                  <a:close/>
                </a:path>
                <a:path w="4862830" h="5332730">
                  <a:moveTo>
                    <a:pt x="681827" y="0"/>
                  </a:moveTo>
                  <a:lnTo>
                    <a:pt x="637667" y="0"/>
                  </a:lnTo>
                  <a:lnTo>
                    <a:pt x="637667" y="10594"/>
                  </a:lnTo>
                  <a:lnTo>
                    <a:pt x="681827" y="10594"/>
                  </a:lnTo>
                  <a:lnTo>
                    <a:pt x="681827" y="0"/>
                  </a:lnTo>
                  <a:close/>
                </a:path>
                <a:path w="4862830" h="5332730">
                  <a:moveTo>
                    <a:pt x="604105" y="0"/>
                  </a:moveTo>
                  <a:lnTo>
                    <a:pt x="560093" y="0"/>
                  </a:lnTo>
                  <a:lnTo>
                    <a:pt x="560093" y="10594"/>
                  </a:lnTo>
                  <a:lnTo>
                    <a:pt x="604105" y="10594"/>
                  </a:lnTo>
                  <a:lnTo>
                    <a:pt x="604105" y="0"/>
                  </a:lnTo>
                  <a:close/>
                </a:path>
                <a:path w="4862830" h="5332730">
                  <a:moveTo>
                    <a:pt x="528298" y="0"/>
                  </a:moveTo>
                  <a:lnTo>
                    <a:pt x="483844" y="0"/>
                  </a:lnTo>
                  <a:lnTo>
                    <a:pt x="483844" y="10594"/>
                  </a:lnTo>
                  <a:lnTo>
                    <a:pt x="528298" y="10594"/>
                  </a:lnTo>
                  <a:lnTo>
                    <a:pt x="528298" y="0"/>
                  </a:lnTo>
                  <a:close/>
                </a:path>
                <a:path w="4862830" h="5332730">
                  <a:moveTo>
                    <a:pt x="450282" y="0"/>
                  </a:moveTo>
                  <a:lnTo>
                    <a:pt x="406122" y="0"/>
                  </a:lnTo>
                  <a:lnTo>
                    <a:pt x="406122" y="10594"/>
                  </a:lnTo>
                  <a:lnTo>
                    <a:pt x="450282" y="10594"/>
                  </a:lnTo>
                  <a:lnTo>
                    <a:pt x="450282" y="0"/>
                  </a:lnTo>
                  <a:close/>
                </a:path>
                <a:path w="4862830" h="5332730">
                  <a:moveTo>
                    <a:pt x="372708" y="0"/>
                  </a:moveTo>
                  <a:lnTo>
                    <a:pt x="328548" y="0"/>
                  </a:lnTo>
                  <a:lnTo>
                    <a:pt x="328548" y="10594"/>
                  </a:lnTo>
                  <a:lnTo>
                    <a:pt x="372708" y="10594"/>
                  </a:lnTo>
                  <a:lnTo>
                    <a:pt x="372708" y="0"/>
                  </a:lnTo>
                  <a:close/>
                </a:path>
                <a:path w="4862830" h="5332730">
                  <a:moveTo>
                    <a:pt x="294987" y="0"/>
                  </a:moveTo>
                  <a:lnTo>
                    <a:pt x="250827" y="0"/>
                  </a:lnTo>
                  <a:lnTo>
                    <a:pt x="250827" y="10594"/>
                  </a:lnTo>
                  <a:lnTo>
                    <a:pt x="294987" y="10594"/>
                  </a:lnTo>
                  <a:lnTo>
                    <a:pt x="294987" y="0"/>
                  </a:lnTo>
                  <a:close/>
                </a:path>
                <a:path w="4862830" h="5332730">
                  <a:moveTo>
                    <a:pt x="219179" y="0"/>
                  </a:moveTo>
                  <a:lnTo>
                    <a:pt x="174578" y="0"/>
                  </a:lnTo>
                  <a:lnTo>
                    <a:pt x="174578" y="10594"/>
                  </a:lnTo>
                  <a:lnTo>
                    <a:pt x="219179" y="10594"/>
                  </a:lnTo>
                  <a:lnTo>
                    <a:pt x="219179" y="0"/>
                  </a:lnTo>
                  <a:close/>
                </a:path>
                <a:path w="4862830" h="5332730">
                  <a:moveTo>
                    <a:pt x="141164" y="0"/>
                  </a:moveTo>
                  <a:lnTo>
                    <a:pt x="97004" y="0"/>
                  </a:lnTo>
                  <a:lnTo>
                    <a:pt x="97004" y="10594"/>
                  </a:lnTo>
                  <a:lnTo>
                    <a:pt x="141164" y="10594"/>
                  </a:lnTo>
                  <a:lnTo>
                    <a:pt x="141164" y="0"/>
                  </a:lnTo>
                  <a:close/>
                </a:path>
                <a:path w="4862830" h="5332730">
                  <a:moveTo>
                    <a:pt x="63442" y="0"/>
                  </a:moveTo>
                  <a:lnTo>
                    <a:pt x="19283" y="0"/>
                  </a:lnTo>
                  <a:lnTo>
                    <a:pt x="19283" y="10594"/>
                  </a:lnTo>
                  <a:lnTo>
                    <a:pt x="63442" y="10594"/>
                  </a:lnTo>
                  <a:lnTo>
                    <a:pt x="63442" y="0"/>
                  </a:lnTo>
                  <a:close/>
                </a:path>
                <a:path w="4862830" h="5332730">
                  <a:moveTo>
                    <a:pt x="10568" y="24719"/>
                  </a:moveTo>
                  <a:lnTo>
                    <a:pt x="0" y="24719"/>
                  </a:lnTo>
                  <a:lnTo>
                    <a:pt x="0" y="69009"/>
                  </a:lnTo>
                  <a:lnTo>
                    <a:pt x="10568" y="69009"/>
                  </a:lnTo>
                  <a:lnTo>
                    <a:pt x="10568" y="24719"/>
                  </a:lnTo>
                  <a:close/>
                </a:path>
                <a:path w="4862830" h="5332730">
                  <a:moveTo>
                    <a:pt x="10568" y="100645"/>
                  </a:moveTo>
                  <a:lnTo>
                    <a:pt x="0" y="100645"/>
                  </a:lnTo>
                  <a:lnTo>
                    <a:pt x="0" y="144935"/>
                  </a:lnTo>
                  <a:lnTo>
                    <a:pt x="10568" y="144935"/>
                  </a:lnTo>
                  <a:lnTo>
                    <a:pt x="10568" y="100645"/>
                  </a:lnTo>
                  <a:close/>
                </a:path>
                <a:path w="4862830" h="5332730">
                  <a:moveTo>
                    <a:pt x="10568" y="178631"/>
                  </a:moveTo>
                  <a:lnTo>
                    <a:pt x="0" y="178631"/>
                  </a:lnTo>
                  <a:lnTo>
                    <a:pt x="0" y="222627"/>
                  </a:lnTo>
                  <a:lnTo>
                    <a:pt x="10568" y="222627"/>
                  </a:lnTo>
                  <a:lnTo>
                    <a:pt x="10568" y="178631"/>
                  </a:lnTo>
                  <a:close/>
                </a:path>
                <a:path w="4862830" h="5332730">
                  <a:moveTo>
                    <a:pt x="10568" y="256322"/>
                  </a:moveTo>
                  <a:lnTo>
                    <a:pt x="0" y="256322"/>
                  </a:lnTo>
                  <a:lnTo>
                    <a:pt x="0" y="300612"/>
                  </a:lnTo>
                  <a:lnTo>
                    <a:pt x="10568" y="300612"/>
                  </a:lnTo>
                  <a:lnTo>
                    <a:pt x="10568" y="256322"/>
                  </a:lnTo>
                  <a:close/>
                </a:path>
                <a:path w="4862830" h="5332730">
                  <a:moveTo>
                    <a:pt x="10568" y="334014"/>
                  </a:moveTo>
                  <a:lnTo>
                    <a:pt x="0" y="334014"/>
                  </a:lnTo>
                  <a:lnTo>
                    <a:pt x="0" y="378304"/>
                  </a:lnTo>
                  <a:lnTo>
                    <a:pt x="10568" y="378304"/>
                  </a:lnTo>
                  <a:lnTo>
                    <a:pt x="10568" y="334014"/>
                  </a:lnTo>
                  <a:close/>
                </a:path>
                <a:path w="4862830" h="5332730">
                  <a:moveTo>
                    <a:pt x="10568" y="410234"/>
                  </a:moveTo>
                  <a:lnTo>
                    <a:pt x="0" y="410234"/>
                  </a:lnTo>
                  <a:lnTo>
                    <a:pt x="0" y="454229"/>
                  </a:lnTo>
                  <a:lnTo>
                    <a:pt x="10568" y="454229"/>
                  </a:lnTo>
                  <a:lnTo>
                    <a:pt x="10568" y="410234"/>
                  </a:lnTo>
                  <a:close/>
                </a:path>
                <a:path w="4862830" h="5332730">
                  <a:moveTo>
                    <a:pt x="10568" y="487925"/>
                  </a:moveTo>
                  <a:lnTo>
                    <a:pt x="0" y="487925"/>
                  </a:lnTo>
                  <a:lnTo>
                    <a:pt x="0" y="532215"/>
                  </a:lnTo>
                  <a:lnTo>
                    <a:pt x="10568" y="532215"/>
                  </a:lnTo>
                  <a:lnTo>
                    <a:pt x="10568" y="487925"/>
                  </a:lnTo>
                  <a:close/>
                </a:path>
                <a:path w="4862830" h="5332730">
                  <a:moveTo>
                    <a:pt x="10568" y="565616"/>
                  </a:moveTo>
                  <a:lnTo>
                    <a:pt x="0" y="565616"/>
                  </a:lnTo>
                  <a:lnTo>
                    <a:pt x="0" y="609906"/>
                  </a:lnTo>
                  <a:lnTo>
                    <a:pt x="10568" y="609906"/>
                  </a:lnTo>
                  <a:lnTo>
                    <a:pt x="10568" y="565616"/>
                  </a:lnTo>
                  <a:close/>
                </a:path>
                <a:path w="4862830" h="5332730">
                  <a:moveTo>
                    <a:pt x="10568" y="643749"/>
                  </a:moveTo>
                  <a:lnTo>
                    <a:pt x="0" y="643749"/>
                  </a:lnTo>
                  <a:lnTo>
                    <a:pt x="0" y="687598"/>
                  </a:lnTo>
                  <a:lnTo>
                    <a:pt x="10568" y="687598"/>
                  </a:lnTo>
                  <a:lnTo>
                    <a:pt x="10568" y="643749"/>
                  </a:lnTo>
                  <a:close/>
                </a:path>
                <a:path w="4862830" h="5332730">
                  <a:moveTo>
                    <a:pt x="10568" y="719528"/>
                  </a:moveTo>
                  <a:lnTo>
                    <a:pt x="0" y="719528"/>
                  </a:lnTo>
                  <a:lnTo>
                    <a:pt x="0" y="763818"/>
                  </a:lnTo>
                  <a:lnTo>
                    <a:pt x="10568" y="763818"/>
                  </a:lnTo>
                  <a:lnTo>
                    <a:pt x="10568" y="719528"/>
                  </a:lnTo>
                  <a:close/>
                </a:path>
                <a:path w="4862830" h="5332730">
                  <a:moveTo>
                    <a:pt x="10568" y="797219"/>
                  </a:moveTo>
                  <a:lnTo>
                    <a:pt x="0" y="797219"/>
                  </a:lnTo>
                  <a:lnTo>
                    <a:pt x="0" y="841509"/>
                  </a:lnTo>
                  <a:lnTo>
                    <a:pt x="10568" y="841509"/>
                  </a:lnTo>
                  <a:lnTo>
                    <a:pt x="10568" y="797219"/>
                  </a:lnTo>
                  <a:close/>
                </a:path>
                <a:path w="4862830" h="5332730">
                  <a:moveTo>
                    <a:pt x="10568" y="875352"/>
                  </a:moveTo>
                  <a:lnTo>
                    <a:pt x="0" y="875352"/>
                  </a:lnTo>
                  <a:lnTo>
                    <a:pt x="0" y="919200"/>
                  </a:lnTo>
                  <a:lnTo>
                    <a:pt x="10568" y="919200"/>
                  </a:lnTo>
                  <a:lnTo>
                    <a:pt x="10568" y="875352"/>
                  </a:lnTo>
                  <a:close/>
                </a:path>
                <a:path w="4862830" h="5332730">
                  <a:moveTo>
                    <a:pt x="10568" y="953043"/>
                  </a:moveTo>
                  <a:lnTo>
                    <a:pt x="0" y="953043"/>
                  </a:lnTo>
                  <a:lnTo>
                    <a:pt x="0" y="997333"/>
                  </a:lnTo>
                  <a:lnTo>
                    <a:pt x="10568" y="997333"/>
                  </a:lnTo>
                  <a:lnTo>
                    <a:pt x="10568" y="953043"/>
                  </a:lnTo>
                  <a:close/>
                </a:path>
                <a:path w="4862830" h="5332730">
                  <a:moveTo>
                    <a:pt x="10568" y="1028822"/>
                  </a:moveTo>
                  <a:lnTo>
                    <a:pt x="0" y="1028822"/>
                  </a:lnTo>
                  <a:lnTo>
                    <a:pt x="0" y="1073112"/>
                  </a:lnTo>
                  <a:lnTo>
                    <a:pt x="10568" y="1073112"/>
                  </a:lnTo>
                  <a:lnTo>
                    <a:pt x="10568" y="1028822"/>
                  </a:lnTo>
                  <a:close/>
                </a:path>
                <a:path w="4862830" h="5332730">
                  <a:moveTo>
                    <a:pt x="10568" y="1106955"/>
                  </a:moveTo>
                  <a:lnTo>
                    <a:pt x="0" y="1106955"/>
                  </a:lnTo>
                  <a:lnTo>
                    <a:pt x="0" y="1150803"/>
                  </a:lnTo>
                  <a:lnTo>
                    <a:pt x="10568" y="1150803"/>
                  </a:lnTo>
                  <a:lnTo>
                    <a:pt x="10568" y="1106955"/>
                  </a:lnTo>
                  <a:close/>
                </a:path>
                <a:path w="4862830" h="5332730">
                  <a:moveTo>
                    <a:pt x="10568" y="1184646"/>
                  </a:moveTo>
                  <a:lnTo>
                    <a:pt x="0" y="1184646"/>
                  </a:lnTo>
                  <a:lnTo>
                    <a:pt x="0" y="1228936"/>
                  </a:lnTo>
                  <a:lnTo>
                    <a:pt x="10568" y="1228936"/>
                  </a:lnTo>
                  <a:lnTo>
                    <a:pt x="10568" y="1184646"/>
                  </a:lnTo>
                  <a:close/>
                </a:path>
                <a:path w="4862830" h="5332730">
                  <a:moveTo>
                    <a:pt x="10568" y="1262337"/>
                  </a:moveTo>
                  <a:lnTo>
                    <a:pt x="0" y="1262337"/>
                  </a:lnTo>
                  <a:lnTo>
                    <a:pt x="0" y="1306627"/>
                  </a:lnTo>
                  <a:lnTo>
                    <a:pt x="10568" y="1306627"/>
                  </a:lnTo>
                  <a:lnTo>
                    <a:pt x="10568" y="1262337"/>
                  </a:lnTo>
                  <a:close/>
                </a:path>
                <a:path w="4862830" h="5332730">
                  <a:moveTo>
                    <a:pt x="10568" y="1338557"/>
                  </a:moveTo>
                  <a:lnTo>
                    <a:pt x="0" y="1338557"/>
                  </a:lnTo>
                  <a:lnTo>
                    <a:pt x="0" y="1382406"/>
                  </a:lnTo>
                  <a:lnTo>
                    <a:pt x="10568" y="1382406"/>
                  </a:lnTo>
                  <a:lnTo>
                    <a:pt x="10568" y="1338557"/>
                  </a:lnTo>
                  <a:close/>
                </a:path>
                <a:path w="4862830" h="5332730">
                  <a:moveTo>
                    <a:pt x="10568" y="1416249"/>
                  </a:moveTo>
                  <a:lnTo>
                    <a:pt x="0" y="1416249"/>
                  </a:lnTo>
                  <a:lnTo>
                    <a:pt x="0" y="1460539"/>
                  </a:lnTo>
                  <a:lnTo>
                    <a:pt x="10568" y="1460539"/>
                  </a:lnTo>
                  <a:lnTo>
                    <a:pt x="10568" y="1416249"/>
                  </a:lnTo>
                  <a:close/>
                </a:path>
                <a:path w="4862830" h="5332730">
                  <a:moveTo>
                    <a:pt x="10568" y="1493940"/>
                  </a:moveTo>
                  <a:lnTo>
                    <a:pt x="0" y="1493940"/>
                  </a:lnTo>
                  <a:lnTo>
                    <a:pt x="0" y="1538230"/>
                  </a:lnTo>
                  <a:lnTo>
                    <a:pt x="10568" y="1538230"/>
                  </a:lnTo>
                  <a:lnTo>
                    <a:pt x="10568" y="1493940"/>
                  </a:lnTo>
                  <a:close/>
                </a:path>
                <a:path w="4862830" h="5332730">
                  <a:moveTo>
                    <a:pt x="10568" y="1571926"/>
                  </a:moveTo>
                  <a:lnTo>
                    <a:pt x="0" y="1571926"/>
                  </a:lnTo>
                  <a:lnTo>
                    <a:pt x="0" y="1615921"/>
                  </a:lnTo>
                  <a:lnTo>
                    <a:pt x="10568" y="1615921"/>
                  </a:lnTo>
                  <a:lnTo>
                    <a:pt x="10568" y="1571926"/>
                  </a:lnTo>
                  <a:close/>
                </a:path>
                <a:path w="4862830" h="5332730">
                  <a:moveTo>
                    <a:pt x="10568" y="1647851"/>
                  </a:moveTo>
                  <a:lnTo>
                    <a:pt x="0" y="1647851"/>
                  </a:lnTo>
                  <a:lnTo>
                    <a:pt x="0" y="1692141"/>
                  </a:lnTo>
                  <a:lnTo>
                    <a:pt x="10568" y="1692141"/>
                  </a:lnTo>
                  <a:lnTo>
                    <a:pt x="10568" y="1647851"/>
                  </a:lnTo>
                  <a:close/>
                </a:path>
                <a:path w="4862830" h="5332730">
                  <a:moveTo>
                    <a:pt x="10568" y="1725543"/>
                  </a:moveTo>
                  <a:lnTo>
                    <a:pt x="0" y="1725543"/>
                  </a:lnTo>
                  <a:lnTo>
                    <a:pt x="0" y="1769833"/>
                  </a:lnTo>
                  <a:lnTo>
                    <a:pt x="10568" y="1769833"/>
                  </a:lnTo>
                  <a:lnTo>
                    <a:pt x="10568" y="1725543"/>
                  </a:lnTo>
                  <a:close/>
                </a:path>
                <a:path w="4862830" h="5332730">
                  <a:moveTo>
                    <a:pt x="10568" y="1803529"/>
                  </a:moveTo>
                  <a:lnTo>
                    <a:pt x="0" y="1803529"/>
                  </a:lnTo>
                  <a:lnTo>
                    <a:pt x="0" y="1847524"/>
                  </a:lnTo>
                  <a:lnTo>
                    <a:pt x="10568" y="1847524"/>
                  </a:lnTo>
                  <a:lnTo>
                    <a:pt x="10568" y="1803529"/>
                  </a:lnTo>
                  <a:close/>
                </a:path>
                <a:path w="4862830" h="5332730">
                  <a:moveTo>
                    <a:pt x="10568" y="1881220"/>
                  </a:moveTo>
                  <a:lnTo>
                    <a:pt x="0" y="1881220"/>
                  </a:lnTo>
                  <a:lnTo>
                    <a:pt x="0" y="1925510"/>
                  </a:lnTo>
                  <a:lnTo>
                    <a:pt x="10568" y="1925510"/>
                  </a:lnTo>
                  <a:lnTo>
                    <a:pt x="10568" y="1881220"/>
                  </a:lnTo>
                  <a:close/>
                </a:path>
                <a:path w="4862830" h="5332730">
                  <a:moveTo>
                    <a:pt x="10568" y="1957146"/>
                  </a:moveTo>
                  <a:lnTo>
                    <a:pt x="0" y="1957146"/>
                  </a:lnTo>
                  <a:lnTo>
                    <a:pt x="0" y="2001436"/>
                  </a:lnTo>
                  <a:lnTo>
                    <a:pt x="10568" y="2001436"/>
                  </a:lnTo>
                  <a:lnTo>
                    <a:pt x="10568" y="1957146"/>
                  </a:lnTo>
                  <a:close/>
                </a:path>
                <a:path w="4862830" h="5332730">
                  <a:moveTo>
                    <a:pt x="10568" y="2035131"/>
                  </a:moveTo>
                  <a:lnTo>
                    <a:pt x="0" y="2035131"/>
                  </a:lnTo>
                  <a:lnTo>
                    <a:pt x="0" y="2079127"/>
                  </a:lnTo>
                  <a:lnTo>
                    <a:pt x="10568" y="2079127"/>
                  </a:lnTo>
                  <a:lnTo>
                    <a:pt x="10568" y="2035131"/>
                  </a:lnTo>
                  <a:close/>
                </a:path>
                <a:path w="4862830" h="5332730">
                  <a:moveTo>
                    <a:pt x="10568" y="2112823"/>
                  </a:moveTo>
                  <a:lnTo>
                    <a:pt x="0" y="2112823"/>
                  </a:lnTo>
                  <a:lnTo>
                    <a:pt x="0" y="2157113"/>
                  </a:lnTo>
                  <a:lnTo>
                    <a:pt x="10568" y="2157113"/>
                  </a:lnTo>
                  <a:lnTo>
                    <a:pt x="10568" y="2112823"/>
                  </a:lnTo>
                  <a:close/>
                </a:path>
                <a:path w="4862830" h="5332730">
                  <a:moveTo>
                    <a:pt x="10568" y="2190514"/>
                  </a:moveTo>
                  <a:lnTo>
                    <a:pt x="0" y="2190514"/>
                  </a:lnTo>
                  <a:lnTo>
                    <a:pt x="0" y="2234804"/>
                  </a:lnTo>
                  <a:lnTo>
                    <a:pt x="10568" y="2234804"/>
                  </a:lnTo>
                  <a:lnTo>
                    <a:pt x="10568" y="2190514"/>
                  </a:lnTo>
                  <a:close/>
                </a:path>
                <a:path w="4862830" h="5332730">
                  <a:moveTo>
                    <a:pt x="10568" y="2266734"/>
                  </a:moveTo>
                  <a:lnTo>
                    <a:pt x="0" y="2266734"/>
                  </a:lnTo>
                  <a:lnTo>
                    <a:pt x="0" y="2310730"/>
                  </a:lnTo>
                  <a:lnTo>
                    <a:pt x="10568" y="2310730"/>
                  </a:lnTo>
                  <a:lnTo>
                    <a:pt x="10568" y="2266734"/>
                  </a:lnTo>
                  <a:close/>
                </a:path>
                <a:path w="4862830" h="5332730">
                  <a:moveTo>
                    <a:pt x="10568" y="2344425"/>
                  </a:moveTo>
                  <a:lnTo>
                    <a:pt x="0" y="2344425"/>
                  </a:lnTo>
                  <a:lnTo>
                    <a:pt x="0" y="2388715"/>
                  </a:lnTo>
                  <a:lnTo>
                    <a:pt x="10568" y="2388715"/>
                  </a:lnTo>
                  <a:lnTo>
                    <a:pt x="10568" y="2344425"/>
                  </a:lnTo>
                  <a:close/>
                </a:path>
                <a:path w="4862830" h="5332730">
                  <a:moveTo>
                    <a:pt x="10568" y="2422117"/>
                  </a:moveTo>
                  <a:lnTo>
                    <a:pt x="0" y="2422117"/>
                  </a:lnTo>
                  <a:lnTo>
                    <a:pt x="0" y="2466407"/>
                  </a:lnTo>
                  <a:lnTo>
                    <a:pt x="10568" y="2466407"/>
                  </a:lnTo>
                  <a:lnTo>
                    <a:pt x="10568" y="2422117"/>
                  </a:lnTo>
                  <a:close/>
                </a:path>
                <a:path w="4862830" h="5332730">
                  <a:moveTo>
                    <a:pt x="10568" y="2499808"/>
                  </a:moveTo>
                  <a:lnTo>
                    <a:pt x="0" y="2499808"/>
                  </a:lnTo>
                  <a:lnTo>
                    <a:pt x="0" y="2544098"/>
                  </a:lnTo>
                  <a:lnTo>
                    <a:pt x="10568" y="2544098"/>
                  </a:lnTo>
                  <a:lnTo>
                    <a:pt x="10568" y="2499808"/>
                  </a:lnTo>
                  <a:close/>
                </a:path>
                <a:path w="4862830" h="5332730">
                  <a:moveTo>
                    <a:pt x="10568" y="2576028"/>
                  </a:moveTo>
                  <a:lnTo>
                    <a:pt x="0" y="2576028"/>
                  </a:lnTo>
                  <a:lnTo>
                    <a:pt x="0" y="2620318"/>
                  </a:lnTo>
                  <a:lnTo>
                    <a:pt x="10568" y="2620318"/>
                  </a:lnTo>
                  <a:lnTo>
                    <a:pt x="10568" y="2576028"/>
                  </a:lnTo>
                  <a:close/>
                </a:path>
                <a:path w="4862830" h="5332730">
                  <a:moveTo>
                    <a:pt x="10568" y="2653719"/>
                  </a:moveTo>
                  <a:lnTo>
                    <a:pt x="0" y="2653719"/>
                  </a:lnTo>
                  <a:lnTo>
                    <a:pt x="0" y="2698009"/>
                  </a:lnTo>
                  <a:lnTo>
                    <a:pt x="10568" y="2698009"/>
                  </a:lnTo>
                  <a:lnTo>
                    <a:pt x="10568" y="2653719"/>
                  </a:lnTo>
                  <a:close/>
                </a:path>
                <a:path w="4862830" h="5332730">
                  <a:moveTo>
                    <a:pt x="10568" y="2731852"/>
                  </a:moveTo>
                  <a:lnTo>
                    <a:pt x="0" y="2731852"/>
                  </a:lnTo>
                  <a:lnTo>
                    <a:pt x="0" y="2775701"/>
                  </a:lnTo>
                  <a:lnTo>
                    <a:pt x="10568" y="2775701"/>
                  </a:lnTo>
                  <a:lnTo>
                    <a:pt x="10568" y="2731852"/>
                  </a:lnTo>
                  <a:close/>
                </a:path>
                <a:path w="4862830" h="5332730">
                  <a:moveTo>
                    <a:pt x="10568" y="2809544"/>
                  </a:moveTo>
                  <a:lnTo>
                    <a:pt x="0" y="2809544"/>
                  </a:lnTo>
                  <a:lnTo>
                    <a:pt x="0" y="2853834"/>
                  </a:lnTo>
                  <a:lnTo>
                    <a:pt x="10568" y="2853834"/>
                  </a:lnTo>
                  <a:lnTo>
                    <a:pt x="10568" y="2809544"/>
                  </a:lnTo>
                  <a:close/>
                </a:path>
                <a:path w="4862830" h="5332730">
                  <a:moveTo>
                    <a:pt x="10568" y="2885322"/>
                  </a:moveTo>
                  <a:lnTo>
                    <a:pt x="0" y="2885322"/>
                  </a:lnTo>
                  <a:lnTo>
                    <a:pt x="0" y="2929612"/>
                  </a:lnTo>
                  <a:lnTo>
                    <a:pt x="10568" y="2929612"/>
                  </a:lnTo>
                  <a:lnTo>
                    <a:pt x="10568" y="2885322"/>
                  </a:lnTo>
                  <a:close/>
                </a:path>
                <a:path w="4862830" h="5332730">
                  <a:moveTo>
                    <a:pt x="10568" y="2963455"/>
                  </a:moveTo>
                  <a:lnTo>
                    <a:pt x="0" y="2963455"/>
                  </a:lnTo>
                  <a:lnTo>
                    <a:pt x="0" y="3007304"/>
                  </a:lnTo>
                  <a:lnTo>
                    <a:pt x="10568" y="3007304"/>
                  </a:lnTo>
                  <a:lnTo>
                    <a:pt x="10568" y="2963455"/>
                  </a:lnTo>
                  <a:close/>
                </a:path>
                <a:path w="4862830" h="5332730">
                  <a:moveTo>
                    <a:pt x="10568" y="3041146"/>
                  </a:moveTo>
                  <a:lnTo>
                    <a:pt x="0" y="3041146"/>
                  </a:lnTo>
                  <a:lnTo>
                    <a:pt x="0" y="3085436"/>
                  </a:lnTo>
                  <a:lnTo>
                    <a:pt x="10568" y="3085436"/>
                  </a:lnTo>
                  <a:lnTo>
                    <a:pt x="10568" y="3041146"/>
                  </a:lnTo>
                  <a:close/>
                </a:path>
                <a:path w="4862830" h="5332730">
                  <a:moveTo>
                    <a:pt x="10568" y="3118838"/>
                  </a:moveTo>
                  <a:lnTo>
                    <a:pt x="0" y="3118838"/>
                  </a:lnTo>
                  <a:lnTo>
                    <a:pt x="0" y="3163128"/>
                  </a:lnTo>
                  <a:lnTo>
                    <a:pt x="10568" y="3163128"/>
                  </a:lnTo>
                  <a:lnTo>
                    <a:pt x="10568" y="3118838"/>
                  </a:lnTo>
                  <a:close/>
                </a:path>
                <a:path w="4862830" h="5332730">
                  <a:moveTo>
                    <a:pt x="10568" y="3195058"/>
                  </a:moveTo>
                  <a:lnTo>
                    <a:pt x="0" y="3195058"/>
                  </a:lnTo>
                  <a:lnTo>
                    <a:pt x="0" y="3238906"/>
                  </a:lnTo>
                  <a:lnTo>
                    <a:pt x="10569" y="3238906"/>
                  </a:lnTo>
                  <a:lnTo>
                    <a:pt x="10568" y="3195058"/>
                  </a:lnTo>
                  <a:close/>
                </a:path>
                <a:path w="4862830" h="5332730">
                  <a:moveTo>
                    <a:pt x="10569" y="3272749"/>
                  </a:moveTo>
                  <a:lnTo>
                    <a:pt x="0" y="3272749"/>
                  </a:lnTo>
                  <a:lnTo>
                    <a:pt x="0" y="3317039"/>
                  </a:lnTo>
                  <a:lnTo>
                    <a:pt x="10569" y="3317039"/>
                  </a:lnTo>
                  <a:lnTo>
                    <a:pt x="10569" y="3272749"/>
                  </a:lnTo>
                  <a:close/>
                </a:path>
                <a:path w="4862830" h="5332730">
                  <a:moveTo>
                    <a:pt x="10569" y="3350441"/>
                  </a:moveTo>
                  <a:lnTo>
                    <a:pt x="0" y="3350441"/>
                  </a:lnTo>
                  <a:lnTo>
                    <a:pt x="0" y="3394730"/>
                  </a:lnTo>
                  <a:lnTo>
                    <a:pt x="10569" y="3394730"/>
                  </a:lnTo>
                  <a:lnTo>
                    <a:pt x="10569" y="3350441"/>
                  </a:lnTo>
                  <a:close/>
                </a:path>
                <a:path w="4862830" h="5332730">
                  <a:moveTo>
                    <a:pt x="10569" y="3428132"/>
                  </a:moveTo>
                  <a:lnTo>
                    <a:pt x="0" y="3428132"/>
                  </a:lnTo>
                  <a:lnTo>
                    <a:pt x="0" y="3472422"/>
                  </a:lnTo>
                  <a:lnTo>
                    <a:pt x="10569" y="3472422"/>
                  </a:lnTo>
                  <a:lnTo>
                    <a:pt x="10569" y="3428132"/>
                  </a:lnTo>
                  <a:close/>
                </a:path>
                <a:path w="4862830" h="5332730">
                  <a:moveTo>
                    <a:pt x="10569" y="3504352"/>
                  </a:moveTo>
                  <a:lnTo>
                    <a:pt x="0" y="3504352"/>
                  </a:lnTo>
                  <a:lnTo>
                    <a:pt x="0" y="3548642"/>
                  </a:lnTo>
                  <a:lnTo>
                    <a:pt x="10569" y="3548642"/>
                  </a:lnTo>
                  <a:lnTo>
                    <a:pt x="10569" y="3504352"/>
                  </a:lnTo>
                  <a:close/>
                </a:path>
                <a:path w="4862830" h="5332730">
                  <a:moveTo>
                    <a:pt x="10569" y="3582043"/>
                  </a:moveTo>
                  <a:lnTo>
                    <a:pt x="0" y="3582043"/>
                  </a:lnTo>
                  <a:lnTo>
                    <a:pt x="0" y="3626333"/>
                  </a:lnTo>
                  <a:lnTo>
                    <a:pt x="10569" y="3626333"/>
                  </a:lnTo>
                  <a:lnTo>
                    <a:pt x="10569" y="3582043"/>
                  </a:lnTo>
                  <a:close/>
                </a:path>
                <a:path w="4862830" h="5332730">
                  <a:moveTo>
                    <a:pt x="10569" y="3659735"/>
                  </a:moveTo>
                  <a:lnTo>
                    <a:pt x="0" y="3659735"/>
                  </a:lnTo>
                  <a:lnTo>
                    <a:pt x="0" y="3704025"/>
                  </a:lnTo>
                  <a:lnTo>
                    <a:pt x="10569" y="3704025"/>
                  </a:lnTo>
                  <a:lnTo>
                    <a:pt x="10569" y="3659735"/>
                  </a:lnTo>
                  <a:close/>
                </a:path>
                <a:path w="4862830" h="5332730">
                  <a:moveTo>
                    <a:pt x="10569" y="3737720"/>
                  </a:moveTo>
                  <a:lnTo>
                    <a:pt x="0" y="3737720"/>
                  </a:lnTo>
                  <a:lnTo>
                    <a:pt x="0" y="3782010"/>
                  </a:lnTo>
                  <a:lnTo>
                    <a:pt x="10569" y="3782010"/>
                  </a:lnTo>
                  <a:lnTo>
                    <a:pt x="10569" y="3737720"/>
                  </a:lnTo>
                  <a:close/>
                </a:path>
                <a:path w="4862830" h="5332730">
                  <a:moveTo>
                    <a:pt x="10569" y="3813646"/>
                  </a:moveTo>
                  <a:lnTo>
                    <a:pt x="0" y="3813646"/>
                  </a:lnTo>
                  <a:lnTo>
                    <a:pt x="0" y="3857936"/>
                  </a:lnTo>
                  <a:lnTo>
                    <a:pt x="10569" y="3857936"/>
                  </a:lnTo>
                  <a:lnTo>
                    <a:pt x="10569" y="3813646"/>
                  </a:lnTo>
                  <a:close/>
                </a:path>
                <a:path w="4862830" h="5332730">
                  <a:moveTo>
                    <a:pt x="10569" y="3891337"/>
                  </a:moveTo>
                  <a:lnTo>
                    <a:pt x="0" y="3891337"/>
                  </a:lnTo>
                  <a:lnTo>
                    <a:pt x="0" y="3935627"/>
                  </a:lnTo>
                  <a:lnTo>
                    <a:pt x="10569" y="3935627"/>
                  </a:lnTo>
                  <a:lnTo>
                    <a:pt x="10569" y="3891337"/>
                  </a:lnTo>
                  <a:close/>
                </a:path>
                <a:path w="4862830" h="5332730">
                  <a:moveTo>
                    <a:pt x="10569" y="3969323"/>
                  </a:moveTo>
                  <a:lnTo>
                    <a:pt x="0" y="3969323"/>
                  </a:lnTo>
                  <a:lnTo>
                    <a:pt x="0" y="4013613"/>
                  </a:lnTo>
                  <a:lnTo>
                    <a:pt x="10569" y="4013613"/>
                  </a:lnTo>
                  <a:lnTo>
                    <a:pt x="10569" y="3969323"/>
                  </a:lnTo>
                  <a:close/>
                </a:path>
                <a:path w="4862830" h="5332730">
                  <a:moveTo>
                    <a:pt x="10569" y="4047014"/>
                  </a:moveTo>
                  <a:lnTo>
                    <a:pt x="0" y="4047014"/>
                  </a:lnTo>
                  <a:lnTo>
                    <a:pt x="0" y="4091304"/>
                  </a:lnTo>
                  <a:lnTo>
                    <a:pt x="10569" y="4091304"/>
                  </a:lnTo>
                  <a:lnTo>
                    <a:pt x="10569" y="4047014"/>
                  </a:lnTo>
                  <a:close/>
                </a:path>
                <a:path w="4862830" h="5332730">
                  <a:moveTo>
                    <a:pt x="10569" y="4123382"/>
                  </a:moveTo>
                  <a:lnTo>
                    <a:pt x="0" y="4123382"/>
                  </a:lnTo>
                  <a:lnTo>
                    <a:pt x="0" y="4167230"/>
                  </a:lnTo>
                  <a:lnTo>
                    <a:pt x="10569" y="4167230"/>
                  </a:lnTo>
                  <a:lnTo>
                    <a:pt x="10569" y="4123382"/>
                  </a:lnTo>
                  <a:close/>
                </a:path>
                <a:path w="4862830" h="5332730">
                  <a:moveTo>
                    <a:pt x="10569" y="4201073"/>
                  </a:moveTo>
                  <a:lnTo>
                    <a:pt x="0" y="4201073"/>
                  </a:lnTo>
                  <a:lnTo>
                    <a:pt x="0" y="4245363"/>
                  </a:lnTo>
                  <a:lnTo>
                    <a:pt x="10569" y="4245363"/>
                  </a:lnTo>
                  <a:lnTo>
                    <a:pt x="10569" y="4201073"/>
                  </a:lnTo>
                  <a:close/>
                </a:path>
                <a:path w="4862830" h="5332730">
                  <a:moveTo>
                    <a:pt x="10569" y="4278764"/>
                  </a:moveTo>
                  <a:lnTo>
                    <a:pt x="0" y="4278764"/>
                  </a:lnTo>
                  <a:lnTo>
                    <a:pt x="0" y="4322981"/>
                  </a:lnTo>
                  <a:lnTo>
                    <a:pt x="10569" y="4322981"/>
                  </a:lnTo>
                  <a:lnTo>
                    <a:pt x="10569" y="4278764"/>
                  </a:lnTo>
                  <a:close/>
                </a:path>
                <a:path w="4862830" h="5332730">
                  <a:moveTo>
                    <a:pt x="10569" y="4356382"/>
                  </a:moveTo>
                  <a:lnTo>
                    <a:pt x="0" y="4356382"/>
                  </a:lnTo>
                  <a:lnTo>
                    <a:pt x="0" y="4400672"/>
                  </a:lnTo>
                  <a:lnTo>
                    <a:pt x="10569" y="4400672"/>
                  </a:lnTo>
                  <a:lnTo>
                    <a:pt x="10569" y="4356382"/>
                  </a:lnTo>
                  <a:close/>
                </a:path>
                <a:path w="4862830" h="5332730">
                  <a:moveTo>
                    <a:pt x="10569" y="4432617"/>
                  </a:moveTo>
                  <a:lnTo>
                    <a:pt x="0" y="4432617"/>
                  </a:lnTo>
                  <a:lnTo>
                    <a:pt x="0" y="4476907"/>
                  </a:lnTo>
                  <a:lnTo>
                    <a:pt x="10569" y="4476907"/>
                  </a:lnTo>
                  <a:lnTo>
                    <a:pt x="10569" y="4432617"/>
                  </a:lnTo>
                  <a:close/>
                </a:path>
                <a:path w="4862830" h="5332730">
                  <a:moveTo>
                    <a:pt x="10569" y="4510308"/>
                  </a:moveTo>
                  <a:lnTo>
                    <a:pt x="0" y="4510308"/>
                  </a:lnTo>
                  <a:lnTo>
                    <a:pt x="0" y="4554598"/>
                  </a:lnTo>
                  <a:lnTo>
                    <a:pt x="10569" y="4554598"/>
                  </a:lnTo>
                  <a:lnTo>
                    <a:pt x="10569" y="4510308"/>
                  </a:lnTo>
                  <a:close/>
                </a:path>
                <a:path w="4862830" h="5332730">
                  <a:moveTo>
                    <a:pt x="10569" y="4588000"/>
                  </a:moveTo>
                  <a:lnTo>
                    <a:pt x="0" y="4588000"/>
                  </a:lnTo>
                  <a:lnTo>
                    <a:pt x="0" y="4632290"/>
                  </a:lnTo>
                  <a:lnTo>
                    <a:pt x="10569" y="4632290"/>
                  </a:lnTo>
                  <a:lnTo>
                    <a:pt x="10569" y="4588000"/>
                  </a:lnTo>
                  <a:close/>
                </a:path>
                <a:path w="4862830" h="5332730">
                  <a:moveTo>
                    <a:pt x="10569" y="4666044"/>
                  </a:moveTo>
                  <a:lnTo>
                    <a:pt x="0" y="4666044"/>
                  </a:lnTo>
                  <a:lnTo>
                    <a:pt x="0" y="4709981"/>
                  </a:lnTo>
                  <a:lnTo>
                    <a:pt x="10569" y="4709981"/>
                  </a:lnTo>
                  <a:lnTo>
                    <a:pt x="10569" y="4666044"/>
                  </a:lnTo>
                  <a:close/>
                </a:path>
                <a:path w="4862830" h="5332730">
                  <a:moveTo>
                    <a:pt x="10569" y="4741926"/>
                  </a:moveTo>
                  <a:lnTo>
                    <a:pt x="0" y="4741926"/>
                  </a:lnTo>
                  <a:lnTo>
                    <a:pt x="0" y="4786216"/>
                  </a:lnTo>
                  <a:lnTo>
                    <a:pt x="10569" y="4786216"/>
                  </a:lnTo>
                  <a:lnTo>
                    <a:pt x="10569" y="4741926"/>
                  </a:lnTo>
                  <a:close/>
                </a:path>
                <a:path w="4862830" h="5332730">
                  <a:moveTo>
                    <a:pt x="10569" y="4819617"/>
                  </a:moveTo>
                  <a:lnTo>
                    <a:pt x="0" y="4819617"/>
                  </a:lnTo>
                  <a:lnTo>
                    <a:pt x="0" y="4863907"/>
                  </a:lnTo>
                  <a:lnTo>
                    <a:pt x="10569" y="4863907"/>
                  </a:lnTo>
                  <a:lnTo>
                    <a:pt x="10569" y="4819617"/>
                  </a:lnTo>
                  <a:close/>
                </a:path>
                <a:path w="4862830" h="5332730">
                  <a:moveTo>
                    <a:pt x="10569" y="4897662"/>
                  </a:moveTo>
                  <a:lnTo>
                    <a:pt x="0" y="4897662"/>
                  </a:lnTo>
                  <a:lnTo>
                    <a:pt x="0" y="4941952"/>
                  </a:lnTo>
                  <a:lnTo>
                    <a:pt x="10569" y="4941952"/>
                  </a:lnTo>
                  <a:lnTo>
                    <a:pt x="10569" y="4897662"/>
                  </a:lnTo>
                  <a:close/>
                </a:path>
                <a:path w="4862830" h="5332730">
                  <a:moveTo>
                    <a:pt x="10569" y="4975353"/>
                  </a:moveTo>
                  <a:lnTo>
                    <a:pt x="0" y="4975353"/>
                  </a:lnTo>
                  <a:lnTo>
                    <a:pt x="0" y="5019643"/>
                  </a:lnTo>
                  <a:lnTo>
                    <a:pt x="10569" y="5019643"/>
                  </a:lnTo>
                  <a:lnTo>
                    <a:pt x="10569" y="4975353"/>
                  </a:lnTo>
                  <a:close/>
                </a:path>
                <a:path w="4862830" h="5332730">
                  <a:moveTo>
                    <a:pt x="10569" y="5051220"/>
                  </a:moveTo>
                  <a:lnTo>
                    <a:pt x="0" y="5051220"/>
                  </a:lnTo>
                  <a:lnTo>
                    <a:pt x="0" y="5095510"/>
                  </a:lnTo>
                  <a:lnTo>
                    <a:pt x="10569" y="5095510"/>
                  </a:lnTo>
                  <a:lnTo>
                    <a:pt x="10569" y="5051220"/>
                  </a:lnTo>
                  <a:close/>
                </a:path>
                <a:path w="4862830" h="5332730">
                  <a:moveTo>
                    <a:pt x="10569" y="5129279"/>
                  </a:moveTo>
                  <a:lnTo>
                    <a:pt x="0" y="5129279"/>
                  </a:lnTo>
                  <a:lnTo>
                    <a:pt x="0" y="5173569"/>
                  </a:lnTo>
                  <a:lnTo>
                    <a:pt x="10569" y="5173569"/>
                  </a:lnTo>
                  <a:lnTo>
                    <a:pt x="10569" y="5129279"/>
                  </a:lnTo>
                  <a:close/>
                </a:path>
                <a:path w="4862830" h="5332730">
                  <a:moveTo>
                    <a:pt x="10569" y="5206956"/>
                  </a:moveTo>
                  <a:lnTo>
                    <a:pt x="0" y="5206956"/>
                  </a:lnTo>
                  <a:lnTo>
                    <a:pt x="0" y="5251246"/>
                  </a:lnTo>
                  <a:lnTo>
                    <a:pt x="10569" y="5251246"/>
                  </a:lnTo>
                  <a:lnTo>
                    <a:pt x="10569" y="5206956"/>
                  </a:lnTo>
                  <a:close/>
                </a:path>
                <a:path w="4862830" h="5332730">
                  <a:moveTo>
                    <a:pt x="10569" y="5284647"/>
                  </a:moveTo>
                  <a:lnTo>
                    <a:pt x="0" y="5284647"/>
                  </a:lnTo>
                  <a:lnTo>
                    <a:pt x="0" y="5332571"/>
                  </a:lnTo>
                  <a:lnTo>
                    <a:pt x="6918" y="5332571"/>
                  </a:lnTo>
                  <a:lnTo>
                    <a:pt x="6918" y="5323724"/>
                  </a:lnTo>
                  <a:lnTo>
                    <a:pt x="5107" y="5322036"/>
                  </a:lnTo>
                  <a:lnTo>
                    <a:pt x="10569" y="5322036"/>
                  </a:lnTo>
                  <a:lnTo>
                    <a:pt x="10569" y="5284647"/>
                  </a:lnTo>
                  <a:close/>
                </a:path>
                <a:path w="4862830" h="5332730">
                  <a:moveTo>
                    <a:pt x="10569" y="5322036"/>
                  </a:moveTo>
                  <a:lnTo>
                    <a:pt x="6918" y="5322036"/>
                  </a:lnTo>
                  <a:lnTo>
                    <a:pt x="6918" y="5323724"/>
                  </a:lnTo>
                  <a:lnTo>
                    <a:pt x="10569" y="5327127"/>
                  </a:lnTo>
                  <a:lnTo>
                    <a:pt x="10569" y="5322036"/>
                  </a:lnTo>
                  <a:close/>
                </a:path>
                <a:path w="4862830" h="5332730">
                  <a:moveTo>
                    <a:pt x="6918" y="5322036"/>
                  </a:moveTo>
                  <a:lnTo>
                    <a:pt x="5107" y="5322036"/>
                  </a:lnTo>
                  <a:lnTo>
                    <a:pt x="6918" y="5323724"/>
                  </a:lnTo>
                  <a:lnTo>
                    <a:pt x="6918" y="5322036"/>
                  </a:lnTo>
                  <a:close/>
                </a:path>
                <a:path w="4862830" h="5332730">
                  <a:moveTo>
                    <a:pt x="82726" y="5322036"/>
                  </a:moveTo>
                  <a:lnTo>
                    <a:pt x="38713" y="5322036"/>
                  </a:lnTo>
                  <a:lnTo>
                    <a:pt x="38713" y="5332571"/>
                  </a:lnTo>
                  <a:lnTo>
                    <a:pt x="82726" y="5332571"/>
                  </a:lnTo>
                  <a:lnTo>
                    <a:pt x="82726" y="5322036"/>
                  </a:lnTo>
                  <a:close/>
                </a:path>
                <a:path w="4862830" h="5332730">
                  <a:moveTo>
                    <a:pt x="160741" y="5322036"/>
                  </a:moveTo>
                  <a:lnTo>
                    <a:pt x="116287" y="5322036"/>
                  </a:lnTo>
                  <a:lnTo>
                    <a:pt x="116287" y="5332571"/>
                  </a:lnTo>
                  <a:lnTo>
                    <a:pt x="160741" y="5332571"/>
                  </a:lnTo>
                  <a:lnTo>
                    <a:pt x="160741" y="5322036"/>
                  </a:lnTo>
                  <a:close/>
                </a:path>
                <a:path w="4862830" h="5332730">
                  <a:moveTo>
                    <a:pt x="238463" y="5322036"/>
                  </a:moveTo>
                  <a:lnTo>
                    <a:pt x="194303" y="5322036"/>
                  </a:lnTo>
                  <a:lnTo>
                    <a:pt x="194303" y="5332571"/>
                  </a:lnTo>
                  <a:lnTo>
                    <a:pt x="238463" y="5332571"/>
                  </a:lnTo>
                  <a:lnTo>
                    <a:pt x="238463" y="5322036"/>
                  </a:lnTo>
                  <a:close/>
                </a:path>
                <a:path w="4862830" h="5332730">
                  <a:moveTo>
                    <a:pt x="316184" y="5322036"/>
                  </a:moveTo>
                  <a:lnTo>
                    <a:pt x="272024" y="5322036"/>
                  </a:lnTo>
                  <a:lnTo>
                    <a:pt x="272024" y="5332571"/>
                  </a:lnTo>
                  <a:lnTo>
                    <a:pt x="316184" y="5332571"/>
                  </a:lnTo>
                  <a:lnTo>
                    <a:pt x="316184" y="5322036"/>
                  </a:lnTo>
                  <a:close/>
                </a:path>
                <a:path w="4862830" h="5332730">
                  <a:moveTo>
                    <a:pt x="391991" y="5322036"/>
                  </a:moveTo>
                  <a:lnTo>
                    <a:pt x="347832" y="5322036"/>
                  </a:lnTo>
                  <a:lnTo>
                    <a:pt x="347832" y="5332571"/>
                  </a:lnTo>
                  <a:lnTo>
                    <a:pt x="391991" y="5332571"/>
                  </a:lnTo>
                  <a:lnTo>
                    <a:pt x="391991" y="5322036"/>
                  </a:lnTo>
                  <a:close/>
                </a:path>
                <a:path w="4862830" h="5332730">
                  <a:moveTo>
                    <a:pt x="470007" y="5322036"/>
                  </a:moveTo>
                  <a:lnTo>
                    <a:pt x="425847" y="5322036"/>
                  </a:lnTo>
                  <a:lnTo>
                    <a:pt x="425847" y="5332571"/>
                  </a:lnTo>
                  <a:lnTo>
                    <a:pt x="470007" y="5332571"/>
                  </a:lnTo>
                  <a:lnTo>
                    <a:pt x="470007" y="5322036"/>
                  </a:lnTo>
                  <a:close/>
                </a:path>
                <a:path w="4862830" h="5332730">
                  <a:moveTo>
                    <a:pt x="547581" y="5322036"/>
                  </a:moveTo>
                  <a:lnTo>
                    <a:pt x="503568" y="5322036"/>
                  </a:lnTo>
                  <a:lnTo>
                    <a:pt x="503568" y="5332571"/>
                  </a:lnTo>
                  <a:lnTo>
                    <a:pt x="547581" y="5332571"/>
                  </a:lnTo>
                  <a:lnTo>
                    <a:pt x="547581" y="5322036"/>
                  </a:lnTo>
                  <a:close/>
                </a:path>
                <a:path w="4862830" h="5332730">
                  <a:moveTo>
                    <a:pt x="625302" y="5322036"/>
                  </a:moveTo>
                  <a:lnTo>
                    <a:pt x="581142" y="5322036"/>
                  </a:lnTo>
                  <a:lnTo>
                    <a:pt x="581142" y="5332571"/>
                  </a:lnTo>
                  <a:lnTo>
                    <a:pt x="625302" y="5332571"/>
                  </a:lnTo>
                  <a:lnTo>
                    <a:pt x="625302" y="5322036"/>
                  </a:lnTo>
                  <a:close/>
                </a:path>
                <a:path w="4862830" h="5332730">
                  <a:moveTo>
                    <a:pt x="701110" y="5322036"/>
                  </a:moveTo>
                  <a:lnTo>
                    <a:pt x="657097" y="5322036"/>
                  </a:lnTo>
                  <a:lnTo>
                    <a:pt x="657097" y="5332571"/>
                  </a:lnTo>
                  <a:lnTo>
                    <a:pt x="701110" y="5332571"/>
                  </a:lnTo>
                  <a:lnTo>
                    <a:pt x="701110" y="5322036"/>
                  </a:lnTo>
                  <a:close/>
                </a:path>
                <a:path w="4862830" h="5332730">
                  <a:moveTo>
                    <a:pt x="779126" y="5322036"/>
                  </a:moveTo>
                  <a:lnTo>
                    <a:pt x="735113" y="5322036"/>
                  </a:lnTo>
                  <a:lnTo>
                    <a:pt x="735113" y="5332571"/>
                  </a:lnTo>
                  <a:lnTo>
                    <a:pt x="779126" y="5332571"/>
                  </a:lnTo>
                  <a:lnTo>
                    <a:pt x="779126" y="5322036"/>
                  </a:lnTo>
                  <a:close/>
                </a:path>
                <a:path w="4862830" h="5332730">
                  <a:moveTo>
                    <a:pt x="856847" y="5322036"/>
                  </a:moveTo>
                  <a:lnTo>
                    <a:pt x="812687" y="5322036"/>
                  </a:lnTo>
                  <a:lnTo>
                    <a:pt x="812687" y="5332571"/>
                  </a:lnTo>
                  <a:lnTo>
                    <a:pt x="856847" y="5332571"/>
                  </a:lnTo>
                  <a:lnTo>
                    <a:pt x="856847" y="5322036"/>
                  </a:lnTo>
                  <a:close/>
                </a:path>
                <a:path w="4862830" h="5332730">
                  <a:moveTo>
                    <a:pt x="934568" y="5322036"/>
                  </a:moveTo>
                  <a:lnTo>
                    <a:pt x="890408" y="5322036"/>
                  </a:lnTo>
                  <a:lnTo>
                    <a:pt x="890408" y="5332571"/>
                  </a:lnTo>
                  <a:lnTo>
                    <a:pt x="934568" y="5332571"/>
                  </a:lnTo>
                  <a:lnTo>
                    <a:pt x="934568" y="5322036"/>
                  </a:lnTo>
                  <a:close/>
                </a:path>
                <a:path w="4862830" h="5332730">
                  <a:moveTo>
                    <a:pt x="1010670" y="5322036"/>
                  </a:moveTo>
                  <a:lnTo>
                    <a:pt x="966216" y="5322036"/>
                  </a:lnTo>
                  <a:lnTo>
                    <a:pt x="966216" y="5332571"/>
                  </a:lnTo>
                  <a:lnTo>
                    <a:pt x="1010670" y="5332571"/>
                  </a:lnTo>
                  <a:lnTo>
                    <a:pt x="1010670" y="5322036"/>
                  </a:lnTo>
                  <a:close/>
                </a:path>
                <a:path w="4862830" h="5332730">
                  <a:moveTo>
                    <a:pt x="1088391" y="5322036"/>
                  </a:moveTo>
                  <a:lnTo>
                    <a:pt x="1044231" y="5322036"/>
                  </a:lnTo>
                  <a:lnTo>
                    <a:pt x="1044231" y="5332571"/>
                  </a:lnTo>
                  <a:lnTo>
                    <a:pt x="1088391" y="5332571"/>
                  </a:lnTo>
                  <a:lnTo>
                    <a:pt x="1088391" y="5322036"/>
                  </a:lnTo>
                  <a:close/>
                </a:path>
                <a:path w="4862830" h="5332730">
                  <a:moveTo>
                    <a:pt x="1166112" y="5322036"/>
                  </a:moveTo>
                  <a:lnTo>
                    <a:pt x="1121953" y="5322036"/>
                  </a:lnTo>
                  <a:lnTo>
                    <a:pt x="1121953" y="5332571"/>
                  </a:lnTo>
                  <a:lnTo>
                    <a:pt x="1166112" y="5332571"/>
                  </a:lnTo>
                  <a:lnTo>
                    <a:pt x="1166112" y="5322036"/>
                  </a:lnTo>
                  <a:close/>
                </a:path>
                <a:path w="4862830" h="5332730">
                  <a:moveTo>
                    <a:pt x="1243687" y="5322036"/>
                  </a:moveTo>
                  <a:lnTo>
                    <a:pt x="1199527" y="5322036"/>
                  </a:lnTo>
                  <a:lnTo>
                    <a:pt x="1199527" y="5332571"/>
                  </a:lnTo>
                  <a:lnTo>
                    <a:pt x="1243687" y="5332571"/>
                  </a:lnTo>
                  <a:lnTo>
                    <a:pt x="1243687" y="5322036"/>
                  </a:lnTo>
                  <a:close/>
                </a:path>
                <a:path w="4862830" h="5332730">
                  <a:moveTo>
                    <a:pt x="1319936" y="5322036"/>
                  </a:moveTo>
                  <a:lnTo>
                    <a:pt x="1275482" y="5322036"/>
                  </a:lnTo>
                  <a:lnTo>
                    <a:pt x="1275482" y="5332571"/>
                  </a:lnTo>
                  <a:lnTo>
                    <a:pt x="1319936" y="5332571"/>
                  </a:lnTo>
                  <a:lnTo>
                    <a:pt x="1319936" y="5322036"/>
                  </a:lnTo>
                  <a:close/>
                </a:path>
                <a:path w="4862830" h="5332730">
                  <a:moveTo>
                    <a:pt x="1397510" y="5322036"/>
                  </a:moveTo>
                  <a:lnTo>
                    <a:pt x="1353497" y="5322036"/>
                  </a:lnTo>
                  <a:lnTo>
                    <a:pt x="1353497" y="5332571"/>
                  </a:lnTo>
                  <a:lnTo>
                    <a:pt x="1397510" y="5332571"/>
                  </a:lnTo>
                  <a:lnTo>
                    <a:pt x="1397510" y="5322036"/>
                  </a:lnTo>
                  <a:close/>
                </a:path>
                <a:path w="4862830" h="5332730">
                  <a:moveTo>
                    <a:pt x="1475231" y="5322036"/>
                  </a:moveTo>
                  <a:lnTo>
                    <a:pt x="1431071" y="5322036"/>
                  </a:lnTo>
                  <a:lnTo>
                    <a:pt x="1431071" y="5332571"/>
                  </a:lnTo>
                  <a:lnTo>
                    <a:pt x="1475231" y="5332571"/>
                  </a:lnTo>
                  <a:lnTo>
                    <a:pt x="1475231" y="5322036"/>
                  </a:lnTo>
                  <a:close/>
                </a:path>
                <a:path w="4862830" h="5332730">
                  <a:moveTo>
                    <a:pt x="1552952" y="5322036"/>
                  </a:moveTo>
                  <a:lnTo>
                    <a:pt x="1508792" y="5322036"/>
                  </a:lnTo>
                  <a:lnTo>
                    <a:pt x="1508792" y="5332571"/>
                  </a:lnTo>
                  <a:lnTo>
                    <a:pt x="1552952" y="5332571"/>
                  </a:lnTo>
                  <a:lnTo>
                    <a:pt x="1552952" y="5322036"/>
                  </a:lnTo>
                  <a:close/>
                </a:path>
                <a:path w="4862830" h="5332730">
                  <a:moveTo>
                    <a:pt x="1629054" y="5322036"/>
                  </a:moveTo>
                  <a:lnTo>
                    <a:pt x="1585042" y="5322036"/>
                  </a:lnTo>
                  <a:lnTo>
                    <a:pt x="1585042" y="5332571"/>
                  </a:lnTo>
                  <a:lnTo>
                    <a:pt x="1629054" y="5332571"/>
                  </a:lnTo>
                  <a:lnTo>
                    <a:pt x="1629054" y="5322036"/>
                  </a:lnTo>
                  <a:close/>
                </a:path>
                <a:path w="4862830" h="5332730">
                  <a:moveTo>
                    <a:pt x="1706776" y="5322036"/>
                  </a:moveTo>
                  <a:lnTo>
                    <a:pt x="1662616" y="5322036"/>
                  </a:lnTo>
                  <a:lnTo>
                    <a:pt x="1662616" y="5332571"/>
                  </a:lnTo>
                  <a:lnTo>
                    <a:pt x="1706776" y="5332571"/>
                  </a:lnTo>
                  <a:lnTo>
                    <a:pt x="1706776" y="5322036"/>
                  </a:lnTo>
                  <a:close/>
                </a:path>
                <a:path w="4862830" h="5332730">
                  <a:moveTo>
                    <a:pt x="1784497" y="5322036"/>
                  </a:moveTo>
                  <a:lnTo>
                    <a:pt x="1740337" y="5322036"/>
                  </a:lnTo>
                  <a:lnTo>
                    <a:pt x="1740337" y="5332571"/>
                  </a:lnTo>
                  <a:lnTo>
                    <a:pt x="1784497" y="5332571"/>
                  </a:lnTo>
                  <a:lnTo>
                    <a:pt x="1784497" y="5322036"/>
                  </a:lnTo>
                  <a:close/>
                </a:path>
                <a:path w="4862830" h="5332730">
                  <a:moveTo>
                    <a:pt x="1862071" y="5322036"/>
                  </a:moveTo>
                  <a:lnTo>
                    <a:pt x="1817911" y="5322036"/>
                  </a:lnTo>
                  <a:lnTo>
                    <a:pt x="1817911" y="5332571"/>
                  </a:lnTo>
                  <a:lnTo>
                    <a:pt x="1862071" y="5332571"/>
                  </a:lnTo>
                  <a:lnTo>
                    <a:pt x="1862071" y="5322036"/>
                  </a:lnTo>
                  <a:close/>
                </a:path>
                <a:path w="4862830" h="5332730">
                  <a:moveTo>
                    <a:pt x="1938320" y="5322036"/>
                  </a:moveTo>
                  <a:lnTo>
                    <a:pt x="1894160" y="5322036"/>
                  </a:lnTo>
                  <a:lnTo>
                    <a:pt x="1894160" y="5332571"/>
                  </a:lnTo>
                  <a:lnTo>
                    <a:pt x="1938320" y="5332571"/>
                  </a:lnTo>
                  <a:lnTo>
                    <a:pt x="1938320" y="5322036"/>
                  </a:lnTo>
                  <a:close/>
                </a:path>
                <a:path w="4862830" h="5332730">
                  <a:moveTo>
                    <a:pt x="2016041" y="5322036"/>
                  </a:moveTo>
                  <a:lnTo>
                    <a:pt x="1971881" y="5322036"/>
                  </a:lnTo>
                  <a:lnTo>
                    <a:pt x="1971881" y="5332571"/>
                  </a:lnTo>
                  <a:lnTo>
                    <a:pt x="2016041" y="5332571"/>
                  </a:lnTo>
                  <a:lnTo>
                    <a:pt x="2016041" y="5322036"/>
                  </a:lnTo>
                  <a:close/>
                </a:path>
                <a:path w="4862830" h="5332730">
                  <a:moveTo>
                    <a:pt x="2093615" y="5322036"/>
                  </a:moveTo>
                  <a:lnTo>
                    <a:pt x="2049455" y="5322036"/>
                  </a:lnTo>
                  <a:lnTo>
                    <a:pt x="2049455" y="5332571"/>
                  </a:lnTo>
                  <a:lnTo>
                    <a:pt x="2093615" y="5332571"/>
                  </a:lnTo>
                  <a:lnTo>
                    <a:pt x="2093615" y="5322036"/>
                  </a:lnTo>
                  <a:close/>
                </a:path>
                <a:path w="4862830" h="5332730">
                  <a:moveTo>
                    <a:pt x="2171337" y="5322036"/>
                  </a:moveTo>
                  <a:lnTo>
                    <a:pt x="2127177" y="5322036"/>
                  </a:lnTo>
                  <a:lnTo>
                    <a:pt x="2127177" y="5332571"/>
                  </a:lnTo>
                  <a:lnTo>
                    <a:pt x="2171337" y="5332571"/>
                  </a:lnTo>
                  <a:lnTo>
                    <a:pt x="2171337" y="5322036"/>
                  </a:lnTo>
                  <a:close/>
                </a:path>
                <a:path w="4862830" h="5332730">
                  <a:moveTo>
                    <a:pt x="2247439" y="5322036"/>
                  </a:moveTo>
                  <a:lnTo>
                    <a:pt x="2203426" y="5322036"/>
                  </a:lnTo>
                  <a:lnTo>
                    <a:pt x="2203426" y="5332571"/>
                  </a:lnTo>
                  <a:lnTo>
                    <a:pt x="2247439" y="5332571"/>
                  </a:lnTo>
                  <a:lnTo>
                    <a:pt x="2247439" y="5322036"/>
                  </a:lnTo>
                  <a:close/>
                </a:path>
                <a:path w="4862830" h="5332730">
                  <a:moveTo>
                    <a:pt x="2325160" y="5322036"/>
                  </a:moveTo>
                  <a:lnTo>
                    <a:pt x="2281000" y="5322036"/>
                  </a:lnTo>
                  <a:lnTo>
                    <a:pt x="2281000" y="5332571"/>
                  </a:lnTo>
                  <a:lnTo>
                    <a:pt x="2325160" y="5332571"/>
                  </a:lnTo>
                  <a:lnTo>
                    <a:pt x="2325160" y="5322036"/>
                  </a:lnTo>
                  <a:close/>
                </a:path>
                <a:path w="4862830" h="5332730">
                  <a:moveTo>
                    <a:pt x="2402881" y="5322036"/>
                  </a:moveTo>
                  <a:lnTo>
                    <a:pt x="2358721" y="5322036"/>
                  </a:lnTo>
                  <a:lnTo>
                    <a:pt x="2358721" y="5332571"/>
                  </a:lnTo>
                  <a:lnTo>
                    <a:pt x="2402881" y="5332571"/>
                  </a:lnTo>
                  <a:lnTo>
                    <a:pt x="2402881" y="5322036"/>
                  </a:lnTo>
                  <a:close/>
                </a:path>
                <a:path w="4862830" h="5332730">
                  <a:moveTo>
                    <a:pt x="2480455" y="5322036"/>
                  </a:moveTo>
                  <a:lnTo>
                    <a:pt x="2436442" y="5322036"/>
                  </a:lnTo>
                  <a:lnTo>
                    <a:pt x="2436442" y="5332571"/>
                  </a:lnTo>
                  <a:lnTo>
                    <a:pt x="2480455" y="5332571"/>
                  </a:lnTo>
                  <a:lnTo>
                    <a:pt x="2480455" y="5322036"/>
                  </a:lnTo>
                  <a:close/>
                </a:path>
                <a:path w="4862830" h="5332730">
                  <a:moveTo>
                    <a:pt x="2556704" y="5322036"/>
                  </a:moveTo>
                  <a:lnTo>
                    <a:pt x="2512544" y="5322036"/>
                  </a:lnTo>
                  <a:lnTo>
                    <a:pt x="2512544" y="5332571"/>
                  </a:lnTo>
                  <a:lnTo>
                    <a:pt x="2556704" y="5332571"/>
                  </a:lnTo>
                  <a:lnTo>
                    <a:pt x="2556704" y="5322036"/>
                  </a:lnTo>
                  <a:close/>
                </a:path>
                <a:path w="4862830" h="5332730">
                  <a:moveTo>
                    <a:pt x="2634426" y="5322036"/>
                  </a:moveTo>
                  <a:lnTo>
                    <a:pt x="2590266" y="5322036"/>
                  </a:lnTo>
                  <a:lnTo>
                    <a:pt x="2590266" y="5332571"/>
                  </a:lnTo>
                  <a:lnTo>
                    <a:pt x="2634426" y="5332571"/>
                  </a:lnTo>
                  <a:lnTo>
                    <a:pt x="2634426" y="5322036"/>
                  </a:lnTo>
                  <a:close/>
                </a:path>
                <a:path w="4862830" h="5332730">
                  <a:moveTo>
                    <a:pt x="2712000" y="5322036"/>
                  </a:moveTo>
                  <a:lnTo>
                    <a:pt x="2667840" y="5322036"/>
                  </a:lnTo>
                  <a:lnTo>
                    <a:pt x="2667840" y="5332571"/>
                  </a:lnTo>
                  <a:lnTo>
                    <a:pt x="2712000" y="5332571"/>
                  </a:lnTo>
                  <a:lnTo>
                    <a:pt x="2712000" y="5322036"/>
                  </a:lnTo>
                  <a:close/>
                </a:path>
                <a:path w="4862830" h="5332730">
                  <a:moveTo>
                    <a:pt x="2790015" y="5322036"/>
                  </a:moveTo>
                  <a:lnTo>
                    <a:pt x="2745561" y="5322036"/>
                  </a:lnTo>
                  <a:lnTo>
                    <a:pt x="2745561" y="5332571"/>
                  </a:lnTo>
                  <a:lnTo>
                    <a:pt x="2790015" y="5332571"/>
                  </a:lnTo>
                  <a:lnTo>
                    <a:pt x="2790015" y="5322036"/>
                  </a:lnTo>
                  <a:close/>
                </a:path>
                <a:path w="4862830" h="5332730">
                  <a:moveTo>
                    <a:pt x="2865823" y="5322036"/>
                  </a:moveTo>
                  <a:lnTo>
                    <a:pt x="2821810" y="5322036"/>
                  </a:lnTo>
                  <a:lnTo>
                    <a:pt x="2821810" y="5332571"/>
                  </a:lnTo>
                  <a:lnTo>
                    <a:pt x="2865823" y="5332571"/>
                  </a:lnTo>
                  <a:lnTo>
                    <a:pt x="2865823" y="5322036"/>
                  </a:lnTo>
                  <a:close/>
                </a:path>
                <a:path w="4862830" h="5332730">
                  <a:moveTo>
                    <a:pt x="2943544" y="5322036"/>
                  </a:moveTo>
                  <a:lnTo>
                    <a:pt x="2899384" y="5322036"/>
                  </a:lnTo>
                  <a:lnTo>
                    <a:pt x="2899384" y="5332571"/>
                  </a:lnTo>
                  <a:lnTo>
                    <a:pt x="2943544" y="5332571"/>
                  </a:lnTo>
                  <a:lnTo>
                    <a:pt x="2943544" y="5322036"/>
                  </a:lnTo>
                  <a:close/>
                </a:path>
                <a:path w="4862830" h="5332730">
                  <a:moveTo>
                    <a:pt x="3021265" y="5322036"/>
                  </a:moveTo>
                  <a:lnTo>
                    <a:pt x="2977105" y="5322036"/>
                  </a:lnTo>
                  <a:lnTo>
                    <a:pt x="2977105" y="5332571"/>
                  </a:lnTo>
                  <a:lnTo>
                    <a:pt x="3021265" y="5332571"/>
                  </a:lnTo>
                  <a:lnTo>
                    <a:pt x="3021265" y="5322036"/>
                  </a:lnTo>
                  <a:close/>
                </a:path>
                <a:path w="4862830" h="5332730">
                  <a:moveTo>
                    <a:pt x="3099281" y="5322036"/>
                  </a:moveTo>
                  <a:lnTo>
                    <a:pt x="3054827" y="5322036"/>
                  </a:lnTo>
                  <a:lnTo>
                    <a:pt x="3054827" y="5332571"/>
                  </a:lnTo>
                  <a:lnTo>
                    <a:pt x="3099281" y="5332571"/>
                  </a:lnTo>
                  <a:lnTo>
                    <a:pt x="3099281" y="5322036"/>
                  </a:lnTo>
                  <a:close/>
                </a:path>
                <a:path w="4862830" h="5332730">
                  <a:moveTo>
                    <a:pt x="3175089" y="5322036"/>
                  </a:moveTo>
                  <a:lnTo>
                    <a:pt x="3130929" y="5322036"/>
                  </a:lnTo>
                  <a:lnTo>
                    <a:pt x="3130929" y="5332571"/>
                  </a:lnTo>
                  <a:lnTo>
                    <a:pt x="3175089" y="5332571"/>
                  </a:lnTo>
                  <a:lnTo>
                    <a:pt x="3175089" y="5322036"/>
                  </a:lnTo>
                  <a:close/>
                </a:path>
                <a:path w="4862830" h="5332730">
                  <a:moveTo>
                    <a:pt x="3252810" y="5322036"/>
                  </a:moveTo>
                  <a:lnTo>
                    <a:pt x="3208650" y="5322036"/>
                  </a:lnTo>
                  <a:lnTo>
                    <a:pt x="3208650" y="5332571"/>
                  </a:lnTo>
                  <a:lnTo>
                    <a:pt x="3252810" y="5332571"/>
                  </a:lnTo>
                  <a:lnTo>
                    <a:pt x="3252810" y="5322036"/>
                  </a:lnTo>
                  <a:close/>
                </a:path>
                <a:path w="4862830" h="5332730">
                  <a:moveTo>
                    <a:pt x="3330384" y="5322036"/>
                  </a:moveTo>
                  <a:lnTo>
                    <a:pt x="3286224" y="5322036"/>
                  </a:lnTo>
                  <a:lnTo>
                    <a:pt x="3286224" y="5332571"/>
                  </a:lnTo>
                  <a:lnTo>
                    <a:pt x="3330384" y="5332571"/>
                  </a:lnTo>
                  <a:lnTo>
                    <a:pt x="3330384" y="5322036"/>
                  </a:lnTo>
                  <a:close/>
                </a:path>
                <a:path w="4862830" h="5332730">
                  <a:moveTo>
                    <a:pt x="3408399" y="5322036"/>
                  </a:moveTo>
                  <a:lnTo>
                    <a:pt x="3363945" y="5322036"/>
                  </a:lnTo>
                  <a:lnTo>
                    <a:pt x="3363945" y="5332571"/>
                  </a:lnTo>
                  <a:lnTo>
                    <a:pt x="3408399" y="5332571"/>
                  </a:lnTo>
                  <a:lnTo>
                    <a:pt x="3408399" y="5322036"/>
                  </a:lnTo>
                  <a:close/>
                </a:path>
                <a:path w="4862830" h="5332730">
                  <a:moveTo>
                    <a:pt x="3484354" y="5322036"/>
                  </a:moveTo>
                  <a:lnTo>
                    <a:pt x="3440194" y="5322036"/>
                  </a:lnTo>
                  <a:lnTo>
                    <a:pt x="3440194" y="5332571"/>
                  </a:lnTo>
                  <a:lnTo>
                    <a:pt x="3484354" y="5332571"/>
                  </a:lnTo>
                  <a:lnTo>
                    <a:pt x="3484354" y="5322036"/>
                  </a:lnTo>
                  <a:close/>
                </a:path>
                <a:path w="4862830" h="5332730">
                  <a:moveTo>
                    <a:pt x="3561928" y="5322036"/>
                  </a:moveTo>
                  <a:lnTo>
                    <a:pt x="3517769" y="5322036"/>
                  </a:lnTo>
                  <a:lnTo>
                    <a:pt x="3517769" y="5332571"/>
                  </a:lnTo>
                  <a:lnTo>
                    <a:pt x="3561928" y="5332571"/>
                  </a:lnTo>
                  <a:lnTo>
                    <a:pt x="3561928" y="5322036"/>
                  </a:lnTo>
                  <a:close/>
                </a:path>
                <a:path w="4862830" h="5332730">
                  <a:moveTo>
                    <a:pt x="3639650" y="5322036"/>
                  </a:moveTo>
                  <a:lnTo>
                    <a:pt x="3595490" y="5322036"/>
                  </a:lnTo>
                  <a:lnTo>
                    <a:pt x="3595490" y="5332571"/>
                  </a:lnTo>
                  <a:lnTo>
                    <a:pt x="3639650" y="5332571"/>
                  </a:lnTo>
                  <a:lnTo>
                    <a:pt x="3639650" y="5322036"/>
                  </a:lnTo>
                  <a:close/>
                </a:path>
                <a:path w="4862830" h="5332730">
                  <a:moveTo>
                    <a:pt x="3717665" y="5322036"/>
                  </a:moveTo>
                  <a:lnTo>
                    <a:pt x="3673505" y="5322036"/>
                  </a:lnTo>
                  <a:lnTo>
                    <a:pt x="3673505" y="5332571"/>
                  </a:lnTo>
                  <a:lnTo>
                    <a:pt x="3717665" y="5332571"/>
                  </a:lnTo>
                  <a:lnTo>
                    <a:pt x="3717665" y="5322036"/>
                  </a:lnTo>
                  <a:close/>
                </a:path>
                <a:path w="4862830" h="5332730">
                  <a:moveTo>
                    <a:pt x="3793473" y="5322036"/>
                  </a:moveTo>
                  <a:lnTo>
                    <a:pt x="3749313" y="5322036"/>
                  </a:lnTo>
                  <a:lnTo>
                    <a:pt x="3749313" y="5332571"/>
                  </a:lnTo>
                  <a:lnTo>
                    <a:pt x="3793473" y="5332571"/>
                  </a:lnTo>
                  <a:lnTo>
                    <a:pt x="3793473" y="5322036"/>
                  </a:lnTo>
                  <a:close/>
                </a:path>
                <a:path w="4862830" h="5332730">
                  <a:moveTo>
                    <a:pt x="3871194" y="5322036"/>
                  </a:moveTo>
                  <a:lnTo>
                    <a:pt x="3827034" y="5322036"/>
                  </a:lnTo>
                  <a:lnTo>
                    <a:pt x="3827034" y="5332571"/>
                  </a:lnTo>
                  <a:lnTo>
                    <a:pt x="3871194" y="5332571"/>
                  </a:lnTo>
                  <a:lnTo>
                    <a:pt x="3871194" y="5322036"/>
                  </a:lnTo>
                  <a:close/>
                </a:path>
                <a:path w="4862830" h="5332730">
                  <a:moveTo>
                    <a:pt x="3949210" y="5322036"/>
                  </a:moveTo>
                  <a:lnTo>
                    <a:pt x="3904755" y="5322036"/>
                  </a:lnTo>
                  <a:lnTo>
                    <a:pt x="3904755" y="5332571"/>
                  </a:lnTo>
                  <a:lnTo>
                    <a:pt x="3949210" y="5332571"/>
                  </a:lnTo>
                  <a:lnTo>
                    <a:pt x="3949210" y="5322036"/>
                  </a:lnTo>
                  <a:close/>
                </a:path>
                <a:path w="4862830" h="5332730">
                  <a:moveTo>
                    <a:pt x="4026784" y="5322036"/>
                  </a:moveTo>
                  <a:lnTo>
                    <a:pt x="3982771" y="5322036"/>
                  </a:lnTo>
                  <a:lnTo>
                    <a:pt x="3982771" y="5332571"/>
                  </a:lnTo>
                  <a:lnTo>
                    <a:pt x="4026784" y="5332571"/>
                  </a:lnTo>
                  <a:lnTo>
                    <a:pt x="4026784" y="5322036"/>
                  </a:lnTo>
                  <a:close/>
                </a:path>
                <a:path w="4862830" h="5332730">
                  <a:moveTo>
                    <a:pt x="4102739" y="5322036"/>
                  </a:moveTo>
                  <a:lnTo>
                    <a:pt x="4058579" y="5322036"/>
                  </a:lnTo>
                  <a:lnTo>
                    <a:pt x="4058579" y="5332571"/>
                  </a:lnTo>
                  <a:lnTo>
                    <a:pt x="4102739" y="5332571"/>
                  </a:lnTo>
                  <a:lnTo>
                    <a:pt x="4102739" y="5322036"/>
                  </a:lnTo>
                  <a:close/>
                </a:path>
                <a:path w="4862830" h="5332730">
                  <a:moveTo>
                    <a:pt x="4180313" y="5322036"/>
                  </a:moveTo>
                  <a:lnTo>
                    <a:pt x="4136153" y="5322036"/>
                  </a:lnTo>
                  <a:lnTo>
                    <a:pt x="4136153" y="5332571"/>
                  </a:lnTo>
                  <a:lnTo>
                    <a:pt x="4180313" y="5332571"/>
                  </a:lnTo>
                  <a:lnTo>
                    <a:pt x="4180313" y="5322036"/>
                  </a:lnTo>
                  <a:close/>
                </a:path>
                <a:path w="4862830" h="5332730">
                  <a:moveTo>
                    <a:pt x="4258328" y="5322036"/>
                  </a:moveTo>
                  <a:lnTo>
                    <a:pt x="4213874" y="5322036"/>
                  </a:lnTo>
                  <a:lnTo>
                    <a:pt x="4213874" y="5332571"/>
                  </a:lnTo>
                  <a:lnTo>
                    <a:pt x="4258328" y="5332571"/>
                  </a:lnTo>
                  <a:lnTo>
                    <a:pt x="4258328" y="5322036"/>
                  </a:lnTo>
                  <a:close/>
                </a:path>
                <a:path w="4862830" h="5332730">
                  <a:moveTo>
                    <a:pt x="4336049" y="5322036"/>
                  </a:moveTo>
                  <a:lnTo>
                    <a:pt x="4291890" y="5322036"/>
                  </a:lnTo>
                  <a:lnTo>
                    <a:pt x="4291890" y="5332571"/>
                  </a:lnTo>
                  <a:lnTo>
                    <a:pt x="4336049" y="5332571"/>
                  </a:lnTo>
                  <a:lnTo>
                    <a:pt x="4336049" y="5322036"/>
                  </a:lnTo>
                  <a:close/>
                </a:path>
                <a:path w="4862830" h="5332730">
                  <a:moveTo>
                    <a:pt x="4411857" y="5322036"/>
                  </a:moveTo>
                  <a:lnTo>
                    <a:pt x="4367697" y="5322036"/>
                  </a:lnTo>
                  <a:lnTo>
                    <a:pt x="4367697" y="5332571"/>
                  </a:lnTo>
                  <a:lnTo>
                    <a:pt x="4411857" y="5332571"/>
                  </a:lnTo>
                  <a:lnTo>
                    <a:pt x="4411857" y="5322036"/>
                  </a:lnTo>
                  <a:close/>
                </a:path>
                <a:path w="4862830" h="5332730">
                  <a:moveTo>
                    <a:pt x="4489578" y="5322036"/>
                  </a:moveTo>
                  <a:lnTo>
                    <a:pt x="4445418" y="5322036"/>
                  </a:lnTo>
                  <a:lnTo>
                    <a:pt x="4445418" y="5332571"/>
                  </a:lnTo>
                  <a:lnTo>
                    <a:pt x="4489578" y="5332571"/>
                  </a:lnTo>
                  <a:lnTo>
                    <a:pt x="4489578" y="5322036"/>
                  </a:lnTo>
                  <a:close/>
                </a:path>
                <a:path w="4862830" h="5332730">
                  <a:moveTo>
                    <a:pt x="4567594" y="5322036"/>
                  </a:moveTo>
                  <a:lnTo>
                    <a:pt x="4523140" y="5322036"/>
                  </a:lnTo>
                  <a:lnTo>
                    <a:pt x="4523140" y="5332571"/>
                  </a:lnTo>
                  <a:lnTo>
                    <a:pt x="4567594" y="5332571"/>
                  </a:lnTo>
                  <a:lnTo>
                    <a:pt x="4567594" y="5322036"/>
                  </a:lnTo>
                  <a:close/>
                </a:path>
                <a:path w="4862830" h="5332730">
                  <a:moveTo>
                    <a:pt x="4645168" y="5322036"/>
                  </a:moveTo>
                  <a:lnTo>
                    <a:pt x="4601155" y="5322036"/>
                  </a:lnTo>
                  <a:lnTo>
                    <a:pt x="4601155" y="5332571"/>
                  </a:lnTo>
                  <a:lnTo>
                    <a:pt x="4645168" y="5332571"/>
                  </a:lnTo>
                  <a:lnTo>
                    <a:pt x="4645168" y="5322036"/>
                  </a:lnTo>
                  <a:close/>
                </a:path>
                <a:path w="4862830" h="5332730">
                  <a:moveTo>
                    <a:pt x="4721123" y="5322036"/>
                  </a:moveTo>
                  <a:lnTo>
                    <a:pt x="4676963" y="5322036"/>
                  </a:lnTo>
                  <a:lnTo>
                    <a:pt x="4676963" y="5332571"/>
                  </a:lnTo>
                  <a:lnTo>
                    <a:pt x="4721123" y="5332571"/>
                  </a:lnTo>
                  <a:lnTo>
                    <a:pt x="4721123" y="5322036"/>
                  </a:lnTo>
                  <a:close/>
                </a:path>
                <a:path w="4862830" h="5332730">
                  <a:moveTo>
                    <a:pt x="4798697" y="5322036"/>
                  </a:moveTo>
                  <a:lnTo>
                    <a:pt x="4754684" y="5322036"/>
                  </a:lnTo>
                  <a:lnTo>
                    <a:pt x="4754684" y="5332571"/>
                  </a:lnTo>
                  <a:lnTo>
                    <a:pt x="4798697" y="5332571"/>
                  </a:lnTo>
                  <a:lnTo>
                    <a:pt x="4798697" y="5322036"/>
                  </a:lnTo>
                  <a:close/>
                </a:path>
                <a:path w="4862830" h="5332730">
                  <a:moveTo>
                    <a:pt x="4850069" y="5322036"/>
                  </a:moveTo>
                  <a:lnTo>
                    <a:pt x="4832700" y="5322036"/>
                  </a:lnTo>
                  <a:lnTo>
                    <a:pt x="4832700" y="5332571"/>
                  </a:lnTo>
                  <a:lnTo>
                    <a:pt x="4862581" y="5332571"/>
                  </a:lnTo>
                  <a:lnTo>
                    <a:pt x="4862581" y="5327127"/>
                  </a:lnTo>
                  <a:lnTo>
                    <a:pt x="4850069" y="5327127"/>
                  </a:lnTo>
                  <a:lnTo>
                    <a:pt x="4850069" y="5322036"/>
                  </a:lnTo>
                  <a:close/>
                </a:path>
                <a:path w="4862830" h="5332730">
                  <a:moveTo>
                    <a:pt x="4862581" y="5307881"/>
                  </a:moveTo>
                  <a:lnTo>
                    <a:pt x="4850069" y="5307881"/>
                  </a:lnTo>
                  <a:lnTo>
                    <a:pt x="4850069" y="5327127"/>
                  </a:lnTo>
                  <a:lnTo>
                    <a:pt x="4857135" y="5322036"/>
                  </a:lnTo>
                  <a:lnTo>
                    <a:pt x="4862581" y="5322036"/>
                  </a:lnTo>
                  <a:lnTo>
                    <a:pt x="4862581" y="5307881"/>
                  </a:lnTo>
                  <a:close/>
                </a:path>
                <a:path w="4862830" h="5332730">
                  <a:moveTo>
                    <a:pt x="4862581" y="5322036"/>
                  </a:moveTo>
                  <a:lnTo>
                    <a:pt x="4857135" y="5322036"/>
                  </a:lnTo>
                  <a:lnTo>
                    <a:pt x="4850069" y="5327127"/>
                  </a:lnTo>
                  <a:lnTo>
                    <a:pt x="4862581" y="5327127"/>
                  </a:lnTo>
                  <a:lnTo>
                    <a:pt x="4862581" y="5322036"/>
                  </a:lnTo>
                  <a:close/>
                </a:path>
                <a:path w="4862830" h="5332730">
                  <a:moveTo>
                    <a:pt x="4862581" y="5229836"/>
                  </a:moveTo>
                  <a:lnTo>
                    <a:pt x="4850069" y="5229836"/>
                  </a:lnTo>
                  <a:lnTo>
                    <a:pt x="4850069" y="5274126"/>
                  </a:lnTo>
                  <a:lnTo>
                    <a:pt x="4862581" y="5274126"/>
                  </a:lnTo>
                  <a:lnTo>
                    <a:pt x="4862581" y="5229836"/>
                  </a:lnTo>
                  <a:close/>
                </a:path>
                <a:path w="4862830" h="5332730">
                  <a:moveTo>
                    <a:pt x="4862581" y="5152145"/>
                  </a:moveTo>
                  <a:lnTo>
                    <a:pt x="4850069" y="5152145"/>
                  </a:lnTo>
                  <a:lnTo>
                    <a:pt x="4850069" y="5196435"/>
                  </a:lnTo>
                  <a:lnTo>
                    <a:pt x="4862581" y="5196435"/>
                  </a:lnTo>
                  <a:lnTo>
                    <a:pt x="4862581" y="5152145"/>
                  </a:lnTo>
                  <a:close/>
                </a:path>
                <a:path w="4862830" h="5332730">
                  <a:moveTo>
                    <a:pt x="4862581" y="5074454"/>
                  </a:moveTo>
                  <a:lnTo>
                    <a:pt x="4850069" y="5074454"/>
                  </a:lnTo>
                  <a:lnTo>
                    <a:pt x="4850069" y="5118744"/>
                  </a:lnTo>
                  <a:lnTo>
                    <a:pt x="4862581" y="5118744"/>
                  </a:lnTo>
                  <a:lnTo>
                    <a:pt x="4862581" y="5074454"/>
                  </a:lnTo>
                  <a:close/>
                </a:path>
                <a:path w="4862830" h="5332730">
                  <a:moveTo>
                    <a:pt x="4862581" y="4998219"/>
                  </a:moveTo>
                  <a:lnTo>
                    <a:pt x="4850069" y="4998219"/>
                  </a:lnTo>
                  <a:lnTo>
                    <a:pt x="4850069" y="5042509"/>
                  </a:lnTo>
                  <a:lnTo>
                    <a:pt x="4862581" y="5042509"/>
                  </a:lnTo>
                  <a:lnTo>
                    <a:pt x="4862581" y="4998219"/>
                  </a:lnTo>
                  <a:close/>
                </a:path>
                <a:path w="4862830" h="5332730">
                  <a:moveTo>
                    <a:pt x="4862581" y="4920528"/>
                  </a:moveTo>
                  <a:lnTo>
                    <a:pt x="4850069" y="4920528"/>
                  </a:lnTo>
                  <a:lnTo>
                    <a:pt x="4850069" y="4964817"/>
                  </a:lnTo>
                  <a:lnTo>
                    <a:pt x="4862581" y="4964817"/>
                  </a:lnTo>
                  <a:lnTo>
                    <a:pt x="4862581" y="4920528"/>
                  </a:lnTo>
                  <a:close/>
                </a:path>
                <a:path w="4862830" h="5332730">
                  <a:moveTo>
                    <a:pt x="4862581" y="4842851"/>
                  </a:moveTo>
                  <a:lnTo>
                    <a:pt x="4850069" y="4842851"/>
                  </a:lnTo>
                  <a:lnTo>
                    <a:pt x="4850069" y="4887141"/>
                  </a:lnTo>
                  <a:lnTo>
                    <a:pt x="4862581" y="4887141"/>
                  </a:lnTo>
                  <a:lnTo>
                    <a:pt x="4862581" y="4842851"/>
                  </a:lnTo>
                  <a:close/>
                </a:path>
                <a:path w="4862830" h="5332730">
                  <a:moveTo>
                    <a:pt x="4862581" y="4764792"/>
                  </a:moveTo>
                  <a:lnTo>
                    <a:pt x="4850069" y="4764792"/>
                  </a:lnTo>
                  <a:lnTo>
                    <a:pt x="4850069" y="4809082"/>
                  </a:lnTo>
                  <a:lnTo>
                    <a:pt x="4862581" y="4809082"/>
                  </a:lnTo>
                  <a:lnTo>
                    <a:pt x="4862581" y="4764792"/>
                  </a:lnTo>
                  <a:close/>
                </a:path>
                <a:path w="4862830" h="5332730">
                  <a:moveTo>
                    <a:pt x="4862581" y="4688925"/>
                  </a:moveTo>
                  <a:lnTo>
                    <a:pt x="4850069" y="4688925"/>
                  </a:lnTo>
                  <a:lnTo>
                    <a:pt x="4850069" y="4733215"/>
                  </a:lnTo>
                  <a:lnTo>
                    <a:pt x="4862581" y="4733215"/>
                  </a:lnTo>
                  <a:lnTo>
                    <a:pt x="4862581" y="4688925"/>
                  </a:lnTo>
                  <a:close/>
                </a:path>
                <a:path w="4862830" h="5332730">
                  <a:moveTo>
                    <a:pt x="4862581" y="4611233"/>
                  </a:moveTo>
                  <a:lnTo>
                    <a:pt x="4850069" y="4611233"/>
                  </a:lnTo>
                  <a:lnTo>
                    <a:pt x="4850069" y="4655523"/>
                  </a:lnTo>
                  <a:lnTo>
                    <a:pt x="4862581" y="4655523"/>
                  </a:lnTo>
                  <a:lnTo>
                    <a:pt x="4862581" y="4611233"/>
                  </a:lnTo>
                  <a:close/>
                </a:path>
                <a:path w="4862830" h="5332730">
                  <a:moveTo>
                    <a:pt x="4862581" y="4533174"/>
                  </a:moveTo>
                  <a:lnTo>
                    <a:pt x="4850069" y="4533174"/>
                  </a:lnTo>
                  <a:lnTo>
                    <a:pt x="4850069" y="4577464"/>
                  </a:lnTo>
                  <a:lnTo>
                    <a:pt x="4862581" y="4577464"/>
                  </a:lnTo>
                  <a:lnTo>
                    <a:pt x="4862581" y="4533174"/>
                  </a:lnTo>
                  <a:close/>
                </a:path>
                <a:path w="4862830" h="5332730">
                  <a:moveTo>
                    <a:pt x="4862581" y="4455497"/>
                  </a:moveTo>
                  <a:lnTo>
                    <a:pt x="4850069" y="4455497"/>
                  </a:lnTo>
                  <a:lnTo>
                    <a:pt x="4850069" y="4499787"/>
                  </a:lnTo>
                  <a:lnTo>
                    <a:pt x="4862581" y="4499787"/>
                  </a:lnTo>
                  <a:lnTo>
                    <a:pt x="4862581" y="4455497"/>
                  </a:lnTo>
                  <a:close/>
                </a:path>
                <a:path w="4862830" h="5332730">
                  <a:moveTo>
                    <a:pt x="4862581" y="4379616"/>
                  </a:moveTo>
                  <a:lnTo>
                    <a:pt x="4850069" y="4379616"/>
                  </a:lnTo>
                  <a:lnTo>
                    <a:pt x="4850069" y="4423538"/>
                  </a:lnTo>
                  <a:lnTo>
                    <a:pt x="4862581" y="4423538"/>
                  </a:lnTo>
                  <a:lnTo>
                    <a:pt x="4862581" y="4379616"/>
                  </a:lnTo>
                  <a:close/>
                </a:path>
                <a:path w="4862830" h="5332730">
                  <a:moveTo>
                    <a:pt x="4862581" y="4301571"/>
                  </a:moveTo>
                  <a:lnTo>
                    <a:pt x="4850069" y="4301571"/>
                  </a:lnTo>
                  <a:lnTo>
                    <a:pt x="4850069" y="4345861"/>
                  </a:lnTo>
                  <a:lnTo>
                    <a:pt x="4862581" y="4345861"/>
                  </a:lnTo>
                  <a:lnTo>
                    <a:pt x="4862581" y="4301571"/>
                  </a:lnTo>
                  <a:close/>
                </a:path>
                <a:path w="4862830" h="5332730">
                  <a:moveTo>
                    <a:pt x="4862581" y="4223880"/>
                  </a:moveTo>
                  <a:lnTo>
                    <a:pt x="4850069" y="4223880"/>
                  </a:lnTo>
                  <a:lnTo>
                    <a:pt x="4850069" y="4268170"/>
                  </a:lnTo>
                  <a:lnTo>
                    <a:pt x="4862581" y="4268170"/>
                  </a:lnTo>
                  <a:lnTo>
                    <a:pt x="4862581" y="4223880"/>
                  </a:lnTo>
                  <a:close/>
                </a:path>
                <a:path w="4862830" h="5332730">
                  <a:moveTo>
                    <a:pt x="4862581" y="4146189"/>
                  </a:moveTo>
                  <a:lnTo>
                    <a:pt x="4850069" y="4146189"/>
                  </a:lnTo>
                  <a:lnTo>
                    <a:pt x="4850069" y="4190479"/>
                  </a:lnTo>
                  <a:lnTo>
                    <a:pt x="4862581" y="4190479"/>
                  </a:lnTo>
                  <a:lnTo>
                    <a:pt x="4862581" y="4146189"/>
                  </a:lnTo>
                  <a:close/>
                </a:path>
                <a:path w="4862830" h="5332730">
                  <a:moveTo>
                    <a:pt x="4862581" y="4069969"/>
                  </a:moveTo>
                  <a:lnTo>
                    <a:pt x="4850069" y="4069969"/>
                  </a:lnTo>
                  <a:lnTo>
                    <a:pt x="4850069" y="4114259"/>
                  </a:lnTo>
                  <a:lnTo>
                    <a:pt x="4862581" y="4114259"/>
                  </a:lnTo>
                  <a:lnTo>
                    <a:pt x="4862581" y="4069969"/>
                  </a:lnTo>
                  <a:close/>
                </a:path>
                <a:path w="4862830" h="5332730">
                  <a:moveTo>
                    <a:pt x="4862581" y="3992277"/>
                  </a:moveTo>
                  <a:lnTo>
                    <a:pt x="4850069" y="3992277"/>
                  </a:lnTo>
                  <a:lnTo>
                    <a:pt x="4850069" y="4036567"/>
                  </a:lnTo>
                  <a:lnTo>
                    <a:pt x="4862581" y="4036567"/>
                  </a:lnTo>
                  <a:lnTo>
                    <a:pt x="4862581" y="3992277"/>
                  </a:lnTo>
                  <a:close/>
                </a:path>
                <a:path w="4862830" h="5332730">
                  <a:moveTo>
                    <a:pt x="4862581" y="3914586"/>
                  </a:moveTo>
                  <a:lnTo>
                    <a:pt x="4850069" y="3914586"/>
                  </a:lnTo>
                  <a:lnTo>
                    <a:pt x="4850069" y="3958876"/>
                  </a:lnTo>
                  <a:lnTo>
                    <a:pt x="4862581" y="3958876"/>
                  </a:lnTo>
                  <a:lnTo>
                    <a:pt x="4862581" y="3914586"/>
                  </a:lnTo>
                  <a:close/>
                </a:path>
                <a:path w="4862830" h="5332730">
                  <a:moveTo>
                    <a:pt x="4862581" y="3836895"/>
                  </a:moveTo>
                  <a:lnTo>
                    <a:pt x="4850069" y="3836895"/>
                  </a:lnTo>
                  <a:lnTo>
                    <a:pt x="4850069" y="3880743"/>
                  </a:lnTo>
                  <a:lnTo>
                    <a:pt x="4862581" y="3880743"/>
                  </a:lnTo>
                  <a:lnTo>
                    <a:pt x="4862581" y="3836895"/>
                  </a:lnTo>
                  <a:close/>
                </a:path>
                <a:path w="4862830" h="5332730">
                  <a:moveTo>
                    <a:pt x="4862581" y="3760675"/>
                  </a:moveTo>
                  <a:lnTo>
                    <a:pt x="4850069" y="3760675"/>
                  </a:lnTo>
                  <a:lnTo>
                    <a:pt x="4850069" y="3804965"/>
                  </a:lnTo>
                  <a:lnTo>
                    <a:pt x="4862581" y="3804965"/>
                  </a:lnTo>
                  <a:lnTo>
                    <a:pt x="4862581" y="3760675"/>
                  </a:lnTo>
                  <a:close/>
                </a:path>
                <a:path w="4862830" h="5332730">
                  <a:moveTo>
                    <a:pt x="4862581" y="3682983"/>
                  </a:moveTo>
                  <a:lnTo>
                    <a:pt x="4850069" y="3682983"/>
                  </a:lnTo>
                  <a:lnTo>
                    <a:pt x="4850069" y="3727273"/>
                  </a:lnTo>
                  <a:lnTo>
                    <a:pt x="4862581" y="3727273"/>
                  </a:lnTo>
                  <a:lnTo>
                    <a:pt x="4862581" y="3682983"/>
                  </a:lnTo>
                  <a:close/>
                </a:path>
                <a:path w="4862830" h="5332730">
                  <a:moveTo>
                    <a:pt x="4862581" y="3604850"/>
                  </a:moveTo>
                  <a:lnTo>
                    <a:pt x="4850069" y="3604850"/>
                  </a:lnTo>
                  <a:lnTo>
                    <a:pt x="4850069" y="3649140"/>
                  </a:lnTo>
                  <a:lnTo>
                    <a:pt x="4862581" y="3649140"/>
                  </a:lnTo>
                  <a:lnTo>
                    <a:pt x="4862581" y="3604850"/>
                  </a:lnTo>
                  <a:close/>
                </a:path>
                <a:path w="4862830" h="5332730">
                  <a:moveTo>
                    <a:pt x="4862581" y="3527159"/>
                  </a:moveTo>
                  <a:lnTo>
                    <a:pt x="4850069" y="3527159"/>
                  </a:lnTo>
                  <a:lnTo>
                    <a:pt x="4850069" y="3571449"/>
                  </a:lnTo>
                  <a:lnTo>
                    <a:pt x="4862581" y="3571449"/>
                  </a:lnTo>
                  <a:lnTo>
                    <a:pt x="4862581" y="3527159"/>
                  </a:lnTo>
                  <a:close/>
                </a:path>
                <a:path w="4862830" h="5332730">
                  <a:moveTo>
                    <a:pt x="4862581" y="3451380"/>
                  </a:moveTo>
                  <a:lnTo>
                    <a:pt x="4850069" y="3451380"/>
                  </a:lnTo>
                  <a:lnTo>
                    <a:pt x="4850069" y="3495670"/>
                  </a:lnTo>
                  <a:lnTo>
                    <a:pt x="4862581" y="3495670"/>
                  </a:lnTo>
                  <a:lnTo>
                    <a:pt x="4862581" y="3451380"/>
                  </a:lnTo>
                  <a:close/>
                </a:path>
                <a:path w="4862830" h="5332730">
                  <a:moveTo>
                    <a:pt x="4862581" y="3373248"/>
                  </a:moveTo>
                  <a:lnTo>
                    <a:pt x="4850069" y="3373248"/>
                  </a:lnTo>
                  <a:lnTo>
                    <a:pt x="4850069" y="3417538"/>
                  </a:lnTo>
                  <a:lnTo>
                    <a:pt x="4862581" y="3417538"/>
                  </a:lnTo>
                  <a:lnTo>
                    <a:pt x="4862581" y="3373248"/>
                  </a:lnTo>
                  <a:close/>
                </a:path>
                <a:path w="4862830" h="5332730">
                  <a:moveTo>
                    <a:pt x="4862581" y="3295556"/>
                  </a:moveTo>
                  <a:lnTo>
                    <a:pt x="4850069" y="3295556"/>
                  </a:lnTo>
                  <a:lnTo>
                    <a:pt x="4850069" y="3339846"/>
                  </a:lnTo>
                  <a:lnTo>
                    <a:pt x="4862581" y="3339846"/>
                  </a:lnTo>
                  <a:lnTo>
                    <a:pt x="4862581" y="3295556"/>
                  </a:lnTo>
                  <a:close/>
                </a:path>
                <a:path w="4862830" h="5332730">
                  <a:moveTo>
                    <a:pt x="4862581" y="3217865"/>
                  </a:moveTo>
                  <a:lnTo>
                    <a:pt x="4850069" y="3217865"/>
                  </a:lnTo>
                  <a:lnTo>
                    <a:pt x="4850069" y="3262155"/>
                  </a:lnTo>
                  <a:lnTo>
                    <a:pt x="4862581" y="3262155"/>
                  </a:lnTo>
                  <a:lnTo>
                    <a:pt x="4862581" y="3217865"/>
                  </a:lnTo>
                  <a:close/>
                </a:path>
                <a:path w="4862830" h="5332730">
                  <a:moveTo>
                    <a:pt x="4862581" y="3141645"/>
                  </a:moveTo>
                  <a:lnTo>
                    <a:pt x="4850069" y="3141645"/>
                  </a:lnTo>
                  <a:lnTo>
                    <a:pt x="4850069" y="3185935"/>
                  </a:lnTo>
                  <a:lnTo>
                    <a:pt x="4862581" y="3185935"/>
                  </a:lnTo>
                  <a:lnTo>
                    <a:pt x="4862581" y="3141645"/>
                  </a:lnTo>
                  <a:close/>
                </a:path>
                <a:path w="4862830" h="5332730">
                  <a:moveTo>
                    <a:pt x="4862581" y="3063954"/>
                  </a:moveTo>
                  <a:lnTo>
                    <a:pt x="4850069" y="3063954"/>
                  </a:lnTo>
                  <a:lnTo>
                    <a:pt x="4850069" y="3108244"/>
                  </a:lnTo>
                  <a:lnTo>
                    <a:pt x="4862581" y="3108244"/>
                  </a:lnTo>
                  <a:lnTo>
                    <a:pt x="4862581" y="3063954"/>
                  </a:lnTo>
                  <a:close/>
                </a:path>
                <a:path w="4862830" h="5332730">
                  <a:moveTo>
                    <a:pt x="4862581" y="2986262"/>
                  </a:moveTo>
                  <a:lnTo>
                    <a:pt x="4850069" y="2986262"/>
                  </a:lnTo>
                  <a:lnTo>
                    <a:pt x="4850069" y="3030552"/>
                  </a:lnTo>
                  <a:lnTo>
                    <a:pt x="4862581" y="3030552"/>
                  </a:lnTo>
                  <a:lnTo>
                    <a:pt x="4862581" y="2986262"/>
                  </a:lnTo>
                  <a:close/>
                </a:path>
                <a:path w="4862830" h="5332730">
                  <a:moveTo>
                    <a:pt x="4862581" y="2908571"/>
                  </a:moveTo>
                  <a:lnTo>
                    <a:pt x="4850069" y="2908571"/>
                  </a:lnTo>
                  <a:lnTo>
                    <a:pt x="4850069" y="2952566"/>
                  </a:lnTo>
                  <a:lnTo>
                    <a:pt x="4862581" y="2952566"/>
                  </a:lnTo>
                  <a:lnTo>
                    <a:pt x="4862581" y="2908571"/>
                  </a:lnTo>
                  <a:close/>
                </a:path>
                <a:path w="4862830" h="5332730">
                  <a:moveTo>
                    <a:pt x="4862581" y="2832351"/>
                  </a:moveTo>
                  <a:lnTo>
                    <a:pt x="4850069" y="2832351"/>
                  </a:lnTo>
                  <a:lnTo>
                    <a:pt x="4850069" y="2876641"/>
                  </a:lnTo>
                  <a:lnTo>
                    <a:pt x="4862581" y="2876641"/>
                  </a:lnTo>
                  <a:lnTo>
                    <a:pt x="4862581" y="2832351"/>
                  </a:lnTo>
                  <a:close/>
                </a:path>
                <a:path w="4862830" h="5332730">
                  <a:moveTo>
                    <a:pt x="4862581" y="2754659"/>
                  </a:moveTo>
                  <a:lnTo>
                    <a:pt x="4850069" y="2754659"/>
                  </a:lnTo>
                  <a:lnTo>
                    <a:pt x="4850069" y="2798949"/>
                  </a:lnTo>
                  <a:lnTo>
                    <a:pt x="4862581" y="2798949"/>
                  </a:lnTo>
                  <a:lnTo>
                    <a:pt x="4862581" y="2754659"/>
                  </a:lnTo>
                  <a:close/>
                </a:path>
                <a:path w="4862830" h="5332730">
                  <a:moveTo>
                    <a:pt x="4862581" y="2676968"/>
                  </a:moveTo>
                  <a:lnTo>
                    <a:pt x="4850069" y="2676968"/>
                  </a:lnTo>
                  <a:lnTo>
                    <a:pt x="4850069" y="2720964"/>
                  </a:lnTo>
                  <a:lnTo>
                    <a:pt x="4862581" y="2720964"/>
                  </a:lnTo>
                  <a:lnTo>
                    <a:pt x="4862581" y="2676968"/>
                  </a:lnTo>
                  <a:close/>
                </a:path>
                <a:path w="4862830" h="5332730">
                  <a:moveTo>
                    <a:pt x="4862581" y="2598982"/>
                  </a:moveTo>
                  <a:lnTo>
                    <a:pt x="4850069" y="2598982"/>
                  </a:lnTo>
                  <a:lnTo>
                    <a:pt x="4850069" y="2643272"/>
                  </a:lnTo>
                  <a:lnTo>
                    <a:pt x="4862581" y="2643272"/>
                  </a:lnTo>
                  <a:lnTo>
                    <a:pt x="4862581" y="2598982"/>
                  </a:lnTo>
                  <a:close/>
                </a:path>
                <a:path w="4862830" h="5332730">
                  <a:moveTo>
                    <a:pt x="4862581" y="2523057"/>
                  </a:moveTo>
                  <a:lnTo>
                    <a:pt x="4850069" y="2523057"/>
                  </a:lnTo>
                  <a:lnTo>
                    <a:pt x="4850069" y="2567347"/>
                  </a:lnTo>
                  <a:lnTo>
                    <a:pt x="4862581" y="2567347"/>
                  </a:lnTo>
                  <a:lnTo>
                    <a:pt x="4862581" y="2523057"/>
                  </a:lnTo>
                  <a:close/>
                </a:path>
                <a:path w="4862830" h="5332730">
                  <a:moveTo>
                    <a:pt x="4862581" y="2445365"/>
                  </a:moveTo>
                  <a:lnTo>
                    <a:pt x="4850069" y="2445365"/>
                  </a:lnTo>
                  <a:lnTo>
                    <a:pt x="4850069" y="2489361"/>
                  </a:lnTo>
                  <a:lnTo>
                    <a:pt x="4862581" y="2489361"/>
                  </a:lnTo>
                  <a:lnTo>
                    <a:pt x="4862581" y="2445365"/>
                  </a:lnTo>
                  <a:close/>
                </a:path>
                <a:path w="4862830" h="5332730">
                  <a:moveTo>
                    <a:pt x="4862581" y="2367380"/>
                  </a:moveTo>
                  <a:lnTo>
                    <a:pt x="4850069" y="2367380"/>
                  </a:lnTo>
                  <a:lnTo>
                    <a:pt x="4850069" y="2411670"/>
                  </a:lnTo>
                  <a:lnTo>
                    <a:pt x="4862581" y="2411670"/>
                  </a:lnTo>
                  <a:lnTo>
                    <a:pt x="4862581" y="2367380"/>
                  </a:lnTo>
                  <a:close/>
                </a:path>
                <a:path w="4862830" h="5332730">
                  <a:moveTo>
                    <a:pt x="4862581" y="2289688"/>
                  </a:moveTo>
                  <a:lnTo>
                    <a:pt x="4850069" y="2289688"/>
                  </a:lnTo>
                  <a:lnTo>
                    <a:pt x="4850069" y="2333978"/>
                  </a:lnTo>
                  <a:lnTo>
                    <a:pt x="4862581" y="2333978"/>
                  </a:lnTo>
                  <a:lnTo>
                    <a:pt x="4862581" y="2289688"/>
                  </a:lnTo>
                  <a:close/>
                </a:path>
                <a:path w="4862830" h="5332730">
                  <a:moveTo>
                    <a:pt x="4862581" y="2213468"/>
                  </a:moveTo>
                  <a:lnTo>
                    <a:pt x="4850069" y="2213468"/>
                  </a:lnTo>
                  <a:lnTo>
                    <a:pt x="4850069" y="2257758"/>
                  </a:lnTo>
                  <a:lnTo>
                    <a:pt x="4862581" y="2257758"/>
                  </a:lnTo>
                  <a:lnTo>
                    <a:pt x="4862581" y="2213468"/>
                  </a:lnTo>
                  <a:close/>
                </a:path>
                <a:path w="4862830" h="5332730">
                  <a:moveTo>
                    <a:pt x="4862581" y="2135777"/>
                  </a:moveTo>
                  <a:lnTo>
                    <a:pt x="4850069" y="2135777"/>
                  </a:lnTo>
                  <a:lnTo>
                    <a:pt x="4850069" y="2180067"/>
                  </a:lnTo>
                  <a:lnTo>
                    <a:pt x="4862581" y="2180067"/>
                  </a:lnTo>
                  <a:lnTo>
                    <a:pt x="4862581" y="2135777"/>
                  </a:lnTo>
                  <a:close/>
                </a:path>
                <a:path w="4862830" h="5332730">
                  <a:moveTo>
                    <a:pt x="4862581" y="2058086"/>
                  </a:moveTo>
                  <a:lnTo>
                    <a:pt x="4850069" y="2058086"/>
                  </a:lnTo>
                  <a:lnTo>
                    <a:pt x="4850069" y="2102375"/>
                  </a:lnTo>
                  <a:lnTo>
                    <a:pt x="4862581" y="2102375"/>
                  </a:lnTo>
                  <a:lnTo>
                    <a:pt x="4862581" y="2058086"/>
                  </a:lnTo>
                  <a:close/>
                </a:path>
                <a:path w="4862830" h="5332730">
                  <a:moveTo>
                    <a:pt x="4862581" y="1980394"/>
                  </a:moveTo>
                  <a:lnTo>
                    <a:pt x="4850069" y="1980394"/>
                  </a:lnTo>
                  <a:lnTo>
                    <a:pt x="4850069" y="2024243"/>
                  </a:lnTo>
                  <a:lnTo>
                    <a:pt x="4862581" y="2024243"/>
                  </a:lnTo>
                  <a:lnTo>
                    <a:pt x="4862581" y="1980394"/>
                  </a:lnTo>
                  <a:close/>
                </a:path>
                <a:path w="4862830" h="5332730">
                  <a:moveTo>
                    <a:pt x="4862581" y="1904174"/>
                  </a:moveTo>
                  <a:lnTo>
                    <a:pt x="4850069" y="1904174"/>
                  </a:lnTo>
                  <a:lnTo>
                    <a:pt x="4850069" y="1948464"/>
                  </a:lnTo>
                  <a:lnTo>
                    <a:pt x="4862581" y="1948464"/>
                  </a:lnTo>
                  <a:lnTo>
                    <a:pt x="4862581" y="1904174"/>
                  </a:lnTo>
                  <a:close/>
                </a:path>
                <a:path w="4862830" h="5332730">
                  <a:moveTo>
                    <a:pt x="4862581" y="1826483"/>
                  </a:moveTo>
                  <a:lnTo>
                    <a:pt x="4850069" y="1826483"/>
                  </a:lnTo>
                  <a:lnTo>
                    <a:pt x="4850069" y="1870773"/>
                  </a:lnTo>
                  <a:lnTo>
                    <a:pt x="4862581" y="1870773"/>
                  </a:lnTo>
                  <a:lnTo>
                    <a:pt x="4862581" y="1826483"/>
                  </a:lnTo>
                  <a:close/>
                </a:path>
                <a:path w="4862830" h="5332730">
                  <a:moveTo>
                    <a:pt x="4862581" y="1748791"/>
                  </a:moveTo>
                  <a:lnTo>
                    <a:pt x="4850069" y="1748791"/>
                  </a:lnTo>
                  <a:lnTo>
                    <a:pt x="4850069" y="1792640"/>
                  </a:lnTo>
                  <a:lnTo>
                    <a:pt x="4862581" y="1792640"/>
                  </a:lnTo>
                  <a:lnTo>
                    <a:pt x="4862581" y="1748791"/>
                  </a:lnTo>
                  <a:close/>
                </a:path>
                <a:path w="4862830" h="5332730">
                  <a:moveTo>
                    <a:pt x="4862581" y="1670659"/>
                  </a:moveTo>
                  <a:lnTo>
                    <a:pt x="4850069" y="1670659"/>
                  </a:lnTo>
                  <a:lnTo>
                    <a:pt x="4850069" y="1714949"/>
                  </a:lnTo>
                  <a:lnTo>
                    <a:pt x="4862581" y="1714949"/>
                  </a:lnTo>
                  <a:lnTo>
                    <a:pt x="4862581" y="1670659"/>
                  </a:lnTo>
                  <a:close/>
                </a:path>
                <a:path w="4862830" h="5332730">
                  <a:moveTo>
                    <a:pt x="4862581" y="1594880"/>
                  </a:moveTo>
                  <a:lnTo>
                    <a:pt x="4850069" y="1594880"/>
                  </a:lnTo>
                  <a:lnTo>
                    <a:pt x="4850069" y="1639170"/>
                  </a:lnTo>
                  <a:lnTo>
                    <a:pt x="4862581" y="1639170"/>
                  </a:lnTo>
                  <a:lnTo>
                    <a:pt x="4862581" y="1594880"/>
                  </a:lnTo>
                  <a:close/>
                </a:path>
                <a:path w="4862830" h="5332730">
                  <a:moveTo>
                    <a:pt x="4862581" y="1517189"/>
                  </a:moveTo>
                  <a:lnTo>
                    <a:pt x="4850069" y="1517189"/>
                  </a:lnTo>
                  <a:lnTo>
                    <a:pt x="4850069" y="1561037"/>
                  </a:lnTo>
                  <a:lnTo>
                    <a:pt x="4862581" y="1561037"/>
                  </a:lnTo>
                  <a:lnTo>
                    <a:pt x="4862581" y="1517189"/>
                  </a:lnTo>
                  <a:close/>
                </a:path>
                <a:path w="4862830" h="5332730">
                  <a:moveTo>
                    <a:pt x="4862581" y="1439056"/>
                  </a:moveTo>
                  <a:lnTo>
                    <a:pt x="4850069" y="1439056"/>
                  </a:lnTo>
                  <a:lnTo>
                    <a:pt x="4850069" y="1483346"/>
                  </a:lnTo>
                  <a:lnTo>
                    <a:pt x="4862581" y="1483346"/>
                  </a:lnTo>
                  <a:lnTo>
                    <a:pt x="4862581" y="1439056"/>
                  </a:lnTo>
                  <a:close/>
                </a:path>
                <a:path w="4862830" h="5332730">
                  <a:moveTo>
                    <a:pt x="4862581" y="1361364"/>
                  </a:moveTo>
                  <a:lnTo>
                    <a:pt x="4850069" y="1361364"/>
                  </a:lnTo>
                  <a:lnTo>
                    <a:pt x="4850069" y="1405654"/>
                  </a:lnTo>
                  <a:lnTo>
                    <a:pt x="4862581" y="1405654"/>
                  </a:lnTo>
                  <a:lnTo>
                    <a:pt x="4862581" y="1361364"/>
                  </a:lnTo>
                  <a:close/>
                </a:path>
                <a:path w="4862830" h="5332730">
                  <a:moveTo>
                    <a:pt x="4862581" y="1285586"/>
                  </a:moveTo>
                  <a:lnTo>
                    <a:pt x="4850069" y="1285586"/>
                  </a:lnTo>
                  <a:lnTo>
                    <a:pt x="4850069" y="1329434"/>
                  </a:lnTo>
                  <a:lnTo>
                    <a:pt x="4862581" y="1329434"/>
                  </a:lnTo>
                  <a:lnTo>
                    <a:pt x="4862581" y="1285586"/>
                  </a:lnTo>
                  <a:close/>
                </a:path>
                <a:path w="4862830" h="5332730">
                  <a:moveTo>
                    <a:pt x="4862581" y="1207453"/>
                  </a:moveTo>
                  <a:lnTo>
                    <a:pt x="4850069" y="1207453"/>
                  </a:lnTo>
                  <a:lnTo>
                    <a:pt x="4850069" y="1251743"/>
                  </a:lnTo>
                  <a:lnTo>
                    <a:pt x="4862581" y="1251743"/>
                  </a:lnTo>
                  <a:lnTo>
                    <a:pt x="4862581" y="1207453"/>
                  </a:lnTo>
                  <a:close/>
                </a:path>
                <a:path w="4862830" h="5332730">
                  <a:moveTo>
                    <a:pt x="4862581" y="1129762"/>
                  </a:moveTo>
                  <a:lnTo>
                    <a:pt x="4850069" y="1129762"/>
                  </a:lnTo>
                  <a:lnTo>
                    <a:pt x="4850069" y="1174052"/>
                  </a:lnTo>
                  <a:lnTo>
                    <a:pt x="4862581" y="1174052"/>
                  </a:lnTo>
                  <a:lnTo>
                    <a:pt x="4862581" y="1129762"/>
                  </a:lnTo>
                  <a:close/>
                </a:path>
                <a:path w="4862830" h="5332730">
                  <a:moveTo>
                    <a:pt x="4862581" y="1052070"/>
                  </a:moveTo>
                  <a:lnTo>
                    <a:pt x="4850069" y="1052070"/>
                  </a:lnTo>
                  <a:lnTo>
                    <a:pt x="4850069" y="1096066"/>
                  </a:lnTo>
                  <a:lnTo>
                    <a:pt x="4862581" y="1096066"/>
                  </a:lnTo>
                  <a:lnTo>
                    <a:pt x="4862581" y="1052070"/>
                  </a:lnTo>
                  <a:close/>
                </a:path>
                <a:path w="4862830" h="5332730">
                  <a:moveTo>
                    <a:pt x="4862581" y="975850"/>
                  </a:moveTo>
                  <a:lnTo>
                    <a:pt x="4850069" y="975850"/>
                  </a:lnTo>
                  <a:lnTo>
                    <a:pt x="4850069" y="1020140"/>
                  </a:lnTo>
                  <a:lnTo>
                    <a:pt x="4862581" y="1020140"/>
                  </a:lnTo>
                  <a:lnTo>
                    <a:pt x="4862581" y="975850"/>
                  </a:lnTo>
                  <a:close/>
                </a:path>
                <a:path w="4862830" h="5332730">
                  <a:moveTo>
                    <a:pt x="4862581" y="898159"/>
                  </a:moveTo>
                  <a:lnTo>
                    <a:pt x="4850069" y="898159"/>
                  </a:lnTo>
                  <a:lnTo>
                    <a:pt x="4850069" y="942449"/>
                  </a:lnTo>
                  <a:lnTo>
                    <a:pt x="4862581" y="942449"/>
                  </a:lnTo>
                  <a:lnTo>
                    <a:pt x="4862581" y="898159"/>
                  </a:lnTo>
                  <a:close/>
                </a:path>
                <a:path w="4862830" h="5332730">
                  <a:moveTo>
                    <a:pt x="4862581" y="820468"/>
                  </a:moveTo>
                  <a:lnTo>
                    <a:pt x="4850069" y="820468"/>
                  </a:lnTo>
                  <a:lnTo>
                    <a:pt x="4850069" y="864463"/>
                  </a:lnTo>
                  <a:lnTo>
                    <a:pt x="4862581" y="864463"/>
                  </a:lnTo>
                  <a:lnTo>
                    <a:pt x="4862581" y="820468"/>
                  </a:lnTo>
                  <a:close/>
                </a:path>
                <a:path w="4862830" h="5332730">
                  <a:moveTo>
                    <a:pt x="4862581" y="742482"/>
                  </a:moveTo>
                  <a:lnTo>
                    <a:pt x="4850069" y="742482"/>
                  </a:lnTo>
                  <a:lnTo>
                    <a:pt x="4850069" y="786772"/>
                  </a:lnTo>
                  <a:lnTo>
                    <a:pt x="4862581" y="786772"/>
                  </a:lnTo>
                  <a:lnTo>
                    <a:pt x="4862581" y="742482"/>
                  </a:lnTo>
                  <a:close/>
                </a:path>
                <a:path w="4862830" h="5332730">
                  <a:moveTo>
                    <a:pt x="4862581" y="666556"/>
                  </a:moveTo>
                  <a:lnTo>
                    <a:pt x="4850069" y="666556"/>
                  </a:lnTo>
                  <a:lnTo>
                    <a:pt x="4850069" y="710846"/>
                  </a:lnTo>
                  <a:lnTo>
                    <a:pt x="4862581" y="710846"/>
                  </a:lnTo>
                  <a:lnTo>
                    <a:pt x="4862581" y="666556"/>
                  </a:lnTo>
                  <a:close/>
                </a:path>
                <a:path w="4862830" h="5332730">
                  <a:moveTo>
                    <a:pt x="4862581" y="588865"/>
                  </a:moveTo>
                  <a:lnTo>
                    <a:pt x="4850069" y="588865"/>
                  </a:lnTo>
                  <a:lnTo>
                    <a:pt x="4850069" y="632861"/>
                  </a:lnTo>
                  <a:lnTo>
                    <a:pt x="4862581" y="632861"/>
                  </a:lnTo>
                  <a:lnTo>
                    <a:pt x="4862581" y="588865"/>
                  </a:lnTo>
                  <a:close/>
                </a:path>
                <a:path w="4862830" h="5332730">
                  <a:moveTo>
                    <a:pt x="4862581" y="510879"/>
                  </a:moveTo>
                  <a:lnTo>
                    <a:pt x="4850069" y="510879"/>
                  </a:lnTo>
                  <a:lnTo>
                    <a:pt x="4850069" y="555169"/>
                  </a:lnTo>
                  <a:lnTo>
                    <a:pt x="4862581" y="555169"/>
                  </a:lnTo>
                  <a:lnTo>
                    <a:pt x="4862581" y="510879"/>
                  </a:lnTo>
                  <a:close/>
                </a:path>
                <a:path w="4862830" h="5332730">
                  <a:moveTo>
                    <a:pt x="4862581" y="433188"/>
                  </a:moveTo>
                  <a:lnTo>
                    <a:pt x="4850069" y="433188"/>
                  </a:lnTo>
                  <a:lnTo>
                    <a:pt x="4850069" y="477478"/>
                  </a:lnTo>
                  <a:lnTo>
                    <a:pt x="4862581" y="477478"/>
                  </a:lnTo>
                  <a:lnTo>
                    <a:pt x="4862581" y="433188"/>
                  </a:lnTo>
                  <a:close/>
                </a:path>
                <a:path w="4862830" h="5332730">
                  <a:moveTo>
                    <a:pt x="4862581" y="357262"/>
                  </a:moveTo>
                  <a:lnTo>
                    <a:pt x="4850069" y="357262"/>
                  </a:lnTo>
                  <a:lnTo>
                    <a:pt x="4850069" y="401111"/>
                  </a:lnTo>
                  <a:lnTo>
                    <a:pt x="4862581" y="401111"/>
                  </a:lnTo>
                  <a:lnTo>
                    <a:pt x="4862581" y="357262"/>
                  </a:lnTo>
                  <a:close/>
                </a:path>
                <a:path w="4862830" h="5332730">
                  <a:moveTo>
                    <a:pt x="4862581" y="279129"/>
                  </a:moveTo>
                  <a:lnTo>
                    <a:pt x="4850069" y="279129"/>
                  </a:lnTo>
                  <a:lnTo>
                    <a:pt x="4850069" y="323419"/>
                  </a:lnTo>
                  <a:lnTo>
                    <a:pt x="4862581" y="323419"/>
                  </a:lnTo>
                  <a:lnTo>
                    <a:pt x="4862581" y="279129"/>
                  </a:lnTo>
                  <a:close/>
                </a:path>
                <a:path w="4862830" h="5332730">
                  <a:moveTo>
                    <a:pt x="4862581" y="201585"/>
                  </a:moveTo>
                  <a:lnTo>
                    <a:pt x="4850069" y="201585"/>
                  </a:lnTo>
                  <a:lnTo>
                    <a:pt x="4850069" y="245875"/>
                  </a:lnTo>
                  <a:lnTo>
                    <a:pt x="4862581" y="245875"/>
                  </a:lnTo>
                  <a:lnTo>
                    <a:pt x="4862581" y="201585"/>
                  </a:lnTo>
                  <a:close/>
                </a:path>
                <a:path w="4862830" h="5332730">
                  <a:moveTo>
                    <a:pt x="4862581" y="123894"/>
                  </a:moveTo>
                  <a:lnTo>
                    <a:pt x="4850069" y="123894"/>
                  </a:lnTo>
                  <a:lnTo>
                    <a:pt x="4850069" y="167742"/>
                  </a:lnTo>
                  <a:lnTo>
                    <a:pt x="4862581" y="167742"/>
                  </a:lnTo>
                  <a:lnTo>
                    <a:pt x="4862581" y="123894"/>
                  </a:lnTo>
                  <a:close/>
                </a:path>
                <a:path w="4862830" h="5332730">
                  <a:moveTo>
                    <a:pt x="4862581" y="47527"/>
                  </a:moveTo>
                  <a:lnTo>
                    <a:pt x="4850069" y="47527"/>
                  </a:lnTo>
                  <a:lnTo>
                    <a:pt x="4850069" y="91817"/>
                  </a:lnTo>
                  <a:lnTo>
                    <a:pt x="4862581" y="91817"/>
                  </a:lnTo>
                  <a:lnTo>
                    <a:pt x="4862581" y="47527"/>
                  </a:lnTo>
                  <a:close/>
                </a:path>
              </a:pathLst>
            </a:custGeom>
            <a:solidFill>
              <a:srgbClr val="000000"/>
            </a:solidFill>
          </p:spPr>
          <p:txBody>
            <a:bodyPr wrap="square" lIns="0" tIns="0" rIns="0" bIns="0" rtlCol="0"/>
            <a:lstStyle/>
            <a:p/>
          </p:txBody>
        </p:sp>
        <p:sp>
          <p:nvSpPr>
            <p:cNvPr id="5" name="object 5" descr=""/>
            <p:cNvSpPr/>
            <p:nvPr/>
          </p:nvSpPr>
          <p:spPr>
            <a:xfrm>
              <a:off x="3019133" y="842641"/>
              <a:ext cx="4839970" cy="0"/>
            </a:xfrm>
            <a:custGeom>
              <a:avLst/>
              <a:gdLst/>
              <a:ahLst/>
              <a:cxnLst/>
              <a:rect l="l" t="t" r="r" b="b"/>
              <a:pathLst>
                <a:path w="4839970" h="0">
                  <a:moveTo>
                    <a:pt x="0" y="0"/>
                  </a:moveTo>
                  <a:lnTo>
                    <a:pt x="4839912" y="0"/>
                  </a:lnTo>
                </a:path>
              </a:pathLst>
            </a:custGeom>
            <a:ln w="12654">
              <a:solidFill>
                <a:srgbClr val="000000"/>
              </a:solidFill>
              <a:prstDash val="sysDash"/>
            </a:ln>
          </p:spPr>
          <p:txBody>
            <a:bodyPr wrap="square" lIns="0" tIns="0" rIns="0" bIns="0" rtlCol="0"/>
            <a:lstStyle/>
            <a:p/>
          </p:txBody>
        </p:sp>
        <p:sp>
          <p:nvSpPr>
            <p:cNvPr id="6" name="object 6" descr=""/>
            <p:cNvSpPr/>
            <p:nvPr/>
          </p:nvSpPr>
          <p:spPr>
            <a:xfrm>
              <a:off x="3006164" y="861033"/>
              <a:ext cx="0" cy="5228590"/>
            </a:xfrm>
            <a:custGeom>
              <a:avLst/>
              <a:gdLst/>
              <a:ahLst/>
              <a:cxnLst/>
              <a:rect l="l" t="t" r="r" b="b"/>
              <a:pathLst>
                <a:path w="0" h="5228590">
                  <a:moveTo>
                    <a:pt x="0" y="0"/>
                  </a:moveTo>
                  <a:lnTo>
                    <a:pt x="0" y="5228586"/>
                  </a:lnTo>
                </a:path>
              </a:pathLst>
            </a:custGeom>
            <a:ln w="12629">
              <a:solidFill>
                <a:srgbClr val="000000"/>
              </a:solidFill>
              <a:prstDash val="sysDash"/>
            </a:ln>
          </p:spPr>
          <p:txBody>
            <a:bodyPr wrap="square" lIns="0" tIns="0" rIns="0" bIns="0" rtlCol="0"/>
            <a:lstStyle/>
            <a:p/>
          </p:txBody>
        </p:sp>
        <p:sp>
          <p:nvSpPr>
            <p:cNvPr id="7" name="object 7" descr=""/>
            <p:cNvSpPr/>
            <p:nvPr/>
          </p:nvSpPr>
          <p:spPr>
            <a:xfrm>
              <a:off x="3000880" y="6121991"/>
              <a:ext cx="10795" cy="48260"/>
            </a:xfrm>
            <a:custGeom>
              <a:avLst/>
              <a:gdLst/>
              <a:ahLst/>
              <a:cxnLst/>
              <a:rect l="l" t="t" r="r" b="b"/>
              <a:pathLst>
                <a:path w="10794" h="48260">
                  <a:moveTo>
                    <a:pt x="10568" y="0"/>
                  </a:moveTo>
                  <a:lnTo>
                    <a:pt x="10568" y="42480"/>
                  </a:lnTo>
                  <a:lnTo>
                    <a:pt x="5107" y="37388"/>
                  </a:lnTo>
                  <a:lnTo>
                    <a:pt x="6918" y="37388"/>
                  </a:lnTo>
                  <a:lnTo>
                    <a:pt x="6918" y="47924"/>
                  </a:lnTo>
                  <a:lnTo>
                    <a:pt x="0" y="47924"/>
                  </a:lnTo>
                  <a:lnTo>
                    <a:pt x="0" y="0"/>
                  </a:lnTo>
                  <a:lnTo>
                    <a:pt x="10568" y="0"/>
                  </a:lnTo>
                  <a:close/>
                </a:path>
              </a:pathLst>
            </a:custGeom>
            <a:ln w="3175">
              <a:solidFill>
                <a:srgbClr val="000000"/>
              </a:solidFill>
            </a:ln>
          </p:spPr>
          <p:txBody>
            <a:bodyPr wrap="square" lIns="0" tIns="0" rIns="0" bIns="0" rtlCol="0"/>
            <a:lstStyle/>
            <a:p/>
          </p:txBody>
        </p:sp>
        <p:sp>
          <p:nvSpPr>
            <p:cNvPr id="8" name="object 8" descr=""/>
            <p:cNvSpPr/>
            <p:nvPr/>
          </p:nvSpPr>
          <p:spPr>
            <a:xfrm>
              <a:off x="3038563" y="6164648"/>
              <a:ext cx="4762500" cy="0"/>
            </a:xfrm>
            <a:custGeom>
              <a:avLst/>
              <a:gdLst/>
              <a:ahLst/>
              <a:cxnLst/>
              <a:rect l="l" t="t" r="r" b="b"/>
              <a:pathLst>
                <a:path w="4762500" h="0">
                  <a:moveTo>
                    <a:pt x="0" y="0"/>
                  </a:moveTo>
                  <a:lnTo>
                    <a:pt x="4762043" y="0"/>
                  </a:lnTo>
                </a:path>
              </a:pathLst>
            </a:custGeom>
            <a:ln w="12595">
              <a:solidFill>
                <a:srgbClr val="000000"/>
              </a:solidFill>
              <a:prstDash val="sysDash"/>
            </a:ln>
          </p:spPr>
          <p:txBody>
            <a:bodyPr wrap="square" lIns="0" tIns="0" rIns="0" bIns="0" rtlCol="0"/>
            <a:lstStyle/>
            <a:p/>
          </p:txBody>
        </p:sp>
        <p:sp>
          <p:nvSpPr>
            <p:cNvPr id="9" name="object 9" descr=""/>
            <p:cNvSpPr/>
            <p:nvPr/>
          </p:nvSpPr>
          <p:spPr>
            <a:xfrm>
              <a:off x="7833580" y="6145225"/>
              <a:ext cx="30480" cy="24765"/>
            </a:xfrm>
            <a:custGeom>
              <a:avLst/>
              <a:gdLst/>
              <a:ahLst/>
              <a:cxnLst/>
              <a:rect l="l" t="t" r="r" b="b"/>
              <a:pathLst>
                <a:path w="30479" h="24764">
                  <a:moveTo>
                    <a:pt x="0" y="14155"/>
                  </a:moveTo>
                  <a:lnTo>
                    <a:pt x="24435" y="14155"/>
                  </a:lnTo>
                  <a:lnTo>
                    <a:pt x="17369" y="19246"/>
                  </a:lnTo>
                  <a:lnTo>
                    <a:pt x="17369" y="0"/>
                  </a:lnTo>
                  <a:lnTo>
                    <a:pt x="29881" y="0"/>
                  </a:lnTo>
                  <a:lnTo>
                    <a:pt x="29881" y="24690"/>
                  </a:lnTo>
                  <a:lnTo>
                    <a:pt x="0" y="24690"/>
                  </a:lnTo>
                  <a:lnTo>
                    <a:pt x="0" y="14155"/>
                  </a:lnTo>
                  <a:close/>
                </a:path>
              </a:pathLst>
            </a:custGeom>
            <a:ln w="3175">
              <a:solidFill>
                <a:srgbClr val="000000"/>
              </a:solidFill>
            </a:ln>
          </p:spPr>
          <p:txBody>
            <a:bodyPr wrap="square" lIns="0" tIns="0" rIns="0" bIns="0" rtlCol="0"/>
            <a:lstStyle/>
            <a:p/>
          </p:txBody>
        </p:sp>
        <p:sp>
          <p:nvSpPr>
            <p:cNvPr id="10" name="object 10" descr=""/>
            <p:cNvSpPr/>
            <p:nvPr/>
          </p:nvSpPr>
          <p:spPr>
            <a:xfrm>
              <a:off x="7857206" y="883840"/>
              <a:ext cx="0" cy="5229225"/>
            </a:xfrm>
            <a:custGeom>
              <a:avLst/>
              <a:gdLst/>
              <a:ahLst/>
              <a:cxnLst/>
              <a:rect l="l" t="t" r="r" b="b"/>
              <a:pathLst>
                <a:path w="0" h="5229225">
                  <a:moveTo>
                    <a:pt x="0" y="0"/>
                  </a:moveTo>
                  <a:lnTo>
                    <a:pt x="0" y="5228660"/>
                  </a:lnTo>
                </a:path>
              </a:pathLst>
            </a:custGeom>
            <a:ln w="14572">
              <a:solidFill>
                <a:srgbClr val="000000"/>
              </a:solidFill>
              <a:prstDash val="sysDash"/>
            </a:ln>
          </p:spPr>
          <p:txBody>
            <a:bodyPr wrap="square" lIns="0" tIns="0" rIns="0" bIns="0" rtlCol="0"/>
            <a:lstStyle/>
            <a:p/>
          </p:txBody>
        </p:sp>
        <p:sp>
          <p:nvSpPr>
            <p:cNvPr id="11" name="object 11" descr=""/>
            <p:cNvSpPr/>
            <p:nvPr/>
          </p:nvSpPr>
          <p:spPr>
            <a:xfrm>
              <a:off x="7850949" y="842494"/>
              <a:ext cx="12700" cy="9525"/>
            </a:xfrm>
            <a:custGeom>
              <a:avLst/>
              <a:gdLst/>
              <a:ahLst/>
              <a:cxnLst/>
              <a:rect l="l" t="t" r="r" b="b"/>
              <a:pathLst>
                <a:path w="12700" h="9525">
                  <a:moveTo>
                    <a:pt x="0" y="8975"/>
                  </a:moveTo>
                  <a:lnTo>
                    <a:pt x="0" y="0"/>
                  </a:lnTo>
                  <a:lnTo>
                    <a:pt x="12511" y="0"/>
                  </a:lnTo>
                  <a:lnTo>
                    <a:pt x="12511" y="8975"/>
                  </a:lnTo>
                  <a:lnTo>
                    <a:pt x="0" y="8975"/>
                  </a:lnTo>
                  <a:close/>
                </a:path>
              </a:pathLst>
            </a:custGeom>
            <a:ln w="3175">
              <a:solidFill>
                <a:srgbClr val="000000"/>
              </a:solidFill>
            </a:ln>
          </p:spPr>
          <p:txBody>
            <a:bodyPr wrap="square" lIns="0" tIns="0" rIns="0" bIns="0" rtlCol="0"/>
            <a:lstStyle/>
            <a:p/>
          </p:txBody>
        </p:sp>
        <p:sp>
          <p:nvSpPr>
            <p:cNvPr id="12" name="object 12" descr=""/>
            <p:cNvSpPr/>
            <p:nvPr/>
          </p:nvSpPr>
          <p:spPr>
            <a:xfrm>
              <a:off x="5938536" y="3124810"/>
              <a:ext cx="1097915" cy="662940"/>
            </a:xfrm>
            <a:custGeom>
              <a:avLst/>
              <a:gdLst/>
              <a:ahLst/>
              <a:cxnLst/>
              <a:rect l="l" t="t" r="r" b="b"/>
              <a:pathLst>
                <a:path w="1097915" h="662939">
                  <a:moveTo>
                    <a:pt x="1097503" y="0"/>
                  </a:moveTo>
                  <a:lnTo>
                    <a:pt x="0" y="0"/>
                  </a:lnTo>
                  <a:lnTo>
                    <a:pt x="0" y="662892"/>
                  </a:lnTo>
                  <a:lnTo>
                    <a:pt x="1097503" y="662892"/>
                  </a:lnTo>
                  <a:lnTo>
                    <a:pt x="1097503" y="0"/>
                  </a:lnTo>
                  <a:close/>
                </a:path>
              </a:pathLst>
            </a:custGeom>
            <a:solidFill>
              <a:srgbClr val="AED6FF"/>
            </a:solidFill>
          </p:spPr>
          <p:txBody>
            <a:bodyPr wrap="square" lIns="0" tIns="0" rIns="0" bIns="0" rtlCol="0"/>
            <a:lstStyle/>
            <a:p/>
          </p:txBody>
        </p:sp>
        <p:sp>
          <p:nvSpPr>
            <p:cNvPr id="13" name="object 13" descr=""/>
            <p:cNvSpPr/>
            <p:nvPr/>
          </p:nvSpPr>
          <p:spPr>
            <a:xfrm>
              <a:off x="5938536" y="3124810"/>
              <a:ext cx="1097915" cy="662940"/>
            </a:xfrm>
            <a:custGeom>
              <a:avLst/>
              <a:gdLst/>
              <a:ahLst/>
              <a:cxnLst/>
              <a:rect l="l" t="t" r="r" b="b"/>
              <a:pathLst>
                <a:path w="1097915" h="662939">
                  <a:moveTo>
                    <a:pt x="0" y="662892"/>
                  </a:moveTo>
                  <a:lnTo>
                    <a:pt x="1097503" y="662892"/>
                  </a:lnTo>
                  <a:lnTo>
                    <a:pt x="1097503" y="0"/>
                  </a:lnTo>
                  <a:lnTo>
                    <a:pt x="0" y="0"/>
                  </a:lnTo>
                  <a:lnTo>
                    <a:pt x="0" y="662892"/>
                  </a:lnTo>
                  <a:close/>
                </a:path>
              </a:pathLst>
            </a:custGeom>
            <a:ln w="10570">
              <a:solidFill>
                <a:srgbClr val="000000"/>
              </a:solidFill>
            </a:ln>
          </p:spPr>
          <p:txBody>
            <a:bodyPr wrap="square" lIns="0" tIns="0" rIns="0" bIns="0" rtlCol="0"/>
            <a:lstStyle/>
            <a:p/>
          </p:txBody>
        </p:sp>
        <p:sp>
          <p:nvSpPr>
            <p:cNvPr id="14" name="object 14" descr=""/>
            <p:cNvSpPr/>
            <p:nvPr/>
          </p:nvSpPr>
          <p:spPr>
            <a:xfrm>
              <a:off x="5938536" y="2210760"/>
              <a:ext cx="1097915" cy="662940"/>
            </a:xfrm>
            <a:custGeom>
              <a:avLst/>
              <a:gdLst/>
              <a:ahLst/>
              <a:cxnLst/>
              <a:rect l="l" t="t" r="r" b="b"/>
              <a:pathLst>
                <a:path w="1097915" h="662939">
                  <a:moveTo>
                    <a:pt x="1097503" y="0"/>
                  </a:moveTo>
                  <a:lnTo>
                    <a:pt x="0" y="0"/>
                  </a:lnTo>
                  <a:lnTo>
                    <a:pt x="0" y="662892"/>
                  </a:lnTo>
                  <a:lnTo>
                    <a:pt x="1097503" y="662892"/>
                  </a:lnTo>
                  <a:lnTo>
                    <a:pt x="1097503" y="0"/>
                  </a:lnTo>
                  <a:close/>
                </a:path>
              </a:pathLst>
            </a:custGeom>
            <a:solidFill>
              <a:srgbClr val="AED6FF"/>
            </a:solidFill>
          </p:spPr>
          <p:txBody>
            <a:bodyPr wrap="square" lIns="0" tIns="0" rIns="0" bIns="0" rtlCol="0"/>
            <a:lstStyle/>
            <a:p/>
          </p:txBody>
        </p:sp>
        <p:sp>
          <p:nvSpPr>
            <p:cNvPr id="15" name="object 15" descr=""/>
            <p:cNvSpPr/>
            <p:nvPr/>
          </p:nvSpPr>
          <p:spPr>
            <a:xfrm>
              <a:off x="5938536" y="2210760"/>
              <a:ext cx="1097915" cy="662940"/>
            </a:xfrm>
            <a:custGeom>
              <a:avLst/>
              <a:gdLst/>
              <a:ahLst/>
              <a:cxnLst/>
              <a:rect l="l" t="t" r="r" b="b"/>
              <a:pathLst>
                <a:path w="1097915" h="662939">
                  <a:moveTo>
                    <a:pt x="0" y="662892"/>
                  </a:moveTo>
                  <a:lnTo>
                    <a:pt x="1097503" y="662892"/>
                  </a:lnTo>
                  <a:lnTo>
                    <a:pt x="1097503" y="0"/>
                  </a:lnTo>
                  <a:lnTo>
                    <a:pt x="0" y="0"/>
                  </a:lnTo>
                  <a:lnTo>
                    <a:pt x="0" y="662892"/>
                  </a:lnTo>
                  <a:close/>
                </a:path>
              </a:pathLst>
            </a:custGeom>
            <a:ln w="10570">
              <a:solidFill>
                <a:srgbClr val="000000"/>
              </a:solidFill>
            </a:ln>
          </p:spPr>
          <p:txBody>
            <a:bodyPr wrap="square" lIns="0" tIns="0" rIns="0" bIns="0" rtlCol="0"/>
            <a:lstStyle/>
            <a:p/>
          </p:txBody>
        </p:sp>
        <p:sp>
          <p:nvSpPr>
            <p:cNvPr id="16" name="object 16" descr=""/>
            <p:cNvSpPr/>
            <p:nvPr/>
          </p:nvSpPr>
          <p:spPr>
            <a:xfrm>
              <a:off x="5938536" y="1298371"/>
              <a:ext cx="1097915" cy="661670"/>
            </a:xfrm>
            <a:custGeom>
              <a:avLst/>
              <a:gdLst/>
              <a:ahLst/>
              <a:cxnLst/>
              <a:rect l="l" t="t" r="r" b="b"/>
              <a:pathLst>
                <a:path w="1097915" h="661669">
                  <a:moveTo>
                    <a:pt x="1097503" y="0"/>
                  </a:moveTo>
                  <a:lnTo>
                    <a:pt x="0" y="0"/>
                  </a:lnTo>
                  <a:lnTo>
                    <a:pt x="0" y="661083"/>
                  </a:lnTo>
                  <a:lnTo>
                    <a:pt x="1097503" y="661083"/>
                  </a:lnTo>
                  <a:lnTo>
                    <a:pt x="1097503" y="0"/>
                  </a:lnTo>
                  <a:close/>
                </a:path>
              </a:pathLst>
            </a:custGeom>
            <a:solidFill>
              <a:srgbClr val="AED6FF"/>
            </a:solidFill>
          </p:spPr>
          <p:txBody>
            <a:bodyPr wrap="square" lIns="0" tIns="0" rIns="0" bIns="0" rtlCol="0"/>
            <a:lstStyle/>
            <a:p/>
          </p:txBody>
        </p:sp>
        <p:sp>
          <p:nvSpPr>
            <p:cNvPr id="17" name="object 17" descr=""/>
            <p:cNvSpPr/>
            <p:nvPr/>
          </p:nvSpPr>
          <p:spPr>
            <a:xfrm>
              <a:off x="5938536" y="1298371"/>
              <a:ext cx="1097915" cy="661670"/>
            </a:xfrm>
            <a:custGeom>
              <a:avLst/>
              <a:gdLst/>
              <a:ahLst/>
              <a:cxnLst/>
              <a:rect l="l" t="t" r="r" b="b"/>
              <a:pathLst>
                <a:path w="1097915" h="661669">
                  <a:moveTo>
                    <a:pt x="0" y="661083"/>
                  </a:moveTo>
                  <a:lnTo>
                    <a:pt x="1097503" y="661083"/>
                  </a:lnTo>
                  <a:lnTo>
                    <a:pt x="1097503" y="0"/>
                  </a:lnTo>
                  <a:lnTo>
                    <a:pt x="0" y="0"/>
                  </a:lnTo>
                  <a:lnTo>
                    <a:pt x="0" y="661083"/>
                  </a:lnTo>
                  <a:close/>
                </a:path>
              </a:pathLst>
            </a:custGeom>
            <a:ln w="10570">
              <a:solidFill>
                <a:srgbClr val="000000"/>
              </a:solidFill>
            </a:ln>
          </p:spPr>
          <p:txBody>
            <a:bodyPr wrap="square" lIns="0" tIns="0" rIns="0" bIns="0" rtlCol="0"/>
            <a:lstStyle/>
            <a:p/>
          </p:txBody>
        </p:sp>
        <p:sp>
          <p:nvSpPr>
            <p:cNvPr id="18" name="object 18" descr=""/>
            <p:cNvSpPr/>
            <p:nvPr/>
          </p:nvSpPr>
          <p:spPr>
            <a:xfrm>
              <a:off x="3155881" y="1298474"/>
              <a:ext cx="927735" cy="912494"/>
            </a:xfrm>
            <a:custGeom>
              <a:avLst/>
              <a:gdLst/>
              <a:ahLst/>
              <a:cxnLst/>
              <a:rect l="l" t="t" r="r" b="b"/>
              <a:pathLst>
                <a:path w="927735" h="912494">
                  <a:moveTo>
                    <a:pt x="927591" y="0"/>
                  </a:moveTo>
                  <a:lnTo>
                    <a:pt x="0" y="0"/>
                  </a:lnTo>
                  <a:lnTo>
                    <a:pt x="0" y="912299"/>
                  </a:lnTo>
                  <a:lnTo>
                    <a:pt x="927591" y="912299"/>
                  </a:lnTo>
                  <a:lnTo>
                    <a:pt x="927591" y="0"/>
                  </a:lnTo>
                  <a:close/>
                </a:path>
              </a:pathLst>
            </a:custGeom>
            <a:solidFill>
              <a:srgbClr val="EAD4FF"/>
            </a:solidFill>
          </p:spPr>
          <p:txBody>
            <a:bodyPr wrap="square" lIns="0" tIns="0" rIns="0" bIns="0" rtlCol="0"/>
            <a:lstStyle/>
            <a:p/>
          </p:txBody>
        </p:sp>
        <p:sp>
          <p:nvSpPr>
            <p:cNvPr id="19" name="object 19" descr=""/>
            <p:cNvSpPr/>
            <p:nvPr/>
          </p:nvSpPr>
          <p:spPr>
            <a:xfrm>
              <a:off x="3155881" y="1298474"/>
              <a:ext cx="927735" cy="912494"/>
            </a:xfrm>
            <a:custGeom>
              <a:avLst/>
              <a:gdLst/>
              <a:ahLst/>
              <a:cxnLst/>
              <a:rect l="l" t="t" r="r" b="b"/>
              <a:pathLst>
                <a:path w="927735" h="912494">
                  <a:moveTo>
                    <a:pt x="0" y="912299"/>
                  </a:moveTo>
                  <a:lnTo>
                    <a:pt x="927591" y="912299"/>
                  </a:lnTo>
                  <a:lnTo>
                    <a:pt x="927591" y="0"/>
                  </a:lnTo>
                  <a:lnTo>
                    <a:pt x="0" y="0"/>
                  </a:lnTo>
                  <a:lnTo>
                    <a:pt x="0" y="912299"/>
                  </a:lnTo>
                  <a:close/>
                </a:path>
              </a:pathLst>
            </a:custGeom>
            <a:ln w="10571">
              <a:solidFill>
                <a:srgbClr val="000000"/>
              </a:solidFill>
            </a:ln>
          </p:spPr>
          <p:txBody>
            <a:bodyPr wrap="square" lIns="0" tIns="0" rIns="0" bIns="0" rtlCol="0"/>
            <a:lstStyle/>
            <a:p/>
          </p:txBody>
        </p:sp>
        <p:sp>
          <p:nvSpPr>
            <p:cNvPr id="20" name="object 20" descr=""/>
            <p:cNvSpPr/>
            <p:nvPr/>
          </p:nvSpPr>
          <p:spPr>
            <a:xfrm>
              <a:off x="4578267" y="1639654"/>
              <a:ext cx="818515" cy="389255"/>
            </a:xfrm>
            <a:custGeom>
              <a:avLst/>
              <a:gdLst/>
              <a:ahLst/>
              <a:cxnLst/>
              <a:rect l="l" t="t" r="r" b="b"/>
              <a:pathLst>
                <a:path w="818514" h="389255">
                  <a:moveTo>
                    <a:pt x="818207" y="0"/>
                  </a:moveTo>
                  <a:lnTo>
                    <a:pt x="0" y="0"/>
                  </a:lnTo>
                  <a:lnTo>
                    <a:pt x="0" y="388810"/>
                  </a:lnTo>
                  <a:lnTo>
                    <a:pt x="818207" y="388810"/>
                  </a:lnTo>
                  <a:lnTo>
                    <a:pt x="818207" y="0"/>
                  </a:lnTo>
                  <a:close/>
                </a:path>
              </a:pathLst>
            </a:custGeom>
            <a:solidFill>
              <a:srgbClr val="EAD4FF"/>
            </a:solidFill>
          </p:spPr>
          <p:txBody>
            <a:bodyPr wrap="square" lIns="0" tIns="0" rIns="0" bIns="0" rtlCol="0"/>
            <a:lstStyle/>
            <a:p/>
          </p:txBody>
        </p:sp>
        <p:sp>
          <p:nvSpPr>
            <p:cNvPr id="21" name="object 21" descr=""/>
            <p:cNvSpPr/>
            <p:nvPr/>
          </p:nvSpPr>
          <p:spPr>
            <a:xfrm>
              <a:off x="4578267" y="1639654"/>
              <a:ext cx="818515" cy="389255"/>
            </a:xfrm>
            <a:custGeom>
              <a:avLst/>
              <a:gdLst/>
              <a:ahLst/>
              <a:cxnLst/>
              <a:rect l="l" t="t" r="r" b="b"/>
              <a:pathLst>
                <a:path w="818514" h="389255">
                  <a:moveTo>
                    <a:pt x="0" y="388810"/>
                  </a:moveTo>
                  <a:lnTo>
                    <a:pt x="818207" y="388810"/>
                  </a:lnTo>
                  <a:lnTo>
                    <a:pt x="818207" y="0"/>
                  </a:lnTo>
                  <a:lnTo>
                    <a:pt x="0" y="0"/>
                  </a:lnTo>
                  <a:lnTo>
                    <a:pt x="0" y="388810"/>
                  </a:lnTo>
                  <a:close/>
                </a:path>
              </a:pathLst>
            </a:custGeom>
            <a:ln w="10570">
              <a:solidFill>
                <a:srgbClr val="000000"/>
              </a:solidFill>
            </a:ln>
          </p:spPr>
          <p:txBody>
            <a:bodyPr wrap="square" lIns="0" tIns="0" rIns="0" bIns="0" rtlCol="0"/>
            <a:lstStyle/>
            <a:p/>
          </p:txBody>
        </p:sp>
        <p:sp>
          <p:nvSpPr>
            <p:cNvPr id="22" name="object 22" descr=""/>
            <p:cNvSpPr/>
            <p:nvPr/>
          </p:nvSpPr>
          <p:spPr>
            <a:xfrm>
              <a:off x="4578267" y="2120693"/>
              <a:ext cx="804545" cy="341630"/>
            </a:xfrm>
            <a:custGeom>
              <a:avLst/>
              <a:gdLst/>
              <a:ahLst/>
              <a:cxnLst/>
              <a:rect l="l" t="t" r="r" b="b"/>
              <a:pathLst>
                <a:path w="804545" h="341630">
                  <a:moveTo>
                    <a:pt x="803987" y="0"/>
                  </a:moveTo>
                  <a:lnTo>
                    <a:pt x="0" y="0"/>
                  </a:lnTo>
                  <a:lnTo>
                    <a:pt x="0" y="341253"/>
                  </a:lnTo>
                  <a:lnTo>
                    <a:pt x="803987" y="341253"/>
                  </a:lnTo>
                  <a:lnTo>
                    <a:pt x="803987" y="0"/>
                  </a:lnTo>
                  <a:close/>
                </a:path>
              </a:pathLst>
            </a:custGeom>
            <a:solidFill>
              <a:srgbClr val="EAD4FF"/>
            </a:solidFill>
          </p:spPr>
          <p:txBody>
            <a:bodyPr wrap="square" lIns="0" tIns="0" rIns="0" bIns="0" rtlCol="0"/>
            <a:lstStyle/>
            <a:p/>
          </p:txBody>
        </p:sp>
        <p:sp>
          <p:nvSpPr>
            <p:cNvPr id="23" name="object 23" descr=""/>
            <p:cNvSpPr/>
            <p:nvPr/>
          </p:nvSpPr>
          <p:spPr>
            <a:xfrm>
              <a:off x="4578267" y="2120693"/>
              <a:ext cx="804545" cy="341630"/>
            </a:xfrm>
            <a:custGeom>
              <a:avLst/>
              <a:gdLst/>
              <a:ahLst/>
              <a:cxnLst/>
              <a:rect l="l" t="t" r="r" b="b"/>
              <a:pathLst>
                <a:path w="804545" h="341630">
                  <a:moveTo>
                    <a:pt x="0" y="341253"/>
                  </a:moveTo>
                  <a:lnTo>
                    <a:pt x="803987" y="341253"/>
                  </a:lnTo>
                  <a:lnTo>
                    <a:pt x="803987" y="0"/>
                  </a:lnTo>
                  <a:lnTo>
                    <a:pt x="0" y="0"/>
                  </a:lnTo>
                  <a:lnTo>
                    <a:pt x="0" y="341253"/>
                  </a:lnTo>
                  <a:close/>
                </a:path>
              </a:pathLst>
            </a:custGeom>
            <a:ln w="10570">
              <a:solidFill>
                <a:srgbClr val="000000"/>
              </a:solidFill>
            </a:ln>
          </p:spPr>
          <p:txBody>
            <a:bodyPr wrap="square" lIns="0" tIns="0" rIns="0" bIns="0" rtlCol="0"/>
            <a:lstStyle/>
            <a:p/>
          </p:txBody>
        </p:sp>
        <p:sp>
          <p:nvSpPr>
            <p:cNvPr id="24" name="object 24" descr=""/>
            <p:cNvSpPr/>
            <p:nvPr/>
          </p:nvSpPr>
          <p:spPr>
            <a:xfrm>
              <a:off x="3155881" y="2576645"/>
              <a:ext cx="927735" cy="548640"/>
            </a:xfrm>
            <a:custGeom>
              <a:avLst/>
              <a:gdLst/>
              <a:ahLst/>
              <a:cxnLst/>
              <a:rect l="l" t="t" r="r" b="b"/>
              <a:pathLst>
                <a:path w="927735" h="548639">
                  <a:moveTo>
                    <a:pt x="927591" y="0"/>
                  </a:moveTo>
                  <a:lnTo>
                    <a:pt x="0" y="0"/>
                  </a:lnTo>
                  <a:lnTo>
                    <a:pt x="0" y="548180"/>
                  </a:lnTo>
                  <a:lnTo>
                    <a:pt x="927591" y="548180"/>
                  </a:lnTo>
                  <a:lnTo>
                    <a:pt x="927591" y="0"/>
                  </a:lnTo>
                  <a:close/>
                </a:path>
              </a:pathLst>
            </a:custGeom>
            <a:solidFill>
              <a:srgbClr val="EAD4FF"/>
            </a:solidFill>
          </p:spPr>
          <p:txBody>
            <a:bodyPr wrap="square" lIns="0" tIns="0" rIns="0" bIns="0" rtlCol="0"/>
            <a:lstStyle/>
            <a:p/>
          </p:txBody>
        </p:sp>
        <p:sp>
          <p:nvSpPr>
            <p:cNvPr id="25" name="object 25" descr=""/>
            <p:cNvSpPr/>
            <p:nvPr/>
          </p:nvSpPr>
          <p:spPr>
            <a:xfrm>
              <a:off x="3155881" y="2576645"/>
              <a:ext cx="927735" cy="548640"/>
            </a:xfrm>
            <a:custGeom>
              <a:avLst/>
              <a:gdLst/>
              <a:ahLst/>
              <a:cxnLst/>
              <a:rect l="l" t="t" r="r" b="b"/>
              <a:pathLst>
                <a:path w="927735" h="548639">
                  <a:moveTo>
                    <a:pt x="0" y="548180"/>
                  </a:moveTo>
                  <a:lnTo>
                    <a:pt x="927591" y="548180"/>
                  </a:lnTo>
                  <a:lnTo>
                    <a:pt x="927591" y="0"/>
                  </a:lnTo>
                  <a:lnTo>
                    <a:pt x="0" y="0"/>
                  </a:lnTo>
                  <a:lnTo>
                    <a:pt x="0" y="548180"/>
                  </a:lnTo>
                  <a:close/>
                </a:path>
              </a:pathLst>
            </a:custGeom>
            <a:ln w="10570">
              <a:solidFill>
                <a:srgbClr val="000000"/>
              </a:solidFill>
            </a:ln>
          </p:spPr>
          <p:txBody>
            <a:bodyPr wrap="square" lIns="0" tIns="0" rIns="0" bIns="0" rtlCol="0"/>
            <a:lstStyle/>
            <a:p/>
          </p:txBody>
        </p:sp>
        <p:sp>
          <p:nvSpPr>
            <p:cNvPr id="26" name="object 26" descr=""/>
            <p:cNvSpPr/>
            <p:nvPr/>
          </p:nvSpPr>
          <p:spPr>
            <a:xfrm>
              <a:off x="4484502" y="2781821"/>
              <a:ext cx="960119" cy="502284"/>
            </a:xfrm>
            <a:custGeom>
              <a:avLst/>
              <a:gdLst/>
              <a:ahLst/>
              <a:cxnLst/>
              <a:rect l="l" t="t" r="r" b="b"/>
              <a:pathLst>
                <a:path w="960120" h="502285">
                  <a:moveTo>
                    <a:pt x="959680" y="0"/>
                  </a:moveTo>
                  <a:lnTo>
                    <a:pt x="0" y="0"/>
                  </a:lnTo>
                  <a:lnTo>
                    <a:pt x="0" y="502065"/>
                  </a:lnTo>
                  <a:lnTo>
                    <a:pt x="959680" y="502065"/>
                  </a:lnTo>
                  <a:lnTo>
                    <a:pt x="959680" y="0"/>
                  </a:lnTo>
                  <a:close/>
                </a:path>
              </a:pathLst>
            </a:custGeom>
            <a:solidFill>
              <a:srgbClr val="EAD4FF"/>
            </a:solidFill>
          </p:spPr>
          <p:txBody>
            <a:bodyPr wrap="square" lIns="0" tIns="0" rIns="0" bIns="0" rtlCol="0"/>
            <a:lstStyle/>
            <a:p/>
          </p:txBody>
        </p:sp>
        <p:sp>
          <p:nvSpPr>
            <p:cNvPr id="27" name="object 27" descr=""/>
            <p:cNvSpPr/>
            <p:nvPr/>
          </p:nvSpPr>
          <p:spPr>
            <a:xfrm>
              <a:off x="4484502" y="2781821"/>
              <a:ext cx="960119" cy="502284"/>
            </a:xfrm>
            <a:custGeom>
              <a:avLst/>
              <a:gdLst/>
              <a:ahLst/>
              <a:cxnLst/>
              <a:rect l="l" t="t" r="r" b="b"/>
              <a:pathLst>
                <a:path w="960120" h="502285">
                  <a:moveTo>
                    <a:pt x="0" y="502065"/>
                  </a:moveTo>
                  <a:lnTo>
                    <a:pt x="959680" y="502065"/>
                  </a:lnTo>
                  <a:lnTo>
                    <a:pt x="959680" y="0"/>
                  </a:lnTo>
                  <a:lnTo>
                    <a:pt x="0" y="0"/>
                  </a:lnTo>
                  <a:lnTo>
                    <a:pt x="0" y="502065"/>
                  </a:lnTo>
                  <a:close/>
                </a:path>
              </a:pathLst>
            </a:custGeom>
            <a:ln w="10570">
              <a:solidFill>
                <a:srgbClr val="000000"/>
              </a:solidFill>
            </a:ln>
          </p:spPr>
          <p:txBody>
            <a:bodyPr wrap="square" lIns="0" tIns="0" rIns="0" bIns="0" rtlCol="0"/>
            <a:lstStyle/>
            <a:p/>
          </p:txBody>
        </p:sp>
        <p:sp>
          <p:nvSpPr>
            <p:cNvPr id="28" name="object 28" descr=""/>
            <p:cNvSpPr/>
            <p:nvPr/>
          </p:nvSpPr>
          <p:spPr>
            <a:xfrm>
              <a:off x="3155881" y="3490696"/>
              <a:ext cx="927735" cy="548640"/>
            </a:xfrm>
            <a:custGeom>
              <a:avLst/>
              <a:gdLst/>
              <a:ahLst/>
              <a:cxnLst/>
              <a:rect l="l" t="t" r="r" b="b"/>
              <a:pathLst>
                <a:path w="927735" h="548639">
                  <a:moveTo>
                    <a:pt x="927591" y="0"/>
                  </a:moveTo>
                  <a:lnTo>
                    <a:pt x="0" y="0"/>
                  </a:lnTo>
                  <a:lnTo>
                    <a:pt x="0" y="548180"/>
                  </a:lnTo>
                  <a:lnTo>
                    <a:pt x="927591" y="548180"/>
                  </a:lnTo>
                  <a:lnTo>
                    <a:pt x="927591" y="0"/>
                  </a:lnTo>
                  <a:close/>
                </a:path>
              </a:pathLst>
            </a:custGeom>
            <a:solidFill>
              <a:srgbClr val="EAD4FF"/>
            </a:solidFill>
          </p:spPr>
          <p:txBody>
            <a:bodyPr wrap="square" lIns="0" tIns="0" rIns="0" bIns="0" rtlCol="0"/>
            <a:lstStyle/>
            <a:p/>
          </p:txBody>
        </p:sp>
        <p:sp>
          <p:nvSpPr>
            <p:cNvPr id="29" name="object 29" descr=""/>
            <p:cNvSpPr/>
            <p:nvPr/>
          </p:nvSpPr>
          <p:spPr>
            <a:xfrm>
              <a:off x="3155881" y="3490696"/>
              <a:ext cx="927735" cy="548640"/>
            </a:xfrm>
            <a:custGeom>
              <a:avLst/>
              <a:gdLst/>
              <a:ahLst/>
              <a:cxnLst/>
              <a:rect l="l" t="t" r="r" b="b"/>
              <a:pathLst>
                <a:path w="927735" h="548639">
                  <a:moveTo>
                    <a:pt x="0" y="548180"/>
                  </a:moveTo>
                  <a:lnTo>
                    <a:pt x="927591" y="548180"/>
                  </a:lnTo>
                  <a:lnTo>
                    <a:pt x="927591" y="0"/>
                  </a:lnTo>
                  <a:lnTo>
                    <a:pt x="0" y="0"/>
                  </a:lnTo>
                  <a:lnTo>
                    <a:pt x="0" y="548180"/>
                  </a:lnTo>
                  <a:close/>
                </a:path>
              </a:pathLst>
            </a:custGeom>
            <a:ln w="10570">
              <a:solidFill>
                <a:srgbClr val="000000"/>
              </a:solidFill>
            </a:ln>
          </p:spPr>
          <p:txBody>
            <a:bodyPr wrap="square" lIns="0" tIns="0" rIns="0" bIns="0" rtlCol="0"/>
            <a:lstStyle/>
            <a:p/>
          </p:txBody>
        </p:sp>
        <p:sp>
          <p:nvSpPr>
            <p:cNvPr id="30" name="object 30" descr=""/>
            <p:cNvSpPr/>
            <p:nvPr/>
          </p:nvSpPr>
          <p:spPr>
            <a:xfrm>
              <a:off x="4484502" y="3718752"/>
              <a:ext cx="960119" cy="502920"/>
            </a:xfrm>
            <a:custGeom>
              <a:avLst/>
              <a:gdLst/>
              <a:ahLst/>
              <a:cxnLst/>
              <a:rect l="l" t="t" r="r" b="b"/>
              <a:pathLst>
                <a:path w="960120" h="502920">
                  <a:moveTo>
                    <a:pt x="959680" y="0"/>
                  </a:moveTo>
                  <a:lnTo>
                    <a:pt x="0" y="0"/>
                  </a:lnTo>
                  <a:lnTo>
                    <a:pt x="0" y="502433"/>
                  </a:lnTo>
                  <a:lnTo>
                    <a:pt x="959680" y="502433"/>
                  </a:lnTo>
                  <a:lnTo>
                    <a:pt x="959680" y="0"/>
                  </a:lnTo>
                  <a:close/>
                </a:path>
              </a:pathLst>
            </a:custGeom>
            <a:solidFill>
              <a:srgbClr val="EAD4FF"/>
            </a:solidFill>
          </p:spPr>
          <p:txBody>
            <a:bodyPr wrap="square" lIns="0" tIns="0" rIns="0" bIns="0" rtlCol="0"/>
            <a:lstStyle/>
            <a:p/>
          </p:txBody>
        </p:sp>
        <p:sp>
          <p:nvSpPr>
            <p:cNvPr id="31" name="object 31" descr=""/>
            <p:cNvSpPr/>
            <p:nvPr/>
          </p:nvSpPr>
          <p:spPr>
            <a:xfrm>
              <a:off x="4484502" y="3718752"/>
              <a:ext cx="960119" cy="502920"/>
            </a:xfrm>
            <a:custGeom>
              <a:avLst/>
              <a:gdLst/>
              <a:ahLst/>
              <a:cxnLst/>
              <a:rect l="l" t="t" r="r" b="b"/>
              <a:pathLst>
                <a:path w="960120" h="502920">
                  <a:moveTo>
                    <a:pt x="0" y="502433"/>
                  </a:moveTo>
                  <a:lnTo>
                    <a:pt x="959680" y="502433"/>
                  </a:lnTo>
                  <a:lnTo>
                    <a:pt x="959680" y="0"/>
                  </a:lnTo>
                  <a:lnTo>
                    <a:pt x="0" y="0"/>
                  </a:lnTo>
                  <a:lnTo>
                    <a:pt x="0" y="502433"/>
                  </a:lnTo>
                  <a:close/>
                </a:path>
              </a:pathLst>
            </a:custGeom>
            <a:ln w="10570">
              <a:solidFill>
                <a:srgbClr val="000000"/>
              </a:solidFill>
            </a:ln>
          </p:spPr>
          <p:txBody>
            <a:bodyPr wrap="square" lIns="0" tIns="0" rIns="0" bIns="0" rtlCol="0"/>
            <a:lstStyle/>
            <a:p/>
          </p:txBody>
        </p:sp>
        <p:sp>
          <p:nvSpPr>
            <p:cNvPr id="32" name="object 32" descr=""/>
            <p:cNvSpPr/>
            <p:nvPr/>
          </p:nvSpPr>
          <p:spPr>
            <a:xfrm>
              <a:off x="4516297" y="4768984"/>
              <a:ext cx="818515" cy="389255"/>
            </a:xfrm>
            <a:custGeom>
              <a:avLst/>
              <a:gdLst/>
              <a:ahLst/>
              <a:cxnLst/>
              <a:rect l="l" t="t" r="r" b="b"/>
              <a:pathLst>
                <a:path w="818514" h="389254">
                  <a:moveTo>
                    <a:pt x="818207" y="0"/>
                  </a:moveTo>
                  <a:lnTo>
                    <a:pt x="0" y="0"/>
                  </a:lnTo>
                  <a:lnTo>
                    <a:pt x="0" y="389163"/>
                  </a:lnTo>
                  <a:lnTo>
                    <a:pt x="818207" y="389163"/>
                  </a:lnTo>
                  <a:lnTo>
                    <a:pt x="818207" y="0"/>
                  </a:lnTo>
                  <a:close/>
                </a:path>
              </a:pathLst>
            </a:custGeom>
            <a:solidFill>
              <a:srgbClr val="FFD9EB"/>
            </a:solidFill>
          </p:spPr>
          <p:txBody>
            <a:bodyPr wrap="square" lIns="0" tIns="0" rIns="0" bIns="0" rtlCol="0"/>
            <a:lstStyle/>
            <a:p/>
          </p:txBody>
        </p:sp>
        <p:sp>
          <p:nvSpPr>
            <p:cNvPr id="33" name="object 33" descr=""/>
            <p:cNvSpPr/>
            <p:nvPr/>
          </p:nvSpPr>
          <p:spPr>
            <a:xfrm>
              <a:off x="4516297" y="4768984"/>
              <a:ext cx="818515" cy="389255"/>
            </a:xfrm>
            <a:custGeom>
              <a:avLst/>
              <a:gdLst/>
              <a:ahLst/>
              <a:cxnLst/>
              <a:rect l="l" t="t" r="r" b="b"/>
              <a:pathLst>
                <a:path w="818514" h="389254">
                  <a:moveTo>
                    <a:pt x="0" y="389163"/>
                  </a:moveTo>
                  <a:lnTo>
                    <a:pt x="818207" y="389163"/>
                  </a:lnTo>
                  <a:lnTo>
                    <a:pt x="818207" y="0"/>
                  </a:lnTo>
                  <a:lnTo>
                    <a:pt x="0" y="0"/>
                  </a:lnTo>
                  <a:lnTo>
                    <a:pt x="0" y="389163"/>
                  </a:lnTo>
                  <a:close/>
                </a:path>
              </a:pathLst>
            </a:custGeom>
            <a:ln w="10570">
              <a:solidFill>
                <a:srgbClr val="000000"/>
              </a:solidFill>
            </a:ln>
          </p:spPr>
          <p:txBody>
            <a:bodyPr wrap="square" lIns="0" tIns="0" rIns="0" bIns="0" rtlCol="0"/>
            <a:lstStyle/>
            <a:p/>
          </p:txBody>
        </p:sp>
        <p:sp>
          <p:nvSpPr>
            <p:cNvPr id="34" name="object 34" descr=""/>
            <p:cNvSpPr/>
            <p:nvPr/>
          </p:nvSpPr>
          <p:spPr>
            <a:xfrm>
              <a:off x="3155881" y="4677137"/>
              <a:ext cx="927735" cy="525780"/>
            </a:xfrm>
            <a:custGeom>
              <a:avLst/>
              <a:gdLst/>
              <a:ahLst/>
              <a:cxnLst/>
              <a:rect l="l" t="t" r="r" b="b"/>
              <a:pathLst>
                <a:path w="927735" h="525779">
                  <a:moveTo>
                    <a:pt x="927591" y="0"/>
                  </a:moveTo>
                  <a:lnTo>
                    <a:pt x="0" y="0"/>
                  </a:lnTo>
                  <a:lnTo>
                    <a:pt x="0" y="525299"/>
                  </a:lnTo>
                  <a:lnTo>
                    <a:pt x="927591" y="525299"/>
                  </a:lnTo>
                  <a:lnTo>
                    <a:pt x="927591" y="0"/>
                  </a:lnTo>
                  <a:close/>
                </a:path>
              </a:pathLst>
            </a:custGeom>
            <a:solidFill>
              <a:srgbClr val="FFD9EB"/>
            </a:solidFill>
          </p:spPr>
          <p:txBody>
            <a:bodyPr wrap="square" lIns="0" tIns="0" rIns="0" bIns="0" rtlCol="0"/>
            <a:lstStyle/>
            <a:p/>
          </p:txBody>
        </p:sp>
        <p:sp>
          <p:nvSpPr>
            <p:cNvPr id="35" name="object 35" descr=""/>
            <p:cNvSpPr/>
            <p:nvPr/>
          </p:nvSpPr>
          <p:spPr>
            <a:xfrm>
              <a:off x="3155881" y="4677137"/>
              <a:ext cx="927735" cy="525780"/>
            </a:xfrm>
            <a:custGeom>
              <a:avLst/>
              <a:gdLst/>
              <a:ahLst/>
              <a:cxnLst/>
              <a:rect l="l" t="t" r="r" b="b"/>
              <a:pathLst>
                <a:path w="927735" h="525779">
                  <a:moveTo>
                    <a:pt x="0" y="525299"/>
                  </a:moveTo>
                  <a:lnTo>
                    <a:pt x="927591" y="525299"/>
                  </a:lnTo>
                  <a:lnTo>
                    <a:pt x="927591" y="0"/>
                  </a:lnTo>
                  <a:lnTo>
                    <a:pt x="0" y="0"/>
                  </a:lnTo>
                  <a:lnTo>
                    <a:pt x="0" y="525299"/>
                  </a:lnTo>
                  <a:close/>
                </a:path>
              </a:pathLst>
            </a:custGeom>
            <a:ln w="10570">
              <a:solidFill>
                <a:srgbClr val="000000"/>
              </a:solidFill>
            </a:ln>
          </p:spPr>
          <p:txBody>
            <a:bodyPr wrap="square" lIns="0" tIns="0" rIns="0" bIns="0" rtlCol="0"/>
            <a:lstStyle/>
            <a:p/>
          </p:txBody>
        </p:sp>
        <p:sp>
          <p:nvSpPr>
            <p:cNvPr id="36" name="object 36" descr=""/>
            <p:cNvSpPr/>
            <p:nvPr/>
          </p:nvSpPr>
          <p:spPr>
            <a:xfrm>
              <a:off x="3155881" y="5591247"/>
              <a:ext cx="942340" cy="389255"/>
            </a:xfrm>
            <a:custGeom>
              <a:avLst/>
              <a:gdLst/>
              <a:ahLst/>
              <a:cxnLst/>
              <a:rect l="l" t="t" r="r" b="b"/>
              <a:pathLst>
                <a:path w="942339" h="389254">
                  <a:moveTo>
                    <a:pt x="941810" y="0"/>
                  </a:moveTo>
                  <a:lnTo>
                    <a:pt x="0" y="0"/>
                  </a:lnTo>
                  <a:lnTo>
                    <a:pt x="0" y="389163"/>
                  </a:lnTo>
                  <a:lnTo>
                    <a:pt x="941810" y="389163"/>
                  </a:lnTo>
                  <a:lnTo>
                    <a:pt x="941810" y="0"/>
                  </a:lnTo>
                  <a:close/>
                </a:path>
              </a:pathLst>
            </a:custGeom>
            <a:solidFill>
              <a:srgbClr val="FFD9EB"/>
            </a:solidFill>
          </p:spPr>
          <p:txBody>
            <a:bodyPr wrap="square" lIns="0" tIns="0" rIns="0" bIns="0" rtlCol="0"/>
            <a:lstStyle/>
            <a:p/>
          </p:txBody>
        </p:sp>
        <p:sp>
          <p:nvSpPr>
            <p:cNvPr id="37" name="object 37" descr=""/>
            <p:cNvSpPr/>
            <p:nvPr/>
          </p:nvSpPr>
          <p:spPr>
            <a:xfrm>
              <a:off x="3155881" y="5591247"/>
              <a:ext cx="942340" cy="389255"/>
            </a:xfrm>
            <a:custGeom>
              <a:avLst/>
              <a:gdLst/>
              <a:ahLst/>
              <a:cxnLst/>
              <a:rect l="l" t="t" r="r" b="b"/>
              <a:pathLst>
                <a:path w="942339" h="389254">
                  <a:moveTo>
                    <a:pt x="0" y="389163"/>
                  </a:moveTo>
                  <a:lnTo>
                    <a:pt x="941810" y="389163"/>
                  </a:lnTo>
                  <a:lnTo>
                    <a:pt x="941810" y="0"/>
                  </a:lnTo>
                  <a:lnTo>
                    <a:pt x="0" y="0"/>
                  </a:lnTo>
                  <a:lnTo>
                    <a:pt x="0" y="389163"/>
                  </a:lnTo>
                  <a:close/>
                </a:path>
              </a:pathLst>
            </a:custGeom>
            <a:ln w="10570">
              <a:solidFill>
                <a:srgbClr val="000000"/>
              </a:solidFill>
            </a:ln>
          </p:spPr>
          <p:txBody>
            <a:bodyPr wrap="square" lIns="0" tIns="0" rIns="0" bIns="0" rtlCol="0"/>
            <a:lstStyle/>
            <a:p/>
          </p:txBody>
        </p:sp>
        <p:sp>
          <p:nvSpPr>
            <p:cNvPr id="38" name="object 38" descr=""/>
            <p:cNvSpPr/>
            <p:nvPr/>
          </p:nvSpPr>
          <p:spPr>
            <a:xfrm>
              <a:off x="4392649" y="5317164"/>
              <a:ext cx="1299210" cy="274320"/>
            </a:xfrm>
            <a:custGeom>
              <a:avLst/>
              <a:gdLst/>
              <a:ahLst/>
              <a:cxnLst/>
              <a:rect l="l" t="t" r="r" b="b"/>
              <a:pathLst>
                <a:path w="1299210" h="274320">
                  <a:moveTo>
                    <a:pt x="1298768" y="0"/>
                  </a:moveTo>
                  <a:lnTo>
                    <a:pt x="0" y="0"/>
                  </a:lnTo>
                  <a:lnTo>
                    <a:pt x="0" y="274082"/>
                  </a:lnTo>
                  <a:lnTo>
                    <a:pt x="1298768" y="274082"/>
                  </a:lnTo>
                  <a:lnTo>
                    <a:pt x="1298768" y="0"/>
                  </a:lnTo>
                  <a:close/>
                </a:path>
              </a:pathLst>
            </a:custGeom>
            <a:solidFill>
              <a:srgbClr val="FFD9EB"/>
            </a:solidFill>
          </p:spPr>
          <p:txBody>
            <a:bodyPr wrap="square" lIns="0" tIns="0" rIns="0" bIns="0" rtlCol="0"/>
            <a:lstStyle/>
            <a:p/>
          </p:txBody>
        </p:sp>
        <p:sp>
          <p:nvSpPr>
            <p:cNvPr id="39" name="object 39" descr=""/>
            <p:cNvSpPr/>
            <p:nvPr/>
          </p:nvSpPr>
          <p:spPr>
            <a:xfrm>
              <a:off x="4392649" y="5317164"/>
              <a:ext cx="1299210" cy="274320"/>
            </a:xfrm>
            <a:custGeom>
              <a:avLst/>
              <a:gdLst/>
              <a:ahLst/>
              <a:cxnLst/>
              <a:rect l="l" t="t" r="r" b="b"/>
              <a:pathLst>
                <a:path w="1299210" h="274320">
                  <a:moveTo>
                    <a:pt x="0" y="274082"/>
                  </a:moveTo>
                  <a:lnTo>
                    <a:pt x="1298768" y="274082"/>
                  </a:lnTo>
                  <a:lnTo>
                    <a:pt x="1298768" y="0"/>
                  </a:lnTo>
                  <a:lnTo>
                    <a:pt x="0" y="0"/>
                  </a:lnTo>
                  <a:lnTo>
                    <a:pt x="0" y="274082"/>
                  </a:lnTo>
                  <a:close/>
                </a:path>
              </a:pathLst>
            </a:custGeom>
            <a:ln w="10570">
              <a:solidFill>
                <a:srgbClr val="000000"/>
              </a:solidFill>
            </a:ln>
          </p:spPr>
          <p:txBody>
            <a:bodyPr wrap="square" lIns="0" tIns="0" rIns="0" bIns="0" rtlCol="0"/>
            <a:lstStyle/>
            <a:p/>
          </p:txBody>
        </p:sp>
        <p:sp>
          <p:nvSpPr>
            <p:cNvPr id="40" name="object 40" descr=""/>
            <p:cNvSpPr/>
            <p:nvPr/>
          </p:nvSpPr>
          <p:spPr>
            <a:xfrm>
              <a:off x="4516297" y="5750264"/>
              <a:ext cx="866140" cy="297815"/>
            </a:xfrm>
            <a:custGeom>
              <a:avLst/>
              <a:gdLst/>
              <a:ahLst/>
              <a:cxnLst/>
              <a:rect l="l" t="t" r="r" b="b"/>
              <a:pathLst>
                <a:path w="866139" h="297814">
                  <a:moveTo>
                    <a:pt x="865973" y="0"/>
                  </a:moveTo>
                  <a:lnTo>
                    <a:pt x="0" y="0"/>
                  </a:lnTo>
                  <a:lnTo>
                    <a:pt x="0" y="297316"/>
                  </a:lnTo>
                  <a:lnTo>
                    <a:pt x="865973" y="297316"/>
                  </a:lnTo>
                  <a:lnTo>
                    <a:pt x="865973" y="0"/>
                  </a:lnTo>
                  <a:close/>
                </a:path>
              </a:pathLst>
            </a:custGeom>
            <a:solidFill>
              <a:srgbClr val="FFD9EB"/>
            </a:solidFill>
          </p:spPr>
          <p:txBody>
            <a:bodyPr wrap="square" lIns="0" tIns="0" rIns="0" bIns="0" rtlCol="0"/>
            <a:lstStyle/>
            <a:p/>
          </p:txBody>
        </p:sp>
        <p:sp>
          <p:nvSpPr>
            <p:cNvPr id="41" name="object 41" descr=""/>
            <p:cNvSpPr/>
            <p:nvPr/>
          </p:nvSpPr>
          <p:spPr>
            <a:xfrm>
              <a:off x="4516297" y="5750264"/>
              <a:ext cx="866140" cy="297815"/>
            </a:xfrm>
            <a:custGeom>
              <a:avLst/>
              <a:gdLst/>
              <a:ahLst/>
              <a:cxnLst/>
              <a:rect l="l" t="t" r="r" b="b"/>
              <a:pathLst>
                <a:path w="866139" h="297814">
                  <a:moveTo>
                    <a:pt x="0" y="297316"/>
                  </a:moveTo>
                  <a:lnTo>
                    <a:pt x="865973" y="297316"/>
                  </a:lnTo>
                  <a:lnTo>
                    <a:pt x="865973" y="0"/>
                  </a:lnTo>
                  <a:lnTo>
                    <a:pt x="0" y="0"/>
                  </a:lnTo>
                  <a:lnTo>
                    <a:pt x="0" y="297316"/>
                  </a:lnTo>
                  <a:close/>
                </a:path>
              </a:pathLst>
            </a:custGeom>
            <a:ln w="10570">
              <a:solidFill>
                <a:srgbClr val="000000"/>
              </a:solidFill>
            </a:ln>
          </p:spPr>
          <p:txBody>
            <a:bodyPr wrap="square" lIns="0" tIns="0" rIns="0" bIns="0" rtlCol="0"/>
            <a:lstStyle/>
            <a:p/>
          </p:txBody>
        </p:sp>
        <p:sp>
          <p:nvSpPr>
            <p:cNvPr id="42" name="object 42" descr=""/>
            <p:cNvSpPr/>
            <p:nvPr/>
          </p:nvSpPr>
          <p:spPr>
            <a:xfrm>
              <a:off x="6062625" y="5043081"/>
              <a:ext cx="866140" cy="297815"/>
            </a:xfrm>
            <a:custGeom>
              <a:avLst/>
              <a:gdLst/>
              <a:ahLst/>
              <a:cxnLst/>
              <a:rect l="l" t="t" r="r" b="b"/>
              <a:pathLst>
                <a:path w="866140" h="297814">
                  <a:moveTo>
                    <a:pt x="865605" y="0"/>
                  </a:moveTo>
                  <a:lnTo>
                    <a:pt x="0" y="0"/>
                  </a:lnTo>
                  <a:lnTo>
                    <a:pt x="0" y="297316"/>
                  </a:lnTo>
                  <a:lnTo>
                    <a:pt x="865605" y="297316"/>
                  </a:lnTo>
                  <a:lnTo>
                    <a:pt x="865605" y="0"/>
                  </a:lnTo>
                  <a:close/>
                </a:path>
              </a:pathLst>
            </a:custGeom>
            <a:solidFill>
              <a:srgbClr val="FFD9EB"/>
            </a:solidFill>
          </p:spPr>
          <p:txBody>
            <a:bodyPr wrap="square" lIns="0" tIns="0" rIns="0" bIns="0" rtlCol="0"/>
            <a:lstStyle/>
            <a:p/>
          </p:txBody>
        </p:sp>
        <p:sp>
          <p:nvSpPr>
            <p:cNvPr id="43" name="object 43" descr=""/>
            <p:cNvSpPr/>
            <p:nvPr/>
          </p:nvSpPr>
          <p:spPr>
            <a:xfrm>
              <a:off x="6062625" y="5043081"/>
              <a:ext cx="866140" cy="297815"/>
            </a:xfrm>
            <a:custGeom>
              <a:avLst/>
              <a:gdLst/>
              <a:ahLst/>
              <a:cxnLst/>
              <a:rect l="l" t="t" r="r" b="b"/>
              <a:pathLst>
                <a:path w="866140" h="297814">
                  <a:moveTo>
                    <a:pt x="0" y="297316"/>
                  </a:moveTo>
                  <a:lnTo>
                    <a:pt x="865605" y="297316"/>
                  </a:lnTo>
                  <a:lnTo>
                    <a:pt x="865605" y="0"/>
                  </a:lnTo>
                  <a:lnTo>
                    <a:pt x="0" y="0"/>
                  </a:lnTo>
                  <a:lnTo>
                    <a:pt x="0" y="297316"/>
                  </a:lnTo>
                  <a:close/>
                </a:path>
              </a:pathLst>
            </a:custGeom>
            <a:ln w="10570">
              <a:solidFill>
                <a:srgbClr val="000000"/>
              </a:solidFill>
            </a:ln>
          </p:spPr>
          <p:txBody>
            <a:bodyPr wrap="square" lIns="0" tIns="0" rIns="0" bIns="0" rtlCol="0"/>
            <a:lstStyle/>
            <a:p/>
          </p:txBody>
        </p:sp>
        <p:sp>
          <p:nvSpPr>
            <p:cNvPr id="44" name="object 44" descr=""/>
            <p:cNvSpPr/>
            <p:nvPr/>
          </p:nvSpPr>
          <p:spPr>
            <a:xfrm>
              <a:off x="6062625" y="5499401"/>
              <a:ext cx="866140" cy="251460"/>
            </a:xfrm>
            <a:custGeom>
              <a:avLst/>
              <a:gdLst/>
              <a:ahLst/>
              <a:cxnLst/>
              <a:rect l="l" t="t" r="r" b="b"/>
              <a:pathLst>
                <a:path w="866140" h="251460">
                  <a:moveTo>
                    <a:pt x="865605" y="0"/>
                  </a:moveTo>
                  <a:lnTo>
                    <a:pt x="0" y="0"/>
                  </a:lnTo>
                  <a:lnTo>
                    <a:pt x="0" y="250848"/>
                  </a:lnTo>
                  <a:lnTo>
                    <a:pt x="865605" y="250848"/>
                  </a:lnTo>
                  <a:lnTo>
                    <a:pt x="865605" y="0"/>
                  </a:lnTo>
                  <a:close/>
                </a:path>
              </a:pathLst>
            </a:custGeom>
            <a:solidFill>
              <a:srgbClr val="FFD9EB"/>
            </a:solidFill>
          </p:spPr>
          <p:txBody>
            <a:bodyPr wrap="square" lIns="0" tIns="0" rIns="0" bIns="0" rtlCol="0"/>
            <a:lstStyle/>
            <a:p/>
          </p:txBody>
        </p:sp>
        <p:sp>
          <p:nvSpPr>
            <p:cNvPr id="45" name="object 45" descr=""/>
            <p:cNvSpPr/>
            <p:nvPr/>
          </p:nvSpPr>
          <p:spPr>
            <a:xfrm>
              <a:off x="6062625" y="5499401"/>
              <a:ext cx="866140" cy="251460"/>
            </a:xfrm>
            <a:custGeom>
              <a:avLst/>
              <a:gdLst/>
              <a:ahLst/>
              <a:cxnLst/>
              <a:rect l="l" t="t" r="r" b="b"/>
              <a:pathLst>
                <a:path w="866140" h="251460">
                  <a:moveTo>
                    <a:pt x="0" y="250848"/>
                  </a:moveTo>
                  <a:lnTo>
                    <a:pt x="865605" y="250848"/>
                  </a:lnTo>
                  <a:lnTo>
                    <a:pt x="865605" y="0"/>
                  </a:lnTo>
                  <a:lnTo>
                    <a:pt x="0" y="0"/>
                  </a:lnTo>
                  <a:lnTo>
                    <a:pt x="0" y="250848"/>
                  </a:lnTo>
                  <a:close/>
                </a:path>
              </a:pathLst>
            </a:custGeom>
            <a:ln w="10570">
              <a:solidFill>
                <a:srgbClr val="000000"/>
              </a:solidFill>
            </a:ln>
          </p:spPr>
          <p:txBody>
            <a:bodyPr wrap="square" lIns="0" tIns="0" rIns="0" bIns="0" rtlCol="0"/>
            <a:lstStyle/>
            <a:p/>
          </p:txBody>
        </p:sp>
      </p:grpSp>
      <p:grpSp>
        <p:nvGrpSpPr>
          <p:cNvPr id="46" name="object 46" descr=""/>
          <p:cNvGrpSpPr/>
          <p:nvPr/>
        </p:nvGrpSpPr>
        <p:grpSpPr>
          <a:xfrm>
            <a:off x="1587806" y="1543242"/>
            <a:ext cx="195580" cy="61594"/>
            <a:chOff x="1587806" y="1543242"/>
            <a:chExt cx="195580" cy="61594"/>
          </a:xfrm>
        </p:grpSpPr>
        <p:sp>
          <p:nvSpPr>
            <p:cNvPr id="47" name="object 47" descr=""/>
            <p:cNvSpPr/>
            <p:nvPr/>
          </p:nvSpPr>
          <p:spPr>
            <a:xfrm>
              <a:off x="1589076" y="1544512"/>
              <a:ext cx="193040" cy="59055"/>
            </a:xfrm>
            <a:custGeom>
              <a:avLst/>
              <a:gdLst/>
              <a:ahLst/>
              <a:cxnLst/>
              <a:rect l="l" t="t" r="r" b="b"/>
              <a:pathLst>
                <a:path w="193039" h="59055">
                  <a:moveTo>
                    <a:pt x="104281" y="0"/>
                  </a:moveTo>
                  <a:lnTo>
                    <a:pt x="132361" y="30164"/>
                  </a:lnTo>
                  <a:lnTo>
                    <a:pt x="104281" y="58562"/>
                  </a:lnTo>
                  <a:lnTo>
                    <a:pt x="171033" y="37079"/>
                  </a:lnTo>
                  <a:lnTo>
                    <a:pt x="132361" y="37079"/>
                  </a:lnTo>
                  <a:lnTo>
                    <a:pt x="135997" y="35314"/>
                  </a:lnTo>
                  <a:lnTo>
                    <a:pt x="137822" y="35314"/>
                  </a:lnTo>
                  <a:lnTo>
                    <a:pt x="139279" y="31929"/>
                  </a:lnTo>
                  <a:lnTo>
                    <a:pt x="132361" y="21041"/>
                  </a:lnTo>
                  <a:lnTo>
                    <a:pt x="165834" y="21041"/>
                  </a:lnTo>
                  <a:lnTo>
                    <a:pt x="104281" y="0"/>
                  </a:lnTo>
                  <a:close/>
                </a:path>
                <a:path w="193039" h="59055">
                  <a:moveTo>
                    <a:pt x="123869" y="21041"/>
                  </a:moveTo>
                  <a:lnTo>
                    <a:pt x="6928" y="21041"/>
                  </a:lnTo>
                  <a:lnTo>
                    <a:pt x="3282" y="22954"/>
                  </a:lnTo>
                  <a:lnTo>
                    <a:pt x="1458" y="24719"/>
                  </a:lnTo>
                  <a:lnTo>
                    <a:pt x="0" y="26485"/>
                  </a:lnTo>
                  <a:lnTo>
                    <a:pt x="0" y="31929"/>
                  </a:lnTo>
                  <a:lnTo>
                    <a:pt x="1458" y="35314"/>
                  </a:lnTo>
                  <a:lnTo>
                    <a:pt x="3282" y="35314"/>
                  </a:lnTo>
                  <a:lnTo>
                    <a:pt x="6928" y="37079"/>
                  </a:lnTo>
                  <a:lnTo>
                    <a:pt x="125523" y="37079"/>
                  </a:lnTo>
                  <a:lnTo>
                    <a:pt x="132361" y="30164"/>
                  </a:lnTo>
                  <a:lnTo>
                    <a:pt x="123869" y="21041"/>
                  </a:lnTo>
                  <a:close/>
                </a:path>
                <a:path w="193039" h="59055">
                  <a:moveTo>
                    <a:pt x="165834" y="21041"/>
                  </a:moveTo>
                  <a:lnTo>
                    <a:pt x="132361" y="21041"/>
                  </a:lnTo>
                  <a:lnTo>
                    <a:pt x="135997" y="22954"/>
                  </a:lnTo>
                  <a:lnTo>
                    <a:pt x="137822" y="24719"/>
                  </a:lnTo>
                  <a:lnTo>
                    <a:pt x="139279" y="26485"/>
                  </a:lnTo>
                  <a:lnTo>
                    <a:pt x="141105" y="30164"/>
                  </a:lnTo>
                  <a:lnTo>
                    <a:pt x="139279" y="31929"/>
                  </a:lnTo>
                  <a:lnTo>
                    <a:pt x="137822" y="35314"/>
                  </a:lnTo>
                  <a:lnTo>
                    <a:pt x="135997" y="35314"/>
                  </a:lnTo>
                  <a:lnTo>
                    <a:pt x="132361" y="37079"/>
                  </a:lnTo>
                  <a:lnTo>
                    <a:pt x="171033" y="37079"/>
                  </a:lnTo>
                  <a:lnTo>
                    <a:pt x="192521" y="30164"/>
                  </a:lnTo>
                  <a:lnTo>
                    <a:pt x="165834" y="21041"/>
                  </a:lnTo>
                  <a:close/>
                </a:path>
              </a:pathLst>
            </a:custGeom>
            <a:solidFill>
              <a:srgbClr val="000000"/>
            </a:solidFill>
          </p:spPr>
          <p:txBody>
            <a:bodyPr wrap="square" lIns="0" tIns="0" rIns="0" bIns="0" rtlCol="0"/>
            <a:lstStyle/>
            <a:p/>
          </p:txBody>
        </p:sp>
        <p:sp>
          <p:nvSpPr>
            <p:cNvPr id="48" name="object 48" descr=""/>
            <p:cNvSpPr/>
            <p:nvPr/>
          </p:nvSpPr>
          <p:spPr>
            <a:xfrm>
              <a:off x="1589076" y="1544512"/>
              <a:ext cx="193040" cy="59055"/>
            </a:xfrm>
            <a:custGeom>
              <a:avLst/>
              <a:gdLst/>
              <a:ahLst/>
              <a:cxnLst/>
              <a:rect l="l" t="t" r="r" b="b"/>
              <a:pathLst>
                <a:path w="193039" h="59055">
                  <a:moveTo>
                    <a:pt x="6928" y="21041"/>
                  </a:moveTo>
                  <a:lnTo>
                    <a:pt x="132361" y="21041"/>
                  </a:lnTo>
                  <a:lnTo>
                    <a:pt x="135997" y="22954"/>
                  </a:lnTo>
                  <a:lnTo>
                    <a:pt x="137822" y="24719"/>
                  </a:lnTo>
                  <a:lnTo>
                    <a:pt x="139279" y="26485"/>
                  </a:lnTo>
                  <a:lnTo>
                    <a:pt x="141105" y="30164"/>
                  </a:lnTo>
                  <a:lnTo>
                    <a:pt x="139279" y="31929"/>
                  </a:lnTo>
                  <a:lnTo>
                    <a:pt x="137822" y="35314"/>
                  </a:lnTo>
                  <a:lnTo>
                    <a:pt x="135997" y="35314"/>
                  </a:lnTo>
                  <a:lnTo>
                    <a:pt x="132361" y="37079"/>
                  </a:lnTo>
                  <a:lnTo>
                    <a:pt x="6928" y="37079"/>
                  </a:lnTo>
                  <a:lnTo>
                    <a:pt x="3282" y="35314"/>
                  </a:lnTo>
                  <a:lnTo>
                    <a:pt x="1458" y="35314"/>
                  </a:lnTo>
                  <a:lnTo>
                    <a:pt x="0" y="31929"/>
                  </a:lnTo>
                  <a:lnTo>
                    <a:pt x="0" y="30164"/>
                  </a:lnTo>
                  <a:lnTo>
                    <a:pt x="0" y="26485"/>
                  </a:lnTo>
                  <a:lnTo>
                    <a:pt x="1458" y="24719"/>
                  </a:lnTo>
                  <a:lnTo>
                    <a:pt x="3282" y="22954"/>
                  </a:lnTo>
                  <a:lnTo>
                    <a:pt x="6928" y="21041"/>
                  </a:lnTo>
                  <a:close/>
                </a:path>
                <a:path w="193039" h="59055">
                  <a:moveTo>
                    <a:pt x="132361" y="30164"/>
                  </a:moveTo>
                  <a:lnTo>
                    <a:pt x="104281" y="0"/>
                  </a:lnTo>
                  <a:lnTo>
                    <a:pt x="192521" y="30164"/>
                  </a:lnTo>
                  <a:lnTo>
                    <a:pt x="104281" y="58562"/>
                  </a:lnTo>
                  <a:lnTo>
                    <a:pt x="132361" y="30164"/>
                  </a:lnTo>
                  <a:close/>
                </a:path>
              </a:pathLst>
            </a:custGeom>
            <a:ln w="3175">
              <a:solidFill>
                <a:srgbClr val="000000"/>
              </a:solidFill>
            </a:ln>
          </p:spPr>
          <p:txBody>
            <a:bodyPr wrap="square" lIns="0" tIns="0" rIns="0" bIns="0" rtlCol="0"/>
            <a:lstStyle/>
            <a:p/>
          </p:txBody>
        </p:sp>
      </p:grpSp>
      <p:sp>
        <p:nvSpPr>
          <p:cNvPr id="49" name="object 49" descr=""/>
          <p:cNvSpPr txBox="1"/>
          <p:nvPr/>
        </p:nvSpPr>
        <p:spPr>
          <a:xfrm>
            <a:off x="1795082" y="1434493"/>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CPU2</a:t>
            </a:r>
            <a:endParaRPr sz="1050">
              <a:latin typeface="宋体"/>
              <a:cs typeface="宋体"/>
            </a:endParaRPr>
          </a:p>
        </p:txBody>
      </p:sp>
      <p:sp>
        <p:nvSpPr>
          <p:cNvPr id="50" name="object 50" descr=""/>
          <p:cNvSpPr txBox="1"/>
          <p:nvPr/>
        </p:nvSpPr>
        <p:spPr>
          <a:xfrm>
            <a:off x="1825346" y="520442"/>
            <a:ext cx="1051560" cy="229870"/>
          </a:xfrm>
          <a:prstGeom prst="rect">
            <a:avLst/>
          </a:prstGeom>
          <a:solidFill>
            <a:srgbClr val="FFD9B3"/>
          </a:solidFill>
          <a:ln w="10570">
            <a:solidFill>
              <a:srgbClr val="000000"/>
            </a:solidFill>
          </a:ln>
        </p:spPr>
        <p:txBody>
          <a:bodyPr wrap="square" lIns="0" tIns="36195" rIns="0" bIns="0" rtlCol="0" vert="horz">
            <a:spAutoFit/>
          </a:bodyPr>
          <a:lstStyle/>
          <a:p>
            <a:pPr marL="59690">
              <a:lnSpc>
                <a:spcPct val="100000"/>
              </a:lnSpc>
              <a:spcBef>
                <a:spcPts val="285"/>
              </a:spcBef>
            </a:pPr>
            <a:r>
              <a:rPr dirty="0" sz="1050" spc="-35" b="1">
                <a:latin typeface="宋体"/>
                <a:cs typeface="宋体"/>
              </a:rPr>
              <a:t>处理机之间通信</a:t>
            </a:r>
            <a:endParaRPr sz="1050">
              <a:latin typeface="宋体"/>
              <a:cs typeface="宋体"/>
            </a:endParaRPr>
          </a:p>
        </p:txBody>
      </p:sp>
      <p:sp>
        <p:nvSpPr>
          <p:cNvPr id="51" name="object 51" descr=""/>
          <p:cNvSpPr txBox="1"/>
          <p:nvPr/>
        </p:nvSpPr>
        <p:spPr>
          <a:xfrm>
            <a:off x="1825346" y="932486"/>
            <a:ext cx="1051560" cy="228600"/>
          </a:xfrm>
          <a:prstGeom prst="rect">
            <a:avLst/>
          </a:prstGeom>
          <a:solidFill>
            <a:srgbClr val="FFD9B3"/>
          </a:solidFill>
          <a:ln w="10570">
            <a:solidFill>
              <a:srgbClr val="000000"/>
            </a:solidFill>
          </a:ln>
        </p:spPr>
        <p:txBody>
          <a:bodyPr wrap="square" lIns="0" tIns="36195" rIns="0" bIns="0" rtlCol="0" vert="horz">
            <a:spAutoFit/>
          </a:bodyPr>
          <a:lstStyle/>
          <a:p>
            <a:pPr marL="59690">
              <a:lnSpc>
                <a:spcPct val="100000"/>
              </a:lnSpc>
              <a:spcBef>
                <a:spcPts val="285"/>
              </a:spcBef>
            </a:pPr>
            <a:r>
              <a:rPr dirty="0" sz="1050" spc="-25" b="1">
                <a:latin typeface="宋体"/>
                <a:cs typeface="宋体"/>
              </a:rPr>
              <a:t>实时钟</a:t>
            </a:r>
            <a:r>
              <a:rPr dirty="0" sz="1050" b="1">
                <a:latin typeface="宋体"/>
                <a:cs typeface="宋体"/>
              </a:rPr>
              <a:t>（</a:t>
            </a:r>
            <a:r>
              <a:rPr dirty="0" sz="1050" b="1">
                <a:latin typeface="Times New Roman"/>
                <a:cs typeface="Times New Roman"/>
              </a:rPr>
              <a:t>64</a:t>
            </a:r>
            <a:r>
              <a:rPr dirty="0" sz="1050" spc="-5" b="1">
                <a:latin typeface="Times New Roman"/>
                <a:cs typeface="Times New Roman"/>
              </a:rPr>
              <a:t> </a:t>
            </a:r>
            <a:r>
              <a:rPr dirty="0" sz="1050" spc="-10" b="1">
                <a:latin typeface="宋体"/>
                <a:cs typeface="宋体"/>
              </a:rPr>
              <a:t>位</a:t>
            </a:r>
            <a:r>
              <a:rPr dirty="0" sz="1050" spc="-50" b="1">
                <a:latin typeface="宋体"/>
                <a:cs typeface="宋体"/>
              </a:rPr>
              <a:t>）</a:t>
            </a:r>
            <a:endParaRPr sz="1050">
              <a:latin typeface="宋体"/>
              <a:cs typeface="宋体"/>
            </a:endParaRPr>
          </a:p>
        </p:txBody>
      </p:sp>
      <p:grpSp>
        <p:nvGrpSpPr>
          <p:cNvPr id="52" name="object 52" descr=""/>
          <p:cNvGrpSpPr/>
          <p:nvPr/>
        </p:nvGrpSpPr>
        <p:grpSpPr>
          <a:xfrm>
            <a:off x="2877464" y="606237"/>
            <a:ext cx="1402080" cy="62865"/>
            <a:chOff x="2877464" y="606237"/>
            <a:chExt cx="1402080" cy="62865"/>
          </a:xfrm>
        </p:grpSpPr>
        <p:sp>
          <p:nvSpPr>
            <p:cNvPr id="53" name="object 53" descr=""/>
            <p:cNvSpPr/>
            <p:nvPr/>
          </p:nvSpPr>
          <p:spPr>
            <a:xfrm>
              <a:off x="2878734" y="607506"/>
              <a:ext cx="1399540" cy="60325"/>
            </a:xfrm>
            <a:custGeom>
              <a:avLst/>
              <a:gdLst/>
              <a:ahLst/>
              <a:cxnLst/>
              <a:rect l="l" t="t" r="r" b="b"/>
              <a:pathLst>
                <a:path w="1399539" h="60325">
                  <a:moveTo>
                    <a:pt x="88599" y="0"/>
                  </a:moveTo>
                  <a:lnTo>
                    <a:pt x="0" y="29869"/>
                  </a:lnTo>
                  <a:lnTo>
                    <a:pt x="88599" y="60034"/>
                  </a:lnTo>
                  <a:lnTo>
                    <a:pt x="65568" y="37079"/>
                  </a:lnTo>
                  <a:lnTo>
                    <a:pt x="56509" y="37079"/>
                  </a:lnTo>
                  <a:lnTo>
                    <a:pt x="53227" y="35314"/>
                  </a:lnTo>
                  <a:lnTo>
                    <a:pt x="53227" y="33401"/>
                  </a:lnTo>
                  <a:lnTo>
                    <a:pt x="51401" y="29869"/>
                  </a:lnTo>
                  <a:lnTo>
                    <a:pt x="53227" y="26632"/>
                  </a:lnTo>
                  <a:lnTo>
                    <a:pt x="53227" y="24719"/>
                  </a:lnTo>
                  <a:lnTo>
                    <a:pt x="56509" y="22954"/>
                  </a:lnTo>
                  <a:lnTo>
                    <a:pt x="65342" y="22954"/>
                  </a:lnTo>
                  <a:lnTo>
                    <a:pt x="88599" y="0"/>
                  </a:lnTo>
                  <a:close/>
                </a:path>
                <a:path w="1399539" h="60325">
                  <a:moveTo>
                    <a:pt x="65342" y="22954"/>
                  </a:moveTo>
                  <a:lnTo>
                    <a:pt x="56509" y="22954"/>
                  </a:lnTo>
                  <a:lnTo>
                    <a:pt x="53227" y="24719"/>
                  </a:lnTo>
                  <a:lnTo>
                    <a:pt x="53227" y="26632"/>
                  </a:lnTo>
                  <a:lnTo>
                    <a:pt x="51401" y="29869"/>
                  </a:lnTo>
                  <a:lnTo>
                    <a:pt x="53227" y="33401"/>
                  </a:lnTo>
                  <a:lnTo>
                    <a:pt x="53227" y="35314"/>
                  </a:lnTo>
                  <a:lnTo>
                    <a:pt x="56509" y="37079"/>
                  </a:lnTo>
                  <a:lnTo>
                    <a:pt x="65568" y="37079"/>
                  </a:lnTo>
                  <a:lnTo>
                    <a:pt x="58335" y="29869"/>
                  </a:lnTo>
                  <a:lnTo>
                    <a:pt x="65342" y="22954"/>
                  </a:lnTo>
                  <a:close/>
                </a:path>
                <a:path w="1399539" h="60325">
                  <a:moveTo>
                    <a:pt x="1394242" y="22954"/>
                  </a:moveTo>
                  <a:lnTo>
                    <a:pt x="65342" y="22954"/>
                  </a:lnTo>
                  <a:lnTo>
                    <a:pt x="58335" y="29869"/>
                  </a:lnTo>
                  <a:lnTo>
                    <a:pt x="65568" y="37079"/>
                  </a:lnTo>
                  <a:lnTo>
                    <a:pt x="1394242" y="37079"/>
                  </a:lnTo>
                  <a:lnTo>
                    <a:pt x="1397627" y="35314"/>
                  </a:lnTo>
                  <a:lnTo>
                    <a:pt x="1397627" y="33401"/>
                  </a:lnTo>
                  <a:lnTo>
                    <a:pt x="1399394" y="29869"/>
                  </a:lnTo>
                  <a:lnTo>
                    <a:pt x="1397627" y="26632"/>
                  </a:lnTo>
                  <a:lnTo>
                    <a:pt x="1397627" y="24719"/>
                  </a:lnTo>
                  <a:lnTo>
                    <a:pt x="1394242" y="22954"/>
                  </a:lnTo>
                  <a:close/>
                </a:path>
              </a:pathLst>
            </a:custGeom>
            <a:solidFill>
              <a:srgbClr val="000000"/>
            </a:solidFill>
          </p:spPr>
          <p:txBody>
            <a:bodyPr wrap="square" lIns="0" tIns="0" rIns="0" bIns="0" rtlCol="0"/>
            <a:lstStyle/>
            <a:p/>
          </p:txBody>
        </p:sp>
        <p:sp>
          <p:nvSpPr>
            <p:cNvPr id="54" name="object 54" descr=""/>
            <p:cNvSpPr/>
            <p:nvPr/>
          </p:nvSpPr>
          <p:spPr>
            <a:xfrm>
              <a:off x="2878734" y="607507"/>
              <a:ext cx="1399540" cy="60325"/>
            </a:xfrm>
            <a:custGeom>
              <a:avLst/>
              <a:gdLst/>
              <a:ahLst/>
              <a:cxnLst/>
              <a:rect l="l" t="t" r="r" b="b"/>
              <a:pathLst>
                <a:path w="1399539" h="60325">
                  <a:moveTo>
                    <a:pt x="1392475" y="37079"/>
                  </a:moveTo>
                  <a:lnTo>
                    <a:pt x="58335" y="37079"/>
                  </a:lnTo>
                  <a:lnTo>
                    <a:pt x="56509" y="37079"/>
                  </a:lnTo>
                  <a:lnTo>
                    <a:pt x="53227" y="35314"/>
                  </a:lnTo>
                  <a:lnTo>
                    <a:pt x="53227" y="33401"/>
                  </a:lnTo>
                  <a:lnTo>
                    <a:pt x="51401" y="29869"/>
                  </a:lnTo>
                  <a:lnTo>
                    <a:pt x="53227" y="26632"/>
                  </a:lnTo>
                  <a:lnTo>
                    <a:pt x="53227" y="24719"/>
                  </a:lnTo>
                  <a:lnTo>
                    <a:pt x="56509" y="22954"/>
                  </a:lnTo>
                  <a:lnTo>
                    <a:pt x="58335" y="22954"/>
                  </a:lnTo>
                  <a:lnTo>
                    <a:pt x="1392475" y="22954"/>
                  </a:lnTo>
                  <a:lnTo>
                    <a:pt x="1394242" y="22954"/>
                  </a:lnTo>
                  <a:lnTo>
                    <a:pt x="1397627" y="24719"/>
                  </a:lnTo>
                  <a:lnTo>
                    <a:pt x="1397627" y="26632"/>
                  </a:lnTo>
                  <a:lnTo>
                    <a:pt x="1399394" y="29869"/>
                  </a:lnTo>
                  <a:lnTo>
                    <a:pt x="1397627" y="33401"/>
                  </a:lnTo>
                  <a:lnTo>
                    <a:pt x="1397627" y="35314"/>
                  </a:lnTo>
                  <a:lnTo>
                    <a:pt x="1394242" y="37079"/>
                  </a:lnTo>
                  <a:lnTo>
                    <a:pt x="1392475" y="37079"/>
                  </a:lnTo>
                  <a:close/>
                </a:path>
                <a:path w="1399539" h="60325">
                  <a:moveTo>
                    <a:pt x="58335" y="29869"/>
                  </a:moveTo>
                  <a:lnTo>
                    <a:pt x="88599" y="60034"/>
                  </a:lnTo>
                  <a:lnTo>
                    <a:pt x="0" y="29869"/>
                  </a:lnTo>
                  <a:lnTo>
                    <a:pt x="88599" y="0"/>
                  </a:lnTo>
                  <a:lnTo>
                    <a:pt x="58335" y="29869"/>
                  </a:lnTo>
                  <a:close/>
                </a:path>
              </a:pathLst>
            </a:custGeom>
            <a:ln w="3175">
              <a:solidFill>
                <a:srgbClr val="000000"/>
              </a:solidFill>
            </a:ln>
          </p:spPr>
          <p:txBody>
            <a:bodyPr wrap="square" lIns="0" tIns="0" rIns="0" bIns="0" rtlCol="0"/>
            <a:lstStyle/>
            <a:p/>
          </p:txBody>
        </p:sp>
      </p:grpSp>
      <p:grpSp>
        <p:nvGrpSpPr>
          <p:cNvPr id="55" name="object 55" descr=""/>
          <p:cNvGrpSpPr/>
          <p:nvPr/>
        </p:nvGrpSpPr>
        <p:grpSpPr>
          <a:xfrm>
            <a:off x="2291026" y="1543482"/>
            <a:ext cx="311785" cy="60960"/>
            <a:chOff x="2291026" y="1543482"/>
            <a:chExt cx="311785" cy="60960"/>
          </a:xfrm>
        </p:grpSpPr>
        <p:sp>
          <p:nvSpPr>
            <p:cNvPr id="56" name="object 56" descr=""/>
            <p:cNvSpPr/>
            <p:nvPr/>
          </p:nvSpPr>
          <p:spPr>
            <a:xfrm>
              <a:off x="2292056" y="1544512"/>
              <a:ext cx="309245" cy="59055"/>
            </a:xfrm>
            <a:custGeom>
              <a:avLst/>
              <a:gdLst/>
              <a:ahLst/>
              <a:cxnLst/>
              <a:rect l="l" t="t" r="r" b="b"/>
              <a:pathLst>
                <a:path w="309244" h="59055">
                  <a:moveTo>
                    <a:pt x="88599" y="0"/>
                  </a:moveTo>
                  <a:lnTo>
                    <a:pt x="0" y="30164"/>
                  </a:lnTo>
                  <a:lnTo>
                    <a:pt x="88599" y="58562"/>
                  </a:lnTo>
                  <a:lnTo>
                    <a:pt x="65716" y="37079"/>
                  </a:lnTo>
                  <a:lnTo>
                    <a:pt x="58349" y="37079"/>
                  </a:lnTo>
                  <a:lnTo>
                    <a:pt x="55067" y="35314"/>
                  </a:lnTo>
                  <a:lnTo>
                    <a:pt x="53241" y="35314"/>
                  </a:lnTo>
                  <a:lnTo>
                    <a:pt x="51416" y="31929"/>
                  </a:lnTo>
                  <a:lnTo>
                    <a:pt x="51416" y="26485"/>
                  </a:lnTo>
                  <a:lnTo>
                    <a:pt x="55067" y="22954"/>
                  </a:lnTo>
                  <a:lnTo>
                    <a:pt x="58349" y="21041"/>
                  </a:lnTo>
                  <a:lnTo>
                    <a:pt x="67498" y="21041"/>
                  </a:lnTo>
                  <a:lnTo>
                    <a:pt x="88599" y="0"/>
                  </a:lnTo>
                  <a:close/>
                </a:path>
                <a:path w="309244" h="59055">
                  <a:moveTo>
                    <a:pt x="220960" y="0"/>
                  </a:moveTo>
                  <a:lnTo>
                    <a:pt x="249399" y="30164"/>
                  </a:lnTo>
                  <a:lnTo>
                    <a:pt x="220960" y="58562"/>
                  </a:lnTo>
                  <a:lnTo>
                    <a:pt x="287716" y="37079"/>
                  </a:lnTo>
                  <a:lnTo>
                    <a:pt x="249399" y="37079"/>
                  </a:lnTo>
                  <a:lnTo>
                    <a:pt x="252682" y="35314"/>
                  </a:lnTo>
                  <a:lnTo>
                    <a:pt x="254507" y="35314"/>
                  </a:lnTo>
                  <a:lnTo>
                    <a:pt x="256332" y="31929"/>
                  </a:lnTo>
                  <a:lnTo>
                    <a:pt x="256332" y="26485"/>
                  </a:lnTo>
                  <a:lnTo>
                    <a:pt x="252682" y="22954"/>
                  </a:lnTo>
                  <a:lnTo>
                    <a:pt x="249399" y="21041"/>
                  </a:lnTo>
                  <a:lnTo>
                    <a:pt x="282517" y="21041"/>
                  </a:lnTo>
                  <a:lnTo>
                    <a:pt x="220960" y="0"/>
                  </a:lnTo>
                  <a:close/>
                </a:path>
                <a:path w="309244" h="59055">
                  <a:moveTo>
                    <a:pt x="67498" y="21041"/>
                  </a:moveTo>
                  <a:lnTo>
                    <a:pt x="58349" y="21041"/>
                  </a:lnTo>
                  <a:lnTo>
                    <a:pt x="55067" y="22954"/>
                  </a:lnTo>
                  <a:lnTo>
                    <a:pt x="51416" y="26485"/>
                  </a:lnTo>
                  <a:lnTo>
                    <a:pt x="51416" y="31929"/>
                  </a:lnTo>
                  <a:lnTo>
                    <a:pt x="53241" y="35314"/>
                  </a:lnTo>
                  <a:lnTo>
                    <a:pt x="55067" y="35314"/>
                  </a:lnTo>
                  <a:lnTo>
                    <a:pt x="58349" y="37079"/>
                  </a:lnTo>
                  <a:lnTo>
                    <a:pt x="65716" y="37079"/>
                  </a:lnTo>
                  <a:lnTo>
                    <a:pt x="58349" y="30164"/>
                  </a:lnTo>
                  <a:lnTo>
                    <a:pt x="67498" y="21041"/>
                  </a:lnTo>
                  <a:close/>
                </a:path>
                <a:path w="309244" h="59055">
                  <a:moveTo>
                    <a:pt x="240798" y="21041"/>
                  </a:moveTo>
                  <a:lnTo>
                    <a:pt x="67498" y="21041"/>
                  </a:lnTo>
                  <a:lnTo>
                    <a:pt x="58349" y="30164"/>
                  </a:lnTo>
                  <a:lnTo>
                    <a:pt x="65716" y="37079"/>
                  </a:lnTo>
                  <a:lnTo>
                    <a:pt x="242474" y="37079"/>
                  </a:lnTo>
                  <a:lnTo>
                    <a:pt x="249399" y="30164"/>
                  </a:lnTo>
                  <a:lnTo>
                    <a:pt x="240798" y="21041"/>
                  </a:lnTo>
                  <a:close/>
                </a:path>
                <a:path w="309244" h="59055">
                  <a:moveTo>
                    <a:pt x="282517" y="21041"/>
                  </a:moveTo>
                  <a:lnTo>
                    <a:pt x="249399" y="21041"/>
                  </a:lnTo>
                  <a:lnTo>
                    <a:pt x="252682" y="22954"/>
                  </a:lnTo>
                  <a:lnTo>
                    <a:pt x="256332" y="26485"/>
                  </a:lnTo>
                  <a:lnTo>
                    <a:pt x="256332" y="31929"/>
                  </a:lnTo>
                  <a:lnTo>
                    <a:pt x="254507" y="35314"/>
                  </a:lnTo>
                  <a:lnTo>
                    <a:pt x="252682" y="35314"/>
                  </a:lnTo>
                  <a:lnTo>
                    <a:pt x="249399" y="37079"/>
                  </a:lnTo>
                  <a:lnTo>
                    <a:pt x="287716" y="37079"/>
                  </a:lnTo>
                  <a:lnTo>
                    <a:pt x="309206" y="30164"/>
                  </a:lnTo>
                  <a:lnTo>
                    <a:pt x="282517" y="21041"/>
                  </a:lnTo>
                  <a:close/>
                </a:path>
              </a:pathLst>
            </a:custGeom>
            <a:solidFill>
              <a:srgbClr val="000000"/>
            </a:solidFill>
          </p:spPr>
          <p:txBody>
            <a:bodyPr wrap="square" lIns="0" tIns="0" rIns="0" bIns="0" rtlCol="0"/>
            <a:lstStyle/>
            <a:p/>
          </p:txBody>
        </p:sp>
        <p:sp>
          <p:nvSpPr>
            <p:cNvPr id="57" name="object 57" descr=""/>
            <p:cNvSpPr/>
            <p:nvPr/>
          </p:nvSpPr>
          <p:spPr>
            <a:xfrm>
              <a:off x="2292056" y="1544512"/>
              <a:ext cx="309245" cy="59055"/>
            </a:xfrm>
            <a:custGeom>
              <a:avLst/>
              <a:gdLst/>
              <a:ahLst/>
              <a:cxnLst/>
              <a:rect l="l" t="t" r="r" b="b"/>
              <a:pathLst>
                <a:path w="309244" h="59055">
                  <a:moveTo>
                    <a:pt x="58349" y="21041"/>
                  </a:moveTo>
                  <a:lnTo>
                    <a:pt x="249399" y="21041"/>
                  </a:lnTo>
                  <a:lnTo>
                    <a:pt x="252682" y="22954"/>
                  </a:lnTo>
                  <a:lnTo>
                    <a:pt x="254507" y="24719"/>
                  </a:lnTo>
                  <a:lnTo>
                    <a:pt x="256332" y="26485"/>
                  </a:lnTo>
                  <a:lnTo>
                    <a:pt x="256332" y="30164"/>
                  </a:lnTo>
                  <a:lnTo>
                    <a:pt x="256332" y="31929"/>
                  </a:lnTo>
                  <a:lnTo>
                    <a:pt x="254507" y="35314"/>
                  </a:lnTo>
                  <a:lnTo>
                    <a:pt x="252682" y="35314"/>
                  </a:lnTo>
                  <a:lnTo>
                    <a:pt x="249399" y="37079"/>
                  </a:lnTo>
                  <a:lnTo>
                    <a:pt x="58349" y="37079"/>
                  </a:lnTo>
                  <a:lnTo>
                    <a:pt x="55067" y="35314"/>
                  </a:lnTo>
                  <a:lnTo>
                    <a:pt x="53241" y="35314"/>
                  </a:lnTo>
                  <a:lnTo>
                    <a:pt x="51416" y="31929"/>
                  </a:lnTo>
                  <a:lnTo>
                    <a:pt x="51416" y="30164"/>
                  </a:lnTo>
                  <a:lnTo>
                    <a:pt x="51416" y="26485"/>
                  </a:lnTo>
                  <a:lnTo>
                    <a:pt x="53241" y="24719"/>
                  </a:lnTo>
                  <a:lnTo>
                    <a:pt x="55067" y="22954"/>
                  </a:lnTo>
                  <a:lnTo>
                    <a:pt x="58349" y="21041"/>
                  </a:lnTo>
                  <a:close/>
                </a:path>
                <a:path w="309244" h="59055">
                  <a:moveTo>
                    <a:pt x="58349" y="30164"/>
                  </a:moveTo>
                  <a:lnTo>
                    <a:pt x="88599" y="58562"/>
                  </a:lnTo>
                  <a:lnTo>
                    <a:pt x="0" y="30164"/>
                  </a:lnTo>
                  <a:lnTo>
                    <a:pt x="88599" y="0"/>
                  </a:lnTo>
                  <a:lnTo>
                    <a:pt x="58349" y="30164"/>
                  </a:lnTo>
                  <a:close/>
                </a:path>
                <a:path w="309244" h="59055">
                  <a:moveTo>
                    <a:pt x="249399" y="30164"/>
                  </a:moveTo>
                  <a:lnTo>
                    <a:pt x="220960" y="0"/>
                  </a:lnTo>
                  <a:lnTo>
                    <a:pt x="309206" y="30164"/>
                  </a:lnTo>
                  <a:lnTo>
                    <a:pt x="220960" y="58562"/>
                  </a:lnTo>
                  <a:lnTo>
                    <a:pt x="249399" y="30164"/>
                  </a:lnTo>
                  <a:close/>
                </a:path>
              </a:pathLst>
            </a:custGeom>
            <a:ln w="3175">
              <a:solidFill>
                <a:srgbClr val="000000"/>
              </a:solidFill>
            </a:ln>
          </p:spPr>
          <p:txBody>
            <a:bodyPr wrap="square" lIns="0" tIns="0" rIns="0" bIns="0" rtlCol="0"/>
            <a:lstStyle/>
            <a:p/>
          </p:txBody>
        </p:sp>
      </p:grpSp>
      <p:sp>
        <p:nvSpPr>
          <p:cNvPr id="58" name="object 58" descr=""/>
          <p:cNvSpPr txBox="1"/>
          <p:nvPr/>
        </p:nvSpPr>
        <p:spPr>
          <a:xfrm>
            <a:off x="2599070" y="1298401"/>
            <a:ext cx="247650" cy="4749800"/>
          </a:xfrm>
          <a:prstGeom prst="rect">
            <a:avLst/>
          </a:prstGeom>
          <a:solidFill>
            <a:srgbClr val="CCFFFF"/>
          </a:solidFill>
          <a:ln w="10574">
            <a:solidFill>
              <a:srgbClr val="000000"/>
            </a:solidFill>
          </a:ln>
        </p:spPr>
        <p:txBody>
          <a:bodyPr wrap="square" lIns="0" tIns="0" rIns="0" bIns="0" rtlCol="0" vert="horz">
            <a:spAutoFit/>
          </a:bodyPr>
          <a:lstStyle/>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spcBef>
                <a:spcPts val="440"/>
              </a:spcBef>
            </a:pPr>
            <a:endParaRPr sz="1050">
              <a:latin typeface="Times New Roman"/>
              <a:cs typeface="Times New Roman"/>
            </a:endParaRPr>
          </a:p>
          <a:p>
            <a:pPr algn="just" marL="59055" marR="46990">
              <a:lnSpc>
                <a:spcPts val="1030"/>
              </a:lnSpc>
              <a:spcBef>
                <a:spcPts val="5"/>
              </a:spcBef>
            </a:pPr>
            <a:r>
              <a:rPr dirty="0" sz="1050" spc="-50" b="1">
                <a:latin typeface="宋体"/>
                <a:cs typeface="宋体"/>
              </a:rPr>
              <a:t>中央存储器</a:t>
            </a:r>
            <a:endParaRPr sz="1050">
              <a:latin typeface="宋体"/>
              <a:cs typeface="宋体"/>
            </a:endParaRPr>
          </a:p>
        </p:txBody>
      </p:sp>
      <p:grpSp>
        <p:nvGrpSpPr>
          <p:cNvPr id="59" name="object 59" descr=""/>
          <p:cNvGrpSpPr/>
          <p:nvPr/>
        </p:nvGrpSpPr>
        <p:grpSpPr>
          <a:xfrm>
            <a:off x="2839049" y="1474619"/>
            <a:ext cx="320675" cy="60960"/>
            <a:chOff x="2839049" y="1474619"/>
            <a:chExt cx="320675" cy="60960"/>
          </a:xfrm>
        </p:grpSpPr>
        <p:sp>
          <p:nvSpPr>
            <p:cNvPr id="60" name="object 60" descr=""/>
            <p:cNvSpPr/>
            <p:nvPr/>
          </p:nvSpPr>
          <p:spPr>
            <a:xfrm>
              <a:off x="2840079" y="1475649"/>
              <a:ext cx="318135" cy="58419"/>
            </a:xfrm>
            <a:custGeom>
              <a:avLst/>
              <a:gdLst/>
              <a:ahLst/>
              <a:cxnLst/>
              <a:rect l="l" t="t" r="r" b="b"/>
              <a:pathLst>
                <a:path w="318135" h="58419">
                  <a:moveTo>
                    <a:pt x="229689" y="0"/>
                  </a:moveTo>
                  <a:lnTo>
                    <a:pt x="257804" y="30017"/>
                  </a:lnTo>
                  <a:lnTo>
                    <a:pt x="229689" y="58415"/>
                  </a:lnTo>
                  <a:lnTo>
                    <a:pt x="296501" y="36932"/>
                  </a:lnTo>
                  <a:lnTo>
                    <a:pt x="261484" y="36932"/>
                  </a:lnTo>
                  <a:lnTo>
                    <a:pt x="263251" y="35167"/>
                  </a:lnTo>
                  <a:lnTo>
                    <a:pt x="265017" y="31929"/>
                  </a:lnTo>
                  <a:lnTo>
                    <a:pt x="265017" y="26485"/>
                  </a:lnTo>
                  <a:lnTo>
                    <a:pt x="263251" y="24572"/>
                  </a:lnTo>
                  <a:lnTo>
                    <a:pt x="261484" y="22807"/>
                  </a:lnTo>
                  <a:lnTo>
                    <a:pt x="296795" y="22807"/>
                  </a:lnTo>
                  <a:lnTo>
                    <a:pt x="229689" y="0"/>
                  </a:lnTo>
                  <a:close/>
                </a:path>
                <a:path w="318135" h="58419">
                  <a:moveTo>
                    <a:pt x="251051" y="22807"/>
                  </a:moveTo>
                  <a:lnTo>
                    <a:pt x="5107" y="22807"/>
                  </a:lnTo>
                  <a:lnTo>
                    <a:pt x="3282" y="24572"/>
                  </a:lnTo>
                  <a:lnTo>
                    <a:pt x="1457" y="26485"/>
                  </a:lnTo>
                  <a:lnTo>
                    <a:pt x="0" y="30017"/>
                  </a:lnTo>
                  <a:lnTo>
                    <a:pt x="1457" y="31929"/>
                  </a:lnTo>
                  <a:lnTo>
                    <a:pt x="3282" y="35167"/>
                  </a:lnTo>
                  <a:lnTo>
                    <a:pt x="5107" y="36932"/>
                  </a:lnTo>
                  <a:lnTo>
                    <a:pt x="250958" y="36932"/>
                  </a:lnTo>
                  <a:lnTo>
                    <a:pt x="257804" y="30017"/>
                  </a:lnTo>
                  <a:lnTo>
                    <a:pt x="251051" y="22807"/>
                  </a:lnTo>
                  <a:close/>
                </a:path>
                <a:path w="318135" h="58419">
                  <a:moveTo>
                    <a:pt x="296795" y="22807"/>
                  </a:moveTo>
                  <a:lnTo>
                    <a:pt x="261484" y="22807"/>
                  </a:lnTo>
                  <a:lnTo>
                    <a:pt x="263251" y="24572"/>
                  </a:lnTo>
                  <a:lnTo>
                    <a:pt x="265017" y="26485"/>
                  </a:lnTo>
                  <a:lnTo>
                    <a:pt x="265017" y="31929"/>
                  </a:lnTo>
                  <a:lnTo>
                    <a:pt x="263251" y="35167"/>
                  </a:lnTo>
                  <a:lnTo>
                    <a:pt x="261484" y="36932"/>
                  </a:lnTo>
                  <a:lnTo>
                    <a:pt x="296501" y="36932"/>
                  </a:lnTo>
                  <a:lnTo>
                    <a:pt x="318009" y="30017"/>
                  </a:lnTo>
                  <a:lnTo>
                    <a:pt x="296795" y="22807"/>
                  </a:lnTo>
                  <a:close/>
                </a:path>
              </a:pathLst>
            </a:custGeom>
            <a:solidFill>
              <a:srgbClr val="000000"/>
            </a:solidFill>
          </p:spPr>
          <p:txBody>
            <a:bodyPr wrap="square" lIns="0" tIns="0" rIns="0" bIns="0" rtlCol="0"/>
            <a:lstStyle/>
            <a:p/>
          </p:txBody>
        </p:sp>
        <p:sp>
          <p:nvSpPr>
            <p:cNvPr id="61" name="object 61" descr=""/>
            <p:cNvSpPr/>
            <p:nvPr/>
          </p:nvSpPr>
          <p:spPr>
            <a:xfrm>
              <a:off x="2840079" y="1475649"/>
              <a:ext cx="318135" cy="58419"/>
            </a:xfrm>
            <a:custGeom>
              <a:avLst/>
              <a:gdLst/>
              <a:ahLst/>
              <a:cxnLst/>
              <a:rect l="l" t="t" r="r" b="b"/>
              <a:pathLst>
                <a:path w="318135" h="58419">
                  <a:moveTo>
                    <a:pt x="8758" y="22807"/>
                  </a:moveTo>
                  <a:lnTo>
                    <a:pt x="257804" y="22807"/>
                  </a:lnTo>
                  <a:lnTo>
                    <a:pt x="261484" y="22807"/>
                  </a:lnTo>
                  <a:lnTo>
                    <a:pt x="263251" y="24572"/>
                  </a:lnTo>
                  <a:lnTo>
                    <a:pt x="265017" y="26485"/>
                  </a:lnTo>
                  <a:lnTo>
                    <a:pt x="265017" y="30017"/>
                  </a:lnTo>
                  <a:lnTo>
                    <a:pt x="265017" y="31929"/>
                  </a:lnTo>
                  <a:lnTo>
                    <a:pt x="263251" y="35167"/>
                  </a:lnTo>
                  <a:lnTo>
                    <a:pt x="261484" y="36932"/>
                  </a:lnTo>
                  <a:lnTo>
                    <a:pt x="257804" y="36932"/>
                  </a:lnTo>
                  <a:lnTo>
                    <a:pt x="8758" y="36932"/>
                  </a:lnTo>
                  <a:lnTo>
                    <a:pt x="5107" y="36932"/>
                  </a:lnTo>
                  <a:lnTo>
                    <a:pt x="3282" y="35167"/>
                  </a:lnTo>
                  <a:lnTo>
                    <a:pt x="1457" y="31929"/>
                  </a:lnTo>
                  <a:lnTo>
                    <a:pt x="0" y="30017"/>
                  </a:lnTo>
                  <a:lnTo>
                    <a:pt x="1457" y="26485"/>
                  </a:lnTo>
                  <a:lnTo>
                    <a:pt x="3282" y="24572"/>
                  </a:lnTo>
                  <a:lnTo>
                    <a:pt x="5107" y="22807"/>
                  </a:lnTo>
                  <a:lnTo>
                    <a:pt x="8758" y="22807"/>
                  </a:lnTo>
                  <a:close/>
                </a:path>
                <a:path w="318135" h="58419">
                  <a:moveTo>
                    <a:pt x="257804" y="30017"/>
                  </a:moveTo>
                  <a:lnTo>
                    <a:pt x="229689" y="0"/>
                  </a:lnTo>
                  <a:lnTo>
                    <a:pt x="318009" y="30017"/>
                  </a:lnTo>
                  <a:lnTo>
                    <a:pt x="229689" y="58415"/>
                  </a:lnTo>
                  <a:lnTo>
                    <a:pt x="257804" y="30017"/>
                  </a:lnTo>
                  <a:close/>
                </a:path>
              </a:pathLst>
            </a:custGeom>
            <a:ln w="3175">
              <a:solidFill>
                <a:srgbClr val="000000"/>
              </a:solidFill>
            </a:ln>
          </p:spPr>
          <p:txBody>
            <a:bodyPr wrap="square" lIns="0" tIns="0" rIns="0" bIns="0" rtlCol="0"/>
            <a:lstStyle/>
            <a:p/>
          </p:txBody>
        </p:sp>
      </p:grpSp>
      <p:grpSp>
        <p:nvGrpSpPr>
          <p:cNvPr id="62" name="object 62" descr=""/>
          <p:cNvGrpSpPr/>
          <p:nvPr/>
        </p:nvGrpSpPr>
        <p:grpSpPr>
          <a:xfrm>
            <a:off x="2847807" y="1953716"/>
            <a:ext cx="311785" cy="62230"/>
            <a:chOff x="2847807" y="1953716"/>
            <a:chExt cx="311785" cy="62230"/>
          </a:xfrm>
        </p:grpSpPr>
        <p:sp>
          <p:nvSpPr>
            <p:cNvPr id="63" name="object 63" descr=""/>
            <p:cNvSpPr/>
            <p:nvPr/>
          </p:nvSpPr>
          <p:spPr>
            <a:xfrm>
              <a:off x="2848838" y="1954746"/>
              <a:ext cx="309245" cy="60325"/>
            </a:xfrm>
            <a:custGeom>
              <a:avLst/>
              <a:gdLst/>
              <a:ahLst/>
              <a:cxnLst/>
              <a:rect l="l" t="t" r="r" b="b"/>
              <a:pathLst>
                <a:path w="309244" h="60325">
                  <a:moveTo>
                    <a:pt x="88231" y="0"/>
                  </a:moveTo>
                  <a:lnTo>
                    <a:pt x="0" y="30164"/>
                  </a:lnTo>
                  <a:lnTo>
                    <a:pt x="88231" y="59887"/>
                  </a:lnTo>
                  <a:lnTo>
                    <a:pt x="65291" y="37079"/>
                  </a:lnTo>
                  <a:lnTo>
                    <a:pt x="54684" y="37079"/>
                  </a:lnTo>
                  <a:lnTo>
                    <a:pt x="52859" y="35314"/>
                  </a:lnTo>
                  <a:lnTo>
                    <a:pt x="51033" y="33401"/>
                  </a:lnTo>
                  <a:lnTo>
                    <a:pt x="51033" y="26485"/>
                  </a:lnTo>
                  <a:lnTo>
                    <a:pt x="54684" y="22954"/>
                  </a:lnTo>
                  <a:lnTo>
                    <a:pt x="65480" y="22954"/>
                  </a:lnTo>
                  <a:lnTo>
                    <a:pt x="88231" y="0"/>
                  </a:lnTo>
                  <a:close/>
                </a:path>
                <a:path w="309244" h="60325">
                  <a:moveTo>
                    <a:pt x="220931" y="0"/>
                  </a:moveTo>
                  <a:lnTo>
                    <a:pt x="249046" y="30164"/>
                  </a:lnTo>
                  <a:lnTo>
                    <a:pt x="220931" y="59887"/>
                  </a:lnTo>
                  <a:lnTo>
                    <a:pt x="288701" y="37079"/>
                  </a:lnTo>
                  <a:lnTo>
                    <a:pt x="252726" y="37079"/>
                  </a:lnTo>
                  <a:lnTo>
                    <a:pt x="254492" y="35314"/>
                  </a:lnTo>
                  <a:lnTo>
                    <a:pt x="256259" y="33401"/>
                  </a:lnTo>
                  <a:lnTo>
                    <a:pt x="256259" y="26485"/>
                  </a:lnTo>
                  <a:lnTo>
                    <a:pt x="252726" y="22954"/>
                  </a:lnTo>
                  <a:lnTo>
                    <a:pt x="288140" y="22954"/>
                  </a:lnTo>
                  <a:lnTo>
                    <a:pt x="220931" y="0"/>
                  </a:lnTo>
                  <a:close/>
                </a:path>
                <a:path w="309244" h="60325">
                  <a:moveTo>
                    <a:pt x="65480" y="22954"/>
                  </a:moveTo>
                  <a:lnTo>
                    <a:pt x="54684" y="22954"/>
                  </a:lnTo>
                  <a:lnTo>
                    <a:pt x="51033" y="26485"/>
                  </a:lnTo>
                  <a:lnTo>
                    <a:pt x="51033" y="33401"/>
                  </a:lnTo>
                  <a:lnTo>
                    <a:pt x="52859" y="35314"/>
                  </a:lnTo>
                  <a:lnTo>
                    <a:pt x="54684" y="37079"/>
                  </a:lnTo>
                  <a:lnTo>
                    <a:pt x="65291" y="37079"/>
                  </a:lnTo>
                  <a:lnTo>
                    <a:pt x="58335" y="30164"/>
                  </a:lnTo>
                  <a:lnTo>
                    <a:pt x="65480" y="22954"/>
                  </a:lnTo>
                  <a:close/>
                </a:path>
                <a:path w="309244" h="60325">
                  <a:moveTo>
                    <a:pt x="242326" y="22954"/>
                  </a:moveTo>
                  <a:lnTo>
                    <a:pt x="65480" y="22954"/>
                  </a:lnTo>
                  <a:lnTo>
                    <a:pt x="58335" y="30164"/>
                  </a:lnTo>
                  <a:lnTo>
                    <a:pt x="65291" y="37079"/>
                  </a:lnTo>
                  <a:lnTo>
                    <a:pt x="242504" y="37079"/>
                  </a:lnTo>
                  <a:lnTo>
                    <a:pt x="249046" y="30164"/>
                  </a:lnTo>
                  <a:lnTo>
                    <a:pt x="242326" y="22954"/>
                  </a:lnTo>
                  <a:close/>
                </a:path>
                <a:path w="309244" h="60325">
                  <a:moveTo>
                    <a:pt x="288140" y="22954"/>
                  </a:moveTo>
                  <a:lnTo>
                    <a:pt x="252726" y="22954"/>
                  </a:lnTo>
                  <a:lnTo>
                    <a:pt x="256259" y="26485"/>
                  </a:lnTo>
                  <a:lnTo>
                    <a:pt x="256259" y="33401"/>
                  </a:lnTo>
                  <a:lnTo>
                    <a:pt x="254492" y="35314"/>
                  </a:lnTo>
                  <a:lnTo>
                    <a:pt x="252726" y="37079"/>
                  </a:lnTo>
                  <a:lnTo>
                    <a:pt x="288701" y="37079"/>
                  </a:lnTo>
                  <a:lnTo>
                    <a:pt x="309251" y="30164"/>
                  </a:lnTo>
                  <a:lnTo>
                    <a:pt x="288140" y="22954"/>
                  </a:lnTo>
                  <a:close/>
                </a:path>
              </a:pathLst>
            </a:custGeom>
            <a:solidFill>
              <a:srgbClr val="000000"/>
            </a:solidFill>
          </p:spPr>
          <p:txBody>
            <a:bodyPr wrap="square" lIns="0" tIns="0" rIns="0" bIns="0" rtlCol="0"/>
            <a:lstStyle/>
            <a:p/>
          </p:txBody>
        </p:sp>
        <p:sp>
          <p:nvSpPr>
            <p:cNvPr id="64" name="object 64" descr=""/>
            <p:cNvSpPr/>
            <p:nvPr/>
          </p:nvSpPr>
          <p:spPr>
            <a:xfrm>
              <a:off x="2848838" y="1954746"/>
              <a:ext cx="309245" cy="60325"/>
            </a:xfrm>
            <a:custGeom>
              <a:avLst/>
              <a:gdLst/>
              <a:ahLst/>
              <a:cxnLst/>
              <a:rect l="l" t="t" r="r" b="b"/>
              <a:pathLst>
                <a:path w="309244" h="60325">
                  <a:moveTo>
                    <a:pt x="58335" y="22954"/>
                  </a:moveTo>
                  <a:lnTo>
                    <a:pt x="249046" y="22954"/>
                  </a:lnTo>
                  <a:lnTo>
                    <a:pt x="252726" y="22954"/>
                  </a:lnTo>
                  <a:lnTo>
                    <a:pt x="254492" y="24719"/>
                  </a:lnTo>
                  <a:lnTo>
                    <a:pt x="256259" y="26485"/>
                  </a:lnTo>
                  <a:lnTo>
                    <a:pt x="256259" y="30164"/>
                  </a:lnTo>
                  <a:lnTo>
                    <a:pt x="256259" y="33401"/>
                  </a:lnTo>
                  <a:lnTo>
                    <a:pt x="254492" y="35314"/>
                  </a:lnTo>
                  <a:lnTo>
                    <a:pt x="252726" y="37079"/>
                  </a:lnTo>
                  <a:lnTo>
                    <a:pt x="249046" y="37079"/>
                  </a:lnTo>
                  <a:lnTo>
                    <a:pt x="58335" y="37079"/>
                  </a:lnTo>
                  <a:lnTo>
                    <a:pt x="54684" y="37079"/>
                  </a:lnTo>
                  <a:lnTo>
                    <a:pt x="52859" y="35314"/>
                  </a:lnTo>
                  <a:lnTo>
                    <a:pt x="51033" y="33401"/>
                  </a:lnTo>
                  <a:lnTo>
                    <a:pt x="51033" y="30164"/>
                  </a:lnTo>
                  <a:lnTo>
                    <a:pt x="51033" y="26485"/>
                  </a:lnTo>
                  <a:lnTo>
                    <a:pt x="52859" y="24719"/>
                  </a:lnTo>
                  <a:lnTo>
                    <a:pt x="54684" y="22954"/>
                  </a:lnTo>
                  <a:lnTo>
                    <a:pt x="58335" y="22954"/>
                  </a:lnTo>
                  <a:close/>
                </a:path>
                <a:path w="309244" h="60325">
                  <a:moveTo>
                    <a:pt x="58335" y="30164"/>
                  </a:moveTo>
                  <a:lnTo>
                    <a:pt x="88231" y="59887"/>
                  </a:lnTo>
                  <a:lnTo>
                    <a:pt x="0" y="30164"/>
                  </a:lnTo>
                  <a:lnTo>
                    <a:pt x="88231" y="0"/>
                  </a:lnTo>
                  <a:lnTo>
                    <a:pt x="58335" y="30164"/>
                  </a:lnTo>
                  <a:close/>
                </a:path>
                <a:path w="309244" h="60325">
                  <a:moveTo>
                    <a:pt x="249046" y="30164"/>
                  </a:moveTo>
                  <a:lnTo>
                    <a:pt x="220931" y="0"/>
                  </a:lnTo>
                  <a:lnTo>
                    <a:pt x="309251" y="30164"/>
                  </a:lnTo>
                  <a:lnTo>
                    <a:pt x="220931" y="59887"/>
                  </a:lnTo>
                  <a:lnTo>
                    <a:pt x="249046" y="30164"/>
                  </a:lnTo>
                  <a:close/>
                </a:path>
              </a:pathLst>
            </a:custGeom>
            <a:ln w="3175">
              <a:solidFill>
                <a:srgbClr val="000000"/>
              </a:solidFill>
            </a:ln>
          </p:spPr>
          <p:txBody>
            <a:bodyPr wrap="square" lIns="0" tIns="0" rIns="0" bIns="0" rtlCol="0"/>
            <a:lstStyle/>
            <a:p/>
          </p:txBody>
        </p:sp>
      </p:grpSp>
      <p:sp>
        <p:nvSpPr>
          <p:cNvPr id="65" name="object 65" descr=""/>
          <p:cNvSpPr txBox="1"/>
          <p:nvPr/>
        </p:nvSpPr>
        <p:spPr>
          <a:xfrm>
            <a:off x="3155881" y="1298474"/>
            <a:ext cx="927735" cy="912494"/>
          </a:xfrm>
          <a:prstGeom prst="rect">
            <a:avLst/>
          </a:prstGeom>
        </p:spPr>
        <p:txBody>
          <a:bodyPr wrap="square" lIns="0" tIns="34290" rIns="0" bIns="0" rtlCol="0" vert="horz">
            <a:spAutoFit/>
          </a:bodyPr>
          <a:lstStyle/>
          <a:p>
            <a:pPr marL="229235">
              <a:lnSpc>
                <a:spcPct val="100000"/>
              </a:lnSpc>
              <a:spcBef>
                <a:spcPts val="270"/>
              </a:spcBef>
            </a:pPr>
            <a:r>
              <a:rPr dirty="0" sz="1050" spc="-10">
                <a:latin typeface="宋体"/>
                <a:cs typeface="宋体"/>
              </a:rPr>
              <a:t>V</a:t>
            </a:r>
            <a:r>
              <a:rPr dirty="0" sz="1050" spc="-120">
                <a:latin typeface="宋体"/>
                <a:cs typeface="宋体"/>
              </a:rPr>
              <a:t> 寄存器</a:t>
            </a:r>
            <a:endParaRPr sz="1050">
              <a:latin typeface="宋体"/>
              <a:cs typeface="宋体"/>
            </a:endParaRPr>
          </a:p>
          <a:p>
            <a:pPr marL="59690" marR="29845" indent="91440">
              <a:lnSpc>
                <a:spcPct val="104900"/>
              </a:lnSpc>
              <a:spcBef>
                <a:spcPts val="100"/>
              </a:spcBef>
            </a:pPr>
            <a:r>
              <a:rPr dirty="0" sz="1050" spc="-10">
                <a:latin typeface="宋体"/>
                <a:cs typeface="宋体"/>
              </a:rPr>
              <a:t>8</a:t>
            </a:r>
            <a:r>
              <a:rPr dirty="0" sz="1050" spc="-80">
                <a:latin typeface="宋体"/>
                <a:cs typeface="宋体"/>
              </a:rPr>
              <a:t> 个寄存器</a:t>
            </a:r>
            <a:r>
              <a:rPr dirty="0" sz="1050" spc="-105">
                <a:latin typeface="宋体"/>
                <a:cs typeface="宋体"/>
              </a:rPr>
              <a:t>每个 </a:t>
            </a:r>
            <a:r>
              <a:rPr dirty="0" sz="1050">
                <a:latin typeface="宋体"/>
                <a:cs typeface="宋体"/>
              </a:rPr>
              <a:t>V</a:t>
            </a:r>
            <a:r>
              <a:rPr dirty="0" sz="1050" spc="-45">
                <a:latin typeface="宋体"/>
                <a:cs typeface="宋体"/>
              </a:rPr>
              <a:t> 寄存器</a:t>
            </a:r>
            <a:r>
              <a:rPr dirty="0" sz="1050" spc="140">
                <a:latin typeface="宋体"/>
                <a:cs typeface="宋体"/>
              </a:rPr>
              <a:t>有</a:t>
            </a:r>
            <a:r>
              <a:rPr dirty="0" sz="1050" spc="-10">
                <a:latin typeface="宋体"/>
                <a:cs typeface="宋体"/>
              </a:rPr>
              <a:t>64</a:t>
            </a:r>
            <a:r>
              <a:rPr dirty="0" sz="1050" spc="-110">
                <a:latin typeface="宋体"/>
                <a:cs typeface="宋体"/>
              </a:rPr>
              <a:t> 个</a:t>
            </a:r>
            <a:r>
              <a:rPr dirty="0" sz="1050" spc="-10">
                <a:latin typeface="宋体"/>
                <a:cs typeface="宋体"/>
              </a:rPr>
              <a:t>64</a:t>
            </a:r>
            <a:r>
              <a:rPr dirty="0" sz="1050" spc="-204">
                <a:latin typeface="宋体"/>
                <a:cs typeface="宋体"/>
              </a:rPr>
              <a:t> 位</a:t>
            </a:r>
            <a:r>
              <a:rPr dirty="0" sz="1050" spc="-35">
                <a:latin typeface="宋体"/>
                <a:cs typeface="宋体"/>
              </a:rPr>
              <a:t>分量寄存器</a:t>
            </a:r>
            <a:endParaRPr sz="1050">
              <a:latin typeface="宋体"/>
              <a:cs typeface="宋体"/>
            </a:endParaRPr>
          </a:p>
        </p:txBody>
      </p:sp>
      <p:sp>
        <p:nvSpPr>
          <p:cNvPr id="66" name="object 66" descr=""/>
          <p:cNvSpPr/>
          <p:nvPr/>
        </p:nvSpPr>
        <p:spPr>
          <a:xfrm>
            <a:off x="7065936" y="1321296"/>
            <a:ext cx="201930" cy="2466975"/>
          </a:xfrm>
          <a:custGeom>
            <a:avLst/>
            <a:gdLst/>
            <a:ahLst/>
            <a:cxnLst/>
            <a:rect l="l" t="t" r="r" b="b"/>
            <a:pathLst>
              <a:path w="201929" h="2466975">
                <a:moveTo>
                  <a:pt x="0" y="889478"/>
                </a:moveTo>
                <a:lnTo>
                  <a:pt x="30323" y="912285"/>
                </a:lnTo>
                <a:lnTo>
                  <a:pt x="35475" y="919495"/>
                </a:lnTo>
                <a:lnTo>
                  <a:pt x="39007" y="928323"/>
                </a:lnTo>
                <a:lnTo>
                  <a:pt x="42393" y="937005"/>
                </a:lnTo>
                <a:lnTo>
                  <a:pt x="46073" y="947893"/>
                </a:lnTo>
                <a:lnTo>
                  <a:pt x="47839" y="958340"/>
                </a:lnTo>
                <a:lnTo>
                  <a:pt x="51519" y="970700"/>
                </a:lnTo>
                <a:lnTo>
                  <a:pt x="53286" y="981295"/>
                </a:lnTo>
                <a:lnTo>
                  <a:pt x="53286" y="995420"/>
                </a:lnTo>
                <a:lnTo>
                  <a:pt x="54758" y="1007780"/>
                </a:lnTo>
                <a:lnTo>
                  <a:pt x="54758" y="1021906"/>
                </a:lnTo>
                <a:lnTo>
                  <a:pt x="54758" y="1547206"/>
                </a:lnTo>
                <a:lnTo>
                  <a:pt x="54758" y="1559566"/>
                </a:lnTo>
                <a:lnTo>
                  <a:pt x="56524" y="1573691"/>
                </a:lnTo>
                <a:lnTo>
                  <a:pt x="56524" y="1586051"/>
                </a:lnTo>
                <a:lnTo>
                  <a:pt x="58438" y="1598411"/>
                </a:lnTo>
                <a:lnTo>
                  <a:pt x="62118" y="1609006"/>
                </a:lnTo>
                <a:lnTo>
                  <a:pt x="63884" y="1619453"/>
                </a:lnTo>
                <a:lnTo>
                  <a:pt x="67122" y="1630341"/>
                </a:lnTo>
                <a:lnTo>
                  <a:pt x="70802" y="1639023"/>
                </a:lnTo>
                <a:lnTo>
                  <a:pt x="74482" y="1647851"/>
                </a:lnTo>
                <a:lnTo>
                  <a:pt x="77721" y="1655061"/>
                </a:lnTo>
                <a:lnTo>
                  <a:pt x="83167" y="1661977"/>
                </a:lnTo>
                <a:lnTo>
                  <a:pt x="88319" y="1667421"/>
                </a:lnTo>
                <a:lnTo>
                  <a:pt x="91999" y="1672424"/>
                </a:lnTo>
                <a:lnTo>
                  <a:pt x="97445" y="1674337"/>
                </a:lnTo>
                <a:lnTo>
                  <a:pt x="102450" y="1677869"/>
                </a:lnTo>
                <a:lnTo>
                  <a:pt x="109810" y="1677869"/>
                </a:lnTo>
                <a:lnTo>
                  <a:pt x="102450" y="1677869"/>
                </a:lnTo>
                <a:lnTo>
                  <a:pt x="97445" y="1679781"/>
                </a:lnTo>
                <a:lnTo>
                  <a:pt x="91999" y="1683313"/>
                </a:lnTo>
                <a:lnTo>
                  <a:pt x="88319" y="1688463"/>
                </a:lnTo>
                <a:lnTo>
                  <a:pt x="83167" y="1693907"/>
                </a:lnTo>
                <a:lnTo>
                  <a:pt x="63884" y="1736431"/>
                </a:lnTo>
                <a:lnTo>
                  <a:pt x="62118" y="1746878"/>
                </a:lnTo>
                <a:lnTo>
                  <a:pt x="58438" y="1757473"/>
                </a:lnTo>
                <a:lnTo>
                  <a:pt x="56524" y="1769833"/>
                </a:lnTo>
                <a:lnTo>
                  <a:pt x="56524" y="1782046"/>
                </a:lnTo>
                <a:lnTo>
                  <a:pt x="54758" y="1796318"/>
                </a:lnTo>
                <a:lnTo>
                  <a:pt x="54758" y="1808973"/>
                </a:lnTo>
                <a:lnTo>
                  <a:pt x="54758" y="2333978"/>
                </a:lnTo>
                <a:lnTo>
                  <a:pt x="54758" y="2348104"/>
                </a:lnTo>
                <a:lnTo>
                  <a:pt x="53286" y="2360464"/>
                </a:lnTo>
                <a:lnTo>
                  <a:pt x="53286" y="2372824"/>
                </a:lnTo>
                <a:lnTo>
                  <a:pt x="51519" y="2385037"/>
                </a:lnTo>
                <a:lnTo>
                  <a:pt x="47839" y="2397397"/>
                </a:lnTo>
                <a:lnTo>
                  <a:pt x="46073" y="2408285"/>
                </a:lnTo>
                <a:lnTo>
                  <a:pt x="42393" y="2417114"/>
                </a:lnTo>
                <a:lnTo>
                  <a:pt x="39007" y="2427561"/>
                </a:lnTo>
                <a:lnTo>
                  <a:pt x="35475" y="2436684"/>
                </a:lnTo>
                <a:lnTo>
                  <a:pt x="30323" y="2443600"/>
                </a:lnTo>
                <a:lnTo>
                  <a:pt x="26643" y="2450515"/>
                </a:lnTo>
                <a:lnTo>
                  <a:pt x="21196" y="2455960"/>
                </a:lnTo>
                <a:lnTo>
                  <a:pt x="16044" y="2459491"/>
                </a:lnTo>
                <a:lnTo>
                  <a:pt x="10598" y="2463170"/>
                </a:lnTo>
                <a:lnTo>
                  <a:pt x="5593" y="2464641"/>
                </a:lnTo>
                <a:lnTo>
                  <a:pt x="0" y="2466407"/>
                </a:lnTo>
              </a:path>
              <a:path w="201929" h="2466975">
                <a:moveTo>
                  <a:pt x="123647" y="0"/>
                </a:moveTo>
                <a:lnTo>
                  <a:pt x="129093" y="0"/>
                </a:lnTo>
                <a:lnTo>
                  <a:pt x="132773" y="1765"/>
                </a:lnTo>
                <a:lnTo>
                  <a:pt x="136012" y="5444"/>
                </a:lnTo>
                <a:lnTo>
                  <a:pt x="139692" y="8681"/>
                </a:lnTo>
                <a:lnTo>
                  <a:pt x="143372" y="14125"/>
                </a:lnTo>
                <a:lnTo>
                  <a:pt x="146610" y="21482"/>
                </a:lnTo>
                <a:lnTo>
                  <a:pt x="148524" y="28251"/>
                </a:lnTo>
                <a:lnTo>
                  <a:pt x="152056" y="37079"/>
                </a:lnTo>
                <a:lnTo>
                  <a:pt x="153970" y="46055"/>
                </a:lnTo>
                <a:lnTo>
                  <a:pt x="155736" y="56649"/>
                </a:lnTo>
                <a:lnTo>
                  <a:pt x="158975" y="67097"/>
                </a:lnTo>
                <a:lnTo>
                  <a:pt x="158975" y="77691"/>
                </a:lnTo>
                <a:lnTo>
                  <a:pt x="160888" y="90051"/>
                </a:lnTo>
                <a:lnTo>
                  <a:pt x="162655" y="102705"/>
                </a:lnTo>
                <a:lnTo>
                  <a:pt x="162655" y="115065"/>
                </a:lnTo>
                <a:lnTo>
                  <a:pt x="162655" y="129191"/>
                </a:lnTo>
                <a:lnTo>
                  <a:pt x="162655" y="647281"/>
                </a:lnTo>
                <a:lnTo>
                  <a:pt x="162655" y="659641"/>
                </a:lnTo>
                <a:lnTo>
                  <a:pt x="164568" y="672001"/>
                </a:lnTo>
                <a:lnTo>
                  <a:pt x="164568" y="684361"/>
                </a:lnTo>
                <a:lnTo>
                  <a:pt x="166335" y="696721"/>
                </a:lnTo>
                <a:lnTo>
                  <a:pt x="168101" y="707168"/>
                </a:lnTo>
                <a:lnTo>
                  <a:pt x="169573" y="717762"/>
                </a:lnTo>
                <a:lnTo>
                  <a:pt x="171487" y="728651"/>
                </a:lnTo>
                <a:lnTo>
                  <a:pt x="175019" y="737332"/>
                </a:lnTo>
                <a:lnTo>
                  <a:pt x="176933" y="746013"/>
                </a:lnTo>
                <a:lnTo>
                  <a:pt x="201663" y="776178"/>
                </a:lnTo>
                <a:lnTo>
                  <a:pt x="197983" y="776178"/>
                </a:lnTo>
                <a:lnTo>
                  <a:pt x="194450" y="777943"/>
                </a:lnTo>
                <a:lnTo>
                  <a:pt x="191064" y="781622"/>
                </a:lnTo>
                <a:lnTo>
                  <a:pt x="187531" y="785300"/>
                </a:lnTo>
                <a:lnTo>
                  <a:pt x="183851" y="790303"/>
                </a:lnTo>
                <a:lnTo>
                  <a:pt x="180171" y="797513"/>
                </a:lnTo>
                <a:lnTo>
                  <a:pt x="176933" y="804429"/>
                </a:lnTo>
                <a:lnTo>
                  <a:pt x="175019" y="813110"/>
                </a:lnTo>
                <a:lnTo>
                  <a:pt x="171487" y="822233"/>
                </a:lnTo>
                <a:lnTo>
                  <a:pt x="169573" y="832828"/>
                </a:lnTo>
                <a:lnTo>
                  <a:pt x="168101" y="843275"/>
                </a:lnTo>
                <a:lnTo>
                  <a:pt x="166335" y="853869"/>
                </a:lnTo>
                <a:lnTo>
                  <a:pt x="164568" y="866523"/>
                </a:lnTo>
                <a:lnTo>
                  <a:pt x="164568" y="878883"/>
                </a:lnTo>
                <a:lnTo>
                  <a:pt x="162655" y="891243"/>
                </a:lnTo>
                <a:lnTo>
                  <a:pt x="162655" y="905369"/>
                </a:lnTo>
                <a:lnTo>
                  <a:pt x="162655" y="1423459"/>
                </a:lnTo>
                <a:lnTo>
                  <a:pt x="162655" y="1435819"/>
                </a:lnTo>
                <a:lnTo>
                  <a:pt x="162655" y="1448179"/>
                </a:lnTo>
                <a:lnTo>
                  <a:pt x="160888" y="1460392"/>
                </a:lnTo>
                <a:lnTo>
                  <a:pt x="158975" y="1472752"/>
                </a:lnTo>
                <a:lnTo>
                  <a:pt x="158975" y="1483346"/>
                </a:lnTo>
                <a:lnTo>
                  <a:pt x="155736" y="1495706"/>
                </a:lnTo>
                <a:lnTo>
                  <a:pt x="153970" y="1504681"/>
                </a:lnTo>
                <a:lnTo>
                  <a:pt x="152056" y="1513510"/>
                </a:lnTo>
                <a:lnTo>
                  <a:pt x="148524" y="1522486"/>
                </a:lnTo>
                <a:lnTo>
                  <a:pt x="146610" y="1529401"/>
                </a:lnTo>
                <a:lnTo>
                  <a:pt x="143372" y="1536317"/>
                </a:lnTo>
                <a:lnTo>
                  <a:pt x="139692" y="1541761"/>
                </a:lnTo>
                <a:lnTo>
                  <a:pt x="136012" y="1545440"/>
                </a:lnTo>
                <a:lnTo>
                  <a:pt x="132773" y="1548971"/>
                </a:lnTo>
                <a:lnTo>
                  <a:pt x="129093" y="1550443"/>
                </a:lnTo>
                <a:lnTo>
                  <a:pt x="123647" y="1552356"/>
                </a:lnTo>
              </a:path>
            </a:pathLst>
          </a:custGeom>
          <a:ln w="10571">
            <a:solidFill>
              <a:srgbClr val="000000"/>
            </a:solidFill>
          </a:ln>
        </p:spPr>
        <p:txBody>
          <a:bodyPr wrap="square" lIns="0" tIns="0" rIns="0" bIns="0" rtlCol="0"/>
          <a:lstStyle/>
          <a:p/>
        </p:txBody>
      </p:sp>
      <p:sp>
        <p:nvSpPr>
          <p:cNvPr id="67" name="object 67" descr=""/>
          <p:cNvSpPr txBox="1"/>
          <p:nvPr/>
        </p:nvSpPr>
        <p:spPr>
          <a:xfrm>
            <a:off x="7268736" y="1983669"/>
            <a:ext cx="557530" cy="185420"/>
          </a:xfrm>
          <a:prstGeom prst="rect">
            <a:avLst/>
          </a:prstGeom>
        </p:spPr>
        <p:txBody>
          <a:bodyPr wrap="square" lIns="0" tIns="12065" rIns="0" bIns="0" rtlCol="0" vert="horz">
            <a:spAutoFit/>
          </a:bodyPr>
          <a:lstStyle/>
          <a:p>
            <a:pPr marL="12700">
              <a:lnSpc>
                <a:spcPct val="100000"/>
              </a:lnSpc>
              <a:spcBef>
                <a:spcPts val="95"/>
              </a:spcBef>
            </a:pPr>
            <a:r>
              <a:rPr dirty="0" sz="1050" spc="-35" b="1">
                <a:solidFill>
                  <a:srgbClr val="FF6600"/>
                </a:solidFill>
                <a:latin typeface="宋体"/>
                <a:cs typeface="宋体"/>
              </a:rPr>
              <a:t>向量部分</a:t>
            </a:r>
            <a:endParaRPr sz="1050">
              <a:latin typeface="宋体"/>
              <a:cs typeface="宋体"/>
            </a:endParaRPr>
          </a:p>
        </p:txBody>
      </p:sp>
      <p:sp>
        <p:nvSpPr>
          <p:cNvPr id="68" name="object 68" descr=""/>
          <p:cNvSpPr txBox="1"/>
          <p:nvPr/>
        </p:nvSpPr>
        <p:spPr>
          <a:xfrm>
            <a:off x="5938536" y="1298371"/>
            <a:ext cx="1136015" cy="661670"/>
          </a:xfrm>
          <a:prstGeom prst="rect">
            <a:avLst/>
          </a:prstGeom>
        </p:spPr>
        <p:txBody>
          <a:bodyPr wrap="square" lIns="0" tIns="2540" rIns="0" bIns="0" rtlCol="0" vert="horz">
            <a:spAutoFit/>
          </a:bodyPr>
          <a:lstStyle/>
          <a:p>
            <a:pPr marL="183515" marR="88900" indent="-32384">
              <a:lnSpc>
                <a:spcPts val="1610"/>
              </a:lnSpc>
              <a:spcBef>
                <a:spcPts val="20"/>
              </a:spcBef>
            </a:pPr>
            <a:r>
              <a:rPr dirty="0" sz="1050" spc="-35">
                <a:latin typeface="宋体"/>
                <a:cs typeface="宋体"/>
              </a:rPr>
              <a:t>向量功能部件</a:t>
            </a:r>
            <a:r>
              <a:rPr dirty="0" sz="1050" spc="-60">
                <a:latin typeface="宋体"/>
                <a:cs typeface="宋体"/>
              </a:rPr>
              <a:t>加/减、移位、</a:t>
            </a:r>
            <a:endParaRPr sz="1050">
              <a:latin typeface="宋体"/>
              <a:cs typeface="宋体"/>
            </a:endParaRPr>
          </a:p>
          <a:p>
            <a:pPr marL="27940">
              <a:lnSpc>
                <a:spcPct val="100000"/>
              </a:lnSpc>
              <a:spcBef>
                <a:spcPts val="275"/>
              </a:spcBef>
            </a:pPr>
            <a:r>
              <a:rPr dirty="0" sz="1050" spc="-30">
                <a:latin typeface="宋体"/>
                <a:cs typeface="宋体"/>
              </a:rPr>
              <a:t>逻辑</a:t>
            </a:r>
            <a:r>
              <a:rPr dirty="0" sz="1050" spc="-10">
                <a:latin typeface="宋体"/>
                <a:cs typeface="宋体"/>
              </a:rPr>
              <a:t>（64</a:t>
            </a:r>
            <a:r>
              <a:rPr dirty="0" sz="1050" spc="-75">
                <a:latin typeface="宋体"/>
                <a:cs typeface="宋体"/>
              </a:rPr>
              <a:t> 位运算</a:t>
            </a:r>
            <a:r>
              <a:rPr dirty="0" sz="1050" spc="-50">
                <a:latin typeface="宋体"/>
                <a:cs typeface="宋体"/>
              </a:rPr>
              <a:t>）</a:t>
            </a:r>
            <a:endParaRPr sz="1050">
              <a:latin typeface="宋体"/>
              <a:cs typeface="宋体"/>
            </a:endParaRPr>
          </a:p>
        </p:txBody>
      </p:sp>
      <p:grpSp>
        <p:nvGrpSpPr>
          <p:cNvPr id="69" name="object 69" descr=""/>
          <p:cNvGrpSpPr/>
          <p:nvPr/>
        </p:nvGrpSpPr>
        <p:grpSpPr>
          <a:xfrm>
            <a:off x="4084322" y="1338125"/>
            <a:ext cx="1858010" cy="175895"/>
            <a:chOff x="4084322" y="1338125"/>
            <a:chExt cx="1858010" cy="175895"/>
          </a:xfrm>
        </p:grpSpPr>
        <p:sp>
          <p:nvSpPr>
            <p:cNvPr id="70" name="object 70" descr=""/>
            <p:cNvSpPr/>
            <p:nvPr/>
          </p:nvSpPr>
          <p:spPr>
            <a:xfrm>
              <a:off x="4085591" y="1339395"/>
              <a:ext cx="1855470" cy="59055"/>
            </a:xfrm>
            <a:custGeom>
              <a:avLst/>
              <a:gdLst/>
              <a:ahLst/>
              <a:cxnLst/>
              <a:rect l="l" t="t" r="r" b="b"/>
              <a:pathLst>
                <a:path w="1855470" h="59055">
                  <a:moveTo>
                    <a:pt x="88319" y="0"/>
                  </a:moveTo>
                  <a:lnTo>
                    <a:pt x="0" y="28398"/>
                  </a:lnTo>
                  <a:lnTo>
                    <a:pt x="88319" y="58562"/>
                  </a:lnTo>
                  <a:lnTo>
                    <a:pt x="66933" y="37079"/>
                  </a:lnTo>
                  <a:lnTo>
                    <a:pt x="58290" y="37079"/>
                  </a:lnTo>
                  <a:lnTo>
                    <a:pt x="54758" y="35314"/>
                  </a:lnTo>
                  <a:lnTo>
                    <a:pt x="51372" y="31929"/>
                  </a:lnTo>
                  <a:lnTo>
                    <a:pt x="51372" y="26485"/>
                  </a:lnTo>
                  <a:lnTo>
                    <a:pt x="52844" y="22954"/>
                  </a:lnTo>
                  <a:lnTo>
                    <a:pt x="54758" y="21041"/>
                  </a:lnTo>
                  <a:lnTo>
                    <a:pt x="66070" y="21041"/>
                  </a:lnTo>
                  <a:lnTo>
                    <a:pt x="88319" y="0"/>
                  </a:lnTo>
                  <a:close/>
                </a:path>
                <a:path w="1855470" h="59055">
                  <a:moveTo>
                    <a:pt x="1766980" y="0"/>
                  </a:moveTo>
                  <a:lnTo>
                    <a:pt x="1795389" y="28398"/>
                  </a:lnTo>
                  <a:lnTo>
                    <a:pt x="1766980" y="58562"/>
                  </a:lnTo>
                  <a:lnTo>
                    <a:pt x="1829776" y="37079"/>
                  </a:lnTo>
                  <a:lnTo>
                    <a:pt x="1795389" y="37079"/>
                  </a:lnTo>
                  <a:lnTo>
                    <a:pt x="1798628" y="35314"/>
                  </a:lnTo>
                  <a:lnTo>
                    <a:pt x="1800541" y="33401"/>
                  </a:lnTo>
                  <a:lnTo>
                    <a:pt x="1802308" y="31929"/>
                  </a:lnTo>
                  <a:lnTo>
                    <a:pt x="1802308" y="26485"/>
                  </a:lnTo>
                  <a:lnTo>
                    <a:pt x="1800541" y="22954"/>
                  </a:lnTo>
                  <a:lnTo>
                    <a:pt x="1798628" y="21041"/>
                  </a:lnTo>
                  <a:lnTo>
                    <a:pt x="1832310" y="21041"/>
                  </a:lnTo>
                  <a:lnTo>
                    <a:pt x="1766980" y="0"/>
                  </a:lnTo>
                  <a:close/>
                </a:path>
                <a:path w="1855470" h="59055">
                  <a:moveTo>
                    <a:pt x="66070" y="21041"/>
                  </a:moveTo>
                  <a:lnTo>
                    <a:pt x="54758" y="21041"/>
                  </a:lnTo>
                  <a:lnTo>
                    <a:pt x="52844" y="22954"/>
                  </a:lnTo>
                  <a:lnTo>
                    <a:pt x="51372" y="26485"/>
                  </a:lnTo>
                  <a:lnTo>
                    <a:pt x="51372" y="31929"/>
                  </a:lnTo>
                  <a:lnTo>
                    <a:pt x="54758" y="35314"/>
                  </a:lnTo>
                  <a:lnTo>
                    <a:pt x="58290" y="37079"/>
                  </a:lnTo>
                  <a:lnTo>
                    <a:pt x="66933" y="37079"/>
                  </a:lnTo>
                  <a:lnTo>
                    <a:pt x="58290" y="28398"/>
                  </a:lnTo>
                  <a:lnTo>
                    <a:pt x="66070" y="21041"/>
                  </a:lnTo>
                  <a:close/>
                </a:path>
                <a:path w="1855470" h="59055">
                  <a:moveTo>
                    <a:pt x="1788029" y="21041"/>
                  </a:moveTo>
                  <a:lnTo>
                    <a:pt x="66070" y="21041"/>
                  </a:lnTo>
                  <a:lnTo>
                    <a:pt x="58290" y="28398"/>
                  </a:lnTo>
                  <a:lnTo>
                    <a:pt x="66933" y="37079"/>
                  </a:lnTo>
                  <a:lnTo>
                    <a:pt x="1787213" y="37079"/>
                  </a:lnTo>
                  <a:lnTo>
                    <a:pt x="1795389" y="28398"/>
                  </a:lnTo>
                  <a:lnTo>
                    <a:pt x="1788029" y="21041"/>
                  </a:lnTo>
                  <a:close/>
                </a:path>
                <a:path w="1855470" h="59055">
                  <a:moveTo>
                    <a:pt x="1832310" y="21041"/>
                  </a:moveTo>
                  <a:lnTo>
                    <a:pt x="1798628" y="21041"/>
                  </a:lnTo>
                  <a:lnTo>
                    <a:pt x="1800541" y="22954"/>
                  </a:lnTo>
                  <a:lnTo>
                    <a:pt x="1802308" y="26485"/>
                  </a:lnTo>
                  <a:lnTo>
                    <a:pt x="1802308" y="31929"/>
                  </a:lnTo>
                  <a:lnTo>
                    <a:pt x="1800541" y="33401"/>
                  </a:lnTo>
                  <a:lnTo>
                    <a:pt x="1798628" y="35314"/>
                  </a:lnTo>
                  <a:lnTo>
                    <a:pt x="1795389" y="37079"/>
                  </a:lnTo>
                  <a:lnTo>
                    <a:pt x="1829776" y="37079"/>
                  </a:lnTo>
                  <a:lnTo>
                    <a:pt x="1855152" y="28398"/>
                  </a:lnTo>
                  <a:lnTo>
                    <a:pt x="1832310" y="21041"/>
                  </a:lnTo>
                  <a:close/>
                </a:path>
              </a:pathLst>
            </a:custGeom>
            <a:solidFill>
              <a:srgbClr val="000000"/>
            </a:solidFill>
          </p:spPr>
          <p:txBody>
            <a:bodyPr wrap="square" lIns="0" tIns="0" rIns="0" bIns="0" rtlCol="0"/>
            <a:lstStyle/>
            <a:p/>
          </p:txBody>
        </p:sp>
        <p:sp>
          <p:nvSpPr>
            <p:cNvPr id="71" name="object 71" descr=""/>
            <p:cNvSpPr/>
            <p:nvPr/>
          </p:nvSpPr>
          <p:spPr>
            <a:xfrm>
              <a:off x="4085592" y="1339395"/>
              <a:ext cx="1855470" cy="59055"/>
            </a:xfrm>
            <a:custGeom>
              <a:avLst/>
              <a:gdLst/>
              <a:ahLst/>
              <a:cxnLst/>
              <a:rect l="l" t="t" r="r" b="b"/>
              <a:pathLst>
                <a:path w="1855470" h="59055">
                  <a:moveTo>
                    <a:pt x="58290" y="21041"/>
                  </a:moveTo>
                  <a:lnTo>
                    <a:pt x="1795389" y="21041"/>
                  </a:lnTo>
                  <a:lnTo>
                    <a:pt x="1798628" y="21041"/>
                  </a:lnTo>
                  <a:lnTo>
                    <a:pt x="1800541" y="22954"/>
                  </a:lnTo>
                  <a:lnTo>
                    <a:pt x="1802308" y="26485"/>
                  </a:lnTo>
                  <a:lnTo>
                    <a:pt x="1802308" y="28398"/>
                  </a:lnTo>
                  <a:lnTo>
                    <a:pt x="1802308" y="31929"/>
                  </a:lnTo>
                  <a:lnTo>
                    <a:pt x="1800541" y="33401"/>
                  </a:lnTo>
                  <a:lnTo>
                    <a:pt x="1798628" y="35314"/>
                  </a:lnTo>
                  <a:lnTo>
                    <a:pt x="1795389" y="37079"/>
                  </a:lnTo>
                  <a:lnTo>
                    <a:pt x="58290" y="37079"/>
                  </a:lnTo>
                  <a:lnTo>
                    <a:pt x="51372" y="26485"/>
                  </a:lnTo>
                  <a:lnTo>
                    <a:pt x="52844" y="22954"/>
                  </a:lnTo>
                  <a:lnTo>
                    <a:pt x="54758" y="21041"/>
                  </a:lnTo>
                  <a:lnTo>
                    <a:pt x="58290" y="21041"/>
                  </a:lnTo>
                  <a:close/>
                </a:path>
                <a:path w="1855470" h="59055">
                  <a:moveTo>
                    <a:pt x="58290" y="28398"/>
                  </a:moveTo>
                  <a:lnTo>
                    <a:pt x="88319" y="58562"/>
                  </a:lnTo>
                  <a:lnTo>
                    <a:pt x="0" y="28398"/>
                  </a:lnTo>
                  <a:lnTo>
                    <a:pt x="88319" y="0"/>
                  </a:lnTo>
                  <a:lnTo>
                    <a:pt x="58290" y="28398"/>
                  </a:lnTo>
                  <a:close/>
                </a:path>
                <a:path w="1855470" h="59055">
                  <a:moveTo>
                    <a:pt x="1795389" y="28398"/>
                  </a:moveTo>
                  <a:lnTo>
                    <a:pt x="1766980" y="0"/>
                  </a:lnTo>
                  <a:lnTo>
                    <a:pt x="1855152" y="28398"/>
                  </a:lnTo>
                  <a:lnTo>
                    <a:pt x="1766980" y="58562"/>
                  </a:lnTo>
                  <a:lnTo>
                    <a:pt x="1795389" y="28398"/>
                  </a:lnTo>
                  <a:close/>
                </a:path>
              </a:pathLst>
            </a:custGeom>
            <a:ln w="3175">
              <a:solidFill>
                <a:srgbClr val="000000"/>
              </a:solidFill>
            </a:ln>
          </p:spPr>
          <p:txBody>
            <a:bodyPr wrap="square" lIns="0" tIns="0" rIns="0" bIns="0" rtlCol="0"/>
            <a:lstStyle/>
            <a:p/>
          </p:txBody>
        </p:sp>
        <p:sp>
          <p:nvSpPr>
            <p:cNvPr id="72" name="object 72" descr=""/>
            <p:cNvSpPr/>
            <p:nvPr/>
          </p:nvSpPr>
          <p:spPr>
            <a:xfrm>
              <a:off x="4085591" y="1452694"/>
              <a:ext cx="1855470" cy="60325"/>
            </a:xfrm>
            <a:custGeom>
              <a:avLst/>
              <a:gdLst/>
              <a:ahLst/>
              <a:cxnLst/>
              <a:rect l="l" t="t" r="r" b="b"/>
              <a:pathLst>
                <a:path w="1855470" h="60325">
                  <a:moveTo>
                    <a:pt x="88319" y="0"/>
                  </a:moveTo>
                  <a:lnTo>
                    <a:pt x="0" y="29722"/>
                  </a:lnTo>
                  <a:lnTo>
                    <a:pt x="88319" y="59887"/>
                  </a:lnTo>
                  <a:lnTo>
                    <a:pt x="65614" y="37079"/>
                  </a:lnTo>
                  <a:lnTo>
                    <a:pt x="54758" y="37079"/>
                  </a:lnTo>
                  <a:lnTo>
                    <a:pt x="52844" y="35167"/>
                  </a:lnTo>
                  <a:lnTo>
                    <a:pt x="51372" y="33401"/>
                  </a:lnTo>
                  <a:lnTo>
                    <a:pt x="51372" y="26485"/>
                  </a:lnTo>
                  <a:lnTo>
                    <a:pt x="52844" y="24719"/>
                  </a:lnTo>
                  <a:lnTo>
                    <a:pt x="54758" y="22954"/>
                  </a:lnTo>
                  <a:lnTo>
                    <a:pt x="65129" y="22954"/>
                  </a:lnTo>
                  <a:lnTo>
                    <a:pt x="88319" y="0"/>
                  </a:lnTo>
                  <a:close/>
                </a:path>
                <a:path w="1855470" h="60325">
                  <a:moveTo>
                    <a:pt x="1766980" y="0"/>
                  </a:moveTo>
                  <a:lnTo>
                    <a:pt x="1795389" y="29722"/>
                  </a:lnTo>
                  <a:lnTo>
                    <a:pt x="1766980" y="59887"/>
                  </a:lnTo>
                  <a:lnTo>
                    <a:pt x="1833647" y="37079"/>
                  </a:lnTo>
                  <a:lnTo>
                    <a:pt x="1798628" y="37079"/>
                  </a:lnTo>
                  <a:lnTo>
                    <a:pt x="1802308" y="33401"/>
                  </a:lnTo>
                  <a:lnTo>
                    <a:pt x="1802308" y="26485"/>
                  </a:lnTo>
                  <a:lnTo>
                    <a:pt x="1800541" y="24719"/>
                  </a:lnTo>
                  <a:lnTo>
                    <a:pt x="1798628" y="22954"/>
                  </a:lnTo>
                  <a:lnTo>
                    <a:pt x="1835073" y="22954"/>
                  </a:lnTo>
                  <a:lnTo>
                    <a:pt x="1766980" y="0"/>
                  </a:lnTo>
                  <a:close/>
                </a:path>
                <a:path w="1855470" h="60325">
                  <a:moveTo>
                    <a:pt x="65129" y="22954"/>
                  </a:moveTo>
                  <a:lnTo>
                    <a:pt x="54758" y="22954"/>
                  </a:lnTo>
                  <a:lnTo>
                    <a:pt x="52844" y="24719"/>
                  </a:lnTo>
                  <a:lnTo>
                    <a:pt x="51372" y="26485"/>
                  </a:lnTo>
                  <a:lnTo>
                    <a:pt x="51372" y="33401"/>
                  </a:lnTo>
                  <a:lnTo>
                    <a:pt x="52844" y="35167"/>
                  </a:lnTo>
                  <a:lnTo>
                    <a:pt x="54758" y="37079"/>
                  </a:lnTo>
                  <a:lnTo>
                    <a:pt x="65614" y="37079"/>
                  </a:lnTo>
                  <a:lnTo>
                    <a:pt x="58290" y="29722"/>
                  </a:lnTo>
                  <a:lnTo>
                    <a:pt x="65129" y="22954"/>
                  </a:lnTo>
                  <a:close/>
                </a:path>
                <a:path w="1855470" h="60325">
                  <a:moveTo>
                    <a:pt x="1788920" y="22954"/>
                  </a:moveTo>
                  <a:lnTo>
                    <a:pt x="65129" y="22954"/>
                  </a:lnTo>
                  <a:lnTo>
                    <a:pt x="58290" y="29722"/>
                  </a:lnTo>
                  <a:lnTo>
                    <a:pt x="65614" y="37079"/>
                  </a:lnTo>
                  <a:lnTo>
                    <a:pt x="1788460" y="37079"/>
                  </a:lnTo>
                  <a:lnTo>
                    <a:pt x="1795389" y="29722"/>
                  </a:lnTo>
                  <a:lnTo>
                    <a:pt x="1788920" y="22954"/>
                  </a:lnTo>
                  <a:close/>
                </a:path>
                <a:path w="1855470" h="60325">
                  <a:moveTo>
                    <a:pt x="1835073" y="22954"/>
                  </a:moveTo>
                  <a:lnTo>
                    <a:pt x="1798628" y="22954"/>
                  </a:lnTo>
                  <a:lnTo>
                    <a:pt x="1800541" y="24719"/>
                  </a:lnTo>
                  <a:lnTo>
                    <a:pt x="1802308" y="26485"/>
                  </a:lnTo>
                  <a:lnTo>
                    <a:pt x="1802308" y="33401"/>
                  </a:lnTo>
                  <a:lnTo>
                    <a:pt x="1798628" y="37079"/>
                  </a:lnTo>
                  <a:lnTo>
                    <a:pt x="1833647" y="37079"/>
                  </a:lnTo>
                  <a:lnTo>
                    <a:pt x="1855152" y="29722"/>
                  </a:lnTo>
                  <a:lnTo>
                    <a:pt x="1835073" y="22954"/>
                  </a:lnTo>
                  <a:close/>
                </a:path>
              </a:pathLst>
            </a:custGeom>
            <a:solidFill>
              <a:srgbClr val="000000"/>
            </a:solidFill>
          </p:spPr>
          <p:txBody>
            <a:bodyPr wrap="square" lIns="0" tIns="0" rIns="0" bIns="0" rtlCol="0"/>
            <a:lstStyle/>
            <a:p/>
          </p:txBody>
        </p:sp>
        <p:sp>
          <p:nvSpPr>
            <p:cNvPr id="73" name="object 73" descr=""/>
            <p:cNvSpPr/>
            <p:nvPr/>
          </p:nvSpPr>
          <p:spPr>
            <a:xfrm>
              <a:off x="4085592" y="1452695"/>
              <a:ext cx="1855470" cy="60325"/>
            </a:xfrm>
            <a:custGeom>
              <a:avLst/>
              <a:gdLst/>
              <a:ahLst/>
              <a:cxnLst/>
              <a:rect l="l" t="t" r="r" b="b"/>
              <a:pathLst>
                <a:path w="1855470" h="60325">
                  <a:moveTo>
                    <a:pt x="58290" y="22954"/>
                  </a:moveTo>
                  <a:lnTo>
                    <a:pt x="1795389" y="22954"/>
                  </a:lnTo>
                  <a:lnTo>
                    <a:pt x="1798628" y="22954"/>
                  </a:lnTo>
                  <a:lnTo>
                    <a:pt x="1800541" y="24719"/>
                  </a:lnTo>
                  <a:lnTo>
                    <a:pt x="1802308" y="26485"/>
                  </a:lnTo>
                  <a:lnTo>
                    <a:pt x="1802308" y="29722"/>
                  </a:lnTo>
                  <a:lnTo>
                    <a:pt x="1802308" y="33401"/>
                  </a:lnTo>
                  <a:lnTo>
                    <a:pt x="1800541" y="35167"/>
                  </a:lnTo>
                  <a:lnTo>
                    <a:pt x="1798628" y="37079"/>
                  </a:lnTo>
                  <a:lnTo>
                    <a:pt x="1795389" y="37079"/>
                  </a:lnTo>
                  <a:lnTo>
                    <a:pt x="58290" y="37079"/>
                  </a:lnTo>
                  <a:lnTo>
                    <a:pt x="54758" y="37079"/>
                  </a:lnTo>
                  <a:lnTo>
                    <a:pt x="52844" y="35167"/>
                  </a:lnTo>
                  <a:lnTo>
                    <a:pt x="51372" y="33401"/>
                  </a:lnTo>
                  <a:lnTo>
                    <a:pt x="51372" y="29722"/>
                  </a:lnTo>
                  <a:lnTo>
                    <a:pt x="51372" y="26485"/>
                  </a:lnTo>
                  <a:lnTo>
                    <a:pt x="52844" y="24719"/>
                  </a:lnTo>
                  <a:lnTo>
                    <a:pt x="54758" y="22954"/>
                  </a:lnTo>
                  <a:lnTo>
                    <a:pt x="58290" y="22954"/>
                  </a:lnTo>
                  <a:close/>
                </a:path>
                <a:path w="1855470" h="60325">
                  <a:moveTo>
                    <a:pt x="58290" y="29722"/>
                  </a:moveTo>
                  <a:lnTo>
                    <a:pt x="88319" y="59887"/>
                  </a:lnTo>
                  <a:lnTo>
                    <a:pt x="0" y="29722"/>
                  </a:lnTo>
                  <a:lnTo>
                    <a:pt x="88319" y="0"/>
                  </a:lnTo>
                  <a:lnTo>
                    <a:pt x="58290" y="29722"/>
                  </a:lnTo>
                  <a:close/>
                </a:path>
                <a:path w="1855470" h="60325">
                  <a:moveTo>
                    <a:pt x="1795389" y="29722"/>
                  </a:moveTo>
                  <a:lnTo>
                    <a:pt x="1766980" y="0"/>
                  </a:lnTo>
                  <a:lnTo>
                    <a:pt x="1855152" y="29722"/>
                  </a:lnTo>
                  <a:lnTo>
                    <a:pt x="1766980" y="59887"/>
                  </a:lnTo>
                  <a:lnTo>
                    <a:pt x="1795389" y="29722"/>
                  </a:lnTo>
                  <a:close/>
                </a:path>
              </a:pathLst>
            </a:custGeom>
            <a:ln w="3175">
              <a:solidFill>
                <a:srgbClr val="000000"/>
              </a:solidFill>
            </a:ln>
          </p:spPr>
          <p:txBody>
            <a:bodyPr wrap="square" lIns="0" tIns="0" rIns="0" bIns="0" rtlCol="0"/>
            <a:lstStyle/>
            <a:p/>
          </p:txBody>
        </p:sp>
      </p:grpSp>
      <p:sp>
        <p:nvSpPr>
          <p:cNvPr id="74" name="object 74" descr=""/>
          <p:cNvSpPr txBox="1"/>
          <p:nvPr/>
        </p:nvSpPr>
        <p:spPr>
          <a:xfrm>
            <a:off x="4578267" y="1639654"/>
            <a:ext cx="818515" cy="389255"/>
          </a:xfrm>
          <a:prstGeom prst="rect">
            <a:avLst/>
          </a:prstGeom>
        </p:spPr>
        <p:txBody>
          <a:bodyPr wrap="square" lIns="0" tIns="36195" rIns="0" bIns="0" rtlCol="0" vert="horz">
            <a:spAutoFit/>
          </a:bodyPr>
          <a:lstStyle/>
          <a:p>
            <a:pPr algn="r" marR="88265">
              <a:lnSpc>
                <a:spcPts val="1250"/>
              </a:lnSpc>
              <a:spcBef>
                <a:spcPts val="285"/>
              </a:spcBef>
            </a:pPr>
            <a:r>
              <a:rPr dirty="0" sz="1050" spc="-35">
                <a:latin typeface="宋体"/>
                <a:cs typeface="宋体"/>
              </a:rPr>
              <a:t>屏蔽寄存器</a:t>
            </a:r>
            <a:endParaRPr sz="1050">
              <a:latin typeface="宋体"/>
              <a:cs typeface="宋体"/>
            </a:endParaRPr>
          </a:p>
          <a:p>
            <a:pPr algn="r" marR="107314">
              <a:lnSpc>
                <a:spcPts val="1250"/>
              </a:lnSpc>
            </a:pPr>
            <a:r>
              <a:rPr dirty="0" sz="1050" spc="-20">
                <a:latin typeface="宋体"/>
                <a:cs typeface="宋体"/>
              </a:rPr>
              <a:t>（64</a:t>
            </a:r>
            <a:r>
              <a:rPr dirty="0" sz="1050" spc="-125">
                <a:latin typeface="宋体"/>
                <a:cs typeface="宋体"/>
              </a:rPr>
              <a:t> 位</a:t>
            </a:r>
            <a:r>
              <a:rPr dirty="0" sz="1050" spc="-50">
                <a:latin typeface="宋体"/>
                <a:cs typeface="宋体"/>
              </a:rPr>
              <a:t>）</a:t>
            </a:r>
            <a:endParaRPr sz="1050">
              <a:latin typeface="宋体"/>
              <a:cs typeface="宋体"/>
            </a:endParaRPr>
          </a:p>
        </p:txBody>
      </p:sp>
      <p:sp>
        <p:nvSpPr>
          <p:cNvPr id="75" name="object 75" descr=""/>
          <p:cNvSpPr txBox="1"/>
          <p:nvPr/>
        </p:nvSpPr>
        <p:spPr>
          <a:xfrm>
            <a:off x="4578267" y="2120693"/>
            <a:ext cx="804545" cy="341630"/>
          </a:xfrm>
          <a:prstGeom prst="rect">
            <a:avLst/>
          </a:prstGeom>
        </p:spPr>
        <p:txBody>
          <a:bodyPr wrap="square" lIns="0" tIns="11430" rIns="0" bIns="0" rtlCol="0" vert="horz">
            <a:spAutoFit/>
          </a:bodyPr>
          <a:lstStyle/>
          <a:p>
            <a:pPr marL="137160">
              <a:lnSpc>
                <a:spcPts val="1255"/>
              </a:lnSpc>
              <a:spcBef>
                <a:spcPts val="90"/>
              </a:spcBef>
            </a:pPr>
            <a:r>
              <a:rPr dirty="0" sz="1050" spc="-35">
                <a:latin typeface="宋体"/>
                <a:cs typeface="宋体"/>
              </a:rPr>
              <a:t>向量长度</a:t>
            </a:r>
            <a:endParaRPr sz="1050">
              <a:latin typeface="宋体"/>
              <a:cs typeface="宋体"/>
            </a:endParaRPr>
          </a:p>
          <a:p>
            <a:pPr marL="183515">
              <a:lnSpc>
                <a:spcPts val="1255"/>
              </a:lnSpc>
            </a:pPr>
            <a:r>
              <a:rPr dirty="0" sz="1050" spc="-20">
                <a:latin typeface="宋体"/>
                <a:cs typeface="宋体"/>
              </a:rPr>
              <a:t>（8</a:t>
            </a:r>
            <a:r>
              <a:rPr dirty="0" sz="1050" spc="-135">
                <a:latin typeface="宋体"/>
                <a:cs typeface="宋体"/>
              </a:rPr>
              <a:t> 位</a:t>
            </a:r>
            <a:r>
              <a:rPr dirty="0" sz="1050" spc="-50">
                <a:latin typeface="宋体"/>
                <a:cs typeface="宋体"/>
              </a:rPr>
              <a:t>）</a:t>
            </a:r>
            <a:endParaRPr sz="1050">
              <a:latin typeface="宋体"/>
              <a:cs typeface="宋体"/>
            </a:endParaRPr>
          </a:p>
        </p:txBody>
      </p:sp>
      <p:sp>
        <p:nvSpPr>
          <p:cNvPr id="76" name="object 76" descr=""/>
          <p:cNvSpPr txBox="1"/>
          <p:nvPr/>
        </p:nvSpPr>
        <p:spPr>
          <a:xfrm>
            <a:off x="5954393" y="2439665"/>
            <a:ext cx="1151890" cy="185420"/>
          </a:xfrm>
          <a:prstGeom prst="rect">
            <a:avLst/>
          </a:prstGeom>
        </p:spPr>
        <p:txBody>
          <a:bodyPr wrap="square" lIns="0" tIns="12065" rIns="0" bIns="0" rtlCol="0" vert="horz">
            <a:spAutoFit/>
          </a:bodyPr>
          <a:lstStyle/>
          <a:p>
            <a:pPr marL="12700">
              <a:lnSpc>
                <a:spcPct val="100000"/>
              </a:lnSpc>
              <a:spcBef>
                <a:spcPts val="95"/>
              </a:spcBef>
            </a:pPr>
            <a:r>
              <a:rPr dirty="0" sz="1050" spc="-35">
                <a:latin typeface="宋体"/>
                <a:cs typeface="宋体"/>
              </a:rPr>
              <a:t>加/减、倒数、乘、</a:t>
            </a:r>
            <a:endParaRPr sz="1050">
              <a:latin typeface="宋体"/>
              <a:cs typeface="宋体"/>
            </a:endParaRPr>
          </a:p>
        </p:txBody>
      </p:sp>
      <p:sp>
        <p:nvSpPr>
          <p:cNvPr id="77" name="object 77" descr=""/>
          <p:cNvSpPr txBox="1"/>
          <p:nvPr/>
        </p:nvSpPr>
        <p:spPr>
          <a:xfrm>
            <a:off x="6077893" y="2233077"/>
            <a:ext cx="819785" cy="185420"/>
          </a:xfrm>
          <a:prstGeom prst="rect">
            <a:avLst/>
          </a:prstGeom>
        </p:spPr>
        <p:txBody>
          <a:bodyPr wrap="square" lIns="0" tIns="12065" rIns="0" bIns="0" rtlCol="0" vert="horz">
            <a:spAutoFit/>
          </a:bodyPr>
          <a:lstStyle/>
          <a:p>
            <a:pPr marL="12700">
              <a:lnSpc>
                <a:spcPct val="100000"/>
              </a:lnSpc>
              <a:spcBef>
                <a:spcPts val="95"/>
              </a:spcBef>
            </a:pPr>
            <a:r>
              <a:rPr dirty="0" sz="1050" spc="-35">
                <a:latin typeface="宋体"/>
                <a:cs typeface="宋体"/>
              </a:rPr>
              <a:t>浮点功能部件</a:t>
            </a:r>
            <a:endParaRPr sz="1050">
              <a:latin typeface="宋体"/>
              <a:cs typeface="宋体"/>
            </a:endParaRPr>
          </a:p>
        </p:txBody>
      </p:sp>
      <p:sp>
        <p:nvSpPr>
          <p:cNvPr id="78" name="object 78" descr=""/>
          <p:cNvSpPr txBox="1"/>
          <p:nvPr/>
        </p:nvSpPr>
        <p:spPr>
          <a:xfrm>
            <a:off x="5954393" y="2644782"/>
            <a:ext cx="1120775" cy="185420"/>
          </a:xfrm>
          <a:prstGeom prst="rect">
            <a:avLst/>
          </a:prstGeom>
        </p:spPr>
        <p:txBody>
          <a:bodyPr wrap="square" lIns="0" tIns="12065" rIns="0" bIns="0" rtlCol="0" vert="horz">
            <a:spAutoFit/>
          </a:bodyPr>
          <a:lstStyle/>
          <a:p>
            <a:pPr marL="12700">
              <a:lnSpc>
                <a:spcPct val="100000"/>
              </a:lnSpc>
              <a:spcBef>
                <a:spcPts val="95"/>
              </a:spcBef>
            </a:pPr>
            <a:r>
              <a:rPr dirty="0" sz="1050" spc="-30">
                <a:latin typeface="宋体"/>
                <a:cs typeface="宋体"/>
              </a:rPr>
              <a:t>近似</a:t>
            </a:r>
            <a:r>
              <a:rPr dirty="0" sz="1050" spc="-10">
                <a:latin typeface="宋体"/>
                <a:cs typeface="宋体"/>
              </a:rPr>
              <a:t>（64</a:t>
            </a:r>
            <a:r>
              <a:rPr dirty="0" sz="1050" spc="-75">
                <a:latin typeface="宋体"/>
                <a:cs typeface="宋体"/>
              </a:rPr>
              <a:t> 位运算</a:t>
            </a:r>
            <a:r>
              <a:rPr dirty="0" sz="1050" spc="-50">
                <a:latin typeface="宋体"/>
                <a:cs typeface="宋体"/>
              </a:rPr>
              <a:t>）</a:t>
            </a:r>
            <a:endParaRPr sz="1050">
              <a:latin typeface="宋体"/>
              <a:cs typeface="宋体"/>
            </a:endParaRPr>
          </a:p>
        </p:txBody>
      </p:sp>
      <p:grpSp>
        <p:nvGrpSpPr>
          <p:cNvPr id="79" name="object 79" descr=""/>
          <p:cNvGrpSpPr/>
          <p:nvPr/>
        </p:nvGrpSpPr>
        <p:grpSpPr>
          <a:xfrm>
            <a:off x="2847807" y="2731660"/>
            <a:ext cx="311785" cy="60960"/>
            <a:chOff x="2847807" y="2731660"/>
            <a:chExt cx="311785" cy="60960"/>
          </a:xfrm>
        </p:grpSpPr>
        <p:sp>
          <p:nvSpPr>
            <p:cNvPr id="80" name="object 80" descr=""/>
            <p:cNvSpPr/>
            <p:nvPr/>
          </p:nvSpPr>
          <p:spPr>
            <a:xfrm>
              <a:off x="2848838" y="2732690"/>
              <a:ext cx="309245" cy="59055"/>
            </a:xfrm>
            <a:custGeom>
              <a:avLst/>
              <a:gdLst/>
              <a:ahLst/>
              <a:cxnLst/>
              <a:rect l="l" t="t" r="r" b="b"/>
              <a:pathLst>
                <a:path w="309244" h="59055">
                  <a:moveTo>
                    <a:pt x="88231" y="0"/>
                  </a:moveTo>
                  <a:lnTo>
                    <a:pt x="0" y="28398"/>
                  </a:lnTo>
                  <a:lnTo>
                    <a:pt x="88231" y="58562"/>
                  </a:lnTo>
                  <a:lnTo>
                    <a:pt x="65189" y="35314"/>
                  </a:lnTo>
                  <a:lnTo>
                    <a:pt x="54684" y="35314"/>
                  </a:lnTo>
                  <a:lnTo>
                    <a:pt x="52859" y="33401"/>
                  </a:lnTo>
                  <a:lnTo>
                    <a:pt x="51033" y="31635"/>
                  </a:lnTo>
                  <a:lnTo>
                    <a:pt x="51033" y="26632"/>
                  </a:lnTo>
                  <a:lnTo>
                    <a:pt x="52859" y="22954"/>
                  </a:lnTo>
                  <a:lnTo>
                    <a:pt x="54684" y="21188"/>
                  </a:lnTo>
                  <a:lnTo>
                    <a:pt x="65925" y="21188"/>
                  </a:lnTo>
                  <a:lnTo>
                    <a:pt x="88231" y="0"/>
                  </a:lnTo>
                  <a:close/>
                </a:path>
                <a:path w="309244" h="59055">
                  <a:moveTo>
                    <a:pt x="220931" y="0"/>
                  </a:moveTo>
                  <a:lnTo>
                    <a:pt x="249046" y="28398"/>
                  </a:lnTo>
                  <a:lnTo>
                    <a:pt x="220931" y="58562"/>
                  </a:lnTo>
                  <a:lnTo>
                    <a:pt x="289002" y="35314"/>
                  </a:lnTo>
                  <a:lnTo>
                    <a:pt x="252726" y="35314"/>
                  </a:lnTo>
                  <a:lnTo>
                    <a:pt x="254492" y="33401"/>
                  </a:lnTo>
                  <a:lnTo>
                    <a:pt x="256259" y="31635"/>
                  </a:lnTo>
                  <a:lnTo>
                    <a:pt x="256259" y="26632"/>
                  </a:lnTo>
                  <a:lnTo>
                    <a:pt x="254492" y="22954"/>
                  </a:lnTo>
                  <a:lnTo>
                    <a:pt x="252726" y="21188"/>
                  </a:lnTo>
                  <a:lnTo>
                    <a:pt x="286827" y="21188"/>
                  </a:lnTo>
                  <a:lnTo>
                    <a:pt x="220931" y="0"/>
                  </a:lnTo>
                  <a:close/>
                </a:path>
                <a:path w="309244" h="59055">
                  <a:moveTo>
                    <a:pt x="65925" y="21188"/>
                  </a:moveTo>
                  <a:lnTo>
                    <a:pt x="54684" y="21188"/>
                  </a:lnTo>
                  <a:lnTo>
                    <a:pt x="52859" y="22954"/>
                  </a:lnTo>
                  <a:lnTo>
                    <a:pt x="51033" y="26632"/>
                  </a:lnTo>
                  <a:lnTo>
                    <a:pt x="51033" y="31635"/>
                  </a:lnTo>
                  <a:lnTo>
                    <a:pt x="52859" y="33401"/>
                  </a:lnTo>
                  <a:lnTo>
                    <a:pt x="54684" y="35314"/>
                  </a:lnTo>
                  <a:lnTo>
                    <a:pt x="65189" y="35314"/>
                  </a:lnTo>
                  <a:lnTo>
                    <a:pt x="58335" y="28398"/>
                  </a:lnTo>
                  <a:lnTo>
                    <a:pt x="65925" y="21188"/>
                  </a:lnTo>
                  <a:close/>
                </a:path>
                <a:path w="309244" h="59055">
                  <a:moveTo>
                    <a:pt x="241908" y="21188"/>
                  </a:moveTo>
                  <a:lnTo>
                    <a:pt x="65925" y="21188"/>
                  </a:lnTo>
                  <a:lnTo>
                    <a:pt x="58335" y="28398"/>
                  </a:lnTo>
                  <a:lnTo>
                    <a:pt x="65189" y="35314"/>
                  </a:lnTo>
                  <a:lnTo>
                    <a:pt x="242600" y="35314"/>
                  </a:lnTo>
                  <a:lnTo>
                    <a:pt x="249046" y="28398"/>
                  </a:lnTo>
                  <a:lnTo>
                    <a:pt x="241908" y="21188"/>
                  </a:lnTo>
                  <a:close/>
                </a:path>
                <a:path w="309244" h="59055">
                  <a:moveTo>
                    <a:pt x="286827" y="21188"/>
                  </a:moveTo>
                  <a:lnTo>
                    <a:pt x="252726" y="21188"/>
                  </a:lnTo>
                  <a:lnTo>
                    <a:pt x="254492" y="22954"/>
                  </a:lnTo>
                  <a:lnTo>
                    <a:pt x="256259" y="26632"/>
                  </a:lnTo>
                  <a:lnTo>
                    <a:pt x="256259" y="31635"/>
                  </a:lnTo>
                  <a:lnTo>
                    <a:pt x="254492" y="33401"/>
                  </a:lnTo>
                  <a:lnTo>
                    <a:pt x="252726" y="35314"/>
                  </a:lnTo>
                  <a:lnTo>
                    <a:pt x="289002" y="35314"/>
                  </a:lnTo>
                  <a:lnTo>
                    <a:pt x="309251" y="28398"/>
                  </a:lnTo>
                  <a:lnTo>
                    <a:pt x="286827" y="21188"/>
                  </a:lnTo>
                  <a:close/>
                </a:path>
              </a:pathLst>
            </a:custGeom>
            <a:solidFill>
              <a:srgbClr val="000000"/>
            </a:solidFill>
          </p:spPr>
          <p:txBody>
            <a:bodyPr wrap="square" lIns="0" tIns="0" rIns="0" bIns="0" rtlCol="0"/>
            <a:lstStyle/>
            <a:p/>
          </p:txBody>
        </p:sp>
        <p:sp>
          <p:nvSpPr>
            <p:cNvPr id="81" name="object 81" descr=""/>
            <p:cNvSpPr/>
            <p:nvPr/>
          </p:nvSpPr>
          <p:spPr>
            <a:xfrm>
              <a:off x="2848838" y="2732690"/>
              <a:ext cx="309245" cy="59055"/>
            </a:xfrm>
            <a:custGeom>
              <a:avLst/>
              <a:gdLst/>
              <a:ahLst/>
              <a:cxnLst/>
              <a:rect l="l" t="t" r="r" b="b"/>
              <a:pathLst>
                <a:path w="309244" h="59055">
                  <a:moveTo>
                    <a:pt x="58335" y="21188"/>
                  </a:moveTo>
                  <a:lnTo>
                    <a:pt x="249046" y="21188"/>
                  </a:lnTo>
                  <a:lnTo>
                    <a:pt x="252726" y="21188"/>
                  </a:lnTo>
                  <a:lnTo>
                    <a:pt x="254492" y="22954"/>
                  </a:lnTo>
                  <a:lnTo>
                    <a:pt x="256259" y="26632"/>
                  </a:lnTo>
                  <a:lnTo>
                    <a:pt x="256259" y="28398"/>
                  </a:lnTo>
                  <a:lnTo>
                    <a:pt x="256259" y="31635"/>
                  </a:lnTo>
                  <a:lnTo>
                    <a:pt x="254492" y="33401"/>
                  </a:lnTo>
                  <a:lnTo>
                    <a:pt x="252726" y="35314"/>
                  </a:lnTo>
                  <a:lnTo>
                    <a:pt x="249046" y="35314"/>
                  </a:lnTo>
                  <a:lnTo>
                    <a:pt x="58335" y="35314"/>
                  </a:lnTo>
                  <a:lnTo>
                    <a:pt x="54684" y="35314"/>
                  </a:lnTo>
                  <a:lnTo>
                    <a:pt x="52859" y="33401"/>
                  </a:lnTo>
                  <a:lnTo>
                    <a:pt x="51033" y="31635"/>
                  </a:lnTo>
                  <a:lnTo>
                    <a:pt x="51033" y="28398"/>
                  </a:lnTo>
                  <a:lnTo>
                    <a:pt x="51033" y="26632"/>
                  </a:lnTo>
                  <a:lnTo>
                    <a:pt x="52859" y="22954"/>
                  </a:lnTo>
                  <a:lnTo>
                    <a:pt x="54684" y="21188"/>
                  </a:lnTo>
                  <a:lnTo>
                    <a:pt x="58335" y="21188"/>
                  </a:lnTo>
                  <a:close/>
                </a:path>
                <a:path w="309244" h="59055">
                  <a:moveTo>
                    <a:pt x="58335" y="28398"/>
                  </a:moveTo>
                  <a:lnTo>
                    <a:pt x="88231" y="58562"/>
                  </a:lnTo>
                  <a:lnTo>
                    <a:pt x="0" y="28398"/>
                  </a:lnTo>
                  <a:lnTo>
                    <a:pt x="88231" y="0"/>
                  </a:lnTo>
                  <a:lnTo>
                    <a:pt x="58335" y="28398"/>
                  </a:lnTo>
                  <a:close/>
                </a:path>
                <a:path w="309244" h="59055">
                  <a:moveTo>
                    <a:pt x="249046" y="28398"/>
                  </a:moveTo>
                  <a:lnTo>
                    <a:pt x="220931" y="0"/>
                  </a:lnTo>
                  <a:lnTo>
                    <a:pt x="309251" y="28398"/>
                  </a:lnTo>
                  <a:lnTo>
                    <a:pt x="220931" y="58562"/>
                  </a:lnTo>
                  <a:lnTo>
                    <a:pt x="249046" y="28398"/>
                  </a:lnTo>
                  <a:close/>
                </a:path>
              </a:pathLst>
            </a:custGeom>
            <a:ln w="3175">
              <a:solidFill>
                <a:srgbClr val="000000"/>
              </a:solidFill>
            </a:ln>
          </p:spPr>
          <p:txBody>
            <a:bodyPr wrap="square" lIns="0" tIns="0" rIns="0" bIns="0" rtlCol="0"/>
            <a:lstStyle/>
            <a:p/>
          </p:txBody>
        </p:sp>
      </p:grpSp>
      <p:sp>
        <p:nvSpPr>
          <p:cNvPr id="82" name="object 82" descr=""/>
          <p:cNvSpPr txBox="1"/>
          <p:nvPr/>
        </p:nvSpPr>
        <p:spPr>
          <a:xfrm>
            <a:off x="3155881" y="2576645"/>
            <a:ext cx="927735" cy="548640"/>
          </a:xfrm>
          <a:prstGeom prst="rect">
            <a:avLst/>
          </a:prstGeom>
        </p:spPr>
        <p:txBody>
          <a:bodyPr wrap="square" lIns="0" tIns="36195" rIns="0" bIns="0" rtlCol="0" vert="horz">
            <a:spAutoFit/>
          </a:bodyPr>
          <a:lstStyle/>
          <a:p>
            <a:pPr algn="ctr">
              <a:lnSpc>
                <a:spcPts val="1165"/>
              </a:lnSpc>
              <a:spcBef>
                <a:spcPts val="285"/>
              </a:spcBef>
            </a:pPr>
            <a:r>
              <a:rPr dirty="0" sz="1050" spc="-10">
                <a:latin typeface="宋体"/>
                <a:cs typeface="宋体"/>
              </a:rPr>
              <a:t>T</a:t>
            </a:r>
            <a:r>
              <a:rPr dirty="0" sz="1050" spc="-90">
                <a:latin typeface="宋体"/>
                <a:cs typeface="宋体"/>
              </a:rPr>
              <a:t> 寄存器</a:t>
            </a:r>
            <a:endParaRPr sz="1050">
              <a:latin typeface="宋体"/>
              <a:cs typeface="宋体"/>
            </a:endParaRPr>
          </a:p>
          <a:p>
            <a:pPr algn="ctr" marR="41275">
              <a:lnSpc>
                <a:spcPts val="1160"/>
              </a:lnSpc>
            </a:pPr>
            <a:r>
              <a:rPr dirty="0" sz="1050" spc="-20">
                <a:latin typeface="宋体"/>
                <a:cs typeface="宋体"/>
              </a:rPr>
              <a:t>（8</a:t>
            </a:r>
            <a:r>
              <a:rPr dirty="0" sz="1050" spc="-175">
                <a:latin typeface="宋体"/>
                <a:cs typeface="宋体"/>
              </a:rPr>
              <a:t> 个 </a:t>
            </a:r>
            <a:r>
              <a:rPr dirty="0" sz="1050" spc="-20">
                <a:latin typeface="宋体"/>
                <a:cs typeface="宋体"/>
              </a:rPr>
              <a:t>64</a:t>
            </a:r>
            <a:r>
              <a:rPr dirty="0" sz="1050" spc="-145">
                <a:latin typeface="宋体"/>
                <a:cs typeface="宋体"/>
              </a:rPr>
              <a:t> 位</a:t>
            </a:r>
            <a:endParaRPr sz="1050">
              <a:latin typeface="宋体"/>
              <a:cs typeface="宋体"/>
            </a:endParaRPr>
          </a:p>
          <a:p>
            <a:pPr algn="ctr" marL="28575">
              <a:lnSpc>
                <a:spcPts val="1255"/>
              </a:lnSpc>
            </a:pPr>
            <a:r>
              <a:rPr dirty="0" sz="1050" spc="-30">
                <a:latin typeface="宋体"/>
                <a:cs typeface="宋体"/>
              </a:rPr>
              <a:t>寄存器</a:t>
            </a:r>
            <a:r>
              <a:rPr dirty="0" sz="1050" spc="-50">
                <a:latin typeface="宋体"/>
                <a:cs typeface="宋体"/>
              </a:rPr>
              <a:t>）</a:t>
            </a:r>
            <a:endParaRPr sz="1050">
              <a:latin typeface="宋体"/>
              <a:cs typeface="宋体"/>
            </a:endParaRPr>
          </a:p>
        </p:txBody>
      </p:sp>
      <p:sp>
        <p:nvSpPr>
          <p:cNvPr id="83" name="object 83" descr=""/>
          <p:cNvSpPr txBox="1"/>
          <p:nvPr/>
        </p:nvSpPr>
        <p:spPr>
          <a:xfrm>
            <a:off x="4484501" y="2781821"/>
            <a:ext cx="960119" cy="502284"/>
          </a:xfrm>
          <a:prstGeom prst="rect">
            <a:avLst/>
          </a:prstGeom>
        </p:spPr>
        <p:txBody>
          <a:bodyPr wrap="square" lIns="0" tIns="13335" rIns="0" bIns="0" rtlCol="0" vert="horz">
            <a:spAutoFit/>
          </a:bodyPr>
          <a:lstStyle/>
          <a:p>
            <a:pPr marL="245745">
              <a:lnSpc>
                <a:spcPts val="1255"/>
              </a:lnSpc>
              <a:spcBef>
                <a:spcPts val="105"/>
              </a:spcBef>
            </a:pPr>
            <a:r>
              <a:rPr dirty="0" sz="1050" spc="-10">
                <a:latin typeface="宋体"/>
                <a:cs typeface="宋体"/>
              </a:rPr>
              <a:t>S</a:t>
            </a:r>
            <a:r>
              <a:rPr dirty="0" sz="1050" spc="-90">
                <a:latin typeface="宋体"/>
                <a:cs typeface="宋体"/>
              </a:rPr>
              <a:t> 寄存器</a:t>
            </a:r>
            <a:endParaRPr sz="1050">
              <a:latin typeface="宋体"/>
              <a:cs typeface="宋体"/>
            </a:endParaRPr>
          </a:p>
          <a:p>
            <a:pPr marL="231140" marR="145415" indent="-123825">
              <a:lnSpc>
                <a:spcPts val="1090"/>
              </a:lnSpc>
              <a:spcBef>
                <a:spcPts val="175"/>
              </a:spcBef>
            </a:pPr>
            <a:r>
              <a:rPr dirty="0" sz="1050" spc="-20">
                <a:latin typeface="宋体"/>
                <a:cs typeface="宋体"/>
              </a:rPr>
              <a:t>（8</a:t>
            </a:r>
            <a:r>
              <a:rPr dirty="0" sz="1050" spc="-185">
                <a:latin typeface="宋体"/>
                <a:cs typeface="宋体"/>
              </a:rPr>
              <a:t> 个 </a:t>
            </a:r>
            <a:r>
              <a:rPr dirty="0" sz="1050" spc="-20">
                <a:latin typeface="宋体"/>
                <a:cs typeface="宋体"/>
              </a:rPr>
              <a:t>64</a:t>
            </a:r>
            <a:r>
              <a:rPr dirty="0" sz="1050" spc="-155">
                <a:latin typeface="宋体"/>
                <a:cs typeface="宋体"/>
              </a:rPr>
              <a:t> 位</a:t>
            </a:r>
            <a:r>
              <a:rPr dirty="0" sz="1050" spc="-30">
                <a:latin typeface="宋体"/>
                <a:cs typeface="宋体"/>
              </a:rPr>
              <a:t>寄存器</a:t>
            </a:r>
            <a:r>
              <a:rPr dirty="0" sz="1050" spc="-50">
                <a:latin typeface="宋体"/>
                <a:cs typeface="宋体"/>
              </a:rPr>
              <a:t>）</a:t>
            </a:r>
            <a:endParaRPr sz="1050">
              <a:latin typeface="宋体"/>
              <a:cs typeface="宋体"/>
            </a:endParaRPr>
          </a:p>
        </p:txBody>
      </p:sp>
      <p:grpSp>
        <p:nvGrpSpPr>
          <p:cNvPr id="84" name="object 84" descr=""/>
          <p:cNvGrpSpPr/>
          <p:nvPr/>
        </p:nvGrpSpPr>
        <p:grpSpPr>
          <a:xfrm>
            <a:off x="4084322" y="2844719"/>
            <a:ext cx="403860" cy="60960"/>
            <a:chOff x="4084322" y="2844719"/>
            <a:chExt cx="403860" cy="60960"/>
          </a:xfrm>
        </p:grpSpPr>
        <p:sp>
          <p:nvSpPr>
            <p:cNvPr id="85" name="object 85" descr=""/>
            <p:cNvSpPr/>
            <p:nvPr/>
          </p:nvSpPr>
          <p:spPr>
            <a:xfrm>
              <a:off x="4085591" y="2845989"/>
              <a:ext cx="401320" cy="58419"/>
            </a:xfrm>
            <a:custGeom>
              <a:avLst/>
              <a:gdLst/>
              <a:ahLst/>
              <a:cxnLst/>
              <a:rect l="l" t="t" r="r" b="b"/>
              <a:pathLst>
                <a:path w="401320" h="58419">
                  <a:moveTo>
                    <a:pt x="88319" y="0"/>
                  </a:moveTo>
                  <a:lnTo>
                    <a:pt x="0" y="29722"/>
                  </a:lnTo>
                  <a:lnTo>
                    <a:pt x="88319" y="58121"/>
                  </a:lnTo>
                  <a:lnTo>
                    <a:pt x="66070" y="37079"/>
                  </a:lnTo>
                  <a:lnTo>
                    <a:pt x="54758" y="37079"/>
                  </a:lnTo>
                  <a:lnTo>
                    <a:pt x="52844" y="35314"/>
                  </a:lnTo>
                  <a:lnTo>
                    <a:pt x="51372" y="31635"/>
                  </a:lnTo>
                  <a:lnTo>
                    <a:pt x="51372" y="26485"/>
                  </a:lnTo>
                  <a:lnTo>
                    <a:pt x="52844" y="24719"/>
                  </a:lnTo>
                  <a:lnTo>
                    <a:pt x="54758" y="22954"/>
                  </a:lnTo>
                  <a:lnTo>
                    <a:pt x="65129" y="22954"/>
                  </a:lnTo>
                  <a:lnTo>
                    <a:pt x="88319" y="0"/>
                  </a:lnTo>
                  <a:close/>
                </a:path>
                <a:path w="401320" h="58419">
                  <a:moveTo>
                    <a:pt x="312798" y="0"/>
                  </a:moveTo>
                  <a:lnTo>
                    <a:pt x="342827" y="29722"/>
                  </a:lnTo>
                  <a:lnTo>
                    <a:pt x="312798" y="58121"/>
                  </a:lnTo>
                  <a:lnTo>
                    <a:pt x="378237" y="37079"/>
                  </a:lnTo>
                  <a:lnTo>
                    <a:pt x="344593" y="37079"/>
                  </a:lnTo>
                  <a:lnTo>
                    <a:pt x="348273" y="35314"/>
                  </a:lnTo>
                  <a:lnTo>
                    <a:pt x="350039" y="31635"/>
                  </a:lnTo>
                  <a:lnTo>
                    <a:pt x="350039" y="26485"/>
                  </a:lnTo>
                  <a:lnTo>
                    <a:pt x="348273" y="24719"/>
                  </a:lnTo>
                  <a:lnTo>
                    <a:pt x="344593" y="22954"/>
                  </a:lnTo>
                  <a:lnTo>
                    <a:pt x="381005" y="22954"/>
                  </a:lnTo>
                  <a:lnTo>
                    <a:pt x="312798" y="0"/>
                  </a:lnTo>
                  <a:close/>
                </a:path>
                <a:path w="401320" h="58419">
                  <a:moveTo>
                    <a:pt x="65129" y="22954"/>
                  </a:moveTo>
                  <a:lnTo>
                    <a:pt x="54758" y="22954"/>
                  </a:lnTo>
                  <a:lnTo>
                    <a:pt x="52844" y="24719"/>
                  </a:lnTo>
                  <a:lnTo>
                    <a:pt x="51372" y="26485"/>
                  </a:lnTo>
                  <a:lnTo>
                    <a:pt x="51372" y="31635"/>
                  </a:lnTo>
                  <a:lnTo>
                    <a:pt x="52844" y="35314"/>
                  </a:lnTo>
                  <a:lnTo>
                    <a:pt x="54758" y="37079"/>
                  </a:lnTo>
                  <a:lnTo>
                    <a:pt x="66070" y="37079"/>
                  </a:lnTo>
                  <a:lnTo>
                    <a:pt x="58290" y="29722"/>
                  </a:lnTo>
                  <a:lnTo>
                    <a:pt x="65129" y="22954"/>
                  </a:lnTo>
                  <a:close/>
                </a:path>
                <a:path w="401320" h="58419">
                  <a:moveTo>
                    <a:pt x="335988" y="22954"/>
                  </a:moveTo>
                  <a:lnTo>
                    <a:pt x="65129" y="22954"/>
                  </a:lnTo>
                  <a:lnTo>
                    <a:pt x="58290" y="29722"/>
                  </a:lnTo>
                  <a:lnTo>
                    <a:pt x="66070" y="37079"/>
                  </a:lnTo>
                  <a:lnTo>
                    <a:pt x="335047" y="37079"/>
                  </a:lnTo>
                  <a:lnTo>
                    <a:pt x="342827" y="29722"/>
                  </a:lnTo>
                  <a:lnTo>
                    <a:pt x="335988" y="22954"/>
                  </a:lnTo>
                  <a:close/>
                </a:path>
                <a:path w="401320" h="58419">
                  <a:moveTo>
                    <a:pt x="381005" y="22954"/>
                  </a:moveTo>
                  <a:lnTo>
                    <a:pt x="344593" y="22954"/>
                  </a:lnTo>
                  <a:lnTo>
                    <a:pt x="348273" y="24719"/>
                  </a:lnTo>
                  <a:lnTo>
                    <a:pt x="350039" y="26485"/>
                  </a:lnTo>
                  <a:lnTo>
                    <a:pt x="350039" y="31635"/>
                  </a:lnTo>
                  <a:lnTo>
                    <a:pt x="348273" y="35314"/>
                  </a:lnTo>
                  <a:lnTo>
                    <a:pt x="344593" y="37079"/>
                  </a:lnTo>
                  <a:lnTo>
                    <a:pt x="378237" y="37079"/>
                  </a:lnTo>
                  <a:lnTo>
                    <a:pt x="401118" y="29722"/>
                  </a:lnTo>
                  <a:lnTo>
                    <a:pt x="381005" y="22954"/>
                  </a:lnTo>
                  <a:close/>
                </a:path>
              </a:pathLst>
            </a:custGeom>
            <a:solidFill>
              <a:srgbClr val="000000"/>
            </a:solidFill>
          </p:spPr>
          <p:txBody>
            <a:bodyPr wrap="square" lIns="0" tIns="0" rIns="0" bIns="0" rtlCol="0"/>
            <a:lstStyle/>
            <a:p/>
          </p:txBody>
        </p:sp>
        <p:sp>
          <p:nvSpPr>
            <p:cNvPr id="86" name="object 86" descr=""/>
            <p:cNvSpPr/>
            <p:nvPr/>
          </p:nvSpPr>
          <p:spPr>
            <a:xfrm>
              <a:off x="4085592" y="2845989"/>
              <a:ext cx="401320" cy="58419"/>
            </a:xfrm>
            <a:custGeom>
              <a:avLst/>
              <a:gdLst/>
              <a:ahLst/>
              <a:cxnLst/>
              <a:rect l="l" t="t" r="r" b="b"/>
              <a:pathLst>
                <a:path w="401320" h="58419">
                  <a:moveTo>
                    <a:pt x="58290" y="22954"/>
                  </a:moveTo>
                  <a:lnTo>
                    <a:pt x="342827" y="22954"/>
                  </a:lnTo>
                  <a:lnTo>
                    <a:pt x="344593" y="22954"/>
                  </a:lnTo>
                  <a:lnTo>
                    <a:pt x="348273" y="24719"/>
                  </a:lnTo>
                  <a:lnTo>
                    <a:pt x="350039" y="26485"/>
                  </a:lnTo>
                  <a:lnTo>
                    <a:pt x="350039" y="29722"/>
                  </a:lnTo>
                  <a:lnTo>
                    <a:pt x="350039" y="31635"/>
                  </a:lnTo>
                  <a:lnTo>
                    <a:pt x="348273" y="35314"/>
                  </a:lnTo>
                  <a:lnTo>
                    <a:pt x="344593" y="37079"/>
                  </a:lnTo>
                  <a:lnTo>
                    <a:pt x="342827" y="37079"/>
                  </a:lnTo>
                  <a:lnTo>
                    <a:pt x="58290" y="37079"/>
                  </a:lnTo>
                  <a:lnTo>
                    <a:pt x="54758" y="37079"/>
                  </a:lnTo>
                  <a:lnTo>
                    <a:pt x="52844" y="35314"/>
                  </a:lnTo>
                  <a:lnTo>
                    <a:pt x="51372" y="31635"/>
                  </a:lnTo>
                  <a:lnTo>
                    <a:pt x="51372" y="29722"/>
                  </a:lnTo>
                  <a:lnTo>
                    <a:pt x="51372" y="26485"/>
                  </a:lnTo>
                  <a:lnTo>
                    <a:pt x="52844" y="24719"/>
                  </a:lnTo>
                  <a:lnTo>
                    <a:pt x="54758" y="22954"/>
                  </a:lnTo>
                  <a:lnTo>
                    <a:pt x="58290" y="22954"/>
                  </a:lnTo>
                  <a:close/>
                </a:path>
                <a:path w="401320" h="58419">
                  <a:moveTo>
                    <a:pt x="58290" y="29722"/>
                  </a:moveTo>
                  <a:lnTo>
                    <a:pt x="88319" y="58121"/>
                  </a:lnTo>
                  <a:lnTo>
                    <a:pt x="0" y="29722"/>
                  </a:lnTo>
                  <a:lnTo>
                    <a:pt x="88319" y="0"/>
                  </a:lnTo>
                  <a:lnTo>
                    <a:pt x="58290" y="29722"/>
                  </a:lnTo>
                  <a:close/>
                </a:path>
                <a:path w="401320" h="58419">
                  <a:moveTo>
                    <a:pt x="342827" y="29722"/>
                  </a:moveTo>
                  <a:lnTo>
                    <a:pt x="312798" y="0"/>
                  </a:lnTo>
                  <a:lnTo>
                    <a:pt x="401118" y="29722"/>
                  </a:lnTo>
                  <a:lnTo>
                    <a:pt x="312798" y="58121"/>
                  </a:lnTo>
                  <a:lnTo>
                    <a:pt x="342827" y="29722"/>
                  </a:lnTo>
                  <a:close/>
                </a:path>
              </a:pathLst>
            </a:custGeom>
            <a:ln w="3175">
              <a:solidFill>
                <a:srgbClr val="000000"/>
              </a:solidFill>
            </a:ln>
          </p:spPr>
          <p:txBody>
            <a:bodyPr wrap="square" lIns="0" tIns="0" rIns="0" bIns="0" rtlCol="0"/>
            <a:lstStyle/>
            <a:p/>
          </p:txBody>
        </p:sp>
      </p:grpSp>
      <p:grpSp>
        <p:nvGrpSpPr>
          <p:cNvPr id="87" name="object 87" descr=""/>
          <p:cNvGrpSpPr/>
          <p:nvPr/>
        </p:nvGrpSpPr>
        <p:grpSpPr>
          <a:xfrm>
            <a:off x="2847807" y="3643945"/>
            <a:ext cx="311785" cy="62865"/>
            <a:chOff x="2847807" y="3643945"/>
            <a:chExt cx="311785" cy="62865"/>
          </a:xfrm>
        </p:grpSpPr>
        <p:sp>
          <p:nvSpPr>
            <p:cNvPr id="88" name="object 88" descr=""/>
            <p:cNvSpPr/>
            <p:nvPr/>
          </p:nvSpPr>
          <p:spPr>
            <a:xfrm>
              <a:off x="2848838" y="3644975"/>
              <a:ext cx="309245" cy="60325"/>
            </a:xfrm>
            <a:custGeom>
              <a:avLst/>
              <a:gdLst/>
              <a:ahLst/>
              <a:cxnLst/>
              <a:rect l="l" t="t" r="r" b="b"/>
              <a:pathLst>
                <a:path w="309244" h="60325">
                  <a:moveTo>
                    <a:pt x="88231" y="0"/>
                  </a:moveTo>
                  <a:lnTo>
                    <a:pt x="0" y="30164"/>
                  </a:lnTo>
                  <a:lnTo>
                    <a:pt x="88231" y="60328"/>
                  </a:lnTo>
                  <a:lnTo>
                    <a:pt x="65189" y="37079"/>
                  </a:lnTo>
                  <a:lnTo>
                    <a:pt x="54684" y="37079"/>
                  </a:lnTo>
                  <a:lnTo>
                    <a:pt x="52859" y="35314"/>
                  </a:lnTo>
                  <a:lnTo>
                    <a:pt x="51033" y="33401"/>
                  </a:lnTo>
                  <a:lnTo>
                    <a:pt x="51033" y="26632"/>
                  </a:lnTo>
                  <a:lnTo>
                    <a:pt x="52859" y="24719"/>
                  </a:lnTo>
                  <a:lnTo>
                    <a:pt x="54684" y="22954"/>
                  </a:lnTo>
                  <a:lnTo>
                    <a:pt x="65480" y="22954"/>
                  </a:lnTo>
                  <a:lnTo>
                    <a:pt x="88231" y="0"/>
                  </a:lnTo>
                  <a:close/>
                </a:path>
                <a:path w="309244" h="60325">
                  <a:moveTo>
                    <a:pt x="220931" y="0"/>
                  </a:moveTo>
                  <a:lnTo>
                    <a:pt x="249046" y="30164"/>
                  </a:lnTo>
                  <a:lnTo>
                    <a:pt x="220931" y="60328"/>
                  </a:lnTo>
                  <a:lnTo>
                    <a:pt x="289002" y="37079"/>
                  </a:lnTo>
                  <a:lnTo>
                    <a:pt x="252726" y="37079"/>
                  </a:lnTo>
                  <a:lnTo>
                    <a:pt x="254492" y="35314"/>
                  </a:lnTo>
                  <a:lnTo>
                    <a:pt x="256259" y="33401"/>
                  </a:lnTo>
                  <a:lnTo>
                    <a:pt x="256259" y="26632"/>
                  </a:lnTo>
                  <a:lnTo>
                    <a:pt x="254492" y="24719"/>
                  </a:lnTo>
                  <a:lnTo>
                    <a:pt x="252726" y="22954"/>
                  </a:lnTo>
                  <a:lnTo>
                    <a:pt x="288140" y="22954"/>
                  </a:lnTo>
                  <a:lnTo>
                    <a:pt x="220931" y="0"/>
                  </a:lnTo>
                  <a:close/>
                </a:path>
                <a:path w="309244" h="60325">
                  <a:moveTo>
                    <a:pt x="65480" y="22954"/>
                  </a:moveTo>
                  <a:lnTo>
                    <a:pt x="54684" y="22954"/>
                  </a:lnTo>
                  <a:lnTo>
                    <a:pt x="52859" y="24719"/>
                  </a:lnTo>
                  <a:lnTo>
                    <a:pt x="51033" y="26632"/>
                  </a:lnTo>
                  <a:lnTo>
                    <a:pt x="51033" y="33401"/>
                  </a:lnTo>
                  <a:lnTo>
                    <a:pt x="52859" y="35314"/>
                  </a:lnTo>
                  <a:lnTo>
                    <a:pt x="54684" y="37079"/>
                  </a:lnTo>
                  <a:lnTo>
                    <a:pt x="65189" y="37079"/>
                  </a:lnTo>
                  <a:lnTo>
                    <a:pt x="58335" y="30164"/>
                  </a:lnTo>
                  <a:lnTo>
                    <a:pt x="65480" y="22954"/>
                  </a:lnTo>
                  <a:close/>
                </a:path>
                <a:path w="309244" h="60325">
                  <a:moveTo>
                    <a:pt x="242326" y="22954"/>
                  </a:moveTo>
                  <a:lnTo>
                    <a:pt x="65480" y="22954"/>
                  </a:lnTo>
                  <a:lnTo>
                    <a:pt x="58335" y="30164"/>
                  </a:lnTo>
                  <a:lnTo>
                    <a:pt x="65189" y="37079"/>
                  </a:lnTo>
                  <a:lnTo>
                    <a:pt x="242600" y="37079"/>
                  </a:lnTo>
                  <a:lnTo>
                    <a:pt x="249046" y="30164"/>
                  </a:lnTo>
                  <a:lnTo>
                    <a:pt x="242326" y="22954"/>
                  </a:lnTo>
                  <a:close/>
                </a:path>
                <a:path w="309244" h="60325">
                  <a:moveTo>
                    <a:pt x="288140" y="22954"/>
                  </a:moveTo>
                  <a:lnTo>
                    <a:pt x="252726" y="22954"/>
                  </a:lnTo>
                  <a:lnTo>
                    <a:pt x="254492" y="24719"/>
                  </a:lnTo>
                  <a:lnTo>
                    <a:pt x="256259" y="26632"/>
                  </a:lnTo>
                  <a:lnTo>
                    <a:pt x="256259" y="33401"/>
                  </a:lnTo>
                  <a:lnTo>
                    <a:pt x="254492" y="35314"/>
                  </a:lnTo>
                  <a:lnTo>
                    <a:pt x="252726" y="37079"/>
                  </a:lnTo>
                  <a:lnTo>
                    <a:pt x="289002" y="37079"/>
                  </a:lnTo>
                  <a:lnTo>
                    <a:pt x="309251" y="30164"/>
                  </a:lnTo>
                  <a:lnTo>
                    <a:pt x="288140" y="22954"/>
                  </a:lnTo>
                  <a:close/>
                </a:path>
              </a:pathLst>
            </a:custGeom>
            <a:solidFill>
              <a:srgbClr val="000000"/>
            </a:solidFill>
          </p:spPr>
          <p:txBody>
            <a:bodyPr wrap="square" lIns="0" tIns="0" rIns="0" bIns="0" rtlCol="0"/>
            <a:lstStyle/>
            <a:p/>
          </p:txBody>
        </p:sp>
        <p:sp>
          <p:nvSpPr>
            <p:cNvPr id="89" name="object 89" descr=""/>
            <p:cNvSpPr/>
            <p:nvPr/>
          </p:nvSpPr>
          <p:spPr>
            <a:xfrm>
              <a:off x="2848838" y="3644975"/>
              <a:ext cx="309245" cy="60325"/>
            </a:xfrm>
            <a:custGeom>
              <a:avLst/>
              <a:gdLst/>
              <a:ahLst/>
              <a:cxnLst/>
              <a:rect l="l" t="t" r="r" b="b"/>
              <a:pathLst>
                <a:path w="309244" h="60325">
                  <a:moveTo>
                    <a:pt x="58335" y="22954"/>
                  </a:moveTo>
                  <a:lnTo>
                    <a:pt x="249046" y="22954"/>
                  </a:lnTo>
                  <a:lnTo>
                    <a:pt x="252726" y="22954"/>
                  </a:lnTo>
                  <a:lnTo>
                    <a:pt x="254492" y="24719"/>
                  </a:lnTo>
                  <a:lnTo>
                    <a:pt x="256259" y="26632"/>
                  </a:lnTo>
                  <a:lnTo>
                    <a:pt x="256259" y="30164"/>
                  </a:lnTo>
                  <a:lnTo>
                    <a:pt x="256259" y="33401"/>
                  </a:lnTo>
                  <a:lnTo>
                    <a:pt x="254492" y="35314"/>
                  </a:lnTo>
                  <a:lnTo>
                    <a:pt x="252726" y="37079"/>
                  </a:lnTo>
                  <a:lnTo>
                    <a:pt x="249046" y="37079"/>
                  </a:lnTo>
                  <a:lnTo>
                    <a:pt x="58335" y="37079"/>
                  </a:lnTo>
                  <a:lnTo>
                    <a:pt x="54684" y="37079"/>
                  </a:lnTo>
                  <a:lnTo>
                    <a:pt x="52859" y="35314"/>
                  </a:lnTo>
                  <a:lnTo>
                    <a:pt x="51033" y="33401"/>
                  </a:lnTo>
                  <a:lnTo>
                    <a:pt x="51033" y="30164"/>
                  </a:lnTo>
                  <a:lnTo>
                    <a:pt x="51033" y="26632"/>
                  </a:lnTo>
                  <a:lnTo>
                    <a:pt x="52859" y="24719"/>
                  </a:lnTo>
                  <a:lnTo>
                    <a:pt x="54684" y="22954"/>
                  </a:lnTo>
                  <a:lnTo>
                    <a:pt x="58335" y="22954"/>
                  </a:lnTo>
                  <a:close/>
                </a:path>
                <a:path w="309244" h="60325">
                  <a:moveTo>
                    <a:pt x="58335" y="30164"/>
                  </a:moveTo>
                  <a:lnTo>
                    <a:pt x="88231" y="60328"/>
                  </a:lnTo>
                  <a:lnTo>
                    <a:pt x="0" y="30164"/>
                  </a:lnTo>
                  <a:lnTo>
                    <a:pt x="88231" y="0"/>
                  </a:lnTo>
                  <a:lnTo>
                    <a:pt x="58335" y="30164"/>
                  </a:lnTo>
                  <a:close/>
                </a:path>
                <a:path w="309244" h="60325">
                  <a:moveTo>
                    <a:pt x="249046" y="30164"/>
                  </a:moveTo>
                  <a:lnTo>
                    <a:pt x="220931" y="0"/>
                  </a:lnTo>
                  <a:lnTo>
                    <a:pt x="309251" y="30164"/>
                  </a:lnTo>
                  <a:lnTo>
                    <a:pt x="220931" y="60328"/>
                  </a:lnTo>
                  <a:lnTo>
                    <a:pt x="249046" y="30164"/>
                  </a:lnTo>
                  <a:close/>
                </a:path>
              </a:pathLst>
            </a:custGeom>
            <a:ln w="3175">
              <a:solidFill>
                <a:srgbClr val="000000"/>
              </a:solidFill>
            </a:ln>
          </p:spPr>
          <p:txBody>
            <a:bodyPr wrap="square" lIns="0" tIns="0" rIns="0" bIns="0" rtlCol="0"/>
            <a:lstStyle/>
            <a:p/>
          </p:txBody>
        </p:sp>
      </p:grpSp>
      <p:sp>
        <p:nvSpPr>
          <p:cNvPr id="90" name="object 90" descr=""/>
          <p:cNvSpPr txBox="1"/>
          <p:nvPr/>
        </p:nvSpPr>
        <p:spPr>
          <a:xfrm>
            <a:off x="3155881" y="3490696"/>
            <a:ext cx="927735" cy="548640"/>
          </a:xfrm>
          <a:prstGeom prst="rect">
            <a:avLst/>
          </a:prstGeom>
        </p:spPr>
        <p:txBody>
          <a:bodyPr wrap="square" lIns="0" tIns="34290" rIns="0" bIns="0" rtlCol="0" vert="horz">
            <a:spAutoFit/>
          </a:bodyPr>
          <a:lstStyle/>
          <a:p>
            <a:pPr algn="ctr">
              <a:lnSpc>
                <a:spcPts val="1175"/>
              </a:lnSpc>
              <a:spcBef>
                <a:spcPts val="270"/>
              </a:spcBef>
            </a:pPr>
            <a:r>
              <a:rPr dirty="0" sz="1050" spc="-10">
                <a:latin typeface="宋体"/>
                <a:cs typeface="宋体"/>
              </a:rPr>
              <a:t>B</a:t>
            </a:r>
            <a:r>
              <a:rPr dirty="0" sz="1050" spc="-90">
                <a:latin typeface="宋体"/>
                <a:cs typeface="宋体"/>
              </a:rPr>
              <a:t> 寄存器</a:t>
            </a:r>
            <a:endParaRPr sz="1050">
              <a:latin typeface="宋体"/>
              <a:cs typeface="宋体"/>
            </a:endParaRPr>
          </a:p>
          <a:p>
            <a:pPr algn="ctr" marR="41275">
              <a:lnSpc>
                <a:spcPts val="1170"/>
              </a:lnSpc>
            </a:pPr>
            <a:r>
              <a:rPr dirty="0" sz="1050" spc="-20">
                <a:latin typeface="宋体"/>
                <a:cs typeface="宋体"/>
              </a:rPr>
              <a:t>（8</a:t>
            </a:r>
            <a:r>
              <a:rPr dirty="0" sz="1050" spc="-175">
                <a:latin typeface="宋体"/>
                <a:cs typeface="宋体"/>
              </a:rPr>
              <a:t> 个 </a:t>
            </a:r>
            <a:r>
              <a:rPr dirty="0" sz="1050" spc="-20">
                <a:latin typeface="宋体"/>
                <a:cs typeface="宋体"/>
              </a:rPr>
              <a:t>32</a:t>
            </a:r>
            <a:r>
              <a:rPr dirty="0" sz="1050" spc="-145">
                <a:latin typeface="宋体"/>
                <a:cs typeface="宋体"/>
              </a:rPr>
              <a:t> 位</a:t>
            </a:r>
            <a:endParaRPr sz="1050">
              <a:latin typeface="宋体"/>
              <a:cs typeface="宋体"/>
            </a:endParaRPr>
          </a:p>
          <a:p>
            <a:pPr algn="ctr" marL="28575">
              <a:lnSpc>
                <a:spcPts val="1255"/>
              </a:lnSpc>
            </a:pPr>
            <a:r>
              <a:rPr dirty="0" sz="1050" spc="-30">
                <a:latin typeface="宋体"/>
                <a:cs typeface="宋体"/>
              </a:rPr>
              <a:t>寄存器</a:t>
            </a:r>
            <a:r>
              <a:rPr dirty="0" sz="1050" spc="-50">
                <a:latin typeface="宋体"/>
                <a:cs typeface="宋体"/>
              </a:rPr>
              <a:t>）</a:t>
            </a:r>
            <a:endParaRPr sz="1050">
              <a:latin typeface="宋体"/>
              <a:cs typeface="宋体"/>
            </a:endParaRPr>
          </a:p>
        </p:txBody>
      </p:sp>
      <p:sp>
        <p:nvSpPr>
          <p:cNvPr id="91" name="object 91" descr=""/>
          <p:cNvSpPr txBox="1"/>
          <p:nvPr/>
        </p:nvSpPr>
        <p:spPr>
          <a:xfrm>
            <a:off x="4484501" y="3718752"/>
            <a:ext cx="960119" cy="502920"/>
          </a:xfrm>
          <a:prstGeom prst="rect">
            <a:avLst/>
          </a:prstGeom>
        </p:spPr>
        <p:txBody>
          <a:bodyPr wrap="square" lIns="0" tIns="11430" rIns="0" bIns="0" rtlCol="0" vert="horz">
            <a:spAutoFit/>
          </a:bodyPr>
          <a:lstStyle/>
          <a:p>
            <a:pPr marL="245745">
              <a:lnSpc>
                <a:spcPct val="100000"/>
              </a:lnSpc>
              <a:spcBef>
                <a:spcPts val="90"/>
              </a:spcBef>
            </a:pPr>
            <a:r>
              <a:rPr dirty="0" sz="1050" spc="-10">
                <a:latin typeface="宋体"/>
                <a:cs typeface="宋体"/>
              </a:rPr>
              <a:t>A</a:t>
            </a:r>
            <a:r>
              <a:rPr dirty="0" sz="1050" spc="-90">
                <a:latin typeface="宋体"/>
                <a:cs typeface="宋体"/>
              </a:rPr>
              <a:t> 寄存器</a:t>
            </a:r>
            <a:endParaRPr sz="1050">
              <a:latin typeface="宋体"/>
              <a:cs typeface="宋体"/>
            </a:endParaRPr>
          </a:p>
          <a:p>
            <a:pPr marL="231140" marR="145415" indent="-123825">
              <a:lnSpc>
                <a:spcPts val="1070"/>
              </a:lnSpc>
              <a:spcBef>
                <a:spcPts val="200"/>
              </a:spcBef>
            </a:pPr>
            <a:r>
              <a:rPr dirty="0" sz="1050" spc="-20">
                <a:latin typeface="宋体"/>
                <a:cs typeface="宋体"/>
              </a:rPr>
              <a:t>（8</a:t>
            </a:r>
            <a:r>
              <a:rPr dirty="0" sz="1050" spc="-185">
                <a:latin typeface="宋体"/>
                <a:cs typeface="宋体"/>
              </a:rPr>
              <a:t> 个 </a:t>
            </a:r>
            <a:r>
              <a:rPr dirty="0" sz="1050" spc="-20">
                <a:latin typeface="宋体"/>
                <a:cs typeface="宋体"/>
              </a:rPr>
              <a:t>32</a:t>
            </a:r>
            <a:r>
              <a:rPr dirty="0" sz="1050" spc="-155">
                <a:latin typeface="宋体"/>
                <a:cs typeface="宋体"/>
              </a:rPr>
              <a:t> 位</a:t>
            </a:r>
            <a:r>
              <a:rPr dirty="0" sz="1050" spc="-30">
                <a:latin typeface="宋体"/>
                <a:cs typeface="宋体"/>
              </a:rPr>
              <a:t>寄存器</a:t>
            </a:r>
            <a:r>
              <a:rPr dirty="0" sz="1050" spc="-50">
                <a:latin typeface="宋体"/>
                <a:cs typeface="宋体"/>
              </a:rPr>
              <a:t>）</a:t>
            </a:r>
            <a:endParaRPr sz="1050">
              <a:latin typeface="宋体"/>
              <a:cs typeface="宋体"/>
            </a:endParaRPr>
          </a:p>
        </p:txBody>
      </p:sp>
      <p:grpSp>
        <p:nvGrpSpPr>
          <p:cNvPr id="92" name="object 92" descr=""/>
          <p:cNvGrpSpPr/>
          <p:nvPr/>
        </p:nvGrpSpPr>
        <p:grpSpPr>
          <a:xfrm>
            <a:off x="4084561" y="3872016"/>
            <a:ext cx="403225" cy="62865"/>
            <a:chOff x="4084561" y="3872016"/>
            <a:chExt cx="403225" cy="62865"/>
          </a:xfrm>
        </p:grpSpPr>
        <p:sp>
          <p:nvSpPr>
            <p:cNvPr id="93" name="object 93" descr=""/>
            <p:cNvSpPr/>
            <p:nvPr/>
          </p:nvSpPr>
          <p:spPr>
            <a:xfrm>
              <a:off x="4085591" y="3873046"/>
              <a:ext cx="401320" cy="60325"/>
            </a:xfrm>
            <a:custGeom>
              <a:avLst/>
              <a:gdLst/>
              <a:ahLst/>
              <a:cxnLst/>
              <a:rect l="l" t="t" r="r" b="b"/>
              <a:pathLst>
                <a:path w="401320" h="60325">
                  <a:moveTo>
                    <a:pt x="88319" y="0"/>
                  </a:moveTo>
                  <a:lnTo>
                    <a:pt x="0" y="30164"/>
                  </a:lnTo>
                  <a:lnTo>
                    <a:pt x="88319" y="60181"/>
                  </a:lnTo>
                  <a:lnTo>
                    <a:pt x="65209" y="37079"/>
                  </a:lnTo>
                  <a:lnTo>
                    <a:pt x="54758" y="37079"/>
                  </a:lnTo>
                  <a:lnTo>
                    <a:pt x="52844" y="35608"/>
                  </a:lnTo>
                  <a:lnTo>
                    <a:pt x="51372" y="33695"/>
                  </a:lnTo>
                  <a:lnTo>
                    <a:pt x="51372" y="26485"/>
                  </a:lnTo>
                  <a:lnTo>
                    <a:pt x="52844" y="24719"/>
                  </a:lnTo>
                  <a:lnTo>
                    <a:pt x="54758" y="23248"/>
                  </a:lnTo>
                  <a:lnTo>
                    <a:pt x="65175" y="23248"/>
                  </a:lnTo>
                  <a:lnTo>
                    <a:pt x="88319" y="0"/>
                  </a:lnTo>
                  <a:close/>
                </a:path>
                <a:path w="401320" h="60325">
                  <a:moveTo>
                    <a:pt x="312798" y="0"/>
                  </a:moveTo>
                  <a:lnTo>
                    <a:pt x="342827" y="30164"/>
                  </a:lnTo>
                  <a:lnTo>
                    <a:pt x="312798" y="60181"/>
                  </a:lnTo>
                  <a:lnTo>
                    <a:pt x="380769" y="37079"/>
                  </a:lnTo>
                  <a:lnTo>
                    <a:pt x="344593" y="37079"/>
                  </a:lnTo>
                  <a:lnTo>
                    <a:pt x="348273" y="35608"/>
                  </a:lnTo>
                  <a:lnTo>
                    <a:pt x="350039" y="33695"/>
                  </a:lnTo>
                  <a:lnTo>
                    <a:pt x="350039" y="26485"/>
                  </a:lnTo>
                  <a:lnTo>
                    <a:pt x="348273" y="24719"/>
                  </a:lnTo>
                  <a:lnTo>
                    <a:pt x="344593" y="23248"/>
                  </a:lnTo>
                  <a:lnTo>
                    <a:pt x="380869" y="23248"/>
                  </a:lnTo>
                  <a:lnTo>
                    <a:pt x="312798" y="0"/>
                  </a:lnTo>
                  <a:close/>
                </a:path>
                <a:path w="401320" h="60325">
                  <a:moveTo>
                    <a:pt x="65175" y="23248"/>
                  </a:moveTo>
                  <a:lnTo>
                    <a:pt x="54758" y="23248"/>
                  </a:lnTo>
                  <a:lnTo>
                    <a:pt x="52844" y="24719"/>
                  </a:lnTo>
                  <a:lnTo>
                    <a:pt x="51372" y="26485"/>
                  </a:lnTo>
                  <a:lnTo>
                    <a:pt x="51372" y="33695"/>
                  </a:lnTo>
                  <a:lnTo>
                    <a:pt x="52844" y="35608"/>
                  </a:lnTo>
                  <a:lnTo>
                    <a:pt x="54758" y="37079"/>
                  </a:lnTo>
                  <a:lnTo>
                    <a:pt x="65209" y="37079"/>
                  </a:lnTo>
                  <a:lnTo>
                    <a:pt x="58290" y="30164"/>
                  </a:lnTo>
                  <a:lnTo>
                    <a:pt x="65175" y="23248"/>
                  </a:lnTo>
                  <a:close/>
                </a:path>
                <a:path w="401320" h="60325">
                  <a:moveTo>
                    <a:pt x="335942" y="23248"/>
                  </a:moveTo>
                  <a:lnTo>
                    <a:pt x="65175" y="23248"/>
                  </a:lnTo>
                  <a:lnTo>
                    <a:pt x="58290" y="30164"/>
                  </a:lnTo>
                  <a:lnTo>
                    <a:pt x="65209" y="37079"/>
                  </a:lnTo>
                  <a:lnTo>
                    <a:pt x="335908" y="37079"/>
                  </a:lnTo>
                  <a:lnTo>
                    <a:pt x="342827" y="30164"/>
                  </a:lnTo>
                  <a:lnTo>
                    <a:pt x="335942" y="23248"/>
                  </a:lnTo>
                  <a:close/>
                </a:path>
                <a:path w="401320" h="60325">
                  <a:moveTo>
                    <a:pt x="380869" y="23248"/>
                  </a:moveTo>
                  <a:lnTo>
                    <a:pt x="344593" y="23248"/>
                  </a:lnTo>
                  <a:lnTo>
                    <a:pt x="348273" y="24719"/>
                  </a:lnTo>
                  <a:lnTo>
                    <a:pt x="350039" y="26485"/>
                  </a:lnTo>
                  <a:lnTo>
                    <a:pt x="350039" y="33695"/>
                  </a:lnTo>
                  <a:lnTo>
                    <a:pt x="348273" y="35608"/>
                  </a:lnTo>
                  <a:lnTo>
                    <a:pt x="344593" y="37079"/>
                  </a:lnTo>
                  <a:lnTo>
                    <a:pt x="380769" y="37079"/>
                  </a:lnTo>
                  <a:lnTo>
                    <a:pt x="401118" y="30164"/>
                  </a:lnTo>
                  <a:lnTo>
                    <a:pt x="380869" y="23248"/>
                  </a:lnTo>
                  <a:close/>
                </a:path>
              </a:pathLst>
            </a:custGeom>
            <a:solidFill>
              <a:srgbClr val="000000"/>
            </a:solidFill>
          </p:spPr>
          <p:txBody>
            <a:bodyPr wrap="square" lIns="0" tIns="0" rIns="0" bIns="0" rtlCol="0"/>
            <a:lstStyle/>
            <a:p/>
          </p:txBody>
        </p:sp>
        <p:sp>
          <p:nvSpPr>
            <p:cNvPr id="94" name="object 94" descr=""/>
            <p:cNvSpPr/>
            <p:nvPr/>
          </p:nvSpPr>
          <p:spPr>
            <a:xfrm>
              <a:off x="4085592" y="3873046"/>
              <a:ext cx="401320" cy="60325"/>
            </a:xfrm>
            <a:custGeom>
              <a:avLst/>
              <a:gdLst/>
              <a:ahLst/>
              <a:cxnLst/>
              <a:rect l="l" t="t" r="r" b="b"/>
              <a:pathLst>
                <a:path w="401320" h="60325">
                  <a:moveTo>
                    <a:pt x="58290" y="23248"/>
                  </a:moveTo>
                  <a:lnTo>
                    <a:pt x="342827" y="23248"/>
                  </a:lnTo>
                  <a:lnTo>
                    <a:pt x="344593" y="23248"/>
                  </a:lnTo>
                  <a:lnTo>
                    <a:pt x="348273" y="24719"/>
                  </a:lnTo>
                  <a:lnTo>
                    <a:pt x="350039" y="26485"/>
                  </a:lnTo>
                  <a:lnTo>
                    <a:pt x="350039" y="30164"/>
                  </a:lnTo>
                  <a:lnTo>
                    <a:pt x="350039" y="33695"/>
                  </a:lnTo>
                  <a:lnTo>
                    <a:pt x="348273" y="35608"/>
                  </a:lnTo>
                  <a:lnTo>
                    <a:pt x="344593" y="37079"/>
                  </a:lnTo>
                  <a:lnTo>
                    <a:pt x="342827" y="37079"/>
                  </a:lnTo>
                  <a:lnTo>
                    <a:pt x="58290" y="37079"/>
                  </a:lnTo>
                  <a:lnTo>
                    <a:pt x="54758" y="37079"/>
                  </a:lnTo>
                  <a:lnTo>
                    <a:pt x="52844" y="35608"/>
                  </a:lnTo>
                  <a:lnTo>
                    <a:pt x="51372" y="33695"/>
                  </a:lnTo>
                  <a:lnTo>
                    <a:pt x="51372" y="30164"/>
                  </a:lnTo>
                  <a:lnTo>
                    <a:pt x="51372" y="26485"/>
                  </a:lnTo>
                  <a:lnTo>
                    <a:pt x="52844" y="24719"/>
                  </a:lnTo>
                  <a:lnTo>
                    <a:pt x="54758" y="23248"/>
                  </a:lnTo>
                  <a:lnTo>
                    <a:pt x="58290" y="23248"/>
                  </a:lnTo>
                  <a:close/>
                </a:path>
                <a:path w="401320" h="60325">
                  <a:moveTo>
                    <a:pt x="58290" y="30164"/>
                  </a:moveTo>
                  <a:lnTo>
                    <a:pt x="88319" y="60181"/>
                  </a:lnTo>
                  <a:lnTo>
                    <a:pt x="0" y="30164"/>
                  </a:lnTo>
                  <a:lnTo>
                    <a:pt x="88319" y="0"/>
                  </a:lnTo>
                  <a:lnTo>
                    <a:pt x="58290" y="30164"/>
                  </a:lnTo>
                  <a:close/>
                </a:path>
                <a:path w="401320" h="60325">
                  <a:moveTo>
                    <a:pt x="342827" y="30164"/>
                  </a:moveTo>
                  <a:lnTo>
                    <a:pt x="312798" y="0"/>
                  </a:lnTo>
                  <a:lnTo>
                    <a:pt x="401118" y="30164"/>
                  </a:lnTo>
                  <a:lnTo>
                    <a:pt x="312798" y="60181"/>
                  </a:lnTo>
                  <a:lnTo>
                    <a:pt x="342827" y="30164"/>
                  </a:lnTo>
                  <a:close/>
                </a:path>
              </a:pathLst>
            </a:custGeom>
            <a:ln w="3175">
              <a:solidFill>
                <a:srgbClr val="000000"/>
              </a:solidFill>
            </a:ln>
          </p:spPr>
          <p:txBody>
            <a:bodyPr wrap="square" lIns="0" tIns="0" rIns="0" bIns="0" rtlCol="0"/>
            <a:lstStyle/>
            <a:p/>
          </p:txBody>
        </p:sp>
      </p:grpSp>
      <p:grpSp>
        <p:nvGrpSpPr>
          <p:cNvPr id="95" name="object 95" descr=""/>
          <p:cNvGrpSpPr/>
          <p:nvPr/>
        </p:nvGrpSpPr>
        <p:grpSpPr>
          <a:xfrm>
            <a:off x="2847807" y="4101853"/>
            <a:ext cx="1624330" cy="60960"/>
            <a:chOff x="2847807" y="4101853"/>
            <a:chExt cx="1624330" cy="60960"/>
          </a:xfrm>
        </p:grpSpPr>
        <p:sp>
          <p:nvSpPr>
            <p:cNvPr id="96" name="object 96" descr=""/>
            <p:cNvSpPr/>
            <p:nvPr/>
          </p:nvSpPr>
          <p:spPr>
            <a:xfrm>
              <a:off x="2848838" y="4102883"/>
              <a:ext cx="1622425" cy="58419"/>
            </a:xfrm>
            <a:custGeom>
              <a:avLst/>
              <a:gdLst/>
              <a:ahLst/>
              <a:cxnLst/>
              <a:rect l="l" t="t" r="r" b="b"/>
              <a:pathLst>
                <a:path w="1622425" h="58420">
                  <a:moveTo>
                    <a:pt x="88231" y="0"/>
                  </a:moveTo>
                  <a:lnTo>
                    <a:pt x="0" y="28251"/>
                  </a:lnTo>
                  <a:lnTo>
                    <a:pt x="88231" y="58415"/>
                  </a:lnTo>
                  <a:lnTo>
                    <a:pt x="65480" y="35461"/>
                  </a:lnTo>
                  <a:lnTo>
                    <a:pt x="54684" y="35461"/>
                  </a:lnTo>
                  <a:lnTo>
                    <a:pt x="51033" y="31929"/>
                  </a:lnTo>
                  <a:lnTo>
                    <a:pt x="51033" y="26485"/>
                  </a:lnTo>
                  <a:lnTo>
                    <a:pt x="52859" y="23248"/>
                  </a:lnTo>
                  <a:lnTo>
                    <a:pt x="54684" y="21335"/>
                  </a:lnTo>
                  <a:lnTo>
                    <a:pt x="65653" y="21335"/>
                  </a:lnTo>
                  <a:lnTo>
                    <a:pt x="88231" y="0"/>
                  </a:lnTo>
                  <a:close/>
                </a:path>
                <a:path w="1622425" h="58420">
                  <a:moveTo>
                    <a:pt x="1533507" y="0"/>
                  </a:moveTo>
                  <a:lnTo>
                    <a:pt x="1563830" y="28251"/>
                  </a:lnTo>
                  <a:lnTo>
                    <a:pt x="1533507" y="58415"/>
                  </a:lnTo>
                  <a:lnTo>
                    <a:pt x="1600940" y="35461"/>
                  </a:lnTo>
                  <a:lnTo>
                    <a:pt x="1567069" y="35461"/>
                  </a:lnTo>
                  <a:lnTo>
                    <a:pt x="1568982" y="33695"/>
                  </a:lnTo>
                  <a:lnTo>
                    <a:pt x="1570749" y="31929"/>
                  </a:lnTo>
                  <a:lnTo>
                    <a:pt x="1570749" y="26485"/>
                  </a:lnTo>
                  <a:lnTo>
                    <a:pt x="1568982" y="23248"/>
                  </a:lnTo>
                  <a:lnTo>
                    <a:pt x="1567069" y="21335"/>
                  </a:lnTo>
                  <a:lnTo>
                    <a:pt x="1600429" y="21335"/>
                  </a:lnTo>
                  <a:lnTo>
                    <a:pt x="1533507" y="0"/>
                  </a:lnTo>
                  <a:close/>
                </a:path>
                <a:path w="1622425" h="58420">
                  <a:moveTo>
                    <a:pt x="65653" y="21335"/>
                  </a:moveTo>
                  <a:lnTo>
                    <a:pt x="54684" y="21335"/>
                  </a:lnTo>
                  <a:lnTo>
                    <a:pt x="52859" y="23248"/>
                  </a:lnTo>
                  <a:lnTo>
                    <a:pt x="51033" y="26485"/>
                  </a:lnTo>
                  <a:lnTo>
                    <a:pt x="51033" y="31929"/>
                  </a:lnTo>
                  <a:lnTo>
                    <a:pt x="54684" y="35461"/>
                  </a:lnTo>
                  <a:lnTo>
                    <a:pt x="65480" y="35461"/>
                  </a:lnTo>
                  <a:lnTo>
                    <a:pt x="58335" y="28251"/>
                  </a:lnTo>
                  <a:lnTo>
                    <a:pt x="65653" y="21335"/>
                  </a:lnTo>
                  <a:close/>
                </a:path>
                <a:path w="1622425" h="58420">
                  <a:moveTo>
                    <a:pt x="1556407" y="21335"/>
                  </a:moveTo>
                  <a:lnTo>
                    <a:pt x="65653" y="21335"/>
                  </a:lnTo>
                  <a:lnTo>
                    <a:pt x="58335" y="28251"/>
                  </a:lnTo>
                  <a:lnTo>
                    <a:pt x="65480" y="35461"/>
                  </a:lnTo>
                  <a:lnTo>
                    <a:pt x="1556582" y="35461"/>
                  </a:lnTo>
                  <a:lnTo>
                    <a:pt x="1563830" y="28251"/>
                  </a:lnTo>
                  <a:lnTo>
                    <a:pt x="1556407" y="21335"/>
                  </a:lnTo>
                  <a:close/>
                </a:path>
                <a:path w="1622425" h="58420">
                  <a:moveTo>
                    <a:pt x="1600429" y="21335"/>
                  </a:moveTo>
                  <a:lnTo>
                    <a:pt x="1567069" y="21335"/>
                  </a:lnTo>
                  <a:lnTo>
                    <a:pt x="1568982" y="23248"/>
                  </a:lnTo>
                  <a:lnTo>
                    <a:pt x="1570749" y="26485"/>
                  </a:lnTo>
                  <a:lnTo>
                    <a:pt x="1570749" y="31929"/>
                  </a:lnTo>
                  <a:lnTo>
                    <a:pt x="1568982" y="33695"/>
                  </a:lnTo>
                  <a:lnTo>
                    <a:pt x="1567069" y="35461"/>
                  </a:lnTo>
                  <a:lnTo>
                    <a:pt x="1600940" y="35461"/>
                  </a:lnTo>
                  <a:lnTo>
                    <a:pt x="1622121" y="28251"/>
                  </a:lnTo>
                  <a:lnTo>
                    <a:pt x="1600429" y="21335"/>
                  </a:lnTo>
                  <a:close/>
                </a:path>
              </a:pathLst>
            </a:custGeom>
            <a:solidFill>
              <a:srgbClr val="000000"/>
            </a:solidFill>
          </p:spPr>
          <p:txBody>
            <a:bodyPr wrap="square" lIns="0" tIns="0" rIns="0" bIns="0" rtlCol="0"/>
            <a:lstStyle/>
            <a:p/>
          </p:txBody>
        </p:sp>
        <p:sp>
          <p:nvSpPr>
            <p:cNvPr id="97" name="object 97" descr=""/>
            <p:cNvSpPr/>
            <p:nvPr/>
          </p:nvSpPr>
          <p:spPr>
            <a:xfrm>
              <a:off x="2848838" y="4102883"/>
              <a:ext cx="1622425" cy="58419"/>
            </a:xfrm>
            <a:custGeom>
              <a:avLst/>
              <a:gdLst/>
              <a:ahLst/>
              <a:cxnLst/>
              <a:rect l="l" t="t" r="r" b="b"/>
              <a:pathLst>
                <a:path w="1622425" h="58420">
                  <a:moveTo>
                    <a:pt x="58335" y="21335"/>
                  </a:moveTo>
                  <a:lnTo>
                    <a:pt x="1563830" y="21335"/>
                  </a:lnTo>
                  <a:lnTo>
                    <a:pt x="1567069" y="21335"/>
                  </a:lnTo>
                  <a:lnTo>
                    <a:pt x="1568982" y="23248"/>
                  </a:lnTo>
                  <a:lnTo>
                    <a:pt x="1570749" y="26485"/>
                  </a:lnTo>
                  <a:lnTo>
                    <a:pt x="1570749" y="28251"/>
                  </a:lnTo>
                  <a:lnTo>
                    <a:pt x="1570749" y="31929"/>
                  </a:lnTo>
                  <a:lnTo>
                    <a:pt x="1568982" y="33695"/>
                  </a:lnTo>
                  <a:lnTo>
                    <a:pt x="1567069" y="35461"/>
                  </a:lnTo>
                  <a:lnTo>
                    <a:pt x="1563830" y="35461"/>
                  </a:lnTo>
                  <a:lnTo>
                    <a:pt x="58335" y="35461"/>
                  </a:lnTo>
                  <a:lnTo>
                    <a:pt x="54684" y="35461"/>
                  </a:lnTo>
                  <a:lnTo>
                    <a:pt x="52859" y="33695"/>
                  </a:lnTo>
                  <a:lnTo>
                    <a:pt x="51033" y="31929"/>
                  </a:lnTo>
                  <a:lnTo>
                    <a:pt x="51033" y="28251"/>
                  </a:lnTo>
                  <a:lnTo>
                    <a:pt x="51033" y="26485"/>
                  </a:lnTo>
                  <a:lnTo>
                    <a:pt x="52859" y="23248"/>
                  </a:lnTo>
                  <a:lnTo>
                    <a:pt x="54684" y="21335"/>
                  </a:lnTo>
                  <a:lnTo>
                    <a:pt x="58335" y="21335"/>
                  </a:lnTo>
                  <a:close/>
                </a:path>
                <a:path w="1622425" h="58420">
                  <a:moveTo>
                    <a:pt x="58335" y="28251"/>
                  </a:moveTo>
                  <a:lnTo>
                    <a:pt x="88231" y="58415"/>
                  </a:lnTo>
                  <a:lnTo>
                    <a:pt x="0" y="28251"/>
                  </a:lnTo>
                  <a:lnTo>
                    <a:pt x="88231" y="0"/>
                  </a:lnTo>
                  <a:lnTo>
                    <a:pt x="58335" y="28251"/>
                  </a:lnTo>
                  <a:close/>
                </a:path>
                <a:path w="1622425" h="58420">
                  <a:moveTo>
                    <a:pt x="1563830" y="28251"/>
                  </a:moveTo>
                  <a:lnTo>
                    <a:pt x="1533507" y="0"/>
                  </a:lnTo>
                  <a:lnTo>
                    <a:pt x="1622121" y="28251"/>
                  </a:lnTo>
                  <a:lnTo>
                    <a:pt x="1533507" y="58415"/>
                  </a:lnTo>
                  <a:lnTo>
                    <a:pt x="1563830" y="28251"/>
                  </a:lnTo>
                  <a:close/>
                </a:path>
              </a:pathLst>
            </a:custGeom>
            <a:ln w="3175">
              <a:solidFill>
                <a:srgbClr val="000000"/>
              </a:solidFill>
            </a:ln>
          </p:spPr>
          <p:txBody>
            <a:bodyPr wrap="square" lIns="0" tIns="0" rIns="0" bIns="0" rtlCol="0"/>
            <a:lstStyle/>
            <a:p/>
          </p:txBody>
        </p:sp>
      </p:grpSp>
      <p:grpSp>
        <p:nvGrpSpPr>
          <p:cNvPr id="98" name="object 98" descr=""/>
          <p:cNvGrpSpPr/>
          <p:nvPr/>
        </p:nvGrpSpPr>
        <p:grpSpPr>
          <a:xfrm>
            <a:off x="2847568" y="629772"/>
            <a:ext cx="1640839" cy="3167380"/>
            <a:chOff x="2847568" y="629772"/>
            <a:chExt cx="1640839" cy="3167380"/>
          </a:xfrm>
        </p:grpSpPr>
        <p:sp>
          <p:nvSpPr>
            <p:cNvPr id="99" name="object 99" descr=""/>
            <p:cNvSpPr/>
            <p:nvPr/>
          </p:nvSpPr>
          <p:spPr>
            <a:xfrm>
              <a:off x="2848838" y="3188685"/>
              <a:ext cx="1622425" cy="58419"/>
            </a:xfrm>
            <a:custGeom>
              <a:avLst/>
              <a:gdLst/>
              <a:ahLst/>
              <a:cxnLst/>
              <a:rect l="l" t="t" r="r" b="b"/>
              <a:pathLst>
                <a:path w="1622425" h="58419">
                  <a:moveTo>
                    <a:pt x="88231" y="0"/>
                  </a:moveTo>
                  <a:lnTo>
                    <a:pt x="0" y="30164"/>
                  </a:lnTo>
                  <a:lnTo>
                    <a:pt x="88231" y="58415"/>
                  </a:lnTo>
                  <a:lnTo>
                    <a:pt x="65964" y="37374"/>
                  </a:lnTo>
                  <a:lnTo>
                    <a:pt x="58335" y="37374"/>
                  </a:lnTo>
                  <a:lnTo>
                    <a:pt x="54684" y="35608"/>
                  </a:lnTo>
                  <a:lnTo>
                    <a:pt x="52859" y="35608"/>
                  </a:lnTo>
                  <a:lnTo>
                    <a:pt x="51033" y="31929"/>
                  </a:lnTo>
                  <a:lnTo>
                    <a:pt x="51033" y="26485"/>
                  </a:lnTo>
                  <a:lnTo>
                    <a:pt x="52859" y="25014"/>
                  </a:lnTo>
                  <a:lnTo>
                    <a:pt x="54684" y="23248"/>
                  </a:lnTo>
                  <a:lnTo>
                    <a:pt x="58335" y="21482"/>
                  </a:lnTo>
                  <a:lnTo>
                    <a:pt x="66939" y="21482"/>
                  </a:lnTo>
                  <a:lnTo>
                    <a:pt x="88231" y="0"/>
                  </a:lnTo>
                  <a:close/>
                </a:path>
                <a:path w="1622425" h="58419">
                  <a:moveTo>
                    <a:pt x="1533507" y="0"/>
                  </a:moveTo>
                  <a:lnTo>
                    <a:pt x="1563830" y="30164"/>
                  </a:lnTo>
                  <a:lnTo>
                    <a:pt x="1533507" y="58415"/>
                  </a:lnTo>
                  <a:lnTo>
                    <a:pt x="1599506" y="37374"/>
                  </a:lnTo>
                  <a:lnTo>
                    <a:pt x="1563830" y="37374"/>
                  </a:lnTo>
                  <a:lnTo>
                    <a:pt x="1567069" y="35608"/>
                  </a:lnTo>
                  <a:lnTo>
                    <a:pt x="1568982" y="35608"/>
                  </a:lnTo>
                  <a:lnTo>
                    <a:pt x="1570749" y="31929"/>
                  </a:lnTo>
                  <a:lnTo>
                    <a:pt x="1570749" y="26485"/>
                  </a:lnTo>
                  <a:lnTo>
                    <a:pt x="1568982" y="25014"/>
                  </a:lnTo>
                  <a:lnTo>
                    <a:pt x="1567069" y="23248"/>
                  </a:lnTo>
                  <a:lnTo>
                    <a:pt x="1563830" y="21482"/>
                  </a:lnTo>
                  <a:lnTo>
                    <a:pt x="1596618" y="21482"/>
                  </a:lnTo>
                  <a:lnTo>
                    <a:pt x="1533507" y="0"/>
                  </a:lnTo>
                  <a:close/>
                </a:path>
                <a:path w="1622425" h="58419">
                  <a:moveTo>
                    <a:pt x="66939" y="21482"/>
                  </a:moveTo>
                  <a:lnTo>
                    <a:pt x="58335" y="21482"/>
                  </a:lnTo>
                  <a:lnTo>
                    <a:pt x="54684" y="23248"/>
                  </a:lnTo>
                  <a:lnTo>
                    <a:pt x="52859" y="25014"/>
                  </a:lnTo>
                  <a:lnTo>
                    <a:pt x="51033" y="26485"/>
                  </a:lnTo>
                  <a:lnTo>
                    <a:pt x="51033" y="31929"/>
                  </a:lnTo>
                  <a:lnTo>
                    <a:pt x="52859" y="35608"/>
                  </a:lnTo>
                  <a:lnTo>
                    <a:pt x="54684" y="35608"/>
                  </a:lnTo>
                  <a:lnTo>
                    <a:pt x="58335" y="37374"/>
                  </a:lnTo>
                  <a:lnTo>
                    <a:pt x="65964" y="37374"/>
                  </a:lnTo>
                  <a:lnTo>
                    <a:pt x="58335" y="30164"/>
                  </a:lnTo>
                  <a:lnTo>
                    <a:pt x="66939" y="21482"/>
                  </a:lnTo>
                  <a:close/>
                </a:path>
                <a:path w="1622425" h="58419">
                  <a:moveTo>
                    <a:pt x="1555103" y="21482"/>
                  </a:moveTo>
                  <a:lnTo>
                    <a:pt x="66939" y="21482"/>
                  </a:lnTo>
                  <a:lnTo>
                    <a:pt x="58335" y="30164"/>
                  </a:lnTo>
                  <a:lnTo>
                    <a:pt x="65964" y="37374"/>
                  </a:lnTo>
                  <a:lnTo>
                    <a:pt x="1556091" y="37374"/>
                  </a:lnTo>
                  <a:lnTo>
                    <a:pt x="1563830" y="30164"/>
                  </a:lnTo>
                  <a:lnTo>
                    <a:pt x="1555103" y="21482"/>
                  </a:lnTo>
                  <a:close/>
                </a:path>
                <a:path w="1622425" h="58419">
                  <a:moveTo>
                    <a:pt x="1596618" y="21482"/>
                  </a:moveTo>
                  <a:lnTo>
                    <a:pt x="1563830" y="21482"/>
                  </a:lnTo>
                  <a:lnTo>
                    <a:pt x="1567069" y="23248"/>
                  </a:lnTo>
                  <a:lnTo>
                    <a:pt x="1568982" y="25014"/>
                  </a:lnTo>
                  <a:lnTo>
                    <a:pt x="1570749" y="26485"/>
                  </a:lnTo>
                  <a:lnTo>
                    <a:pt x="1570749" y="31929"/>
                  </a:lnTo>
                  <a:lnTo>
                    <a:pt x="1568982" y="35608"/>
                  </a:lnTo>
                  <a:lnTo>
                    <a:pt x="1567069" y="35608"/>
                  </a:lnTo>
                  <a:lnTo>
                    <a:pt x="1563830" y="37374"/>
                  </a:lnTo>
                  <a:lnTo>
                    <a:pt x="1599506" y="37374"/>
                  </a:lnTo>
                  <a:lnTo>
                    <a:pt x="1622121" y="30164"/>
                  </a:lnTo>
                  <a:lnTo>
                    <a:pt x="1596618" y="21482"/>
                  </a:lnTo>
                  <a:close/>
                </a:path>
              </a:pathLst>
            </a:custGeom>
            <a:solidFill>
              <a:srgbClr val="000000"/>
            </a:solidFill>
          </p:spPr>
          <p:txBody>
            <a:bodyPr wrap="square" lIns="0" tIns="0" rIns="0" bIns="0" rtlCol="0"/>
            <a:lstStyle/>
            <a:p/>
          </p:txBody>
        </p:sp>
        <p:sp>
          <p:nvSpPr>
            <p:cNvPr id="100" name="object 100" descr=""/>
            <p:cNvSpPr/>
            <p:nvPr/>
          </p:nvSpPr>
          <p:spPr>
            <a:xfrm>
              <a:off x="2848838" y="3188685"/>
              <a:ext cx="1622425" cy="58419"/>
            </a:xfrm>
            <a:custGeom>
              <a:avLst/>
              <a:gdLst/>
              <a:ahLst/>
              <a:cxnLst/>
              <a:rect l="l" t="t" r="r" b="b"/>
              <a:pathLst>
                <a:path w="1622425" h="58419">
                  <a:moveTo>
                    <a:pt x="58335" y="21482"/>
                  </a:moveTo>
                  <a:lnTo>
                    <a:pt x="1563830" y="21482"/>
                  </a:lnTo>
                  <a:lnTo>
                    <a:pt x="1567069" y="23248"/>
                  </a:lnTo>
                  <a:lnTo>
                    <a:pt x="1568982" y="25014"/>
                  </a:lnTo>
                  <a:lnTo>
                    <a:pt x="1570749" y="26485"/>
                  </a:lnTo>
                  <a:lnTo>
                    <a:pt x="1570749" y="30164"/>
                  </a:lnTo>
                  <a:lnTo>
                    <a:pt x="1570749" y="31929"/>
                  </a:lnTo>
                  <a:lnTo>
                    <a:pt x="1568982" y="35608"/>
                  </a:lnTo>
                  <a:lnTo>
                    <a:pt x="1567069" y="35608"/>
                  </a:lnTo>
                  <a:lnTo>
                    <a:pt x="1563830" y="37374"/>
                  </a:lnTo>
                  <a:lnTo>
                    <a:pt x="58335" y="37374"/>
                  </a:lnTo>
                  <a:lnTo>
                    <a:pt x="54684" y="35608"/>
                  </a:lnTo>
                  <a:lnTo>
                    <a:pt x="52859" y="35608"/>
                  </a:lnTo>
                  <a:lnTo>
                    <a:pt x="51033" y="31929"/>
                  </a:lnTo>
                  <a:lnTo>
                    <a:pt x="51033" y="30164"/>
                  </a:lnTo>
                  <a:lnTo>
                    <a:pt x="51033" y="26485"/>
                  </a:lnTo>
                  <a:lnTo>
                    <a:pt x="52859" y="25014"/>
                  </a:lnTo>
                  <a:lnTo>
                    <a:pt x="54684" y="23248"/>
                  </a:lnTo>
                  <a:lnTo>
                    <a:pt x="58335" y="21482"/>
                  </a:lnTo>
                  <a:close/>
                </a:path>
                <a:path w="1622425" h="58419">
                  <a:moveTo>
                    <a:pt x="58335" y="30164"/>
                  </a:moveTo>
                  <a:lnTo>
                    <a:pt x="88231" y="58415"/>
                  </a:lnTo>
                  <a:lnTo>
                    <a:pt x="0" y="30164"/>
                  </a:lnTo>
                  <a:lnTo>
                    <a:pt x="88231" y="0"/>
                  </a:lnTo>
                  <a:lnTo>
                    <a:pt x="58335" y="30164"/>
                  </a:lnTo>
                  <a:close/>
                </a:path>
                <a:path w="1622425" h="58419">
                  <a:moveTo>
                    <a:pt x="1563830" y="30164"/>
                  </a:moveTo>
                  <a:lnTo>
                    <a:pt x="1533507" y="0"/>
                  </a:lnTo>
                  <a:lnTo>
                    <a:pt x="1622121" y="30164"/>
                  </a:lnTo>
                  <a:lnTo>
                    <a:pt x="1533507" y="58415"/>
                  </a:lnTo>
                  <a:lnTo>
                    <a:pt x="1563830" y="30164"/>
                  </a:lnTo>
                  <a:close/>
                </a:path>
              </a:pathLst>
            </a:custGeom>
            <a:ln w="3175">
              <a:solidFill>
                <a:srgbClr val="000000"/>
              </a:solidFill>
            </a:ln>
          </p:spPr>
          <p:txBody>
            <a:bodyPr wrap="square" lIns="0" tIns="0" rIns="0" bIns="0" rtlCol="0"/>
            <a:lstStyle/>
            <a:p/>
          </p:txBody>
        </p:sp>
        <p:sp>
          <p:nvSpPr>
            <p:cNvPr id="101" name="object 101" descr=""/>
            <p:cNvSpPr/>
            <p:nvPr/>
          </p:nvSpPr>
          <p:spPr>
            <a:xfrm>
              <a:off x="4262525" y="3736939"/>
              <a:ext cx="224790" cy="58419"/>
            </a:xfrm>
            <a:custGeom>
              <a:avLst/>
              <a:gdLst/>
              <a:ahLst/>
              <a:cxnLst/>
              <a:rect l="l" t="t" r="r" b="b"/>
              <a:pathLst>
                <a:path w="224789" h="58420">
                  <a:moveTo>
                    <a:pt x="135864" y="0"/>
                  </a:moveTo>
                  <a:lnTo>
                    <a:pt x="165893" y="30017"/>
                  </a:lnTo>
                  <a:lnTo>
                    <a:pt x="135864" y="58415"/>
                  </a:lnTo>
                  <a:lnTo>
                    <a:pt x="202676" y="36932"/>
                  </a:lnTo>
                  <a:lnTo>
                    <a:pt x="165893" y="36932"/>
                  </a:lnTo>
                  <a:lnTo>
                    <a:pt x="167660" y="35461"/>
                  </a:lnTo>
                  <a:lnTo>
                    <a:pt x="171339" y="35461"/>
                  </a:lnTo>
                  <a:lnTo>
                    <a:pt x="173106" y="31929"/>
                  </a:lnTo>
                  <a:lnTo>
                    <a:pt x="173106" y="26485"/>
                  </a:lnTo>
                  <a:lnTo>
                    <a:pt x="171339" y="24572"/>
                  </a:lnTo>
                  <a:lnTo>
                    <a:pt x="167660" y="23248"/>
                  </a:lnTo>
                  <a:lnTo>
                    <a:pt x="165893" y="21335"/>
                  </a:lnTo>
                  <a:lnTo>
                    <a:pt x="198641" y="21335"/>
                  </a:lnTo>
                  <a:lnTo>
                    <a:pt x="135864" y="0"/>
                  </a:lnTo>
                  <a:close/>
                </a:path>
                <a:path w="224789" h="58420">
                  <a:moveTo>
                    <a:pt x="157208" y="21335"/>
                  </a:moveTo>
                  <a:lnTo>
                    <a:pt x="8684" y="21335"/>
                  </a:lnTo>
                  <a:lnTo>
                    <a:pt x="5004" y="23248"/>
                  </a:lnTo>
                  <a:lnTo>
                    <a:pt x="3238" y="24572"/>
                  </a:lnTo>
                  <a:lnTo>
                    <a:pt x="1766" y="26485"/>
                  </a:lnTo>
                  <a:lnTo>
                    <a:pt x="0" y="30017"/>
                  </a:lnTo>
                  <a:lnTo>
                    <a:pt x="1766" y="31929"/>
                  </a:lnTo>
                  <a:lnTo>
                    <a:pt x="3238" y="35461"/>
                  </a:lnTo>
                  <a:lnTo>
                    <a:pt x="5004" y="35461"/>
                  </a:lnTo>
                  <a:lnTo>
                    <a:pt x="8684" y="36932"/>
                  </a:lnTo>
                  <a:lnTo>
                    <a:pt x="158580" y="36932"/>
                  </a:lnTo>
                  <a:lnTo>
                    <a:pt x="165893" y="30017"/>
                  </a:lnTo>
                  <a:lnTo>
                    <a:pt x="157208" y="21335"/>
                  </a:lnTo>
                  <a:close/>
                </a:path>
                <a:path w="224789" h="58420">
                  <a:moveTo>
                    <a:pt x="198641" y="21335"/>
                  </a:moveTo>
                  <a:lnTo>
                    <a:pt x="165893" y="21335"/>
                  </a:lnTo>
                  <a:lnTo>
                    <a:pt x="167660" y="23248"/>
                  </a:lnTo>
                  <a:lnTo>
                    <a:pt x="171339" y="24572"/>
                  </a:lnTo>
                  <a:lnTo>
                    <a:pt x="173106" y="26485"/>
                  </a:lnTo>
                  <a:lnTo>
                    <a:pt x="173106" y="31929"/>
                  </a:lnTo>
                  <a:lnTo>
                    <a:pt x="171339" y="35461"/>
                  </a:lnTo>
                  <a:lnTo>
                    <a:pt x="167660" y="35461"/>
                  </a:lnTo>
                  <a:lnTo>
                    <a:pt x="165893" y="36932"/>
                  </a:lnTo>
                  <a:lnTo>
                    <a:pt x="202676" y="36932"/>
                  </a:lnTo>
                  <a:lnTo>
                    <a:pt x="224184" y="30017"/>
                  </a:lnTo>
                  <a:lnTo>
                    <a:pt x="198641" y="21335"/>
                  </a:lnTo>
                  <a:close/>
                </a:path>
              </a:pathLst>
            </a:custGeom>
            <a:solidFill>
              <a:srgbClr val="000000"/>
            </a:solidFill>
          </p:spPr>
          <p:txBody>
            <a:bodyPr wrap="square" lIns="0" tIns="0" rIns="0" bIns="0" rtlCol="0"/>
            <a:lstStyle/>
            <a:p/>
          </p:txBody>
        </p:sp>
        <p:sp>
          <p:nvSpPr>
            <p:cNvPr id="102" name="object 102" descr=""/>
            <p:cNvSpPr/>
            <p:nvPr/>
          </p:nvSpPr>
          <p:spPr>
            <a:xfrm>
              <a:off x="4262525" y="3736939"/>
              <a:ext cx="224790" cy="58419"/>
            </a:xfrm>
            <a:custGeom>
              <a:avLst/>
              <a:gdLst/>
              <a:ahLst/>
              <a:cxnLst/>
              <a:rect l="l" t="t" r="r" b="b"/>
              <a:pathLst>
                <a:path w="224789" h="58420">
                  <a:moveTo>
                    <a:pt x="8684" y="21335"/>
                  </a:moveTo>
                  <a:lnTo>
                    <a:pt x="165893" y="21335"/>
                  </a:lnTo>
                  <a:lnTo>
                    <a:pt x="167660" y="23248"/>
                  </a:lnTo>
                  <a:lnTo>
                    <a:pt x="171339" y="24572"/>
                  </a:lnTo>
                  <a:lnTo>
                    <a:pt x="173106" y="26485"/>
                  </a:lnTo>
                  <a:lnTo>
                    <a:pt x="173106" y="30017"/>
                  </a:lnTo>
                  <a:lnTo>
                    <a:pt x="173106" y="31929"/>
                  </a:lnTo>
                  <a:lnTo>
                    <a:pt x="171339" y="35461"/>
                  </a:lnTo>
                  <a:lnTo>
                    <a:pt x="167660" y="35461"/>
                  </a:lnTo>
                  <a:lnTo>
                    <a:pt x="165893" y="36932"/>
                  </a:lnTo>
                  <a:lnTo>
                    <a:pt x="8684" y="36932"/>
                  </a:lnTo>
                  <a:lnTo>
                    <a:pt x="5004" y="35461"/>
                  </a:lnTo>
                  <a:lnTo>
                    <a:pt x="3238" y="35461"/>
                  </a:lnTo>
                  <a:lnTo>
                    <a:pt x="1766" y="31929"/>
                  </a:lnTo>
                  <a:lnTo>
                    <a:pt x="0" y="30017"/>
                  </a:lnTo>
                  <a:lnTo>
                    <a:pt x="1766" y="26485"/>
                  </a:lnTo>
                  <a:lnTo>
                    <a:pt x="3238" y="24572"/>
                  </a:lnTo>
                  <a:lnTo>
                    <a:pt x="5004" y="23248"/>
                  </a:lnTo>
                  <a:lnTo>
                    <a:pt x="8684" y="21335"/>
                  </a:lnTo>
                  <a:close/>
                </a:path>
                <a:path w="224789" h="58420">
                  <a:moveTo>
                    <a:pt x="165893" y="30017"/>
                  </a:moveTo>
                  <a:lnTo>
                    <a:pt x="135864" y="0"/>
                  </a:lnTo>
                  <a:lnTo>
                    <a:pt x="224184" y="30017"/>
                  </a:lnTo>
                  <a:lnTo>
                    <a:pt x="135864" y="58415"/>
                  </a:lnTo>
                  <a:lnTo>
                    <a:pt x="165893" y="30017"/>
                  </a:lnTo>
                  <a:close/>
                </a:path>
              </a:pathLst>
            </a:custGeom>
            <a:ln w="3175">
              <a:solidFill>
                <a:srgbClr val="000000"/>
              </a:solidFill>
            </a:ln>
          </p:spPr>
          <p:txBody>
            <a:bodyPr wrap="square" lIns="0" tIns="0" rIns="0" bIns="0" rtlCol="0"/>
            <a:lstStyle/>
            <a:p/>
          </p:txBody>
        </p:sp>
        <p:sp>
          <p:nvSpPr>
            <p:cNvPr id="103" name="object 103" descr=""/>
            <p:cNvSpPr/>
            <p:nvPr/>
          </p:nvSpPr>
          <p:spPr>
            <a:xfrm>
              <a:off x="4269002" y="635169"/>
              <a:ext cx="0" cy="3129915"/>
            </a:xfrm>
            <a:custGeom>
              <a:avLst/>
              <a:gdLst/>
              <a:ahLst/>
              <a:cxnLst/>
              <a:rect l="l" t="t" r="r" b="b"/>
              <a:pathLst>
                <a:path w="0" h="3129915">
                  <a:moveTo>
                    <a:pt x="0" y="3129726"/>
                  </a:moveTo>
                  <a:lnTo>
                    <a:pt x="0" y="0"/>
                  </a:lnTo>
                </a:path>
              </a:pathLst>
            </a:custGeom>
            <a:ln w="10573">
              <a:solidFill>
                <a:srgbClr val="000000"/>
              </a:solidFill>
            </a:ln>
          </p:spPr>
          <p:txBody>
            <a:bodyPr wrap="square" lIns="0" tIns="0" rIns="0" bIns="0" rtlCol="0"/>
            <a:lstStyle/>
            <a:p/>
          </p:txBody>
        </p:sp>
        <p:sp>
          <p:nvSpPr>
            <p:cNvPr id="104" name="object 104" descr=""/>
            <p:cNvSpPr/>
            <p:nvPr/>
          </p:nvSpPr>
          <p:spPr>
            <a:xfrm>
              <a:off x="2863057" y="1019212"/>
              <a:ext cx="1415415" cy="58419"/>
            </a:xfrm>
            <a:custGeom>
              <a:avLst/>
              <a:gdLst/>
              <a:ahLst/>
              <a:cxnLst/>
              <a:rect l="l" t="t" r="r" b="b"/>
              <a:pathLst>
                <a:path w="1415414" h="58419">
                  <a:moveTo>
                    <a:pt x="88231" y="0"/>
                  </a:moveTo>
                  <a:lnTo>
                    <a:pt x="0" y="28398"/>
                  </a:lnTo>
                  <a:lnTo>
                    <a:pt x="88231" y="58415"/>
                  </a:lnTo>
                  <a:lnTo>
                    <a:pt x="68296" y="37374"/>
                  </a:lnTo>
                  <a:lnTo>
                    <a:pt x="59792" y="37374"/>
                  </a:lnTo>
                  <a:lnTo>
                    <a:pt x="56509" y="35608"/>
                  </a:lnTo>
                  <a:lnTo>
                    <a:pt x="54684" y="33842"/>
                  </a:lnTo>
                  <a:lnTo>
                    <a:pt x="52859" y="31929"/>
                  </a:lnTo>
                  <a:lnTo>
                    <a:pt x="51033" y="28398"/>
                  </a:lnTo>
                  <a:lnTo>
                    <a:pt x="52859" y="26485"/>
                  </a:lnTo>
                  <a:lnTo>
                    <a:pt x="54684" y="25161"/>
                  </a:lnTo>
                  <a:lnTo>
                    <a:pt x="56509" y="23248"/>
                  </a:lnTo>
                  <a:lnTo>
                    <a:pt x="59792" y="21482"/>
                  </a:lnTo>
                  <a:lnTo>
                    <a:pt x="66717" y="21482"/>
                  </a:lnTo>
                  <a:lnTo>
                    <a:pt x="88231" y="0"/>
                  </a:lnTo>
                  <a:close/>
                </a:path>
                <a:path w="1415414" h="58419">
                  <a:moveTo>
                    <a:pt x="66717" y="21482"/>
                  </a:moveTo>
                  <a:lnTo>
                    <a:pt x="59792" y="21482"/>
                  </a:lnTo>
                  <a:lnTo>
                    <a:pt x="56509" y="23248"/>
                  </a:lnTo>
                  <a:lnTo>
                    <a:pt x="54684" y="25161"/>
                  </a:lnTo>
                  <a:lnTo>
                    <a:pt x="52859" y="26485"/>
                  </a:lnTo>
                  <a:lnTo>
                    <a:pt x="59792" y="37374"/>
                  </a:lnTo>
                  <a:lnTo>
                    <a:pt x="68296" y="37374"/>
                  </a:lnTo>
                  <a:lnTo>
                    <a:pt x="59792" y="28398"/>
                  </a:lnTo>
                  <a:lnTo>
                    <a:pt x="66717" y="21482"/>
                  </a:lnTo>
                  <a:close/>
                </a:path>
                <a:path w="1415414" h="58419">
                  <a:moveTo>
                    <a:pt x="1408152" y="21482"/>
                  </a:moveTo>
                  <a:lnTo>
                    <a:pt x="66717" y="21482"/>
                  </a:lnTo>
                  <a:lnTo>
                    <a:pt x="59792" y="28398"/>
                  </a:lnTo>
                  <a:lnTo>
                    <a:pt x="68296" y="37374"/>
                  </a:lnTo>
                  <a:lnTo>
                    <a:pt x="1408152" y="37374"/>
                  </a:lnTo>
                  <a:lnTo>
                    <a:pt x="1409919" y="35608"/>
                  </a:lnTo>
                  <a:lnTo>
                    <a:pt x="1413304" y="33842"/>
                  </a:lnTo>
                  <a:lnTo>
                    <a:pt x="1413304" y="31929"/>
                  </a:lnTo>
                  <a:lnTo>
                    <a:pt x="1415071" y="28398"/>
                  </a:lnTo>
                  <a:lnTo>
                    <a:pt x="1413304" y="26485"/>
                  </a:lnTo>
                  <a:lnTo>
                    <a:pt x="1413304" y="25161"/>
                  </a:lnTo>
                  <a:lnTo>
                    <a:pt x="1409919" y="23248"/>
                  </a:lnTo>
                  <a:lnTo>
                    <a:pt x="1408152" y="21482"/>
                  </a:lnTo>
                  <a:close/>
                </a:path>
              </a:pathLst>
            </a:custGeom>
            <a:solidFill>
              <a:srgbClr val="000000"/>
            </a:solidFill>
          </p:spPr>
          <p:txBody>
            <a:bodyPr wrap="square" lIns="0" tIns="0" rIns="0" bIns="0" rtlCol="0"/>
            <a:lstStyle/>
            <a:p/>
          </p:txBody>
        </p:sp>
        <p:sp>
          <p:nvSpPr>
            <p:cNvPr id="105" name="object 105" descr=""/>
            <p:cNvSpPr/>
            <p:nvPr/>
          </p:nvSpPr>
          <p:spPr>
            <a:xfrm>
              <a:off x="2863057" y="1019212"/>
              <a:ext cx="1415415" cy="58419"/>
            </a:xfrm>
            <a:custGeom>
              <a:avLst/>
              <a:gdLst/>
              <a:ahLst/>
              <a:cxnLst/>
              <a:rect l="l" t="t" r="r" b="b"/>
              <a:pathLst>
                <a:path w="1415414" h="58419">
                  <a:moveTo>
                    <a:pt x="1408152" y="37374"/>
                  </a:moveTo>
                  <a:lnTo>
                    <a:pt x="59792" y="37374"/>
                  </a:lnTo>
                  <a:lnTo>
                    <a:pt x="56509" y="35608"/>
                  </a:lnTo>
                  <a:lnTo>
                    <a:pt x="54684" y="33842"/>
                  </a:lnTo>
                  <a:lnTo>
                    <a:pt x="52859" y="31929"/>
                  </a:lnTo>
                  <a:lnTo>
                    <a:pt x="51033" y="28398"/>
                  </a:lnTo>
                  <a:lnTo>
                    <a:pt x="52859" y="26485"/>
                  </a:lnTo>
                  <a:lnTo>
                    <a:pt x="54684" y="25161"/>
                  </a:lnTo>
                  <a:lnTo>
                    <a:pt x="56509" y="23248"/>
                  </a:lnTo>
                  <a:lnTo>
                    <a:pt x="59792" y="21482"/>
                  </a:lnTo>
                  <a:lnTo>
                    <a:pt x="1408152" y="21482"/>
                  </a:lnTo>
                  <a:lnTo>
                    <a:pt x="1409919" y="23248"/>
                  </a:lnTo>
                  <a:lnTo>
                    <a:pt x="1413304" y="25161"/>
                  </a:lnTo>
                  <a:lnTo>
                    <a:pt x="1413304" y="26485"/>
                  </a:lnTo>
                  <a:lnTo>
                    <a:pt x="1415071" y="28398"/>
                  </a:lnTo>
                  <a:lnTo>
                    <a:pt x="1413304" y="31929"/>
                  </a:lnTo>
                  <a:lnTo>
                    <a:pt x="1413304" y="33842"/>
                  </a:lnTo>
                  <a:lnTo>
                    <a:pt x="1409919" y="35608"/>
                  </a:lnTo>
                  <a:lnTo>
                    <a:pt x="1408152" y="37374"/>
                  </a:lnTo>
                  <a:close/>
                </a:path>
                <a:path w="1415414" h="58419">
                  <a:moveTo>
                    <a:pt x="59792" y="28398"/>
                  </a:moveTo>
                  <a:lnTo>
                    <a:pt x="88231" y="58415"/>
                  </a:lnTo>
                  <a:lnTo>
                    <a:pt x="0" y="28398"/>
                  </a:lnTo>
                  <a:lnTo>
                    <a:pt x="88231" y="0"/>
                  </a:lnTo>
                  <a:lnTo>
                    <a:pt x="59792" y="28398"/>
                  </a:lnTo>
                  <a:close/>
                </a:path>
              </a:pathLst>
            </a:custGeom>
            <a:ln w="3175">
              <a:solidFill>
                <a:srgbClr val="000000"/>
              </a:solidFill>
            </a:ln>
          </p:spPr>
          <p:txBody>
            <a:bodyPr wrap="square" lIns="0" tIns="0" rIns="0" bIns="0" rtlCol="0"/>
            <a:lstStyle/>
            <a:p/>
          </p:txBody>
        </p:sp>
        <p:pic>
          <p:nvPicPr>
            <p:cNvPr id="106" name="object 106" descr=""/>
            <p:cNvPicPr/>
            <p:nvPr/>
          </p:nvPicPr>
          <p:blipFill>
            <a:blip r:embed="rId2" cstate="print"/>
            <a:stretch>
              <a:fillRect/>
            </a:stretch>
          </p:blipFill>
          <p:spPr>
            <a:xfrm>
              <a:off x="4232068" y="1006716"/>
              <a:ext cx="77547" cy="79581"/>
            </a:xfrm>
            <a:prstGeom prst="rect">
              <a:avLst/>
            </a:prstGeom>
          </p:spPr>
        </p:pic>
        <p:pic>
          <p:nvPicPr>
            <p:cNvPr id="107" name="object 107" descr=""/>
            <p:cNvPicPr/>
            <p:nvPr/>
          </p:nvPicPr>
          <p:blipFill>
            <a:blip r:embed="rId3" cstate="print"/>
            <a:stretch>
              <a:fillRect/>
            </a:stretch>
          </p:blipFill>
          <p:spPr>
            <a:xfrm>
              <a:off x="4221470" y="2988435"/>
              <a:ext cx="250519" cy="78110"/>
            </a:xfrm>
            <a:prstGeom prst="rect">
              <a:avLst/>
            </a:prstGeom>
          </p:spPr>
        </p:pic>
      </p:grpSp>
      <p:sp>
        <p:nvSpPr>
          <p:cNvPr id="108" name="object 108" descr=""/>
          <p:cNvSpPr txBox="1"/>
          <p:nvPr/>
        </p:nvSpPr>
        <p:spPr>
          <a:xfrm>
            <a:off x="5182038" y="864502"/>
            <a:ext cx="294005" cy="185420"/>
          </a:xfrm>
          <a:prstGeom prst="rect">
            <a:avLst/>
          </a:prstGeom>
        </p:spPr>
        <p:txBody>
          <a:bodyPr wrap="square" lIns="0" tIns="12065" rIns="0" bIns="0" rtlCol="0" vert="horz">
            <a:spAutoFit/>
          </a:bodyPr>
          <a:lstStyle/>
          <a:p>
            <a:pPr marL="12700">
              <a:lnSpc>
                <a:spcPct val="100000"/>
              </a:lnSpc>
              <a:spcBef>
                <a:spcPts val="95"/>
              </a:spcBef>
            </a:pPr>
            <a:r>
              <a:rPr dirty="0" sz="1050" spc="-20" b="1">
                <a:solidFill>
                  <a:srgbClr val="0000FF"/>
                </a:solidFill>
                <a:latin typeface="宋体"/>
                <a:cs typeface="宋体"/>
              </a:rPr>
              <a:t>CPU1</a:t>
            </a:r>
            <a:endParaRPr sz="1050">
              <a:latin typeface="宋体"/>
              <a:cs typeface="宋体"/>
            </a:endParaRPr>
          </a:p>
        </p:txBody>
      </p:sp>
      <p:sp>
        <p:nvSpPr>
          <p:cNvPr id="109" name="object 109" descr=""/>
          <p:cNvSpPr txBox="1"/>
          <p:nvPr/>
        </p:nvSpPr>
        <p:spPr>
          <a:xfrm>
            <a:off x="5938536" y="3124810"/>
            <a:ext cx="1136015" cy="662940"/>
          </a:xfrm>
          <a:prstGeom prst="rect">
            <a:avLst/>
          </a:prstGeom>
        </p:spPr>
        <p:txBody>
          <a:bodyPr wrap="square" lIns="0" tIns="2540" rIns="0" bIns="0" rtlCol="0" vert="horz">
            <a:spAutoFit/>
          </a:bodyPr>
          <a:lstStyle/>
          <a:p>
            <a:pPr marL="27940" marR="171450" indent="123189">
              <a:lnSpc>
                <a:spcPts val="1630"/>
              </a:lnSpc>
              <a:spcBef>
                <a:spcPts val="20"/>
              </a:spcBef>
            </a:pPr>
            <a:r>
              <a:rPr dirty="0" sz="1050" spc="-40">
                <a:latin typeface="宋体"/>
                <a:cs typeface="宋体"/>
              </a:rPr>
              <a:t>标量功能部件</a:t>
            </a:r>
            <a:r>
              <a:rPr dirty="0" sz="1050" spc="-35">
                <a:latin typeface="宋体"/>
                <a:cs typeface="宋体"/>
              </a:rPr>
              <a:t>加/减、移位、</a:t>
            </a:r>
            <a:endParaRPr sz="1050">
              <a:latin typeface="宋体"/>
              <a:cs typeface="宋体"/>
            </a:endParaRPr>
          </a:p>
          <a:p>
            <a:pPr marL="27940">
              <a:lnSpc>
                <a:spcPct val="100000"/>
              </a:lnSpc>
              <a:spcBef>
                <a:spcPts val="235"/>
              </a:spcBef>
            </a:pPr>
            <a:r>
              <a:rPr dirty="0" sz="1050" spc="-30">
                <a:latin typeface="宋体"/>
                <a:cs typeface="宋体"/>
              </a:rPr>
              <a:t>逻辑</a:t>
            </a:r>
            <a:r>
              <a:rPr dirty="0" sz="1050" spc="-10">
                <a:latin typeface="宋体"/>
                <a:cs typeface="宋体"/>
              </a:rPr>
              <a:t>（32</a:t>
            </a:r>
            <a:r>
              <a:rPr dirty="0" sz="1050" spc="-75">
                <a:latin typeface="宋体"/>
                <a:cs typeface="宋体"/>
              </a:rPr>
              <a:t> 位运算</a:t>
            </a:r>
            <a:r>
              <a:rPr dirty="0" sz="1050" spc="-50">
                <a:latin typeface="宋体"/>
                <a:cs typeface="宋体"/>
              </a:rPr>
              <a:t>）</a:t>
            </a:r>
            <a:endParaRPr sz="1050">
              <a:latin typeface="宋体"/>
              <a:cs typeface="宋体"/>
            </a:endParaRPr>
          </a:p>
        </p:txBody>
      </p:sp>
      <p:sp>
        <p:nvSpPr>
          <p:cNvPr id="110" name="object 110" descr=""/>
          <p:cNvSpPr txBox="1"/>
          <p:nvPr/>
        </p:nvSpPr>
        <p:spPr>
          <a:xfrm>
            <a:off x="6200404" y="4274602"/>
            <a:ext cx="596900" cy="133350"/>
          </a:xfrm>
          <a:prstGeom prst="rect">
            <a:avLst/>
          </a:prstGeom>
        </p:spPr>
        <p:txBody>
          <a:bodyPr wrap="square" lIns="0" tIns="0" rIns="0" bIns="0" rtlCol="0" vert="horz">
            <a:spAutoFit/>
          </a:bodyPr>
          <a:lstStyle/>
          <a:p>
            <a:pPr>
              <a:lnSpc>
                <a:spcPts val="1050"/>
              </a:lnSpc>
            </a:pPr>
            <a:r>
              <a:rPr dirty="0" sz="1050" spc="-35">
                <a:latin typeface="宋体"/>
                <a:cs typeface="宋体"/>
              </a:rPr>
              <a:t>加/减、乘</a:t>
            </a:r>
            <a:endParaRPr sz="1050">
              <a:latin typeface="宋体"/>
              <a:cs typeface="宋体"/>
            </a:endParaRPr>
          </a:p>
        </p:txBody>
      </p:sp>
      <p:grpSp>
        <p:nvGrpSpPr>
          <p:cNvPr id="111" name="object 111" descr=""/>
          <p:cNvGrpSpPr/>
          <p:nvPr/>
        </p:nvGrpSpPr>
        <p:grpSpPr>
          <a:xfrm>
            <a:off x="5933139" y="4033478"/>
            <a:ext cx="1108710" cy="603250"/>
            <a:chOff x="5933139" y="4033478"/>
            <a:chExt cx="1108710" cy="603250"/>
          </a:xfrm>
        </p:grpSpPr>
        <p:sp>
          <p:nvSpPr>
            <p:cNvPr id="112" name="object 112" descr=""/>
            <p:cNvSpPr/>
            <p:nvPr/>
          </p:nvSpPr>
          <p:spPr>
            <a:xfrm>
              <a:off x="5938536" y="4038876"/>
              <a:ext cx="1097915" cy="592455"/>
            </a:xfrm>
            <a:custGeom>
              <a:avLst/>
              <a:gdLst/>
              <a:ahLst/>
              <a:cxnLst/>
              <a:rect l="l" t="t" r="r" b="b"/>
              <a:pathLst>
                <a:path w="1097915" h="592454">
                  <a:moveTo>
                    <a:pt x="1097503" y="0"/>
                  </a:moveTo>
                  <a:lnTo>
                    <a:pt x="0" y="0"/>
                  </a:lnTo>
                  <a:lnTo>
                    <a:pt x="0" y="592102"/>
                  </a:lnTo>
                  <a:lnTo>
                    <a:pt x="1097503" y="592102"/>
                  </a:lnTo>
                  <a:lnTo>
                    <a:pt x="1097503" y="0"/>
                  </a:lnTo>
                  <a:close/>
                </a:path>
              </a:pathLst>
            </a:custGeom>
            <a:solidFill>
              <a:srgbClr val="AED6FF"/>
            </a:solidFill>
          </p:spPr>
          <p:txBody>
            <a:bodyPr wrap="square" lIns="0" tIns="0" rIns="0" bIns="0" rtlCol="0"/>
            <a:lstStyle/>
            <a:p/>
          </p:txBody>
        </p:sp>
        <p:sp>
          <p:nvSpPr>
            <p:cNvPr id="113" name="object 113" descr=""/>
            <p:cNvSpPr/>
            <p:nvPr/>
          </p:nvSpPr>
          <p:spPr>
            <a:xfrm>
              <a:off x="5938536" y="4038876"/>
              <a:ext cx="1097915" cy="592455"/>
            </a:xfrm>
            <a:custGeom>
              <a:avLst/>
              <a:gdLst/>
              <a:ahLst/>
              <a:cxnLst/>
              <a:rect l="l" t="t" r="r" b="b"/>
              <a:pathLst>
                <a:path w="1097915" h="592454">
                  <a:moveTo>
                    <a:pt x="0" y="592102"/>
                  </a:moveTo>
                  <a:lnTo>
                    <a:pt x="1097503" y="592102"/>
                  </a:lnTo>
                  <a:lnTo>
                    <a:pt x="1097503" y="0"/>
                  </a:lnTo>
                  <a:lnTo>
                    <a:pt x="0" y="0"/>
                  </a:lnTo>
                  <a:lnTo>
                    <a:pt x="0" y="592102"/>
                  </a:lnTo>
                  <a:close/>
                </a:path>
              </a:pathLst>
            </a:custGeom>
            <a:ln w="10570">
              <a:solidFill>
                <a:srgbClr val="000000"/>
              </a:solidFill>
            </a:ln>
          </p:spPr>
          <p:txBody>
            <a:bodyPr wrap="square" lIns="0" tIns="0" rIns="0" bIns="0" rtlCol="0"/>
            <a:lstStyle/>
            <a:p/>
          </p:txBody>
        </p:sp>
      </p:grpSp>
      <p:sp>
        <p:nvSpPr>
          <p:cNvPr id="114" name="object 114" descr=""/>
          <p:cNvSpPr txBox="1"/>
          <p:nvPr/>
        </p:nvSpPr>
        <p:spPr>
          <a:xfrm>
            <a:off x="5938536" y="4038876"/>
            <a:ext cx="1097915" cy="592455"/>
          </a:xfrm>
          <a:prstGeom prst="rect">
            <a:avLst/>
          </a:prstGeom>
        </p:spPr>
        <p:txBody>
          <a:bodyPr wrap="square" lIns="0" tIns="33019" rIns="0" bIns="0" rtlCol="0" vert="horz">
            <a:spAutoFit/>
          </a:bodyPr>
          <a:lstStyle/>
          <a:p>
            <a:pPr marL="167640">
              <a:lnSpc>
                <a:spcPct val="100000"/>
              </a:lnSpc>
              <a:spcBef>
                <a:spcPts val="259"/>
              </a:spcBef>
            </a:pPr>
            <a:r>
              <a:rPr dirty="0" sz="1050" spc="-35">
                <a:latin typeface="宋体"/>
                <a:cs typeface="宋体"/>
              </a:rPr>
              <a:t>地址功能部件</a:t>
            </a:r>
            <a:endParaRPr sz="1050">
              <a:latin typeface="宋体"/>
              <a:cs typeface="宋体"/>
            </a:endParaRPr>
          </a:p>
          <a:p>
            <a:pPr>
              <a:lnSpc>
                <a:spcPct val="100000"/>
              </a:lnSpc>
              <a:spcBef>
                <a:spcPts val="85"/>
              </a:spcBef>
            </a:pPr>
            <a:endParaRPr sz="1050">
              <a:latin typeface="宋体"/>
              <a:cs typeface="宋体"/>
            </a:endParaRPr>
          </a:p>
          <a:p>
            <a:pPr marL="183515">
              <a:lnSpc>
                <a:spcPct val="100000"/>
              </a:lnSpc>
            </a:pPr>
            <a:r>
              <a:rPr dirty="0" sz="1050" spc="-10">
                <a:latin typeface="宋体"/>
                <a:cs typeface="宋体"/>
              </a:rPr>
              <a:t>（32</a:t>
            </a:r>
            <a:r>
              <a:rPr dirty="0" sz="1050" spc="-85">
                <a:latin typeface="宋体"/>
                <a:cs typeface="宋体"/>
              </a:rPr>
              <a:t> 位运算</a:t>
            </a:r>
            <a:r>
              <a:rPr dirty="0" sz="1050" spc="-60">
                <a:latin typeface="宋体"/>
                <a:cs typeface="宋体"/>
              </a:rPr>
              <a:t>）</a:t>
            </a:r>
            <a:endParaRPr sz="1050">
              <a:latin typeface="宋体"/>
              <a:cs typeface="宋体"/>
            </a:endParaRPr>
          </a:p>
        </p:txBody>
      </p:sp>
      <p:grpSp>
        <p:nvGrpSpPr>
          <p:cNvPr id="115" name="object 115" descr=""/>
          <p:cNvGrpSpPr/>
          <p:nvPr/>
        </p:nvGrpSpPr>
        <p:grpSpPr>
          <a:xfrm>
            <a:off x="4920119" y="1439757"/>
            <a:ext cx="1022350" cy="2722880"/>
            <a:chOff x="4920119" y="1439757"/>
            <a:chExt cx="1022350" cy="2722880"/>
          </a:xfrm>
        </p:grpSpPr>
        <p:sp>
          <p:nvSpPr>
            <p:cNvPr id="116" name="object 116" descr=""/>
            <p:cNvSpPr/>
            <p:nvPr/>
          </p:nvSpPr>
          <p:spPr>
            <a:xfrm>
              <a:off x="5446302" y="4102883"/>
              <a:ext cx="494665" cy="58419"/>
            </a:xfrm>
            <a:custGeom>
              <a:avLst/>
              <a:gdLst/>
              <a:ahLst/>
              <a:cxnLst/>
              <a:rect l="l" t="t" r="r" b="b"/>
              <a:pathLst>
                <a:path w="494664" h="58420">
                  <a:moveTo>
                    <a:pt x="88319" y="0"/>
                  </a:moveTo>
                  <a:lnTo>
                    <a:pt x="0" y="28251"/>
                  </a:lnTo>
                  <a:lnTo>
                    <a:pt x="88319" y="58415"/>
                  </a:lnTo>
                  <a:lnTo>
                    <a:pt x="65244" y="35461"/>
                  </a:lnTo>
                  <a:lnTo>
                    <a:pt x="54758" y="35461"/>
                  </a:lnTo>
                  <a:lnTo>
                    <a:pt x="52991" y="33695"/>
                  </a:lnTo>
                  <a:lnTo>
                    <a:pt x="51078" y="31929"/>
                  </a:lnTo>
                  <a:lnTo>
                    <a:pt x="51078" y="26485"/>
                  </a:lnTo>
                  <a:lnTo>
                    <a:pt x="52991" y="23248"/>
                  </a:lnTo>
                  <a:lnTo>
                    <a:pt x="54758" y="21335"/>
                  </a:lnTo>
                  <a:lnTo>
                    <a:pt x="65419" y="21335"/>
                  </a:lnTo>
                  <a:lnTo>
                    <a:pt x="88319" y="0"/>
                  </a:lnTo>
                  <a:close/>
                </a:path>
                <a:path w="494664" h="58420">
                  <a:moveTo>
                    <a:pt x="406270" y="0"/>
                  </a:moveTo>
                  <a:lnTo>
                    <a:pt x="434679" y="28251"/>
                  </a:lnTo>
                  <a:lnTo>
                    <a:pt x="406270" y="58415"/>
                  </a:lnTo>
                  <a:lnTo>
                    <a:pt x="473367" y="35461"/>
                  </a:lnTo>
                  <a:lnTo>
                    <a:pt x="437917" y="35461"/>
                  </a:lnTo>
                  <a:lnTo>
                    <a:pt x="439831" y="33695"/>
                  </a:lnTo>
                  <a:lnTo>
                    <a:pt x="441597" y="31929"/>
                  </a:lnTo>
                  <a:lnTo>
                    <a:pt x="441597" y="26485"/>
                  </a:lnTo>
                  <a:lnTo>
                    <a:pt x="439831" y="23248"/>
                  </a:lnTo>
                  <a:lnTo>
                    <a:pt x="437917" y="21335"/>
                  </a:lnTo>
                  <a:lnTo>
                    <a:pt x="472858" y="21335"/>
                  </a:lnTo>
                  <a:lnTo>
                    <a:pt x="406270" y="0"/>
                  </a:lnTo>
                  <a:close/>
                </a:path>
                <a:path w="494664" h="58420">
                  <a:moveTo>
                    <a:pt x="65419" y="21335"/>
                  </a:moveTo>
                  <a:lnTo>
                    <a:pt x="54758" y="21335"/>
                  </a:lnTo>
                  <a:lnTo>
                    <a:pt x="52991" y="23248"/>
                  </a:lnTo>
                  <a:lnTo>
                    <a:pt x="51078" y="26485"/>
                  </a:lnTo>
                  <a:lnTo>
                    <a:pt x="51078" y="31929"/>
                  </a:lnTo>
                  <a:lnTo>
                    <a:pt x="52991" y="33695"/>
                  </a:lnTo>
                  <a:lnTo>
                    <a:pt x="54758" y="35461"/>
                  </a:lnTo>
                  <a:lnTo>
                    <a:pt x="65244" y="35461"/>
                  </a:lnTo>
                  <a:lnTo>
                    <a:pt x="57996" y="28251"/>
                  </a:lnTo>
                  <a:lnTo>
                    <a:pt x="65419" y="21335"/>
                  </a:lnTo>
                  <a:close/>
                </a:path>
                <a:path w="494664" h="58420">
                  <a:moveTo>
                    <a:pt x="427725" y="21335"/>
                  </a:moveTo>
                  <a:lnTo>
                    <a:pt x="65419" y="21335"/>
                  </a:lnTo>
                  <a:lnTo>
                    <a:pt x="57996" y="28251"/>
                  </a:lnTo>
                  <a:lnTo>
                    <a:pt x="65244" y="35461"/>
                  </a:lnTo>
                  <a:lnTo>
                    <a:pt x="427888" y="35461"/>
                  </a:lnTo>
                  <a:lnTo>
                    <a:pt x="434679" y="28251"/>
                  </a:lnTo>
                  <a:lnTo>
                    <a:pt x="427725" y="21335"/>
                  </a:lnTo>
                  <a:close/>
                </a:path>
                <a:path w="494664" h="58420">
                  <a:moveTo>
                    <a:pt x="472858" y="21335"/>
                  </a:moveTo>
                  <a:lnTo>
                    <a:pt x="437917" y="21335"/>
                  </a:lnTo>
                  <a:lnTo>
                    <a:pt x="439831" y="23248"/>
                  </a:lnTo>
                  <a:lnTo>
                    <a:pt x="441597" y="26485"/>
                  </a:lnTo>
                  <a:lnTo>
                    <a:pt x="441597" y="31929"/>
                  </a:lnTo>
                  <a:lnTo>
                    <a:pt x="439831" y="33695"/>
                  </a:lnTo>
                  <a:lnTo>
                    <a:pt x="437917" y="35461"/>
                  </a:lnTo>
                  <a:lnTo>
                    <a:pt x="473367" y="35461"/>
                  </a:lnTo>
                  <a:lnTo>
                    <a:pt x="494442" y="28251"/>
                  </a:lnTo>
                  <a:lnTo>
                    <a:pt x="472858" y="21335"/>
                  </a:lnTo>
                  <a:close/>
                </a:path>
              </a:pathLst>
            </a:custGeom>
            <a:solidFill>
              <a:srgbClr val="000000"/>
            </a:solidFill>
          </p:spPr>
          <p:txBody>
            <a:bodyPr wrap="square" lIns="0" tIns="0" rIns="0" bIns="0" rtlCol="0"/>
            <a:lstStyle/>
            <a:p/>
          </p:txBody>
        </p:sp>
        <p:sp>
          <p:nvSpPr>
            <p:cNvPr id="117" name="object 117" descr=""/>
            <p:cNvSpPr/>
            <p:nvPr/>
          </p:nvSpPr>
          <p:spPr>
            <a:xfrm>
              <a:off x="5446302" y="4102883"/>
              <a:ext cx="494665" cy="58419"/>
            </a:xfrm>
            <a:custGeom>
              <a:avLst/>
              <a:gdLst/>
              <a:ahLst/>
              <a:cxnLst/>
              <a:rect l="l" t="t" r="r" b="b"/>
              <a:pathLst>
                <a:path w="494664" h="58420">
                  <a:moveTo>
                    <a:pt x="57996" y="21335"/>
                  </a:moveTo>
                  <a:lnTo>
                    <a:pt x="434679" y="21335"/>
                  </a:lnTo>
                  <a:lnTo>
                    <a:pt x="437917" y="21335"/>
                  </a:lnTo>
                  <a:lnTo>
                    <a:pt x="439831" y="23248"/>
                  </a:lnTo>
                  <a:lnTo>
                    <a:pt x="441597" y="26485"/>
                  </a:lnTo>
                  <a:lnTo>
                    <a:pt x="441597" y="28251"/>
                  </a:lnTo>
                  <a:lnTo>
                    <a:pt x="441597" y="31929"/>
                  </a:lnTo>
                  <a:lnTo>
                    <a:pt x="439831" y="33695"/>
                  </a:lnTo>
                  <a:lnTo>
                    <a:pt x="437917" y="35461"/>
                  </a:lnTo>
                  <a:lnTo>
                    <a:pt x="434679" y="35461"/>
                  </a:lnTo>
                  <a:lnTo>
                    <a:pt x="57996" y="35461"/>
                  </a:lnTo>
                  <a:lnTo>
                    <a:pt x="54758" y="35461"/>
                  </a:lnTo>
                  <a:lnTo>
                    <a:pt x="52991" y="33695"/>
                  </a:lnTo>
                  <a:lnTo>
                    <a:pt x="51078" y="31929"/>
                  </a:lnTo>
                  <a:lnTo>
                    <a:pt x="51078" y="28251"/>
                  </a:lnTo>
                  <a:lnTo>
                    <a:pt x="51078" y="26485"/>
                  </a:lnTo>
                  <a:lnTo>
                    <a:pt x="52991" y="23248"/>
                  </a:lnTo>
                  <a:lnTo>
                    <a:pt x="54758" y="21335"/>
                  </a:lnTo>
                  <a:lnTo>
                    <a:pt x="57996" y="21335"/>
                  </a:lnTo>
                  <a:close/>
                </a:path>
                <a:path w="494664" h="58420">
                  <a:moveTo>
                    <a:pt x="57996" y="28251"/>
                  </a:moveTo>
                  <a:lnTo>
                    <a:pt x="88319" y="58415"/>
                  </a:lnTo>
                  <a:lnTo>
                    <a:pt x="0" y="28251"/>
                  </a:lnTo>
                  <a:lnTo>
                    <a:pt x="88319" y="0"/>
                  </a:lnTo>
                  <a:lnTo>
                    <a:pt x="57996" y="28251"/>
                  </a:lnTo>
                  <a:close/>
                </a:path>
                <a:path w="494664" h="58420">
                  <a:moveTo>
                    <a:pt x="434679" y="28251"/>
                  </a:moveTo>
                  <a:lnTo>
                    <a:pt x="406270" y="0"/>
                  </a:lnTo>
                  <a:lnTo>
                    <a:pt x="494442" y="28251"/>
                  </a:lnTo>
                  <a:lnTo>
                    <a:pt x="406270" y="58415"/>
                  </a:lnTo>
                  <a:lnTo>
                    <a:pt x="434679" y="28251"/>
                  </a:lnTo>
                  <a:close/>
                </a:path>
              </a:pathLst>
            </a:custGeom>
            <a:ln w="3175">
              <a:solidFill>
                <a:srgbClr val="000000"/>
              </a:solidFill>
            </a:ln>
          </p:spPr>
          <p:txBody>
            <a:bodyPr wrap="square" lIns="0" tIns="0" rIns="0" bIns="0" rtlCol="0"/>
            <a:lstStyle/>
            <a:p/>
          </p:txBody>
        </p:sp>
        <p:sp>
          <p:nvSpPr>
            <p:cNvPr id="118" name="object 118" descr=""/>
            <p:cNvSpPr/>
            <p:nvPr/>
          </p:nvSpPr>
          <p:spPr>
            <a:xfrm>
              <a:off x="4921389" y="3284181"/>
              <a:ext cx="58419" cy="191135"/>
            </a:xfrm>
            <a:custGeom>
              <a:avLst/>
              <a:gdLst/>
              <a:ahLst/>
              <a:cxnLst/>
              <a:rect l="l" t="t" r="r" b="b"/>
              <a:pathLst>
                <a:path w="58420" h="191135">
                  <a:moveTo>
                    <a:pt x="30175" y="58415"/>
                  </a:moveTo>
                  <a:lnTo>
                    <a:pt x="21049" y="67538"/>
                  </a:lnTo>
                  <a:lnTo>
                    <a:pt x="21049" y="182309"/>
                  </a:lnTo>
                  <a:lnTo>
                    <a:pt x="22963" y="185841"/>
                  </a:lnTo>
                  <a:lnTo>
                    <a:pt x="24729" y="187754"/>
                  </a:lnTo>
                  <a:lnTo>
                    <a:pt x="26495" y="189519"/>
                  </a:lnTo>
                  <a:lnTo>
                    <a:pt x="30175" y="190991"/>
                  </a:lnTo>
                  <a:lnTo>
                    <a:pt x="31647" y="189519"/>
                  </a:lnTo>
                  <a:lnTo>
                    <a:pt x="35327" y="187754"/>
                  </a:lnTo>
                  <a:lnTo>
                    <a:pt x="35327" y="185841"/>
                  </a:lnTo>
                  <a:lnTo>
                    <a:pt x="37094" y="182309"/>
                  </a:lnTo>
                  <a:lnTo>
                    <a:pt x="37094" y="65838"/>
                  </a:lnTo>
                  <a:lnTo>
                    <a:pt x="30175" y="58415"/>
                  </a:lnTo>
                  <a:close/>
                </a:path>
                <a:path w="58420" h="191135">
                  <a:moveTo>
                    <a:pt x="30175" y="0"/>
                  </a:moveTo>
                  <a:lnTo>
                    <a:pt x="0" y="88579"/>
                  </a:lnTo>
                  <a:lnTo>
                    <a:pt x="21049" y="67538"/>
                  </a:lnTo>
                  <a:lnTo>
                    <a:pt x="21049" y="58415"/>
                  </a:lnTo>
                  <a:lnTo>
                    <a:pt x="22963" y="56649"/>
                  </a:lnTo>
                  <a:lnTo>
                    <a:pt x="24729" y="52971"/>
                  </a:lnTo>
                  <a:lnTo>
                    <a:pt x="26495" y="52971"/>
                  </a:lnTo>
                  <a:lnTo>
                    <a:pt x="30175" y="51499"/>
                  </a:lnTo>
                  <a:lnTo>
                    <a:pt x="46521" y="51499"/>
                  </a:lnTo>
                  <a:lnTo>
                    <a:pt x="30175" y="0"/>
                  </a:lnTo>
                  <a:close/>
                </a:path>
                <a:path w="58420" h="191135">
                  <a:moveTo>
                    <a:pt x="46521" y="51499"/>
                  </a:moveTo>
                  <a:lnTo>
                    <a:pt x="30175" y="51499"/>
                  </a:lnTo>
                  <a:lnTo>
                    <a:pt x="31647" y="52971"/>
                  </a:lnTo>
                  <a:lnTo>
                    <a:pt x="35327" y="52971"/>
                  </a:lnTo>
                  <a:lnTo>
                    <a:pt x="35327" y="56649"/>
                  </a:lnTo>
                  <a:lnTo>
                    <a:pt x="37094" y="58415"/>
                  </a:lnTo>
                  <a:lnTo>
                    <a:pt x="37094" y="65838"/>
                  </a:lnTo>
                  <a:lnTo>
                    <a:pt x="58290" y="88579"/>
                  </a:lnTo>
                  <a:lnTo>
                    <a:pt x="46521" y="51499"/>
                  </a:lnTo>
                  <a:close/>
                </a:path>
                <a:path w="58420" h="191135">
                  <a:moveTo>
                    <a:pt x="35327" y="52971"/>
                  </a:moveTo>
                  <a:lnTo>
                    <a:pt x="24729" y="52971"/>
                  </a:lnTo>
                  <a:lnTo>
                    <a:pt x="22963" y="56649"/>
                  </a:lnTo>
                  <a:lnTo>
                    <a:pt x="21049" y="58415"/>
                  </a:lnTo>
                  <a:lnTo>
                    <a:pt x="21049" y="67538"/>
                  </a:lnTo>
                  <a:lnTo>
                    <a:pt x="30175" y="58415"/>
                  </a:lnTo>
                  <a:lnTo>
                    <a:pt x="37094" y="58415"/>
                  </a:lnTo>
                  <a:lnTo>
                    <a:pt x="35327" y="56649"/>
                  </a:lnTo>
                  <a:lnTo>
                    <a:pt x="35327" y="52971"/>
                  </a:lnTo>
                  <a:close/>
                </a:path>
                <a:path w="58420" h="191135">
                  <a:moveTo>
                    <a:pt x="37094" y="58415"/>
                  </a:moveTo>
                  <a:lnTo>
                    <a:pt x="30175" y="58415"/>
                  </a:lnTo>
                  <a:lnTo>
                    <a:pt x="37094" y="65838"/>
                  </a:lnTo>
                  <a:lnTo>
                    <a:pt x="37094" y="58415"/>
                  </a:lnTo>
                  <a:close/>
                </a:path>
                <a:path w="58420" h="191135">
                  <a:moveTo>
                    <a:pt x="30175" y="51499"/>
                  </a:moveTo>
                  <a:lnTo>
                    <a:pt x="26495" y="52971"/>
                  </a:lnTo>
                  <a:lnTo>
                    <a:pt x="31647" y="52971"/>
                  </a:lnTo>
                  <a:lnTo>
                    <a:pt x="30175" y="51499"/>
                  </a:lnTo>
                  <a:close/>
                </a:path>
              </a:pathLst>
            </a:custGeom>
            <a:solidFill>
              <a:srgbClr val="000000"/>
            </a:solidFill>
          </p:spPr>
          <p:txBody>
            <a:bodyPr wrap="square" lIns="0" tIns="0" rIns="0" bIns="0" rtlCol="0"/>
            <a:lstStyle/>
            <a:p/>
          </p:txBody>
        </p:sp>
        <p:sp>
          <p:nvSpPr>
            <p:cNvPr id="119" name="object 119" descr=""/>
            <p:cNvSpPr/>
            <p:nvPr/>
          </p:nvSpPr>
          <p:spPr>
            <a:xfrm>
              <a:off x="4921389" y="3284181"/>
              <a:ext cx="58419" cy="191135"/>
            </a:xfrm>
            <a:custGeom>
              <a:avLst/>
              <a:gdLst/>
              <a:ahLst/>
              <a:cxnLst/>
              <a:rect l="l" t="t" r="r" b="b"/>
              <a:pathLst>
                <a:path w="58420" h="191135">
                  <a:moveTo>
                    <a:pt x="21049" y="182309"/>
                  </a:moveTo>
                  <a:lnTo>
                    <a:pt x="21049" y="58415"/>
                  </a:lnTo>
                  <a:lnTo>
                    <a:pt x="22963" y="56649"/>
                  </a:lnTo>
                  <a:lnTo>
                    <a:pt x="24729" y="52971"/>
                  </a:lnTo>
                  <a:lnTo>
                    <a:pt x="26495" y="52971"/>
                  </a:lnTo>
                  <a:lnTo>
                    <a:pt x="30175" y="51499"/>
                  </a:lnTo>
                  <a:lnTo>
                    <a:pt x="31647" y="52971"/>
                  </a:lnTo>
                  <a:lnTo>
                    <a:pt x="35327" y="52971"/>
                  </a:lnTo>
                  <a:lnTo>
                    <a:pt x="35327" y="56649"/>
                  </a:lnTo>
                  <a:lnTo>
                    <a:pt x="37094" y="58415"/>
                  </a:lnTo>
                  <a:lnTo>
                    <a:pt x="37094" y="182309"/>
                  </a:lnTo>
                  <a:lnTo>
                    <a:pt x="35327" y="185841"/>
                  </a:lnTo>
                  <a:lnTo>
                    <a:pt x="35327" y="187754"/>
                  </a:lnTo>
                  <a:lnTo>
                    <a:pt x="31647" y="189519"/>
                  </a:lnTo>
                  <a:lnTo>
                    <a:pt x="30175" y="190991"/>
                  </a:lnTo>
                  <a:lnTo>
                    <a:pt x="26495" y="189519"/>
                  </a:lnTo>
                  <a:lnTo>
                    <a:pt x="24729" y="187754"/>
                  </a:lnTo>
                  <a:lnTo>
                    <a:pt x="22963" y="185841"/>
                  </a:lnTo>
                  <a:lnTo>
                    <a:pt x="21049" y="182309"/>
                  </a:lnTo>
                  <a:close/>
                </a:path>
                <a:path w="58420" h="191135">
                  <a:moveTo>
                    <a:pt x="30175" y="58415"/>
                  </a:moveTo>
                  <a:lnTo>
                    <a:pt x="0" y="88579"/>
                  </a:lnTo>
                  <a:lnTo>
                    <a:pt x="30175" y="0"/>
                  </a:lnTo>
                  <a:lnTo>
                    <a:pt x="58290" y="88579"/>
                  </a:lnTo>
                  <a:lnTo>
                    <a:pt x="30175" y="58415"/>
                  </a:lnTo>
                  <a:close/>
                </a:path>
              </a:pathLst>
            </a:custGeom>
            <a:ln w="3175">
              <a:solidFill>
                <a:srgbClr val="000000"/>
              </a:solidFill>
            </a:ln>
          </p:spPr>
          <p:txBody>
            <a:bodyPr wrap="square" lIns="0" tIns="0" rIns="0" bIns="0" rtlCol="0"/>
            <a:lstStyle/>
            <a:p/>
          </p:txBody>
        </p:sp>
        <p:sp>
          <p:nvSpPr>
            <p:cNvPr id="120" name="object 120" descr=""/>
            <p:cNvSpPr/>
            <p:nvPr/>
          </p:nvSpPr>
          <p:spPr>
            <a:xfrm>
              <a:off x="4949357" y="3467815"/>
              <a:ext cx="742315" cy="661670"/>
            </a:xfrm>
            <a:custGeom>
              <a:avLst/>
              <a:gdLst/>
              <a:ahLst/>
              <a:cxnLst/>
              <a:rect l="l" t="t" r="r" b="b"/>
              <a:pathLst>
                <a:path w="742314" h="661670">
                  <a:moveTo>
                    <a:pt x="0" y="0"/>
                  </a:moveTo>
                  <a:lnTo>
                    <a:pt x="742031" y="0"/>
                  </a:lnTo>
                </a:path>
                <a:path w="742314" h="661670">
                  <a:moveTo>
                    <a:pt x="742031" y="0"/>
                  </a:moveTo>
                  <a:lnTo>
                    <a:pt x="742031" y="661112"/>
                  </a:lnTo>
                </a:path>
              </a:pathLst>
            </a:custGeom>
            <a:ln w="10571">
              <a:solidFill>
                <a:srgbClr val="000000"/>
              </a:solidFill>
            </a:ln>
          </p:spPr>
          <p:txBody>
            <a:bodyPr wrap="square" lIns="0" tIns="0" rIns="0" bIns="0" rtlCol="0"/>
            <a:lstStyle/>
            <a:p/>
          </p:txBody>
        </p:sp>
        <p:pic>
          <p:nvPicPr>
            <p:cNvPr id="121" name="object 121" descr=""/>
            <p:cNvPicPr/>
            <p:nvPr/>
          </p:nvPicPr>
          <p:blipFill>
            <a:blip r:embed="rId4" cstate="print"/>
            <a:stretch>
              <a:fillRect/>
            </a:stretch>
          </p:blipFill>
          <p:spPr>
            <a:xfrm>
              <a:off x="5650775" y="4084796"/>
              <a:ext cx="77694" cy="77816"/>
            </a:xfrm>
            <a:prstGeom prst="rect">
              <a:avLst/>
            </a:prstGeom>
          </p:spPr>
        </p:pic>
        <p:sp>
          <p:nvSpPr>
            <p:cNvPr id="122" name="object 122" descr=""/>
            <p:cNvSpPr/>
            <p:nvPr/>
          </p:nvSpPr>
          <p:spPr>
            <a:xfrm>
              <a:off x="5446302" y="3188685"/>
              <a:ext cx="494665" cy="58419"/>
            </a:xfrm>
            <a:custGeom>
              <a:avLst/>
              <a:gdLst/>
              <a:ahLst/>
              <a:cxnLst/>
              <a:rect l="l" t="t" r="r" b="b"/>
              <a:pathLst>
                <a:path w="494664" h="58419">
                  <a:moveTo>
                    <a:pt x="88319" y="0"/>
                  </a:moveTo>
                  <a:lnTo>
                    <a:pt x="0" y="30164"/>
                  </a:lnTo>
                  <a:lnTo>
                    <a:pt x="88319" y="58415"/>
                  </a:lnTo>
                  <a:lnTo>
                    <a:pt x="65735" y="37374"/>
                  </a:lnTo>
                  <a:lnTo>
                    <a:pt x="57996" y="37374"/>
                  </a:lnTo>
                  <a:lnTo>
                    <a:pt x="54758" y="35608"/>
                  </a:lnTo>
                  <a:lnTo>
                    <a:pt x="52991" y="35608"/>
                  </a:lnTo>
                  <a:lnTo>
                    <a:pt x="51078" y="31929"/>
                  </a:lnTo>
                  <a:lnTo>
                    <a:pt x="51078" y="26485"/>
                  </a:lnTo>
                  <a:lnTo>
                    <a:pt x="52991" y="25014"/>
                  </a:lnTo>
                  <a:lnTo>
                    <a:pt x="54758" y="23248"/>
                  </a:lnTo>
                  <a:lnTo>
                    <a:pt x="57996" y="21482"/>
                  </a:lnTo>
                  <a:lnTo>
                    <a:pt x="66723" y="21482"/>
                  </a:lnTo>
                  <a:lnTo>
                    <a:pt x="88319" y="0"/>
                  </a:lnTo>
                  <a:close/>
                </a:path>
                <a:path w="494664" h="58419">
                  <a:moveTo>
                    <a:pt x="406270" y="0"/>
                  </a:moveTo>
                  <a:lnTo>
                    <a:pt x="434679" y="30164"/>
                  </a:lnTo>
                  <a:lnTo>
                    <a:pt x="406270" y="58415"/>
                  </a:lnTo>
                  <a:lnTo>
                    <a:pt x="471940" y="37374"/>
                  </a:lnTo>
                  <a:lnTo>
                    <a:pt x="434679" y="37374"/>
                  </a:lnTo>
                  <a:lnTo>
                    <a:pt x="437917" y="35608"/>
                  </a:lnTo>
                  <a:lnTo>
                    <a:pt x="439831" y="35608"/>
                  </a:lnTo>
                  <a:lnTo>
                    <a:pt x="441597" y="31929"/>
                  </a:lnTo>
                  <a:lnTo>
                    <a:pt x="441597" y="26485"/>
                  </a:lnTo>
                  <a:lnTo>
                    <a:pt x="439831" y="25014"/>
                  </a:lnTo>
                  <a:lnTo>
                    <a:pt x="437917" y="23248"/>
                  </a:lnTo>
                  <a:lnTo>
                    <a:pt x="434679" y="21482"/>
                  </a:lnTo>
                  <a:lnTo>
                    <a:pt x="469066" y="21482"/>
                  </a:lnTo>
                  <a:lnTo>
                    <a:pt x="406270" y="0"/>
                  </a:lnTo>
                  <a:close/>
                </a:path>
                <a:path w="494664" h="58419">
                  <a:moveTo>
                    <a:pt x="66723" y="21482"/>
                  </a:moveTo>
                  <a:lnTo>
                    <a:pt x="57996" y="21482"/>
                  </a:lnTo>
                  <a:lnTo>
                    <a:pt x="54758" y="23248"/>
                  </a:lnTo>
                  <a:lnTo>
                    <a:pt x="52991" y="25014"/>
                  </a:lnTo>
                  <a:lnTo>
                    <a:pt x="51078" y="26485"/>
                  </a:lnTo>
                  <a:lnTo>
                    <a:pt x="51078" y="31929"/>
                  </a:lnTo>
                  <a:lnTo>
                    <a:pt x="52991" y="35608"/>
                  </a:lnTo>
                  <a:lnTo>
                    <a:pt x="54758" y="35608"/>
                  </a:lnTo>
                  <a:lnTo>
                    <a:pt x="57996" y="37374"/>
                  </a:lnTo>
                  <a:lnTo>
                    <a:pt x="65735" y="37374"/>
                  </a:lnTo>
                  <a:lnTo>
                    <a:pt x="57996" y="30164"/>
                  </a:lnTo>
                  <a:lnTo>
                    <a:pt x="66723" y="21482"/>
                  </a:lnTo>
                  <a:close/>
                </a:path>
                <a:path w="494664" h="58419">
                  <a:moveTo>
                    <a:pt x="426503" y="21482"/>
                  </a:moveTo>
                  <a:lnTo>
                    <a:pt x="66723" y="21482"/>
                  </a:lnTo>
                  <a:lnTo>
                    <a:pt x="57996" y="30164"/>
                  </a:lnTo>
                  <a:lnTo>
                    <a:pt x="65735" y="37374"/>
                  </a:lnTo>
                  <a:lnTo>
                    <a:pt x="427429" y="37374"/>
                  </a:lnTo>
                  <a:lnTo>
                    <a:pt x="434679" y="30164"/>
                  </a:lnTo>
                  <a:lnTo>
                    <a:pt x="426503" y="21482"/>
                  </a:lnTo>
                  <a:close/>
                </a:path>
                <a:path w="494664" h="58419">
                  <a:moveTo>
                    <a:pt x="469066" y="21482"/>
                  </a:moveTo>
                  <a:lnTo>
                    <a:pt x="434679" y="21482"/>
                  </a:lnTo>
                  <a:lnTo>
                    <a:pt x="437917" y="23248"/>
                  </a:lnTo>
                  <a:lnTo>
                    <a:pt x="439831" y="25014"/>
                  </a:lnTo>
                  <a:lnTo>
                    <a:pt x="441597" y="26485"/>
                  </a:lnTo>
                  <a:lnTo>
                    <a:pt x="441597" y="31929"/>
                  </a:lnTo>
                  <a:lnTo>
                    <a:pt x="439831" y="35608"/>
                  </a:lnTo>
                  <a:lnTo>
                    <a:pt x="437917" y="35608"/>
                  </a:lnTo>
                  <a:lnTo>
                    <a:pt x="434679" y="37374"/>
                  </a:lnTo>
                  <a:lnTo>
                    <a:pt x="471940" y="37374"/>
                  </a:lnTo>
                  <a:lnTo>
                    <a:pt x="494442" y="30164"/>
                  </a:lnTo>
                  <a:lnTo>
                    <a:pt x="469066" y="21482"/>
                  </a:lnTo>
                  <a:close/>
                </a:path>
              </a:pathLst>
            </a:custGeom>
            <a:solidFill>
              <a:srgbClr val="000000"/>
            </a:solidFill>
          </p:spPr>
          <p:txBody>
            <a:bodyPr wrap="square" lIns="0" tIns="0" rIns="0" bIns="0" rtlCol="0"/>
            <a:lstStyle/>
            <a:p/>
          </p:txBody>
        </p:sp>
        <p:sp>
          <p:nvSpPr>
            <p:cNvPr id="123" name="object 123" descr=""/>
            <p:cNvSpPr/>
            <p:nvPr/>
          </p:nvSpPr>
          <p:spPr>
            <a:xfrm>
              <a:off x="5446302" y="3188685"/>
              <a:ext cx="494665" cy="58419"/>
            </a:xfrm>
            <a:custGeom>
              <a:avLst/>
              <a:gdLst/>
              <a:ahLst/>
              <a:cxnLst/>
              <a:rect l="l" t="t" r="r" b="b"/>
              <a:pathLst>
                <a:path w="494664" h="58419">
                  <a:moveTo>
                    <a:pt x="57996" y="21482"/>
                  </a:moveTo>
                  <a:lnTo>
                    <a:pt x="434679" y="21482"/>
                  </a:lnTo>
                  <a:lnTo>
                    <a:pt x="437917" y="23248"/>
                  </a:lnTo>
                  <a:lnTo>
                    <a:pt x="439831" y="25014"/>
                  </a:lnTo>
                  <a:lnTo>
                    <a:pt x="441597" y="26485"/>
                  </a:lnTo>
                  <a:lnTo>
                    <a:pt x="441597" y="30164"/>
                  </a:lnTo>
                  <a:lnTo>
                    <a:pt x="441597" y="31929"/>
                  </a:lnTo>
                  <a:lnTo>
                    <a:pt x="439831" y="35608"/>
                  </a:lnTo>
                  <a:lnTo>
                    <a:pt x="437917" y="35608"/>
                  </a:lnTo>
                  <a:lnTo>
                    <a:pt x="434679" y="37374"/>
                  </a:lnTo>
                  <a:lnTo>
                    <a:pt x="57996" y="37374"/>
                  </a:lnTo>
                  <a:lnTo>
                    <a:pt x="54758" y="35608"/>
                  </a:lnTo>
                  <a:lnTo>
                    <a:pt x="52991" y="35608"/>
                  </a:lnTo>
                  <a:lnTo>
                    <a:pt x="51078" y="31929"/>
                  </a:lnTo>
                  <a:lnTo>
                    <a:pt x="51078" y="30164"/>
                  </a:lnTo>
                  <a:lnTo>
                    <a:pt x="51078" y="26485"/>
                  </a:lnTo>
                  <a:lnTo>
                    <a:pt x="52991" y="25014"/>
                  </a:lnTo>
                  <a:lnTo>
                    <a:pt x="54758" y="23248"/>
                  </a:lnTo>
                  <a:lnTo>
                    <a:pt x="57996" y="21482"/>
                  </a:lnTo>
                  <a:close/>
                </a:path>
                <a:path w="494664" h="58419">
                  <a:moveTo>
                    <a:pt x="57996" y="30164"/>
                  </a:moveTo>
                  <a:lnTo>
                    <a:pt x="88319" y="58415"/>
                  </a:lnTo>
                  <a:lnTo>
                    <a:pt x="0" y="30164"/>
                  </a:lnTo>
                  <a:lnTo>
                    <a:pt x="88319" y="0"/>
                  </a:lnTo>
                  <a:lnTo>
                    <a:pt x="57996" y="30164"/>
                  </a:lnTo>
                  <a:close/>
                </a:path>
                <a:path w="494664" h="58419">
                  <a:moveTo>
                    <a:pt x="434679" y="30164"/>
                  </a:moveTo>
                  <a:lnTo>
                    <a:pt x="406270" y="0"/>
                  </a:lnTo>
                  <a:lnTo>
                    <a:pt x="494442" y="30164"/>
                  </a:lnTo>
                  <a:lnTo>
                    <a:pt x="406270" y="58415"/>
                  </a:lnTo>
                  <a:lnTo>
                    <a:pt x="434679" y="30164"/>
                  </a:lnTo>
                  <a:close/>
                </a:path>
              </a:pathLst>
            </a:custGeom>
            <a:ln w="3175">
              <a:solidFill>
                <a:srgbClr val="000000"/>
              </a:solidFill>
            </a:ln>
          </p:spPr>
          <p:txBody>
            <a:bodyPr wrap="square" lIns="0" tIns="0" rIns="0" bIns="0" rtlCol="0"/>
            <a:lstStyle/>
            <a:p/>
          </p:txBody>
        </p:sp>
        <p:sp>
          <p:nvSpPr>
            <p:cNvPr id="124" name="object 124" descr=""/>
            <p:cNvSpPr/>
            <p:nvPr/>
          </p:nvSpPr>
          <p:spPr>
            <a:xfrm>
              <a:off x="5691388" y="1480357"/>
              <a:ext cx="0" cy="1736725"/>
            </a:xfrm>
            <a:custGeom>
              <a:avLst/>
              <a:gdLst/>
              <a:ahLst/>
              <a:cxnLst/>
              <a:rect l="l" t="t" r="r" b="b"/>
              <a:pathLst>
                <a:path w="0" h="1736725">
                  <a:moveTo>
                    <a:pt x="0" y="0"/>
                  </a:moveTo>
                  <a:lnTo>
                    <a:pt x="0" y="1736284"/>
                  </a:lnTo>
                </a:path>
              </a:pathLst>
            </a:custGeom>
            <a:ln w="10573">
              <a:solidFill>
                <a:srgbClr val="000000"/>
              </a:solidFill>
            </a:ln>
          </p:spPr>
          <p:txBody>
            <a:bodyPr wrap="square" lIns="0" tIns="0" rIns="0" bIns="0" rtlCol="0"/>
            <a:lstStyle/>
            <a:p/>
          </p:txBody>
        </p:sp>
        <p:pic>
          <p:nvPicPr>
            <p:cNvPr id="125" name="object 125" descr=""/>
            <p:cNvPicPr/>
            <p:nvPr/>
          </p:nvPicPr>
          <p:blipFill>
            <a:blip r:embed="rId5" cstate="print"/>
            <a:stretch>
              <a:fillRect/>
            </a:stretch>
          </p:blipFill>
          <p:spPr>
            <a:xfrm>
              <a:off x="5645623" y="3176189"/>
              <a:ext cx="77694" cy="79581"/>
            </a:xfrm>
            <a:prstGeom prst="rect">
              <a:avLst/>
            </a:prstGeom>
          </p:spPr>
        </p:pic>
        <p:pic>
          <p:nvPicPr>
            <p:cNvPr id="126" name="object 126" descr=""/>
            <p:cNvPicPr/>
            <p:nvPr/>
          </p:nvPicPr>
          <p:blipFill>
            <a:blip r:embed="rId6" cstate="print"/>
            <a:stretch>
              <a:fillRect/>
            </a:stretch>
          </p:blipFill>
          <p:spPr>
            <a:xfrm>
              <a:off x="5648861" y="2622491"/>
              <a:ext cx="277309" cy="77816"/>
            </a:xfrm>
            <a:prstGeom prst="rect">
              <a:avLst/>
            </a:prstGeom>
          </p:spPr>
        </p:pic>
        <p:pic>
          <p:nvPicPr>
            <p:cNvPr id="127" name="object 127" descr=""/>
            <p:cNvPicPr/>
            <p:nvPr/>
          </p:nvPicPr>
          <p:blipFill>
            <a:blip r:embed="rId7" cstate="print"/>
            <a:stretch>
              <a:fillRect/>
            </a:stretch>
          </p:blipFill>
          <p:spPr>
            <a:xfrm>
              <a:off x="5650775" y="1441670"/>
              <a:ext cx="77694" cy="77668"/>
            </a:xfrm>
            <a:prstGeom prst="rect">
              <a:avLst/>
            </a:prstGeom>
          </p:spPr>
        </p:pic>
        <p:pic>
          <p:nvPicPr>
            <p:cNvPr id="128" name="object 128" descr=""/>
            <p:cNvPicPr/>
            <p:nvPr/>
          </p:nvPicPr>
          <p:blipFill>
            <a:blip r:embed="rId8" cstate="print"/>
            <a:stretch>
              <a:fillRect/>
            </a:stretch>
          </p:blipFill>
          <p:spPr>
            <a:xfrm>
              <a:off x="5468836" y="1439757"/>
              <a:ext cx="77547" cy="79581"/>
            </a:xfrm>
            <a:prstGeom prst="rect">
              <a:avLst/>
            </a:prstGeom>
          </p:spPr>
        </p:pic>
        <p:sp>
          <p:nvSpPr>
            <p:cNvPr id="129" name="object 129" descr=""/>
            <p:cNvSpPr/>
            <p:nvPr/>
          </p:nvSpPr>
          <p:spPr>
            <a:xfrm>
              <a:off x="5499293" y="2274634"/>
              <a:ext cx="426084" cy="60325"/>
            </a:xfrm>
            <a:custGeom>
              <a:avLst/>
              <a:gdLst/>
              <a:ahLst/>
              <a:cxnLst/>
              <a:rect l="l" t="t" r="r" b="b"/>
              <a:pathLst>
                <a:path w="426085" h="60325">
                  <a:moveTo>
                    <a:pt x="337527" y="0"/>
                  </a:moveTo>
                  <a:lnTo>
                    <a:pt x="367409" y="30164"/>
                  </a:lnTo>
                  <a:lnTo>
                    <a:pt x="337527" y="60181"/>
                  </a:lnTo>
                  <a:lnTo>
                    <a:pt x="404633" y="37374"/>
                  </a:lnTo>
                  <a:lnTo>
                    <a:pt x="369323" y="37374"/>
                  </a:lnTo>
                  <a:lnTo>
                    <a:pt x="371089" y="35608"/>
                  </a:lnTo>
                  <a:lnTo>
                    <a:pt x="372561" y="33695"/>
                  </a:lnTo>
                  <a:lnTo>
                    <a:pt x="374475" y="30164"/>
                  </a:lnTo>
                  <a:lnTo>
                    <a:pt x="372561" y="26485"/>
                  </a:lnTo>
                  <a:lnTo>
                    <a:pt x="369323" y="23248"/>
                  </a:lnTo>
                  <a:lnTo>
                    <a:pt x="405598" y="23248"/>
                  </a:lnTo>
                  <a:lnTo>
                    <a:pt x="337527" y="0"/>
                  </a:lnTo>
                  <a:close/>
                </a:path>
                <a:path w="426085" h="60325">
                  <a:moveTo>
                    <a:pt x="360558" y="23248"/>
                  </a:moveTo>
                  <a:lnTo>
                    <a:pt x="5004" y="23248"/>
                  </a:lnTo>
                  <a:lnTo>
                    <a:pt x="3532" y="25014"/>
                  </a:lnTo>
                  <a:lnTo>
                    <a:pt x="1766" y="26485"/>
                  </a:lnTo>
                  <a:lnTo>
                    <a:pt x="0" y="30164"/>
                  </a:lnTo>
                  <a:lnTo>
                    <a:pt x="1766" y="33695"/>
                  </a:lnTo>
                  <a:lnTo>
                    <a:pt x="3532" y="35608"/>
                  </a:lnTo>
                  <a:lnTo>
                    <a:pt x="5004" y="37374"/>
                  </a:lnTo>
                  <a:lnTo>
                    <a:pt x="360232" y="37374"/>
                  </a:lnTo>
                  <a:lnTo>
                    <a:pt x="367409" y="30164"/>
                  </a:lnTo>
                  <a:lnTo>
                    <a:pt x="360558" y="23248"/>
                  </a:lnTo>
                  <a:close/>
                </a:path>
                <a:path w="426085" h="60325">
                  <a:moveTo>
                    <a:pt x="405598" y="23248"/>
                  </a:moveTo>
                  <a:lnTo>
                    <a:pt x="369323" y="23248"/>
                  </a:lnTo>
                  <a:lnTo>
                    <a:pt x="372561" y="26485"/>
                  </a:lnTo>
                  <a:lnTo>
                    <a:pt x="374475" y="30164"/>
                  </a:lnTo>
                  <a:lnTo>
                    <a:pt x="372561" y="33695"/>
                  </a:lnTo>
                  <a:lnTo>
                    <a:pt x="371089" y="35608"/>
                  </a:lnTo>
                  <a:lnTo>
                    <a:pt x="369323" y="37374"/>
                  </a:lnTo>
                  <a:lnTo>
                    <a:pt x="404633" y="37374"/>
                  </a:lnTo>
                  <a:lnTo>
                    <a:pt x="425847" y="30164"/>
                  </a:lnTo>
                  <a:lnTo>
                    <a:pt x="405598" y="23248"/>
                  </a:lnTo>
                  <a:close/>
                </a:path>
              </a:pathLst>
            </a:custGeom>
            <a:solidFill>
              <a:srgbClr val="000000"/>
            </a:solidFill>
          </p:spPr>
          <p:txBody>
            <a:bodyPr wrap="square" lIns="0" tIns="0" rIns="0" bIns="0" rtlCol="0"/>
            <a:lstStyle/>
            <a:p/>
          </p:txBody>
        </p:sp>
        <p:sp>
          <p:nvSpPr>
            <p:cNvPr id="130" name="object 130" descr=""/>
            <p:cNvSpPr/>
            <p:nvPr/>
          </p:nvSpPr>
          <p:spPr>
            <a:xfrm>
              <a:off x="5499293" y="2274634"/>
              <a:ext cx="426084" cy="60325"/>
            </a:xfrm>
            <a:custGeom>
              <a:avLst/>
              <a:gdLst/>
              <a:ahLst/>
              <a:cxnLst/>
              <a:rect l="l" t="t" r="r" b="b"/>
              <a:pathLst>
                <a:path w="426085" h="60325">
                  <a:moveTo>
                    <a:pt x="8684" y="23248"/>
                  </a:moveTo>
                  <a:lnTo>
                    <a:pt x="367409" y="23248"/>
                  </a:lnTo>
                  <a:lnTo>
                    <a:pt x="369323" y="23248"/>
                  </a:lnTo>
                  <a:lnTo>
                    <a:pt x="371089" y="25014"/>
                  </a:lnTo>
                  <a:lnTo>
                    <a:pt x="372561" y="26485"/>
                  </a:lnTo>
                  <a:lnTo>
                    <a:pt x="374475" y="30164"/>
                  </a:lnTo>
                  <a:lnTo>
                    <a:pt x="372561" y="33695"/>
                  </a:lnTo>
                  <a:lnTo>
                    <a:pt x="371089" y="35608"/>
                  </a:lnTo>
                  <a:lnTo>
                    <a:pt x="369323" y="37374"/>
                  </a:lnTo>
                  <a:lnTo>
                    <a:pt x="367409" y="37374"/>
                  </a:lnTo>
                  <a:lnTo>
                    <a:pt x="8684" y="37374"/>
                  </a:lnTo>
                  <a:lnTo>
                    <a:pt x="5004" y="37374"/>
                  </a:lnTo>
                  <a:lnTo>
                    <a:pt x="3532" y="35608"/>
                  </a:lnTo>
                  <a:lnTo>
                    <a:pt x="1766" y="33695"/>
                  </a:lnTo>
                  <a:lnTo>
                    <a:pt x="0" y="30164"/>
                  </a:lnTo>
                  <a:lnTo>
                    <a:pt x="1766" y="26485"/>
                  </a:lnTo>
                  <a:lnTo>
                    <a:pt x="3532" y="25014"/>
                  </a:lnTo>
                  <a:lnTo>
                    <a:pt x="5004" y="23248"/>
                  </a:lnTo>
                  <a:lnTo>
                    <a:pt x="8684" y="23248"/>
                  </a:lnTo>
                  <a:close/>
                </a:path>
                <a:path w="426085" h="60325">
                  <a:moveTo>
                    <a:pt x="367409" y="30164"/>
                  </a:moveTo>
                  <a:lnTo>
                    <a:pt x="337528" y="0"/>
                  </a:lnTo>
                  <a:lnTo>
                    <a:pt x="425847" y="30164"/>
                  </a:lnTo>
                  <a:lnTo>
                    <a:pt x="337528" y="60181"/>
                  </a:lnTo>
                  <a:lnTo>
                    <a:pt x="367409" y="30164"/>
                  </a:lnTo>
                  <a:close/>
                </a:path>
              </a:pathLst>
            </a:custGeom>
            <a:ln w="3175">
              <a:solidFill>
                <a:srgbClr val="000000"/>
              </a:solidFill>
            </a:ln>
          </p:spPr>
          <p:txBody>
            <a:bodyPr wrap="square" lIns="0" tIns="0" rIns="0" bIns="0" rtlCol="0"/>
            <a:lstStyle/>
            <a:p/>
          </p:txBody>
        </p:sp>
        <p:sp>
          <p:nvSpPr>
            <p:cNvPr id="131" name="object 131" descr=""/>
            <p:cNvSpPr/>
            <p:nvPr/>
          </p:nvSpPr>
          <p:spPr>
            <a:xfrm>
              <a:off x="5505770" y="1480357"/>
              <a:ext cx="0" cy="822325"/>
            </a:xfrm>
            <a:custGeom>
              <a:avLst/>
              <a:gdLst/>
              <a:ahLst/>
              <a:cxnLst/>
              <a:rect l="l" t="t" r="r" b="b"/>
              <a:pathLst>
                <a:path w="0" h="822325">
                  <a:moveTo>
                    <a:pt x="0" y="0"/>
                  </a:moveTo>
                  <a:lnTo>
                    <a:pt x="0" y="822233"/>
                  </a:lnTo>
                </a:path>
              </a:pathLst>
            </a:custGeom>
            <a:ln w="10573">
              <a:solidFill>
                <a:srgbClr val="000000"/>
              </a:solidFill>
            </a:ln>
          </p:spPr>
          <p:txBody>
            <a:bodyPr wrap="square" lIns="0" tIns="0" rIns="0" bIns="0" rtlCol="0"/>
            <a:lstStyle/>
            <a:p/>
          </p:txBody>
        </p:sp>
      </p:grpSp>
      <p:sp>
        <p:nvSpPr>
          <p:cNvPr id="132" name="object 132" descr=""/>
          <p:cNvSpPr txBox="1"/>
          <p:nvPr/>
        </p:nvSpPr>
        <p:spPr>
          <a:xfrm>
            <a:off x="3155881" y="4677137"/>
            <a:ext cx="927735" cy="525780"/>
          </a:xfrm>
          <a:prstGeom prst="rect">
            <a:avLst/>
          </a:prstGeom>
        </p:spPr>
        <p:txBody>
          <a:bodyPr wrap="square" lIns="0" tIns="13335" rIns="0" bIns="0" rtlCol="0" vert="horz">
            <a:spAutoFit/>
          </a:bodyPr>
          <a:lstStyle/>
          <a:p>
            <a:pPr marL="151765">
              <a:lnSpc>
                <a:spcPts val="1250"/>
              </a:lnSpc>
              <a:spcBef>
                <a:spcPts val="105"/>
              </a:spcBef>
            </a:pPr>
            <a:r>
              <a:rPr dirty="0" sz="1050" spc="-35">
                <a:latin typeface="宋体"/>
                <a:cs typeface="宋体"/>
              </a:rPr>
              <a:t>指令缓冲区</a:t>
            </a:r>
            <a:endParaRPr sz="1050">
              <a:latin typeface="宋体"/>
              <a:cs typeface="宋体"/>
            </a:endParaRPr>
          </a:p>
          <a:p>
            <a:pPr marL="229235" marR="60325" indent="-201930">
              <a:lnSpc>
                <a:spcPts val="1280"/>
              </a:lnSpc>
              <a:spcBef>
                <a:spcPts val="15"/>
              </a:spcBef>
            </a:pPr>
            <a:r>
              <a:rPr dirty="0" sz="1050" spc="-20">
                <a:latin typeface="宋体"/>
                <a:cs typeface="宋体"/>
              </a:rPr>
              <a:t>（512</a:t>
            </a:r>
            <a:r>
              <a:rPr dirty="0" sz="1050" spc="-185">
                <a:latin typeface="宋体"/>
                <a:cs typeface="宋体"/>
              </a:rPr>
              <a:t> 个 </a:t>
            </a:r>
            <a:r>
              <a:rPr dirty="0" sz="1050" spc="-20">
                <a:latin typeface="宋体"/>
                <a:cs typeface="宋体"/>
              </a:rPr>
              <a:t>16</a:t>
            </a:r>
            <a:r>
              <a:rPr dirty="0" sz="1050" spc="-155">
                <a:latin typeface="宋体"/>
                <a:cs typeface="宋体"/>
              </a:rPr>
              <a:t> 位</a:t>
            </a:r>
            <a:r>
              <a:rPr dirty="0" sz="1050" spc="-30">
                <a:latin typeface="宋体"/>
                <a:cs typeface="宋体"/>
              </a:rPr>
              <a:t>指令区</a:t>
            </a:r>
            <a:r>
              <a:rPr dirty="0" sz="1050" spc="-50">
                <a:latin typeface="宋体"/>
                <a:cs typeface="宋体"/>
              </a:rPr>
              <a:t>）</a:t>
            </a:r>
            <a:endParaRPr sz="1050">
              <a:latin typeface="宋体"/>
              <a:cs typeface="宋体"/>
            </a:endParaRPr>
          </a:p>
        </p:txBody>
      </p:sp>
      <p:sp>
        <p:nvSpPr>
          <p:cNvPr id="133" name="object 133" descr=""/>
          <p:cNvSpPr txBox="1"/>
          <p:nvPr/>
        </p:nvSpPr>
        <p:spPr>
          <a:xfrm>
            <a:off x="4516297" y="4768984"/>
            <a:ext cx="818515" cy="389255"/>
          </a:xfrm>
          <a:prstGeom prst="rect">
            <a:avLst/>
          </a:prstGeom>
        </p:spPr>
        <p:txBody>
          <a:bodyPr wrap="square" lIns="0" tIns="13335" rIns="0" bIns="0" rtlCol="0" vert="horz">
            <a:spAutoFit/>
          </a:bodyPr>
          <a:lstStyle/>
          <a:p>
            <a:pPr marL="90170" marR="58419" indent="77470">
              <a:lnSpc>
                <a:spcPct val="100000"/>
              </a:lnSpc>
              <a:spcBef>
                <a:spcPts val="105"/>
              </a:spcBef>
            </a:pPr>
            <a:r>
              <a:rPr dirty="0" sz="1050" spc="-35">
                <a:latin typeface="宋体"/>
                <a:cs typeface="宋体"/>
              </a:rPr>
              <a:t>指令输出发送寄存器</a:t>
            </a:r>
            <a:endParaRPr sz="1050">
              <a:latin typeface="宋体"/>
              <a:cs typeface="宋体"/>
            </a:endParaRPr>
          </a:p>
        </p:txBody>
      </p:sp>
      <p:grpSp>
        <p:nvGrpSpPr>
          <p:cNvPr id="134" name="object 134" descr=""/>
          <p:cNvGrpSpPr/>
          <p:nvPr/>
        </p:nvGrpSpPr>
        <p:grpSpPr>
          <a:xfrm>
            <a:off x="4075877" y="4924087"/>
            <a:ext cx="443865" cy="60960"/>
            <a:chOff x="4075877" y="4924087"/>
            <a:chExt cx="443865" cy="60960"/>
          </a:xfrm>
        </p:grpSpPr>
        <p:sp>
          <p:nvSpPr>
            <p:cNvPr id="135" name="object 135" descr=""/>
            <p:cNvSpPr/>
            <p:nvPr/>
          </p:nvSpPr>
          <p:spPr>
            <a:xfrm>
              <a:off x="4076907" y="4925117"/>
              <a:ext cx="441959" cy="58419"/>
            </a:xfrm>
            <a:custGeom>
              <a:avLst/>
              <a:gdLst/>
              <a:ahLst/>
              <a:cxnLst/>
              <a:rect l="l" t="t" r="r" b="b"/>
              <a:pathLst>
                <a:path w="441960" h="58420">
                  <a:moveTo>
                    <a:pt x="353278" y="0"/>
                  </a:moveTo>
                  <a:lnTo>
                    <a:pt x="381687" y="28251"/>
                  </a:lnTo>
                  <a:lnTo>
                    <a:pt x="353278" y="58415"/>
                  </a:lnTo>
                  <a:lnTo>
                    <a:pt x="419945" y="35608"/>
                  </a:lnTo>
                  <a:lnTo>
                    <a:pt x="384926" y="35608"/>
                  </a:lnTo>
                  <a:lnTo>
                    <a:pt x="388606" y="31929"/>
                  </a:lnTo>
                  <a:lnTo>
                    <a:pt x="388606" y="26485"/>
                  </a:lnTo>
                  <a:lnTo>
                    <a:pt x="386839" y="22807"/>
                  </a:lnTo>
                  <a:lnTo>
                    <a:pt x="384926" y="21335"/>
                  </a:lnTo>
                  <a:lnTo>
                    <a:pt x="419866" y="21335"/>
                  </a:lnTo>
                  <a:lnTo>
                    <a:pt x="353278" y="0"/>
                  </a:lnTo>
                  <a:close/>
                </a:path>
                <a:path w="441960" h="58420">
                  <a:moveTo>
                    <a:pt x="374733" y="21335"/>
                  </a:moveTo>
                  <a:lnTo>
                    <a:pt x="5004" y="21335"/>
                  </a:lnTo>
                  <a:lnTo>
                    <a:pt x="3532" y="22807"/>
                  </a:lnTo>
                  <a:lnTo>
                    <a:pt x="1766" y="26485"/>
                  </a:lnTo>
                  <a:lnTo>
                    <a:pt x="0" y="28251"/>
                  </a:lnTo>
                  <a:lnTo>
                    <a:pt x="1766" y="31929"/>
                  </a:lnTo>
                  <a:lnTo>
                    <a:pt x="3532" y="33695"/>
                  </a:lnTo>
                  <a:lnTo>
                    <a:pt x="5004" y="35608"/>
                  </a:lnTo>
                  <a:lnTo>
                    <a:pt x="374758" y="35608"/>
                  </a:lnTo>
                  <a:lnTo>
                    <a:pt x="381687" y="28251"/>
                  </a:lnTo>
                  <a:lnTo>
                    <a:pt x="374733" y="21335"/>
                  </a:lnTo>
                  <a:close/>
                </a:path>
                <a:path w="441960" h="58420">
                  <a:moveTo>
                    <a:pt x="419866" y="21335"/>
                  </a:moveTo>
                  <a:lnTo>
                    <a:pt x="384926" y="21335"/>
                  </a:lnTo>
                  <a:lnTo>
                    <a:pt x="386839" y="22807"/>
                  </a:lnTo>
                  <a:lnTo>
                    <a:pt x="388606" y="26485"/>
                  </a:lnTo>
                  <a:lnTo>
                    <a:pt x="388606" y="31929"/>
                  </a:lnTo>
                  <a:lnTo>
                    <a:pt x="384926" y="35608"/>
                  </a:lnTo>
                  <a:lnTo>
                    <a:pt x="419945" y="35608"/>
                  </a:lnTo>
                  <a:lnTo>
                    <a:pt x="441450" y="28251"/>
                  </a:lnTo>
                  <a:lnTo>
                    <a:pt x="419866" y="21335"/>
                  </a:lnTo>
                  <a:close/>
                </a:path>
              </a:pathLst>
            </a:custGeom>
            <a:solidFill>
              <a:srgbClr val="000000"/>
            </a:solidFill>
          </p:spPr>
          <p:txBody>
            <a:bodyPr wrap="square" lIns="0" tIns="0" rIns="0" bIns="0" rtlCol="0"/>
            <a:lstStyle/>
            <a:p/>
          </p:txBody>
        </p:sp>
        <p:sp>
          <p:nvSpPr>
            <p:cNvPr id="136" name="object 136" descr=""/>
            <p:cNvSpPr/>
            <p:nvPr/>
          </p:nvSpPr>
          <p:spPr>
            <a:xfrm>
              <a:off x="4076907" y="4925117"/>
              <a:ext cx="441959" cy="58419"/>
            </a:xfrm>
            <a:custGeom>
              <a:avLst/>
              <a:gdLst/>
              <a:ahLst/>
              <a:cxnLst/>
              <a:rect l="l" t="t" r="r" b="b"/>
              <a:pathLst>
                <a:path w="441960" h="58420">
                  <a:moveTo>
                    <a:pt x="8684" y="21335"/>
                  </a:moveTo>
                  <a:lnTo>
                    <a:pt x="381687" y="21335"/>
                  </a:lnTo>
                  <a:lnTo>
                    <a:pt x="384926" y="21335"/>
                  </a:lnTo>
                  <a:lnTo>
                    <a:pt x="386839" y="22807"/>
                  </a:lnTo>
                  <a:lnTo>
                    <a:pt x="388606" y="26485"/>
                  </a:lnTo>
                  <a:lnTo>
                    <a:pt x="388606" y="28251"/>
                  </a:lnTo>
                  <a:lnTo>
                    <a:pt x="388606" y="31929"/>
                  </a:lnTo>
                  <a:lnTo>
                    <a:pt x="386839" y="33695"/>
                  </a:lnTo>
                  <a:lnTo>
                    <a:pt x="384926" y="35608"/>
                  </a:lnTo>
                  <a:lnTo>
                    <a:pt x="381687" y="35608"/>
                  </a:lnTo>
                  <a:lnTo>
                    <a:pt x="8684" y="35608"/>
                  </a:lnTo>
                  <a:lnTo>
                    <a:pt x="5004" y="35608"/>
                  </a:lnTo>
                  <a:lnTo>
                    <a:pt x="3532" y="33695"/>
                  </a:lnTo>
                  <a:lnTo>
                    <a:pt x="1766" y="31929"/>
                  </a:lnTo>
                  <a:lnTo>
                    <a:pt x="0" y="28251"/>
                  </a:lnTo>
                  <a:lnTo>
                    <a:pt x="1766" y="26485"/>
                  </a:lnTo>
                  <a:lnTo>
                    <a:pt x="3532" y="22807"/>
                  </a:lnTo>
                  <a:lnTo>
                    <a:pt x="5004" y="21335"/>
                  </a:lnTo>
                  <a:lnTo>
                    <a:pt x="8684" y="21335"/>
                  </a:lnTo>
                  <a:close/>
                </a:path>
                <a:path w="441960" h="58420">
                  <a:moveTo>
                    <a:pt x="381687" y="28251"/>
                  </a:moveTo>
                  <a:lnTo>
                    <a:pt x="353278" y="0"/>
                  </a:lnTo>
                  <a:lnTo>
                    <a:pt x="441450" y="28251"/>
                  </a:lnTo>
                  <a:lnTo>
                    <a:pt x="353278" y="58415"/>
                  </a:lnTo>
                  <a:lnTo>
                    <a:pt x="381687" y="28251"/>
                  </a:lnTo>
                  <a:close/>
                </a:path>
              </a:pathLst>
            </a:custGeom>
            <a:ln w="3175">
              <a:solidFill>
                <a:srgbClr val="000000"/>
              </a:solidFill>
            </a:ln>
          </p:spPr>
          <p:txBody>
            <a:bodyPr wrap="square" lIns="0" tIns="0" rIns="0" bIns="0" rtlCol="0"/>
            <a:lstStyle/>
            <a:p/>
          </p:txBody>
        </p:sp>
      </p:grpSp>
      <p:sp>
        <p:nvSpPr>
          <p:cNvPr id="137" name="object 137" descr=""/>
          <p:cNvSpPr txBox="1"/>
          <p:nvPr/>
        </p:nvSpPr>
        <p:spPr>
          <a:xfrm>
            <a:off x="3155881" y="5591247"/>
            <a:ext cx="942340" cy="389255"/>
          </a:xfrm>
          <a:prstGeom prst="rect">
            <a:avLst/>
          </a:prstGeom>
        </p:spPr>
        <p:txBody>
          <a:bodyPr wrap="square" lIns="0" tIns="13335" rIns="0" bIns="0" rtlCol="0" vert="horz">
            <a:spAutoFit/>
          </a:bodyPr>
          <a:lstStyle/>
          <a:p>
            <a:pPr marL="274955" marR="191135" indent="-62230">
              <a:lnSpc>
                <a:spcPct val="100000"/>
              </a:lnSpc>
              <a:spcBef>
                <a:spcPts val="105"/>
              </a:spcBef>
            </a:pPr>
            <a:r>
              <a:rPr dirty="0" sz="1050" spc="-35">
                <a:latin typeface="宋体"/>
                <a:cs typeface="宋体"/>
              </a:rPr>
              <a:t>交换参数</a:t>
            </a:r>
            <a:r>
              <a:rPr dirty="0" sz="1050" spc="-40">
                <a:latin typeface="宋体"/>
                <a:cs typeface="宋体"/>
              </a:rPr>
              <a:t>寄存器</a:t>
            </a:r>
            <a:endParaRPr sz="1050">
              <a:latin typeface="宋体"/>
              <a:cs typeface="宋体"/>
            </a:endParaRPr>
          </a:p>
        </p:txBody>
      </p:sp>
      <p:grpSp>
        <p:nvGrpSpPr>
          <p:cNvPr id="138" name="object 138" descr=""/>
          <p:cNvGrpSpPr/>
          <p:nvPr/>
        </p:nvGrpSpPr>
        <p:grpSpPr>
          <a:xfrm>
            <a:off x="2847807" y="4924087"/>
            <a:ext cx="311785" cy="60960"/>
            <a:chOff x="2847807" y="4924087"/>
            <a:chExt cx="311785" cy="60960"/>
          </a:xfrm>
        </p:grpSpPr>
        <p:sp>
          <p:nvSpPr>
            <p:cNvPr id="139" name="object 139" descr=""/>
            <p:cNvSpPr/>
            <p:nvPr/>
          </p:nvSpPr>
          <p:spPr>
            <a:xfrm>
              <a:off x="2848838" y="4925117"/>
              <a:ext cx="309245" cy="58419"/>
            </a:xfrm>
            <a:custGeom>
              <a:avLst/>
              <a:gdLst/>
              <a:ahLst/>
              <a:cxnLst/>
              <a:rect l="l" t="t" r="r" b="b"/>
              <a:pathLst>
                <a:path w="309244" h="58420">
                  <a:moveTo>
                    <a:pt x="88231" y="0"/>
                  </a:moveTo>
                  <a:lnTo>
                    <a:pt x="0" y="28251"/>
                  </a:lnTo>
                  <a:lnTo>
                    <a:pt x="88231" y="58415"/>
                  </a:lnTo>
                  <a:lnTo>
                    <a:pt x="65626" y="35608"/>
                  </a:lnTo>
                  <a:lnTo>
                    <a:pt x="54684" y="35608"/>
                  </a:lnTo>
                  <a:lnTo>
                    <a:pt x="52859" y="33695"/>
                  </a:lnTo>
                  <a:lnTo>
                    <a:pt x="51033" y="31929"/>
                  </a:lnTo>
                  <a:lnTo>
                    <a:pt x="51033" y="26485"/>
                  </a:lnTo>
                  <a:lnTo>
                    <a:pt x="52859" y="22807"/>
                  </a:lnTo>
                  <a:lnTo>
                    <a:pt x="54684" y="21335"/>
                  </a:lnTo>
                  <a:lnTo>
                    <a:pt x="65653" y="21335"/>
                  </a:lnTo>
                  <a:lnTo>
                    <a:pt x="88231" y="0"/>
                  </a:lnTo>
                  <a:close/>
                </a:path>
                <a:path w="309244" h="58420">
                  <a:moveTo>
                    <a:pt x="220931" y="0"/>
                  </a:moveTo>
                  <a:lnTo>
                    <a:pt x="249046" y="28251"/>
                  </a:lnTo>
                  <a:lnTo>
                    <a:pt x="220931" y="58415"/>
                  </a:lnTo>
                  <a:lnTo>
                    <a:pt x="287709" y="35608"/>
                  </a:lnTo>
                  <a:lnTo>
                    <a:pt x="252726" y="35608"/>
                  </a:lnTo>
                  <a:lnTo>
                    <a:pt x="254492" y="33695"/>
                  </a:lnTo>
                  <a:lnTo>
                    <a:pt x="256259" y="31929"/>
                  </a:lnTo>
                  <a:lnTo>
                    <a:pt x="256259" y="26485"/>
                  </a:lnTo>
                  <a:lnTo>
                    <a:pt x="254492" y="22807"/>
                  </a:lnTo>
                  <a:lnTo>
                    <a:pt x="252726" y="21335"/>
                  </a:lnTo>
                  <a:lnTo>
                    <a:pt x="287631" y="21335"/>
                  </a:lnTo>
                  <a:lnTo>
                    <a:pt x="220931" y="0"/>
                  </a:lnTo>
                  <a:close/>
                </a:path>
                <a:path w="309244" h="58420">
                  <a:moveTo>
                    <a:pt x="65653" y="21335"/>
                  </a:moveTo>
                  <a:lnTo>
                    <a:pt x="54684" y="21335"/>
                  </a:lnTo>
                  <a:lnTo>
                    <a:pt x="52859" y="22807"/>
                  </a:lnTo>
                  <a:lnTo>
                    <a:pt x="51033" y="26485"/>
                  </a:lnTo>
                  <a:lnTo>
                    <a:pt x="51033" y="31929"/>
                  </a:lnTo>
                  <a:lnTo>
                    <a:pt x="52859" y="33695"/>
                  </a:lnTo>
                  <a:lnTo>
                    <a:pt x="54684" y="35608"/>
                  </a:lnTo>
                  <a:lnTo>
                    <a:pt x="65626" y="35608"/>
                  </a:lnTo>
                  <a:lnTo>
                    <a:pt x="58335" y="28251"/>
                  </a:lnTo>
                  <a:lnTo>
                    <a:pt x="65653" y="21335"/>
                  </a:lnTo>
                  <a:close/>
                </a:path>
                <a:path w="309244" h="58420">
                  <a:moveTo>
                    <a:pt x="242164" y="21335"/>
                  </a:moveTo>
                  <a:lnTo>
                    <a:pt x="65653" y="21335"/>
                  </a:lnTo>
                  <a:lnTo>
                    <a:pt x="58335" y="28251"/>
                  </a:lnTo>
                  <a:lnTo>
                    <a:pt x="65626" y="35608"/>
                  </a:lnTo>
                  <a:lnTo>
                    <a:pt x="242189" y="35608"/>
                  </a:lnTo>
                  <a:lnTo>
                    <a:pt x="249046" y="28251"/>
                  </a:lnTo>
                  <a:lnTo>
                    <a:pt x="242164" y="21335"/>
                  </a:lnTo>
                  <a:close/>
                </a:path>
                <a:path w="309244" h="58420">
                  <a:moveTo>
                    <a:pt x="287631" y="21335"/>
                  </a:moveTo>
                  <a:lnTo>
                    <a:pt x="252726" y="21335"/>
                  </a:lnTo>
                  <a:lnTo>
                    <a:pt x="254492" y="22807"/>
                  </a:lnTo>
                  <a:lnTo>
                    <a:pt x="256259" y="26485"/>
                  </a:lnTo>
                  <a:lnTo>
                    <a:pt x="256259" y="31929"/>
                  </a:lnTo>
                  <a:lnTo>
                    <a:pt x="254492" y="33695"/>
                  </a:lnTo>
                  <a:lnTo>
                    <a:pt x="252726" y="35608"/>
                  </a:lnTo>
                  <a:lnTo>
                    <a:pt x="287709" y="35608"/>
                  </a:lnTo>
                  <a:lnTo>
                    <a:pt x="309251" y="28251"/>
                  </a:lnTo>
                  <a:lnTo>
                    <a:pt x="287631" y="21335"/>
                  </a:lnTo>
                  <a:close/>
                </a:path>
              </a:pathLst>
            </a:custGeom>
            <a:solidFill>
              <a:srgbClr val="000000"/>
            </a:solidFill>
          </p:spPr>
          <p:txBody>
            <a:bodyPr wrap="square" lIns="0" tIns="0" rIns="0" bIns="0" rtlCol="0"/>
            <a:lstStyle/>
            <a:p/>
          </p:txBody>
        </p:sp>
        <p:sp>
          <p:nvSpPr>
            <p:cNvPr id="140" name="object 140" descr=""/>
            <p:cNvSpPr/>
            <p:nvPr/>
          </p:nvSpPr>
          <p:spPr>
            <a:xfrm>
              <a:off x="2848838" y="4925117"/>
              <a:ext cx="309245" cy="58419"/>
            </a:xfrm>
            <a:custGeom>
              <a:avLst/>
              <a:gdLst/>
              <a:ahLst/>
              <a:cxnLst/>
              <a:rect l="l" t="t" r="r" b="b"/>
              <a:pathLst>
                <a:path w="309244" h="58420">
                  <a:moveTo>
                    <a:pt x="58335" y="21335"/>
                  </a:moveTo>
                  <a:lnTo>
                    <a:pt x="249046" y="21335"/>
                  </a:lnTo>
                  <a:lnTo>
                    <a:pt x="252726" y="21335"/>
                  </a:lnTo>
                  <a:lnTo>
                    <a:pt x="254492" y="22807"/>
                  </a:lnTo>
                  <a:lnTo>
                    <a:pt x="256259" y="26485"/>
                  </a:lnTo>
                  <a:lnTo>
                    <a:pt x="256259" y="28251"/>
                  </a:lnTo>
                  <a:lnTo>
                    <a:pt x="256259" y="31929"/>
                  </a:lnTo>
                  <a:lnTo>
                    <a:pt x="254492" y="33695"/>
                  </a:lnTo>
                  <a:lnTo>
                    <a:pt x="252726" y="35608"/>
                  </a:lnTo>
                  <a:lnTo>
                    <a:pt x="249046" y="35608"/>
                  </a:lnTo>
                  <a:lnTo>
                    <a:pt x="58335" y="35608"/>
                  </a:lnTo>
                  <a:lnTo>
                    <a:pt x="54684" y="35608"/>
                  </a:lnTo>
                  <a:lnTo>
                    <a:pt x="52859" y="33695"/>
                  </a:lnTo>
                  <a:lnTo>
                    <a:pt x="51033" y="31929"/>
                  </a:lnTo>
                  <a:lnTo>
                    <a:pt x="51033" y="28251"/>
                  </a:lnTo>
                  <a:lnTo>
                    <a:pt x="51033" y="26485"/>
                  </a:lnTo>
                  <a:lnTo>
                    <a:pt x="52859" y="22807"/>
                  </a:lnTo>
                  <a:lnTo>
                    <a:pt x="54684" y="21335"/>
                  </a:lnTo>
                  <a:lnTo>
                    <a:pt x="58335" y="21335"/>
                  </a:lnTo>
                  <a:close/>
                </a:path>
                <a:path w="309244" h="58420">
                  <a:moveTo>
                    <a:pt x="58335" y="28251"/>
                  </a:moveTo>
                  <a:lnTo>
                    <a:pt x="88231" y="58415"/>
                  </a:lnTo>
                  <a:lnTo>
                    <a:pt x="0" y="28251"/>
                  </a:lnTo>
                  <a:lnTo>
                    <a:pt x="88231" y="0"/>
                  </a:lnTo>
                  <a:lnTo>
                    <a:pt x="58335" y="28251"/>
                  </a:lnTo>
                  <a:close/>
                </a:path>
                <a:path w="309244" h="58420">
                  <a:moveTo>
                    <a:pt x="249046" y="28251"/>
                  </a:moveTo>
                  <a:lnTo>
                    <a:pt x="220931" y="0"/>
                  </a:lnTo>
                  <a:lnTo>
                    <a:pt x="309251" y="28251"/>
                  </a:lnTo>
                  <a:lnTo>
                    <a:pt x="220931" y="58415"/>
                  </a:lnTo>
                  <a:lnTo>
                    <a:pt x="249046" y="28251"/>
                  </a:lnTo>
                  <a:close/>
                </a:path>
              </a:pathLst>
            </a:custGeom>
            <a:ln w="3175">
              <a:solidFill>
                <a:srgbClr val="000000"/>
              </a:solidFill>
            </a:ln>
          </p:spPr>
          <p:txBody>
            <a:bodyPr wrap="square" lIns="0" tIns="0" rIns="0" bIns="0" rtlCol="0"/>
            <a:lstStyle/>
            <a:p/>
          </p:txBody>
        </p:sp>
      </p:grpSp>
      <p:grpSp>
        <p:nvGrpSpPr>
          <p:cNvPr id="141" name="object 141" descr=""/>
          <p:cNvGrpSpPr/>
          <p:nvPr/>
        </p:nvGrpSpPr>
        <p:grpSpPr>
          <a:xfrm>
            <a:off x="2847807" y="5746320"/>
            <a:ext cx="311785" cy="60960"/>
            <a:chOff x="2847807" y="5746320"/>
            <a:chExt cx="311785" cy="60960"/>
          </a:xfrm>
        </p:grpSpPr>
        <p:sp>
          <p:nvSpPr>
            <p:cNvPr id="142" name="object 142" descr=""/>
            <p:cNvSpPr/>
            <p:nvPr/>
          </p:nvSpPr>
          <p:spPr>
            <a:xfrm>
              <a:off x="2848838" y="5747351"/>
              <a:ext cx="309245" cy="59055"/>
            </a:xfrm>
            <a:custGeom>
              <a:avLst/>
              <a:gdLst/>
              <a:ahLst/>
              <a:cxnLst/>
              <a:rect l="l" t="t" r="r" b="b"/>
              <a:pathLst>
                <a:path w="309244" h="59054">
                  <a:moveTo>
                    <a:pt x="88231" y="0"/>
                  </a:moveTo>
                  <a:lnTo>
                    <a:pt x="0" y="28310"/>
                  </a:lnTo>
                  <a:lnTo>
                    <a:pt x="88231" y="58445"/>
                  </a:lnTo>
                  <a:lnTo>
                    <a:pt x="65181" y="35211"/>
                  </a:lnTo>
                  <a:lnTo>
                    <a:pt x="54684" y="35211"/>
                  </a:lnTo>
                  <a:lnTo>
                    <a:pt x="52859" y="33401"/>
                  </a:lnTo>
                  <a:lnTo>
                    <a:pt x="51033" y="31944"/>
                  </a:lnTo>
                  <a:lnTo>
                    <a:pt x="51033" y="26500"/>
                  </a:lnTo>
                  <a:lnTo>
                    <a:pt x="52859" y="22865"/>
                  </a:lnTo>
                  <a:lnTo>
                    <a:pt x="54684" y="21056"/>
                  </a:lnTo>
                  <a:lnTo>
                    <a:pt x="65995" y="21056"/>
                  </a:lnTo>
                  <a:lnTo>
                    <a:pt x="88231" y="0"/>
                  </a:lnTo>
                  <a:close/>
                </a:path>
                <a:path w="309244" h="59054">
                  <a:moveTo>
                    <a:pt x="220931" y="0"/>
                  </a:moveTo>
                  <a:lnTo>
                    <a:pt x="249046" y="28310"/>
                  </a:lnTo>
                  <a:lnTo>
                    <a:pt x="220931" y="58445"/>
                  </a:lnTo>
                  <a:lnTo>
                    <a:pt x="289025" y="35211"/>
                  </a:lnTo>
                  <a:lnTo>
                    <a:pt x="252726" y="35211"/>
                  </a:lnTo>
                  <a:lnTo>
                    <a:pt x="254492" y="33401"/>
                  </a:lnTo>
                  <a:lnTo>
                    <a:pt x="256259" y="31944"/>
                  </a:lnTo>
                  <a:lnTo>
                    <a:pt x="256259" y="26500"/>
                  </a:lnTo>
                  <a:lnTo>
                    <a:pt x="254492" y="22865"/>
                  </a:lnTo>
                  <a:lnTo>
                    <a:pt x="252726" y="21056"/>
                  </a:lnTo>
                  <a:lnTo>
                    <a:pt x="286620" y="21056"/>
                  </a:lnTo>
                  <a:lnTo>
                    <a:pt x="220931" y="0"/>
                  </a:lnTo>
                  <a:close/>
                </a:path>
                <a:path w="309244" h="59054">
                  <a:moveTo>
                    <a:pt x="65995" y="21056"/>
                  </a:moveTo>
                  <a:lnTo>
                    <a:pt x="54684" y="21056"/>
                  </a:lnTo>
                  <a:lnTo>
                    <a:pt x="52859" y="22865"/>
                  </a:lnTo>
                  <a:lnTo>
                    <a:pt x="51033" y="26500"/>
                  </a:lnTo>
                  <a:lnTo>
                    <a:pt x="51033" y="31944"/>
                  </a:lnTo>
                  <a:lnTo>
                    <a:pt x="52859" y="33401"/>
                  </a:lnTo>
                  <a:lnTo>
                    <a:pt x="54684" y="35211"/>
                  </a:lnTo>
                  <a:lnTo>
                    <a:pt x="65181" y="35211"/>
                  </a:lnTo>
                  <a:lnTo>
                    <a:pt x="58335" y="28310"/>
                  </a:lnTo>
                  <a:lnTo>
                    <a:pt x="65995" y="21056"/>
                  </a:lnTo>
                  <a:close/>
                </a:path>
                <a:path w="309244" h="59054">
                  <a:moveTo>
                    <a:pt x="241842" y="21056"/>
                  </a:moveTo>
                  <a:lnTo>
                    <a:pt x="65995" y="21056"/>
                  </a:lnTo>
                  <a:lnTo>
                    <a:pt x="58335" y="28310"/>
                  </a:lnTo>
                  <a:lnTo>
                    <a:pt x="65181" y="35211"/>
                  </a:lnTo>
                  <a:lnTo>
                    <a:pt x="242608" y="35211"/>
                  </a:lnTo>
                  <a:lnTo>
                    <a:pt x="249046" y="28310"/>
                  </a:lnTo>
                  <a:lnTo>
                    <a:pt x="241842" y="21056"/>
                  </a:lnTo>
                  <a:close/>
                </a:path>
                <a:path w="309244" h="59054">
                  <a:moveTo>
                    <a:pt x="286620" y="21056"/>
                  </a:moveTo>
                  <a:lnTo>
                    <a:pt x="252726" y="21056"/>
                  </a:lnTo>
                  <a:lnTo>
                    <a:pt x="254492" y="22865"/>
                  </a:lnTo>
                  <a:lnTo>
                    <a:pt x="256259" y="26500"/>
                  </a:lnTo>
                  <a:lnTo>
                    <a:pt x="256259" y="31944"/>
                  </a:lnTo>
                  <a:lnTo>
                    <a:pt x="254492" y="33401"/>
                  </a:lnTo>
                  <a:lnTo>
                    <a:pt x="252726" y="35211"/>
                  </a:lnTo>
                  <a:lnTo>
                    <a:pt x="289025" y="35211"/>
                  </a:lnTo>
                  <a:lnTo>
                    <a:pt x="309251" y="28310"/>
                  </a:lnTo>
                  <a:lnTo>
                    <a:pt x="286620" y="21056"/>
                  </a:lnTo>
                  <a:close/>
                </a:path>
              </a:pathLst>
            </a:custGeom>
            <a:solidFill>
              <a:srgbClr val="000000"/>
            </a:solidFill>
          </p:spPr>
          <p:txBody>
            <a:bodyPr wrap="square" lIns="0" tIns="0" rIns="0" bIns="0" rtlCol="0"/>
            <a:lstStyle/>
            <a:p/>
          </p:txBody>
        </p:sp>
        <p:sp>
          <p:nvSpPr>
            <p:cNvPr id="143" name="object 143" descr=""/>
            <p:cNvSpPr/>
            <p:nvPr/>
          </p:nvSpPr>
          <p:spPr>
            <a:xfrm>
              <a:off x="2848838" y="5747351"/>
              <a:ext cx="309245" cy="59055"/>
            </a:xfrm>
            <a:custGeom>
              <a:avLst/>
              <a:gdLst/>
              <a:ahLst/>
              <a:cxnLst/>
              <a:rect l="l" t="t" r="r" b="b"/>
              <a:pathLst>
                <a:path w="309244" h="59054">
                  <a:moveTo>
                    <a:pt x="58335" y="21056"/>
                  </a:moveTo>
                  <a:lnTo>
                    <a:pt x="249046" y="21056"/>
                  </a:lnTo>
                  <a:lnTo>
                    <a:pt x="252726" y="21056"/>
                  </a:lnTo>
                  <a:lnTo>
                    <a:pt x="254492" y="22865"/>
                  </a:lnTo>
                  <a:lnTo>
                    <a:pt x="256259" y="26500"/>
                  </a:lnTo>
                  <a:lnTo>
                    <a:pt x="256259" y="28310"/>
                  </a:lnTo>
                  <a:lnTo>
                    <a:pt x="256259" y="31944"/>
                  </a:lnTo>
                  <a:lnTo>
                    <a:pt x="254492" y="33401"/>
                  </a:lnTo>
                  <a:lnTo>
                    <a:pt x="252726" y="35211"/>
                  </a:lnTo>
                  <a:lnTo>
                    <a:pt x="249046" y="35211"/>
                  </a:lnTo>
                  <a:lnTo>
                    <a:pt x="58335" y="35211"/>
                  </a:lnTo>
                  <a:lnTo>
                    <a:pt x="54684" y="35211"/>
                  </a:lnTo>
                  <a:lnTo>
                    <a:pt x="52859" y="33401"/>
                  </a:lnTo>
                  <a:lnTo>
                    <a:pt x="51033" y="31944"/>
                  </a:lnTo>
                  <a:lnTo>
                    <a:pt x="51033" y="28310"/>
                  </a:lnTo>
                  <a:lnTo>
                    <a:pt x="51033" y="26500"/>
                  </a:lnTo>
                  <a:lnTo>
                    <a:pt x="52859" y="22865"/>
                  </a:lnTo>
                  <a:lnTo>
                    <a:pt x="54684" y="21056"/>
                  </a:lnTo>
                  <a:lnTo>
                    <a:pt x="58335" y="21056"/>
                  </a:lnTo>
                  <a:close/>
                </a:path>
                <a:path w="309244" h="59054">
                  <a:moveTo>
                    <a:pt x="58335" y="28310"/>
                  </a:moveTo>
                  <a:lnTo>
                    <a:pt x="88231" y="58445"/>
                  </a:lnTo>
                  <a:lnTo>
                    <a:pt x="0" y="28310"/>
                  </a:lnTo>
                  <a:lnTo>
                    <a:pt x="88231" y="0"/>
                  </a:lnTo>
                  <a:lnTo>
                    <a:pt x="58335" y="28310"/>
                  </a:lnTo>
                  <a:close/>
                </a:path>
                <a:path w="309244" h="59054">
                  <a:moveTo>
                    <a:pt x="249046" y="28310"/>
                  </a:moveTo>
                  <a:lnTo>
                    <a:pt x="220931" y="0"/>
                  </a:lnTo>
                  <a:lnTo>
                    <a:pt x="309251" y="28310"/>
                  </a:lnTo>
                  <a:lnTo>
                    <a:pt x="220931" y="58445"/>
                  </a:lnTo>
                  <a:lnTo>
                    <a:pt x="249046" y="28310"/>
                  </a:lnTo>
                  <a:close/>
                </a:path>
              </a:pathLst>
            </a:custGeom>
            <a:ln w="3175">
              <a:solidFill>
                <a:srgbClr val="000000"/>
              </a:solidFill>
            </a:ln>
          </p:spPr>
          <p:txBody>
            <a:bodyPr wrap="square" lIns="0" tIns="0" rIns="0" bIns="0" rtlCol="0"/>
            <a:lstStyle/>
            <a:p/>
          </p:txBody>
        </p:sp>
      </p:grpSp>
      <p:sp>
        <p:nvSpPr>
          <p:cNvPr id="144" name="object 144" descr=""/>
          <p:cNvSpPr txBox="1"/>
          <p:nvPr/>
        </p:nvSpPr>
        <p:spPr>
          <a:xfrm>
            <a:off x="4392649" y="5317164"/>
            <a:ext cx="1337310" cy="274320"/>
          </a:xfrm>
          <a:prstGeom prst="rect">
            <a:avLst/>
          </a:prstGeom>
        </p:spPr>
        <p:txBody>
          <a:bodyPr wrap="square" lIns="0" tIns="55879" rIns="0" bIns="0" rtlCol="0" vert="horz">
            <a:spAutoFit/>
          </a:bodyPr>
          <a:lstStyle/>
          <a:p>
            <a:pPr marL="89535">
              <a:lnSpc>
                <a:spcPct val="100000"/>
              </a:lnSpc>
              <a:spcBef>
                <a:spcPts val="439"/>
              </a:spcBef>
            </a:pPr>
            <a:r>
              <a:rPr dirty="0" sz="1050" spc="-30">
                <a:latin typeface="宋体"/>
                <a:cs typeface="宋体"/>
              </a:rPr>
              <a:t>可编程时钟</a:t>
            </a:r>
            <a:r>
              <a:rPr dirty="0" sz="1050" spc="-10">
                <a:latin typeface="宋体"/>
                <a:cs typeface="宋体"/>
              </a:rPr>
              <a:t>（32</a:t>
            </a:r>
            <a:r>
              <a:rPr dirty="0" sz="1050" spc="-114">
                <a:latin typeface="宋体"/>
                <a:cs typeface="宋体"/>
              </a:rPr>
              <a:t> 位</a:t>
            </a:r>
            <a:r>
              <a:rPr dirty="0" sz="1050" spc="-50">
                <a:latin typeface="宋体"/>
                <a:cs typeface="宋体"/>
              </a:rPr>
              <a:t>）</a:t>
            </a:r>
            <a:endParaRPr sz="1050">
              <a:latin typeface="宋体"/>
              <a:cs typeface="宋体"/>
            </a:endParaRPr>
          </a:p>
        </p:txBody>
      </p:sp>
      <p:sp>
        <p:nvSpPr>
          <p:cNvPr id="145" name="object 145" descr=""/>
          <p:cNvSpPr txBox="1"/>
          <p:nvPr/>
        </p:nvSpPr>
        <p:spPr>
          <a:xfrm>
            <a:off x="4516297" y="5750264"/>
            <a:ext cx="866140" cy="297815"/>
          </a:xfrm>
          <a:prstGeom prst="rect">
            <a:avLst/>
          </a:prstGeom>
        </p:spPr>
        <p:txBody>
          <a:bodyPr wrap="square" lIns="0" tIns="59055" rIns="0" bIns="0" rtlCol="0" vert="horz">
            <a:spAutoFit/>
          </a:bodyPr>
          <a:lstStyle/>
          <a:p>
            <a:pPr marL="199390">
              <a:lnSpc>
                <a:spcPct val="100000"/>
              </a:lnSpc>
              <a:spcBef>
                <a:spcPts val="465"/>
              </a:spcBef>
            </a:pPr>
            <a:r>
              <a:rPr dirty="0" sz="1050" spc="-20">
                <a:latin typeface="宋体"/>
                <a:cs typeface="宋体"/>
              </a:rPr>
              <a:t>I/O</a:t>
            </a:r>
            <a:r>
              <a:rPr dirty="0" sz="1050" spc="-100">
                <a:latin typeface="宋体"/>
                <a:cs typeface="宋体"/>
              </a:rPr>
              <a:t> 控制</a:t>
            </a:r>
            <a:endParaRPr sz="1050">
              <a:latin typeface="宋体"/>
              <a:cs typeface="宋体"/>
            </a:endParaRPr>
          </a:p>
        </p:txBody>
      </p:sp>
      <p:sp>
        <p:nvSpPr>
          <p:cNvPr id="146" name="object 146" descr=""/>
          <p:cNvSpPr txBox="1"/>
          <p:nvPr/>
        </p:nvSpPr>
        <p:spPr>
          <a:xfrm>
            <a:off x="6062625" y="5043081"/>
            <a:ext cx="866140" cy="297815"/>
          </a:xfrm>
          <a:prstGeom prst="rect">
            <a:avLst/>
          </a:prstGeom>
        </p:spPr>
        <p:txBody>
          <a:bodyPr wrap="square" lIns="0" tIns="57150" rIns="0" bIns="0" rtlCol="0" vert="horz">
            <a:spAutoFit/>
          </a:bodyPr>
          <a:lstStyle/>
          <a:p>
            <a:pPr marL="105410">
              <a:lnSpc>
                <a:spcPct val="100000"/>
              </a:lnSpc>
              <a:spcBef>
                <a:spcPts val="450"/>
              </a:spcBef>
            </a:pPr>
            <a:r>
              <a:rPr dirty="0" sz="1050" spc="-35">
                <a:latin typeface="宋体"/>
                <a:cs typeface="宋体"/>
              </a:rPr>
              <a:t>性能监控器</a:t>
            </a:r>
            <a:endParaRPr sz="1050">
              <a:latin typeface="宋体"/>
              <a:cs typeface="宋体"/>
            </a:endParaRPr>
          </a:p>
        </p:txBody>
      </p:sp>
      <p:sp>
        <p:nvSpPr>
          <p:cNvPr id="147" name="object 147" descr=""/>
          <p:cNvSpPr txBox="1"/>
          <p:nvPr/>
        </p:nvSpPr>
        <p:spPr>
          <a:xfrm>
            <a:off x="6062625" y="5499400"/>
            <a:ext cx="866140" cy="251460"/>
          </a:xfrm>
          <a:prstGeom prst="rect">
            <a:avLst/>
          </a:prstGeom>
        </p:spPr>
        <p:txBody>
          <a:bodyPr wrap="square" lIns="0" tIns="36194" rIns="0" bIns="0" rtlCol="0" vert="horz">
            <a:spAutoFit/>
          </a:bodyPr>
          <a:lstStyle/>
          <a:p>
            <a:pPr marL="105410">
              <a:lnSpc>
                <a:spcPct val="100000"/>
              </a:lnSpc>
              <a:spcBef>
                <a:spcPts val="284"/>
              </a:spcBef>
            </a:pPr>
            <a:r>
              <a:rPr dirty="0" sz="1050" spc="-35">
                <a:latin typeface="宋体"/>
                <a:cs typeface="宋体"/>
              </a:rPr>
              <a:t>状态寄存器</a:t>
            </a:r>
            <a:endParaRPr sz="1050">
              <a:latin typeface="宋体"/>
              <a:cs typeface="宋体"/>
            </a:endParaRPr>
          </a:p>
        </p:txBody>
      </p:sp>
      <p:sp>
        <p:nvSpPr>
          <p:cNvPr id="148" name="object 148" descr=""/>
          <p:cNvSpPr/>
          <p:nvPr/>
        </p:nvSpPr>
        <p:spPr>
          <a:xfrm>
            <a:off x="6990128" y="5043125"/>
            <a:ext cx="62230" cy="684530"/>
          </a:xfrm>
          <a:custGeom>
            <a:avLst/>
            <a:gdLst/>
            <a:ahLst/>
            <a:cxnLst/>
            <a:rect l="l" t="t" r="r" b="b"/>
            <a:pathLst>
              <a:path w="62229" h="684529">
                <a:moveTo>
                  <a:pt x="0" y="0"/>
                </a:moveTo>
                <a:lnTo>
                  <a:pt x="1913" y="0"/>
                </a:lnTo>
                <a:lnTo>
                  <a:pt x="5151" y="1765"/>
                </a:lnTo>
                <a:lnTo>
                  <a:pt x="8831" y="1765"/>
                </a:lnTo>
                <a:lnTo>
                  <a:pt x="28115" y="35461"/>
                </a:lnTo>
                <a:lnTo>
                  <a:pt x="29881" y="56649"/>
                </a:lnTo>
                <a:lnTo>
                  <a:pt x="29881" y="284559"/>
                </a:lnTo>
                <a:lnTo>
                  <a:pt x="29881" y="297272"/>
                </a:lnTo>
                <a:lnTo>
                  <a:pt x="31795" y="307793"/>
                </a:lnTo>
                <a:lnTo>
                  <a:pt x="35327" y="316504"/>
                </a:lnTo>
                <a:lnTo>
                  <a:pt x="38713" y="325214"/>
                </a:lnTo>
                <a:lnTo>
                  <a:pt x="44159" y="332483"/>
                </a:lnTo>
                <a:lnTo>
                  <a:pt x="45926" y="336118"/>
                </a:lnTo>
                <a:lnTo>
                  <a:pt x="49606" y="337928"/>
                </a:lnTo>
                <a:lnTo>
                  <a:pt x="51078" y="339384"/>
                </a:lnTo>
                <a:lnTo>
                  <a:pt x="54758" y="341194"/>
                </a:lnTo>
                <a:lnTo>
                  <a:pt x="58438" y="341194"/>
                </a:lnTo>
                <a:lnTo>
                  <a:pt x="61676" y="343004"/>
                </a:lnTo>
                <a:lnTo>
                  <a:pt x="58438" y="343004"/>
                </a:lnTo>
                <a:lnTo>
                  <a:pt x="54758" y="343004"/>
                </a:lnTo>
                <a:lnTo>
                  <a:pt x="51078" y="344829"/>
                </a:lnTo>
                <a:lnTo>
                  <a:pt x="49606" y="346638"/>
                </a:lnTo>
                <a:lnTo>
                  <a:pt x="45926" y="350273"/>
                </a:lnTo>
                <a:lnTo>
                  <a:pt x="44159" y="352083"/>
                </a:lnTo>
                <a:lnTo>
                  <a:pt x="38713" y="358984"/>
                </a:lnTo>
                <a:lnTo>
                  <a:pt x="35327" y="367695"/>
                </a:lnTo>
                <a:lnTo>
                  <a:pt x="31795" y="376773"/>
                </a:lnTo>
                <a:lnTo>
                  <a:pt x="29881" y="387294"/>
                </a:lnTo>
                <a:lnTo>
                  <a:pt x="29881" y="399639"/>
                </a:lnTo>
                <a:lnTo>
                  <a:pt x="29881" y="627622"/>
                </a:lnTo>
                <a:lnTo>
                  <a:pt x="29881" y="639968"/>
                </a:lnTo>
                <a:lnTo>
                  <a:pt x="28115" y="650856"/>
                </a:lnTo>
                <a:lnTo>
                  <a:pt x="10598" y="680623"/>
                </a:lnTo>
                <a:lnTo>
                  <a:pt x="8831" y="682448"/>
                </a:lnTo>
                <a:lnTo>
                  <a:pt x="5151" y="684258"/>
                </a:lnTo>
                <a:lnTo>
                  <a:pt x="1913" y="684258"/>
                </a:lnTo>
                <a:lnTo>
                  <a:pt x="0" y="684258"/>
                </a:lnTo>
              </a:path>
            </a:pathLst>
          </a:custGeom>
          <a:ln w="10573">
            <a:solidFill>
              <a:srgbClr val="000000"/>
            </a:solidFill>
          </a:ln>
        </p:spPr>
        <p:txBody>
          <a:bodyPr wrap="square" lIns="0" tIns="0" rIns="0" bIns="0" rtlCol="0"/>
          <a:lstStyle/>
          <a:p/>
        </p:txBody>
      </p:sp>
      <p:sp>
        <p:nvSpPr>
          <p:cNvPr id="149" name="object 149" descr=""/>
          <p:cNvSpPr txBox="1"/>
          <p:nvPr/>
        </p:nvSpPr>
        <p:spPr>
          <a:xfrm>
            <a:off x="7067515" y="5293396"/>
            <a:ext cx="557530" cy="185420"/>
          </a:xfrm>
          <a:prstGeom prst="rect">
            <a:avLst/>
          </a:prstGeom>
        </p:spPr>
        <p:txBody>
          <a:bodyPr wrap="square" lIns="0" tIns="12065" rIns="0" bIns="0" rtlCol="0" vert="horz">
            <a:spAutoFit/>
          </a:bodyPr>
          <a:lstStyle/>
          <a:p>
            <a:pPr marL="12700">
              <a:lnSpc>
                <a:spcPct val="100000"/>
              </a:lnSpc>
              <a:spcBef>
                <a:spcPts val="95"/>
              </a:spcBef>
            </a:pPr>
            <a:r>
              <a:rPr dirty="0" sz="1050" spc="-35" b="1">
                <a:solidFill>
                  <a:srgbClr val="FF6600"/>
                </a:solidFill>
                <a:latin typeface="宋体"/>
                <a:cs typeface="宋体"/>
              </a:rPr>
              <a:t>控制部分</a:t>
            </a:r>
            <a:endParaRPr sz="1050">
              <a:latin typeface="宋体"/>
              <a:cs typeface="宋体"/>
            </a:endParaRPr>
          </a:p>
        </p:txBody>
      </p:sp>
      <p:sp>
        <p:nvSpPr>
          <p:cNvPr id="150" name="object 150" descr=""/>
          <p:cNvSpPr txBox="1"/>
          <p:nvPr/>
        </p:nvSpPr>
        <p:spPr>
          <a:xfrm>
            <a:off x="7207206" y="2942010"/>
            <a:ext cx="557530" cy="185420"/>
          </a:xfrm>
          <a:prstGeom prst="rect">
            <a:avLst/>
          </a:prstGeom>
        </p:spPr>
        <p:txBody>
          <a:bodyPr wrap="square" lIns="0" tIns="12065" rIns="0" bIns="0" rtlCol="0" vert="horz">
            <a:spAutoFit/>
          </a:bodyPr>
          <a:lstStyle/>
          <a:p>
            <a:pPr marL="12700">
              <a:lnSpc>
                <a:spcPct val="100000"/>
              </a:lnSpc>
              <a:spcBef>
                <a:spcPts val="95"/>
              </a:spcBef>
            </a:pPr>
            <a:r>
              <a:rPr dirty="0" sz="1050" spc="-35" b="1">
                <a:solidFill>
                  <a:srgbClr val="FF6600"/>
                </a:solidFill>
                <a:latin typeface="宋体"/>
                <a:cs typeface="宋体"/>
              </a:rPr>
              <a:t>标量部分</a:t>
            </a:r>
            <a:endParaRPr sz="1050">
              <a:latin typeface="宋体"/>
              <a:cs typeface="宋体"/>
            </a:endParaRPr>
          </a:p>
        </p:txBody>
      </p:sp>
      <p:sp>
        <p:nvSpPr>
          <p:cNvPr id="151" name="object 151" descr=""/>
          <p:cNvSpPr txBox="1"/>
          <p:nvPr/>
        </p:nvSpPr>
        <p:spPr>
          <a:xfrm>
            <a:off x="7145235" y="4243194"/>
            <a:ext cx="557530" cy="185420"/>
          </a:xfrm>
          <a:prstGeom prst="rect">
            <a:avLst/>
          </a:prstGeom>
        </p:spPr>
        <p:txBody>
          <a:bodyPr wrap="square" lIns="0" tIns="12065" rIns="0" bIns="0" rtlCol="0" vert="horz">
            <a:spAutoFit/>
          </a:bodyPr>
          <a:lstStyle/>
          <a:p>
            <a:pPr marL="12700">
              <a:lnSpc>
                <a:spcPct val="100000"/>
              </a:lnSpc>
              <a:spcBef>
                <a:spcPts val="95"/>
              </a:spcBef>
            </a:pPr>
            <a:r>
              <a:rPr dirty="0" sz="1050" spc="-35" b="1">
                <a:solidFill>
                  <a:srgbClr val="FF6600"/>
                </a:solidFill>
                <a:latin typeface="宋体"/>
                <a:cs typeface="宋体"/>
              </a:rPr>
              <a:t>地址部分</a:t>
            </a:r>
            <a:endParaRPr sz="1050">
              <a:latin typeface="宋体"/>
              <a:cs typeface="宋体"/>
            </a:endParaRPr>
          </a:p>
        </p:txBody>
      </p:sp>
      <p:grpSp>
        <p:nvGrpSpPr>
          <p:cNvPr id="152" name="object 152" descr=""/>
          <p:cNvGrpSpPr/>
          <p:nvPr/>
        </p:nvGrpSpPr>
        <p:grpSpPr>
          <a:xfrm>
            <a:off x="2839049" y="1702543"/>
            <a:ext cx="4310380" cy="2934335"/>
            <a:chOff x="2839049" y="1702543"/>
            <a:chExt cx="4310380" cy="2934335"/>
          </a:xfrm>
        </p:grpSpPr>
        <p:sp>
          <p:nvSpPr>
            <p:cNvPr id="153" name="object 153" descr=""/>
            <p:cNvSpPr/>
            <p:nvPr/>
          </p:nvSpPr>
          <p:spPr>
            <a:xfrm>
              <a:off x="7065936" y="4038876"/>
              <a:ext cx="78105" cy="592455"/>
            </a:xfrm>
            <a:custGeom>
              <a:avLst/>
              <a:gdLst/>
              <a:ahLst/>
              <a:cxnLst/>
              <a:rect l="l" t="t" r="r" b="b"/>
              <a:pathLst>
                <a:path w="78104" h="592454">
                  <a:moveTo>
                    <a:pt x="0" y="0"/>
                  </a:moveTo>
                  <a:lnTo>
                    <a:pt x="5593" y="0"/>
                  </a:lnTo>
                  <a:lnTo>
                    <a:pt x="8831" y="0"/>
                  </a:lnTo>
                  <a:lnTo>
                    <a:pt x="12511" y="1912"/>
                  </a:lnTo>
                  <a:lnTo>
                    <a:pt x="16044" y="3678"/>
                  </a:lnTo>
                  <a:lnTo>
                    <a:pt x="22963" y="6915"/>
                  </a:lnTo>
                  <a:lnTo>
                    <a:pt x="28556" y="14272"/>
                  </a:lnTo>
                  <a:lnTo>
                    <a:pt x="31795" y="21041"/>
                  </a:lnTo>
                  <a:lnTo>
                    <a:pt x="35475" y="30164"/>
                  </a:lnTo>
                  <a:lnTo>
                    <a:pt x="39007" y="38845"/>
                  </a:lnTo>
                  <a:lnTo>
                    <a:pt x="39007" y="49439"/>
                  </a:lnTo>
                  <a:lnTo>
                    <a:pt x="39007" y="247641"/>
                  </a:lnTo>
                  <a:lnTo>
                    <a:pt x="40921" y="256322"/>
                  </a:lnTo>
                  <a:lnTo>
                    <a:pt x="42393" y="265004"/>
                  </a:lnTo>
                  <a:lnTo>
                    <a:pt x="46073" y="274126"/>
                  </a:lnTo>
                  <a:lnTo>
                    <a:pt x="51519" y="281042"/>
                  </a:lnTo>
                  <a:lnTo>
                    <a:pt x="56524" y="288252"/>
                  </a:lnTo>
                  <a:lnTo>
                    <a:pt x="63884" y="291931"/>
                  </a:lnTo>
                  <a:lnTo>
                    <a:pt x="67122" y="293402"/>
                  </a:lnTo>
                  <a:lnTo>
                    <a:pt x="70802" y="295168"/>
                  </a:lnTo>
                  <a:lnTo>
                    <a:pt x="74482" y="295168"/>
                  </a:lnTo>
                  <a:lnTo>
                    <a:pt x="77721" y="297081"/>
                  </a:lnTo>
                  <a:lnTo>
                    <a:pt x="74482" y="297081"/>
                  </a:lnTo>
                  <a:lnTo>
                    <a:pt x="70802" y="297081"/>
                  </a:lnTo>
                  <a:lnTo>
                    <a:pt x="67122" y="298846"/>
                  </a:lnTo>
                  <a:lnTo>
                    <a:pt x="63884" y="300612"/>
                  </a:lnTo>
                  <a:lnTo>
                    <a:pt x="56524" y="304291"/>
                  </a:lnTo>
                  <a:lnTo>
                    <a:pt x="51519" y="311206"/>
                  </a:lnTo>
                  <a:lnTo>
                    <a:pt x="46073" y="318416"/>
                  </a:lnTo>
                  <a:lnTo>
                    <a:pt x="42393" y="327098"/>
                  </a:lnTo>
                  <a:lnTo>
                    <a:pt x="40921" y="335926"/>
                  </a:lnTo>
                  <a:lnTo>
                    <a:pt x="39007" y="346815"/>
                  </a:lnTo>
                  <a:lnTo>
                    <a:pt x="39007" y="542809"/>
                  </a:lnTo>
                  <a:lnTo>
                    <a:pt x="22963" y="585186"/>
                  </a:lnTo>
                  <a:lnTo>
                    <a:pt x="16044" y="588865"/>
                  </a:lnTo>
                  <a:lnTo>
                    <a:pt x="12511" y="590778"/>
                  </a:lnTo>
                  <a:lnTo>
                    <a:pt x="8831" y="592102"/>
                  </a:lnTo>
                  <a:lnTo>
                    <a:pt x="5593" y="592102"/>
                  </a:lnTo>
                  <a:lnTo>
                    <a:pt x="0" y="592102"/>
                  </a:lnTo>
                </a:path>
              </a:pathLst>
            </a:custGeom>
            <a:ln w="10573">
              <a:solidFill>
                <a:srgbClr val="000000"/>
              </a:solidFill>
            </a:ln>
          </p:spPr>
          <p:txBody>
            <a:bodyPr wrap="square" lIns="0" tIns="0" rIns="0" bIns="0" rtlCol="0"/>
            <a:lstStyle/>
            <a:p/>
          </p:txBody>
        </p:sp>
        <p:sp>
          <p:nvSpPr>
            <p:cNvPr id="154" name="object 154" descr=""/>
            <p:cNvSpPr/>
            <p:nvPr/>
          </p:nvSpPr>
          <p:spPr>
            <a:xfrm>
              <a:off x="2840079" y="1703573"/>
              <a:ext cx="318135" cy="60325"/>
            </a:xfrm>
            <a:custGeom>
              <a:avLst/>
              <a:gdLst/>
              <a:ahLst/>
              <a:cxnLst/>
              <a:rect l="l" t="t" r="r" b="b"/>
              <a:pathLst>
                <a:path w="318135" h="60325">
                  <a:moveTo>
                    <a:pt x="229689" y="0"/>
                  </a:moveTo>
                  <a:lnTo>
                    <a:pt x="257804" y="30164"/>
                  </a:lnTo>
                  <a:lnTo>
                    <a:pt x="229689" y="60181"/>
                  </a:lnTo>
                  <a:lnTo>
                    <a:pt x="296795" y="37374"/>
                  </a:lnTo>
                  <a:lnTo>
                    <a:pt x="261484" y="37374"/>
                  </a:lnTo>
                  <a:lnTo>
                    <a:pt x="263251" y="35608"/>
                  </a:lnTo>
                  <a:lnTo>
                    <a:pt x="265017" y="33695"/>
                  </a:lnTo>
                  <a:lnTo>
                    <a:pt x="265017" y="26485"/>
                  </a:lnTo>
                  <a:lnTo>
                    <a:pt x="263251" y="24719"/>
                  </a:lnTo>
                  <a:lnTo>
                    <a:pt x="261484" y="23248"/>
                  </a:lnTo>
                  <a:lnTo>
                    <a:pt x="297760" y="23248"/>
                  </a:lnTo>
                  <a:lnTo>
                    <a:pt x="229689" y="0"/>
                  </a:lnTo>
                  <a:close/>
                </a:path>
                <a:path w="318135" h="60325">
                  <a:moveTo>
                    <a:pt x="251358" y="23248"/>
                  </a:moveTo>
                  <a:lnTo>
                    <a:pt x="5107" y="23248"/>
                  </a:lnTo>
                  <a:lnTo>
                    <a:pt x="3282" y="24719"/>
                  </a:lnTo>
                  <a:lnTo>
                    <a:pt x="1457" y="26485"/>
                  </a:lnTo>
                  <a:lnTo>
                    <a:pt x="0" y="30164"/>
                  </a:lnTo>
                  <a:lnTo>
                    <a:pt x="1457" y="33695"/>
                  </a:lnTo>
                  <a:lnTo>
                    <a:pt x="3282" y="35608"/>
                  </a:lnTo>
                  <a:lnTo>
                    <a:pt x="5107" y="37374"/>
                  </a:lnTo>
                  <a:lnTo>
                    <a:pt x="251051" y="37374"/>
                  </a:lnTo>
                  <a:lnTo>
                    <a:pt x="257804" y="30164"/>
                  </a:lnTo>
                  <a:lnTo>
                    <a:pt x="251358" y="23248"/>
                  </a:lnTo>
                  <a:close/>
                </a:path>
                <a:path w="318135" h="60325">
                  <a:moveTo>
                    <a:pt x="297760" y="23248"/>
                  </a:moveTo>
                  <a:lnTo>
                    <a:pt x="261484" y="23248"/>
                  </a:lnTo>
                  <a:lnTo>
                    <a:pt x="263251" y="24719"/>
                  </a:lnTo>
                  <a:lnTo>
                    <a:pt x="265017" y="26485"/>
                  </a:lnTo>
                  <a:lnTo>
                    <a:pt x="265017" y="33695"/>
                  </a:lnTo>
                  <a:lnTo>
                    <a:pt x="263251" y="35608"/>
                  </a:lnTo>
                  <a:lnTo>
                    <a:pt x="261484" y="37374"/>
                  </a:lnTo>
                  <a:lnTo>
                    <a:pt x="296795" y="37374"/>
                  </a:lnTo>
                  <a:lnTo>
                    <a:pt x="318009" y="30164"/>
                  </a:lnTo>
                  <a:lnTo>
                    <a:pt x="297760" y="23248"/>
                  </a:lnTo>
                  <a:close/>
                </a:path>
              </a:pathLst>
            </a:custGeom>
            <a:solidFill>
              <a:srgbClr val="000000"/>
            </a:solidFill>
          </p:spPr>
          <p:txBody>
            <a:bodyPr wrap="square" lIns="0" tIns="0" rIns="0" bIns="0" rtlCol="0"/>
            <a:lstStyle/>
            <a:p/>
          </p:txBody>
        </p:sp>
        <p:sp>
          <p:nvSpPr>
            <p:cNvPr id="155" name="object 155" descr=""/>
            <p:cNvSpPr/>
            <p:nvPr/>
          </p:nvSpPr>
          <p:spPr>
            <a:xfrm>
              <a:off x="2840079" y="1703573"/>
              <a:ext cx="318135" cy="60325"/>
            </a:xfrm>
            <a:custGeom>
              <a:avLst/>
              <a:gdLst/>
              <a:ahLst/>
              <a:cxnLst/>
              <a:rect l="l" t="t" r="r" b="b"/>
              <a:pathLst>
                <a:path w="318135" h="60325">
                  <a:moveTo>
                    <a:pt x="8758" y="23248"/>
                  </a:moveTo>
                  <a:lnTo>
                    <a:pt x="257804" y="23248"/>
                  </a:lnTo>
                  <a:lnTo>
                    <a:pt x="261484" y="23248"/>
                  </a:lnTo>
                  <a:lnTo>
                    <a:pt x="263251" y="24719"/>
                  </a:lnTo>
                  <a:lnTo>
                    <a:pt x="265017" y="26485"/>
                  </a:lnTo>
                  <a:lnTo>
                    <a:pt x="265017" y="30164"/>
                  </a:lnTo>
                  <a:lnTo>
                    <a:pt x="265017" y="33695"/>
                  </a:lnTo>
                  <a:lnTo>
                    <a:pt x="263251" y="35608"/>
                  </a:lnTo>
                  <a:lnTo>
                    <a:pt x="261484" y="37374"/>
                  </a:lnTo>
                  <a:lnTo>
                    <a:pt x="257804" y="37374"/>
                  </a:lnTo>
                  <a:lnTo>
                    <a:pt x="8758" y="37374"/>
                  </a:lnTo>
                  <a:lnTo>
                    <a:pt x="5107" y="37374"/>
                  </a:lnTo>
                  <a:lnTo>
                    <a:pt x="3282" y="35608"/>
                  </a:lnTo>
                  <a:lnTo>
                    <a:pt x="1457" y="33695"/>
                  </a:lnTo>
                  <a:lnTo>
                    <a:pt x="0" y="30164"/>
                  </a:lnTo>
                  <a:lnTo>
                    <a:pt x="1457" y="26485"/>
                  </a:lnTo>
                  <a:lnTo>
                    <a:pt x="3282" y="24719"/>
                  </a:lnTo>
                  <a:lnTo>
                    <a:pt x="5107" y="23248"/>
                  </a:lnTo>
                  <a:lnTo>
                    <a:pt x="8758" y="23248"/>
                  </a:lnTo>
                  <a:close/>
                </a:path>
                <a:path w="318135" h="60325">
                  <a:moveTo>
                    <a:pt x="257804" y="30164"/>
                  </a:moveTo>
                  <a:lnTo>
                    <a:pt x="229689" y="0"/>
                  </a:lnTo>
                  <a:lnTo>
                    <a:pt x="318009" y="30164"/>
                  </a:lnTo>
                  <a:lnTo>
                    <a:pt x="229689" y="60181"/>
                  </a:lnTo>
                  <a:lnTo>
                    <a:pt x="257804" y="30164"/>
                  </a:lnTo>
                  <a:close/>
                </a:path>
              </a:pathLst>
            </a:custGeom>
            <a:ln w="3175">
              <a:solidFill>
                <a:srgbClr val="000000"/>
              </a:solidFill>
            </a:ln>
          </p:spPr>
          <p:txBody>
            <a:bodyPr wrap="square" lIns="0" tIns="0" rIns="0" bIns="0" rtlCol="0"/>
            <a:lstStyle/>
            <a:p/>
          </p:txBody>
        </p:sp>
      </p:grpSp>
      <p:sp>
        <p:nvSpPr>
          <p:cNvPr id="156" name="object 156" descr=""/>
          <p:cNvSpPr txBox="1"/>
          <p:nvPr/>
        </p:nvSpPr>
        <p:spPr>
          <a:xfrm>
            <a:off x="2427701" y="6275551"/>
            <a:ext cx="618490" cy="252729"/>
          </a:xfrm>
          <a:prstGeom prst="rect">
            <a:avLst/>
          </a:prstGeom>
          <a:solidFill>
            <a:srgbClr val="D9FFD9"/>
          </a:solidFill>
          <a:ln w="10570">
            <a:solidFill>
              <a:srgbClr val="000000"/>
            </a:solidFill>
          </a:ln>
        </p:spPr>
        <p:txBody>
          <a:bodyPr wrap="square" lIns="0" tIns="36195" rIns="0" bIns="0" rtlCol="0" vert="horz">
            <a:spAutoFit/>
          </a:bodyPr>
          <a:lstStyle/>
          <a:p>
            <a:pPr marL="61594">
              <a:lnSpc>
                <a:spcPct val="100000"/>
              </a:lnSpc>
              <a:spcBef>
                <a:spcPts val="285"/>
              </a:spcBef>
            </a:pPr>
            <a:r>
              <a:rPr dirty="0" sz="1050" spc="-10" b="1">
                <a:solidFill>
                  <a:srgbClr val="0000FF"/>
                </a:solidFill>
                <a:latin typeface="宋体"/>
                <a:cs typeface="宋体"/>
              </a:rPr>
              <a:t>I/O</a:t>
            </a:r>
            <a:r>
              <a:rPr dirty="0" sz="1050" spc="-110" b="1">
                <a:solidFill>
                  <a:srgbClr val="0000FF"/>
                </a:solidFill>
                <a:latin typeface="宋体"/>
                <a:cs typeface="宋体"/>
              </a:rPr>
              <a:t> 部分</a:t>
            </a:r>
            <a:endParaRPr sz="1050">
              <a:latin typeface="宋体"/>
              <a:cs typeface="宋体"/>
            </a:endParaRPr>
          </a:p>
        </p:txBody>
      </p:sp>
      <p:grpSp>
        <p:nvGrpSpPr>
          <p:cNvPr id="157" name="object 157" descr=""/>
          <p:cNvGrpSpPr/>
          <p:nvPr/>
        </p:nvGrpSpPr>
        <p:grpSpPr>
          <a:xfrm>
            <a:off x="2692115" y="6048728"/>
            <a:ext cx="62230" cy="230504"/>
            <a:chOff x="2692115" y="6048728"/>
            <a:chExt cx="62230" cy="230504"/>
          </a:xfrm>
        </p:grpSpPr>
        <p:sp>
          <p:nvSpPr>
            <p:cNvPr id="158" name="object 158" descr=""/>
            <p:cNvSpPr/>
            <p:nvPr/>
          </p:nvSpPr>
          <p:spPr>
            <a:xfrm>
              <a:off x="2693145" y="6049759"/>
              <a:ext cx="60325" cy="228600"/>
            </a:xfrm>
            <a:custGeom>
              <a:avLst/>
              <a:gdLst/>
              <a:ahLst/>
              <a:cxnLst/>
              <a:rect l="l" t="t" r="r" b="b"/>
              <a:pathLst>
                <a:path w="60325" h="228600">
                  <a:moveTo>
                    <a:pt x="0" y="139403"/>
                  </a:moveTo>
                  <a:lnTo>
                    <a:pt x="28438" y="227983"/>
                  </a:lnTo>
                  <a:lnTo>
                    <a:pt x="47153" y="176792"/>
                  </a:lnTo>
                  <a:lnTo>
                    <a:pt x="26613" y="176792"/>
                  </a:lnTo>
                  <a:lnTo>
                    <a:pt x="22963" y="173157"/>
                  </a:lnTo>
                  <a:lnTo>
                    <a:pt x="22963" y="162256"/>
                  </a:lnTo>
                  <a:lnTo>
                    <a:pt x="0" y="139403"/>
                  </a:lnTo>
                  <a:close/>
                </a:path>
                <a:path w="60325" h="228600">
                  <a:moveTo>
                    <a:pt x="22963" y="162256"/>
                  </a:moveTo>
                  <a:lnTo>
                    <a:pt x="22963" y="173157"/>
                  </a:lnTo>
                  <a:lnTo>
                    <a:pt x="26613" y="176792"/>
                  </a:lnTo>
                  <a:lnTo>
                    <a:pt x="32074" y="176792"/>
                  </a:lnTo>
                  <a:lnTo>
                    <a:pt x="35357" y="174967"/>
                  </a:lnTo>
                  <a:lnTo>
                    <a:pt x="35357" y="173157"/>
                  </a:lnTo>
                  <a:lnTo>
                    <a:pt x="37182" y="169523"/>
                  </a:lnTo>
                  <a:lnTo>
                    <a:pt x="30264" y="169523"/>
                  </a:lnTo>
                  <a:lnTo>
                    <a:pt x="22963" y="162256"/>
                  </a:lnTo>
                  <a:close/>
                </a:path>
                <a:path w="60325" h="228600">
                  <a:moveTo>
                    <a:pt x="60160" y="141212"/>
                  </a:moveTo>
                  <a:lnTo>
                    <a:pt x="37182" y="162971"/>
                  </a:lnTo>
                  <a:lnTo>
                    <a:pt x="37182" y="169523"/>
                  </a:lnTo>
                  <a:lnTo>
                    <a:pt x="35357" y="173157"/>
                  </a:lnTo>
                  <a:lnTo>
                    <a:pt x="35357" y="174967"/>
                  </a:lnTo>
                  <a:lnTo>
                    <a:pt x="32074" y="176792"/>
                  </a:lnTo>
                  <a:lnTo>
                    <a:pt x="47153" y="176792"/>
                  </a:lnTo>
                  <a:lnTo>
                    <a:pt x="60160" y="141212"/>
                  </a:lnTo>
                  <a:close/>
                </a:path>
                <a:path w="60325" h="228600">
                  <a:moveTo>
                    <a:pt x="30264" y="59887"/>
                  </a:moveTo>
                  <a:lnTo>
                    <a:pt x="22963" y="66720"/>
                  </a:lnTo>
                  <a:lnTo>
                    <a:pt x="22963" y="162256"/>
                  </a:lnTo>
                  <a:lnTo>
                    <a:pt x="30264" y="169523"/>
                  </a:lnTo>
                  <a:lnTo>
                    <a:pt x="37182" y="162971"/>
                  </a:lnTo>
                  <a:lnTo>
                    <a:pt x="37182" y="66441"/>
                  </a:lnTo>
                  <a:lnTo>
                    <a:pt x="30264" y="59887"/>
                  </a:lnTo>
                  <a:close/>
                </a:path>
                <a:path w="60325" h="228600">
                  <a:moveTo>
                    <a:pt x="37182" y="162971"/>
                  </a:moveTo>
                  <a:lnTo>
                    <a:pt x="30264" y="169523"/>
                  </a:lnTo>
                  <a:lnTo>
                    <a:pt x="37182" y="169523"/>
                  </a:lnTo>
                  <a:lnTo>
                    <a:pt x="37182" y="162971"/>
                  </a:lnTo>
                  <a:close/>
                </a:path>
                <a:path w="60325" h="228600">
                  <a:moveTo>
                    <a:pt x="32074" y="0"/>
                  </a:moveTo>
                  <a:lnTo>
                    <a:pt x="0" y="88212"/>
                  </a:lnTo>
                  <a:lnTo>
                    <a:pt x="22963" y="66720"/>
                  </a:lnTo>
                  <a:lnTo>
                    <a:pt x="22963" y="56620"/>
                  </a:lnTo>
                  <a:lnTo>
                    <a:pt x="24788" y="54810"/>
                  </a:lnTo>
                  <a:lnTo>
                    <a:pt x="28438" y="53000"/>
                  </a:lnTo>
                  <a:lnTo>
                    <a:pt x="30264" y="51176"/>
                  </a:lnTo>
                  <a:lnTo>
                    <a:pt x="48368" y="51176"/>
                  </a:lnTo>
                  <a:lnTo>
                    <a:pt x="32074" y="0"/>
                  </a:lnTo>
                  <a:close/>
                </a:path>
                <a:path w="60325" h="228600">
                  <a:moveTo>
                    <a:pt x="48368" y="51176"/>
                  </a:moveTo>
                  <a:lnTo>
                    <a:pt x="30264" y="51176"/>
                  </a:lnTo>
                  <a:lnTo>
                    <a:pt x="33546" y="53000"/>
                  </a:lnTo>
                  <a:lnTo>
                    <a:pt x="37182" y="56620"/>
                  </a:lnTo>
                  <a:lnTo>
                    <a:pt x="37182" y="66441"/>
                  </a:lnTo>
                  <a:lnTo>
                    <a:pt x="60160" y="88212"/>
                  </a:lnTo>
                  <a:lnTo>
                    <a:pt x="48368" y="51176"/>
                  </a:lnTo>
                  <a:close/>
                </a:path>
                <a:path w="60325" h="228600">
                  <a:moveTo>
                    <a:pt x="30264" y="51176"/>
                  </a:moveTo>
                  <a:lnTo>
                    <a:pt x="28438" y="53000"/>
                  </a:lnTo>
                  <a:lnTo>
                    <a:pt x="24788" y="54810"/>
                  </a:lnTo>
                  <a:lnTo>
                    <a:pt x="22963" y="56620"/>
                  </a:lnTo>
                  <a:lnTo>
                    <a:pt x="22963" y="66720"/>
                  </a:lnTo>
                  <a:lnTo>
                    <a:pt x="30264" y="59887"/>
                  </a:lnTo>
                  <a:lnTo>
                    <a:pt x="37182" y="59887"/>
                  </a:lnTo>
                  <a:lnTo>
                    <a:pt x="37182" y="56620"/>
                  </a:lnTo>
                  <a:lnTo>
                    <a:pt x="33546" y="53000"/>
                  </a:lnTo>
                  <a:lnTo>
                    <a:pt x="30264" y="51176"/>
                  </a:lnTo>
                  <a:close/>
                </a:path>
                <a:path w="60325" h="228600">
                  <a:moveTo>
                    <a:pt x="37182" y="59887"/>
                  </a:moveTo>
                  <a:lnTo>
                    <a:pt x="30264" y="59887"/>
                  </a:lnTo>
                  <a:lnTo>
                    <a:pt x="37182" y="66441"/>
                  </a:lnTo>
                  <a:lnTo>
                    <a:pt x="37182" y="59887"/>
                  </a:lnTo>
                  <a:close/>
                </a:path>
              </a:pathLst>
            </a:custGeom>
            <a:solidFill>
              <a:srgbClr val="000000"/>
            </a:solidFill>
          </p:spPr>
          <p:txBody>
            <a:bodyPr wrap="square" lIns="0" tIns="0" rIns="0" bIns="0" rtlCol="0"/>
            <a:lstStyle/>
            <a:p/>
          </p:txBody>
        </p:sp>
        <p:sp>
          <p:nvSpPr>
            <p:cNvPr id="159" name="object 159" descr=""/>
            <p:cNvSpPr/>
            <p:nvPr/>
          </p:nvSpPr>
          <p:spPr>
            <a:xfrm>
              <a:off x="2693145" y="6049759"/>
              <a:ext cx="60325" cy="228600"/>
            </a:xfrm>
            <a:custGeom>
              <a:avLst/>
              <a:gdLst/>
              <a:ahLst/>
              <a:cxnLst/>
              <a:rect l="l" t="t" r="r" b="b"/>
              <a:pathLst>
                <a:path w="60325" h="228600">
                  <a:moveTo>
                    <a:pt x="22963" y="169523"/>
                  </a:moveTo>
                  <a:lnTo>
                    <a:pt x="22963" y="59887"/>
                  </a:lnTo>
                  <a:lnTo>
                    <a:pt x="22963" y="56620"/>
                  </a:lnTo>
                  <a:lnTo>
                    <a:pt x="24788" y="54810"/>
                  </a:lnTo>
                  <a:lnTo>
                    <a:pt x="28438" y="53000"/>
                  </a:lnTo>
                  <a:lnTo>
                    <a:pt x="30264" y="51176"/>
                  </a:lnTo>
                  <a:lnTo>
                    <a:pt x="33546" y="53000"/>
                  </a:lnTo>
                  <a:lnTo>
                    <a:pt x="35357" y="54810"/>
                  </a:lnTo>
                  <a:lnTo>
                    <a:pt x="37182" y="56620"/>
                  </a:lnTo>
                  <a:lnTo>
                    <a:pt x="37182" y="59887"/>
                  </a:lnTo>
                  <a:lnTo>
                    <a:pt x="37182" y="169523"/>
                  </a:lnTo>
                  <a:lnTo>
                    <a:pt x="35357" y="173157"/>
                  </a:lnTo>
                  <a:lnTo>
                    <a:pt x="35357" y="174967"/>
                  </a:lnTo>
                  <a:lnTo>
                    <a:pt x="32074" y="176792"/>
                  </a:lnTo>
                  <a:lnTo>
                    <a:pt x="30264" y="176792"/>
                  </a:lnTo>
                  <a:lnTo>
                    <a:pt x="26613" y="176792"/>
                  </a:lnTo>
                  <a:lnTo>
                    <a:pt x="24788" y="174967"/>
                  </a:lnTo>
                  <a:lnTo>
                    <a:pt x="22963" y="173157"/>
                  </a:lnTo>
                  <a:lnTo>
                    <a:pt x="22963" y="169523"/>
                  </a:lnTo>
                  <a:close/>
                </a:path>
                <a:path w="60325" h="228600">
                  <a:moveTo>
                    <a:pt x="30264" y="169523"/>
                  </a:moveTo>
                  <a:lnTo>
                    <a:pt x="60160" y="141212"/>
                  </a:lnTo>
                  <a:lnTo>
                    <a:pt x="28438" y="227983"/>
                  </a:lnTo>
                  <a:lnTo>
                    <a:pt x="0" y="139403"/>
                  </a:lnTo>
                  <a:lnTo>
                    <a:pt x="30264" y="169523"/>
                  </a:lnTo>
                  <a:close/>
                </a:path>
                <a:path w="60325" h="228600">
                  <a:moveTo>
                    <a:pt x="30264" y="59887"/>
                  </a:moveTo>
                  <a:lnTo>
                    <a:pt x="0" y="88212"/>
                  </a:lnTo>
                  <a:lnTo>
                    <a:pt x="32074" y="0"/>
                  </a:lnTo>
                  <a:lnTo>
                    <a:pt x="60160" y="88212"/>
                  </a:lnTo>
                  <a:lnTo>
                    <a:pt x="30264" y="59887"/>
                  </a:lnTo>
                  <a:close/>
                </a:path>
              </a:pathLst>
            </a:custGeom>
            <a:ln w="3175">
              <a:solidFill>
                <a:srgbClr val="000000"/>
              </a:solidFill>
            </a:ln>
          </p:spPr>
          <p:txBody>
            <a:bodyPr wrap="square" lIns="0" tIns="0" rIns="0" bIns="0" rtlCol="0"/>
            <a:lstStyle/>
            <a:p/>
          </p:txBody>
        </p:sp>
      </p:grpSp>
      <p:grpSp>
        <p:nvGrpSpPr>
          <p:cNvPr id="160" name="object 160" descr=""/>
          <p:cNvGrpSpPr/>
          <p:nvPr/>
        </p:nvGrpSpPr>
        <p:grpSpPr>
          <a:xfrm>
            <a:off x="3047248" y="6361657"/>
            <a:ext cx="359410" cy="62230"/>
            <a:chOff x="3047248" y="6361657"/>
            <a:chExt cx="359410" cy="62230"/>
          </a:xfrm>
        </p:grpSpPr>
        <p:sp>
          <p:nvSpPr>
            <p:cNvPr id="161" name="object 161" descr=""/>
            <p:cNvSpPr/>
            <p:nvPr/>
          </p:nvSpPr>
          <p:spPr>
            <a:xfrm>
              <a:off x="3048278" y="6362687"/>
              <a:ext cx="357505" cy="60325"/>
            </a:xfrm>
            <a:custGeom>
              <a:avLst/>
              <a:gdLst/>
              <a:ahLst/>
              <a:cxnLst/>
              <a:rect l="l" t="t" r="r" b="b"/>
              <a:pathLst>
                <a:path w="357504" h="60325">
                  <a:moveTo>
                    <a:pt x="88613" y="0"/>
                  </a:moveTo>
                  <a:lnTo>
                    <a:pt x="0" y="30134"/>
                  </a:lnTo>
                  <a:lnTo>
                    <a:pt x="88613" y="59901"/>
                  </a:lnTo>
                  <a:lnTo>
                    <a:pt x="66776" y="37021"/>
                  </a:lnTo>
                  <a:lnTo>
                    <a:pt x="56818" y="37021"/>
                  </a:lnTo>
                  <a:lnTo>
                    <a:pt x="53286" y="33401"/>
                  </a:lnTo>
                  <a:lnTo>
                    <a:pt x="53286" y="26500"/>
                  </a:lnTo>
                  <a:lnTo>
                    <a:pt x="56818" y="22865"/>
                  </a:lnTo>
                  <a:lnTo>
                    <a:pt x="67057" y="22865"/>
                  </a:lnTo>
                  <a:lnTo>
                    <a:pt x="88613" y="0"/>
                  </a:lnTo>
                  <a:close/>
                </a:path>
                <a:path w="357504" h="60325">
                  <a:moveTo>
                    <a:pt x="268785" y="0"/>
                  </a:moveTo>
                  <a:lnTo>
                    <a:pt x="297195" y="30134"/>
                  </a:lnTo>
                  <a:lnTo>
                    <a:pt x="268785" y="59901"/>
                  </a:lnTo>
                  <a:lnTo>
                    <a:pt x="336560" y="37021"/>
                  </a:lnTo>
                  <a:lnTo>
                    <a:pt x="300433" y="37021"/>
                  </a:lnTo>
                  <a:lnTo>
                    <a:pt x="302200" y="35211"/>
                  </a:lnTo>
                  <a:lnTo>
                    <a:pt x="304113" y="33401"/>
                  </a:lnTo>
                  <a:lnTo>
                    <a:pt x="304113" y="26500"/>
                  </a:lnTo>
                  <a:lnTo>
                    <a:pt x="302200" y="24675"/>
                  </a:lnTo>
                  <a:lnTo>
                    <a:pt x="300433" y="22865"/>
                  </a:lnTo>
                  <a:lnTo>
                    <a:pt x="335690" y="22865"/>
                  </a:lnTo>
                  <a:lnTo>
                    <a:pt x="268785" y="0"/>
                  </a:lnTo>
                  <a:close/>
                </a:path>
                <a:path w="357504" h="60325">
                  <a:moveTo>
                    <a:pt x="67057" y="22865"/>
                  </a:moveTo>
                  <a:lnTo>
                    <a:pt x="56818" y="22865"/>
                  </a:lnTo>
                  <a:lnTo>
                    <a:pt x="53286" y="26500"/>
                  </a:lnTo>
                  <a:lnTo>
                    <a:pt x="53286" y="33401"/>
                  </a:lnTo>
                  <a:lnTo>
                    <a:pt x="56818" y="37021"/>
                  </a:lnTo>
                  <a:lnTo>
                    <a:pt x="66776" y="37021"/>
                  </a:lnTo>
                  <a:lnTo>
                    <a:pt x="60204" y="30134"/>
                  </a:lnTo>
                  <a:lnTo>
                    <a:pt x="67057" y="22865"/>
                  </a:lnTo>
                  <a:close/>
                </a:path>
                <a:path w="357504" h="60325">
                  <a:moveTo>
                    <a:pt x="290342" y="22865"/>
                  </a:moveTo>
                  <a:lnTo>
                    <a:pt x="67057" y="22865"/>
                  </a:lnTo>
                  <a:lnTo>
                    <a:pt x="60204" y="30134"/>
                  </a:lnTo>
                  <a:lnTo>
                    <a:pt x="66776" y="37021"/>
                  </a:lnTo>
                  <a:lnTo>
                    <a:pt x="290623" y="37021"/>
                  </a:lnTo>
                  <a:lnTo>
                    <a:pt x="297195" y="30134"/>
                  </a:lnTo>
                  <a:lnTo>
                    <a:pt x="290342" y="22865"/>
                  </a:lnTo>
                  <a:close/>
                </a:path>
                <a:path w="357504" h="60325">
                  <a:moveTo>
                    <a:pt x="335690" y="22865"/>
                  </a:moveTo>
                  <a:lnTo>
                    <a:pt x="300433" y="22865"/>
                  </a:lnTo>
                  <a:lnTo>
                    <a:pt x="302200" y="24675"/>
                  </a:lnTo>
                  <a:lnTo>
                    <a:pt x="304113" y="26500"/>
                  </a:lnTo>
                  <a:lnTo>
                    <a:pt x="304113" y="33401"/>
                  </a:lnTo>
                  <a:lnTo>
                    <a:pt x="302200" y="35211"/>
                  </a:lnTo>
                  <a:lnTo>
                    <a:pt x="300433" y="37021"/>
                  </a:lnTo>
                  <a:lnTo>
                    <a:pt x="336560" y="37021"/>
                  </a:lnTo>
                  <a:lnTo>
                    <a:pt x="356958" y="30134"/>
                  </a:lnTo>
                  <a:lnTo>
                    <a:pt x="335690" y="22865"/>
                  </a:lnTo>
                  <a:close/>
                </a:path>
              </a:pathLst>
            </a:custGeom>
            <a:solidFill>
              <a:srgbClr val="000000"/>
            </a:solidFill>
          </p:spPr>
          <p:txBody>
            <a:bodyPr wrap="square" lIns="0" tIns="0" rIns="0" bIns="0" rtlCol="0"/>
            <a:lstStyle/>
            <a:p/>
          </p:txBody>
        </p:sp>
        <p:sp>
          <p:nvSpPr>
            <p:cNvPr id="162" name="object 162" descr=""/>
            <p:cNvSpPr/>
            <p:nvPr/>
          </p:nvSpPr>
          <p:spPr>
            <a:xfrm>
              <a:off x="3048278" y="6362687"/>
              <a:ext cx="357505" cy="60325"/>
            </a:xfrm>
            <a:custGeom>
              <a:avLst/>
              <a:gdLst/>
              <a:ahLst/>
              <a:cxnLst/>
              <a:rect l="l" t="t" r="r" b="b"/>
              <a:pathLst>
                <a:path w="357504" h="60325">
                  <a:moveTo>
                    <a:pt x="60204" y="22865"/>
                  </a:moveTo>
                  <a:lnTo>
                    <a:pt x="297195" y="22865"/>
                  </a:lnTo>
                  <a:lnTo>
                    <a:pt x="300433" y="22865"/>
                  </a:lnTo>
                  <a:lnTo>
                    <a:pt x="302200" y="24675"/>
                  </a:lnTo>
                  <a:lnTo>
                    <a:pt x="304113" y="26500"/>
                  </a:lnTo>
                  <a:lnTo>
                    <a:pt x="304113" y="30134"/>
                  </a:lnTo>
                  <a:lnTo>
                    <a:pt x="304113" y="33401"/>
                  </a:lnTo>
                  <a:lnTo>
                    <a:pt x="302200" y="35211"/>
                  </a:lnTo>
                  <a:lnTo>
                    <a:pt x="300433" y="37021"/>
                  </a:lnTo>
                  <a:lnTo>
                    <a:pt x="297195" y="37021"/>
                  </a:lnTo>
                  <a:lnTo>
                    <a:pt x="60204" y="37021"/>
                  </a:lnTo>
                  <a:lnTo>
                    <a:pt x="56818" y="37021"/>
                  </a:lnTo>
                  <a:lnTo>
                    <a:pt x="55052" y="35211"/>
                  </a:lnTo>
                  <a:lnTo>
                    <a:pt x="53286" y="33401"/>
                  </a:lnTo>
                  <a:lnTo>
                    <a:pt x="53286" y="30134"/>
                  </a:lnTo>
                  <a:lnTo>
                    <a:pt x="53286" y="26500"/>
                  </a:lnTo>
                  <a:lnTo>
                    <a:pt x="55052" y="24675"/>
                  </a:lnTo>
                  <a:lnTo>
                    <a:pt x="56818" y="22865"/>
                  </a:lnTo>
                  <a:lnTo>
                    <a:pt x="60204" y="22865"/>
                  </a:lnTo>
                  <a:close/>
                </a:path>
                <a:path w="357504" h="60325">
                  <a:moveTo>
                    <a:pt x="60204" y="30134"/>
                  </a:moveTo>
                  <a:lnTo>
                    <a:pt x="88613" y="59901"/>
                  </a:lnTo>
                  <a:lnTo>
                    <a:pt x="0" y="30134"/>
                  </a:lnTo>
                  <a:lnTo>
                    <a:pt x="88613" y="0"/>
                  </a:lnTo>
                  <a:lnTo>
                    <a:pt x="60204" y="30134"/>
                  </a:lnTo>
                  <a:close/>
                </a:path>
                <a:path w="357504" h="60325">
                  <a:moveTo>
                    <a:pt x="297195" y="30134"/>
                  </a:moveTo>
                  <a:lnTo>
                    <a:pt x="268785" y="0"/>
                  </a:lnTo>
                  <a:lnTo>
                    <a:pt x="356958" y="30134"/>
                  </a:lnTo>
                  <a:lnTo>
                    <a:pt x="268785" y="59901"/>
                  </a:lnTo>
                  <a:lnTo>
                    <a:pt x="297195" y="30134"/>
                  </a:lnTo>
                  <a:close/>
                </a:path>
              </a:pathLst>
            </a:custGeom>
            <a:ln w="3175">
              <a:solidFill>
                <a:srgbClr val="000000"/>
              </a:solidFill>
            </a:ln>
          </p:spPr>
          <p:txBody>
            <a:bodyPr wrap="square" lIns="0" tIns="0" rIns="0" bIns="0" rtlCol="0"/>
            <a:lstStyle/>
            <a:p/>
          </p:txBody>
        </p:sp>
      </p:grpSp>
      <p:sp>
        <p:nvSpPr>
          <p:cNvPr id="163" name="object 163" descr=""/>
          <p:cNvSpPr txBox="1"/>
          <p:nvPr/>
        </p:nvSpPr>
        <p:spPr>
          <a:xfrm>
            <a:off x="3418738" y="6299720"/>
            <a:ext cx="557530" cy="185420"/>
          </a:xfrm>
          <a:prstGeom prst="rect">
            <a:avLst/>
          </a:prstGeom>
        </p:spPr>
        <p:txBody>
          <a:bodyPr wrap="square" lIns="0" tIns="12065" rIns="0" bIns="0" rtlCol="0" vert="horz">
            <a:spAutoFit/>
          </a:bodyPr>
          <a:lstStyle/>
          <a:p>
            <a:pPr marL="12700">
              <a:lnSpc>
                <a:spcPct val="100000"/>
              </a:lnSpc>
              <a:spcBef>
                <a:spcPts val="95"/>
              </a:spcBef>
            </a:pPr>
            <a:r>
              <a:rPr dirty="0" sz="1050" spc="-35" b="1">
                <a:solidFill>
                  <a:srgbClr val="0000FF"/>
                </a:solidFill>
                <a:latin typeface="宋体"/>
                <a:cs typeface="宋体"/>
              </a:rPr>
              <a:t>外部设备</a:t>
            </a:r>
            <a:endParaRPr sz="1050">
              <a:latin typeface="宋体"/>
              <a:cs typeface="宋体"/>
            </a:endParaRPr>
          </a:p>
        </p:txBody>
      </p:sp>
      <p:grpSp>
        <p:nvGrpSpPr>
          <p:cNvPr id="164" name="object 164" descr=""/>
          <p:cNvGrpSpPr/>
          <p:nvPr/>
        </p:nvGrpSpPr>
        <p:grpSpPr>
          <a:xfrm>
            <a:off x="1587806" y="2273364"/>
            <a:ext cx="195580" cy="62865"/>
            <a:chOff x="1587806" y="2273364"/>
            <a:chExt cx="195580" cy="62865"/>
          </a:xfrm>
        </p:grpSpPr>
        <p:sp>
          <p:nvSpPr>
            <p:cNvPr id="165" name="object 165" descr=""/>
            <p:cNvSpPr/>
            <p:nvPr/>
          </p:nvSpPr>
          <p:spPr>
            <a:xfrm>
              <a:off x="1589076" y="2274634"/>
              <a:ext cx="193040" cy="60325"/>
            </a:xfrm>
            <a:custGeom>
              <a:avLst/>
              <a:gdLst/>
              <a:ahLst/>
              <a:cxnLst/>
              <a:rect l="l" t="t" r="r" b="b"/>
              <a:pathLst>
                <a:path w="193039" h="60325">
                  <a:moveTo>
                    <a:pt x="104281" y="0"/>
                  </a:moveTo>
                  <a:lnTo>
                    <a:pt x="132361" y="30164"/>
                  </a:lnTo>
                  <a:lnTo>
                    <a:pt x="104281" y="60181"/>
                  </a:lnTo>
                  <a:lnTo>
                    <a:pt x="171327" y="37374"/>
                  </a:lnTo>
                  <a:lnTo>
                    <a:pt x="135997" y="37374"/>
                  </a:lnTo>
                  <a:lnTo>
                    <a:pt x="137822" y="35608"/>
                  </a:lnTo>
                  <a:lnTo>
                    <a:pt x="139279" y="33695"/>
                  </a:lnTo>
                  <a:lnTo>
                    <a:pt x="141105" y="30164"/>
                  </a:lnTo>
                  <a:lnTo>
                    <a:pt x="139279" y="26485"/>
                  </a:lnTo>
                  <a:lnTo>
                    <a:pt x="137822" y="25014"/>
                  </a:lnTo>
                  <a:lnTo>
                    <a:pt x="135997" y="23248"/>
                  </a:lnTo>
                  <a:lnTo>
                    <a:pt x="172291" y="23248"/>
                  </a:lnTo>
                  <a:lnTo>
                    <a:pt x="104281" y="0"/>
                  </a:lnTo>
                  <a:close/>
                </a:path>
                <a:path w="193039" h="60325">
                  <a:moveTo>
                    <a:pt x="125923" y="23248"/>
                  </a:moveTo>
                  <a:lnTo>
                    <a:pt x="3282" y="23248"/>
                  </a:lnTo>
                  <a:lnTo>
                    <a:pt x="1458" y="25014"/>
                  </a:lnTo>
                  <a:lnTo>
                    <a:pt x="0" y="26485"/>
                  </a:lnTo>
                  <a:lnTo>
                    <a:pt x="0" y="33695"/>
                  </a:lnTo>
                  <a:lnTo>
                    <a:pt x="1458" y="35608"/>
                  </a:lnTo>
                  <a:lnTo>
                    <a:pt x="3282" y="37374"/>
                  </a:lnTo>
                  <a:lnTo>
                    <a:pt x="125616" y="37374"/>
                  </a:lnTo>
                  <a:lnTo>
                    <a:pt x="132361" y="30164"/>
                  </a:lnTo>
                  <a:lnTo>
                    <a:pt x="125923" y="23248"/>
                  </a:lnTo>
                  <a:close/>
                </a:path>
                <a:path w="193039" h="60325">
                  <a:moveTo>
                    <a:pt x="172291" y="23248"/>
                  </a:moveTo>
                  <a:lnTo>
                    <a:pt x="135997" y="23248"/>
                  </a:lnTo>
                  <a:lnTo>
                    <a:pt x="137822" y="25014"/>
                  </a:lnTo>
                  <a:lnTo>
                    <a:pt x="139279" y="26485"/>
                  </a:lnTo>
                  <a:lnTo>
                    <a:pt x="141105" y="30164"/>
                  </a:lnTo>
                  <a:lnTo>
                    <a:pt x="139279" y="33695"/>
                  </a:lnTo>
                  <a:lnTo>
                    <a:pt x="137822" y="35608"/>
                  </a:lnTo>
                  <a:lnTo>
                    <a:pt x="135997" y="37374"/>
                  </a:lnTo>
                  <a:lnTo>
                    <a:pt x="171327" y="37374"/>
                  </a:lnTo>
                  <a:lnTo>
                    <a:pt x="192521" y="30164"/>
                  </a:lnTo>
                  <a:lnTo>
                    <a:pt x="172291" y="23248"/>
                  </a:lnTo>
                  <a:close/>
                </a:path>
              </a:pathLst>
            </a:custGeom>
            <a:solidFill>
              <a:srgbClr val="000000"/>
            </a:solidFill>
          </p:spPr>
          <p:txBody>
            <a:bodyPr wrap="square" lIns="0" tIns="0" rIns="0" bIns="0" rtlCol="0"/>
            <a:lstStyle/>
            <a:p/>
          </p:txBody>
        </p:sp>
        <p:sp>
          <p:nvSpPr>
            <p:cNvPr id="166" name="object 166" descr=""/>
            <p:cNvSpPr/>
            <p:nvPr/>
          </p:nvSpPr>
          <p:spPr>
            <a:xfrm>
              <a:off x="1589076" y="2274634"/>
              <a:ext cx="193040" cy="60325"/>
            </a:xfrm>
            <a:custGeom>
              <a:avLst/>
              <a:gdLst/>
              <a:ahLst/>
              <a:cxnLst/>
              <a:rect l="l" t="t" r="r" b="b"/>
              <a:pathLst>
                <a:path w="193039" h="60325">
                  <a:moveTo>
                    <a:pt x="6928" y="23248"/>
                  </a:moveTo>
                  <a:lnTo>
                    <a:pt x="132361" y="23248"/>
                  </a:lnTo>
                  <a:lnTo>
                    <a:pt x="135997" y="23248"/>
                  </a:lnTo>
                  <a:lnTo>
                    <a:pt x="137822" y="25014"/>
                  </a:lnTo>
                  <a:lnTo>
                    <a:pt x="139279" y="26485"/>
                  </a:lnTo>
                  <a:lnTo>
                    <a:pt x="141105" y="30164"/>
                  </a:lnTo>
                  <a:lnTo>
                    <a:pt x="139279" y="33695"/>
                  </a:lnTo>
                  <a:lnTo>
                    <a:pt x="137822" y="35608"/>
                  </a:lnTo>
                  <a:lnTo>
                    <a:pt x="135997" y="37374"/>
                  </a:lnTo>
                  <a:lnTo>
                    <a:pt x="132361" y="37374"/>
                  </a:lnTo>
                  <a:lnTo>
                    <a:pt x="6928" y="37374"/>
                  </a:lnTo>
                  <a:lnTo>
                    <a:pt x="3282" y="37374"/>
                  </a:lnTo>
                  <a:lnTo>
                    <a:pt x="1458" y="35608"/>
                  </a:lnTo>
                  <a:lnTo>
                    <a:pt x="0" y="33695"/>
                  </a:lnTo>
                  <a:lnTo>
                    <a:pt x="0" y="30164"/>
                  </a:lnTo>
                  <a:lnTo>
                    <a:pt x="0" y="26485"/>
                  </a:lnTo>
                  <a:lnTo>
                    <a:pt x="1458" y="25014"/>
                  </a:lnTo>
                  <a:lnTo>
                    <a:pt x="3282" y="23248"/>
                  </a:lnTo>
                  <a:lnTo>
                    <a:pt x="6928" y="23248"/>
                  </a:lnTo>
                  <a:close/>
                </a:path>
                <a:path w="193039" h="60325">
                  <a:moveTo>
                    <a:pt x="132361" y="30164"/>
                  </a:moveTo>
                  <a:lnTo>
                    <a:pt x="104281" y="0"/>
                  </a:lnTo>
                  <a:lnTo>
                    <a:pt x="192521" y="30164"/>
                  </a:lnTo>
                  <a:lnTo>
                    <a:pt x="104281" y="60181"/>
                  </a:lnTo>
                  <a:lnTo>
                    <a:pt x="132361" y="30164"/>
                  </a:lnTo>
                  <a:close/>
                </a:path>
              </a:pathLst>
            </a:custGeom>
            <a:ln w="3175">
              <a:solidFill>
                <a:srgbClr val="000000"/>
              </a:solidFill>
            </a:ln>
          </p:spPr>
          <p:txBody>
            <a:bodyPr wrap="square" lIns="0" tIns="0" rIns="0" bIns="0" rtlCol="0"/>
            <a:lstStyle/>
            <a:p/>
          </p:txBody>
        </p:sp>
      </p:grpSp>
      <p:sp>
        <p:nvSpPr>
          <p:cNvPr id="167" name="object 167" descr=""/>
          <p:cNvSpPr txBox="1"/>
          <p:nvPr/>
        </p:nvSpPr>
        <p:spPr>
          <a:xfrm>
            <a:off x="1795082" y="2164615"/>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CPU3</a:t>
            </a:r>
            <a:endParaRPr sz="1050">
              <a:latin typeface="宋体"/>
              <a:cs typeface="宋体"/>
            </a:endParaRPr>
          </a:p>
        </p:txBody>
      </p:sp>
      <p:grpSp>
        <p:nvGrpSpPr>
          <p:cNvPr id="168" name="object 168" descr=""/>
          <p:cNvGrpSpPr/>
          <p:nvPr/>
        </p:nvGrpSpPr>
        <p:grpSpPr>
          <a:xfrm>
            <a:off x="2291026" y="2273604"/>
            <a:ext cx="311785" cy="62865"/>
            <a:chOff x="2291026" y="2273604"/>
            <a:chExt cx="311785" cy="62865"/>
          </a:xfrm>
        </p:grpSpPr>
        <p:sp>
          <p:nvSpPr>
            <p:cNvPr id="169" name="object 169" descr=""/>
            <p:cNvSpPr/>
            <p:nvPr/>
          </p:nvSpPr>
          <p:spPr>
            <a:xfrm>
              <a:off x="2292056" y="2274634"/>
              <a:ext cx="309245" cy="60325"/>
            </a:xfrm>
            <a:custGeom>
              <a:avLst/>
              <a:gdLst/>
              <a:ahLst/>
              <a:cxnLst/>
              <a:rect l="l" t="t" r="r" b="b"/>
              <a:pathLst>
                <a:path w="309244" h="60325">
                  <a:moveTo>
                    <a:pt x="88599" y="0"/>
                  </a:moveTo>
                  <a:lnTo>
                    <a:pt x="0" y="30164"/>
                  </a:lnTo>
                  <a:lnTo>
                    <a:pt x="88599" y="60181"/>
                  </a:lnTo>
                  <a:lnTo>
                    <a:pt x="65615" y="37374"/>
                  </a:lnTo>
                  <a:lnTo>
                    <a:pt x="55067" y="37374"/>
                  </a:lnTo>
                  <a:lnTo>
                    <a:pt x="53241" y="35608"/>
                  </a:lnTo>
                  <a:lnTo>
                    <a:pt x="51416" y="33695"/>
                  </a:lnTo>
                  <a:lnTo>
                    <a:pt x="51416" y="26485"/>
                  </a:lnTo>
                  <a:lnTo>
                    <a:pt x="53241" y="25014"/>
                  </a:lnTo>
                  <a:lnTo>
                    <a:pt x="55067" y="23248"/>
                  </a:lnTo>
                  <a:lnTo>
                    <a:pt x="65285" y="23248"/>
                  </a:lnTo>
                  <a:lnTo>
                    <a:pt x="88599" y="0"/>
                  </a:lnTo>
                  <a:close/>
                </a:path>
                <a:path w="309244" h="60325">
                  <a:moveTo>
                    <a:pt x="220960" y="0"/>
                  </a:moveTo>
                  <a:lnTo>
                    <a:pt x="249399" y="30164"/>
                  </a:lnTo>
                  <a:lnTo>
                    <a:pt x="220960" y="60181"/>
                  </a:lnTo>
                  <a:lnTo>
                    <a:pt x="288010" y="37374"/>
                  </a:lnTo>
                  <a:lnTo>
                    <a:pt x="252682" y="37374"/>
                  </a:lnTo>
                  <a:lnTo>
                    <a:pt x="254507" y="35608"/>
                  </a:lnTo>
                  <a:lnTo>
                    <a:pt x="256332" y="33695"/>
                  </a:lnTo>
                  <a:lnTo>
                    <a:pt x="256332" y="26485"/>
                  </a:lnTo>
                  <a:lnTo>
                    <a:pt x="254507" y="25014"/>
                  </a:lnTo>
                  <a:lnTo>
                    <a:pt x="252682" y="23248"/>
                  </a:lnTo>
                  <a:lnTo>
                    <a:pt x="288974" y="23248"/>
                  </a:lnTo>
                  <a:lnTo>
                    <a:pt x="220960" y="0"/>
                  </a:lnTo>
                  <a:close/>
                </a:path>
                <a:path w="309244" h="60325">
                  <a:moveTo>
                    <a:pt x="65285" y="23248"/>
                  </a:moveTo>
                  <a:lnTo>
                    <a:pt x="55067" y="23248"/>
                  </a:lnTo>
                  <a:lnTo>
                    <a:pt x="53241" y="25014"/>
                  </a:lnTo>
                  <a:lnTo>
                    <a:pt x="51416" y="26485"/>
                  </a:lnTo>
                  <a:lnTo>
                    <a:pt x="51416" y="33695"/>
                  </a:lnTo>
                  <a:lnTo>
                    <a:pt x="53241" y="35608"/>
                  </a:lnTo>
                  <a:lnTo>
                    <a:pt x="55067" y="37374"/>
                  </a:lnTo>
                  <a:lnTo>
                    <a:pt x="65615" y="37374"/>
                  </a:lnTo>
                  <a:lnTo>
                    <a:pt x="58349" y="30164"/>
                  </a:lnTo>
                  <a:lnTo>
                    <a:pt x="65285" y="23248"/>
                  </a:lnTo>
                  <a:close/>
                </a:path>
                <a:path w="309244" h="60325">
                  <a:moveTo>
                    <a:pt x="242879" y="23248"/>
                  </a:moveTo>
                  <a:lnTo>
                    <a:pt x="65285" y="23248"/>
                  </a:lnTo>
                  <a:lnTo>
                    <a:pt x="58349" y="30164"/>
                  </a:lnTo>
                  <a:lnTo>
                    <a:pt x="65615" y="37374"/>
                  </a:lnTo>
                  <a:lnTo>
                    <a:pt x="242568" y="37374"/>
                  </a:lnTo>
                  <a:lnTo>
                    <a:pt x="249399" y="30164"/>
                  </a:lnTo>
                  <a:lnTo>
                    <a:pt x="242879" y="23248"/>
                  </a:lnTo>
                  <a:close/>
                </a:path>
                <a:path w="309244" h="60325">
                  <a:moveTo>
                    <a:pt x="288974" y="23248"/>
                  </a:moveTo>
                  <a:lnTo>
                    <a:pt x="252682" y="23248"/>
                  </a:lnTo>
                  <a:lnTo>
                    <a:pt x="254507" y="25014"/>
                  </a:lnTo>
                  <a:lnTo>
                    <a:pt x="256332" y="26485"/>
                  </a:lnTo>
                  <a:lnTo>
                    <a:pt x="256332" y="33695"/>
                  </a:lnTo>
                  <a:lnTo>
                    <a:pt x="254507" y="35608"/>
                  </a:lnTo>
                  <a:lnTo>
                    <a:pt x="252682" y="37374"/>
                  </a:lnTo>
                  <a:lnTo>
                    <a:pt x="288010" y="37374"/>
                  </a:lnTo>
                  <a:lnTo>
                    <a:pt x="309206" y="30164"/>
                  </a:lnTo>
                  <a:lnTo>
                    <a:pt x="288974" y="23248"/>
                  </a:lnTo>
                  <a:close/>
                </a:path>
              </a:pathLst>
            </a:custGeom>
            <a:solidFill>
              <a:srgbClr val="000000"/>
            </a:solidFill>
          </p:spPr>
          <p:txBody>
            <a:bodyPr wrap="square" lIns="0" tIns="0" rIns="0" bIns="0" rtlCol="0"/>
            <a:lstStyle/>
            <a:p/>
          </p:txBody>
        </p:sp>
        <p:sp>
          <p:nvSpPr>
            <p:cNvPr id="170" name="object 170" descr=""/>
            <p:cNvSpPr/>
            <p:nvPr/>
          </p:nvSpPr>
          <p:spPr>
            <a:xfrm>
              <a:off x="2292056" y="2274634"/>
              <a:ext cx="309245" cy="60325"/>
            </a:xfrm>
            <a:custGeom>
              <a:avLst/>
              <a:gdLst/>
              <a:ahLst/>
              <a:cxnLst/>
              <a:rect l="l" t="t" r="r" b="b"/>
              <a:pathLst>
                <a:path w="309244" h="60325">
                  <a:moveTo>
                    <a:pt x="58349" y="23248"/>
                  </a:moveTo>
                  <a:lnTo>
                    <a:pt x="249399" y="23248"/>
                  </a:lnTo>
                  <a:lnTo>
                    <a:pt x="252682" y="23248"/>
                  </a:lnTo>
                  <a:lnTo>
                    <a:pt x="254507" y="25014"/>
                  </a:lnTo>
                  <a:lnTo>
                    <a:pt x="256332" y="26485"/>
                  </a:lnTo>
                  <a:lnTo>
                    <a:pt x="256332" y="30164"/>
                  </a:lnTo>
                  <a:lnTo>
                    <a:pt x="256332" y="33695"/>
                  </a:lnTo>
                  <a:lnTo>
                    <a:pt x="254507" y="35608"/>
                  </a:lnTo>
                  <a:lnTo>
                    <a:pt x="252682" y="37374"/>
                  </a:lnTo>
                  <a:lnTo>
                    <a:pt x="249399" y="37374"/>
                  </a:lnTo>
                  <a:lnTo>
                    <a:pt x="58349" y="37374"/>
                  </a:lnTo>
                  <a:lnTo>
                    <a:pt x="55067" y="37374"/>
                  </a:lnTo>
                  <a:lnTo>
                    <a:pt x="53241" y="35608"/>
                  </a:lnTo>
                  <a:lnTo>
                    <a:pt x="51416" y="33695"/>
                  </a:lnTo>
                  <a:lnTo>
                    <a:pt x="51416" y="30164"/>
                  </a:lnTo>
                  <a:lnTo>
                    <a:pt x="51416" y="26485"/>
                  </a:lnTo>
                  <a:lnTo>
                    <a:pt x="53241" y="25014"/>
                  </a:lnTo>
                  <a:lnTo>
                    <a:pt x="55067" y="23248"/>
                  </a:lnTo>
                  <a:lnTo>
                    <a:pt x="58349" y="23248"/>
                  </a:lnTo>
                  <a:close/>
                </a:path>
                <a:path w="309244" h="60325">
                  <a:moveTo>
                    <a:pt x="58349" y="30164"/>
                  </a:moveTo>
                  <a:lnTo>
                    <a:pt x="88599" y="60181"/>
                  </a:lnTo>
                  <a:lnTo>
                    <a:pt x="0" y="30164"/>
                  </a:lnTo>
                  <a:lnTo>
                    <a:pt x="88599" y="0"/>
                  </a:lnTo>
                  <a:lnTo>
                    <a:pt x="58349" y="30164"/>
                  </a:lnTo>
                  <a:close/>
                </a:path>
                <a:path w="309244" h="60325">
                  <a:moveTo>
                    <a:pt x="249399" y="30164"/>
                  </a:moveTo>
                  <a:lnTo>
                    <a:pt x="220960" y="0"/>
                  </a:lnTo>
                  <a:lnTo>
                    <a:pt x="309206" y="30164"/>
                  </a:lnTo>
                  <a:lnTo>
                    <a:pt x="220960" y="60181"/>
                  </a:lnTo>
                  <a:lnTo>
                    <a:pt x="249399" y="30164"/>
                  </a:lnTo>
                  <a:close/>
                </a:path>
              </a:pathLst>
            </a:custGeom>
            <a:ln w="3175">
              <a:solidFill>
                <a:srgbClr val="000000"/>
              </a:solidFill>
            </a:ln>
          </p:spPr>
          <p:txBody>
            <a:bodyPr wrap="square" lIns="0" tIns="0" rIns="0" bIns="0" rtlCol="0"/>
            <a:lstStyle/>
            <a:p/>
          </p:txBody>
        </p:sp>
      </p:grpSp>
      <p:grpSp>
        <p:nvGrpSpPr>
          <p:cNvPr id="171" name="object 171" descr=""/>
          <p:cNvGrpSpPr/>
          <p:nvPr/>
        </p:nvGrpSpPr>
        <p:grpSpPr>
          <a:xfrm>
            <a:off x="1587806" y="3005547"/>
            <a:ext cx="195580" cy="60960"/>
            <a:chOff x="1587806" y="3005547"/>
            <a:chExt cx="195580" cy="60960"/>
          </a:xfrm>
        </p:grpSpPr>
        <p:sp>
          <p:nvSpPr>
            <p:cNvPr id="172" name="object 172" descr=""/>
            <p:cNvSpPr/>
            <p:nvPr/>
          </p:nvSpPr>
          <p:spPr>
            <a:xfrm>
              <a:off x="1589076" y="3006817"/>
              <a:ext cx="193040" cy="58419"/>
            </a:xfrm>
            <a:custGeom>
              <a:avLst/>
              <a:gdLst/>
              <a:ahLst/>
              <a:cxnLst/>
              <a:rect l="l" t="t" r="r" b="b"/>
              <a:pathLst>
                <a:path w="193039" h="58419">
                  <a:moveTo>
                    <a:pt x="104281" y="0"/>
                  </a:moveTo>
                  <a:lnTo>
                    <a:pt x="132361" y="28398"/>
                  </a:lnTo>
                  <a:lnTo>
                    <a:pt x="104281" y="58121"/>
                  </a:lnTo>
                  <a:lnTo>
                    <a:pt x="172427" y="35167"/>
                  </a:lnTo>
                  <a:lnTo>
                    <a:pt x="135997" y="35167"/>
                  </a:lnTo>
                  <a:lnTo>
                    <a:pt x="137822" y="33401"/>
                  </a:lnTo>
                  <a:lnTo>
                    <a:pt x="139279" y="31635"/>
                  </a:lnTo>
                  <a:lnTo>
                    <a:pt x="141105" y="28398"/>
                  </a:lnTo>
                  <a:lnTo>
                    <a:pt x="139279" y="26485"/>
                  </a:lnTo>
                  <a:lnTo>
                    <a:pt x="137822" y="22954"/>
                  </a:lnTo>
                  <a:lnTo>
                    <a:pt x="135997" y="21041"/>
                  </a:lnTo>
                  <a:lnTo>
                    <a:pt x="169661" y="21041"/>
                  </a:lnTo>
                  <a:lnTo>
                    <a:pt x="104281" y="0"/>
                  </a:lnTo>
                  <a:close/>
                </a:path>
                <a:path w="193039" h="58419">
                  <a:moveTo>
                    <a:pt x="125087" y="21041"/>
                  </a:moveTo>
                  <a:lnTo>
                    <a:pt x="3282" y="21041"/>
                  </a:lnTo>
                  <a:lnTo>
                    <a:pt x="1458" y="22954"/>
                  </a:lnTo>
                  <a:lnTo>
                    <a:pt x="0" y="26485"/>
                  </a:lnTo>
                  <a:lnTo>
                    <a:pt x="0" y="31635"/>
                  </a:lnTo>
                  <a:lnTo>
                    <a:pt x="1458" y="33401"/>
                  </a:lnTo>
                  <a:lnTo>
                    <a:pt x="3282" y="35167"/>
                  </a:lnTo>
                  <a:lnTo>
                    <a:pt x="125967" y="35167"/>
                  </a:lnTo>
                  <a:lnTo>
                    <a:pt x="132361" y="28398"/>
                  </a:lnTo>
                  <a:lnTo>
                    <a:pt x="125087" y="21041"/>
                  </a:lnTo>
                  <a:close/>
                </a:path>
                <a:path w="193039" h="58419">
                  <a:moveTo>
                    <a:pt x="169661" y="21041"/>
                  </a:moveTo>
                  <a:lnTo>
                    <a:pt x="135997" y="21041"/>
                  </a:lnTo>
                  <a:lnTo>
                    <a:pt x="137822" y="22954"/>
                  </a:lnTo>
                  <a:lnTo>
                    <a:pt x="139279" y="26485"/>
                  </a:lnTo>
                  <a:lnTo>
                    <a:pt x="141105" y="28398"/>
                  </a:lnTo>
                  <a:lnTo>
                    <a:pt x="139279" y="31635"/>
                  </a:lnTo>
                  <a:lnTo>
                    <a:pt x="137822" y="33401"/>
                  </a:lnTo>
                  <a:lnTo>
                    <a:pt x="135997" y="35167"/>
                  </a:lnTo>
                  <a:lnTo>
                    <a:pt x="172427" y="35167"/>
                  </a:lnTo>
                  <a:lnTo>
                    <a:pt x="192521" y="28398"/>
                  </a:lnTo>
                  <a:lnTo>
                    <a:pt x="169661" y="21041"/>
                  </a:lnTo>
                  <a:close/>
                </a:path>
              </a:pathLst>
            </a:custGeom>
            <a:solidFill>
              <a:srgbClr val="000000"/>
            </a:solidFill>
          </p:spPr>
          <p:txBody>
            <a:bodyPr wrap="square" lIns="0" tIns="0" rIns="0" bIns="0" rtlCol="0"/>
            <a:lstStyle/>
            <a:p/>
          </p:txBody>
        </p:sp>
        <p:sp>
          <p:nvSpPr>
            <p:cNvPr id="173" name="object 173" descr=""/>
            <p:cNvSpPr/>
            <p:nvPr/>
          </p:nvSpPr>
          <p:spPr>
            <a:xfrm>
              <a:off x="1589076" y="3006817"/>
              <a:ext cx="193040" cy="58419"/>
            </a:xfrm>
            <a:custGeom>
              <a:avLst/>
              <a:gdLst/>
              <a:ahLst/>
              <a:cxnLst/>
              <a:rect l="l" t="t" r="r" b="b"/>
              <a:pathLst>
                <a:path w="193039" h="58419">
                  <a:moveTo>
                    <a:pt x="6928" y="21041"/>
                  </a:moveTo>
                  <a:lnTo>
                    <a:pt x="132361" y="21041"/>
                  </a:lnTo>
                  <a:lnTo>
                    <a:pt x="135997" y="21041"/>
                  </a:lnTo>
                  <a:lnTo>
                    <a:pt x="137822" y="22954"/>
                  </a:lnTo>
                  <a:lnTo>
                    <a:pt x="139279" y="26485"/>
                  </a:lnTo>
                  <a:lnTo>
                    <a:pt x="141105" y="28398"/>
                  </a:lnTo>
                  <a:lnTo>
                    <a:pt x="139279" y="31635"/>
                  </a:lnTo>
                  <a:lnTo>
                    <a:pt x="137822" y="33401"/>
                  </a:lnTo>
                  <a:lnTo>
                    <a:pt x="135997" y="35167"/>
                  </a:lnTo>
                  <a:lnTo>
                    <a:pt x="132361" y="35167"/>
                  </a:lnTo>
                  <a:lnTo>
                    <a:pt x="6928" y="35167"/>
                  </a:lnTo>
                  <a:lnTo>
                    <a:pt x="3282" y="35167"/>
                  </a:lnTo>
                  <a:lnTo>
                    <a:pt x="1458" y="33401"/>
                  </a:lnTo>
                  <a:lnTo>
                    <a:pt x="0" y="31635"/>
                  </a:lnTo>
                  <a:lnTo>
                    <a:pt x="0" y="28398"/>
                  </a:lnTo>
                  <a:lnTo>
                    <a:pt x="0" y="26485"/>
                  </a:lnTo>
                  <a:lnTo>
                    <a:pt x="1458" y="22954"/>
                  </a:lnTo>
                  <a:lnTo>
                    <a:pt x="3282" y="21041"/>
                  </a:lnTo>
                  <a:lnTo>
                    <a:pt x="6928" y="21041"/>
                  </a:lnTo>
                  <a:close/>
                </a:path>
                <a:path w="193039" h="58419">
                  <a:moveTo>
                    <a:pt x="132361" y="28398"/>
                  </a:moveTo>
                  <a:lnTo>
                    <a:pt x="104281" y="0"/>
                  </a:lnTo>
                  <a:lnTo>
                    <a:pt x="192521" y="28398"/>
                  </a:lnTo>
                  <a:lnTo>
                    <a:pt x="104281" y="58121"/>
                  </a:lnTo>
                  <a:lnTo>
                    <a:pt x="132361" y="28398"/>
                  </a:lnTo>
                  <a:close/>
                </a:path>
              </a:pathLst>
            </a:custGeom>
            <a:ln w="3175">
              <a:solidFill>
                <a:srgbClr val="000000"/>
              </a:solidFill>
            </a:ln>
          </p:spPr>
          <p:txBody>
            <a:bodyPr wrap="square" lIns="0" tIns="0" rIns="0" bIns="0" rtlCol="0"/>
            <a:lstStyle/>
            <a:p/>
          </p:txBody>
        </p:sp>
      </p:grpSp>
      <p:sp>
        <p:nvSpPr>
          <p:cNvPr id="174" name="object 174" descr=""/>
          <p:cNvSpPr txBox="1"/>
          <p:nvPr/>
        </p:nvSpPr>
        <p:spPr>
          <a:xfrm>
            <a:off x="1795082" y="2896798"/>
            <a:ext cx="495300" cy="274320"/>
          </a:xfrm>
          <a:prstGeom prst="rect">
            <a:avLst/>
          </a:prstGeom>
          <a:solidFill>
            <a:srgbClr val="FFFF99"/>
          </a:solidFill>
          <a:ln w="10570">
            <a:solidFill>
              <a:srgbClr val="000000"/>
            </a:solidFill>
          </a:ln>
        </p:spPr>
        <p:txBody>
          <a:bodyPr wrap="square" lIns="0" tIns="57150" rIns="0" bIns="0" rtlCol="0" vert="horz">
            <a:spAutoFit/>
          </a:bodyPr>
          <a:lstStyle/>
          <a:p>
            <a:pPr marL="121920">
              <a:lnSpc>
                <a:spcPct val="100000"/>
              </a:lnSpc>
              <a:spcBef>
                <a:spcPts val="450"/>
              </a:spcBef>
            </a:pPr>
            <a:r>
              <a:rPr dirty="0" sz="1050" spc="-20" b="1">
                <a:solidFill>
                  <a:srgbClr val="0000FF"/>
                </a:solidFill>
                <a:latin typeface="宋体"/>
                <a:cs typeface="宋体"/>
              </a:rPr>
              <a:t>CPU4</a:t>
            </a:r>
            <a:endParaRPr sz="1050">
              <a:latin typeface="宋体"/>
              <a:cs typeface="宋体"/>
            </a:endParaRPr>
          </a:p>
        </p:txBody>
      </p:sp>
      <p:grpSp>
        <p:nvGrpSpPr>
          <p:cNvPr id="175" name="object 175" descr=""/>
          <p:cNvGrpSpPr/>
          <p:nvPr/>
        </p:nvGrpSpPr>
        <p:grpSpPr>
          <a:xfrm>
            <a:off x="2291026" y="3005786"/>
            <a:ext cx="311785" cy="60325"/>
            <a:chOff x="2291026" y="3005786"/>
            <a:chExt cx="311785" cy="60325"/>
          </a:xfrm>
        </p:grpSpPr>
        <p:sp>
          <p:nvSpPr>
            <p:cNvPr id="176" name="object 176" descr=""/>
            <p:cNvSpPr/>
            <p:nvPr/>
          </p:nvSpPr>
          <p:spPr>
            <a:xfrm>
              <a:off x="2292056" y="3006816"/>
              <a:ext cx="309245" cy="58419"/>
            </a:xfrm>
            <a:custGeom>
              <a:avLst/>
              <a:gdLst/>
              <a:ahLst/>
              <a:cxnLst/>
              <a:rect l="l" t="t" r="r" b="b"/>
              <a:pathLst>
                <a:path w="309244" h="58419">
                  <a:moveTo>
                    <a:pt x="88599" y="0"/>
                  </a:moveTo>
                  <a:lnTo>
                    <a:pt x="0" y="28398"/>
                  </a:lnTo>
                  <a:lnTo>
                    <a:pt x="88599" y="58121"/>
                  </a:lnTo>
                  <a:lnTo>
                    <a:pt x="65238" y="35167"/>
                  </a:lnTo>
                  <a:lnTo>
                    <a:pt x="55067" y="35167"/>
                  </a:lnTo>
                  <a:lnTo>
                    <a:pt x="51416" y="31635"/>
                  </a:lnTo>
                  <a:lnTo>
                    <a:pt x="51416" y="26485"/>
                  </a:lnTo>
                  <a:lnTo>
                    <a:pt x="53241" y="22954"/>
                  </a:lnTo>
                  <a:lnTo>
                    <a:pt x="55067" y="21041"/>
                  </a:lnTo>
                  <a:lnTo>
                    <a:pt x="66186" y="21041"/>
                  </a:lnTo>
                  <a:lnTo>
                    <a:pt x="88599" y="0"/>
                  </a:lnTo>
                  <a:close/>
                </a:path>
                <a:path w="309244" h="58419">
                  <a:moveTo>
                    <a:pt x="220960" y="0"/>
                  </a:moveTo>
                  <a:lnTo>
                    <a:pt x="249399" y="28398"/>
                  </a:lnTo>
                  <a:lnTo>
                    <a:pt x="220960" y="58121"/>
                  </a:lnTo>
                  <a:lnTo>
                    <a:pt x="289111" y="35167"/>
                  </a:lnTo>
                  <a:lnTo>
                    <a:pt x="252682" y="35167"/>
                  </a:lnTo>
                  <a:lnTo>
                    <a:pt x="256332" y="31635"/>
                  </a:lnTo>
                  <a:lnTo>
                    <a:pt x="256332" y="26485"/>
                  </a:lnTo>
                  <a:lnTo>
                    <a:pt x="254507" y="22954"/>
                  </a:lnTo>
                  <a:lnTo>
                    <a:pt x="252682" y="21041"/>
                  </a:lnTo>
                  <a:lnTo>
                    <a:pt x="286345" y="21041"/>
                  </a:lnTo>
                  <a:lnTo>
                    <a:pt x="220960" y="0"/>
                  </a:lnTo>
                  <a:close/>
                </a:path>
                <a:path w="309244" h="58419">
                  <a:moveTo>
                    <a:pt x="66186" y="21041"/>
                  </a:moveTo>
                  <a:lnTo>
                    <a:pt x="55067" y="21041"/>
                  </a:lnTo>
                  <a:lnTo>
                    <a:pt x="53241" y="22954"/>
                  </a:lnTo>
                  <a:lnTo>
                    <a:pt x="51416" y="26485"/>
                  </a:lnTo>
                  <a:lnTo>
                    <a:pt x="51416" y="31635"/>
                  </a:lnTo>
                  <a:lnTo>
                    <a:pt x="55067" y="35167"/>
                  </a:lnTo>
                  <a:lnTo>
                    <a:pt x="65238" y="35167"/>
                  </a:lnTo>
                  <a:lnTo>
                    <a:pt x="58349" y="28398"/>
                  </a:lnTo>
                  <a:lnTo>
                    <a:pt x="66186" y="21041"/>
                  </a:lnTo>
                  <a:close/>
                </a:path>
                <a:path w="309244" h="58419">
                  <a:moveTo>
                    <a:pt x="242032" y="21041"/>
                  </a:moveTo>
                  <a:lnTo>
                    <a:pt x="66186" y="21041"/>
                  </a:lnTo>
                  <a:lnTo>
                    <a:pt x="58349" y="28398"/>
                  </a:lnTo>
                  <a:lnTo>
                    <a:pt x="65238" y="35167"/>
                  </a:lnTo>
                  <a:lnTo>
                    <a:pt x="242923" y="35167"/>
                  </a:lnTo>
                  <a:lnTo>
                    <a:pt x="249399" y="28398"/>
                  </a:lnTo>
                  <a:lnTo>
                    <a:pt x="242032" y="21041"/>
                  </a:lnTo>
                  <a:close/>
                </a:path>
                <a:path w="309244" h="58419">
                  <a:moveTo>
                    <a:pt x="286345" y="21041"/>
                  </a:moveTo>
                  <a:lnTo>
                    <a:pt x="252682" y="21041"/>
                  </a:lnTo>
                  <a:lnTo>
                    <a:pt x="254507" y="22954"/>
                  </a:lnTo>
                  <a:lnTo>
                    <a:pt x="256332" y="26485"/>
                  </a:lnTo>
                  <a:lnTo>
                    <a:pt x="256332" y="31635"/>
                  </a:lnTo>
                  <a:lnTo>
                    <a:pt x="252682" y="35167"/>
                  </a:lnTo>
                  <a:lnTo>
                    <a:pt x="289111" y="35167"/>
                  </a:lnTo>
                  <a:lnTo>
                    <a:pt x="309206" y="28398"/>
                  </a:lnTo>
                  <a:lnTo>
                    <a:pt x="286345" y="21041"/>
                  </a:lnTo>
                  <a:close/>
                </a:path>
              </a:pathLst>
            </a:custGeom>
            <a:solidFill>
              <a:srgbClr val="000000"/>
            </a:solidFill>
          </p:spPr>
          <p:txBody>
            <a:bodyPr wrap="square" lIns="0" tIns="0" rIns="0" bIns="0" rtlCol="0"/>
            <a:lstStyle/>
            <a:p/>
          </p:txBody>
        </p:sp>
        <p:sp>
          <p:nvSpPr>
            <p:cNvPr id="177" name="object 177" descr=""/>
            <p:cNvSpPr/>
            <p:nvPr/>
          </p:nvSpPr>
          <p:spPr>
            <a:xfrm>
              <a:off x="2292056" y="3006816"/>
              <a:ext cx="309245" cy="58419"/>
            </a:xfrm>
            <a:custGeom>
              <a:avLst/>
              <a:gdLst/>
              <a:ahLst/>
              <a:cxnLst/>
              <a:rect l="l" t="t" r="r" b="b"/>
              <a:pathLst>
                <a:path w="309244" h="58419">
                  <a:moveTo>
                    <a:pt x="58349" y="21041"/>
                  </a:moveTo>
                  <a:lnTo>
                    <a:pt x="249399" y="21041"/>
                  </a:lnTo>
                  <a:lnTo>
                    <a:pt x="252682" y="21041"/>
                  </a:lnTo>
                  <a:lnTo>
                    <a:pt x="254507" y="22954"/>
                  </a:lnTo>
                  <a:lnTo>
                    <a:pt x="256332" y="26485"/>
                  </a:lnTo>
                  <a:lnTo>
                    <a:pt x="256332" y="28398"/>
                  </a:lnTo>
                  <a:lnTo>
                    <a:pt x="256332" y="31635"/>
                  </a:lnTo>
                  <a:lnTo>
                    <a:pt x="254507" y="33401"/>
                  </a:lnTo>
                  <a:lnTo>
                    <a:pt x="252682" y="35167"/>
                  </a:lnTo>
                  <a:lnTo>
                    <a:pt x="249399" y="35167"/>
                  </a:lnTo>
                  <a:lnTo>
                    <a:pt x="58349" y="35167"/>
                  </a:lnTo>
                  <a:lnTo>
                    <a:pt x="55067" y="35167"/>
                  </a:lnTo>
                  <a:lnTo>
                    <a:pt x="53241" y="33401"/>
                  </a:lnTo>
                  <a:lnTo>
                    <a:pt x="51416" y="31635"/>
                  </a:lnTo>
                  <a:lnTo>
                    <a:pt x="51416" y="28398"/>
                  </a:lnTo>
                  <a:lnTo>
                    <a:pt x="51416" y="26485"/>
                  </a:lnTo>
                  <a:lnTo>
                    <a:pt x="53241" y="22954"/>
                  </a:lnTo>
                  <a:lnTo>
                    <a:pt x="55067" y="21041"/>
                  </a:lnTo>
                  <a:lnTo>
                    <a:pt x="58349" y="21041"/>
                  </a:lnTo>
                  <a:close/>
                </a:path>
                <a:path w="309244" h="58419">
                  <a:moveTo>
                    <a:pt x="58349" y="28398"/>
                  </a:moveTo>
                  <a:lnTo>
                    <a:pt x="88599" y="58121"/>
                  </a:lnTo>
                  <a:lnTo>
                    <a:pt x="0" y="28398"/>
                  </a:lnTo>
                  <a:lnTo>
                    <a:pt x="88599" y="0"/>
                  </a:lnTo>
                  <a:lnTo>
                    <a:pt x="58349" y="28398"/>
                  </a:lnTo>
                  <a:close/>
                </a:path>
                <a:path w="309244" h="58419">
                  <a:moveTo>
                    <a:pt x="249399" y="28398"/>
                  </a:moveTo>
                  <a:lnTo>
                    <a:pt x="220960" y="0"/>
                  </a:lnTo>
                  <a:lnTo>
                    <a:pt x="309206" y="28398"/>
                  </a:lnTo>
                  <a:lnTo>
                    <a:pt x="220960" y="58121"/>
                  </a:lnTo>
                  <a:lnTo>
                    <a:pt x="249399" y="28398"/>
                  </a:lnTo>
                  <a:close/>
                </a:path>
              </a:pathLst>
            </a:custGeom>
            <a:ln w="3175">
              <a:solidFill>
                <a:srgbClr val="000000"/>
              </a:solidFill>
            </a:ln>
          </p:spPr>
          <p:txBody>
            <a:bodyPr wrap="square" lIns="0" tIns="0" rIns="0" bIns="0" rtlCol="0"/>
            <a:lstStyle/>
            <a:p/>
          </p:txBody>
        </p:sp>
      </p:grpSp>
      <p:grpSp>
        <p:nvGrpSpPr>
          <p:cNvPr id="178" name="object 178" descr=""/>
          <p:cNvGrpSpPr/>
          <p:nvPr/>
        </p:nvGrpSpPr>
        <p:grpSpPr>
          <a:xfrm>
            <a:off x="1587806" y="3735669"/>
            <a:ext cx="195580" cy="60960"/>
            <a:chOff x="1587806" y="3735669"/>
            <a:chExt cx="195580" cy="60960"/>
          </a:xfrm>
        </p:grpSpPr>
        <p:sp>
          <p:nvSpPr>
            <p:cNvPr id="179" name="object 179" descr=""/>
            <p:cNvSpPr/>
            <p:nvPr/>
          </p:nvSpPr>
          <p:spPr>
            <a:xfrm>
              <a:off x="1589076" y="3736939"/>
              <a:ext cx="193040" cy="58419"/>
            </a:xfrm>
            <a:custGeom>
              <a:avLst/>
              <a:gdLst/>
              <a:ahLst/>
              <a:cxnLst/>
              <a:rect l="l" t="t" r="r" b="b"/>
              <a:pathLst>
                <a:path w="193039" h="58420">
                  <a:moveTo>
                    <a:pt x="104281" y="0"/>
                  </a:moveTo>
                  <a:lnTo>
                    <a:pt x="132361" y="30017"/>
                  </a:lnTo>
                  <a:lnTo>
                    <a:pt x="104281" y="58415"/>
                  </a:lnTo>
                  <a:lnTo>
                    <a:pt x="171033" y="36932"/>
                  </a:lnTo>
                  <a:lnTo>
                    <a:pt x="132361" y="36932"/>
                  </a:lnTo>
                  <a:lnTo>
                    <a:pt x="135997" y="35461"/>
                  </a:lnTo>
                  <a:lnTo>
                    <a:pt x="137822" y="35461"/>
                  </a:lnTo>
                  <a:lnTo>
                    <a:pt x="139279" y="31929"/>
                  </a:lnTo>
                  <a:lnTo>
                    <a:pt x="132361" y="21335"/>
                  </a:lnTo>
                  <a:lnTo>
                    <a:pt x="167001" y="21335"/>
                  </a:lnTo>
                  <a:lnTo>
                    <a:pt x="104281" y="0"/>
                  </a:lnTo>
                  <a:close/>
                </a:path>
                <a:path w="193039" h="58420">
                  <a:moveTo>
                    <a:pt x="124240" y="21335"/>
                  </a:moveTo>
                  <a:lnTo>
                    <a:pt x="6928" y="21335"/>
                  </a:lnTo>
                  <a:lnTo>
                    <a:pt x="3282" y="23248"/>
                  </a:lnTo>
                  <a:lnTo>
                    <a:pt x="1458" y="24572"/>
                  </a:lnTo>
                  <a:lnTo>
                    <a:pt x="0" y="26485"/>
                  </a:lnTo>
                  <a:lnTo>
                    <a:pt x="0" y="31929"/>
                  </a:lnTo>
                  <a:lnTo>
                    <a:pt x="1458" y="35461"/>
                  </a:lnTo>
                  <a:lnTo>
                    <a:pt x="3282" y="35461"/>
                  </a:lnTo>
                  <a:lnTo>
                    <a:pt x="6928" y="36932"/>
                  </a:lnTo>
                  <a:lnTo>
                    <a:pt x="125523" y="36932"/>
                  </a:lnTo>
                  <a:lnTo>
                    <a:pt x="132361" y="30017"/>
                  </a:lnTo>
                  <a:lnTo>
                    <a:pt x="124240" y="21335"/>
                  </a:lnTo>
                  <a:close/>
                </a:path>
                <a:path w="193039" h="58420">
                  <a:moveTo>
                    <a:pt x="167001" y="21335"/>
                  </a:moveTo>
                  <a:lnTo>
                    <a:pt x="132361" y="21335"/>
                  </a:lnTo>
                  <a:lnTo>
                    <a:pt x="135997" y="23248"/>
                  </a:lnTo>
                  <a:lnTo>
                    <a:pt x="137822" y="24572"/>
                  </a:lnTo>
                  <a:lnTo>
                    <a:pt x="139279" y="26485"/>
                  </a:lnTo>
                  <a:lnTo>
                    <a:pt x="141105" y="30017"/>
                  </a:lnTo>
                  <a:lnTo>
                    <a:pt x="139279" y="31929"/>
                  </a:lnTo>
                  <a:lnTo>
                    <a:pt x="137822" y="35461"/>
                  </a:lnTo>
                  <a:lnTo>
                    <a:pt x="135997" y="35461"/>
                  </a:lnTo>
                  <a:lnTo>
                    <a:pt x="132361" y="36932"/>
                  </a:lnTo>
                  <a:lnTo>
                    <a:pt x="171033" y="36932"/>
                  </a:lnTo>
                  <a:lnTo>
                    <a:pt x="192521" y="30017"/>
                  </a:lnTo>
                  <a:lnTo>
                    <a:pt x="167001" y="21335"/>
                  </a:lnTo>
                  <a:close/>
                </a:path>
              </a:pathLst>
            </a:custGeom>
            <a:solidFill>
              <a:srgbClr val="000000"/>
            </a:solidFill>
          </p:spPr>
          <p:txBody>
            <a:bodyPr wrap="square" lIns="0" tIns="0" rIns="0" bIns="0" rtlCol="0"/>
            <a:lstStyle/>
            <a:p/>
          </p:txBody>
        </p:sp>
        <p:sp>
          <p:nvSpPr>
            <p:cNvPr id="180" name="object 180" descr=""/>
            <p:cNvSpPr/>
            <p:nvPr/>
          </p:nvSpPr>
          <p:spPr>
            <a:xfrm>
              <a:off x="1589076" y="3736939"/>
              <a:ext cx="193040" cy="58419"/>
            </a:xfrm>
            <a:custGeom>
              <a:avLst/>
              <a:gdLst/>
              <a:ahLst/>
              <a:cxnLst/>
              <a:rect l="l" t="t" r="r" b="b"/>
              <a:pathLst>
                <a:path w="193039" h="58420">
                  <a:moveTo>
                    <a:pt x="6928" y="21335"/>
                  </a:moveTo>
                  <a:lnTo>
                    <a:pt x="132361" y="21335"/>
                  </a:lnTo>
                  <a:lnTo>
                    <a:pt x="135997" y="23248"/>
                  </a:lnTo>
                  <a:lnTo>
                    <a:pt x="137822" y="24572"/>
                  </a:lnTo>
                  <a:lnTo>
                    <a:pt x="139279" y="26485"/>
                  </a:lnTo>
                  <a:lnTo>
                    <a:pt x="141105" y="30017"/>
                  </a:lnTo>
                  <a:lnTo>
                    <a:pt x="139279" y="31929"/>
                  </a:lnTo>
                  <a:lnTo>
                    <a:pt x="137822" y="35461"/>
                  </a:lnTo>
                  <a:lnTo>
                    <a:pt x="135997" y="35461"/>
                  </a:lnTo>
                  <a:lnTo>
                    <a:pt x="132361" y="36932"/>
                  </a:lnTo>
                  <a:lnTo>
                    <a:pt x="6928" y="36932"/>
                  </a:lnTo>
                  <a:lnTo>
                    <a:pt x="3282" y="35461"/>
                  </a:lnTo>
                  <a:lnTo>
                    <a:pt x="1458" y="35461"/>
                  </a:lnTo>
                  <a:lnTo>
                    <a:pt x="0" y="31929"/>
                  </a:lnTo>
                  <a:lnTo>
                    <a:pt x="0" y="30017"/>
                  </a:lnTo>
                  <a:lnTo>
                    <a:pt x="0" y="26485"/>
                  </a:lnTo>
                  <a:lnTo>
                    <a:pt x="1458" y="24572"/>
                  </a:lnTo>
                  <a:lnTo>
                    <a:pt x="3282" y="23248"/>
                  </a:lnTo>
                  <a:lnTo>
                    <a:pt x="6928" y="21335"/>
                  </a:lnTo>
                  <a:close/>
                </a:path>
                <a:path w="193039" h="58420">
                  <a:moveTo>
                    <a:pt x="132361" y="30017"/>
                  </a:moveTo>
                  <a:lnTo>
                    <a:pt x="104281" y="0"/>
                  </a:lnTo>
                  <a:lnTo>
                    <a:pt x="192521" y="30017"/>
                  </a:lnTo>
                  <a:lnTo>
                    <a:pt x="104281" y="58415"/>
                  </a:lnTo>
                  <a:lnTo>
                    <a:pt x="132361" y="30017"/>
                  </a:lnTo>
                  <a:close/>
                </a:path>
              </a:pathLst>
            </a:custGeom>
            <a:ln w="3175">
              <a:solidFill>
                <a:srgbClr val="000000"/>
              </a:solidFill>
            </a:ln>
          </p:spPr>
          <p:txBody>
            <a:bodyPr wrap="square" lIns="0" tIns="0" rIns="0" bIns="0" rtlCol="0"/>
            <a:lstStyle/>
            <a:p/>
          </p:txBody>
        </p:sp>
      </p:grpSp>
      <p:sp>
        <p:nvSpPr>
          <p:cNvPr id="181" name="object 181" descr=""/>
          <p:cNvSpPr txBox="1"/>
          <p:nvPr/>
        </p:nvSpPr>
        <p:spPr>
          <a:xfrm>
            <a:off x="1795082" y="3626920"/>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CPU5</a:t>
            </a:r>
            <a:endParaRPr sz="1050">
              <a:latin typeface="宋体"/>
              <a:cs typeface="宋体"/>
            </a:endParaRPr>
          </a:p>
        </p:txBody>
      </p:sp>
      <p:grpSp>
        <p:nvGrpSpPr>
          <p:cNvPr id="182" name="object 182" descr=""/>
          <p:cNvGrpSpPr/>
          <p:nvPr/>
        </p:nvGrpSpPr>
        <p:grpSpPr>
          <a:xfrm>
            <a:off x="2291026" y="3735909"/>
            <a:ext cx="311785" cy="60960"/>
            <a:chOff x="2291026" y="3735909"/>
            <a:chExt cx="311785" cy="60960"/>
          </a:xfrm>
        </p:grpSpPr>
        <p:sp>
          <p:nvSpPr>
            <p:cNvPr id="183" name="object 183" descr=""/>
            <p:cNvSpPr/>
            <p:nvPr/>
          </p:nvSpPr>
          <p:spPr>
            <a:xfrm>
              <a:off x="2292056" y="3736939"/>
              <a:ext cx="309245" cy="58419"/>
            </a:xfrm>
            <a:custGeom>
              <a:avLst/>
              <a:gdLst/>
              <a:ahLst/>
              <a:cxnLst/>
              <a:rect l="l" t="t" r="r" b="b"/>
              <a:pathLst>
                <a:path w="309244" h="58420">
                  <a:moveTo>
                    <a:pt x="88599" y="0"/>
                  </a:moveTo>
                  <a:lnTo>
                    <a:pt x="0" y="30017"/>
                  </a:lnTo>
                  <a:lnTo>
                    <a:pt x="88599" y="58415"/>
                  </a:lnTo>
                  <a:lnTo>
                    <a:pt x="65716" y="36932"/>
                  </a:lnTo>
                  <a:lnTo>
                    <a:pt x="58349" y="36932"/>
                  </a:lnTo>
                  <a:lnTo>
                    <a:pt x="55067" y="35461"/>
                  </a:lnTo>
                  <a:lnTo>
                    <a:pt x="53241" y="35461"/>
                  </a:lnTo>
                  <a:lnTo>
                    <a:pt x="51416" y="31929"/>
                  </a:lnTo>
                  <a:lnTo>
                    <a:pt x="51416" y="26485"/>
                  </a:lnTo>
                  <a:lnTo>
                    <a:pt x="53241" y="24572"/>
                  </a:lnTo>
                  <a:lnTo>
                    <a:pt x="55067" y="23248"/>
                  </a:lnTo>
                  <a:lnTo>
                    <a:pt x="58349" y="21335"/>
                  </a:lnTo>
                  <a:lnTo>
                    <a:pt x="67098" y="21335"/>
                  </a:lnTo>
                  <a:lnTo>
                    <a:pt x="88599" y="0"/>
                  </a:lnTo>
                  <a:close/>
                </a:path>
                <a:path w="309244" h="58420">
                  <a:moveTo>
                    <a:pt x="220960" y="0"/>
                  </a:moveTo>
                  <a:lnTo>
                    <a:pt x="249399" y="30017"/>
                  </a:lnTo>
                  <a:lnTo>
                    <a:pt x="220960" y="58415"/>
                  </a:lnTo>
                  <a:lnTo>
                    <a:pt x="287716" y="36932"/>
                  </a:lnTo>
                  <a:lnTo>
                    <a:pt x="249399" y="36932"/>
                  </a:lnTo>
                  <a:lnTo>
                    <a:pt x="252682" y="35461"/>
                  </a:lnTo>
                  <a:lnTo>
                    <a:pt x="254507" y="35461"/>
                  </a:lnTo>
                  <a:lnTo>
                    <a:pt x="256332" y="31929"/>
                  </a:lnTo>
                  <a:lnTo>
                    <a:pt x="256332" y="26485"/>
                  </a:lnTo>
                  <a:lnTo>
                    <a:pt x="254507" y="24572"/>
                  </a:lnTo>
                  <a:lnTo>
                    <a:pt x="252682" y="23248"/>
                  </a:lnTo>
                  <a:lnTo>
                    <a:pt x="249399" y="21335"/>
                  </a:lnTo>
                  <a:lnTo>
                    <a:pt x="283684" y="21335"/>
                  </a:lnTo>
                  <a:lnTo>
                    <a:pt x="220960" y="0"/>
                  </a:lnTo>
                  <a:close/>
                </a:path>
                <a:path w="309244" h="58420">
                  <a:moveTo>
                    <a:pt x="67098" y="21335"/>
                  </a:moveTo>
                  <a:lnTo>
                    <a:pt x="58349" y="21335"/>
                  </a:lnTo>
                  <a:lnTo>
                    <a:pt x="55067" y="23248"/>
                  </a:lnTo>
                  <a:lnTo>
                    <a:pt x="53241" y="24572"/>
                  </a:lnTo>
                  <a:lnTo>
                    <a:pt x="51416" y="26485"/>
                  </a:lnTo>
                  <a:lnTo>
                    <a:pt x="51416" y="31929"/>
                  </a:lnTo>
                  <a:lnTo>
                    <a:pt x="53241" y="35461"/>
                  </a:lnTo>
                  <a:lnTo>
                    <a:pt x="55067" y="35461"/>
                  </a:lnTo>
                  <a:lnTo>
                    <a:pt x="58349" y="36932"/>
                  </a:lnTo>
                  <a:lnTo>
                    <a:pt x="65716" y="36932"/>
                  </a:lnTo>
                  <a:lnTo>
                    <a:pt x="58349" y="30017"/>
                  </a:lnTo>
                  <a:lnTo>
                    <a:pt x="67098" y="21335"/>
                  </a:lnTo>
                  <a:close/>
                </a:path>
                <a:path w="309244" h="58420">
                  <a:moveTo>
                    <a:pt x="241174" y="21335"/>
                  </a:moveTo>
                  <a:lnTo>
                    <a:pt x="67098" y="21335"/>
                  </a:lnTo>
                  <a:lnTo>
                    <a:pt x="58349" y="30017"/>
                  </a:lnTo>
                  <a:lnTo>
                    <a:pt x="65716" y="36932"/>
                  </a:lnTo>
                  <a:lnTo>
                    <a:pt x="242474" y="36932"/>
                  </a:lnTo>
                  <a:lnTo>
                    <a:pt x="249399" y="30017"/>
                  </a:lnTo>
                  <a:lnTo>
                    <a:pt x="241174" y="21335"/>
                  </a:lnTo>
                  <a:close/>
                </a:path>
                <a:path w="309244" h="58420">
                  <a:moveTo>
                    <a:pt x="283684" y="21335"/>
                  </a:moveTo>
                  <a:lnTo>
                    <a:pt x="249399" y="21335"/>
                  </a:lnTo>
                  <a:lnTo>
                    <a:pt x="252682" y="23248"/>
                  </a:lnTo>
                  <a:lnTo>
                    <a:pt x="254507" y="24572"/>
                  </a:lnTo>
                  <a:lnTo>
                    <a:pt x="256332" y="26485"/>
                  </a:lnTo>
                  <a:lnTo>
                    <a:pt x="256332" y="31929"/>
                  </a:lnTo>
                  <a:lnTo>
                    <a:pt x="254507" y="35461"/>
                  </a:lnTo>
                  <a:lnTo>
                    <a:pt x="252682" y="35461"/>
                  </a:lnTo>
                  <a:lnTo>
                    <a:pt x="249399" y="36932"/>
                  </a:lnTo>
                  <a:lnTo>
                    <a:pt x="287716" y="36932"/>
                  </a:lnTo>
                  <a:lnTo>
                    <a:pt x="309206" y="30017"/>
                  </a:lnTo>
                  <a:lnTo>
                    <a:pt x="283684" y="21335"/>
                  </a:lnTo>
                  <a:close/>
                </a:path>
              </a:pathLst>
            </a:custGeom>
            <a:solidFill>
              <a:srgbClr val="000000"/>
            </a:solidFill>
          </p:spPr>
          <p:txBody>
            <a:bodyPr wrap="square" lIns="0" tIns="0" rIns="0" bIns="0" rtlCol="0"/>
            <a:lstStyle/>
            <a:p/>
          </p:txBody>
        </p:sp>
        <p:sp>
          <p:nvSpPr>
            <p:cNvPr id="184" name="object 184" descr=""/>
            <p:cNvSpPr/>
            <p:nvPr/>
          </p:nvSpPr>
          <p:spPr>
            <a:xfrm>
              <a:off x="2292056" y="3736939"/>
              <a:ext cx="309245" cy="58419"/>
            </a:xfrm>
            <a:custGeom>
              <a:avLst/>
              <a:gdLst/>
              <a:ahLst/>
              <a:cxnLst/>
              <a:rect l="l" t="t" r="r" b="b"/>
              <a:pathLst>
                <a:path w="309244" h="58420">
                  <a:moveTo>
                    <a:pt x="58349" y="21335"/>
                  </a:moveTo>
                  <a:lnTo>
                    <a:pt x="249399" y="21335"/>
                  </a:lnTo>
                  <a:lnTo>
                    <a:pt x="252682" y="23248"/>
                  </a:lnTo>
                  <a:lnTo>
                    <a:pt x="254507" y="24572"/>
                  </a:lnTo>
                  <a:lnTo>
                    <a:pt x="256332" y="26485"/>
                  </a:lnTo>
                  <a:lnTo>
                    <a:pt x="256332" y="30017"/>
                  </a:lnTo>
                  <a:lnTo>
                    <a:pt x="256332" y="31929"/>
                  </a:lnTo>
                  <a:lnTo>
                    <a:pt x="254507" y="35461"/>
                  </a:lnTo>
                  <a:lnTo>
                    <a:pt x="252682" y="35461"/>
                  </a:lnTo>
                  <a:lnTo>
                    <a:pt x="249399" y="36932"/>
                  </a:lnTo>
                  <a:lnTo>
                    <a:pt x="58349" y="36932"/>
                  </a:lnTo>
                  <a:lnTo>
                    <a:pt x="55067" y="35461"/>
                  </a:lnTo>
                  <a:lnTo>
                    <a:pt x="53241" y="35461"/>
                  </a:lnTo>
                  <a:lnTo>
                    <a:pt x="51416" y="31929"/>
                  </a:lnTo>
                  <a:lnTo>
                    <a:pt x="51416" y="30017"/>
                  </a:lnTo>
                  <a:lnTo>
                    <a:pt x="51416" y="26485"/>
                  </a:lnTo>
                  <a:lnTo>
                    <a:pt x="53241" y="24572"/>
                  </a:lnTo>
                  <a:lnTo>
                    <a:pt x="55067" y="23248"/>
                  </a:lnTo>
                  <a:lnTo>
                    <a:pt x="58349" y="21335"/>
                  </a:lnTo>
                  <a:close/>
                </a:path>
                <a:path w="309244" h="58420">
                  <a:moveTo>
                    <a:pt x="58349" y="30017"/>
                  </a:moveTo>
                  <a:lnTo>
                    <a:pt x="88599" y="58415"/>
                  </a:lnTo>
                  <a:lnTo>
                    <a:pt x="0" y="30017"/>
                  </a:lnTo>
                  <a:lnTo>
                    <a:pt x="88599" y="0"/>
                  </a:lnTo>
                  <a:lnTo>
                    <a:pt x="58349" y="30017"/>
                  </a:lnTo>
                  <a:close/>
                </a:path>
                <a:path w="309244" h="58420">
                  <a:moveTo>
                    <a:pt x="249399" y="30017"/>
                  </a:moveTo>
                  <a:lnTo>
                    <a:pt x="220960" y="0"/>
                  </a:lnTo>
                  <a:lnTo>
                    <a:pt x="309206" y="30017"/>
                  </a:lnTo>
                  <a:lnTo>
                    <a:pt x="220960" y="58415"/>
                  </a:lnTo>
                  <a:lnTo>
                    <a:pt x="249399" y="30017"/>
                  </a:lnTo>
                  <a:close/>
                </a:path>
              </a:pathLst>
            </a:custGeom>
            <a:ln w="3175">
              <a:solidFill>
                <a:srgbClr val="000000"/>
              </a:solidFill>
            </a:ln>
          </p:spPr>
          <p:txBody>
            <a:bodyPr wrap="square" lIns="0" tIns="0" rIns="0" bIns="0" rtlCol="0"/>
            <a:lstStyle/>
            <a:p/>
          </p:txBody>
        </p:sp>
      </p:grpSp>
      <p:grpSp>
        <p:nvGrpSpPr>
          <p:cNvPr id="185" name="object 185" descr=""/>
          <p:cNvGrpSpPr/>
          <p:nvPr/>
        </p:nvGrpSpPr>
        <p:grpSpPr>
          <a:xfrm>
            <a:off x="1587807" y="4466086"/>
            <a:ext cx="195580" cy="62865"/>
            <a:chOff x="1587807" y="4466086"/>
            <a:chExt cx="195580" cy="62865"/>
          </a:xfrm>
        </p:grpSpPr>
        <p:sp>
          <p:nvSpPr>
            <p:cNvPr id="186" name="object 186" descr=""/>
            <p:cNvSpPr/>
            <p:nvPr/>
          </p:nvSpPr>
          <p:spPr>
            <a:xfrm>
              <a:off x="1589077" y="4467356"/>
              <a:ext cx="193040" cy="60325"/>
            </a:xfrm>
            <a:custGeom>
              <a:avLst/>
              <a:gdLst/>
              <a:ahLst/>
              <a:cxnLst/>
              <a:rect l="l" t="t" r="r" b="b"/>
              <a:pathLst>
                <a:path w="193039" h="60325">
                  <a:moveTo>
                    <a:pt x="104281" y="0"/>
                  </a:moveTo>
                  <a:lnTo>
                    <a:pt x="134186" y="29722"/>
                  </a:lnTo>
                  <a:lnTo>
                    <a:pt x="104281" y="59887"/>
                  </a:lnTo>
                  <a:lnTo>
                    <a:pt x="171430" y="36932"/>
                  </a:lnTo>
                  <a:lnTo>
                    <a:pt x="135997" y="36932"/>
                  </a:lnTo>
                  <a:lnTo>
                    <a:pt x="137822" y="35167"/>
                  </a:lnTo>
                  <a:lnTo>
                    <a:pt x="139279" y="33401"/>
                  </a:lnTo>
                  <a:lnTo>
                    <a:pt x="141105" y="29722"/>
                  </a:lnTo>
                  <a:lnTo>
                    <a:pt x="139279" y="26485"/>
                  </a:lnTo>
                  <a:lnTo>
                    <a:pt x="137822" y="24572"/>
                  </a:lnTo>
                  <a:lnTo>
                    <a:pt x="135997" y="22807"/>
                  </a:lnTo>
                  <a:lnTo>
                    <a:pt x="171990" y="22807"/>
                  </a:lnTo>
                  <a:lnTo>
                    <a:pt x="104281" y="0"/>
                  </a:lnTo>
                  <a:close/>
                </a:path>
                <a:path w="193039" h="60325">
                  <a:moveTo>
                    <a:pt x="127228" y="22807"/>
                  </a:moveTo>
                  <a:lnTo>
                    <a:pt x="3282" y="22807"/>
                  </a:lnTo>
                  <a:lnTo>
                    <a:pt x="1458" y="24572"/>
                  </a:lnTo>
                  <a:lnTo>
                    <a:pt x="0" y="26485"/>
                  </a:lnTo>
                  <a:lnTo>
                    <a:pt x="0" y="33401"/>
                  </a:lnTo>
                  <a:lnTo>
                    <a:pt x="1458" y="35167"/>
                  </a:lnTo>
                  <a:lnTo>
                    <a:pt x="3282" y="36932"/>
                  </a:lnTo>
                  <a:lnTo>
                    <a:pt x="127038" y="36932"/>
                  </a:lnTo>
                  <a:lnTo>
                    <a:pt x="134186" y="29722"/>
                  </a:lnTo>
                  <a:lnTo>
                    <a:pt x="127228" y="22807"/>
                  </a:lnTo>
                  <a:close/>
                </a:path>
                <a:path w="193039" h="60325">
                  <a:moveTo>
                    <a:pt x="171990" y="22807"/>
                  </a:moveTo>
                  <a:lnTo>
                    <a:pt x="135997" y="22807"/>
                  </a:lnTo>
                  <a:lnTo>
                    <a:pt x="137822" y="24572"/>
                  </a:lnTo>
                  <a:lnTo>
                    <a:pt x="139279" y="26485"/>
                  </a:lnTo>
                  <a:lnTo>
                    <a:pt x="141105" y="29722"/>
                  </a:lnTo>
                  <a:lnTo>
                    <a:pt x="139279" y="33401"/>
                  </a:lnTo>
                  <a:lnTo>
                    <a:pt x="137822" y="35167"/>
                  </a:lnTo>
                  <a:lnTo>
                    <a:pt x="135997" y="36932"/>
                  </a:lnTo>
                  <a:lnTo>
                    <a:pt x="171430" y="36932"/>
                  </a:lnTo>
                  <a:lnTo>
                    <a:pt x="192521" y="29722"/>
                  </a:lnTo>
                  <a:lnTo>
                    <a:pt x="171990" y="22807"/>
                  </a:lnTo>
                  <a:close/>
                </a:path>
              </a:pathLst>
            </a:custGeom>
            <a:solidFill>
              <a:srgbClr val="000000"/>
            </a:solidFill>
          </p:spPr>
          <p:txBody>
            <a:bodyPr wrap="square" lIns="0" tIns="0" rIns="0" bIns="0" rtlCol="0"/>
            <a:lstStyle/>
            <a:p/>
          </p:txBody>
        </p:sp>
        <p:sp>
          <p:nvSpPr>
            <p:cNvPr id="187" name="object 187" descr=""/>
            <p:cNvSpPr/>
            <p:nvPr/>
          </p:nvSpPr>
          <p:spPr>
            <a:xfrm>
              <a:off x="1589077" y="4467356"/>
              <a:ext cx="193040" cy="60325"/>
            </a:xfrm>
            <a:custGeom>
              <a:avLst/>
              <a:gdLst/>
              <a:ahLst/>
              <a:cxnLst/>
              <a:rect l="l" t="t" r="r" b="b"/>
              <a:pathLst>
                <a:path w="193039" h="60325">
                  <a:moveTo>
                    <a:pt x="6928" y="22807"/>
                  </a:moveTo>
                  <a:lnTo>
                    <a:pt x="134186" y="22807"/>
                  </a:lnTo>
                  <a:lnTo>
                    <a:pt x="135997" y="22807"/>
                  </a:lnTo>
                  <a:lnTo>
                    <a:pt x="137822" y="24572"/>
                  </a:lnTo>
                  <a:lnTo>
                    <a:pt x="139279" y="26485"/>
                  </a:lnTo>
                  <a:lnTo>
                    <a:pt x="141105" y="29722"/>
                  </a:lnTo>
                  <a:lnTo>
                    <a:pt x="139279" y="33401"/>
                  </a:lnTo>
                  <a:lnTo>
                    <a:pt x="137822" y="35167"/>
                  </a:lnTo>
                  <a:lnTo>
                    <a:pt x="135997" y="36932"/>
                  </a:lnTo>
                  <a:lnTo>
                    <a:pt x="134186" y="36932"/>
                  </a:lnTo>
                  <a:lnTo>
                    <a:pt x="6928" y="36932"/>
                  </a:lnTo>
                  <a:lnTo>
                    <a:pt x="3282" y="36932"/>
                  </a:lnTo>
                  <a:lnTo>
                    <a:pt x="1458" y="35167"/>
                  </a:lnTo>
                  <a:lnTo>
                    <a:pt x="0" y="33401"/>
                  </a:lnTo>
                  <a:lnTo>
                    <a:pt x="0" y="29722"/>
                  </a:lnTo>
                  <a:lnTo>
                    <a:pt x="0" y="26485"/>
                  </a:lnTo>
                  <a:lnTo>
                    <a:pt x="1458" y="24572"/>
                  </a:lnTo>
                  <a:lnTo>
                    <a:pt x="3282" y="22807"/>
                  </a:lnTo>
                  <a:lnTo>
                    <a:pt x="6928" y="22807"/>
                  </a:lnTo>
                  <a:close/>
                </a:path>
                <a:path w="193039" h="60325">
                  <a:moveTo>
                    <a:pt x="134186" y="29722"/>
                  </a:moveTo>
                  <a:lnTo>
                    <a:pt x="104281" y="0"/>
                  </a:lnTo>
                  <a:lnTo>
                    <a:pt x="192521" y="29722"/>
                  </a:lnTo>
                  <a:lnTo>
                    <a:pt x="104281" y="59887"/>
                  </a:lnTo>
                  <a:lnTo>
                    <a:pt x="134186" y="29722"/>
                  </a:lnTo>
                  <a:close/>
                </a:path>
              </a:pathLst>
            </a:custGeom>
            <a:ln w="3175">
              <a:solidFill>
                <a:srgbClr val="000000"/>
              </a:solidFill>
            </a:ln>
          </p:spPr>
          <p:txBody>
            <a:bodyPr wrap="square" lIns="0" tIns="0" rIns="0" bIns="0" rtlCol="0"/>
            <a:lstStyle/>
            <a:p/>
          </p:txBody>
        </p:sp>
      </p:grpSp>
      <p:sp>
        <p:nvSpPr>
          <p:cNvPr id="188" name="object 188" descr=""/>
          <p:cNvSpPr txBox="1"/>
          <p:nvPr/>
        </p:nvSpPr>
        <p:spPr>
          <a:xfrm>
            <a:off x="1795082" y="4357249"/>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CPU6</a:t>
            </a:r>
            <a:endParaRPr sz="1050">
              <a:latin typeface="宋体"/>
              <a:cs typeface="宋体"/>
            </a:endParaRPr>
          </a:p>
        </p:txBody>
      </p:sp>
      <p:grpSp>
        <p:nvGrpSpPr>
          <p:cNvPr id="189" name="object 189" descr=""/>
          <p:cNvGrpSpPr/>
          <p:nvPr/>
        </p:nvGrpSpPr>
        <p:grpSpPr>
          <a:xfrm>
            <a:off x="2291026" y="4466326"/>
            <a:ext cx="311785" cy="62230"/>
            <a:chOff x="2291026" y="4466326"/>
            <a:chExt cx="311785" cy="62230"/>
          </a:xfrm>
        </p:grpSpPr>
        <p:sp>
          <p:nvSpPr>
            <p:cNvPr id="190" name="object 190" descr=""/>
            <p:cNvSpPr/>
            <p:nvPr/>
          </p:nvSpPr>
          <p:spPr>
            <a:xfrm>
              <a:off x="2292056" y="4467356"/>
              <a:ext cx="309245" cy="60325"/>
            </a:xfrm>
            <a:custGeom>
              <a:avLst/>
              <a:gdLst/>
              <a:ahLst/>
              <a:cxnLst/>
              <a:rect l="l" t="t" r="r" b="b"/>
              <a:pathLst>
                <a:path w="309244" h="60325">
                  <a:moveTo>
                    <a:pt x="88599" y="0"/>
                  </a:moveTo>
                  <a:lnTo>
                    <a:pt x="0" y="29722"/>
                  </a:lnTo>
                  <a:lnTo>
                    <a:pt x="88599" y="59887"/>
                  </a:lnTo>
                  <a:lnTo>
                    <a:pt x="65580" y="36932"/>
                  </a:lnTo>
                  <a:lnTo>
                    <a:pt x="55067" y="36932"/>
                  </a:lnTo>
                  <a:lnTo>
                    <a:pt x="51416" y="33401"/>
                  </a:lnTo>
                  <a:lnTo>
                    <a:pt x="51416" y="26485"/>
                  </a:lnTo>
                  <a:lnTo>
                    <a:pt x="53241" y="24572"/>
                  </a:lnTo>
                  <a:lnTo>
                    <a:pt x="55067" y="22807"/>
                  </a:lnTo>
                  <a:lnTo>
                    <a:pt x="65388" y="22807"/>
                  </a:lnTo>
                  <a:lnTo>
                    <a:pt x="88599" y="0"/>
                  </a:lnTo>
                  <a:close/>
                </a:path>
                <a:path w="309244" h="60325">
                  <a:moveTo>
                    <a:pt x="220960" y="0"/>
                  </a:moveTo>
                  <a:lnTo>
                    <a:pt x="249399" y="29722"/>
                  </a:lnTo>
                  <a:lnTo>
                    <a:pt x="220960" y="59887"/>
                  </a:lnTo>
                  <a:lnTo>
                    <a:pt x="288113" y="36932"/>
                  </a:lnTo>
                  <a:lnTo>
                    <a:pt x="252682" y="36932"/>
                  </a:lnTo>
                  <a:lnTo>
                    <a:pt x="256332" y="33401"/>
                  </a:lnTo>
                  <a:lnTo>
                    <a:pt x="256332" y="26485"/>
                  </a:lnTo>
                  <a:lnTo>
                    <a:pt x="254507" y="24572"/>
                  </a:lnTo>
                  <a:lnTo>
                    <a:pt x="252682" y="22807"/>
                  </a:lnTo>
                  <a:lnTo>
                    <a:pt x="288674" y="22807"/>
                  </a:lnTo>
                  <a:lnTo>
                    <a:pt x="220960" y="0"/>
                  </a:lnTo>
                  <a:close/>
                </a:path>
                <a:path w="309244" h="60325">
                  <a:moveTo>
                    <a:pt x="65388" y="22807"/>
                  </a:moveTo>
                  <a:lnTo>
                    <a:pt x="55067" y="22807"/>
                  </a:lnTo>
                  <a:lnTo>
                    <a:pt x="53241" y="24572"/>
                  </a:lnTo>
                  <a:lnTo>
                    <a:pt x="51416" y="26485"/>
                  </a:lnTo>
                  <a:lnTo>
                    <a:pt x="51416" y="33401"/>
                  </a:lnTo>
                  <a:lnTo>
                    <a:pt x="55067" y="36932"/>
                  </a:lnTo>
                  <a:lnTo>
                    <a:pt x="65580" y="36932"/>
                  </a:lnTo>
                  <a:lnTo>
                    <a:pt x="58349" y="29722"/>
                  </a:lnTo>
                  <a:lnTo>
                    <a:pt x="65388" y="22807"/>
                  </a:lnTo>
                  <a:close/>
                </a:path>
                <a:path w="309244" h="60325">
                  <a:moveTo>
                    <a:pt x="242782" y="22807"/>
                  </a:moveTo>
                  <a:lnTo>
                    <a:pt x="65388" y="22807"/>
                  </a:lnTo>
                  <a:lnTo>
                    <a:pt x="58349" y="29722"/>
                  </a:lnTo>
                  <a:lnTo>
                    <a:pt x="65580" y="36932"/>
                  </a:lnTo>
                  <a:lnTo>
                    <a:pt x="242602" y="36932"/>
                  </a:lnTo>
                  <a:lnTo>
                    <a:pt x="249399" y="29722"/>
                  </a:lnTo>
                  <a:lnTo>
                    <a:pt x="242782" y="22807"/>
                  </a:lnTo>
                  <a:close/>
                </a:path>
                <a:path w="309244" h="60325">
                  <a:moveTo>
                    <a:pt x="288674" y="22807"/>
                  </a:moveTo>
                  <a:lnTo>
                    <a:pt x="252682" y="22807"/>
                  </a:lnTo>
                  <a:lnTo>
                    <a:pt x="254507" y="24572"/>
                  </a:lnTo>
                  <a:lnTo>
                    <a:pt x="256332" y="26485"/>
                  </a:lnTo>
                  <a:lnTo>
                    <a:pt x="256332" y="33401"/>
                  </a:lnTo>
                  <a:lnTo>
                    <a:pt x="252682" y="36932"/>
                  </a:lnTo>
                  <a:lnTo>
                    <a:pt x="288113" y="36932"/>
                  </a:lnTo>
                  <a:lnTo>
                    <a:pt x="309206" y="29722"/>
                  </a:lnTo>
                  <a:lnTo>
                    <a:pt x="288674" y="22807"/>
                  </a:lnTo>
                  <a:close/>
                </a:path>
              </a:pathLst>
            </a:custGeom>
            <a:solidFill>
              <a:srgbClr val="000000"/>
            </a:solidFill>
          </p:spPr>
          <p:txBody>
            <a:bodyPr wrap="square" lIns="0" tIns="0" rIns="0" bIns="0" rtlCol="0"/>
            <a:lstStyle/>
            <a:p/>
          </p:txBody>
        </p:sp>
        <p:sp>
          <p:nvSpPr>
            <p:cNvPr id="191" name="object 191" descr=""/>
            <p:cNvSpPr/>
            <p:nvPr/>
          </p:nvSpPr>
          <p:spPr>
            <a:xfrm>
              <a:off x="2292056" y="4467356"/>
              <a:ext cx="309245" cy="60325"/>
            </a:xfrm>
            <a:custGeom>
              <a:avLst/>
              <a:gdLst/>
              <a:ahLst/>
              <a:cxnLst/>
              <a:rect l="l" t="t" r="r" b="b"/>
              <a:pathLst>
                <a:path w="309244" h="60325">
                  <a:moveTo>
                    <a:pt x="58349" y="22807"/>
                  </a:moveTo>
                  <a:lnTo>
                    <a:pt x="249399" y="22807"/>
                  </a:lnTo>
                  <a:lnTo>
                    <a:pt x="252682" y="22807"/>
                  </a:lnTo>
                  <a:lnTo>
                    <a:pt x="254507" y="24572"/>
                  </a:lnTo>
                  <a:lnTo>
                    <a:pt x="256332" y="26485"/>
                  </a:lnTo>
                  <a:lnTo>
                    <a:pt x="256332" y="29722"/>
                  </a:lnTo>
                  <a:lnTo>
                    <a:pt x="256332" y="33401"/>
                  </a:lnTo>
                  <a:lnTo>
                    <a:pt x="254507" y="35167"/>
                  </a:lnTo>
                  <a:lnTo>
                    <a:pt x="252682" y="36932"/>
                  </a:lnTo>
                  <a:lnTo>
                    <a:pt x="249399" y="36932"/>
                  </a:lnTo>
                  <a:lnTo>
                    <a:pt x="58349" y="36932"/>
                  </a:lnTo>
                  <a:lnTo>
                    <a:pt x="55067" y="36932"/>
                  </a:lnTo>
                  <a:lnTo>
                    <a:pt x="53241" y="35167"/>
                  </a:lnTo>
                  <a:lnTo>
                    <a:pt x="51416" y="33401"/>
                  </a:lnTo>
                  <a:lnTo>
                    <a:pt x="51416" y="29722"/>
                  </a:lnTo>
                  <a:lnTo>
                    <a:pt x="51416" y="26485"/>
                  </a:lnTo>
                  <a:lnTo>
                    <a:pt x="53241" y="24572"/>
                  </a:lnTo>
                  <a:lnTo>
                    <a:pt x="55067" y="22807"/>
                  </a:lnTo>
                  <a:lnTo>
                    <a:pt x="58349" y="22807"/>
                  </a:lnTo>
                  <a:close/>
                </a:path>
                <a:path w="309244" h="60325">
                  <a:moveTo>
                    <a:pt x="58349" y="29722"/>
                  </a:moveTo>
                  <a:lnTo>
                    <a:pt x="88599" y="59887"/>
                  </a:lnTo>
                  <a:lnTo>
                    <a:pt x="0" y="29722"/>
                  </a:lnTo>
                  <a:lnTo>
                    <a:pt x="88599" y="0"/>
                  </a:lnTo>
                  <a:lnTo>
                    <a:pt x="58349" y="29722"/>
                  </a:lnTo>
                  <a:close/>
                </a:path>
                <a:path w="309244" h="60325">
                  <a:moveTo>
                    <a:pt x="249399" y="29722"/>
                  </a:moveTo>
                  <a:lnTo>
                    <a:pt x="220960" y="0"/>
                  </a:lnTo>
                  <a:lnTo>
                    <a:pt x="309206" y="29722"/>
                  </a:lnTo>
                  <a:lnTo>
                    <a:pt x="220960" y="59887"/>
                  </a:lnTo>
                  <a:lnTo>
                    <a:pt x="249399" y="29722"/>
                  </a:lnTo>
                  <a:close/>
                </a:path>
              </a:pathLst>
            </a:custGeom>
            <a:ln w="3175">
              <a:solidFill>
                <a:srgbClr val="000000"/>
              </a:solidFill>
            </a:ln>
          </p:spPr>
          <p:txBody>
            <a:bodyPr wrap="square" lIns="0" tIns="0" rIns="0" bIns="0" rtlCol="0"/>
            <a:lstStyle/>
            <a:p/>
          </p:txBody>
        </p:sp>
      </p:grpSp>
      <p:grpSp>
        <p:nvGrpSpPr>
          <p:cNvPr id="192" name="object 192" descr=""/>
          <p:cNvGrpSpPr/>
          <p:nvPr/>
        </p:nvGrpSpPr>
        <p:grpSpPr>
          <a:xfrm>
            <a:off x="1587807" y="5106010"/>
            <a:ext cx="195580" cy="60960"/>
            <a:chOff x="1587807" y="5106010"/>
            <a:chExt cx="195580" cy="60960"/>
          </a:xfrm>
        </p:grpSpPr>
        <p:sp>
          <p:nvSpPr>
            <p:cNvPr id="193" name="object 193" descr=""/>
            <p:cNvSpPr/>
            <p:nvPr/>
          </p:nvSpPr>
          <p:spPr>
            <a:xfrm>
              <a:off x="1589077" y="5107279"/>
              <a:ext cx="193040" cy="58419"/>
            </a:xfrm>
            <a:custGeom>
              <a:avLst/>
              <a:gdLst/>
              <a:ahLst/>
              <a:cxnLst/>
              <a:rect l="l" t="t" r="r" b="b"/>
              <a:pathLst>
                <a:path w="193039" h="58420">
                  <a:moveTo>
                    <a:pt x="104281" y="0"/>
                  </a:moveTo>
                  <a:lnTo>
                    <a:pt x="134186" y="30178"/>
                  </a:lnTo>
                  <a:lnTo>
                    <a:pt x="104281" y="58136"/>
                  </a:lnTo>
                  <a:lnTo>
                    <a:pt x="170740" y="37079"/>
                  </a:lnTo>
                  <a:lnTo>
                    <a:pt x="134186" y="37079"/>
                  </a:lnTo>
                  <a:lnTo>
                    <a:pt x="135997" y="35255"/>
                  </a:lnTo>
                  <a:lnTo>
                    <a:pt x="137822" y="35255"/>
                  </a:lnTo>
                  <a:lnTo>
                    <a:pt x="139279" y="31635"/>
                  </a:lnTo>
                  <a:lnTo>
                    <a:pt x="141105" y="30178"/>
                  </a:lnTo>
                  <a:lnTo>
                    <a:pt x="139279" y="26544"/>
                  </a:lnTo>
                  <a:lnTo>
                    <a:pt x="137822" y="24734"/>
                  </a:lnTo>
                  <a:lnTo>
                    <a:pt x="134186" y="21100"/>
                  </a:lnTo>
                  <a:lnTo>
                    <a:pt x="165976" y="21100"/>
                  </a:lnTo>
                  <a:lnTo>
                    <a:pt x="104281" y="0"/>
                  </a:lnTo>
                  <a:close/>
                </a:path>
                <a:path w="193039" h="58420">
                  <a:moveTo>
                    <a:pt x="125190" y="21100"/>
                  </a:moveTo>
                  <a:lnTo>
                    <a:pt x="6928" y="21100"/>
                  </a:lnTo>
                  <a:lnTo>
                    <a:pt x="3282" y="22924"/>
                  </a:lnTo>
                  <a:lnTo>
                    <a:pt x="1458" y="24734"/>
                  </a:lnTo>
                  <a:lnTo>
                    <a:pt x="0" y="26544"/>
                  </a:lnTo>
                  <a:lnTo>
                    <a:pt x="0" y="31635"/>
                  </a:lnTo>
                  <a:lnTo>
                    <a:pt x="1458" y="35255"/>
                  </a:lnTo>
                  <a:lnTo>
                    <a:pt x="3282" y="35255"/>
                  </a:lnTo>
                  <a:lnTo>
                    <a:pt x="6928" y="37079"/>
                  </a:lnTo>
                  <a:lnTo>
                    <a:pt x="126805" y="37079"/>
                  </a:lnTo>
                  <a:lnTo>
                    <a:pt x="134186" y="30178"/>
                  </a:lnTo>
                  <a:lnTo>
                    <a:pt x="125190" y="21100"/>
                  </a:lnTo>
                  <a:close/>
                </a:path>
                <a:path w="193039" h="58420">
                  <a:moveTo>
                    <a:pt x="165976" y="21100"/>
                  </a:moveTo>
                  <a:lnTo>
                    <a:pt x="134186" y="21100"/>
                  </a:lnTo>
                  <a:lnTo>
                    <a:pt x="137822" y="24734"/>
                  </a:lnTo>
                  <a:lnTo>
                    <a:pt x="139279" y="26544"/>
                  </a:lnTo>
                  <a:lnTo>
                    <a:pt x="141105" y="30178"/>
                  </a:lnTo>
                  <a:lnTo>
                    <a:pt x="139279" y="31635"/>
                  </a:lnTo>
                  <a:lnTo>
                    <a:pt x="137822" y="35255"/>
                  </a:lnTo>
                  <a:lnTo>
                    <a:pt x="135997" y="35255"/>
                  </a:lnTo>
                  <a:lnTo>
                    <a:pt x="134186" y="37079"/>
                  </a:lnTo>
                  <a:lnTo>
                    <a:pt x="170740" y="37079"/>
                  </a:lnTo>
                  <a:lnTo>
                    <a:pt x="192521" y="30178"/>
                  </a:lnTo>
                  <a:lnTo>
                    <a:pt x="165976" y="21100"/>
                  </a:lnTo>
                  <a:close/>
                </a:path>
              </a:pathLst>
            </a:custGeom>
            <a:solidFill>
              <a:srgbClr val="000000"/>
            </a:solidFill>
          </p:spPr>
          <p:txBody>
            <a:bodyPr wrap="square" lIns="0" tIns="0" rIns="0" bIns="0" rtlCol="0"/>
            <a:lstStyle/>
            <a:p/>
          </p:txBody>
        </p:sp>
        <p:sp>
          <p:nvSpPr>
            <p:cNvPr id="194" name="object 194" descr=""/>
            <p:cNvSpPr/>
            <p:nvPr/>
          </p:nvSpPr>
          <p:spPr>
            <a:xfrm>
              <a:off x="1589077" y="5107280"/>
              <a:ext cx="193040" cy="58419"/>
            </a:xfrm>
            <a:custGeom>
              <a:avLst/>
              <a:gdLst/>
              <a:ahLst/>
              <a:cxnLst/>
              <a:rect l="l" t="t" r="r" b="b"/>
              <a:pathLst>
                <a:path w="193039" h="58420">
                  <a:moveTo>
                    <a:pt x="6928" y="21100"/>
                  </a:moveTo>
                  <a:lnTo>
                    <a:pt x="134186" y="21100"/>
                  </a:lnTo>
                  <a:lnTo>
                    <a:pt x="135997" y="22924"/>
                  </a:lnTo>
                  <a:lnTo>
                    <a:pt x="137822" y="24734"/>
                  </a:lnTo>
                  <a:lnTo>
                    <a:pt x="139279" y="26544"/>
                  </a:lnTo>
                  <a:lnTo>
                    <a:pt x="141105" y="30178"/>
                  </a:lnTo>
                  <a:lnTo>
                    <a:pt x="139279" y="31635"/>
                  </a:lnTo>
                  <a:lnTo>
                    <a:pt x="137822" y="35255"/>
                  </a:lnTo>
                  <a:lnTo>
                    <a:pt x="135997" y="35255"/>
                  </a:lnTo>
                  <a:lnTo>
                    <a:pt x="134186" y="37079"/>
                  </a:lnTo>
                  <a:lnTo>
                    <a:pt x="6928" y="37079"/>
                  </a:lnTo>
                  <a:lnTo>
                    <a:pt x="3282" y="35255"/>
                  </a:lnTo>
                  <a:lnTo>
                    <a:pt x="1458" y="35255"/>
                  </a:lnTo>
                  <a:lnTo>
                    <a:pt x="0" y="31635"/>
                  </a:lnTo>
                  <a:lnTo>
                    <a:pt x="0" y="30178"/>
                  </a:lnTo>
                  <a:lnTo>
                    <a:pt x="0" y="26544"/>
                  </a:lnTo>
                  <a:lnTo>
                    <a:pt x="1458" y="24734"/>
                  </a:lnTo>
                  <a:lnTo>
                    <a:pt x="3282" y="22924"/>
                  </a:lnTo>
                  <a:lnTo>
                    <a:pt x="6928" y="21100"/>
                  </a:lnTo>
                  <a:close/>
                </a:path>
                <a:path w="193039" h="58420">
                  <a:moveTo>
                    <a:pt x="134186" y="30178"/>
                  </a:moveTo>
                  <a:lnTo>
                    <a:pt x="104281" y="0"/>
                  </a:lnTo>
                  <a:lnTo>
                    <a:pt x="192521" y="30178"/>
                  </a:lnTo>
                  <a:lnTo>
                    <a:pt x="104281" y="58136"/>
                  </a:lnTo>
                  <a:lnTo>
                    <a:pt x="134186" y="30178"/>
                  </a:lnTo>
                  <a:close/>
                </a:path>
              </a:pathLst>
            </a:custGeom>
            <a:ln w="3175">
              <a:solidFill>
                <a:srgbClr val="000000"/>
              </a:solidFill>
            </a:ln>
          </p:spPr>
          <p:txBody>
            <a:bodyPr wrap="square" lIns="0" tIns="0" rIns="0" bIns="0" rtlCol="0"/>
            <a:lstStyle/>
            <a:p/>
          </p:txBody>
        </p:sp>
      </p:grpSp>
      <p:sp>
        <p:nvSpPr>
          <p:cNvPr id="195" name="object 195" descr=""/>
          <p:cNvSpPr txBox="1"/>
          <p:nvPr/>
        </p:nvSpPr>
        <p:spPr>
          <a:xfrm>
            <a:off x="1795082" y="4997334"/>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CPU7</a:t>
            </a:r>
            <a:endParaRPr sz="1050">
              <a:latin typeface="宋体"/>
              <a:cs typeface="宋体"/>
            </a:endParaRPr>
          </a:p>
        </p:txBody>
      </p:sp>
      <p:grpSp>
        <p:nvGrpSpPr>
          <p:cNvPr id="196" name="object 196" descr=""/>
          <p:cNvGrpSpPr/>
          <p:nvPr/>
        </p:nvGrpSpPr>
        <p:grpSpPr>
          <a:xfrm>
            <a:off x="2291026" y="5106249"/>
            <a:ext cx="311785" cy="60325"/>
            <a:chOff x="2291026" y="5106249"/>
            <a:chExt cx="311785" cy="60325"/>
          </a:xfrm>
        </p:grpSpPr>
        <p:sp>
          <p:nvSpPr>
            <p:cNvPr id="197" name="object 197" descr=""/>
            <p:cNvSpPr/>
            <p:nvPr/>
          </p:nvSpPr>
          <p:spPr>
            <a:xfrm>
              <a:off x="2292056" y="5107280"/>
              <a:ext cx="309245" cy="58419"/>
            </a:xfrm>
            <a:custGeom>
              <a:avLst/>
              <a:gdLst/>
              <a:ahLst/>
              <a:cxnLst/>
              <a:rect l="l" t="t" r="r" b="b"/>
              <a:pathLst>
                <a:path w="309244" h="58420">
                  <a:moveTo>
                    <a:pt x="88599" y="0"/>
                  </a:moveTo>
                  <a:lnTo>
                    <a:pt x="0" y="30178"/>
                  </a:lnTo>
                  <a:lnTo>
                    <a:pt x="88599" y="58136"/>
                  </a:lnTo>
                  <a:lnTo>
                    <a:pt x="65816" y="37079"/>
                  </a:lnTo>
                  <a:lnTo>
                    <a:pt x="58349" y="37079"/>
                  </a:lnTo>
                  <a:lnTo>
                    <a:pt x="55067" y="35255"/>
                  </a:lnTo>
                  <a:lnTo>
                    <a:pt x="53241" y="35255"/>
                  </a:lnTo>
                  <a:lnTo>
                    <a:pt x="51416" y="31635"/>
                  </a:lnTo>
                  <a:lnTo>
                    <a:pt x="51416" y="26544"/>
                  </a:lnTo>
                  <a:lnTo>
                    <a:pt x="55067" y="22924"/>
                  </a:lnTo>
                  <a:lnTo>
                    <a:pt x="58349" y="21100"/>
                  </a:lnTo>
                  <a:lnTo>
                    <a:pt x="67449" y="21100"/>
                  </a:lnTo>
                  <a:lnTo>
                    <a:pt x="88599" y="0"/>
                  </a:lnTo>
                  <a:close/>
                </a:path>
                <a:path w="309244" h="58420">
                  <a:moveTo>
                    <a:pt x="220960" y="0"/>
                  </a:moveTo>
                  <a:lnTo>
                    <a:pt x="249399" y="30178"/>
                  </a:lnTo>
                  <a:lnTo>
                    <a:pt x="220960" y="58136"/>
                  </a:lnTo>
                  <a:lnTo>
                    <a:pt x="287424" y="37079"/>
                  </a:lnTo>
                  <a:lnTo>
                    <a:pt x="249399" y="37079"/>
                  </a:lnTo>
                  <a:lnTo>
                    <a:pt x="252682" y="35255"/>
                  </a:lnTo>
                  <a:lnTo>
                    <a:pt x="254507" y="35255"/>
                  </a:lnTo>
                  <a:lnTo>
                    <a:pt x="256332" y="31635"/>
                  </a:lnTo>
                  <a:lnTo>
                    <a:pt x="256332" y="26544"/>
                  </a:lnTo>
                  <a:lnTo>
                    <a:pt x="252682" y="22924"/>
                  </a:lnTo>
                  <a:lnTo>
                    <a:pt x="249399" y="21100"/>
                  </a:lnTo>
                  <a:lnTo>
                    <a:pt x="282659" y="21100"/>
                  </a:lnTo>
                  <a:lnTo>
                    <a:pt x="220960" y="0"/>
                  </a:lnTo>
                  <a:close/>
                </a:path>
                <a:path w="309244" h="58420">
                  <a:moveTo>
                    <a:pt x="67449" y="21100"/>
                  </a:moveTo>
                  <a:lnTo>
                    <a:pt x="58349" y="21100"/>
                  </a:lnTo>
                  <a:lnTo>
                    <a:pt x="55067" y="22924"/>
                  </a:lnTo>
                  <a:lnTo>
                    <a:pt x="51416" y="26544"/>
                  </a:lnTo>
                  <a:lnTo>
                    <a:pt x="51416" y="31635"/>
                  </a:lnTo>
                  <a:lnTo>
                    <a:pt x="53241" y="35255"/>
                  </a:lnTo>
                  <a:lnTo>
                    <a:pt x="55067" y="35255"/>
                  </a:lnTo>
                  <a:lnTo>
                    <a:pt x="58349" y="37079"/>
                  </a:lnTo>
                  <a:lnTo>
                    <a:pt x="65816" y="37079"/>
                  </a:lnTo>
                  <a:lnTo>
                    <a:pt x="58349" y="30178"/>
                  </a:lnTo>
                  <a:lnTo>
                    <a:pt x="67449" y="21100"/>
                  </a:lnTo>
                  <a:close/>
                </a:path>
                <a:path w="309244" h="58420">
                  <a:moveTo>
                    <a:pt x="240844" y="21100"/>
                  </a:moveTo>
                  <a:lnTo>
                    <a:pt x="67449" y="21100"/>
                  </a:lnTo>
                  <a:lnTo>
                    <a:pt x="58349" y="30178"/>
                  </a:lnTo>
                  <a:lnTo>
                    <a:pt x="65816" y="37079"/>
                  </a:lnTo>
                  <a:lnTo>
                    <a:pt x="242379" y="37079"/>
                  </a:lnTo>
                  <a:lnTo>
                    <a:pt x="249399" y="30178"/>
                  </a:lnTo>
                  <a:lnTo>
                    <a:pt x="240844" y="21100"/>
                  </a:lnTo>
                  <a:close/>
                </a:path>
                <a:path w="309244" h="58420">
                  <a:moveTo>
                    <a:pt x="282659" y="21100"/>
                  </a:moveTo>
                  <a:lnTo>
                    <a:pt x="249399" y="21100"/>
                  </a:lnTo>
                  <a:lnTo>
                    <a:pt x="252682" y="22924"/>
                  </a:lnTo>
                  <a:lnTo>
                    <a:pt x="256332" y="26544"/>
                  </a:lnTo>
                  <a:lnTo>
                    <a:pt x="256332" y="31635"/>
                  </a:lnTo>
                  <a:lnTo>
                    <a:pt x="254507" y="35255"/>
                  </a:lnTo>
                  <a:lnTo>
                    <a:pt x="252682" y="35255"/>
                  </a:lnTo>
                  <a:lnTo>
                    <a:pt x="249399" y="37079"/>
                  </a:lnTo>
                  <a:lnTo>
                    <a:pt x="287424" y="37079"/>
                  </a:lnTo>
                  <a:lnTo>
                    <a:pt x="309206" y="30178"/>
                  </a:lnTo>
                  <a:lnTo>
                    <a:pt x="282659" y="21100"/>
                  </a:lnTo>
                  <a:close/>
                </a:path>
              </a:pathLst>
            </a:custGeom>
            <a:solidFill>
              <a:srgbClr val="000000"/>
            </a:solidFill>
          </p:spPr>
          <p:txBody>
            <a:bodyPr wrap="square" lIns="0" tIns="0" rIns="0" bIns="0" rtlCol="0"/>
            <a:lstStyle/>
            <a:p/>
          </p:txBody>
        </p:sp>
        <p:sp>
          <p:nvSpPr>
            <p:cNvPr id="198" name="object 198" descr=""/>
            <p:cNvSpPr/>
            <p:nvPr/>
          </p:nvSpPr>
          <p:spPr>
            <a:xfrm>
              <a:off x="2292056" y="5107280"/>
              <a:ext cx="309245" cy="58419"/>
            </a:xfrm>
            <a:custGeom>
              <a:avLst/>
              <a:gdLst/>
              <a:ahLst/>
              <a:cxnLst/>
              <a:rect l="l" t="t" r="r" b="b"/>
              <a:pathLst>
                <a:path w="309244" h="58420">
                  <a:moveTo>
                    <a:pt x="58349" y="21100"/>
                  </a:moveTo>
                  <a:lnTo>
                    <a:pt x="249399" y="21100"/>
                  </a:lnTo>
                  <a:lnTo>
                    <a:pt x="252682" y="22924"/>
                  </a:lnTo>
                  <a:lnTo>
                    <a:pt x="254507" y="24734"/>
                  </a:lnTo>
                  <a:lnTo>
                    <a:pt x="256332" y="26544"/>
                  </a:lnTo>
                  <a:lnTo>
                    <a:pt x="256332" y="30178"/>
                  </a:lnTo>
                  <a:lnTo>
                    <a:pt x="256332" y="31635"/>
                  </a:lnTo>
                  <a:lnTo>
                    <a:pt x="254507" y="35255"/>
                  </a:lnTo>
                  <a:lnTo>
                    <a:pt x="252682" y="35255"/>
                  </a:lnTo>
                  <a:lnTo>
                    <a:pt x="249399" y="37079"/>
                  </a:lnTo>
                  <a:lnTo>
                    <a:pt x="58349" y="37079"/>
                  </a:lnTo>
                  <a:lnTo>
                    <a:pt x="55067" y="35255"/>
                  </a:lnTo>
                  <a:lnTo>
                    <a:pt x="53241" y="35255"/>
                  </a:lnTo>
                  <a:lnTo>
                    <a:pt x="51416" y="31635"/>
                  </a:lnTo>
                  <a:lnTo>
                    <a:pt x="51416" y="30178"/>
                  </a:lnTo>
                  <a:lnTo>
                    <a:pt x="51416" y="26544"/>
                  </a:lnTo>
                  <a:lnTo>
                    <a:pt x="53241" y="24734"/>
                  </a:lnTo>
                  <a:lnTo>
                    <a:pt x="55067" y="22924"/>
                  </a:lnTo>
                  <a:lnTo>
                    <a:pt x="58349" y="21100"/>
                  </a:lnTo>
                  <a:close/>
                </a:path>
                <a:path w="309244" h="58420">
                  <a:moveTo>
                    <a:pt x="58349" y="30178"/>
                  </a:moveTo>
                  <a:lnTo>
                    <a:pt x="88599" y="58136"/>
                  </a:lnTo>
                  <a:lnTo>
                    <a:pt x="0" y="30178"/>
                  </a:lnTo>
                  <a:lnTo>
                    <a:pt x="88599" y="0"/>
                  </a:lnTo>
                  <a:lnTo>
                    <a:pt x="58349" y="30178"/>
                  </a:lnTo>
                  <a:close/>
                </a:path>
                <a:path w="309244" h="58420">
                  <a:moveTo>
                    <a:pt x="249399" y="30178"/>
                  </a:moveTo>
                  <a:lnTo>
                    <a:pt x="220960" y="0"/>
                  </a:lnTo>
                  <a:lnTo>
                    <a:pt x="309206" y="30178"/>
                  </a:lnTo>
                  <a:lnTo>
                    <a:pt x="220960" y="58136"/>
                  </a:lnTo>
                  <a:lnTo>
                    <a:pt x="249399" y="30178"/>
                  </a:lnTo>
                  <a:close/>
                </a:path>
              </a:pathLst>
            </a:custGeom>
            <a:ln w="3175">
              <a:solidFill>
                <a:srgbClr val="000000"/>
              </a:solidFill>
            </a:ln>
          </p:spPr>
          <p:txBody>
            <a:bodyPr wrap="square" lIns="0" tIns="0" rIns="0" bIns="0" rtlCol="0"/>
            <a:lstStyle/>
            <a:p/>
          </p:txBody>
        </p:sp>
      </p:grpSp>
      <p:grpSp>
        <p:nvGrpSpPr>
          <p:cNvPr id="199" name="object 199" descr=""/>
          <p:cNvGrpSpPr/>
          <p:nvPr/>
        </p:nvGrpSpPr>
        <p:grpSpPr>
          <a:xfrm>
            <a:off x="1587807" y="5836103"/>
            <a:ext cx="195580" cy="62865"/>
            <a:chOff x="1587807" y="5836103"/>
            <a:chExt cx="195580" cy="62865"/>
          </a:xfrm>
        </p:grpSpPr>
        <p:sp>
          <p:nvSpPr>
            <p:cNvPr id="200" name="object 200" descr=""/>
            <p:cNvSpPr/>
            <p:nvPr/>
          </p:nvSpPr>
          <p:spPr>
            <a:xfrm>
              <a:off x="1589077" y="5837373"/>
              <a:ext cx="193040" cy="60325"/>
            </a:xfrm>
            <a:custGeom>
              <a:avLst/>
              <a:gdLst/>
              <a:ahLst/>
              <a:cxnLst/>
              <a:rect l="l" t="t" r="r" b="b"/>
              <a:pathLst>
                <a:path w="193039" h="60325">
                  <a:moveTo>
                    <a:pt x="104281" y="0"/>
                  </a:moveTo>
                  <a:lnTo>
                    <a:pt x="134186" y="30134"/>
                  </a:lnTo>
                  <a:lnTo>
                    <a:pt x="104281" y="60269"/>
                  </a:lnTo>
                  <a:lnTo>
                    <a:pt x="171237" y="37403"/>
                  </a:lnTo>
                  <a:lnTo>
                    <a:pt x="135997" y="37403"/>
                  </a:lnTo>
                  <a:lnTo>
                    <a:pt x="137822" y="35579"/>
                  </a:lnTo>
                  <a:lnTo>
                    <a:pt x="139279" y="33769"/>
                  </a:lnTo>
                  <a:lnTo>
                    <a:pt x="141105" y="30134"/>
                  </a:lnTo>
                  <a:lnTo>
                    <a:pt x="139279" y="26515"/>
                  </a:lnTo>
                  <a:lnTo>
                    <a:pt x="137822" y="24690"/>
                  </a:lnTo>
                  <a:lnTo>
                    <a:pt x="135997" y="23233"/>
                  </a:lnTo>
                  <a:lnTo>
                    <a:pt x="172314" y="23233"/>
                  </a:lnTo>
                  <a:lnTo>
                    <a:pt x="104281" y="0"/>
                  </a:lnTo>
                  <a:close/>
                </a:path>
                <a:path w="193039" h="60325">
                  <a:moveTo>
                    <a:pt x="127338" y="23233"/>
                  </a:moveTo>
                  <a:lnTo>
                    <a:pt x="3282" y="23233"/>
                  </a:lnTo>
                  <a:lnTo>
                    <a:pt x="1458" y="24690"/>
                  </a:lnTo>
                  <a:lnTo>
                    <a:pt x="0" y="26515"/>
                  </a:lnTo>
                  <a:lnTo>
                    <a:pt x="0" y="33769"/>
                  </a:lnTo>
                  <a:lnTo>
                    <a:pt x="1458" y="35579"/>
                  </a:lnTo>
                  <a:lnTo>
                    <a:pt x="3282" y="37403"/>
                  </a:lnTo>
                  <a:lnTo>
                    <a:pt x="126973" y="37403"/>
                  </a:lnTo>
                  <a:lnTo>
                    <a:pt x="134186" y="30134"/>
                  </a:lnTo>
                  <a:lnTo>
                    <a:pt x="127338" y="23233"/>
                  </a:lnTo>
                  <a:close/>
                </a:path>
                <a:path w="193039" h="60325">
                  <a:moveTo>
                    <a:pt x="172314" y="23233"/>
                  </a:moveTo>
                  <a:lnTo>
                    <a:pt x="135997" y="23233"/>
                  </a:lnTo>
                  <a:lnTo>
                    <a:pt x="137822" y="24690"/>
                  </a:lnTo>
                  <a:lnTo>
                    <a:pt x="139279" y="26515"/>
                  </a:lnTo>
                  <a:lnTo>
                    <a:pt x="141105" y="30134"/>
                  </a:lnTo>
                  <a:lnTo>
                    <a:pt x="139279" y="33769"/>
                  </a:lnTo>
                  <a:lnTo>
                    <a:pt x="137822" y="35579"/>
                  </a:lnTo>
                  <a:lnTo>
                    <a:pt x="135997" y="37403"/>
                  </a:lnTo>
                  <a:lnTo>
                    <a:pt x="171237" y="37403"/>
                  </a:lnTo>
                  <a:lnTo>
                    <a:pt x="192521" y="30134"/>
                  </a:lnTo>
                  <a:lnTo>
                    <a:pt x="172314" y="23233"/>
                  </a:lnTo>
                  <a:close/>
                </a:path>
              </a:pathLst>
            </a:custGeom>
            <a:solidFill>
              <a:srgbClr val="000000"/>
            </a:solidFill>
          </p:spPr>
          <p:txBody>
            <a:bodyPr wrap="square" lIns="0" tIns="0" rIns="0" bIns="0" rtlCol="0"/>
            <a:lstStyle/>
            <a:p/>
          </p:txBody>
        </p:sp>
        <p:sp>
          <p:nvSpPr>
            <p:cNvPr id="201" name="object 201" descr=""/>
            <p:cNvSpPr/>
            <p:nvPr/>
          </p:nvSpPr>
          <p:spPr>
            <a:xfrm>
              <a:off x="1589077" y="5837373"/>
              <a:ext cx="193040" cy="60325"/>
            </a:xfrm>
            <a:custGeom>
              <a:avLst/>
              <a:gdLst/>
              <a:ahLst/>
              <a:cxnLst/>
              <a:rect l="l" t="t" r="r" b="b"/>
              <a:pathLst>
                <a:path w="193039" h="60325">
                  <a:moveTo>
                    <a:pt x="6928" y="23233"/>
                  </a:moveTo>
                  <a:lnTo>
                    <a:pt x="134186" y="23233"/>
                  </a:lnTo>
                  <a:lnTo>
                    <a:pt x="135997" y="23233"/>
                  </a:lnTo>
                  <a:lnTo>
                    <a:pt x="137822" y="24690"/>
                  </a:lnTo>
                  <a:lnTo>
                    <a:pt x="139279" y="26515"/>
                  </a:lnTo>
                  <a:lnTo>
                    <a:pt x="141105" y="30134"/>
                  </a:lnTo>
                  <a:lnTo>
                    <a:pt x="139279" y="33769"/>
                  </a:lnTo>
                  <a:lnTo>
                    <a:pt x="137822" y="35579"/>
                  </a:lnTo>
                  <a:lnTo>
                    <a:pt x="135997" y="37403"/>
                  </a:lnTo>
                  <a:lnTo>
                    <a:pt x="134186" y="37403"/>
                  </a:lnTo>
                  <a:lnTo>
                    <a:pt x="6928" y="37403"/>
                  </a:lnTo>
                  <a:lnTo>
                    <a:pt x="3282" y="37403"/>
                  </a:lnTo>
                  <a:lnTo>
                    <a:pt x="1458" y="35579"/>
                  </a:lnTo>
                  <a:lnTo>
                    <a:pt x="0" y="33769"/>
                  </a:lnTo>
                  <a:lnTo>
                    <a:pt x="0" y="30134"/>
                  </a:lnTo>
                  <a:lnTo>
                    <a:pt x="0" y="26515"/>
                  </a:lnTo>
                  <a:lnTo>
                    <a:pt x="1458" y="24690"/>
                  </a:lnTo>
                  <a:lnTo>
                    <a:pt x="3282" y="23233"/>
                  </a:lnTo>
                  <a:lnTo>
                    <a:pt x="6928" y="23233"/>
                  </a:lnTo>
                  <a:close/>
                </a:path>
                <a:path w="193039" h="60325">
                  <a:moveTo>
                    <a:pt x="134186" y="30134"/>
                  </a:moveTo>
                  <a:lnTo>
                    <a:pt x="104281" y="0"/>
                  </a:lnTo>
                  <a:lnTo>
                    <a:pt x="192521" y="30134"/>
                  </a:lnTo>
                  <a:lnTo>
                    <a:pt x="104281" y="60269"/>
                  </a:lnTo>
                  <a:lnTo>
                    <a:pt x="134186" y="30134"/>
                  </a:lnTo>
                  <a:close/>
                </a:path>
              </a:pathLst>
            </a:custGeom>
            <a:ln w="3175">
              <a:solidFill>
                <a:srgbClr val="000000"/>
              </a:solidFill>
            </a:ln>
          </p:spPr>
          <p:txBody>
            <a:bodyPr wrap="square" lIns="0" tIns="0" rIns="0" bIns="0" rtlCol="0"/>
            <a:lstStyle/>
            <a:p/>
          </p:txBody>
        </p:sp>
      </p:grpSp>
      <p:sp>
        <p:nvSpPr>
          <p:cNvPr id="202" name="object 202" descr=""/>
          <p:cNvSpPr txBox="1"/>
          <p:nvPr/>
        </p:nvSpPr>
        <p:spPr>
          <a:xfrm>
            <a:off x="1795082" y="5727383"/>
            <a:ext cx="495300" cy="274320"/>
          </a:xfrm>
          <a:prstGeom prst="rect">
            <a:avLst/>
          </a:prstGeom>
          <a:solidFill>
            <a:srgbClr val="FFFF99"/>
          </a:solidFill>
          <a:ln w="10570">
            <a:solidFill>
              <a:srgbClr val="000000"/>
            </a:solidFill>
          </a:ln>
        </p:spPr>
        <p:txBody>
          <a:bodyPr wrap="square" lIns="0" tIns="59055" rIns="0" bIns="0" rtlCol="0" vert="horz">
            <a:spAutoFit/>
          </a:bodyPr>
          <a:lstStyle/>
          <a:p>
            <a:pPr marL="121920">
              <a:lnSpc>
                <a:spcPct val="100000"/>
              </a:lnSpc>
              <a:spcBef>
                <a:spcPts val="465"/>
              </a:spcBef>
            </a:pPr>
            <a:r>
              <a:rPr dirty="0" sz="1050" spc="-20" b="1">
                <a:solidFill>
                  <a:srgbClr val="0000FF"/>
                </a:solidFill>
                <a:latin typeface="宋体"/>
                <a:cs typeface="宋体"/>
              </a:rPr>
              <a:t>CPU8</a:t>
            </a:r>
            <a:endParaRPr sz="1050">
              <a:latin typeface="宋体"/>
              <a:cs typeface="宋体"/>
            </a:endParaRPr>
          </a:p>
        </p:txBody>
      </p:sp>
      <p:grpSp>
        <p:nvGrpSpPr>
          <p:cNvPr id="203" name="object 203" descr=""/>
          <p:cNvGrpSpPr/>
          <p:nvPr/>
        </p:nvGrpSpPr>
        <p:grpSpPr>
          <a:xfrm>
            <a:off x="2291026" y="5836342"/>
            <a:ext cx="311785" cy="62865"/>
            <a:chOff x="2291026" y="5836342"/>
            <a:chExt cx="311785" cy="62865"/>
          </a:xfrm>
        </p:grpSpPr>
        <p:sp>
          <p:nvSpPr>
            <p:cNvPr id="204" name="object 204" descr=""/>
            <p:cNvSpPr/>
            <p:nvPr/>
          </p:nvSpPr>
          <p:spPr>
            <a:xfrm>
              <a:off x="2292056" y="5837373"/>
              <a:ext cx="309245" cy="60325"/>
            </a:xfrm>
            <a:custGeom>
              <a:avLst/>
              <a:gdLst/>
              <a:ahLst/>
              <a:cxnLst/>
              <a:rect l="l" t="t" r="r" b="b"/>
              <a:pathLst>
                <a:path w="309244" h="60325">
                  <a:moveTo>
                    <a:pt x="88599" y="0"/>
                  </a:moveTo>
                  <a:lnTo>
                    <a:pt x="0" y="30134"/>
                  </a:lnTo>
                  <a:lnTo>
                    <a:pt x="88599" y="60269"/>
                  </a:lnTo>
                  <a:lnTo>
                    <a:pt x="65646" y="37403"/>
                  </a:lnTo>
                  <a:lnTo>
                    <a:pt x="55067" y="37403"/>
                  </a:lnTo>
                  <a:lnTo>
                    <a:pt x="51416" y="33769"/>
                  </a:lnTo>
                  <a:lnTo>
                    <a:pt x="51416" y="26515"/>
                  </a:lnTo>
                  <a:lnTo>
                    <a:pt x="53241" y="24690"/>
                  </a:lnTo>
                  <a:lnTo>
                    <a:pt x="55067" y="23233"/>
                  </a:lnTo>
                  <a:lnTo>
                    <a:pt x="65277" y="23233"/>
                  </a:lnTo>
                  <a:lnTo>
                    <a:pt x="88599" y="0"/>
                  </a:lnTo>
                  <a:close/>
                </a:path>
                <a:path w="309244" h="60325">
                  <a:moveTo>
                    <a:pt x="220960" y="0"/>
                  </a:moveTo>
                  <a:lnTo>
                    <a:pt x="249399" y="30134"/>
                  </a:lnTo>
                  <a:lnTo>
                    <a:pt x="220960" y="60269"/>
                  </a:lnTo>
                  <a:lnTo>
                    <a:pt x="287920" y="37403"/>
                  </a:lnTo>
                  <a:lnTo>
                    <a:pt x="252682" y="37403"/>
                  </a:lnTo>
                  <a:lnTo>
                    <a:pt x="256332" y="33769"/>
                  </a:lnTo>
                  <a:lnTo>
                    <a:pt x="256332" y="26515"/>
                  </a:lnTo>
                  <a:lnTo>
                    <a:pt x="254507" y="24690"/>
                  </a:lnTo>
                  <a:lnTo>
                    <a:pt x="252682" y="23233"/>
                  </a:lnTo>
                  <a:lnTo>
                    <a:pt x="288998" y="23233"/>
                  </a:lnTo>
                  <a:lnTo>
                    <a:pt x="220960" y="0"/>
                  </a:lnTo>
                  <a:close/>
                </a:path>
                <a:path w="309244" h="60325">
                  <a:moveTo>
                    <a:pt x="65277" y="23233"/>
                  </a:moveTo>
                  <a:lnTo>
                    <a:pt x="55067" y="23233"/>
                  </a:lnTo>
                  <a:lnTo>
                    <a:pt x="53241" y="24690"/>
                  </a:lnTo>
                  <a:lnTo>
                    <a:pt x="51416" y="26515"/>
                  </a:lnTo>
                  <a:lnTo>
                    <a:pt x="51416" y="33769"/>
                  </a:lnTo>
                  <a:lnTo>
                    <a:pt x="55067" y="37403"/>
                  </a:lnTo>
                  <a:lnTo>
                    <a:pt x="65646" y="37403"/>
                  </a:lnTo>
                  <a:lnTo>
                    <a:pt x="58349" y="30134"/>
                  </a:lnTo>
                  <a:lnTo>
                    <a:pt x="65277" y="23233"/>
                  </a:lnTo>
                  <a:close/>
                </a:path>
                <a:path w="309244" h="60325">
                  <a:moveTo>
                    <a:pt x="242887" y="23233"/>
                  </a:moveTo>
                  <a:lnTo>
                    <a:pt x="65277" y="23233"/>
                  </a:lnTo>
                  <a:lnTo>
                    <a:pt x="58349" y="30134"/>
                  </a:lnTo>
                  <a:lnTo>
                    <a:pt x="65646" y="37403"/>
                  </a:lnTo>
                  <a:lnTo>
                    <a:pt x="242539" y="37403"/>
                  </a:lnTo>
                  <a:lnTo>
                    <a:pt x="249399" y="30134"/>
                  </a:lnTo>
                  <a:lnTo>
                    <a:pt x="242887" y="23233"/>
                  </a:lnTo>
                  <a:close/>
                </a:path>
                <a:path w="309244" h="60325">
                  <a:moveTo>
                    <a:pt x="288998" y="23233"/>
                  </a:moveTo>
                  <a:lnTo>
                    <a:pt x="252682" y="23233"/>
                  </a:lnTo>
                  <a:lnTo>
                    <a:pt x="254507" y="24690"/>
                  </a:lnTo>
                  <a:lnTo>
                    <a:pt x="256332" y="26515"/>
                  </a:lnTo>
                  <a:lnTo>
                    <a:pt x="256332" y="33769"/>
                  </a:lnTo>
                  <a:lnTo>
                    <a:pt x="252682" y="37403"/>
                  </a:lnTo>
                  <a:lnTo>
                    <a:pt x="287920" y="37403"/>
                  </a:lnTo>
                  <a:lnTo>
                    <a:pt x="309206" y="30134"/>
                  </a:lnTo>
                  <a:lnTo>
                    <a:pt x="288998" y="23233"/>
                  </a:lnTo>
                  <a:close/>
                </a:path>
              </a:pathLst>
            </a:custGeom>
            <a:solidFill>
              <a:srgbClr val="000000"/>
            </a:solidFill>
          </p:spPr>
          <p:txBody>
            <a:bodyPr wrap="square" lIns="0" tIns="0" rIns="0" bIns="0" rtlCol="0"/>
            <a:lstStyle/>
            <a:p/>
          </p:txBody>
        </p:sp>
        <p:sp>
          <p:nvSpPr>
            <p:cNvPr id="205" name="object 205" descr=""/>
            <p:cNvSpPr/>
            <p:nvPr/>
          </p:nvSpPr>
          <p:spPr>
            <a:xfrm>
              <a:off x="2292056" y="5837373"/>
              <a:ext cx="309245" cy="60325"/>
            </a:xfrm>
            <a:custGeom>
              <a:avLst/>
              <a:gdLst/>
              <a:ahLst/>
              <a:cxnLst/>
              <a:rect l="l" t="t" r="r" b="b"/>
              <a:pathLst>
                <a:path w="309244" h="60325">
                  <a:moveTo>
                    <a:pt x="58349" y="23233"/>
                  </a:moveTo>
                  <a:lnTo>
                    <a:pt x="249399" y="23233"/>
                  </a:lnTo>
                  <a:lnTo>
                    <a:pt x="252682" y="23233"/>
                  </a:lnTo>
                  <a:lnTo>
                    <a:pt x="254507" y="24690"/>
                  </a:lnTo>
                  <a:lnTo>
                    <a:pt x="256332" y="26515"/>
                  </a:lnTo>
                  <a:lnTo>
                    <a:pt x="256332" y="30134"/>
                  </a:lnTo>
                  <a:lnTo>
                    <a:pt x="256332" y="33769"/>
                  </a:lnTo>
                  <a:lnTo>
                    <a:pt x="254507" y="35579"/>
                  </a:lnTo>
                  <a:lnTo>
                    <a:pt x="252682" y="37403"/>
                  </a:lnTo>
                  <a:lnTo>
                    <a:pt x="249399" y="37403"/>
                  </a:lnTo>
                  <a:lnTo>
                    <a:pt x="58349" y="37403"/>
                  </a:lnTo>
                  <a:lnTo>
                    <a:pt x="55067" y="37403"/>
                  </a:lnTo>
                  <a:lnTo>
                    <a:pt x="53241" y="35579"/>
                  </a:lnTo>
                  <a:lnTo>
                    <a:pt x="51416" y="33769"/>
                  </a:lnTo>
                  <a:lnTo>
                    <a:pt x="51416" y="30134"/>
                  </a:lnTo>
                  <a:lnTo>
                    <a:pt x="51416" y="26515"/>
                  </a:lnTo>
                  <a:lnTo>
                    <a:pt x="53241" y="24690"/>
                  </a:lnTo>
                  <a:lnTo>
                    <a:pt x="55067" y="23233"/>
                  </a:lnTo>
                  <a:lnTo>
                    <a:pt x="58349" y="23233"/>
                  </a:lnTo>
                  <a:close/>
                </a:path>
                <a:path w="309244" h="60325">
                  <a:moveTo>
                    <a:pt x="58349" y="30134"/>
                  </a:moveTo>
                  <a:lnTo>
                    <a:pt x="88599" y="60269"/>
                  </a:lnTo>
                  <a:lnTo>
                    <a:pt x="0" y="30134"/>
                  </a:lnTo>
                  <a:lnTo>
                    <a:pt x="88599" y="0"/>
                  </a:lnTo>
                  <a:lnTo>
                    <a:pt x="58349" y="30134"/>
                  </a:lnTo>
                  <a:close/>
                </a:path>
                <a:path w="309244" h="60325">
                  <a:moveTo>
                    <a:pt x="249399" y="30134"/>
                  </a:moveTo>
                  <a:lnTo>
                    <a:pt x="220960" y="0"/>
                  </a:lnTo>
                  <a:lnTo>
                    <a:pt x="309206" y="30134"/>
                  </a:lnTo>
                  <a:lnTo>
                    <a:pt x="220960" y="60269"/>
                  </a:lnTo>
                  <a:lnTo>
                    <a:pt x="249399" y="30134"/>
                  </a:lnTo>
                  <a:close/>
                </a:path>
              </a:pathLst>
            </a:custGeom>
            <a:ln w="3175">
              <a:solidFill>
                <a:srgbClr val="000000"/>
              </a:solidFill>
            </a:ln>
          </p:spPr>
          <p:txBody>
            <a:bodyPr wrap="square" lIns="0" tIns="0" rIns="0" bIns="0" rtlCol="0"/>
            <a:lstStyle/>
            <a:p/>
          </p:txBody>
        </p:sp>
      </p:grpSp>
      <p:grpSp>
        <p:nvGrpSpPr>
          <p:cNvPr id="206" name="object 206" descr=""/>
          <p:cNvGrpSpPr/>
          <p:nvPr/>
        </p:nvGrpSpPr>
        <p:grpSpPr>
          <a:xfrm>
            <a:off x="1588046" y="606476"/>
            <a:ext cx="843280" cy="5842635"/>
            <a:chOff x="1588046" y="606476"/>
            <a:chExt cx="843280" cy="5842635"/>
          </a:xfrm>
        </p:grpSpPr>
        <p:sp>
          <p:nvSpPr>
            <p:cNvPr id="207" name="object 207" descr=""/>
            <p:cNvSpPr/>
            <p:nvPr/>
          </p:nvSpPr>
          <p:spPr>
            <a:xfrm>
              <a:off x="1589077" y="6387363"/>
              <a:ext cx="841375" cy="60325"/>
            </a:xfrm>
            <a:custGeom>
              <a:avLst/>
              <a:gdLst/>
              <a:ahLst/>
              <a:cxnLst/>
              <a:rect l="l" t="t" r="r" b="b"/>
              <a:pathLst>
                <a:path w="841375" h="60325">
                  <a:moveTo>
                    <a:pt x="752571" y="0"/>
                  </a:moveTo>
                  <a:lnTo>
                    <a:pt x="782467" y="30134"/>
                  </a:lnTo>
                  <a:lnTo>
                    <a:pt x="752571" y="60269"/>
                  </a:lnTo>
                  <a:lnTo>
                    <a:pt x="820597" y="37035"/>
                  </a:lnTo>
                  <a:lnTo>
                    <a:pt x="786117" y="37035"/>
                  </a:lnTo>
                  <a:lnTo>
                    <a:pt x="789768" y="33401"/>
                  </a:lnTo>
                  <a:lnTo>
                    <a:pt x="789768" y="26515"/>
                  </a:lnTo>
                  <a:lnTo>
                    <a:pt x="786117" y="22880"/>
                  </a:lnTo>
                  <a:lnTo>
                    <a:pt x="819563" y="22880"/>
                  </a:lnTo>
                  <a:lnTo>
                    <a:pt x="752571" y="0"/>
                  </a:lnTo>
                  <a:close/>
                </a:path>
                <a:path w="841375" h="60325">
                  <a:moveTo>
                    <a:pt x="6928" y="21056"/>
                  </a:moveTo>
                  <a:lnTo>
                    <a:pt x="3282" y="21056"/>
                  </a:lnTo>
                  <a:lnTo>
                    <a:pt x="1458" y="22880"/>
                  </a:lnTo>
                  <a:lnTo>
                    <a:pt x="0" y="24690"/>
                  </a:lnTo>
                  <a:lnTo>
                    <a:pt x="0" y="30134"/>
                  </a:lnTo>
                  <a:lnTo>
                    <a:pt x="1458" y="33401"/>
                  </a:lnTo>
                  <a:lnTo>
                    <a:pt x="3282" y="35225"/>
                  </a:lnTo>
                  <a:lnTo>
                    <a:pt x="786117" y="37035"/>
                  </a:lnTo>
                  <a:lnTo>
                    <a:pt x="775620" y="37035"/>
                  </a:lnTo>
                  <a:lnTo>
                    <a:pt x="782467" y="30134"/>
                  </a:lnTo>
                  <a:lnTo>
                    <a:pt x="775270" y="22880"/>
                  </a:lnTo>
                  <a:lnTo>
                    <a:pt x="782467" y="22880"/>
                  </a:lnTo>
                  <a:lnTo>
                    <a:pt x="6928" y="21056"/>
                  </a:lnTo>
                  <a:close/>
                </a:path>
                <a:path w="841375" h="60325">
                  <a:moveTo>
                    <a:pt x="819563" y="22880"/>
                  </a:moveTo>
                  <a:lnTo>
                    <a:pt x="786117" y="22880"/>
                  </a:lnTo>
                  <a:lnTo>
                    <a:pt x="789768" y="26515"/>
                  </a:lnTo>
                  <a:lnTo>
                    <a:pt x="789768" y="33401"/>
                  </a:lnTo>
                  <a:lnTo>
                    <a:pt x="786117" y="37035"/>
                  </a:lnTo>
                  <a:lnTo>
                    <a:pt x="820597" y="37035"/>
                  </a:lnTo>
                  <a:lnTo>
                    <a:pt x="840802" y="30134"/>
                  </a:lnTo>
                  <a:lnTo>
                    <a:pt x="819563" y="22880"/>
                  </a:lnTo>
                  <a:close/>
                </a:path>
              </a:pathLst>
            </a:custGeom>
            <a:solidFill>
              <a:srgbClr val="000000"/>
            </a:solidFill>
          </p:spPr>
          <p:txBody>
            <a:bodyPr wrap="square" lIns="0" tIns="0" rIns="0" bIns="0" rtlCol="0"/>
            <a:lstStyle/>
            <a:p/>
          </p:txBody>
        </p:sp>
        <p:sp>
          <p:nvSpPr>
            <p:cNvPr id="208" name="object 208" descr=""/>
            <p:cNvSpPr/>
            <p:nvPr/>
          </p:nvSpPr>
          <p:spPr>
            <a:xfrm>
              <a:off x="1589077" y="6387363"/>
              <a:ext cx="841375" cy="60325"/>
            </a:xfrm>
            <a:custGeom>
              <a:avLst/>
              <a:gdLst/>
              <a:ahLst/>
              <a:cxnLst/>
              <a:rect l="l" t="t" r="r" b="b"/>
              <a:pathLst>
                <a:path w="841375" h="60325">
                  <a:moveTo>
                    <a:pt x="6928" y="21056"/>
                  </a:moveTo>
                  <a:lnTo>
                    <a:pt x="782467" y="22880"/>
                  </a:lnTo>
                  <a:lnTo>
                    <a:pt x="786117" y="22880"/>
                  </a:lnTo>
                  <a:lnTo>
                    <a:pt x="787943" y="24690"/>
                  </a:lnTo>
                  <a:lnTo>
                    <a:pt x="789768" y="26515"/>
                  </a:lnTo>
                  <a:lnTo>
                    <a:pt x="789768" y="30134"/>
                  </a:lnTo>
                  <a:lnTo>
                    <a:pt x="789768" y="33401"/>
                  </a:lnTo>
                  <a:lnTo>
                    <a:pt x="787943" y="35225"/>
                  </a:lnTo>
                  <a:lnTo>
                    <a:pt x="786117" y="37035"/>
                  </a:lnTo>
                  <a:lnTo>
                    <a:pt x="782467" y="37035"/>
                  </a:lnTo>
                  <a:lnTo>
                    <a:pt x="6928" y="35225"/>
                  </a:lnTo>
                  <a:lnTo>
                    <a:pt x="3282" y="35225"/>
                  </a:lnTo>
                  <a:lnTo>
                    <a:pt x="1458" y="33401"/>
                  </a:lnTo>
                  <a:lnTo>
                    <a:pt x="0" y="30134"/>
                  </a:lnTo>
                  <a:lnTo>
                    <a:pt x="0" y="28324"/>
                  </a:lnTo>
                  <a:lnTo>
                    <a:pt x="0" y="24690"/>
                  </a:lnTo>
                  <a:lnTo>
                    <a:pt x="1458" y="22880"/>
                  </a:lnTo>
                  <a:lnTo>
                    <a:pt x="3282" y="21056"/>
                  </a:lnTo>
                  <a:lnTo>
                    <a:pt x="6928" y="21056"/>
                  </a:lnTo>
                  <a:close/>
                </a:path>
                <a:path w="841375" h="60325">
                  <a:moveTo>
                    <a:pt x="782467" y="30134"/>
                  </a:moveTo>
                  <a:lnTo>
                    <a:pt x="752571" y="0"/>
                  </a:lnTo>
                  <a:lnTo>
                    <a:pt x="840802" y="30134"/>
                  </a:lnTo>
                  <a:lnTo>
                    <a:pt x="752571" y="60269"/>
                  </a:lnTo>
                  <a:lnTo>
                    <a:pt x="782467" y="30134"/>
                  </a:lnTo>
                  <a:close/>
                </a:path>
              </a:pathLst>
            </a:custGeom>
            <a:ln w="3175">
              <a:solidFill>
                <a:srgbClr val="000000"/>
              </a:solidFill>
            </a:ln>
          </p:spPr>
          <p:txBody>
            <a:bodyPr wrap="square" lIns="0" tIns="0" rIns="0" bIns="0" rtlCol="0"/>
            <a:lstStyle/>
            <a:p/>
          </p:txBody>
        </p:sp>
        <p:sp>
          <p:nvSpPr>
            <p:cNvPr id="209" name="object 209" descr=""/>
            <p:cNvSpPr/>
            <p:nvPr/>
          </p:nvSpPr>
          <p:spPr>
            <a:xfrm>
              <a:off x="1593818" y="635169"/>
              <a:ext cx="0" cy="5778500"/>
            </a:xfrm>
            <a:custGeom>
              <a:avLst/>
              <a:gdLst/>
              <a:ahLst/>
              <a:cxnLst/>
              <a:rect l="l" t="t" r="r" b="b"/>
              <a:pathLst>
                <a:path w="0" h="5778500">
                  <a:moveTo>
                    <a:pt x="0" y="5778340"/>
                  </a:moveTo>
                  <a:lnTo>
                    <a:pt x="0" y="0"/>
                  </a:lnTo>
                </a:path>
              </a:pathLst>
            </a:custGeom>
            <a:ln w="10573">
              <a:solidFill>
                <a:srgbClr val="000000"/>
              </a:solidFill>
            </a:ln>
          </p:spPr>
          <p:txBody>
            <a:bodyPr wrap="square" lIns="0" tIns="0" rIns="0" bIns="0" rtlCol="0"/>
            <a:lstStyle/>
            <a:p/>
          </p:txBody>
        </p:sp>
        <p:sp>
          <p:nvSpPr>
            <p:cNvPr id="210" name="object 210" descr=""/>
            <p:cNvSpPr/>
            <p:nvPr/>
          </p:nvSpPr>
          <p:spPr>
            <a:xfrm>
              <a:off x="1589076" y="607506"/>
              <a:ext cx="222885" cy="60325"/>
            </a:xfrm>
            <a:custGeom>
              <a:avLst/>
              <a:gdLst/>
              <a:ahLst/>
              <a:cxnLst/>
              <a:rect l="l" t="t" r="r" b="b"/>
              <a:pathLst>
                <a:path w="222885" h="60325">
                  <a:moveTo>
                    <a:pt x="134186" y="0"/>
                  </a:moveTo>
                  <a:lnTo>
                    <a:pt x="164083" y="29869"/>
                  </a:lnTo>
                  <a:lnTo>
                    <a:pt x="134186" y="60034"/>
                  </a:lnTo>
                  <a:lnTo>
                    <a:pt x="201328" y="37079"/>
                  </a:lnTo>
                  <a:lnTo>
                    <a:pt x="167718" y="37079"/>
                  </a:lnTo>
                  <a:lnTo>
                    <a:pt x="169544" y="35314"/>
                  </a:lnTo>
                  <a:lnTo>
                    <a:pt x="171369" y="33401"/>
                  </a:lnTo>
                  <a:lnTo>
                    <a:pt x="171369" y="26632"/>
                  </a:lnTo>
                  <a:lnTo>
                    <a:pt x="169544" y="24719"/>
                  </a:lnTo>
                  <a:lnTo>
                    <a:pt x="167718" y="22954"/>
                  </a:lnTo>
                  <a:lnTo>
                    <a:pt x="201990" y="22954"/>
                  </a:lnTo>
                  <a:lnTo>
                    <a:pt x="134186" y="0"/>
                  </a:lnTo>
                  <a:close/>
                </a:path>
                <a:path w="222885" h="60325">
                  <a:moveTo>
                    <a:pt x="157161" y="22954"/>
                  </a:moveTo>
                  <a:lnTo>
                    <a:pt x="3282" y="22954"/>
                  </a:lnTo>
                  <a:lnTo>
                    <a:pt x="1458" y="24719"/>
                  </a:lnTo>
                  <a:lnTo>
                    <a:pt x="0" y="26632"/>
                  </a:lnTo>
                  <a:lnTo>
                    <a:pt x="0" y="33401"/>
                  </a:lnTo>
                  <a:lnTo>
                    <a:pt x="1458" y="35314"/>
                  </a:lnTo>
                  <a:lnTo>
                    <a:pt x="3282" y="37079"/>
                  </a:lnTo>
                  <a:lnTo>
                    <a:pt x="156937" y="37079"/>
                  </a:lnTo>
                  <a:lnTo>
                    <a:pt x="164083" y="29869"/>
                  </a:lnTo>
                  <a:lnTo>
                    <a:pt x="157161" y="22954"/>
                  </a:lnTo>
                  <a:close/>
                </a:path>
                <a:path w="222885" h="60325">
                  <a:moveTo>
                    <a:pt x="201990" y="22954"/>
                  </a:moveTo>
                  <a:lnTo>
                    <a:pt x="167718" y="22954"/>
                  </a:lnTo>
                  <a:lnTo>
                    <a:pt x="169544" y="24719"/>
                  </a:lnTo>
                  <a:lnTo>
                    <a:pt x="171369" y="26632"/>
                  </a:lnTo>
                  <a:lnTo>
                    <a:pt x="171369" y="33401"/>
                  </a:lnTo>
                  <a:lnTo>
                    <a:pt x="169544" y="35314"/>
                  </a:lnTo>
                  <a:lnTo>
                    <a:pt x="167718" y="37079"/>
                  </a:lnTo>
                  <a:lnTo>
                    <a:pt x="201328" y="37079"/>
                  </a:lnTo>
                  <a:lnTo>
                    <a:pt x="222418" y="29869"/>
                  </a:lnTo>
                  <a:lnTo>
                    <a:pt x="201990" y="22954"/>
                  </a:lnTo>
                  <a:close/>
                </a:path>
              </a:pathLst>
            </a:custGeom>
            <a:solidFill>
              <a:srgbClr val="000000"/>
            </a:solidFill>
          </p:spPr>
          <p:txBody>
            <a:bodyPr wrap="square" lIns="0" tIns="0" rIns="0" bIns="0" rtlCol="0"/>
            <a:lstStyle/>
            <a:p/>
          </p:txBody>
        </p:sp>
        <p:sp>
          <p:nvSpPr>
            <p:cNvPr id="211" name="object 211" descr=""/>
            <p:cNvSpPr/>
            <p:nvPr/>
          </p:nvSpPr>
          <p:spPr>
            <a:xfrm>
              <a:off x="1589076" y="607507"/>
              <a:ext cx="222885" cy="60325"/>
            </a:xfrm>
            <a:custGeom>
              <a:avLst/>
              <a:gdLst/>
              <a:ahLst/>
              <a:cxnLst/>
              <a:rect l="l" t="t" r="r" b="b"/>
              <a:pathLst>
                <a:path w="222885" h="60325">
                  <a:moveTo>
                    <a:pt x="6928" y="22954"/>
                  </a:moveTo>
                  <a:lnTo>
                    <a:pt x="164083" y="22954"/>
                  </a:lnTo>
                  <a:lnTo>
                    <a:pt x="167718" y="22954"/>
                  </a:lnTo>
                  <a:lnTo>
                    <a:pt x="169544" y="24719"/>
                  </a:lnTo>
                  <a:lnTo>
                    <a:pt x="171369" y="26632"/>
                  </a:lnTo>
                  <a:lnTo>
                    <a:pt x="171369" y="29869"/>
                  </a:lnTo>
                  <a:lnTo>
                    <a:pt x="171369" y="33401"/>
                  </a:lnTo>
                  <a:lnTo>
                    <a:pt x="169544" y="35314"/>
                  </a:lnTo>
                  <a:lnTo>
                    <a:pt x="167718" y="37079"/>
                  </a:lnTo>
                  <a:lnTo>
                    <a:pt x="164083" y="37079"/>
                  </a:lnTo>
                  <a:lnTo>
                    <a:pt x="6928" y="37079"/>
                  </a:lnTo>
                  <a:lnTo>
                    <a:pt x="3282" y="37079"/>
                  </a:lnTo>
                  <a:lnTo>
                    <a:pt x="1458" y="35314"/>
                  </a:lnTo>
                  <a:lnTo>
                    <a:pt x="0" y="33401"/>
                  </a:lnTo>
                  <a:lnTo>
                    <a:pt x="0" y="29869"/>
                  </a:lnTo>
                  <a:lnTo>
                    <a:pt x="0" y="26632"/>
                  </a:lnTo>
                  <a:lnTo>
                    <a:pt x="1458" y="24719"/>
                  </a:lnTo>
                  <a:lnTo>
                    <a:pt x="3282" y="22954"/>
                  </a:lnTo>
                  <a:lnTo>
                    <a:pt x="6928" y="22954"/>
                  </a:lnTo>
                  <a:close/>
                </a:path>
                <a:path w="222885" h="60325">
                  <a:moveTo>
                    <a:pt x="164083" y="29869"/>
                  </a:moveTo>
                  <a:lnTo>
                    <a:pt x="134186" y="0"/>
                  </a:lnTo>
                  <a:lnTo>
                    <a:pt x="222418" y="29869"/>
                  </a:lnTo>
                  <a:lnTo>
                    <a:pt x="134186" y="60034"/>
                  </a:lnTo>
                  <a:lnTo>
                    <a:pt x="164083" y="29869"/>
                  </a:lnTo>
                  <a:close/>
                </a:path>
              </a:pathLst>
            </a:custGeom>
            <a:ln w="3175">
              <a:solidFill>
                <a:srgbClr val="000000"/>
              </a:solidFill>
            </a:ln>
          </p:spPr>
          <p:txBody>
            <a:bodyPr wrap="square" lIns="0" tIns="0" rIns="0" bIns="0" rtlCol="0"/>
            <a:lstStyle/>
            <a:p/>
          </p:txBody>
        </p:sp>
        <p:sp>
          <p:nvSpPr>
            <p:cNvPr id="212" name="object 212" descr=""/>
            <p:cNvSpPr/>
            <p:nvPr/>
          </p:nvSpPr>
          <p:spPr>
            <a:xfrm>
              <a:off x="1589076" y="1019212"/>
              <a:ext cx="222885" cy="58419"/>
            </a:xfrm>
            <a:custGeom>
              <a:avLst/>
              <a:gdLst/>
              <a:ahLst/>
              <a:cxnLst/>
              <a:rect l="l" t="t" r="r" b="b"/>
              <a:pathLst>
                <a:path w="222885" h="58419">
                  <a:moveTo>
                    <a:pt x="134186" y="0"/>
                  </a:moveTo>
                  <a:lnTo>
                    <a:pt x="164083" y="28398"/>
                  </a:lnTo>
                  <a:lnTo>
                    <a:pt x="134186" y="58415"/>
                  </a:lnTo>
                  <a:lnTo>
                    <a:pt x="196035" y="37374"/>
                  </a:lnTo>
                  <a:lnTo>
                    <a:pt x="164083" y="37374"/>
                  </a:lnTo>
                  <a:lnTo>
                    <a:pt x="167718" y="35608"/>
                  </a:lnTo>
                  <a:lnTo>
                    <a:pt x="169544" y="33842"/>
                  </a:lnTo>
                  <a:lnTo>
                    <a:pt x="171369" y="31929"/>
                  </a:lnTo>
                  <a:lnTo>
                    <a:pt x="171369" y="26485"/>
                  </a:lnTo>
                  <a:lnTo>
                    <a:pt x="169544" y="25161"/>
                  </a:lnTo>
                  <a:lnTo>
                    <a:pt x="167718" y="23248"/>
                  </a:lnTo>
                  <a:lnTo>
                    <a:pt x="164083" y="21482"/>
                  </a:lnTo>
                  <a:lnTo>
                    <a:pt x="200931" y="21482"/>
                  </a:lnTo>
                  <a:lnTo>
                    <a:pt x="134186" y="0"/>
                  </a:lnTo>
                  <a:close/>
                </a:path>
                <a:path w="222885" h="58419">
                  <a:moveTo>
                    <a:pt x="156802" y="21482"/>
                  </a:moveTo>
                  <a:lnTo>
                    <a:pt x="6928" y="21482"/>
                  </a:lnTo>
                  <a:lnTo>
                    <a:pt x="3282" y="23248"/>
                  </a:lnTo>
                  <a:lnTo>
                    <a:pt x="1458" y="25161"/>
                  </a:lnTo>
                  <a:lnTo>
                    <a:pt x="0" y="26485"/>
                  </a:lnTo>
                  <a:lnTo>
                    <a:pt x="0" y="31929"/>
                  </a:lnTo>
                  <a:lnTo>
                    <a:pt x="1458" y="33842"/>
                  </a:lnTo>
                  <a:lnTo>
                    <a:pt x="3282" y="35608"/>
                  </a:lnTo>
                  <a:lnTo>
                    <a:pt x="6928" y="37374"/>
                  </a:lnTo>
                  <a:lnTo>
                    <a:pt x="155143" y="37374"/>
                  </a:lnTo>
                  <a:lnTo>
                    <a:pt x="164083" y="28398"/>
                  </a:lnTo>
                  <a:lnTo>
                    <a:pt x="156802" y="21482"/>
                  </a:lnTo>
                  <a:close/>
                </a:path>
                <a:path w="222885" h="58419">
                  <a:moveTo>
                    <a:pt x="200931" y="21482"/>
                  </a:moveTo>
                  <a:lnTo>
                    <a:pt x="164083" y="21482"/>
                  </a:lnTo>
                  <a:lnTo>
                    <a:pt x="167718" y="23248"/>
                  </a:lnTo>
                  <a:lnTo>
                    <a:pt x="169544" y="25161"/>
                  </a:lnTo>
                  <a:lnTo>
                    <a:pt x="171369" y="26485"/>
                  </a:lnTo>
                  <a:lnTo>
                    <a:pt x="171369" y="31929"/>
                  </a:lnTo>
                  <a:lnTo>
                    <a:pt x="169544" y="33842"/>
                  </a:lnTo>
                  <a:lnTo>
                    <a:pt x="167718" y="35608"/>
                  </a:lnTo>
                  <a:lnTo>
                    <a:pt x="164083" y="37374"/>
                  </a:lnTo>
                  <a:lnTo>
                    <a:pt x="196035" y="37374"/>
                  </a:lnTo>
                  <a:lnTo>
                    <a:pt x="222418" y="28398"/>
                  </a:lnTo>
                  <a:lnTo>
                    <a:pt x="200931" y="21482"/>
                  </a:lnTo>
                  <a:close/>
                </a:path>
              </a:pathLst>
            </a:custGeom>
            <a:solidFill>
              <a:srgbClr val="000000"/>
            </a:solidFill>
          </p:spPr>
          <p:txBody>
            <a:bodyPr wrap="square" lIns="0" tIns="0" rIns="0" bIns="0" rtlCol="0"/>
            <a:lstStyle/>
            <a:p/>
          </p:txBody>
        </p:sp>
        <p:sp>
          <p:nvSpPr>
            <p:cNvPr id="213" name="object 213" descr=""/>
            <p:cNvSpPr/>
            <p:nvPr/>
          </p:nvSpPr>
          <p:spPr>
            <a:xfrm>
              <a:off x="1589076" y="1019212"/>
              <a:ext cx="222885" cy="58419"/>
            </a:xfrm>
            <a:custGeom>
              <a:avLst/>
              <a:gdLst/>
              <a:ahLst/>
              <a:cxnLst/>
              <a:rect l="l" t="t" r="r" b="b"/>
              <a:pathLst>
                <a:path w="222885" h="58419">
                  <a:moveTo>
                    <a:pt x="6928" y="21482"/>
                  </a:moveTo>
                  <a:lnTo>
                    <a:pt x="164083" y="21482"/>
                  </a:lnTo>
                  <a:lnTo>
                    <a:pt x="167718" y="23248"/>
                  </a:lnTo>
                  <a:lnTo>
                    <a:pt x="169544" y="25161"/>
                  </a:lnTo>
                  <a:lnTo>
                    <a:pt x="171369" y="26485"/>
                  </a:lnTo>
                  <a:lnTo>
                    <a:pt x="171369" y="28398"/>
                  </a:lnTo>
                  <a:lnTo>
                    <a:pt x="171369" y="31929"/>
                  </a:lnTo>
                  <a:lnTo>
                    <a:pt x="169544" y="33842"/>
                  </a:lnTo>
                  <a:lnTo>
                    <a:pt x="167718" y="35608"/>
                  </a:lnTo>
                  <a:lnTo>
                    <a:pt x="164083" y="37374"/>
                  </a:lnTo>
                  <a:lnTo>
                    <a:pt x="6928" y="37374"/>
                  </a:lnTo>
                  <a:lnTo>
                    <a:pt x="0" y="26485"/>
                  </a:lnTo>
                  <a:lnTo>
                    <a:pt x="1458" y="25161"/>
                  </a:lnTo>
                  <a:lnTo>
                    <a:pt x="3282" y="23248"/>
                  </a:lnTo>
                  <a:lnTo>
                    <a:pt x="6928" y="21482"/>
                  </a:lnTo>
                  <a:close/>
                </a:path>
                <a:path w="222885" h="58419">
                  <a:moveTo>
                    <a:pt x="164083" y="28398"/>
                  </a:moveTo>
                  <a:lnTo>
                    <a:pt x="134186" y="0"/>
                  </a:lnTo>
                  <a:lnTo>
                    <a:pt x="222418" y="28398"/>
                  </a:lnTo>
                  <a:lnTo>
                    <a:pt x="134186" y="58415"/>
                  </a:lnTo>
                  <a:lnTo>
                    <a:pt x="164083" y="28398"/>
                  </a:lnTo>
                  <a:close/>
                </a:path>
              </a:pathLst>
            </a:custGeom>
            <a:ln w="3175">
              <a:solidFill>
                <a:srgbClr val="000000"/>
              </a:solidFill>
            </a:ln>
          </p:spPr>
          <p:txBody>
            <a:bodyPr wrap="square" lIns="0" tIns="0" rIns="0" bIns="0" rtlCol="0"/>
            <a:lstStyle/>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82/72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887679" y="874623"/>
            <a:ext cx="8090534" cy="3952240"/>
          </a:xfrm>
          <a:prstGeom prst="rect">
            <a:avLst/>
          </a:prstGeom>
        </p:spPr>
        <p:txBody>
          <a:bodyPr wrap="square" lIns="0" tIns="104140" rIns="0" bIns="0" rtlCol="0" vert="horz">
            <a:spAutoFit/>
          </a:bodyPr>
          <a:lstStyle/>
          <a:p>
            <a:pPr marL="1097915" indent="-457834">
              <a:lnSpc>
                <a:spcPct val="100000"/>
              </a:lnSpc>
              <a:spcBef>
                <a:spcPts val="820"/>
              </a:spcBef>
              <a:buClr>
                <a:srgbClr val="4668F5"/>
              </a:buClr>
              <a:buSzPct val="65000"/>
              <a:buFont typeface="Wingdings"/>
              <a:buChar char=""/>
              <a:tabLst>
                <a:tab pos="1097915" algn="l"/>
              </a:tabLst>
            </a:pPr>
            <a:r>
              <a:rPr dirty="0" sz="2000" spc="-10" b="1">
                <a:solidFill>
                  <a:srgbClr val="00AFEF"/>
                </a:solidFill>
                <a:latin typeface="宋体"/>
                <a:cs typeface="宋体"/>
              </a:rPr>
              <a:t>容量最大可达</a:t>
            </a:r>
            <a:r>
              <a:rPr dirty="0" sz="2000" b="1">
                <a:solidFill>
                  <a:srgbClr val="9933FF"/>
                </a:solidFill>
                <a:latin typeface="Times New Roman"/>
                <a:cs typeface="Times New Roman"/>
              </a:rPr>
              <a:t>1GB</a:t>
            </a:r>
            <a:r>
              <a:rPr dirty="0" sz="2000" spc="-20" b="1">
                <a:solidFill>
                  <a:srgbClr val="00AFEF"/>
                </a:solidFill>
                <a:latin typeface="宋体"/>
                <a:cs typeface="宋体"/>
              </a:rPr>
              <a:t>。固态存储器的容量最大可达</a:t>
            </a:r>
            <a:r>
              <a:rPr dirty="0" sz="2000" spc="-10" b="1">
                <a:solidFill>
                  <a:srgbClr val="9933FF"/>
                </a:solidFill>
                <a:latin typeface="Times New Roman"/>
                <a:cs typeface="Times New Roman"/>
              </a:rPr>
              <a:t>4GB</a:t>
            </a:r>
            <a:r>
              <a:rPr dirty="0" sz="2000" spc="-50" b="1">
                <a:solidFill>
                  <a:srgbClr val="00AFEF"/>
                </a:solidFill>
                <a:latin typeface="宋体"/>
                <a:cs typeface="宋体"/>
              </a:rPr>
              <a:t>。</a:t>
            </a:r>
            <a:endParaRPr sz="2000">
              <a:latin typeface="宋体"/>
              <a:cs typeface="宋体"/>
            </a:endParaRPr>
          </a:p>
          <a:p>
            <a:pPr marL="1097915" marR="197485" indent="-457834">
              <a:lnSpc>
                <a:spcPct val="110000"/>
              </a:lnSpc>
              <a:spcBef>
                <a:spcPts val="480"/>
              </a:spcBef>
              <a:buClr>
                <a:srgbClr val="4668F5"/>
              </a:buClr>
              <a:buSzPct val="65000"/>
              <a:buFont typeface="Wingdings"/>
              <a:buChar char=""/>
              <a:tabLst>
                <a:tab pos="1097915" algn="l"/>
              </a:tabLst>
            </a:pPr>
            <a:r>
              <a:rPr dirty="0" sz="2000" b="1">
                <a:solidFill>
                  <a:srgbClr val="9933FF"/>
                </a:solidFill>
                <a:latin typeface="Times New Roman"/>
                <a:cs typeface="Times New Roman"/>
              </a:rPr>
              <a:t>4</a:t>
            </a:r>
            <a:r>
              <a:rPr dirty="0" sz="2000" spc="-15" b="1">
                <a:solidFill>
                  <a:srgbClr val="00AFEF"/>
                </a:solidFill>
                <a:latin typeface="宋体"/>
                <a:cs typeface="宋体"/>
              </a:rPr>
              <a:t>个存储器访问端口允许每个</a:t>
            </a:r>
            <a:r>
              <a:rPr dirty="0" sz="2000" spc="-20" b="1">
                <a:solidFill>
                  <a:srgbClr val="9933FF"/>
                </a:solidFill>
                <a:latin typeface="Times New Roman"/>
                <a:cs typeface="Times New Roman"/>
              </a:rPr>
              <a:t>CPU</a:t>
            </a:r>
            <a:r>
              <a:rPr dirty="0" sz="2000" spc="-25" b="1">
                <a:solidFill>
                  <a:srgbClr val="00AFEF"/>
                </a:solidFill>
                <a:latin typeface="宋体"/>
                <a:cs typeface="宋体"/>
              </a:rPr>
              <a:t>同时执行两个标量和向量取</a:t>
            </a:r>
            <a:r>
              <a:rPr dirty="0" sz="2000" spc="-15" b="1">
                <a:solidFill>
                  <a:srgbClr val="00AFEF"/>
                </a:solidFill>
                <a:latin typeface="宋体"/>
                <a:cs typeface="宋体"/>
              </a:rPr>
              <a:t>操作、一个存储操作和一个独立的</a:t>
            </a:r>
            <a:r>
              <a:rPr dirty="0" sz="2000" spc="-20" b="1">
                <a:solidFill>
                  <a:srgbClr val="9933FF"/>
                </a:solidFill>
                <a:latin typeface="Times New Roman"/>
                <a:cs typeface="Times New Roman"/>
              </a:rPr>
              <a:t>I/O</a:t>
            </a:r>
            <a:r>
              <a:rPr dirty="0" sz="2000" spc="-25" b="1">
                <a:solidFill>
                  <a:srgbClr val="00AFEF"/>
                </a:solidFill>
                <a:latin typeface="宋体"/>
                <a:cs typeface="宋体"/>
              </a:rPr>
              <a:t>操作。</a:t>
            </a:r>
            <a:endParaRPr sz="2000">
              <a:latin typeface="宋体"/>
              <a:cs typeface="宋体"/>
            </a:endParaRPr>
          </a:p>
          <a:p>
            <a:pPr marL="2165985">
              <a:lnSpc>
                <a:spcPct val="100000"/>
              </a:lnSpc>
              <a:spcBef>
                <a:spcPts val="720"/>
              </a:spcBef>
            </a:pPr>
            <a:r>
              <a:rPr dirty="0" sz="2000" spc="-30" b="1">
                <a:solidFill>
                  <a:srgbClr val="40458B"/>
                </a:solidFill>
                <a:latin typeface="宋体"/>
                <a:cs typeface="宋体"/>
              </a:rPr>
              <a:t>这些并行的存储器访问也采用流水线方式，使得向量</a:t>
            </a:r>
            <a:endParaRPr sz="2000">
              <a:latin typeface="宋体"/>
              <a:cs typeface="宋体"/>
            </a:endParaRPr>
          </a:p>
          <a:p>
            <a:pPr marL="1658620">
              <a:lnSpc>
                <a:spcPct val="100000"/>
              </a:lnSpc>
              <a:spcBef>
                <a:spcPts val="240"/>
              </a:spcBef>
            </a:pPr>
            <a:r>
              <a:rPr dirty="0" sz="2000" spc="-15" b="1">
                <a:solidFill>
                  <a:srgbClr val="40458B"/>
                </a:solidFill>
                <a:latin typeface="宋体"/>
                <a:cs typeface="宋体"/>
              </a:rPr>
              <a:t>读和向量写可以同时进行。</a:t>
            </a:r>
            <a:endParaRPr sz="2000">
              <a:latin typeface="宋体"/>
              <a:cs typeface="宋体"/>
            </a:endParaRPr>
          </a:p>
          <a:p>
            <a:pPr marL="469900" marR="5080" indent="-457834">
              <a:lnSpc>
                <a:spcPct val="110000"/>
              </a:lnSpc>
              <a:spcBef>
                <a:spcPts val="525"/>
              </a:spcBef>
              <a:buSzPct val="89583"/>
              <a:buFont typeface="Wingdings"/>
              <a:buChar char=""/>
              <a:tabLst>
                <a:tab pos="469900" algn="l"/>
              </a:tabLst>
            </a:pPr>
            <a:r>
              <a:rPr dirty="0" sz="2400" spc="-25">
                <a:solidFill>
                  <a:srgbClr val="40458B"/>
                </a:solidFill>
                <a:latin typeface="Times New Roman"/>
                <a:cs typeface="Times New Roman"/>
              </a:rPr>
              <a:t>CPU</a:t>
            </a:r>
            <a:r>
              <a:rPr dirty="0" sz="2400">
                <a:solidFill>
                  <a:srgbClr val="40458B"/>
                </a:solidFill>
                <a:latin typeface="黑体"/>
                <a:cs typeface="黑体"/>
              </a:rPr>
              <a:t>的计算系统由</a:t>
            </a:r>
            <a:r>
              <a:rPr dirty="0" sz="2400">
                <a:solidFill>
                  <a:srgbClr val="9933FF"/>
                </a:solidFill>
                <a:latin typeface="Times New Roman"/>
                <a:cs typeface="Times New Roman"/>
              </a:rPr>
              <a:t>14</a:t>
            </a:r>
            <a:r>
              <a:rPr dirty="0" sz="2400">
                <a:solidFill>
                  <a:srgbClr val="40458B"/>
                </a:solidFill>
                <a:latin typeface="黑体"/>
                <a:cs typeface="黑体"/>
              </a:rPr>
              <a:t>个功能部件组成，分为</a:t>
            </a:r>
            <a:r>
              <a:rPr dirty="0" sz="2400" spc="-10">
                <a:solidFill>
                  <a:srgbClr val="D50092"/>
                </a:solidFill>
                <a:latin typeface="黑体"/>
                <a:cs typeface="黑体"/>
              </a:rPr>
              <a:t>向量、标量、地址和控制</a:t>
            </a:r>
            <a:r>
              <a:rPr dirty="0" sz="2400" spc="-10">
                <a:solidFill>
                  <a:srgbClr val="9933FF"/>
                </a:solidFill>
                <a:latin typeface="Times New Roman"/>
                <a:cs typeface="Times New Roman"/>
              </a:rPr>
              <a:t>4</a:t>
            </a:r>
            <a:r>
              <a:rPr dirty="0" sz="2400" spc="-20">
                <a:solidFill>
                  <a:srgbClr val="40458B"/>
                </a:solidFill>
                <a:latin typeface="黑体"/>
                <a:cs typeface="黑体"/>
              </a:rPr>
              <a:t>个子系统。</a:t>
            </a:r>
            <a:endParaRPr sz="2400">
              <a:latin typeface="黑体"/>
              <a:cs typeface="黑体"/>
            </a:endParaRPr>
          </a:p>
          <a:p>
            <a:pPr lvl="1" marL="1097915" indent="-457834">
              <a:lnSpc>
                <a:spcPct val="100000"/>
              </a:lnSpc>
              <a:spcBef>
                <a:spcPts val="775"/>
              </a:spcBef>
              <a:buClr>
                <a:srgbClr val="4668F5"/>
              </a:buClr>
              <a:buSzPct val="65000"/>
              <a:buFont typeface="Wingdings"/>
              <a:buChar char=""/>
              <a:tabLst>
                <a:tab pos="1097915" algn="l"/>
              </a:tabLst>
            </a:pPr>
            <a:r>
              <a:rPr dirty="0" sz="2000" spc="-20" b="1">
                <a:solidFill>
                  <a:srgbClr val="00AFEF"/>
                </a:solidFill>
                <a:latin typeface="宋体"/>
                <a:cs typeface="宋体"/>
              </a:rPr>
              <a:t>向量和标量指令可以并行地执行</a:t>
            </a:r>
            <a:endParaRPr sz="2000">
              <a:latin typeface="宋体"/>
              <a:cs typeface="宋体"/>
            </a:endParaRPr>
          </a:p>
          <a:p>
            <a:pPr lvl="1" marL="1097915" indent="-457834">
              <a:lnSpc>
                <a:spcPct val="100000"/>
              </a:lnSpc>
              <a:spcBef>
                <a:spcPts val="720"/>
              </a:spcBef>
              <a:buClr>
                <a:srgbClr val="4668F5"/>
              </a:buClr>
              <a:buSzPct val="65000"/>
              <a:buFont typeface="Wingdings"/>
              <a:buChar char=""/>
              <a:tabLst>
                <a:tab pos="1097915" algn="l"/>
              </a:tabLst>
            </a:pPr>
            <a:r>
              <a:rPr dirty="0" sz="2000" spc="-10" b="1">
                <a:solidFill>
                  <a:srgbClr val="00AFEF"/>
                </a:solidFill>
                <a:latin typeface="宋体"/>
                <a:cs typeface="宋体"/>
              </a:rPr>
              <a:t>所有算术运算都是“寄存器</a:t>
            </a:r>
            <a:r>
              <a:rPr dirty="0" sz="2000" spc="-10" b="1">
                <a:solidFill>
                  <a:srgbClr val="00AFEF"/>
                </a:solidFill>
                <a:latin typeface="Times New Roman"/>
                <a:cs typeface="Times New Roman"/>
              </a:rPr>
              <a:t>-</a:t>
            </a:r>
            <a:r>
              <a:rPr dirty="0" sz="2000" spc="-25" b="1">
                <a:solidFill>
                  <a:srgbClr val="00AFEF"/>
                </a:solidFill>
                <a:latin typeface="宋体"/>
                <a:cs typeface="宋体"/>
              </a:rPr>
              <a:t>寄存器”类型</a:t>
            </a:r>
            <a:endParaRPr sz="2000">
              <a:latin typeface="宋体"/>
              <a:cs typeface="宋体"/>
            </a:endParaRPr>
          </a:p>
          <a:p>
            <a:pPr lvl="1" marL="1097915" indent="-457834">
              <a:lnSpc>
                <a:spcPct val="100000"/>
              </a:lnSpc>
              <a:spcBef>
                <a:spcPts val="720"/>
              </a:spcBef>
              <a:buClr>
                <a:srgbClr val="4668F5"/>
              </a:buClr>
              <a:buSzPct val="65000"/>
              <a:buFont typeface="Wingdings"/>
              <a:buChar char=""/>
              <a:tabLst>
                <a:tab pos="1097915" algn="l"/>
              </a:tabLst>
            </a:pPr>
            <a:r>
              <a:rPr dirty="0" sz="2000" spc="-10" b="1">
                <a:solidFill>
                  <a:srgbClr val="00AFEF"/>
                </a:solidFill>
                <a:latin typeface="宋体"/>
                <a:cs typeface="宋体"/>
              </a:rPr>
              <a:t>向量指令可以使用</a:t>
            </a:r>
            <a:r>
              <a:rPr dirty="0" sz="2000" spc="-10" b="1">
                <a:solidFill>
                  <a:srgbClr val="9933FF"/>
                </a:solidFill>
                <a:latin typeface="Times New Roman"/>
                <a:cs typeface="Times New Roman"/>
              </a:rPr>
              <a:t>14</a:t>
            </a:r>
            <a:r>
              <a:rPr dirty="0" sz="2000" spc="-15" b="1">
                <a:solidFill>
                  <a:srgbClr val="00AFEF"/>
                </a:solidFill>
                <a:latin typeface="宋体"/>
                <a:cs typeface="宋体"/>
              </a:rPr>
              <a:t>个功能部件中的</a:t>
            </a:r>
            <a:r>
              <a:rPr dirty="0" sz="2000" b="1">
                <a:solidFill>
                  <a:srgbClr val="9933FF"/>
                </a:solidFill>
                <a:latin typeface="Times New Roman"/>
                <a:cs typeface="Times New Roman"/>
              </a:rPr>
              <a:t>8</a:t>
            </a:r>
            <a:r>
              <a:rPr dirty="0" sz="2000" spc="-50" b="1">
                <a:solidFill>
                  <a:srgbClr val="080808"/>
                </a:solidFill>
                <a:latin typeface="宋体"/>
                <a:cs typeface="宋体"/>
              </a:rPr>
              <a:t>个</a:t>
            </a:r>
            <a:endParaRPr sz="2000">
              <a:latin typeface="宋体"/>
              <a:cs typeface="宋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83/72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1394205" y="1261617"/>
            <a:ext cx="7313295" cy="4937125"/>
          </a:xfrm>
          <a:prstGeom prst="rect">
            <a:avLst/>
          </a:prstGeom>
        </p:spPr>
        <p:txBody>
          <a:bodyPr wrap="square" lIns="0" tIns="36830" rIns="0" bIns="0" rtlCol="0" vert="horz">
            <a:spAutoFit/>
          </a:bodyPr>
          <a:lstStyle/>
          <a:p>
            <a:pPr marL="469900" marR="434340" indent="-457200">
              <a:lnSpc>
                <a:spcPts val="2760"/>
              </a:lnSpc>
              <a:spcBef>
                <a:spcPts val="290"/>
              </a:spcBef>
              <a:buSzPct val="89583"/>
              <a:buFont typeface="Wingdings"/>
              <a:buChar char=""/>
              <a:tabLst>
                <a:tab pos="469900" algn="l"/>
              </a:tabLst>
            </a:pPr>
            <a:r>
              <a:rPr dirty="0" sz="2400" spc="-5">
                <a:solidFill>
                  <a:srgbClr val="40458B"/>
                </a:solidFill>
                <a:latin typeface="黑体"/>
                <a:cs typeface="黑体"/>
              </a:rPr>
              <a:t>系统使用了大量地址寄存器、标量寄存器、向量</a:t>
            </a:r>
            <a:r>
              <a:rPr dirty="0" sz="2400" spc="-15">
                <a:solidFill>
                  <a:srgbClr val="40458B"/>
                </a:solidFill>
                <a:latin typeface="黑体"/>
                <a:cs typeface="黑体"/>
              </a:rPr>
              <a:t>寄存器、中间寄存器和临时寄存器。</a:t>
            </a:r>
            <a:endParaRPr sz="2400">
              <a:latin typeface="黑体"/>
              <a:cs typeface="黑体"/>
            </a:endParaRPr>
          </a:p>
          <a:p>
            <a:pPr lvl="1" marL="1097280" marR="5080" indent="-457200">
              <a:lnSpc>
                <a:spcPct val="100000"/>
              </a:lnSpc>
              <a:spcBef>
                <a:spcPts val="415"/>
              </a:spcBef>
              <a:buClr>
                <a:srgbClr val="4668F5"/>
              </a:buClr>
              <a:buSzPct val="65000"/>
              <a:buFont typeface="Wingdings"/>
              <a:buChar char=""/>
              <a:tabLst>
                <a:tab pos="1097280" algn="l"/>
              </a:tabLst>
            </a:pPr>
            <a:r>
              <a:rPr dirty="0" sz="2000" spc="-20" b="1">
                <a:solidFill>
                  <a:srgbClr val="00AFEF"/>
                </a:solidFill>
                <a:latin typeface="宋体"/>
                <a:cs typeface="宋体"/>
              </a:rPr>
              <a:t>通过对寄存器及多体存储器和算术</a:t>
            </a:r>
            <a:r>
              <a:rPr dirty="0" sz="2000" b="1">
                <a:solidFill>
                  <a:srgbClr val="00AFEF"/>
                </a:solidFill>
                <a:latin typeface="Times New Roman"/>
                <a:cs typeface="Times New Roman"/>
              </a:rPr>
              <a:t>/</a:t>
            </a:r>
            <a:r>
              <a:rPr dirty="0" sz="2000" spc="-25" b="1">
                <a:solidFill>
                  <a:srgbClr val="00AFEF"/>
                </a:solidFill>
                <a:latin typeface="宋体"/>
                <a:cs typeface="宋体"/>
              </a:rPr>
              <a:t>逻辑流水线的使用，</a:t>
            </a:r>
            <a:r>
              <a:rPr dirty="0" sz="2000" spc="-20" b="1">
                <a:solidFill>
                  <a:srgbClr val="00AFEF"/>
                </a:solidFill>
                <a:latin typeface="宋体"/>
                <a:cs typeface="宋体"/>
              </a:rPr>
              <a:t>可以实现功能流水线灵活的链接。</a:t>
            </a:r>
            <a:endParaRPr sz="2000">
              <a:latin typeface="宋体"/>
              <a:cs typeface="宋体"/>
            </a:endParaRPr>
          </a:p>
          <a:p>
            <a:pPr marL="469265" indent="-456565">
              <a:lnSpc>
                <a:spcPct val="100000"/>
              </a:lnSpc>
              <a:spcBef>
                <a:spcPts val="570"/>
              </a:spcBef>
              <a:buSzPct val="89583"/>
              <a:buFont typeface="Wingdings"/>
              <a:buChar char=""/>
              <a:tabLst>
                <a:tab pos="469265" algn="l"/>
              </a:tabLst>
            </a:pPr>
            <a:r>
              <a:rPr dirty="0" sz="2400" spc="-10">
                <a:solidFill>
                  <a:srgbClr val="40458B"/>
                </a:solidFill>
                <a:latin typeface="黑体"/>
                <a:cs typeface="黑体"/>
              </a:rPr>
              <a:t>浮点和整数算术运算都是</a:t>
            </a:r>
            <a:r>
              <a:rPr dirty="0" sz="2400" spc="-10">
                <a:solidFill>
                  <a:srgbClr val="9933FF"/>
                </a:solidFill>
                <a:latin typeface="Times New Roman"/>
                <a:cs typeface="Times New Roman"/>
              </a:rPr>
              <a:t>64</a:t>
            </a:r>
            <a:r>
              <a:rPr dirty="0" sz="2400" spc="-30">
                <a:solidFill>
                  <a:srgbClr val="40458B"/>
                </a:solidFill>
                <a:latin typeface="黑体"/>
                <a:cs typeface="黑体"/>
              </a:rPr>
              <a:t>位。</a:t>
            </a:r>
            <a:endParaRPr sz="2400">
              <a:latin typeface="黑体"/>
              <a:cs typeface="黑体"/>
            </a:endParaRPr>
          </a:p>
          <a:p>
            <a:pPr marL="469265" indent="-456565">
              <a:lnSpc>
                <a:spcPct val="100000"/>
              </a:lnSpc>
              <a:spcBef>
                <a:spcPts val="580"/>
              </a:spcBef>
              <a:buSzPct val="89583"/>
              <a:buFont typeface="Wingdings"/>
              <a:buChar char=""/>
              <a:tabLst>
                <a:tab pos="469265" algn="l"/>
              </a:tabLst>
            </a:pPr>
            <a:r>
              <a:rPr dirty="0" sz="2400">
                <a:solidFill>
                  <a:srgbClr val="40458B"/>
                </a:solidFill>
                <a:latin typeface="黑体"/>
                <a:cs typeface="黑体"/>
              </a:rPr>
              <a:t>大型指令高速缓存可同时存放</a:t>
            </a:r>
            <a:r>
              <a:rPr dirty="0" sz="2400">
                <a:solidFill>
                  <a:srgbClr val="9933FF"/>
                </a:solidFill>
                <a:latin typeface="Times New Roman"/>
                <a:cs typeface="Times New Roman"/>
              </a:rPr>
              <a:t>512</a:t>
            </a:r>
            <a:r>
              <a:rPr dirty="0" sz="2400">
                <a:solidFill>
                  <a:srgbClr val="40458B"/>
                </a:solidFill>
                <a:latin typeface="黑体"/>
                <a:cs typeface="黑体"/>
              </a:rPr>
              <a:t>条</a:t>
            </a:r>
            <a:r>
              <a:rPr dirty="0" sz="2400">
                <a:solidFill>
                  <a:srgbClr val="9933FF"/>
                </a:solidFill>
                <a:latin typeface="Times New Roman"/>
                <a:cs typeface="Times New Roman"/>
              </a:rPr>
              <a:t>16</a:t>
            </a:r>
            <a:r>
              <a:rPr dirty="0" sz="2400" spc="-10">
                <a:solidFill>
                  <a:srgbClr val="40458B"/>
                </a:solidFill>
                <a:latin typeface="黑体"/>
                <a:cs typeface="黑体"/>
              </a:rPr>
              <a:t>位的指令。</a:t>
            </a:r>
            <a:endParaRPr sz="2400">
              <a:latin typeface="黑体"/>
              <a:cs typeface="黑体"/>
            </a:endParaRPr>
          </a:p>
          <a:p>
            <a:pPr marL="469900" marR="434340" indent="-457200">
              <a:lnSpc>
                <a:spcPts val="2760"/>
              </a:lnSpc>
              <a:spcBef>
                <a:spcPts val="890"/>
              </a:spcBef>
              <a:buSzPct val="89583"/>
              <a:buFont typeface="Wingdings"/>
              <a:buChar char=""/>
              <a:tabLst>
                <a:tab pos="469900" algn="l"/>
              </a:tabLst>
            </a:pPr>
            <a:r>
              <a:rPr dirty="0" sz="2400" spc="-5">
                <a:solidFill>
                  <a:srgbClr val="40458B"/>
                </a:solidFill>
                <a:latin typeface="黑体"/>
                <a:cs typeface="黑体"/>
              </a:rPr>
              <a:t>主机中的处理机之间的通信系统包括用于快速同步目的的共享寄存器群。</a:t>
            </a:r>
            <a:endParaRPr sz="2400">
              <a:latin typeface="黑体"/>
              <a:cs typeface="黑体"/>
            </a:endParaRPr>
          </a:p>
          <a:p>
            <a:pPr lvl="1" marL="1097280" marR="323215" indent="-457200">
              <a:lnSpc>
                <a:spcPts val="2290"/>
              </a:lnSpc>
              <a:spcBef>
                <a:spcPts val="690"/>
              </a:spcBef>
              <a:buClr>
                <a:srgbClr val="4668F5"/>
              </a:buClr>
              <a:buSzPct val="65000"/>
              <a:buFont typeface="Wingdings"/>
              <a:buChar char=""/>
              <a:tabLst>
                <a:tab pos="1097280" algn="l"/>
              </a:tabLst>
            </a:pPr>
            <a:r>
              <a:rPr dirty="0" sz="2000" spc="-25" b="1">
                <a:solidFill>
                  <a:srgbClr val="00AFEF"/>
                </a:solidFill>
                <a:latin typeface="宋体"/>
                <a:cs typeface="宋体"/>
              </a:rPr>
              <a:t>每个群由共享地址寄存器、共享标量寄存器和信号灯</a:t>
            </a:r>
            <a:r>
              <a:rPr dirty="0" sz="2000" spc="-20" b="1">
                <a:solidFill>
                  <a:srgbClr val="00AFEF"/>
                </a:solidFill>
                <a:latin typeface="宋体"/>
                <a:cs typeface="宋体"/>
              </a:rPr>
              <a:t>寄存器组成。</a:t>
            </a:r>
            <a:endParaRPr sz="2000">
              <a:latin typeface="宋体"/>
              <a:cs typeface="宋体"/>
            </a:endParaRPr>
          </a:p>
          <a:p>
            <a:pPr lvl="1" marL="1097280" indent="-457200">
              <a:lnSpc>
                <a:spcPct val="100000"/>
              </a:lnSpc>
              <a:spcBef>
                <a:spcPts val="425"/>
              </a:spcBef>
              <a:buClr>
                <a:srgbClr val="4668F5"/>
              </a:buClr>
              <a:buSzPct val="65000"/>
              <a:buFont typeface="Wingdings"/>
              <a:buChar char=""/>
              <a:tabLst>
                <a:tab pos="1097280" algn="l"/>
              </a:tabLst>
            </a:pPr>
            <a:r>
              <a:rPr dirty="0" sz="2000" spc="-20" b="1">
                <a:solidFill>
                  <a:srgbClr val="9933FF"/>
                </a:solidFill>
                <a:latin typeface="Times New Roman"/>
                <a:cs typeface="Times New Roman"/>
              </a:rPr>
              <a:t>CPU</a:t>
            </a:r>
            <a:r>
              <a:rPr dirty="0" sz="2000" spc="-25" b="1">
                <a:solidFill>
                  <a:srgbClr val="00AFEF"/>
                </a:solidFill>
                <a:latin typeface="宋体"/>
                <a:cs typeface="宋体"/>
              </a:rPr>
              <a:t>之间向量数据通信是通过共享存储器实现的。</a:t>
            </a:r>
            <a:endParaRPr sz="2000">
              <a:latin typeface="宋体"/>
              <a:cs typeface="宋体"/>
            </a:endParaRPr>
          </a:p>
          <a:p>
            <a:pPr marL="469265" indent="-456565">
              <a:lnSpc>
                <a:spcPct val="100000"/>
              </a:lnSpc>
              <a:spcBef>
                <a:spcPts val="570"/>
              </a:spcBef>
              <a:buClr>
                <a:srgbClr val="40458B"/>
              </a:buClr>
              <a:buSzPct val="89583"/>
              <a:buFont typeface="Wingdings"/>
              <a:buChar char=""/>
              <a:tabLst>
                <a:tab pos="469265" algn="l"/>
              </a:tabLst>
            </a:pPr>
            <a:r>
              <a:rPr dirty="0" sz="2400" spc="-10">
                <a:solidFill>
                  <a:srgbClr val="9933FF"/>
                </a:solidFill>
                <a:latin typeface="Times New Roman"/>
                <a:cs typeface="Times New Roman"/>
              </a:rPr>
              <a:t>I/O</a:t>
            </a:r>
            <a:r>
              <a:rPr dirty="0" sz="2400" spc="-10">
                <a:solidFill>
                  <a:srgbClr val="40458B"/>
                </a:solidFill>
                <a:latin typeface="黑体"/>
                <a:cs typeface="黑体"/>
              </a:rPr>
              <a:t>子系统支持</a:t>
            </a:r>
            <a:r>
              <a:rPr dirty="0" sz="2400" spc="-10">
                <a:solidFill>
                  <a:srgbClr val="9933FF"/>
                </a:solidFill>
                <a:latin typeface="Times New Roman"/>
                <a:cs typeface="Times New Roman"/>
              </a:rPr>
              <a:t>3</a:t>
            </a:r>
            <a:r>
              <a:rPr dirty="0" sz="2400" spc="-10">
                <a:solidFill>
                  <a:srgbClr val="40458B"/>
                </a:solidFill>
                <a:latin typeface="黑体"/>
                <a:cs typeface="黑体"/>
              </a:rPr>
              <a:t>类通道，传输速率分别：</a:t>
            </a:r>
            <a:r>
              <a:rPr dirty="0" sz="2400" spc="-10">
                <a:solidFill>
                  <a:srgbClr val="9933FF"/>
                </a:solidFill>
                <a:latin typeface="Times New Roman"/>
                <a:cs typeface="Times New Roman"/>
              </a:rPr>
              <a:t>6MB/s</a:t>
            </a:r>
            <a:r>
              <a:rPr dirty="0" sz="2400" spc="-10">
                <a:solidFill>
                  <a:srgbClr val="9933FF"/>
                </a:solidFill>
                <a:latin typeface="黑体"/>
                <a:cs typeface="黑体"/>
              </a:rPr>
              <a:t>，</a:t>
            </a:r>
            <a:endParaRPr sz="2400">
              <a:latin typeface="黑体"/>
              <a:cs typeface="黑体"/>
            </a:endParaRPr>
          </a:p>
          <a:p>
            <a:pPr marL="469900">
              <a:lnSpc>
                <a:spcPct val="100000"/>
              </a:lnSpc>
              <a:spcBef>
                <a:spcPts val="5"/>
              </a:spcBef>
            </a:pPr>
            <a:r>
              <a:rPr dirty="0" sz="2400" spc="-25">
                <a:solidFill>
                  <a:srgbClr val="9933FF"/>
                </a:solidFill>
                <a:latin typeface="Times New Roman"/>
                <a:cs typeface="Times New Roman"/>
              </a:rPr>
              <a:t>100MB/s</a:t>
            </a:r>
            <a:r>
              <a:rPr dirty="0" sz="2400">
                <a:solidFill>
                  <a:srgbClr val="9933FF"/>
                </a:solidFill>
                <a:latin typeface="黑体"/>
                <a:cs typeface="黑体"/>
              </a:rPr>
              <a:t>和</a:t>
            </a:r>
            <a:r>
              <a:rPr dirty="0" sz="2400" spc="-20">
                <a:solidFill>
                  <a:srgbClr val="9933FF"/>
                </a:solidFill>
                <a:latin typeface="Times New Roman"/>
                <a:cs typeface="Times New Roman"/>
              </a:rPr>
              <a:t>1GB/s</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84/72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258267" y="855725"/>
            <a:ext cx="8498840" cy="4337050"/>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AutoNum type="arabicPeriod" startAt="2"/>
              <a:tabLst>
                <a:tab pos="469265" algn="l"/>
              </a:tabLst>
            </a:pPr>
            <a:r>
              <a:rPr dirty="0" sz="2400" spc="-10">
                <a:solidFill>
                  <a:srgbClr val="E14B04"/>
                </a:solidFill>
                <a:latin typeface="Times New Roman"/>
                <a:cs typeface="Times New Roman"/>
              </a:rPr>
              <a:t>C-</a:t>
            </a:r>
            <a:r>
              <a:rPr dirty="0" sz="2400" spc="-25">
                <a:solidFill>
                  <a:srgbClr val="E14B04"/>
                </a:solidFill>
                <a:latin typeface="Times New Roman"/>
                <a:cs typeface="Times New Roman"/>
              </a:rPr>
              <a:t>90</a:t>
            </a:r>
            <a:endParaRPr sz="2400">
              <a:latin typeface="Times New Roman"/>
              <a:cs typeface="Times New Roman"/>
            </a:endParaRPr>
          </a:p>
          <a:p>
            <a:pPr lvl="1" marL="1099185" indent="-457200">
              <a:lnSpc>
                <a:spcPct val="100000"/>
              </a:lnSpc>
              <a:spcBef>
                <a:spcPts val="860"/>
              </a:spcBef>
              <a:buSzPct val="89583"/>
              <a:buFont typeface="Wingdings"/>
              <a:buChar char=""/>
              <a:tabLst>
                <a:tab pos="1099185" algn="l"/>
              </a:tabLst>
            </a:pPr>
            <a:r>
              <a:rPr dirty="0" sz="2400">
                <a:solidFill>
                  <a:srgbClr val="40458B"/>
                </a:solidFill>
                <a:latin typeface="黑体"/>
                <a:cs typeface="黑体"/>
              </a:rPr>
              <a:t>由</a:t>
            </a:r>
            <a:r>
              <a:rPr dirty="0" sz="2400" spc="-10">
                <a:solidFill>
                  <a:srgbClr val="9933FF"/>
                </a:solidFill>
                <a:latin typeface="Times New Roman"/>
                <a:cs typeface="Times New Roman"/>
              </a:rPr>
              <a:t>16</a:t>
            </a:r>
            <a:r>
              <a:rPr dirty="0" sz="2400">
                <a:solidFill>
                  <a:srgbClr val="40458B"/>
                </a:solidFill>
                <a:latin typeface="黑体"/>
                <a:cs typeface="黑体"/>
              </a:rPr>
              <a:t>个类似于</a:t>
            </a:r>
            <a:r>
              <a:rPr dirty="0" sz="2400" spc="-25">
                <a:solidFill>
                  <a:srgbClr val="40458B"/>
                </a:solidFill>
                <a:latin typeface="Times New Roman"/>
                <a:cs typeface="Times New Roman"/>
              </a:rPr>
              <a:t>Y-MP</a:t>
            </a:r>
            <a:r>
              <a:rPr dirty="0" sz="2400">
                <a:solidFill>
                  <a:srgbClr val="40458B"/>
                </a:solidFill>
                <a:latin typeface="黑体"/>
                <a:cs typeface="黑体"/>
              </a:rPr>
              <a:t>的</a:t>
            </a:r>
            <a:r>
              <a:rPr dirty="0" sz="2400" spc="-30">
                <a:solidFill>
                  <a:srgbClr val="9933FF"/>
                </a:solidFill>
                <a:latin typeface="Times New Roman"/>
                <a:cs typeface="Times New Roman"/>
              </a:rPr>
              <a:t>CPU</a:t>
            </a:r>
            <a:r>
              <a:rPr dirty="0" sz="2400" spc="-25">
                <a:solidFill>
                  <a:srgbClr val="40458B"/>
                </a:solidFill>
                <a:latin typeface="黑体"/>
                <a:cs typeface="黑体"/>
              </a:rPr>
              <a:t>组成</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spc="-10">
                <a:solidFill>
                  <a:srgbClr val="9933FF"/>
                </a:solidFill>
                <a:latin typeface="Times New Roman"/>
                <a:cs typeface="Times New Roman"/>
              </a:rPr>
              <a:t>16</a:t>
            </a:r>
            <a:r>
              <a:rPr dirty="0" sz="2400" spc="-5">
                <a:solidFill>
                  <a:srgbClr val="40458B"/>
                </a:solidFill>
                <a:latin typeface="黑体"/>
                <a:cs typeface="黑体"/>
              </a:rPr>
              <a:t>台处理机共享主存储器的容量高达</a:t>
            </a:r>
            <a:r>
              <a:rPr dirty="0" sz="2400" spc="-10">
                <a:solidFill>
                  <a:srgbClr val="9933FF"/>
                </a:solidFill>
                <a:latin typeface="Times New Roman"/>
                <a:cs typeface="Times New Roman"/>
              </a:rPr>
              <a:t>256M</a:t>
            </a:r>
            <a:r>
              <a:rPr dirty="0" sz="2400" spc="-50">
                <a:solidFill>
                  <a:srgbClr val="40458B"/>
                </a:solidFill>
                <a:latin typeface="黑体"/>
                <a:cs typeface="黑体"/>
              </a:rPr>
              <a:t>字</a:t>
            </a:r>
            <a:endParaRPr sz="2400">
              <a:latin typeface="黑体"/>
              <a:cs typeface="黑体"/>
            </a:endParaRPr>
          </a:p>
          <a:p>
            <a:pPr algn="r" marR="1705610">
              <a:lnSpc>
                <a:spcPct val="100000"/>
              </a:lnSpc>
              <a:spcBef>
                <a:spcPts val="775"/>
              </a:spcBef>
            </a:pPr>
            <a:r>
              <a:rPr dirty="0" sz="2000" spc="-10" b="1">
                <a:solidFill>
                  <a:srgbClr val="00AFEF"/>
                </a:solidFill>
                <a:latin typeface="宋体"/>
                <a:cs typeface="宋体"/>
              </a:rPr>
              <a:t>（</a:t>
            </a:r>
            <a:r>
              <a:rPr dirty="0" sz="2000" spc="-10" b="1">
                <a:solidFill>
                  <a:srgbClr val="00AFEF"/>
                </a:solidFill>
                <a:latin typeface="Times New Roman"/>
                <a:cs typeface="Times New Roman"/>
              </a:rPr>
              <a:t>2GB</a:t>
            </a:r>
            <a:r>
              <a:rPr dirty="0" sz="2000" spc="-10" b="1">
                <a:solidFill>
                  <a:srgbClr val="00AFEF"/>
                </a:solidFill>
                <a:latin typeface="宋体"/>
                <a:cs typeface="宋体"/>
              </a:rPr>
              <a:t>）</a:t>
            </a:r>
            <a:endParaRPr sz="2000">
              <a:latin typeface="宋体"/>
              <a:cs typeface="宋体"/>
            </a:endParaRPr>
          </a:p>
          <a:p>
            <a:pPr lvl="1" marL="1099185" indent="-457200">
              <a:lnSpc>
                <a:spcPct val="100000"/>
              </a:lnSpc>
              <a:spcBef>
                <a:spcPts val="810"/>
              </a:spcBef>
              <a:buClr>
                <a:srgbClr val="40458B"/>
              </a:buClr>
              <a:buSzPct val="89583"/>
              <a:buFont typeface="Wingdings"/>
              <a:buChar char=""/>
              <a:tabLst>
                <a:tab pos="1099185" algn="l"/>
              </a:tabLst>
            </a:pPr>
            <a:r>
              <a:rPr dirty="0" sz="2400" spc="-25">
                <a:solidFill>
                  <a:srgbClr val="9933FF"/>
                </a:solidFill>
                <a:latin typeface="Times New Roman"/>
                <a:cs typeface="Times New Roman"/>
              </a:rPr>
              <a:t>SSD</a:t>
            </a:r>
            <a:r>
              <a:rPr dirty="0" sz="2400">
                <a:solidFill>
                  <a:srgbClr val="40458B"/>
                </a:solidFill>
                <a:latin typeface="黑体"/>
                <a:cs typeface="黑体"/>
              </a:rPr>
              <a:t>存储器的容量最多达</a:t>
            </a:r>
            <a:r>
              <a:rPr dirty="0" sz="2400" spc="-20">
                <a:solidFill>
                  <a:srgbClr val="9933FF"/>
                </a:solidFill>
                <a:latin typeface="Times New Roman"/>
                <a:cs typeface="Times New Roman"/>
              </a:rPr>
              <a:t>16GB</a:t>
            </a:r>
            <a:endParaRPr sz="2400">
              <a:latin typeface="Times New Roman"/>
              <a:cs typeface="Times New Roman"/>
            </a:endParaRPr>
          </a:p>
          <a:p>
            <a:pPr lvl="2" marL="1727200" indent="-457200">
              <a:lnSpc>
                <a:spcPct val="100000"/>
              </a:lnSpc>
              <a:spcBef>
                <a:spcPts val="775"/>
              </a:spcBef>
              <a:buClr>
                <a:srgbClr val="4668F5"/>
              </a:buClr>
              <a:buSzPct val="65000"/>
              <a:buFont typeface="Wingdings"/>
              <a:buChar char=""/>
              <a:tabLst>
                <a:tab pos="1727200" algn="l"/>
              </a:tabLst>
            </a:pPr>
            <a:r>
              <a:rPr dirty="0" sz="2000" spc="-20" b="1">
                <a:solidFill>
                  <a:srgbClr val="00AFEF"/>
                </a:solidFill>
                <a:latin typeface="宋体"/>
                <a:cs typeface="宋体"/>
              </a:rPr>
              <a:t>可选作第二级主存储器</a:t>
            </a:r>
            <a:endParaRPr sz="2000">
              <a:latin typeface="宋体"/>
              <a:cs typeface="宋体"/>
            </a:endParaRPr>
          </a:p>
          <a:p>
            <a:pPr lvl="1" marL="1099185" marR="76200" indent="-457834">
              <a:lnSpc>
                <a:spcPct val="110000"/>
              </a:lnSpc>
              <a:spcBef>
                <a:spcPts val="525"/>
              </a:spcBef>
              <a:buSzPct val="89583"/>
              <a:buFont typeface="Wingdings"/>
              <a:buChar char=""/>
              <a:tabLst>
                <a:tab pos="1099185" algn="l"/>
              </a:tabLst>
            </a:pPr>
            <a:r>
              <a:rPr dirty="0" sz="2400" spc="-5">
                <a:solidFill>
                  <a:srgbClr val="40458B"/>
                </a:solidFill>
                <a:latin typeface="黑体"/>
                <a:cs typeface="黑体"/>
              </a:rPr>
              <a:t>两条向量流水线和两个功能部件可以并行操作，每个时</a:t>
            </a:r>
            <a:r>
              <a:rPr dirty="0" sz="2400">
                <a:solidFill>
                  <a:srgbClr val="40458B"/>
                </a:solidFill>
                <a:latin typeface="黑体"/>
                <a:cs typeface="黑体"/>
              </a:rPr>
              <a:t>钟周期能产生</a:t>
            </a:r>
            <a:r>
              <a:rPr dirty="0" sz="2400">
                <a:solidFill>
                  <a:srgbClr val="9933FF"/>
                </a:solidFill>
                <a:latin typeface="Times New Roman"/>
                <a:cs typeface="Times New Roman"/>
              </a:rPr>
              <a:t>4</a:t>
            </a:r>
            <a:r>
              <a:rPr dirty="0" sz="2400" spc="-10">
                <a:solidFill>
                  <a:srgbClr val="40458B"/>
                </a:solidFill>
                <a:latin typeface="黑体"/>
                <a:cs typeface="黑体"/>
              </a:rPr>
              <a:t>个向量计算结果。</a:t>
            </a:r>
            <a:endParaRPr sz="2400">
              <a:latin typeface="黑体"/>
              <a:cs typeface="黑体"/>
            </a:endParaRPr>
          </a:p>
          <a:p>
            <a:pPr marL="1727200" marR="5080" indent="495300">
              <a:lnSpc>
                <a:spcPct val="110100"/>
              </a:lnSpc>
              <a:spcBef>
                <a:spcPts val="530"/>
              </a:spcBef>
            </a:pPr>
            <a:r>
              <a:rPr dirty="0" sz="2000" spc="-10" b="1">
                <a:solidFill>
                  <a:srgbClr val="00AFEF"/>
                </a:solidFill>
                <a:latin typeface="宋体"/>
                <a:cs typeface="宋体"/>
              </a:rPr>
              <a:t>意味着每台处理机有</a:t>
            </a:r>
            <a:r>
              <a:rPr dirty="0" sz="2000" b="1">
                <a:solidFill>
                  <a:srgbClr val="9933FF"/>
                </a:solidFill>
                <a:latin typeface="Times New Roman"/>
                <a:cs typeface="Times New Roman"/>
              </a:rPr>
              <a:t>4</a:t>
            </a:r>
            <a:r>
              <a:rPr dirty="0" sz="2000" spc="-20" b="1">
                <a:solidFill>
                  <a:srgbClr val="00AFEF"/>
                </a:solidFill>
                <a:latin typeface="宋体"/>
                <a:cs typeface="宋体"/>
              </a:rPr>
              <a:t>路并行性，因此</a:t>
            </a:r>
            <a:r>
              <a:rPr dirty="0" sz="2000" spc="-10" b="1">
                <a:solidFill>
                  <a:srgbClr val="9933FF"/>
                </a:solidFill>
                <a:latin typeface="Times New Roman"/>
                <a:cs typeface="Times New Roman"/>
              </a:rPr>
              <a:t>16</a:t>
            </a:r>
            <a:r>
              <a:rPr dirty="0" sz="2000" spc="-20" b="1">
                <a:solidFill>
                  <a:srgbClr val="00AFEF"/>
                </a:solidFill>
                <a:latin typeface="宋体"/>
                <a:cs typeface="宋体"/>
              </a:rPr>
              <a:t>台处理机每个时</a:t>
            </a:r>
            <a:r>
              <a:rPr dirty="0" sz="2000" spc="-10" b="1">
                <a:solidFill>
                  <a:srgbClr val="00AFEF"/>
                </a:solidFill>
                <a:latin typeface="宋体"/>
                <a:cs typeface="宋体"/>
              </a:rPr>
              <a:t>钟周期最多可以产生</a:t>
            </a:r>
            <a:r>
              <a:rPr dirty="0" sz="2000" spc="-10" b="1">
                <a:solidFill>
                  <a:srgbClr val="9933FF"/>
                </a:solidFill>
                <a:latin typeface="Times New Roman"/>
                <a:cs typeface="Times New Roman"/>
              </a:rPr>
              <a:t>64</a:t>
            </a:r>
            <a:r>
              <a:rPr dirty="0" sz="2000" spc="-25" b="1">
                <a:solidFill>
                  <a:srgbClr val="00AFEF"/>
                </a:solidFill>
                <a:latin typeface="宋体"/>
                <a:cs typeface="宋体"/>
              </a:rPr>
              <a:t>个向量计算结果。</a:t>
            </a:r>
            <a:endParaRPr sz="2000">
              <a:latin typeface="宋体"/>
              <a:cs typeface="宋体"/>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85/72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1392682" y="1983105"/>
            <a:ext cx="6950075" cy="2110740"/>
          </a:xfrm>
          <a:prstGeom prst="rect">
            <a:avLst/>
          </a:prstGeom>
        </p:spPr>
        <p:txBody>
          <a:bodyPr wrap="square" lIns="0" tIns="48895" rIns="0" bIns="0" rtlCol="0" vert="horz">
            <a:spAutoFit/>
          </a:bodyPr>
          <a:lstStyle/>
          <a:p>
            <a:pPr marL="469265" indent="-456565">
              <a:lnSpc>
                <a:spcPct val="100000"/>
              </a:lnSpc>
              <a:spcBef>
                <a:spcPts val="385"/>
              </a:spcBef>
              <a:buSzPct val="89583"/>
              <a:buFont typeface="Wingdings"/>
              <a:buChar char=""/>
              <a:tabLst>
                <a:tab pos="469265" algn="l"/>
              </a:tabLst>
            </a:pPr>
            <a:r>
              <a:rPr dirty="0" sz="2400">
                <a:solidFill>
                  <a:srgbClr val="40458B"/>
                </a:solidFill>
                <a:latin typeface="黑体"/>
                <a:cs typeface="黑体"/>
              </a:rPr>
              <a:t>运行</a:t>
            </a:r>
            <a:r>
              <a:rPr dirty="0" sz="2400" spc="-30">
                <a:solidFill>
                  <a:srgbClr val="9933FF"/>
                </a:solidFill>
                <a:latin typeface="Times New Roman"/>
                <a:cs typeface="Times New Roman"/>
              </a:rPr>
              <a:t>UNICON</a:t>
            </a:r>
            <a:r>
              <a:rPr dirty="0" sz="2400" spc="-5">
                <a:solidFill>
                  <a:srgbClr val="40458B"/>
                </a:solidFill>
                <a:latin typeface="黑体"/>
                <a:cs typeface="黑体"/>
              </a:rPr>
              <a:t>操作系统，提供向量化的</a:t>
            </a:r>
            <a:endParaRPr sz="2400">
              <a:latin typeface="黑体"/>
              <a:cs typeface="黑体"/>
            </a:endParaRPr>
          </a:p>
          <a:p>
            <a:pPr marL="469900">
              <a:lnSpc>
                <a:spcPct val="100000"/>
              </a:lnSpc>
              <a:spcBef>
                <a:spcPts val="290"/>
              </a:spcBef>
            </a:pPr>
            <a:r>
              <a:rPr dirty="0" sz="2400">
                <a:solidFill>
                  <a:srgbClr val="9933FF"/>
                </a:solidFill>
                <a:latin typeface="Times New Roman"/>
                <a:cs typeface="Times New Roman"/>
              </a:rPr>
              <a:t>FORTRAN</a:t>
            </a:r>
            <a:r>
              <a:rPr dirty="0" sz="2400" spc="-75">
                <a:solidFill>
                  <a:srgbClr val="9933FF"/>
                </a:solidFill>
                <a:latin typeface="Times New Roman"/>
                <a:cs typeface="Times New Roman"/>
              </a:rPr>
              <a:t> </a:t>
            </a:r>
            <a:r>
              <a:rPr dirty="0" sz="2400">
                <a:solidFill>
                  <a:srgbClr val="9933FF"/>
                </a:solidFill>
                <a:latin typeface="Times New Roman"/>
                <a:cs typeface="Times New Roman"/>
              </a:rPr>
              <a:t>77</a:t>
            </a:r>
            <a:r>
              <a:rPr dirty="0" sz="2400">
                <a:solidFill>
                  <a:srgbClr val="40458B"/>
                </a:solidFill>
                <a:latin typeface="黑体"/>
                <a:cs typeface="黑体"/>
              </a:rPr>
              <a:t>和</a:t>
            </a:r>
            <a:r>
              <a:rPr dirty="0" sz="2400" spc="-10">
                <a:solidFill>
                  <a:srgbClr val="9933FF"/>
                </a:solidFill>
                <a:latin typeface="Times New Roman"/>
                <a:cs typeface="Times New Roman"/>
              </a:rPr>
              <a:t>C</a:t>
            </a:r>
            <a:r>
              <a:rPr dirty="0" sz="2400" spc="-15">
                <a:solidFill>
                  <a:srgbClr val="40458B"/>
                </a:solidFill>
                <a:latin typeface="黑体"/>
                <a:cs typeface="黑体"/>
              </a:rPr>
              <a:t>编译器。</a:t>
            </a:r>
            <a:endParaRPr sz="2400">
              <a:latin typeface="黑体"/>
              <a:cs typeface="黑体"/>
            </a:endParaRPr>
          </a:p>
          <a:p>
            <a:pPr algn="just" marL="469900" marR="5080" indent="-457200">
              <a:lnSpc>
                <a:spcPct val="110100"/>
              </a:lnSpc>
              <a:spcBef>
                <a:spcPts val="575"/>
              </a:spcBef>
              <a:buClr>
                <a:srgbClr val="40458B"/>
              </a:buClr>
              <a:buSzPct val="89583"/>
              <a:buFont typeface="Wingdings"/>
              <a:buChar char=""/>
              <a:tabLst>
                <a:tab pos="469900" algn="l"/>
              </a:tabLst>
            </a:pPr>
            <a:r>
              <a:rPr dirty="0" sz="2400" spc="-10">
                <a:solidFill>
                  <a:srgbClr val="9933FF"/>
                </a:solidFill>
                <a:latin typeface="Times New Roman"/>
                <a:cs typeface="Times New Roman"/>
              </a:rPr>
              <a:t>64</a:t>
            </a:r>
            <a:r>
              <a:rPr dirty="0" sz="2400" spc="-10">
                <a:solidFill>
                  <a:srgbClr val="40458B"/>
                </a:solidFill>
                <a:latin typeface="黑体"/>
                <a:cs typeface="黑体"/>
              </a:rPr>
              <a:t>路并行性和</a:t>
            </a:r>
            <a:r>
              <a:rPr dirty="0" sz="2400" spc="-10">
                <a:solidFill>
                  <a:srgbClr val="9933FF"/>
                </a:solidFill>
                <a:latin typeface="Times New Roman"/>
                <a:cs typeface="Times New Roman"/>
              </a:rPr>
              <a:t>4.2ns</a:t>
            </a:r>
            <a:r>
              <a:rPr dirty="0" sz="2400" spc="-15">
                <a:solidFill>
                  <a:srgbClr val="40458B"/>
                </a:solidFill>
                <a:latin typeface="黑体"/>
                <a:cs typeface="黑体"/>
              </a:rPr>
              <a:t>时钟周期相配合，可使系统的</a:t>
            </a:r>
            <a:r>
              <a:rPr dirty="0" sz="2400">
                <a:solidFill>
                  <a:srgbClr val="40458B"/>
                </a:solidFill>
                <a:latin typeface="黑体"/>
                <a:cs typeface="黑体"/>
              </a:rPr>
              <a:t>峰值性能达到</a:t>
            </a:r>
            <a:r>
              <a:rPr dirty="0" sz="2400" spc="-25">
                <a:solidFill>
                  <a:srgbClr val="9933FF"/>
                </a:solidFill>
                <a:latin typeface="Times New Roman"/>
                <a:cs typeface="Times New Roman"/>
              </a:rPr>
              <a:t>16GFLOPS</a:t>
            </a:r>
            <a:r>
              <a:rPr dirty="0" sz="2400" spc="-10">
                <a:solidFill>
                  <a:srgbClr val="40458B"/>
                </a:solidFill>
                <a:latin typeface="黑体"/>
                <a:cs typeface="黑体"/>
              </a:rPr>
              <a:t>，系统最大</a:t>
            </a:r>
            <a:r>
              <a:rPr dirty="0" sz="2400" spc="-10">
                <a:solidFill>
                  <a:srgbClr val="40458B"/>
                </a:solidFill>
                <a:latin typeface="Times New Roman"/>
                <a:cs typeface="Times New Roman"/>
              </a:rPr>
              <a:t>1/O</a:t>
            </a:r>
            <a:r>
              <a:rPr dirty="0" sz="2400" spc="-15">
                <a:solidFill>
                  <a:srgbClr val="40458B"/>
                </a:solidFill>
                <a:latin typeface="黑体"/>
                <a:cs typeface="黑体"/>
              </a:rPr>
              <a:t>吞吐率为</a:t>
            </a:r>
            <a:r>
              <a:rPr dirty="0" sz="2400" spc="-50">
                <a:solidFill>
                  <a:srgbClr val="40458B"/>
                </a:solidFill>
                <a:latin typeface="黑体"/>
                <a:cs typeface="黑体"/>
              </a:rPr>
              <a:t> </a:t>
            </a:r>
            <a:r>
              <a:rPr dirty="0" sz="2400" spc="-25">
                <a:solidFill>
                  <a:srgbClr val="9933FF"/>
                </a:solidFill>
                <a:latin typeface="Times New Roman"/>
                <a:cs typeface="Times New Roman"/>
              </a:rPr>
              <a:t>13.6MB/s</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86/72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763016" y="1340611"/>
            <a:ext cx="7584440" cy="4576445"/>
          </a:xfrm>
          <a:prstGeom prst="rect">
            <a:avLst/>
          </a:prstGeom>
        </p:spPr>
        <p:txBody>
          <a:bodyPr wrap="square" lIns="0" tIns="0" rIns="0" bIns="0" rtlCol="0" vert="horz">
            <a:spAutoFit/>
          </a:bodyPr>
          <a:lstStyle/>
          <a:p>
            <a:pPr marL="12700">
              <a:lnSpc>
                <a:spcPts val="3020"/>
              </a:lnSpc>
            </a:pPr>
            <a:r>
              <a:rPr dirty="0" sz="2600">
                <a:solidFill>
                  <a:srgbClr val="0000CC"/>
                </a:solidFill>
                <a:latin typeface="黑体"/>
                <a:cs typeface="黑体"/>
              </a:rPr>
              <a:t>4.5.3</a:t>
            </a:r>
            <a:r>
              <a:rPr dirty="0" sz="2600" spc="-40">
                <a:solidFill>
                  <a:srgbClr val="0000CC"/>
                </a:solidFill>
                <a:latin typeface="黑体"/>
                <a:cs typeface="黑体"/>
              </a:rPr>
              <a:t> </a:t>
            </a:r>
            <a:r>
              <a:rPr dirty="0" sz="2400">
                <a:solidFill>
                  <a:srgbClr val="0000CC"/>
                </a:solidFill>
                <a:latin typeface="Times New Roman"/>
                <a:cs typeface="Times New Roman"/>
              </a:rPr>
              <a:t>NEC </a:t>
            </a:r>
            <a:r>
              <a:rPr dirty="0" sz="2400" spc="-25">
                <a:solidFill>
                  <a:srgbClr val="0000CC"/>
                </a:solidFill>
                <a:latin typeface="Times New Roman"/>
                <a:cs typeface="Times New Roman"/>
              </a:rPr>
              <a:t>SX-X44</a:t>
            </a:r>
            <a:endParaRPr sz="2400">
              <a:latin typeface="Times New Roman"/>
              <a:cs typeface="Times New Roman"/>
            </a:endParaRPr>
          </a:p>
          <a:p>
            <a:pPr marL="13970">
              <a:lnSpc>
                <a:spcPct val="100000"/>
              </a:lnSpc>
              <a:spcBef>
                <a:spcPts val="1850"/>
              </a:spcBef>
              <a:tabLst>
                <a:tab pos="775970" algn="l"/>
              </a:tabLst>
            </a:pPr>
            <a:r>
              <a:rPr dirty="0" sz="2400" spc="-25">
                <a:solidFill>
                  <a:srgbClr val="E14B04"/>
                </a:solidFill>
                <a:latin typeface="Times New Roman"/>
                <a:cs typeface="Times New Roman"/>
              </a:rPr>
              <a:t>NEC</a:t>
            </a:r>
            <a:r>
              <a:rPr dirty="0" sz="2400">
                <a:solidFill>
                  <a:srgbClr val="E14B04"/>
                </a:solidFill>
                <a:latin typeface="Times New Roman"/>
                <a:cs typeface="Times New Roman"/>
              </a:rPr>
              <a:t>	</a:t>
            </a:r>
            <a:r>
              <a:rPr dirty="0" sz="2400">
                <a:solidFill>
                  <a:srgbClr val="9933FF"/>
                </a:solidFill>
                <a:latin typeface="Times New Roman"/>
                <a:cs typeface="Times New Roman"/>
              </a:rPr>
              <a:t>1991</a:t>
            </a:r>
            <a:r>
              <a:rPr dirty="0" sz="2400">
                <a:solidFill>
                  <a:srgbClr val="9933FF"/>
                </a:solidFill>
                <a:latin typeface="黑体"/>
                <a:cs typeface="黑体"/>
              </a:rPr>
              <a:t>年</a:t>
            </a:r>
            <a:r>
              <a:rPr dirty="0" sz="2400" spc="-5">
                <a:solidFill>
                  <a:srgbClr val="E14B04"/>
                </a:solidFill>
                <a:latin typeface="黑体"/>
                <a:cs typeface="黑体"/>
              </a:rPr>
              <a:t>推出 峰值速度可达到</a:t>
            </a:r>
            <a:r>
              <a:rPr dirty="0" sz="2400" spc="-10">
                <a:solidFill>
                  <a:srgbClr val="9933FF"/>
                </a:solidFill>
                <a:latin typeface="Times New Roman"/>
                <a:cs typeface="Times New Roman"/>
              </a:rPr>
              <a:t>22GFLOPS</a:t>
            </a:r>
            <a:endParaRPr sz="2400">
              <a:latin typeface="Times New Roman"/>
              <a:cs typeface="Times New Roman"/>
            </a:endParaRPr>
          </a:p>
          <a:p>
            <a:pPr marL="1101090" marR="5080" indent="-457200">
              <a:lnSpc>
                <a:spcPct val="110000"/>
              </a:lnSpc>
              <a:spcBef>
                <a:spcPts val="580"/>
              </a:spcBef>
              <a:buClr>
                <a:srgbClr val="40458B"/>
              </a:buClr>
              <a:buSzPct val="89583"/>
              <a:buFont typeface="Wingdings"/>
              <a:buChar char=""/>
              <a:tabLst>
                <a:tab pos="1101090" algn="l"/>
              </a:tabLst>
            </a:pPr>
            <a:r>
              <a:rPr dirty="0" sz="2400">
                <a:solidFill>
                  <a:srgbClr val="D50092"/>
                </a:solidFill>
                <a:latin typeface="黑体"/>
                <a:cs typeface="黑体"/>
              </a:rPr>
              <a:t>主要措施之一：</a:t>
            </a:r>
            <a:r>
              <a:rPr dirty="0" sz="2400">
                <a:solidFill>
                  <a:srgbClr val="40458B"/>
                </a:solidFill>
                <a:latin typeface="黑体"/>
                <a:cs typeface="黑体"/>
              </a:rPr>
              <a:t>使用了基于</a:t>
            </a:r>
            <a:r>
              <a:rPr dirty="0" sz="2400" spc="-25">
                <a:solidFill>
                  <a:srgbClr val="9933FF"/>
                </a:solidFill>
                <a:latin typeface="Times New Roman"/>
                <a:cs typeface="Times New Roman"/>
              </a:rPr>
              <a:t>VLSI</a:t>
            </a:r>
            <a:r>
              <a:rPr dirty="0" sz="2400" spc="-10">
                <a:solidFill>
                  <a:srgbClr val="40458B"/>
                </a:solidFill>
                <a:latin typeface="黑体"/>
                <a:cs typeface="黑体"/>
              </a:rPr>
              <a:t>和高密度封装技</a:t>
            </a:r>
            <a:r>
              <a:rPr dirty="0" sz="2400">
                <a:solidFill>
                  <a:srgbClr val="40458B"/>
                </a:solidFill>
                <a:latin typeface="黑体"/>
                <a:cs typeface="黑体"/>
              </a:rPr>
              <a:t>术的</a:t>
            </a:r>
            <a:r>
              <a:rPr dirty="0" sz="2400" spc="-20">
                <a:solidFill>
                  <a:srgbClr val="9933FF"/>
                </a:solidFill>
                <a:latin typeface="Times New Roman"/>
                <a:cs typeface="Times New Roman"/>
              </a:rPr>
              <a:t>2.9ns</a:t>
            </a:r>
            <a:r>
              <a:rPr dirty="0" sz="2400" spc="-20">
                <a:solidFill>
                  <a:srgbClr val="40458B"/>
                </a:solidFill>
                <a:latin typeface="黑体"/>
                <a:cs typeface="黑体"/>
              </a:rPr>
              <a:t>的时钟</a:t>
            </a:r>
            <a:endParaRPr sz="2400">
              <a:latin typeface="黑体"/>
              <a:cs typeface="黑体"/>
            </a:endParaRPr>
          </a:p>
          <a:p>
            <a:pPr marL="13970">
              <a:lnSpc>
                <a:spcPct val="100000"/>
              </a:lnSpc>
              <a:spcBef>
                <a:spcPts val="860"/>
              </a:spcBef>
            </a:pPr>
            <a:r>
              <a:rPr dirty="0" sz="2400" spc="-10">
                <a:solidFill>
                  <a:srgbClr val="E14B04"/>
                </a:solidFill>
                <a:latin typeface="黑体"/>
                <a:cs typeface="黑体"/>
              </a:rPr>
              <a:t>系统结构图</a:t>
            </a:r>
            <a:endParaRPr sz="2400">
              <a:latin typeface="黑体"/>
              <a:cs typeface="黑体"/>
            </a:endParaRPr>
          </a:p>
          <a:p>
            <a:pPr marL="471170" marR="127000" indent="-457834">
              <a:lnSpc>
                <a:spcPct val="110000"/>
              </a:lnSpc>
              <a:spcBef>
                <a:spcPts val="580"/>
              </a:spcBef>
            </a:pPr>
            <a:r>
              <a:rPr dirty="0" sz="2400">
                <a:solidFill>
                  <a:srgbClr val="9933FF"/>
                </a:solidFill>
                <a:latin typeface="Times New Roman"/>
                <a:cs typeface="Times New Roman"/>
              </a:rPr>
              <a:t>4</a:t>
            </a:r>
            <a:r>
              <a:rPr dirty="0" sz="2400">
                <a:solidFill>
                  <a:srgbClr val="E14B04"/>
                </a:solidFill>
                <a:latin typeface="黑体"/>
                <a:cs typeface="黑体"/>
              </a:rPr>
              <a:t>台运算处理机通过共享寄存器或通过</a:t>
            </a:r>
            <a:r>
              <a:rPr dirty="0" sz="2400" spc="-25">
                <a:solidFill>
                  <a:srgbClr val="9933FF"/>
                </a:solidFill>
                <a:latin typeface="Times New Roman"/>
                <a:cs typeface="Times New Roman"/>
              </a:rPr>
              <a:t>2GB</a:t>
            </a:r>
            <a:r>
              <a:rPr dirty="0" sz="2400" spc="-10">
                <a:solidFill>
                  <a:srgbClr val="E14B04"/>
                </a:solidFill>
                <a:latin typeface="黑体"/>
                <a:cs typeface="黑体"/>
              </a:rPr>
              <a:t>的共享存储器进行通信。</a:t>
            </a:r>
            <a:endParaRPr sz="2400">
              <a:latin typeface="黑体"/>
              <a:cs typeface="黑体"/>
            </a:endParaRPr>
          </a:p>
          <a:p>
            <a:pPr marL="1100455" indent="-456565">
              <a:lnSpc>
                <a:spcPct val="100000"/>
              </a:lnSpc>
              <a:spcBef>
                <a:spcPts val="865"/>
              </a:spcBef>
              <a:buSzPct val="89583"/>
              <a:buFont typeface="Wingdings"/>
              <a:buChar char=""/>
              <a:tabLst>
                <a:tab pos="1100455" algn="l"/>
              </a:tabLst>
            </a:pPr>
            <a:r>
              <a:rPr dirty="0" sz="2400">
                <a:solidFill>
                  <a:srgbClr val="40458B"/>
                </a:solidFill>
                <a:latin typeface="黑体"/>
                <a:cs typeface="黑体"/>
              </a:rPr>
              <a:t>每台处理机有</a:t>
            </a:r>
            <a:r>
              <a:rPr dirty="0" sz="2400">
                <a:solidFill>
                  <a:srgbClr val="9933FF"/>
                </a:solidFill>
                <a:latin typeface="Times New Roman"/>
                <a:cs typeface="Times New Roman"/>
              </a:rPr>
              <a:t>4</a:t>
            </a:r>
            <a:r>
              <a:rPr dirty="0" sz="2400" spc="-10">
                <a:solidFill>
                  <a:srgbClr val="40458B"/>
                </a:solidFill>
                <a:latin typeface="黑体"/>
                <a:cs typeface="黑体"/>
              </a:rPr>
              <a:t>组向量流水线</a:t>
            </a:r>
            <a:endParaRPr sz="2400">
              <a:latin typeface="黑体"/>
              <a:cs typeface="黑体"/>
            </a:endParaRPr>
          </a:p>
          <a:p>
            <a:pPr lvl="1" marL="1728470" indent="-457200">
              <a:lnSpc>
                <a:spcPct val="100000"/>
              </a:lnSpc>
              <a:spcBef>
                <a:spcPts val="770"/>
              </a:spcBef>
              <a:buClr>
                <a:srgbClr val="4668F5"/>
              </a:buClr>
              <a:buSzPct val="65000"/>
              <a:buFont typeface="Wingdings"/>
              <a:buChar char=""/>
              <a:tabLst>
                <a:tab pos="1728470" algn="l"/>
              </a:tabLst>
            </a:pPr>
            <a:r>
              <a:rPr dirty="0" sz="2000" spc="-15" b="1">
                <a:solidFill>
                  <a:srgbClr val="00AFEF"/>
                </a:solidFill>
                <a:latin typeface="宋体"/>
                <a:cs typeface="宋体"/>
              </a:rPr>
              <a:t>每组包括</a:t>
            </a:r>
            <a:r>
              <a:rPr dirty="0" sz="2000" b="1">
                <a:solidFill>
                  <a:srgbClr val="9933FF"/>
                </a:solidFill>
                <a:latin typeface="Times New Roman"/>
                <a:cs typeface="Times New Roman"/>
              </a:rPr>
              <a:t>2</a:t>
            </a:r>
            <a:r>
              <a:rPr dirty="0" sz="2000" spc="-15" b="1">
                <a:solidFill>
                  <a:srgbClr val="9933FF"/>
                </a:solidFill>
                <a:latin typeface="宋体"/>
                <a:cs typeface="宋体"/>
              </a:rPr>
              <a:t>条</a:t>
            </a:r>
            <a:r>
              <a:rPr dirty="0" sz="2000" spc="-15" b="1">
                <a:solidFill>
                  <a:srgbClr val="00AFEF"/>
                </a:solidFill>
                <a:latin typeface="宋体"/>
                <a:cs typeface="宋体"/>
              </a:rPr>
              <a:t>加法</a:t>
            </a:r>
            <a:r>
              <a:rPr dirty="0" sz="2000" spc="-10" b="1">
                <a:solidFill>
                  <a:srgbClr val="00AFEF"/>
                </a:solidFill>
                <a:latin typeface="Times New Roman"/>
                <a:cs typeface="Times New Roman"/>
              </a:rPr>
              <a:t>/</a:t>
            </a:r>
            <a:r>
              <a:rPr dirty="0" sz="2000" spc="-20" b="1">
                <a:solidFill>
                  <a:srgbClr val="00AFEF"/>
                </a:solidFill>
                <a:latin typeface="宋体"/>
                <a:cs typeface="宋体"/>
              </a:rPr>
              <a:t>移位流水线和</a:t>
            </a:r>
            <a:r>
              <a:rPr dirty="0" sz="2000" b="1">
                <a:solidFill>
                  <a:srgbClr val="9933FF"/>
                </a:solidFill>
                <a:latin typeface="Times New Roman"/>
                <a:cs typeface="Times New Roman"/>
              </a:rPr>
              <a:t>2</a:t>
            </a:r>
            <a:r>
              <a:rPr dirty="0" sz="2000" spc="-25" b="1">
                <a:solidFill>
                  <a:srgbClr val="9933FF"/>
                </a:solidFill>
                <a:latin typeface="宋体"/>
                <a:cs typeface="宋体"/>
              </a:rPr>
              <a:t>条</a:t>
            </a:r>
            <a:r>
              <a:rPr dirty="0" sz="2000" spc="-10" b="1">
                <a:solidFill>
                  <a:srgbClr val="00AFEF"/>
                </a:solidFill>
                <a:latin typeface="宋体"/>
                <a:cs typeface="宋体"/>
              </a:rPr>
              <a:t>乘法</a:t>
            </a:r>
            <a:r>
              <a:rPr dirty="0" sz="2000" spc="-10" b="1">
                <a:solidFill>
                  <a:srgbClr val="00AFEF"/>
                </a:solidFill>
                <a:latin typeface="Times New Roman"/>
                <a:cs typeface="Times New Roman"/>
              </a:rPr>
              <a:t>/</a:t>
            </a:r>
            <a:r>
              <a:rPr dirty="0" sz="2000" spc="-30" b="1">
                <a:solidFill>
                  <a:srgbClr val="00AFEF"/>
                </a:solidFill>
                <a:latin typeface="宋体"/>
                <a:cs typeface="宋体"/>
              </a:rPr>
              <a:t>逻辑流水线</a:t>
            </a:r>
            <a:endParaRPr sz="2000">
              <a:latin typeface="宋体"/>
              <a:cs typeface="宋体"/>
            </a:endParaRPr>
          </a:p>
          <a:p>
            <a:pPr marL="1100455" indent="-456565">
              <a:lnSpc>
                <a:spcPct val="100000"/>
              </a:lnSpc>
              <a:spcBef>
                <a:spcPts val="815"/>
              </a:spcBef>
              <a:buSzPct val="89583"/>
              <a:buFont typeface="Wingdings"/>
              <a:buChar char=""/>
              <a:tabLst>
                <a:tab pos="1100455" algn="l"/>
              </a:tabLst>
            </a:pPr>
            <a:r>
              <a:rPr dirty="0" sz="2400">
                <a:solidFill>
                  <a:srgbClr val="40458B"/>
                </a:solidFill>
                <a:latin typeface="黑体"/>
                <a:cs typeface="黑体"/>
              </a:rPr>
              <a:t>类似于</a:t>
            </a:r>
            <a:r>
              <a:rPr dirty="0" sz="2400" spc="-10">
                <a:solidFill>
                  <a:srgbClr val="40458B"/>
                </a:solidFill>
                <a:latin typeface="Times New Roman"/>
                <a:cs typeface="Times New Roman"/>
              </a:rPr>
              <a:t>C-</a:t>
            </a:r>
            <a:r>
              <a:rPr dirty="0" sz="2400">
                <a:solidFill>
                  <a:srgbClr val="40458B"/>
                </a:solidFill>
                <a:latin typeface="Times New Roman"/>
                <a:cs typeface="Times New Roman"/>
              </a:rPr>
              <a:t>90</a:t>
            </a:r>
            <a:r>
              <a:rPr dirty="0" sz="2400">
                <a:solidFill>
                  <a:srgbClr val="40458B"/>
                </a:solidFill>
                <a:latin typeface="黑体"/>
                <a:cs typeface="黑体"/>
              </a:rPr>
              <a:t>，</a:t>
            </a:r>
            <a:r>
              <a:rPr dirty="0" sz="2400">
                <a:solidFill>
                  <a:srgbClr val="9933FF"/>
                </a:solidFill>
                <a:latin typeface="Times New Roman"/>
                <a:cs typeface="Times New Roman"/>
              </a:rPr>
              <a:t>4</a:t>
            </a:r>
            <a:r>
              <a:rPr dirty="0" sz="2400">
                <a:solidFill>
                  <a:srgbClr val="40458B"/>
                </a:solidFill>
                <a:latin typeface="黑体"/>
                <a:cs typeface="黑体"/>
              </a:rPr>
              <a:t>台处理机可达到</a:t>
            </a:r>
            <a:r>
              <a:rPr dirty="0" sz="2400">
                <a:solidFill>
                  <a:srgbClr val="9933FF"/>
                </a:solidFill>
                <a:latin typeface="Times New Roman"/>
                <a:cs typeface="Times New Roman"/>
              </a:rPr>
              <a:t>64</a:t>
            </a:r>
            <a:r>
              <a:rPr dirty="0" sz="2400" spc="-20">
                <a:solidFill>
                  <a:srgbClr val="40458B"/>
                </a:solidFill>
                <a:latin typeface="黑体"/>
                <a:cs typeface="黑体"/>
              </a:rPr>
              <a:t>路并行</a:t>
            </a:r>
            <a:endParaRPr sz="2400">
              <a:latin typeface="黑体"/>
              <a:cs typeface="黑体"/>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7322123" y="5277622"/>
            <a:ext cx="1370330" cy="314960"/>
            <a:chOff x="7322123" y="5277622"/>
            <a:chExt cx="1370330" cy="314960"/>
          </a:xfrm>
        </p:grpSpPr>
        <p:sp>
          <p:nvSpPr>
            <p:cNvPr id="3" name="object 3" descr=""/>
            <p:cNvSpPr/>
            <p:nvPr/>
          </p:nvSpPr>
          <p:spPr>
            <a:xfrm>
              <a:off x="7329832" y="5285331"/>
              <a:ext cx="1355090" cy="299720"/>
            </a:xfrm>
            <a:custGeom>
              <a:avLst/>
              <a:gdLst/>
              <a:ahLst/>
              <a:cxnLst/>
              <a:rect l="l" t="t" r="r" b="b"/>
              <a:pathLst>
                <a:path w="1355090" h="299720">
                  <a:moveTo>
                    <a:pt x="1354506" y="0"/>
                  </a:moveTo>
                  <a:lnTo>
                    <a:pt x="0" y="0"/>
                  </a:lnTo>
                  <a:lnTo>
                    <a:pt x="0" y="299171"/>
                  </a:lnTo>
                  <a:lnTo>
                    <a:pt x="1354506" y="299171"/>
                  </a:lnTo>
                  <a:lnTo>
                    <a:pt x="1354506" y="0"/>
                  </a:lnTo>
                  <a:close/>
                </a:path>
              </a:pathLst>
            </a:custGeom>
            <a:solidFill>
              <a:srgbClr val="FFCDE6"/>
            </a:solidFill>
          </p:spPr>
          <p:txBody>
            <a:bodyPr wrap="square" lIns="0" tIns="0" rIns="0" bIns="0" rtlCol="0"/>
            <a:lstStyle/>
            <a:p/>
          </p:txBody>
        </p:sp>
        <p:sp>
          <p:nvSpPr>
            <p:cNvPr id="4" name="object 4" descr=""/>
            <p:cNvSpPr/>
            <p:nvPr/>
          </p:nvSpPr>
          <p:spPr>
            <a:xfrm>
              <a:off x="7329832" y="5285331"/>
              <a:ext cx="1355090" cy="299720"/>
            </a:xfrm>
            <a:custGeom>
              <a:avLst/>
              <a:gdLst/>
              <a:ahLst/>
              <a:cxnLst/>
              <a:rect l="l" t="t" r="r" b="b"/>
              <a:pathLst>
                <a:path w="1355090" h="299720">
                  <a:moveTo>
                    <a:pt x="0" y="299171"/>
                  </a:moveTo>
                  <a:lnTo>
                    <a:pt x="1354506" y="299171"/>
                  </a:lnTo>
                  <a:lnTo>
                    <a:pt x="1354506" y="0"/>
                  </a:lnTo>
                  <a:lnTo>
                    <a:pt x="0" y="0"/>
                  </a:lnTo>
                  <a:lnTo>
                    <a:pt x="0" y="299171"/>
                  </a:lnTo>
                  <a:close/>
                </a:path>
              </a:pathLst>
            </a:custGeom>
            <a:ln w="15417">
              <a:solidFill>
                <a:srgbClr val="000000"/>
              </a:solidFill>
            </a:ln>
          </p:spPr>
          <p:txBody>
            <a:bodyPr wrap="square" lIns="0" tIns="0" rIns="0" bIns="0" rtlCol="0"/>
            <a:lstStyle/>
            <a:p/>
          </p:txBody>
        </p:sp>
      </p:grpSp>
      <p:grpSp>
        <p:nvGrpSpPr>
          <p:cNvPr id="5" name="object 5" descr=""/>
          <p:cNvGrpSpPr/>
          <p:nvPr/>
        </p:nvGrpSpPr>
        <p:grpSpPr>
          <a:xfrm>
            <a:off x="6058024" y="1411187"/>
            <a:ext cx="1661160" cy="382270"/>
            <a:chOff x="6058024" y="1411187"/>
            <a:chExt cx="1661160" cy="382270"/>
          </a:xfrm>
        </p:grpSpPr>
        <p:sp>
          <p:nvSpPr>
            <p:cNvPr id="6" name="object 6" descr=""/>
            <p:cNvSpPr/>
            <p:nvPr/>
          </p:nvSpPr>
          <p:spPr>
            <a:xfrm>
              <a:off x="6065732" y="1418895"/>
              <a:ext cx="1645920" cy="367030"/>
            </a:xfrm>
            <a:custGeom>
              <a:avLst/>
              <a:gdLst/>
              <a:ahLst/>
              <a:cxnLst/>
              <a:rect l="l" t="t" r="r" b="b"/>
              <a:pathLst>
                <a:path w="1645920" h="367030">
                  <a:moveTo>
                    <a:pt x="1645737" y="0"/>
                  </a:moveTo>
                  <a:lnTo>
                    <a:pt x="0" y="0"/>
                  </a:lnTo>
                  <a:lnTo>
                    <a:pt x="0" y="366409"/>
                  </a:lnTo>
                  <a:lnTo>
                    <a:pt x="1645737" y="366409"/>
                  </a:lnTo>
                  <a:lnTo>
                    <a:pt x="1645737" y="0"/>
                  </a:lnTo>
                  <a:close/>
                </a:path>
              </a:pathLst>
            </a:custGeom>
            <a:solidFill>
              <a:srgbClr val="FFDBB7"/>
            </a:solidFill>
          </p:spPr>
          <p:txBody>
            <a:bodyPr wrap="square" lIns="0" tIns="0" rIns="0" bIns="0" rtlCol="0"/>
            <a:lstStyle/>
            <a:p/>
          </p:txBody>
        </p:sp>
        <p:sp>
          <p:nvSpPr>
            <p:cNvPr id="7" name="object 7" descr=""/>
            <p:cNvSpPr/>
            <p:nvPr/>
          </p:nvSpPr>
          <p:spPr>
            <a:xfrm>
              <a:off x="6065732" y="1418895"/>
              <a:ext cx="1645920" cy="367030"/>
            </a:xfrm>
            <a:custGeom>
              <a:avLst/>
              <a:gdLst/>
              <a:ahLst/>
              <a:cxnLst/>
              <a:rect l="l" t="t" r="r" b="b"/>
              <a:pathLst>
                <a:path w="1645920" h="367030">
                  <a:moveTo>
                    <a:pt x="0" y="366409"/>
                  </a:moveTo>
                  <a:lnTo>
                    <a:pt x="1645737" y="366409"/>
                  </a:lnTo>
                  <a:lnTo>
                    <a:pt x="1645737" y="0"/>
                  </a:lnTo>
                  <a:lnTo>
                    <a:pt x="0" y="0"/>
                  </a:lnTo>
                  <a:lnTo>
                    <a:pt x="0" y="366409"/>
                  </a:lnTo>
                  <a:close/>
                </a:path>
              </a:pathLst>
            </a:custGeom>
            <a:ln w="15417">
              <a:solidFill>
                <a:srgbClr val="000000"/>
              </a:solidFill>
            </a:ln>
          </p:spPr>
          <p:txBody>
            <a:bodyPr wrap="square" lIns="0" tIns="0" rIns="0" bIns="0" rtlCol="0"/>
            <a:lstStyle/>
            <a:p/>
          </p:txBody>
        </p:sp>
      </p:grpSp>
      <p:grpSp>
        <p:nvGrpSpPr>
          <p:cNvPr id="8" name="object 8" descr=""/>
          <p:cNvGrpSpPr/>
          <p:nvPr/>
        </p:nvGrpSpPr>
        <p:grpSpPr>
          <a:xfrm>
            <a:off x="4794128" y="2343179"/>
            <a:ext cx="738505" cy="2482850"/>
            <a:chOff x="4794128" y="2343179"/>
            <a:chExt cx="738505" cy="2482850"/>
          </a:xfrm>
        </p:grpSpPr>
        <p:sp>
          <p:nvSpPr>
            <p:cNvPr id="9" name="object 9" descr=""/>
            <p:cNvSpPr/>
            <p:nvPr/>
          </p:nvSpPr>
          <p:spPr>
            <a:xfrm>
              <a:off x="4801847" y="2350898"/>
              <a:ext cx="722630" cy="2467610"/>
            </a:xfrm>
            <a:custGeom>
              <a:avLst/>
              <a:gdLst/>
              <a:ahLst/>
              <a:cxnLst/>
              <a:rect l="l" t="t" r="r" b="b"/>
              <a:pathLst>
                <a:path w="722629" h="2467610">
                  <a:moveTo>
                    <a:pt x="722499" y="0"/>
                  </a:moveTo>
                  <a:lnTo>
                    <a:pt x="0" y="0"/>
                  </a:lnTo>
                  <a:lnTo>
                    <a:pt x="0" y="2467412"/>
                  </a:lnTo>
                  <a:lnTo>
                    <a:pt x="722499" y="2467412"/>
                  </a:lnTo>
                  <a:lnTo>
                    <a:pt x="722499" y="0"/>
                  </a:lnTo>
                  <a:close/>
                </a:path>
              </a:pathLst>
            </a:custGeom>
            <a:solidFill>
              <a:srgbClr val="FFDBB7"/>
            </a:solidFill>
          </p:spPr>
          <p:txBody>
            <a:bodyPr wrap="square" lIns="0" tIns="0" rIns="0" bIns="0" rtlCol="0"/>
            <a:lstStyle/>
            <a:p/>
          </p:txBody>
        </p:sp>
        <p:sp>
          <p:nvSpPr>
            <p:cNvPr id="10" name="object 10" descr=""/>
            <p:cNvSpPr/>
            <p:nvPr/>
          </p:nvSpPr>
          <p:spPr>
            <a:xfrm>
              <a:off x="4801847" y="2350898"/>
              <a:ext cx="722630" cy="2467610"/>
            </a:xfrm>
            <a:custGeom>
              <a:avLst/>
              <a:gdLst/>
              <a:ahLst/>
              <a:cxnLst/>
              <a:rect l="l" t="t" r="r" b="b"/>
              <a:pathLst>
                <a:path w="722629" h="2467610">
                  <a:moveTo>
                    <a:pt x="0" y="2467412"/>
                  </a:moveTo>
                  <a:lnTo>
                    <a:pt x="722499" y="2467412"/>
                  </a:lnTo>
                  <a:lnTo>
                    <a:pt x="722499" y="0"/>
                  </a:lnTo>
                  <a:lnTo>
                    <a:pt x="0" y="0"/>
                  </a:lnTo>
                  <a:lnTo>
                    <a:pt x="0" y="2467412"/>
                  </a:lnTo>
                  <a:close/>
                </a:path>
              </a:pathLst>
            </a:custGeom>
            <a:ln w="15438">
              <a:solidFill>
                <a:srgbClr val="000000"/>
              </a:solidFill>
            </a:ln>
          </p:spPr>
          <p:txBody>
            <a:bodyPr wrap="square" lIns="0" tIns="0" rIns="0" bIns="0" rtlCol="0"/>
            <a:lstStyle/>
            <a:p/>
          </p:txBody>
        </p:sp>
      </p:grpSp>
      <p:grpSp>
        <p:nvGrpSpPr>
          <p:cNvPr id="11" name="object 11" descr=""/>
          <p:cNvGrpSpPr/>
          <p:nvPr/>
        </p:nvGrpSpPr>
        <p:grpSpPr>
          <a:xfrm>
            <a:off x="4794134" y="1310722"/>
            <a:ext cx="738505" cy="614680"/>
            <a:chOff x="4794134" y="1310722"/>
            <a:chExt cx="738505" cy="614680"/>
          </a:xfrm>
        </p:grpSpPr>
        <p:sp>
          <p:nvSpPr>
            <p:cNvPr id="12" name="object 12" descr=""/>
            <p:cNvSpPr/>
            <p:nvPr/>
          </p:nvSpPr>
          <p:spPr>
            <a:xfrm>
              <a:off x="4801847" y="1318435"/>
              <a:ext cx="722630" cy="599440"/>
            </a:xfrm>
            <a:custGeom>
              <a:avLst/>
              <a:gdLst/>
              <a:ahLst/>
              <a:cxnLst/>
              <a:rect l="l" t="t" r="r" b="b"/>
              <a:pathLst>
                <a:path w="722629" h="599439">
                  <a:moveTo>
                    <a:pt x="722499" y="0"/>
                  </a:moveTo>
                  <a:lnTo>
                    <a:pt x="0" y="0"/>
                  </a:lnTo>
                  <a:lnTo>
                    <a:pt x="0" y="598857"/>
                  </a:lnTo>
                  <a:lnTo>
                    <a:pt x="722499" y="598857"/>
                  </a:lnTo>
                  <a:lnTo>
                    <a:pt x="722499" y="0"/>
                  </a:lnTo>
                  <a:close/>
                </a:path>
              </a:pathLst>
            </a:custGeom>
            <a:solidFill>
              <a:srgbClr val="FFDBB7"/>
            </a:solidFill>
          </p:spPr>
          <p:txBody>
            <a:bodyPr wrap="square" lIns="0" tIns="0" rIns="0" bIns="0" rtlCol="0"/>
            <a:lstStyle/>
            <a:p/>
          </p:txBody>
        </p:sp>
        <p:sp>
          <p:nvSpPr>
            <p:cNvPr id="13" name="object 13" descr=""/>
            <p:cNvSpPr/>
            <p:nvPr/>
          </p:nvSpPr>
          <p:spPr>
            <a:xfrm>
              <a:off x="4801847" y="1318435"/>
              <a:ext cx="722630" cy="599440"/>
            </a:xfrm>
            <a:custGeom>
              <a:avLst/>
              <a:gdLst/>
              <a:ahLst/>
              <a:cxnLst/>
              <a:rect l="l" t="t" r="r" b="b"/>
              <a:pathLst>
                <a:path w="722629" h="599439">
                  <a:moveTo>
                    <a:pt x="0" y="598857"/>
                  </a:moveTo>
                  <a:lnTo>
                    <a:pt x="722499" y="598857"/>
                  </a:lnTo>
                  <a:lnTo>
                    <a:pt x="722499" y="0"/>
                  </a:lnTo>
                  <a:lnTo>
                    <a:pt x="0" y="0"/>
                  </a:lnTo>
                  <a:lnTo>
                    <a:pt x="0" y="598857"/>
                  </a:lnTo>
                  <a:close/>
                </a:path>
              </a:pathLst>
            </a:custGeom>
            <a:ln w="15426">
              <a:solidFill>
                <a:srgbClr val="000000"/>
              </a:solidFill>
            </a:ln>
          </p:spPr>
          <p:txBody>
            <a:bodyPr wrap="square" lIns="0" tIns="0" rIns="0" bIns="0" rtlCol="0"/>
            <a:lstStyle/>
            <a:p/>
          </p:txBody>
        </p:sp>
      </p:grpSp>
      <p:grpSp>
        <p:nvGrpSpPr>
          <p:cNvPr id="14" name="object 14" descr=""/>
          <p:cNvGrpSpPr/>
          <p:nvPr/>
        </p:nvGrpSpPr>
        <p:grpSpPr>
          <a:xfrm>
            <a:off x="551113" y="2644996"/>
            <a:ext cx="1279525" cy="947419"/>
            <a:chOff x="551113" y="2644996"/>
            <a:chExt cx="1279525" cy="947419"/>
          </a:xfrm>
        </p:grpSpPr>
        <p:sp>
          <p:nvSpPr>
            <p:cNvPr id="15" name="object 15" descr=""/>
            <p:cNvSpPr/>
            <p:nvPr/>
          </p:nvSpPr>
          <p:spPr>
            <a:xfrm>
              <a:off x="558826" y="2652709"/>
              <a:ext cx="1264285" cy="932180"/>
            </a:xfrm>
            <a:custGeom>
              <a:avLst/>
              <a:gdLst/>
              <a:ahLst/>
              <a:cxnLst/>
              <a:rect l="l" t="t" r="r" b="b"/>
              <a:pathLst>
                <a:path w="1264285" h="932179">
                  <a:moveTo>
                    <a:pt x="1263992" y="0"/>
                  </a:moveTo>
                  <a:lnTo>
                    <a:pt x="0" y="0"/>
                  </a:lnTo>
                  <a:lnTo>
                    <a:pt x="0" y="931916"/>
                  </a:lnTo>
                  <a:lnTo>
                    <a:pt x="1263992" y="931916"/>
                  </a:lnTo>
                  <a:lnTo>
                    <a:pt x="1263992" y="0"/>
                  </a:lnTo>
                  <a:close/>
                </a:path>
              </a:pathLst>
            </a:custGeom>
            <a:solidFill>
              <a:srgbClr val="FFFF99"/>
            </a:solidFill>
          </p:spPr>
          <p:txBody>
            <a:bodyPr wrap="square" lIns="0" tIns="0" rIns="0" bIns="0" rtlCol="0"/>
            <a:lstStyle/>
            <a:p/>
          </p:txBody>
        </p:sp>
        <p:sp>
          <p:nvSpPr>
            <p:cNvPr id="16" name="object 16" descr=""/>
            <p:cNvSpPr/>
            <p:nvPr/>
          </p:nvSpPr>
          <p:spPr>
            <a:xfrm>
              <a:off x="558826" y="2652709"/>
              <a:ext cx="1264285" cy="932180"/>
            </a:xfrm>
            <a:custGeom>
              <a:avLst/>
              <a:gdLst/>
              <a:ahLst/>
              <a:cxnLst/>
              <a:rect l="l" t="t" r="r" b="b"/>
              <a:pathLst>
                <a:path w="1264285" h="932179">
                  <a:moveTo>
                    <a:pt x="0" y="931916"/>
                  </a:moveTo>
                  <a:lnTo>
                    <a:pt x="1263992" y="931916"/>
                  </a:lnTo>
                  <a:lnTo>
                    <a:pt x="1263992" y="0"/>
                  </a:lnTo>
                  <a:lnTo>
                    <a:pt x="0" y="0"/>
                  </a:lnTo>
                  <a:lnTo>
                    <a:pt x="0" y="931916"/>
                  </a:lnTo>
                  <a:close/>
                </a:path>
              </a:pathLst>
            </a:custGeom>
            <a:ln w="15424">
              <a:solidFill>
                <a:srgbClr val="000000"/>
              </a:solidFill>
            </a:ln>
          </p:spPr>
          <p:txBody>
            <a:bodyPr wrap="square" lIns="0" tIns="0" rIns="0" bIns="0" rtlCol="0"/>
            <a:lstStyle/>
            <a:p/>
          </p:txBody>
        </p:sp>
      </p:grpSp>
      <p:grpSp>
        <p:nvGrpSpPr>
          <p:cNvPr id="17" name="object 17" descr=""/>
          <p:cNvGrpSpPr/>
          <p:nvPr/>
        </p:nvGrpSpPr>
        <p:grpSpPr>
          <a:xfrm>
            <a:off x="551111" y="4376947"/>
            <a:ext cx="1189355" cy="1350010"/>
            <a:chOff x="551111" y="4376947"/>
            <a:chExt cx="1189355" cy="1350010"/>
          </a:xfrm>
        </p:grpSpPr>
        <p:sp>
          <p:nvSpPr>
            <p:cNvPr id="18" name="object 18" descr=""/>
            <p:cNvSpPr/>
            <p:nvPr/>
          </p:nvSpPr>
          <p:spPr>
            <a:xfrm>
              <a:off x="558826" y="4384662"/>
              <a:ext cx="1173480" cy="1334770"/>
            </a:xfrm>
            <a:custGeom>
              <a:avLst/>
              <a:gdLst/>
              <a:ahLst/>
              <a:cxnLst/>
              <a:rect l="l" t="t" r="r" b="b"/>
              <a:pathLst>
                <a:path w="1173480" h="1334770">
                  <a:moveTo>
                    <a:pt x="1173478" y="0"/>
                  </a:moveTo>
                  <a:lnTo>
                    <a:pt x="0" y="0"/>
                  </a:lnTo>
                  <a:lnTo>
                    <a:pt x="0" y="1334317"/>
                  </a:lnTo>
                  <a:lnTo>
                    <a:pt x="1173478" y="1334317"/>
                  </a:lnTo>
                  <a:lnTo>
                    <a:pt x="1173478" y="0"/>
                  </a:lnTo>
                  <a:close/>
                </a:path>
              </a:pathLst>
            </a:custGeom>
            <a:solidFill>
              <a:srgbClr val="FFFF99"/>
            </a:solidFill>
          </p:spPr>
          <p:txBody>
            <a:bodyPr wrap="square" lIns="0" tIns="0" rIns="0" bIns="0" rtlCol="0"/>
            <a:lstStyle/>
            <a:p/>
          </p:txBody>
        </p:sp>
        <p:sp>
          <p:nvSpPr>
            <p:cNvPr id="19" name="object 19" descr=""/>
            <p:cNvSpPr/>
            <p:nvPr/>
          </p:nvSpPr>
          <p:spPr>
            <a:xfrm>
              <a:off x="558826" y="4384662"/>
              <a:ext cx="1173480" cy="1334770"/>
            </a:xfrm>
            <a:custGeom>
              <a:avLst/>
              <a:gdLst/>
              <a:ahLst/>
              <a:cxnLst/>
              <a:rect l="l" t="t" r="r" b="b"/>
              <a:pathLst>
                <a:path w="1173480" h="1334770">
                  <a:moveTo>
                    <a:pt x="0" y="1334317"/>
                  </a:moveTo>
                  <a:lnTo>
                    <a:pt x="1173478" y="1334317"/>
                  </a:lnTo>
                  <a:lnTo>
                    <a:pt x="1173478" y="0"/>
                  </a:lnTo>
                  <a:lnTo>
                    <a:pt x="0" y="0"/>
                  </a:lnTo>
                  <a:lnTo>
                    <a:pt x="0" y="1334317"/>
                  </a:lnTo>
                  <a:close/>
                </a:path>
              </a:pathLst>
            </a:custGeom>
            <a:ln w="15430">
              <a:solidFill>
                <a:srgbClr val="000000"/>
              </a:solidFill>
            </a:ln>
          </p:spPr>
          <p:txBody>
            <a:bodyPr wrap="square" lIns="0" tIns="0" rIns="0" bIns="0" rtlCol="0"/>
            <a:lstStyle/>
            <a:p/>
          </p:txBody>
        </p:sp>
      </p:grpSp>
      <p:grpSp>
        <p:nvGrpSpPr>
          <p:cNvPr id="20" name="object 20" descr=""/>
          <p:cNvGrpSpPr/>
          <p:nvPr/>
        </p:nvGrpSpPr>
        <p:grpSpPr>
          <a:xfrm>
            <a:off x="551114" y="1475890"/>
            <a:ext cx="2445385" cy="784860"/>
            <a:chOff x="551114" y="1475890"/>
            <a:chExt cx="2445385" cy="784860"/>
          </a:xfrm>
        </p:grpSpPr>
        <p:sp>
          <p:nvSpPr>
            <p:cNvPr id="21" name="object 21" descr=""/>
            <p:cNvSpPr/>
            <p:nvPr/>
          </p:nvSpPr>
          <p:spPr>
            <a:xfrm>
              <a:off x="1843045" y="2051211"/>
              <a:ext cx="1153795" cy="0"/>
            </a:xfrm>
            <a:custGeom>
              <a:avLst/>
              <a:gdLst/>
              <a:ahLst/>
              <a:cxnLst/>
              <a:rect l="l" t="t" r="r" b="b"/>
              <a:pathLst>
                <a:path w="1153795" h="0">
                  <a:moveTo>
                    <a:pt x="0" y="0"/>
                  </a:moveTo>
                  <a:lnTo>
                    <a:pt x="1153252" y="0"/>
                  </a:lnTo>
                </a:path>
              </a:pathLst>
            </a:custGeom>
            <a:ln w="15416">
              <a:solidFill>
                <a:srgbClr val="000000"/>
              </a:solidFill>
            </a:ln>
          </p:spPr>
          <p:txBody>
            <a:bodyPr wrap="square" lIns="0" tIns="0" rIns="0" bIns="0" rtlCol="0"/>
            <a:lstStyle/>
            <a:p/>
          </p:txBody>
        </p:sp>
        <p:sp>
          <p:nvSpPr>
            <p:cNvPr id="22" name="object 22" descr=""/>
            <p:cNvSpPr/>
            <p:nvPr/>
          </p:nvSpPr>
          <p:spPr>
            <a:xfrm>
              <a:off x="558826" y="1483601"/>
              <a:ext cx="1284605" cy="769620"/>
            </a:xfrm>
            <a:custGeom>
              <a:avLst/>
              <a:gdLst/>
              <a:ahLst/>
              <a:cxnLst/>
              <a:rect l="l" t="t" r="r" b="b"/>
              <a:pathLst>
                <a:path w="1284605" h="769619">
                  <a:moveTo>
                    <a:pt x="1284218" y="0"/>
                  </a:moveTo>
                  <a:lnTo>
                    <a:pt x="0" y="0"/>
                  </a:lnTo>
                  <a:lnTo>
                    <a:pt x="0" y="769346"/>
                  </a:lnTo>
                  <a:lnTo>
                    <a:pt x="1284219" y="769346"/>
                  </a:lnTo>
                  <a:lnTo>
                    <a:pt x="1284218" y="0"/>
                  </a:lnTo>
                  <a:close/>
                </a:path>
              </a:pathLst>
            </a:custGeom>
            <a:solidFill>
              <a:srgbClr val="CCFFFF"/>
            </a:solidFill>
          </p:spPr>
          <p:txBody>
            <a:bodyPr wrap="square" lIns="0" tIns="0" rIns="0" bIns="0" rtlCol="0"/>
            <a:lstStyle/>
            <a:p/>
          </p:txBody>
        </p:sp>
        <p:sp>
          <p:nvSpPr>
            <p:cNvPr id="23" name="object 23" descr=""/>
            <p:cNvSpPr/>
            <p:nvPr/>
          </p:nvSpPr>
          <p:spPr>
            <a:xfrm>
              <a:off x="558826" y="1483601"/>
              <a:ext cx="1284605" cy="769620"/>
            </a:xfrm>
            <a:custGeom>
              <a:avLst/>
              <a:gdLst/>
              <a:ahLst/>
              <a:cxnLst/>
              <a:rect l="l" t="t" r="r" b="b"/>
              <a:pathLst>
                <a:path w="1284605" h="769619">
                  <a:moveTo>
                    <a:pt x="0" y="769346"/>
                  </a:moveTo>
                  <a:lnTo>
                    <a:pt x="1284219" y="769346"/>
                  </a:lnTo>
                  <a:lnTo>
                    <a:pt x="1284218" y="0"/>
                  </a:lnTo>
                  <a:lnTo>
                    <a:pt x="0" y="0"/>
                  </a:lnTo>
                  <a:lnTo>
                    <a:pt x="0" y="769346"/>
                  </a:lnTo>
                  <a:close/>
                </a:path>
              </a:pathLst>
            </a:custGeom>
            <a:ln w="15422">
              <a:solidFill>
                <a:srgbClr val="000000"/>
              </a:solidFill>
            </a:ln>
          </p:spPr>
          <p:txBody>
            <a:bodyPr wrap="square" lIns="0" tIns="0" rIns="0" bIns="0" rtlCol="0"/>
            <a:lstStyle/>
            <a:p/>
          </p:txBody>
        </p:sp>
      </p:grpSp>
      <p:grpSp>
        <p:nvGrpSpPr>
          <p:cNvPr id="24" name="object 24" descr=""/>
          <p:cNvGrpSpPr/>
          <p:nvPr/>
        </p:nvGrpSpPr>
        <p:grpSpPr>
          <a:xfrm>
            <a:off x="2537062" y="1142780"/>
            <a:ext cx="2002155" cy="4584065"/>
            <a:chOff x="2537062" y="1142780"/>
            <a:chExt cx="2002155" cy="4584065"/>
          </a:xfrm>
        </p:grpSpPr>
        <p:sp>
          <p:nvSpPr>
            <p:cNvPr id="25" name="object 25" descr=""/>
            <p:cNvSpPr/>
            <p:nvPr/>
          </p:nvSpPr>
          <p:spPr>
            <a:xfrm>
              <a:off x="2544780" y="3053049"/>
              <a:ext cx="1060450" cy="2666365"/>
            </a:xfrm>
            <a:custGeom>
              <a:avLst/>
              <a:gdLst/>
              <a:ahLst/>
              <a:cxnLst/>
              <a:rect l="l" t="t" r="r" b="b"/>
              <a:pathLst>
                <a:path w="1060450" h="2666365">
                  <a:moveTo>
                    <a:pt x="1060072" y="0"/>
                  </a:moveTo>
                  <a:lnTo>
                    <a:pt x="0" y="0"/>
                  </a:lnTo>
                  <a:lnTo>
                    <a:pt x="0" y="2665930"/>
                  </a:lnTo>
                  <a:lnTo>
                    <a:pt x="1060072" y="2665930"/>
                  </a:lnTo>
                  <a:lnTo>
                    <a:pt x="1060072" y="0"/>
                  </a:lnTo>
                  <a:close/>
                </a:path>
              </a:pathLst>
            </a:custGeom>
            <a:solidFill>
              <a:srgbClr val="CCFFFF"/>
            </a:solidFill>
          </p:spPr>
          <p:txBody>
            <a:bodyPr wrap="square" lIns="0" tIns="0" rIns="0" bIns="0" rtlCol="0"/>
            <a:lstStyle/>
            <a:p/>
          </p:txBody>
        </p:sp>
        <p:sp>
          <p:nvSpPr>
            <p:cNvPr id="26" name="object 26" descr=""/>
            <p:cNvSpPr/>
            <p:nvPr/>
          </p:nvSpPr>
          <p:spPr>
            <a:xfrm>
              <a:off x="2544780" y="3053049"/>
              <a:ext cx="1060450" cy="2666365"/>
            </a:xfrm>
            <a:custGeom>
              <a:avLst/>
              <a:gdLst/>
              <a:ahLst/>
              <a:cxnLst/>
              <a:rect l="l" t="t" r="r" b="b"/>
              <a:pathLst>
                <a:path w="1060450" h="2666365">
                  <a:moveTo>
                    <a:pt x="0" y="2665930"/>
                  </a:moveTo>
                  <a:lnTo>
                    <a:pt x="1060072" y="2665930"/>
                  </a:lnTo>
                  <a:lnTo>
                    <a:pt x="1060072" y="0"/>
                  </a:lnTo>
                  <a:lnTo>
                    <a:pt x="0" y="0"/>
                  </a:lnTo>
                  <a:lnTo>
                    <a:pt x="0" y="2665930"/>
                  </a:lnTo>
                  <a:close/>
                </a:path>
              </a:pathLst>
            </a:custGeom>
            <a:ln w="15437">
              <a:solidFill>
                <a:srgbClr val="000000"/>
              </a:solidFill>
            </a:ln>
          </p:spPr>
          <p:txBody>
            <a:bodyPr wrap="square" lIns="0" tIns="0" rIns="0" bIns="0" rtlCol="0"/>
            <a:lstStyle/>
            <a:p/>
          </p:txBody>
        </p:sp>
        <p:sp>
          <p:nvSpPr>
            <p:cNvPr id="27" name="object 27" descr=""/>
            <p:cNvSpPr/>
            <p:nvPr/>
          </p:nvSpPr>
          <p:spPr>
            <a:xfrm>
              <a:off x="3604810" y="1150500"/>
              <a:ext cx="926465" cy="4568825"/>
            </a:xfrm>
            <a:custGeom>
              <a:avLst/>
              <a:gdLst/>
              <a:ahLst/>
              <a:cxnLst/>
              <a:rect l="l" t="t" r="r" b="b"/>
              <a:pathLst>
                <a:path w="926464" h="4568825">
                  <a:moveTo>
                    <a:pt x="926419" y="0"/>
                  </a:moveTo>
                  <a:lnTo>
                    <a:pt x="0" y="0"/>
                  </a:lnTo>
                  <a:lnTo>
                    <a:pt x="0" y="4568479"/>
                  </a:lnTo>
                  <a:lnTo>
                    <a:pt x="926419" y="4568479"/>
                  </a:lnTo>
                  <a:lnTo>
                    <a:pt x="926419" y="0"/>
                  </a:lnTo>
                  <a:close/>
                </a:path>
              </a:pathLst>
            </a:custGeom>
            <a:solidFill>
              <a:srgbClr val="CCFFFF"/>
            </a:solidFill>
          </p:spPr>
          <p:txBody>
            <a:bodyPr wrap="square" lIns="0" tIns="0" rIns="0" bIns="0" rtlCol="0"/>
            <a:lstStyle/>
            <a:p/>
          </p:txBody>
        </p:sp>
        <p:sp>
          <p:nvSpPr>
            <p:cNvPr id="28" name="object 28" descr=""/>
            <p:cNvSpPr/>
            <p:nvPr/>
          </p:nvSpPr>
          <p:spPr>
            <a:xfrm>
              <a:off x="3604810" y="1150500"/>
              <a:ext cx="926465" cy="4568825"/>
            </a:xfrm>
            <a:custGeom>
              <a:avLst/>
              <a:gdLst/>
              <a:ahLst/>
              <a:cxnLst/>
              <a:rect l="l" t="t" r="r" b="b"/>
              <a:pathLst>
                <a:path w="926464" h="4568825">
                  <a:moveTo>
                    <a:pt x="0" y="4568479"/>
                  </a:moveTo>
                  <a:lnTo>
                    <a:pt x="926419" y="4568479"/>
                  </a:lnTo>
                  <a:lnTo>
                    <a:pt x="926419" y="0"/>
                  </a:lnTo>
                  <a:lnTo>
                    <a:pt x="0" y="0"/>
                  </a:lnTo>
                  <a:lnTo>
                    <a:pt x="0" y="4568479"/>
                  </a:lnTo>
                  <a:close/>
                </a:path>
              </a:pathLst>
            </a:custGeom>
            <a:ln w="15439">
              <a:solidFill>
                <a:srgbClr val="000000"/>
              </a:solidFill>
            </a:ln>
          </p:spPr>
          <p:txBody>
            <a:bodyPr wrap="square" lIns="0" tIns="0" rIns="0" bIns="0" rtlCol="0"/>
            <a:lstStyle/>
            <a:p/>
          </p:txBody>
        </p:sp>
      </p:grpSp>
      <p:grpSp>
        <p:nvGrpSpPr>
          <p:cNvPr id="29" name="object 29" descr=""/>
          <p:cNvGrpSpPr/>
          <p:nvPr/>
        </p:nvGrpSpPr>
        <p:grpSpPr>
          <a:xfrm>
            <a:off x="6078644" y="2376376"/>
            <a:ext cx="1597660" cy="349250"/>
            <a:chOff x="6078644" y="2376376"/>
            <a:chExt cx="1597660" cy="349250"/>
          </a:xfrm>
        </p:grpSpPr>
        <p:sp>
          <p:nvSpPr>
            <p:cNvPr id="30" name="object 30" descr=""/>
            <p:cNvSpPr/>
            <p:nvPr/>
          </p:nvSpPr>
          <p:spPr>
            <a:xfrm>
              <a:off x="6132795" y="2384313"/>
              <a:ext cx="1535430" cy="268605"/>
            </a:xfrm>
            <a:custGeom>
              <a:avLst/>
              <a:gdLst/>
              <a:ahLst/>
              <a:cxnLst/>
              <a:rect l="l" t="t" r="r" b="b"/>
              <a:pathLst>
                <a:path w="1535429" h="268605">
                  <a:moveTo>
                    <a:pt x="1534997" y="0"/>
                  </a:moveTo>
                  <a:lnTo>
                    <a:pt x="0" y="0"/>
                  </a:lnTo>
                  <a:lnTo>
                    <a:pt x="0" y="268460"/>
                  </a:lnTo>
                  <a:lnTo>
                    <a:pt x="1534997" y="268460"/>
                  </a:lnTo>
                  <a:lnTo>
                    <a:pt x="1534997" y="0"/>
                  </a:lnTo>
                  <a:close/>
                </a:path>
              </a:pathLst>
            </a:custGeom>
            <a:solidFill>
              <a:srgbClr val="FFCDE6"/>
            </a:solidFill>
          </p:spPr>
          <p:txBody>
            <a:bodyPr wrap="square" lIns="0" tIns="0" rIns="0" bIns="0" rtlCol="0"/>
            <a:lstStyle/>
            <a:p/>
          </p:txBody>
        </p:sp>
        <p:sp>
          <p:nvSpPr>
            <p:cNvPr id="31" name="object 31" descr=""/>
            <p:cNvSpPr/>
            <p:nvPr/>
          </p:nvSpPr>
          <p:spPr>
            <a:xfrm>
              <a:off x="6132795" y="2384313"/>
              <a:ext cx="1535430" cy="268605"/>
            </a:xfrm>
            <a:custGeom>
              <a:avLst/>
              <a:gdLst/>
              <a:ahLst/>
              <a:cxnLst/>
              <a:rect l="l" t="t" r="r" b="b"/>
              <a:pathLst>
                <a:path w="1535429" h="268605">
                  <a:moveTo>
                    <a:pt x="0" y="268460"/>
                  </a:moveTo>
                  <a:lnTo>
                    <a:pt x="1534997" y="268460"/>
                  </a:lnTo>
                  <a:lnTo>
                    <a:pt x="1534997" y="0"/>
                  </a:lnTo>
                  <a:lnTo>
                    <a:pt x="0" y="0"/>
                  </a:lnTo>
                  <a:lnTo>
                    <a:pt x="0" y="268460"/>
                  </a:lnTo>
                  <a:close/>
                </a:path>
              </a:pathLst>
            </a:custGeom>
            <a:ln w="15417">
              <a:solidFill>
                <a:srgbClr val="000000"/>
              </a:solidFill>
            </a:ln>
          </p:spPr>
          <p:txBody>
            <a:bodyPr wrap="square" lIns="0" tIns="0" rIns="0" bIns="0" rtlCol="0"/>
            <a:lstStyle/>
            <a:p/>
          </p:txBody>
        </p:sp>
        <p:sp>
          <p:nvSpPr>
            <p:cNvPr id="32" name="object 32" descr=""/>
            <p:cNvSpPr/>
            <p:nvPr/>
          </p:nvSpPr>
          <p:spPr>
            <a:xfrm>
              <a:off x="6086582" y="2451573"/>
              <a:ext cx="1535430" cy="266065"/>
            </a:xfrm>
            <a:custGeom>
              <a:avLst/>
              <a:gdLst/>
              <a:ahLst/>
              <a:cxnLst/>
              <a:rect l="l" t="t" r="r" b="b"/>
              <a:pathLst>
                <a:path w="1535429" h="266064">
                  <a:moveTo>
                    <a:pt x="1534997" y="0"/>
                  </a:moveTo>
                  <a:lnTo>
                    <a:pt x="0" y="0"/>
                  </a:lnTo>
                  <a:lnTo>
                    <a:pt x="0" y="265798"/>
                  </a:lnTo>
                  <a:lnTo>
                    <a:pt x="1534997" y="265798"/>
                  </a:lnTo>
                  <a:lnTo>
                    <a:pt x="1534997" y="0"/>
                  </a:lnTo>
                  <a:close/>
                </a:path>
              </a:pathLst>
            </a:custGeom>
            <a:solidFill>
              <a:srgbClr val="FFCDE6"/>
            </a:solidFill>
          </p:spPr>
          <p:txBody>
            <a:bodyPr wrap="square" lIns="0" tIns="0" rIns="0" bIns="0" rtlCol="0"/>
            <a:lstStyle/>
            <a:p/>
          </p:txBody>
        </p:sp>
        <p:sp>
          <p:nvSpPr>
            <p:cNvPr id="33" name="object 33" descr=""/>
            <p:cNvSpPr/>
            <p:nvPr/>
          </p:nvSpPr>
          <p:spPr>
            <a:xfrm>
              <a:off x="6086582" y="2451573"/>
              <a:ext cx="1535430" cy="266065"/>
            </a:xfrm>
            <a:custGeom>
              <a:avLst/>
              <a:gdLst/>
              <a:ahLst/>
              <a:cxnLst/>
              <a:rect l="l" t="t" r="r" b="b"/>
              <a:pathLst>
                <a:path w="1535429" h="266064">
                  <a:moveTo>
                    <a:pt x="0" y="265798"/>
                  </a:moveTo>
                  <a:lnTo>
                    <a:pt x="1534997" y="265798"/>
                  </a:lnTo>
                  <a:lnTo>
                    <a:pt x="1534997" y="0"/>
                  </a:lnTo>
                  <a:lnTo>
                    <a:pt x="0" y="0"/>
                  </a:lnTo>
                  <a:lnTo>
                    <a:pt x="0" y="265798"/>
                  </a:lnTo>
                  <a:close/>
                </a:path>
              </a:pathLst>
            </a:custGeom>
            <a:ln w="15417">
              <a:solidFill>
                <a:srgbClr val="000000"/>
              </a:solidFill>
            </a:ln>
          </p:spPr>
          <p:txBody>
            <a:bodyPr wrap="square" lIns="0" tIns="0" rIns="0" bIns="0" rtlCol="0"/>
            <a:lstStyle/>
            <a:p/>
          </p:txBody>
        </p:sp>
      </p:grpSp>
      <p:sp>
        <p:nvSpPr>
          <p:cNvPr id="34" name="object 34" descr=""/>
          <p:cNvSpPr txBox="1"/>
          <p:nvPr/>
        </p:nvSpPr>
        <p:spPr>
          <a:xfrm>
            <a:off x="837357" y="1188515"/>
            <a:ext cx="751205" cy="259079"/>
          </a:xfrm>
          <a:prstGeom prst="rect">
            <a:avLst/>
          </a:prstGeom>
        </p:spPr>
        <p:txBody>
          <a:bodyPr wrap="square" lIns="0" tIns="16510" rIns="0" bIns="0" rtlCol="0" vert="horz">
            <a:spAutoFit/>
          </a:bodyPr>
          <a:lstStyle/>
          <a:p>
            <a:pPr marL="12700">
              <a:lnSpc>
                <a:spcPct val="100000"/>
              </a:lnSpc>
              <a:spcBef>
                <a:spcPts val="130"/>
              </a:spcBef>
            </a:pPr>
            <a:r>
              <a:rPr dirty="0" sz="1500">
                <a:solidFill>
                  <a:srgbClr val="0000FF"/>
                </a:solidFill>
                <a:latin typeface="宋体"/>
                <a:cs typeface="宋体"/>
              </a:rPr>
              <a:t>16G</a:t>
            </a:r>
            <a:r>
              <a:rPr dirty="0" sz="1500" spc="-125">
                <a:solidFill>
                  <a:srgbClr val="0000FF"/>
                </a:solidFill>
                <a:latin typeface="宋体"/>
                <a:cs typeface="宋体"/>
              </a:rPr>
              <a:t> 字节</a:t>
            </a:r>
            <a:endParaRPr sz="1500">
              <a:latin typeface="宋体"/>
              <a:cs typeface="宋体"/>
            </a:endParaRPr>
          </a:p>
        </p:txBody>
      </p:sp>
      <p:sp>
        <p:nvSpPr>
          <p:cNvPr id="35" name="object 35" descr=""/>
          <p:cNvSpPr txBox="1"/>
          <p:nvPr/>
        </p:nvSpPr>
        <p:spPr>
          <a:xfrm>
            <a:off x="610550" y="1529945"/>
            <a:ext cx="1185545" cy="583565"/>
          </a:xfrm>
          <a:prstGeom prst="rect">
            <a:avLst/>
          </a:prstGeom>
        </p:spPr>
        <p:txBody>
          <a:bodyPr wrap="square" lIns="0" tIns="62230" rIns="0" bIns="0" rtlCol="0" vert="horz">
            <a:spAutoFit/>
          </a:bodyPr>
          <a:lstStyle/>
          <a:p>
            <a:pPr algn="ctr" marR="1905">
              <a:lnSpc>
                <a:spcPct val="100000"/>
              </a:lnSpc>
              <a:spcBef>
                <a:spcPts val="490"/>
              </a:spcBef>
            </a:pPr>
            <a:r>
              <a:rPr dirty="0" sz="1500" spc="-25">
                <a:latin typeface="宋体"/>
                <a:cs typeface="宋体"/>
              </a:rPr>
              <a:t>XMU</a:t>
            </a:r>
            <a:endParaRPr sz="1500">
              <a:latin typeface="宋体"/>
              <a:cs typeface="宋体"/>
            </a:endParaRPr>
          </a:p>
          <a:p>
            <a:pPr algn="ctr">
              <a:lnSpc>
                <a:spcPct val="100000"/>
              </a:lnSpc>
              <a:spcBef>
                <a:spcPts val="395"/>
              </a:spcBef>
            </a:pPr>
            <a:r>
              <a:rPr dirty="0" sz="1500" spc="-10">
                <a:latin typeface="宋体"/>
                <a:cs typeface="宋体"/>
              </a:rPr>
              <a:t>存储扩展部件</a:t>
            </a:r>
            <a:endParaRPr sz="1500">
              <a:latin typeface="宋体"/>
              <a:cs typeface="宋体"/>
            </a:endParaRPr>
          </a:p>
        </p:txBody>
      </p:sp>
      <p:sp>
        <p:nvSpPr>
          <p:cNvPr id="36" name="object 36" descr=""/>
          <p:cNvSpPr txBox="1"/>
          <p:nvPr/>
        </p:nvSpPr>
        <p:spPr>
          <a:xfrm>
            <a:off x="2573608" y="3750080"/>
            <a:ext cx="991869" cy="1166495"/>
          </a:xfrm>
          <a:prstGeom prst="rect">
            <a:avLst/>
          </a:prstGeom>
        </p:spPr>
        <p:txBody>
          <a:bodyPr wrap="square" lIns="0" tIns="53975" rIns="0" bIns="0" rtlCol="0" vert="horz">
            <a:spAutoFit/>
          </a:bodyPr>
          <a:lstStyle/>
          <a:p>
            <a:pPr algn="ctr" marR="4445">
              <a:lnSpc>
                <a:spcPct val="100000"/>
              </a:lnSpc>
              <a:spcBef>
                <a:spcPts val="425"/>
              </a:spcBef>
            </a:pPr>
            <a:r>
              <a:rPr dirty="0" sz="1500" spc="-25">
                <a:latin typeface="宋体"/>
                <a:cs typeface="宋体"/>
              </a:rPr>
              <a:t>数据</a:t>
            </a:r>
            <a:endParaRPr sz="1500">
              <a:latin typeface="宋体"/>
              <a:cs typeface="宋体"/>
            </a:endParaRPr>
          </a:p>
          <a:p>
            <a:pPr algn="ctr" marL="12065" marR="5080">
              <a:lnSpc>
                <a:spcPct val="116300"/>
              </a:lnSpc>
              <a:spcBef>
                <a:spcPts val="45"/>
              </a:spcBef>
            </a:pPr>
            <a:r>
              <a:rPr dirty="0" sz="1500" spc="-10">
                <a:latin typeface="宋体"/>
                <a:cs typeface="宋体"/>
              </a:rPr>
              <a:t>中央处理机</a:t>
            </a:r>
            <a:r>
              <a:rPr dirty="0" sz="1500" spc="-20">
                <a:latin typeface="宋体"/>
                <a:cs typeface="宋体"/>
              </a:rPr>
              <a:t>存储器</a:t>
            </a:r>
            <a:endParaRPr sz="1500">
              <a:latin typeface="宋体"/>
              <a:cs typeface="宋体"/>
            </a:endParaRPr>
          </a:p>
          <a:p>
            <a:pPr marL="328930">
              <a:lnSpc>
                <a:spcPct val="100000"/>
              </a:lnSpc>
              <a:spcBef>
                <a:spcPts val="815"/>
              </a:spcBef>
            </a:pPr>
            <a:r>
              <a:rPr dirty="0" sz="1500" spc="-25">
                <a:latin typeface="宋体"/>
                <a:cs typeface="宋体"/>
              </a:rPr>
              <a:t>CPM</a:t>
            </a:r>
            <a:endParaRPr sz="1500">
              <a:latin typeface="宋体"/>
              <a:cs typeface="宋体"/>
            </a:endParaRPr>
          </a:p>
        </p:txBody>
      </p:sp>
      <p:sp>
        <p:nvSpPr>
          <p:cNvPr id="37" name="object 37" descr=""/>
          <p:cNvSpPr txBox="1"/>
          <p:nvPr/>
        </p:nvSpPr>
        <p:spPr>
          <a:xfrm>
            <a:off x="2800463" y="5325879"/>
            <a:ext cx="511809" cy="259079"/>
          </a:xfrm>
          <a:prstGeom prst="rect">
            <a:avLst/>
          </a:prstGeom>
        </p:spPr>
        <p:txBody>
          <a:bodyPr wrap="square" lIns="0" tIns="16510" rIns="0" bIns="0" rtlCol="0" vert="horz">
            <a:spAutoFit/>
          </a:bodyPr>
          <a:lstStyle/>
          <a:p>
            <a:pPr marL="12700">
              <a:lnSpc>
                <a:spcPct val="100000"/>
              </a:lnSpc>
              <a:spcBef>
                <a:spcPts val="130"/>
              </a:spcBef>
            </a:pPr>
            <a:r>
              <a:rPr dirty="0" sz="1500" spc="-10">
                <a:latin typeface="宋体"/>
                <a:cs typeface="宋体"/>
              </a:rPr>
              <a:t>256MB</a:t>
            </a:r>
            <a:endParaRPr sz="1500">
              <a:latin typeface="宋体"/>
              <a:cs typeface="宋体"/>
            </a:endParaRPr>
          </a:p>
        </p:txBody>
      </p:sp>
      <p:sp>
        <p:nvSpPr>
          <p:cNvPr id="38" name="object 38" descr=""/>
          <p:cNvSpPr/>
          <p:nvPr/>
        </p:nvSpPr>
        <p:spPr>
          <a:xfrm>
            <a:off x="1822818" y="3385464"/>
            <a:ext cx="721995" cy="0"/>
          </a:xfrm>
          <a:custGeom>
            <a:avLst/>
            <a:gdLst/>
            <a:ahLst/>
            <a:cxnLst/>
            <a:rect l="l" t="t" r="r" b="b"/>
            <a:pathLst>
              <a:path w="721994" h="0">
                <a:moveTo>
                  <a:pt x="0" y="0"/>
                </a:moveTo>
                <a:lnTo>
                  <a:pt x="721962" y="0"/>
                </a:lnTo>
              </a:path>
            </a:pathLst>
          </a:custGeom>
          <a:ln w="15416">
            <a:solidFill>
              <a:srgbClr val="000000"/>
            </a:solidFill>
          </a:ln>
        </p:spPr>
        <p:txBody>
          <a:bodyPr wrap="square" lIns="0" tIns="0" rIns="0" bIns="0" rtlCol="0"/>
          <a:lstStyle/>
          <a:p/>
        </p:txBody>
      </p:sp>
      <p:sp>
        <p:nvSpPr>
          <p:cNvPr id="39" name="object 39" descr=""/>
          <p:cNvSpPr txBox="1"/>
          <p:nvPr/>
        </p:nvSpPr>
        <p:spPr>
          <a:xfrm>
            <a:off x="3680024" y="2921285"/>
            <a:ext cx="798830" cy="562610"/>
          </a:xfrm>
          <a:prstGeom prst="rect">
            <a:avLst/>
          </a:prstGeom>
        </p:spPr>
        <p:txBody>
          <a:bodyPr wrap="square" lIns="0" tIns="12065" rIns="0" bIns="0" rtlCol="0" vert="horz">
            <a:spAutoFit/>
          </a:bodyPr>
          <a:lstStyle/>
          <a:p>
            <a:pPr marL="229235" marR="5080" indent="-217170">
              <a:lnSpc>
                <a:spcPct val="117400"/>
              </a:lnSpc>
              <a:spcBef>
                <a:spcPts val="95"/>
              </a:spcBef>
            </a:pPr>
            <a:r>
              <a:rPr dirty="0" sz="1500" spc="-15">
                <a:latin typeface="宋体"/>
                <a:cs typeface="宋体"/>
              </a:rPr>
              <a:t>主存储器</a:t>
            </a:r>
            <a:r>
              <a:rPr dirty="0" sz="1500" spc="-25">
                <a:latin typeface="宋体"/>
                <a:cs typeface="宋体"/>
              </a:rPr>
              <a:t>部件</a:t>
            </a:r>
            <a:endParaRPr sz="1500">
              <a:latin typeface="宋体"/>
              <a:cs typeface="宋体"/>
            </a:endParaRPr>
          </a:p>
        </p:txBody>
      </p:sp>
      <p:sp>
        <p:nvSpPr>
          <p:cNvPr id="40" name="object 40" descr=""/>
          <p:cNvSpPr txBox="1"/>
          <p:nvPr/>
        </p:nvSpPr>
        <p:spPr>
          <a:xfrm>
            <a:off x="3927642" y="5325879"/>
            <a:ext cx="319405" cy="259079"/>
          </a:xfrm>
          <a:prstGeom prst="rect">
            <a:avLst/>
          </a:prstGeom>
        </p:spPr>
        <p:txBody>
          <a:bodyPr wrap="square" lIns="0" tIns="16510" rIns="0" bIns="0" rtlCol="0" vert="horz">
            <a:spAutoFit/>
          </a:bodyPr>
          <a:lstStyle/>
          <a:p>
            <a:pPr marL="12700">
              <a:lnSpc>
                <a:spcPct val="100000"/>
              </a:lnSpc>
              <a:spcBef>
                <a:spcPts val="130"/>
              </a:spcBef>
            </a:pPr>
            <a:r>
              <a:rPr dirty="0" sz="1500" spc="-25">
                <a:latin typeface="宋体"/>
                <a:cs typeface="宋体"/>
              </a:rPr>
              <a:t>2GB</a:t>
            </a:r>
            <a:endParaRPr sz="1500">
              <a:latin typeface="宋体"/>
              <a:cs typeface="宋体"/>
            </a:endParaRPr>
          </a:p>
        </p:txBody>
      </p:sp>
      <p:sp>
        <p:nvSpPr>
          <p:cNvPr id="41" name="object 41" descr=""/>
          <p:cNvSpPr txBox="1"/>
          <p:nvPr/>
        </p:nvSpPr>
        <p:spPr>
          <a:xfrm>
            <a:off x="3927642" y="3591329"/>
            <a:ext cx="319405" cy="259079"/>
          </a:xfrm>
          <a:prstGeom prst="rect">
            <a:avLst/>
          </a:prstGeom>
        </p:spPr>
        <p:txBody>
          <a:bodyPr wrap="square" lIns="0" tIns="16510" rIns="0" bIns="0" rtlCol="0" vert="horz">
            <a:spAutoFit/>
          </a:bodyPr>
          <a:lstStyle/>
          <a:p>
            <a:pPr marL="12700">
              <a:lnSpc>
                <a:spcPct val="100000"/>
              </a:lnSpc>
              <a:spcBef>
                <a:spcPts val="130"/>
              </a:spcBef>
            </a:pPr>
            <a:r>
              <a:rPr dirty="0" sz="1500" spc="-25">
                <a:latin typeface="宋体"/>
                <a:cs typeface="宋体"/>
              </a:rPr>
              <a:t>MMU</a:t>
            </a:r>
            <a:endParaRPr sz="1500">
              <a:latin typeface="宋体"/>
              <a:cs typeface="宋体"/>
            </a:endParaRPr>
          </a:p>
        </p:txBody>
      </p:sp>
      <p:sp>
        <p:nvSpPr>
          <p:cNvPr id="42" name="object 42" descr=""/>
          <p:cNvSpPr txBox="1"/>
          <p:nvPr/>
        </p:nvSpPr>
        <p:spPr>
          <a:xfrm>
            <a:off x="746843" y="2759467"/>
            <a:ext cx="938530" cy="624205"/>
          </a:xfrm>
          <a:prstGeom prst="rect">
            <a:avLst/>
          </a:prstGeom>
        </p:spPr>
        <p:txBody>
          <a:bodyPr wrap="square" lIns="0" tIns="82550" rIns="0" bIns="0" rtlCol="0" vert="horz">
            <a:spAutoFit/>
          </a:bodyPr>
          <a:lstStyle/>
          <a:p>
            <a:pPr marL="33020">
              <a:lnSpc>
                <a:spcPct val="100000"/>
              </a:lnSpc>
              <a:spcBef>
                <a:spcPts val="650"/>
              </a:spcBef>
            </a:pPr>
            <a:r>
              <a:rPr dirty="0" sz="1500">
                <a:latin typeface="宋体"/>
                <a:cs typeface="宋体"/>
              </a:rPr>
              <a:t>IOP(4</a:t>
            </a:r>
            <a:r>
              <a:rPr dirty="0" sz="1500" spc="-120">
                <a:latin typeface="宋体"/>
                <a:cs typeface="宋体"/>
              </a:rPr>
              <a:t> 台)</a:t>
            </a:r>
            <a:endParaRPr sz="1500">
              <a:latin typeface="宋体"/>
              <a:cs typeface="宋体"/>
            </a:endParaRPr>
          </a:p>
          <a:p>
            <a:pPr marL="12700">
              <a:lnSpc>
                <a:spcPct val="100000"/>
              </a:lnSpc>
              <a:spcBef>
                <a:spcPts val="555"/>
              </a:spcBef>
            </a:pPr>
            <a:r>
              <a:rPr dirty="0" sz="1500">
                <a:latin typeface="宋体"/>
                <a:cs typeface="宋体"/>
              </a:rPr>
              <a:t>I/O</a:t>
            </a:r>
            <a:r>
              <a:rPr dirty="0" sz="1500" spc="-110">
                <a:latin typeface="宋体"/>
                <a:cs typeface="宋体"/>
              </a:rPr>
              <a:t> 处理机</a:t>
            </a:r>
            <a:endParaRPr sz="1500">
              <a:latin typeface="宋体"/>
              <a:cs typeface="宋体"/>
            </a:endParaRPr>
          </a:p>
        </p:txBody>
      </p:sp>
      <p:sp>
        <p:nvSpPr>
          <p:cNvPr id="43" name="object 43" descr=""/>
          <p:cNvSpPr txBox="1"/>
          <p:nvPr/>
        </p:nvSpPr>
        <p:spPr>
          <a:xfrm>
            <a:off x="700522" y="4516229"/>
            <a:ext cx="1034415" cy="968375"/>
          </a:xfrm>
          <a:prstGeom prst="rect">
            <a:avLst/>
          </a:prstGeom>
        </p:spPr>
        <p:txBody>
          <a:bodyPr wrap="square" lIns="0" tIns="121285" rIns="0" bIns="0" rtlCol="0" vert="horz">
            <a:spAutoFit/>
          </a:bodyPr>
          <a:lstStyle/>
          <a:p>
            <a:pPr marL="12700">
              <a:lnSpc>
                <a:spcPct val="100000"/>
              </a:lnSpc>
              <a:spcBef>
                <a:spcPts val="955"/>
              </a:spcBef>
            </a:pPr>
            <a:r>
              <a:rPr dirty="0" sz="1500" spc="-10">
                <a:latin typeface="宋体"/>
                <a:cs typeface="宋体"/>
              </a:rPr>
              <a:t>DCP（2</a:t>
            </a:r>
            <a:r>
              <a:rPr dirty="0" sz="1500" spc="-160">
                <a:latin typeface="宋体"/>
                <a:cs typeface="宋体"/>
              </a:rPr>
              <a:t> 台</a:t>
            </a:r>
            <a:r>
              <a:rPr dirty="0" sz="1500" spc="-50">
                <a:latin typeface="宋体"/>
                <a:cs typeface="宋体"/>
              </a:rPr>
              <a:t>）</a:t>
            </a:r>
            <a:endParaRPr sz="1500">
              <a:latin typeface="宋体"/>
              <a:cs typeface="宋体"/>
            </a:endParaRPr>
          </a:p>
          <a:p>
            <a:pPr marL="125730" marR="193675" indent="-67310">
              <a:lnSpc>
                <a:spcPct val="116300"/>
              </a:lnSpc>
              <a:spcBef>
                <a:spcPts val="570"/>
              </a:spcBef>
            </a:pPr>
            <a:r>
              <a:rPr dirty="0" sz="1500" spc="-15">
                <a:latin typeface="宋体"/>
                <a:cs typeface="宋体"/>
              </a:rPr>
              <a:t>数据中央</a:t>
            </a:r>
            <a:r>
              <a:rPr dirty="0" sz="1500" spc="-20">
                <a:latin typeface="宋体"/>
                <a:cs typeface="宋体"/>
              </a:rPr>
              <a:t>处理机</a:t>
            </a:r>
            <a:endParaRPr sz="1500">
              <a:latin typeface="宋体"/>
              <a:cs typeface="宋体"/>
            </a:endParaRPr>
          </a:p>
        </p:txBody>
      </p:sp>
      <p:sp>
        <p:nvSpPr>
          <p:cNvPr id="44" name="object 44" descr=""/>
          <p:cNvSpPr txBox="1"/>
          <p:nvPr/>
        </p:nvSpPr>
        <p:spPr>
          <a:xfrm>
            <a:off x="6682395" y="1472234"/>
            <a:ext cx="412115" cy="259079"/>
          </a:xfrm>
          <a:prstGeom prst="rect">
            <a:avLst/>
          </a:prstGeom>
        </p:spPr>
        <p:txBody>
          <a:bodyPr wrap="square" lIns="0" tIns="16510" rIns="0" bIns="0" rtlCol="0" vert="horz">
            <a:spAutoFit/>
          </a:bodyPr>
          <a:lstStyle/>
          <a:p>
            <a:pPr marL="12700">
              <a:lnSpc>
                <a:spcPct val="100000"/>
              </a:lnSpc>
              <a:spcBef>
                <a:spcPts val="130"/>
              </a:spcBef>
            </a:pPr>
            <a:r>
              <a:rPr dirty="0" sz="1500" spc="-25">
                <a:latin typeface="宋体"/>
                <a:cs typeface="宋体"/>
              </a:rPr>
              <a:t>屏蔽</a:t>
            </a:r>
            <a:endParaRPr sz="1500">
              <a:latin typeface="宋体"/>
              <a:cs typeface="宋体"/>
            </a:endParaRPr>
          </a:p>
        </p:txBody>
      </p:sp>
      <p:sp>
        <p:nvSpPr>
          <p:cNvPr id="45" name="object 45" descr=""/>
          <p:cNvSpPr txBox="1"/>
          <p:nvPr/>
        </p:nvSpPr>
        <p:spPr>
          <a:xfrm>
            <a:off x="4853416" y="1361493"/>
            <a:ext cx="605790" cy="494030"/>
          </a:xfrm>
          <a:prstGeom prst="rect">
            <a:avLst/>
          </a:prstGeom>
        </p:spPr>
        <p:txBody>
          <a:bodyPr wrap="square" lIns="0" tIns="10795" rIns="0" bIns="0" rtlCol="0" vert="horz">
            <a:spAutoFit/>
          </a:bodyPr>
          <a:lstStyle/>
          <a:p>
            <a:pPr marL="12700" marR="5080" indent="108585">
              <a:lnSpc>
                <a:spcPct val="102600"/>
              </a:lnSpc>
              <a:spcBef>
                <a:spcPts val="85"/>
              </a:spcBef>
            </a:pPr>
            <a:r>
              <a:rPr dirty="0" sz="1500" spc="-25">
                <a:latin typeface="宋体"/>
                <a:cs typeface="宋体"/>
              </a:rPr>
              <a:t>屏蔽</a:t>
            </a:r>
            <a:r>
              <a:rPr dirty="0" sz="1500" spc="-20">
                <a:latin typeface="宋体"/>
                <a:cs typeface="宋体"/>
              </a:rPr>
              <a:t>寄存器</a:t>
            </a:r>
            <a:endParaRPr sz="1500">
              <a:latin typeface="宋体"/>
              <a:cs typeface="宋体"/>
            </a:endParaRPr>
          </a:p>
        </p:txBody>
      </p:sp>
      <p:sp>
        <p:nvSpPr>
          <p:cNvPr id="46" name="object 46" descr=""/>
          <p:cNvSpPr txBox="1"/>
          <p:nvPr/>
        </p:nvSpPr>
        <p:spPr>
          <a:xfrm>
            <a:off x="4861369" y="3282910"/>
            <a:ext cx="629285" cy="635000"/>
          </a:xfrm>
          <a:prstGeom prst="rect">
            <a:avLst/>
          </a:prstGeom>
        </p:spPr>
        <p:txBody>
          <a:bodyPr wrap="square" lIns="0" tIns="11430" rIns="0" bIns="0" rtlCol="0" vert="horz">
            <a:spAutoFit/>
          </a:bodyPr>
          <a:lstStyle/>
          <a:p>
            <a:pPr marL="12700" marR="5080" indent="81915">
              <a:lnSpc>
                <a:spcPct val="133200"/>
              </a:lnSpc>
              <a:spcBef>
                <a:spcPts val="90"/>
              </a:spcBef>
            </a:pPr>
            <a:r>
              <a:rPr dirty="0" sz="1500" spc="-25">
                <a:latin typeface="宋体"/>
                <a:cs typeface="宋体"/>
              </a:rPr>
              <a:t>向量</a:t>
            </a:r>
            <a:r>
              <a:rPr dirty="0" sz="1500" spc="60">
                <a:latin typeface="宋体"/>
                <a:cs typeface="宋体"/>
              </a:rPr>
              <a:t>寄存器</a:t>
            </a:r>
            <a:endParaRPr sz="1500">
              <a:latin typeface="宋体"/>
              <a:cs typeface="宋体"/>
            </a:endParaRPr>
          </a:p>
        </p:txBody>
      </p:sp>
      <p:sp>
        <p:nvSpPr>
          <p:cNvPr id="47" name="object 47" descr=""/>
          <p:cNvSpPr txBox="1"/>
          <p:nvPr/>
        </p:nvSpPr>
        <p:spPr>
          <a:xfrm>
            <a:off x="4974879" y="4064049"/>
            <a:ext cx="385445" cy="130175"/>
          </a:xfrm>
          <a:prstGeom prst="rect">
            <a:avLst/>
          </a:prstGeom>
        </p:spPr>
        <p:txBody>
          <a:bodyPr wrap="square" lIns="0" tIns="0" rIns="0" bIns="0" rtlCol="0" vert="horz">
            <a:spAutoFit/>
          </a:bodyPr>
          <a:lstStyle/>
          <a:p>
            <a:pPr>
              <a:lnSpc>
                <a:spcPts val="1019"/>
              </a:lnSpc>
            </a:pPr>
            <a:r>
              <a:rPr dirty="0" sz="1000" spc="-20">
                <a:latin typeface="宋体"/>
                <a:cs typeface="宋体"/>
              </a:rPr>
              <a:t>寄存器</a:t>
            </a:r>
            <a:endParaRPr sz="1000">
              <a:latin typeface="宋体"/>
              <a:cs typeface="宋体"/>
            </a:endParaRPr>
          </a:p>
        </p:txBody>
      </p:sp>
      <p:sp>
        <p:nvSpPr>
          <p:cNvPr id="48" name="object 48" descr=""/>
          <p:cNvSpPr/>
          <p:nvPr/>
        </p:nvSpPr>
        <p:spPr>
          <a:xfrm>
            <a:off x="4531230" y="3053028"/>
            <a:ext cx="271145" cy="0"/>
          </a:xfrm>
          <a:custGeom>
            <a:avLst/>
            <a:gdLst/>
            <a:ahLst/>
            <a:cxnLst/>
            <a:rect l="l" t="t" r="r" b="b"/>
            <a:pathLst>
              <a:path w="271145" h="0">
                <a:moveTo>
                  <a:pt x="0" y="0"/>
                </a:moveTo>
                <a:lnTo>
                  <a:pt x="270617" y="0"/>
                </a:lnTo>
              </a:path>
            </a:pathLst>
          </a:custGeom>
          <a:ln w="15416">
            <a:solidFill>
              <a:srgbClr val="000000"/>
            </a:solidFill>
          </a:ln>
        </p:spPr>
        <p:txBody>
          <a:bodyPr wrap="square" lIns="0" tIns="0" rIns="0" bIns="0" rtlCol="0"/>
          <a:lstStyle/>
          <a:p/>
        </p:txBody>
      </p:sp>
      <p:grpSp>
        <p:nvGrpSpPr>
          <p:cNvPr id="49" name="object 49" descr=""/>
          <p:cNvGrpSpPr/>
          <p:nvPr/>
        </p:nvGrpSpPr>
        <p:grpSpPr>
          <a:xfrm>
            <a:off x="5516345" y="2510810"/>
            <a:ext cx="2069464" cy="281940"/>
            <a:chOff x="5516345" y="2510810"/>
            <a:chExt cx="2069464" cy="281940"/>
          </a:xfrm>
        </p:grpSpPr>
        <p:sp>
          <p:nvSpPr>
            <p:cNvPr id="50" name="object 50" descr=""/>
            <p:cNvSpPr/>
            <p:nvPr/>
          </p:nvSpPr>
          <p:spPr>
            <a:xfrm>
              <a:off x="6042948" y="2518747"/>
              <a:ext cx="1534795" cy="266065"/>
            </a:xfrm>
            <a:custGeom>
              <a:avLst/>
              <a:gdLst/>
              <a:ahLst/>
              <a:cxnLst/>
              <a:rect l="l" t="t" r="r" b="b"/>
              <a:pathLst>
                <a:path w="1534795" h="266064">
                  <a:moveTo>
                    <a:pt x="1534459" y="0"/>
                  </a:moveTo>
                  <a:lnTo>
                    <a:pt x="0" y="0"/>
                  </a:lnTo>
                  <a:lnTo>
                    <a:pt x="0" y="265798"/>
                  </a:lnTo>
                  <a:lnTo>
                    <a:pt x="1534459" y="265798"/>
                  </a:lnTo>
                  <a:lnTo>
                    <a:pt x="1534459" y="0"/>
                  </a:lnTo>
                  <a:close/>
                </a:path>
              </a:pathLst>
            </a:custGeom>
            <a:solidFill>
              <a:srgbClr val="FFCDE6"/>
            </a:solidFill>
          </p:spPr>
          <p:txBody>
            <a:bodyPr wrap="square" lIns="0" tIns="0" rIns="0" bIns="0" rtlCol="0"/>
            <a:lstStyle/>
            <a:p/>
          </p:txBody>
        </p:sp>
        <p:sp>
          <p:nvSpPr>
            <p:cNvPr id="51" name="object 51" descr=""/>
            <p:cNvSpPr/>
            <p:nvPr/>
          </p:nvSpPr>
          <p:spPr>
            <a:xfrm>
              <a:off x="5524282" y="2518747"/>
              <a:ext cx="2053589" cy="266065"/>
            </a:xfrm>
            <a:custGeom>
              <a:avLst/>
              <a:gdLst/>
              <a:ahLst/>
              <a:cxnLst/>
              <a:rect l="l" t="t" r="r" b="b"/>
              <a:pathLst>
                <a:path w="2053590" h="266064">
                  <a:moveTo>
                    <a:pt x="518665" y="265798"/>
                  </a:moveTo>
                  <a:lnTo>
                    <a:pt x="2053125" y="265798"/>
                  </a:lnTo>
                  <a:lnTo>
                    <a:pt x="2053125" y="0"/>
                  </a:lnTo>
                  <a:lnTo>
                    <a:pt x="518665" y="0"/>
                  </a:lnTo>
                  <a:lnTo>
                    <a:pt x="518665" y="265798"/>
                  </a:lnTo>
                  <a:close/>
                </a:path>
                <a:path w="2053590" h="266064">
                  <a:moveTo>
                    <a:pt x="0" y="134026"/>
                  </a:moveTo>
                  <a:lnTo>
                    <a:pt x="518665" y="134026"/>
                  </a:lnTo>
                </a:path>
              </a:pathLst>
            </a:custGeom>
            <a:ln w="15428">
              <a:solidFill>
                <a:srgbClr val="000000"/>
              </a:solidFill>
            </a:ln>
          </p:spPr>
          <p:txBody>
            <a:bodyPr wrap="square" lIns="0" tIns="0" rIns="0" bIns="0" rtlCol="0"/>
            <a:lstStyle/>
            <a:p/>
          </p:txBody>
        </p:sp>
      </p:grpSp>
      <p:sp>
        <p:nvSpPr>
          <p:cNvPr id="52" name="object 52" descr=""/>
          <p:cNvSpPr txBox="1"/>
          <p:nvPr/>
        </p:nvSpPr>
        <p:spPr>
          <a:xfrm>
            <a:off x="6411993" y="2058344"/>
            <a:ext cx="802640"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6600"/>
                </a:solidFill>
                <a:latin typeface="宋体"/>
                <a:cs typeface="宋体"/>
              </a:rPr>
              <a:t>向量部件</a:t>
            </a:r>
            <a:endParaRPr sz="1500">
              <a:latin typeface="宋体"/>
              <a:cs typeface="宋体"/>
            </a:endParaRPr>
          </a:p>
        </p:txBody>
      </p:sp>
      <p:sp>
        <p:nvSpPr>
          <p:cNvPr id="53" name="object 53" descr=""/>
          <p:cNvSpPr txBox="1"/>
          <p:nvPr/>
        </p:nvSpPr>
        <p:spPr>
          <a:xfrm>
            <a:off x="6592333" y="2525343"/>
            <a:ext cx="365125" cy="259079"/>
          </a:xfrm>
          <a:prstGeom prst="rect">
            <a:avLst/>
          </a:prstGeom>
        </p:spPr>
        <p:txBody>
          <a:bodyPr wrap="square" lIns="0" tIns="16510" rIns="0" bIns="0" rtlCol="0" vert="horz">
            <a:spAutoFit/>
          </a:bodyPr>
          <a:lstStyle/>
          <a:p>
            <a:pPr marL="12700">
              <a:lnSpc>
                <a:spcPct val="100000"/>
              </a:lnSpc>
              <a:spcBef>
                <a:spcPts val="130"/>
              </a:spcBef>
            </a:pPr>
            <a:r>
              <a:rPr dirty="0" sz="1500" spc="-175">
                <a:latin typeface="宋体"/>
                <a:cs typeface="宋体"/>
              </a:rPr>
              <a:t>组 </a:t>
            </a:r>
            <a:r>
              <a:rPr dirty="0" sz="1500" spc="-50">
                <a:latin typeface="宋体"/>
                <a:cs typeface="宋体"/>
              </a:rPr>
              <a:t>0</a:t>
            </a:r>
            <a:endParaRPr sz="1500">
              <a:latin typeface="宋体"/>
              <a:cs typeface="宋体"/>
            </a:endParaRPr>
          </a:p>
        </p:txBody>
      </p:sp>
      <p:sp>
        <p:nvSpPr>
          <p:cNvPr id="54" name="object 54" descr=""/>
          <p:cNvSpPr txBox="1"/>
          <p:nvPr/>
        </p:nvSpPr>
        <p:spPr>
          <a:xfrm>
            <a:off x="7765940" y="2502165"/>
            <a:ext cx="27051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FF6600"/>
                </a:solidFill>
                <a:latin typeface="宋体"/>
                <a:cs typeface="宋体"/>
              </a:rPr>
              <a:t>AP</a:t>
            </a:r>
            <a:r>
              <a:rPr dirty="0" sz="750" spc="-25" b="1">
                <a:solidFill>
                  <a:srgbClr val="FF6600"/>
                </a:solidFill>
                <a:latin typeface="宋体"/>
                <a:cs typeface="宋体"/>
              </a:rPr>
              <a:t>0</a:t>
            </a:r>
            <a:endParaRPr sz="750">
              <a:latin typeface="宋体"/>
              <a:cs typeface="宋体"/>
            </a:endParaRPr>
          </a:p>
        </p:txBody>
      </p:sp>
      <p:grpSp>
        <p:nvGrpSpPr>
          <p:cNvPr id="55" name="object 55" descr=""/>
          <p:cNvGrpSpPr/>
          <p:nvPr/>
        </p:nvGrpSpPr>
        <p:grpSpPr>
          <a:xfrm>
            <a:off x="5786747" y="1576275"/>
            <a:ext cx="1889125" cy="2917190"/>
            <a:chOff x="5786747" y="1576275"/>
            <a:chExt cx="1889125" cy="2917190"/>
          </a:xfrm>
        </p:grpSpPr>
        <p:sp>
          <p:nvSpPr>
            <p:cNvPr id="56" name="object 56" descr=""/>
            <p:cNvSpPr/>
            <p:nvPr/>
          </p:nvSpPr>
          <p:spPr>
            <a:xfrm>
              <a:off x="5794685" y="1584212"/>
              <a:ext cx="292100" cy="2901315"/>
            </a:xfrm>
            <a:custGeom>
              <a:avLst/>
              <a:gdLst/>
              <a:ahLst/>
              <a:cxnLst/>
              <a:rect l="l" t="t" r="r" b="b"/>
              <a:pathLst>
                <a:path w="292100" h="2901315">
                  <a:moveTo>
                    <a:pt x="0" y="0"/>
                  </a:moveTo>
                  <a:lnTo>
                    <a:pt x="0" y="2901060"/>
                  </a:lnTo>
                </a:path>
                <a:path w="292100" h="2901315">
                  <a:moveTo>
                    <a:pt x="0" y="867253"/>
                  </a:moveTo>
                  <a:lnTo>
                    <a:pt x="291897" y="867253"/>
                  </a:lnTo>
                </a:path>
              </a:pathLst>
            </a:custGeom>
            <a:ln w="15428">
              <a:solidFill>
                <a:srgbClr val="000000"/>
              </a:solidFill>
            </a:ln>
          </p:spPr>
          <p:txBody>
            <a:bodyPr wrap="square" lIns="0" tIns="0" rIns="0" bIns="0" rtlCol="0"/>
            <a:lstStyle/>
            <a:p/>
          </p:txBody>
        </p:sp>
        <p:sp>
          <p:nvSpPr>
            <p:cNvPr id="57" name="object 57" descr=""/>
            <p:cNvSpPr/>
            <p:nvPr/>
          </p:nvSpPr>
          <p:spPr>
            <a:xfrm>
              <a:off x="6132795" y="3086400"/>
              <a:ext cx="1535430" cy="266065"/>
            </a:xfrm>
            <a:custGeom>
              <a:avLst/>
              <a:gdLst/>
              <a:ahLst/>
              <a:cxnLst/>
              <a:rect l="l" t="t" r="r" b="b"/>
              <a:pathLst>
                <a:path w="1535429" h="266064">
                  <a:moveTo>
                    <a:pt x="1534997" y="0"/>
                  </a:moveTo>
                  <a:lnTo>
                    <a:pt x="0" y="0"/>
                  </a:lnTo>
                  <a:lnTo>
                    <a:pt x="0" y="265798"/>
                  </a:lnTo>
                  <a:lnTo>
                    <a:pt x="1534997" y="265798"/>
                  </a:lnTo>
                  <a:lnTo>
                    <a:pt x="1534997" y="0"/>
                  </a:lnTo>
                  <a:close/>
                </a:path>
              </a:pathLst>
            </a:custGeom>
            <a:solidFill>
              <a:srgbClr val="FFCDE6"/>
            </a:solidFill>
          </p:spPr>
          <p:txBody>
            <a:bodyPr wrap="square" lIns="0" tIns="0" rIns="0" bIns="0" rtlCol="0"/>
            <a:lstStyle/>
            <a:p/>
          </p:txBody>
        </p:sp>
        <p:sp>
          <p:nvSpPr>
            <p:cNvPr id="58" name="object 58" descr=""/>
            <p:cNvSpPr/>
            <p:nvPr/>
          </p:nvSpPr>
          <p:spPr>
            <a:xfrm>
              <a:off x="6132795" y="3086400"/>
              <a:ext cx="1535430" cy="266065"/>
            </a:xfrm>
            <a:custGeom>
              <a:avLst/>
              <a:gdLst/>
              <a:ahLst/>
              <a:cxnLst/>
              <a:rect l="l" t="t" r="r" b="b"/>
              <a:pathLst>
                <a:path w="1535429" h="266064">
                  <a:moveTo>
                    <a:pt x="0" y="265798"/>
                  </a:moveTo>
                  <a:lnTo>
                    <a:pt x="1534997" y="265798"/>
                  </a:lnTo>
                  <a:lnTo>
                    <a:pt x="1534997" y="0"/>
                  </a:lnTo>
                  <a:lnTo>
                    <a:pt x="0" y="0"/>
                  </a:lnTo>
                  <a:lnTo>
                    <a:pt x="0" y="265798"/>
                  </a:lnTo>
                  <a:close/>
                </a:path>
              </a:pathLst>
            </a:custGeom>
            <a:ln w="15417">
              <a:solidFill>
                <a:srgbClr val="000000"/>
              </a:solidFill>
            </a:ln>
          </p:spPr>
          <p:txBody>
            <a:bodyPr wrap="square" lIns="0" tIns="0" rIns="0" bIns="0" rtlCol="0"/>
            <a:lstStyle/>
            <a:p/>
          </p:txBody>
        </p:sp>
        <p:sp>
          <p:nvSpPr>
            <p:cNvPr id="59" name="object 59" descr=""/>
            <p:cNvSpPr/>
            <p:nvPr/>
          </p:nvSpPr>
          <p:spPr>
            <a:xfrm>
              <a:off x="6086582" y="3150913"/>
              <a:ext cx="1535430" cy="268605"/>
            </a:xfrm>
            <a:custGeom>
              <a:avLst/>
              <a:gdLst/>
              <a:ahLst/>
              <a:cxnLst/>
              <a:rect l="l" t="t" r="r" b="b"/>
              <a:pathLst>
                <a:path w="1535429" h="268604">
                  <a:moveTo>
                    <a:pt x="1534997" y="0"/>
                  </a:moveTo>
                  <a:lnTo>
                    <a:pt x="0" y="0"/>
                  </a:lnTo>
                  <a:lnTo>
                    <a:pt x="0" y="268460"/>
                  </a:lnTo>
                  <a:lnTo>
                    <a:pt x="1534997" y="268460"/>
                  </a:lnTo>
                  <a:lnTo>
                    <a:pt x="1534997" y="0"/>
                  </a:lnTo>
                  <a:close/>
                </a:path>
              </a:pathLst>
            </a:custGeom>
            <a:solidFill>
              <a:srgbClr val="FFCDE6"/>
            </a:solidFill>
          </p:spPr>
          <p:txBody>
            <a:bodyPr wrap="square" lIns="0" tIns="0" rIns="0" bIns="0" rtlCol="0"/>
            <a:lstStyle/>
            <a:p/>
          </p:txBody>
        </p:sp>
        <p:sp>
          <p:nvSpPr>
            <p:cNvPr id="60" name="object 60" descr=""/>
            <p:cNvSpPr/>
            <p:nvPr/>
          </p:nvSpPr>
          <p:spPr>
            <a:xfrm>
              <a:off x="6086582" y="3150913"/>
              <a:ext cx="1535430" cy="268605"/>
            </a:xfrm>
            <a:custGeom>
              <a:avLst/>
              <a:gdLst/>
              <a:ahLst/>
              <a:cxnLst/>
              <a:rect l="l" t="t" r="r" b="b"/>
              <a:pathLst>
                <a:path w="1535429" h="268604">
                  <a:moveTo>
                    <a:pt x="0" y="268460"/>
                  </a:moveTo>
                  <a:lnTo>
                    <a:pt x="1534997" y="268460"/>
                  </a:lnTo>
                  <a:lnTo>
                    <a:pt x="1534997" y="0"/>
                  </a:lnTo>
                  <a:lnTo>
                    <a:pt x="0" y="0"/>
                  </a:lnTo>
                  <a:lnTo>
                    <a:pt x="0" y="268460"/>
                  </a:lnTo>
                  <a:close/>
                </a:path>
              </a:pathLst>
            </a:custGeom>
            <a:ln w="15417">
              <a:solidFill>
                <a:srgbClr val="000000"/>
              </a:solidFill>
            </a:ln>
          </p:spPr>
          <p:txBody>
            <a:bodyPr wrap="square" lIns="0" tIns="0" rIns="0" bIns="0" rtlCol="0"/>
            <a:lstStyle/>
            <a:p/>
          </p:txBody>
        </p:sp>
        <p:sp>
          <p:nvSpPr>
            <p:cNvPr id="61" name="object 61" descr=""/>
            <p:cNvSpPr/>
            <p:nvPr/>
          </p:nvSpPr>
          <p:spPr>
            <a:xfrm>
              <a:off x="6042948" y="3218087"/>
              <a:ext cx="1534795" cy="268605"/>
            </a:xfrm>
            <a:custGeom>
              <a:avLst/>
              <a:gdLst/>
              <a:ahLst/>
              <a:cxnLst/>
              <a:rect l="l" t="t" r="r" b="b"/>
              <a:pathLst>
                <a:path w="1534795" h="268604">
                  <a:moveTo>
                    <a:pt x="1534459" y="0"/>
                  </a:moveTo>
                  <a:lnTo>
                    <a:pt x="0" y="0"/>
                  </a:lnTo>
                  <a:lnTo>
                    <a:pt x="0" y="268460"/>
                  </a:lnTo>
                  <a:lnTo>
                    <a:pt x="1534459" y="268460"/>
                  </a:lnTo>
                  <a:lnTo>
                    <a:pt x="1534459" y="0"/>
                  </a:lnTo>
                  <a:close/>
                </a:path>
              </a:pathLst>
            </a:custGeom>
            <a:solidFill>
              <a:srgbClr val="FFCDE6"/>
            </a:solidFill>
          </p:spPr>
          <p:txBody>
            <a:bodyPr wrap="square" lIns="0" tIns="0" rIns="0" bIns="0" rtlCol="0"/>
            <a:lstStyle/>
            <a:p/>
          </p:txBody>
        </p:sp>
        <p:sp>
          <p:nvSpPr>
            <p:cNvPr id="62" name="object 62" descr=""/>
            <p:cNvSpPr/>
            <p:nvPr/>
          </p:nvSpPr>
          <p:spPr>
            <a:xfrm>
              <a:off x="6042948" y="3218087"/>
              <a:ext cx="1534795" cy="268605"/>
            </a:xfrm>
            <a:custGeom>
              <a:avLst/>
              <a:gdLst/>
              <a:ahLst/>
              <a:cxnLst/>
              <a:rect l="l" t="t" r="r" b="b"/>
              <a:pathLst>
                <a:path w="1534795" h="268604">
                  <a:moveTo>
                    <a:pt x="0" y="268460"/>
                  </a:moveTo>
                  <a:lnTo>
                    <a:pt x="1534459" y="268460"/>
                  </a:lnTo>
                  <a:lnTo>
                    <a:pt x="1534459" y="0"/>
                  </a:lnTo>
                  <a:lnTo>
                    <a:pt x="0" y="0"/>
                  </a:lnTo>
                  <a:lnTo>
                    <a:pt x="0" y="268460"/>
                  </a:lnTo>
                  <a:close/>
                </a:path>
              </a:pathLst>
            </a:custGeom>
            <a:ln w="15417">
              <a:solidFill>
                <a:srgbClr val="000000"/>
              </a:solidFill>
            </a:ln>
          </p:spPr>
          <p:txBody>
            <a:bodyPr wrap="square" lIns="0" tIns="0" rIns="0" bIns="0" rtlCol="0"/>
            <a:lstStyle/>
            <a:p/>
          </p:txBody>
        </p:sp>
      </p:grpSp>
      <p:sp>
        <p:nvSpPr>
          <p:cNvPr id="63" name="object 63" descr=""/>
          <p:cNvSpPr txBox="1"/>
          <p:nvPr/>
        </p:nvSpPr>
        <p:spPr>
          <a:xfrm>
            <a:off x="6592333" y="3224769"/>
            <a:ext cx="365125" cy="259079"/>
          </a:xfrm>
          <a:prstGeom prst="rect">
            <a:avLst/>
          </a:prstGeom>
        </p:spPr>
        <p:txBody>
          <a:bodyPr wrap="square" lIns="0" tIns="16510" rIns="0" bIns="0" rtlCol="0" vert="horz">
            <a:spAutoFit/>
          </a:bodyPr>
          <a:lstStyle/>
          <a:p>
            <a:pPr marL="12700">
              <a:lnSpc>
                <a:spcPct val="100000"/>
              </a:lnSpc>
              <a:spcBef>
                <a:spcPts val="130"/>
              </a:spcBef>
            </a:pPr>
            <a:r>
              <a:rPr dirty="0" sz="1500" spc="-175">
                <a:latin typeface="宋体"/>
                <a:cs typeface="宋体"/>
              </a:rPr>
              <a:t>组 </a:t>
            </a:r>
            <a:r>
              <a:rPr dirty="0" sz="1500" spc="-50">
                <a:latin typeface="宋体"/>
                <a:cs typeface="宋体"/>
              </a:rPr>
              <a:t>1</a:t>
            </a:r>
            <a:endParaRPr sz="1500">
              <a:latin typeface="宋体"/>
              <a:cs typeface="宋体"/>
            </a:endParaRPr>
          </a:p>
        </p:txBody>
      </p:sp>
      <p:sp>
        <p:nvSpPr>
          <p:cNvPr id="64" name="object 64" descr=""/>
          <p:cNvSpPr txBox="1"/>
          <p:nvPr/>
        </p:nvSpPr>
        <p:spPr>
          <a:xfrm>
            <a:off x="7765940" y="3201590"/>
            <a:ext cx="27051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FF6600"/>
                </a:solidFill>
                <a:latin typeface="宋体"/>
                <a:cs typeface="宋体"/>
              </a:rPr>
              <a:t>AP</a:t>
            </a:r>
            <a:r>
              <a:rPr dirty="0" sz="750" spc="-25" b="1">
                <a:solidFill>
                  <a:srgbClr val="FF6600"/>
                </a:solidFill>
                <a:latin typeface="宋体"/>
                <a:cs typeface="宋体"/>
              </a:rPr>
              <a:t>1</a:t>
            </a:r>
            <a:endParaRPr sz="750">
              <a:latin typeface="宋体"/>
              <a:cs typeface="宋体"/>
            </a:endParaRPr>
          </a:p>
        </p:txBody>
      </p:sp>
      <p:grpSp>
        <p:nvGrpSpPr>
          <p:cNvPr id="65" name="object 65" descr=""/>
          <p:cNvGrpSpPr/>
          <p:nvPr/>
        </p:nvGrpSpPr>
        <p:grpSpPr>
          <a:xfrm>
            <a:off x="5786747" y="3142954"/>
            <a:ext cx="1889125" cy="984250"/>
            <a:chOff x="5786747" y="3142954"/>
            <a:chExt cx="1889125" cy="984250"/>
          </a:xfrm>
        </p:grpSpPr>
        <p:sp>
          <p:nvSpPr>
            <p:cNvPr id="66" name="object 66" descr=""/>
            <p:cNvSpPr/>
            <p:nvPr/>
          </p:nvSpPr>
          <p:spPr>
            <a:xfrm>
              <a:off x="5794685" y="3150891"/>
              <a:ext cx="292100" cy="0"/>
            </a:xfrm>
            <a:custGeom>
              <a:avLst/>
              <a:gdLst/>
              <a:ahLst/>
              <a:cxnLst/>
              <a:rect l="l" t="t" r="r" b="b"/>
              <a:pathLst>
                <a:path w="292100" h="0">
                  <a:moveTo>
                    <a:pt x="0" y="0"/>
                  </a:moveTo>
                  <a:lnTo>
                    <a:pt x="291897" y="0"/>
                  </a:lnTo>
                </a:path>
              </a:pathLst>
            </a:custGeom>
            <a:ln w="15416">
              <a:solidFill>
                <a:srgbClr val="000000"/>
              </a:solidFill>
            </a:ln>
          </p:spPr>
          <p:txBody>
            <a:bodyPr wrap="square" lIns="0" tIns="0" rIns="0" bIns="0" rtlCol="0"/>
            <a:lstStyle/>
            <a:p/>
          </p:txBody>
        </p:sp>
        <p:sp>
          <p:nvSpPr>
            <p:cNvPr id="67" name="object 67" descr=""/>
            <p:cNvSpPr/>
            <p:nvPr/>
          </p:nvSpPr>
          <p:spPr>
            <a:xfrm>
              <a:off x="6132795" y="3718566"/>
              <a:ext cx="1535430" cy="266065"/>
            </a:xfrm>
            <a:custGeom>
              <a:avLst/>
              <a:gdLst/>
              <a:ahLst/>
              <a:cxnLst/>
              <a:rect l="l" t="t" r="r" b="b"/>
              <a:pathLst>
                <a:path w="1535429" h="266064">
                  <a:moveTo>
                    <a:pt x="1534997" y="0"/>
                  </a:moveTo>
                  <a:lnTo>
                    <a:pt x="0" y="0"/>
                  </a:lnTo>
                  <a:lnTo>
                    <a:pt x="0" y="265798"/>
                  </a:lnTo>
                  <a:lnTo>
                    <a:pt x="1534997" y="265798"/>
                  </a:lnTo>
                  <a:lnTo>
                    <a:pt x="1534997" y="0"/>
                  </a:lnTo>
                  <a:close/>
                </a:path>
              </a:pathLst>
            </a:custGeom>
            <a:solidFill>
              <a:srgbClr val="FFCDE6"/>
            </a:solidFill>
          </p:spPr>
          <p:txBody>
            <a:bodyPr wrap="square" lIns="0" tIns="0" rIns="0" bIns="0" rtlCol="0"/>
            <a:lstStyle/>
            <a:p/>
          </p:txBody>
        </p:sp>
        <p:sp>
          <p:nvSpPr>
            <p:cNvPr id="68" name="object 68" descr=""/>
            <p:cNvSpPr/>
            <p:nvPr/>
          </p:nvSpPr>
          <p:spPr>
            <a:xfrm>
              <a:off x="6132795" y="3718566"/>
              <a:ext cx="1535430" cy="266065"/>
            </a:xfrm>
            <a:custGeom>
              <a:avLst/>
              <a:gdLst/>
              <a:ahLst/>
              <a:cxnLst/>
              <a:rect l="l" t="t" r="r" b="b"/>
              <a:pathLst>
                <a:path w="1535429" h="266064">
                  <a:moveTo>
                    <a:pt x="0" y="265798"/>
                  </a:moveTo>
                  <a:lnTo>
                    <a:pt x="1534997" y="265798"/>
                  </a:lnTo>
                  <a:lnTo>
                    <a:pt x="1534997" y="0"/>
                  </a:lnTo>
                  <a:lnTo>
                    <a:pt x="0" y="0"/>
                  </a:lnTo>
                  <a:lnTo>
                    <a:pt x="0" y="265798"/>
                  </a:lnTo>
                  <a:close/>
                </a:path>
              </a:pathLst>
            </a:custGeom>
            <a:ln w="15417">
              <a:solidFill>
                <a:srgbClr val="000000"/>
              </a:solidFill>
            </a:ln>
          </p:spPr>
          <p:txBody>
            <a:bodyPr wrap="square" lIns="0" tIns="0" rIns="0" bIns="0" rtlCol="0"/>
            <a:lstStyle/>
            <a:p/>
          </p:txBody>
        </p:sp>
        <p:sp>
          <p:nvSpPr>
            <p:cNvPr id="69" name="object 69" descr=""/>
            <p:cNvSpPr/>
            <p:nvPr/>
          </p:nvSpPr>
          <p:spPr>
            <a:xfrm>
              <a:off x="6086582" y="3785826"/>
              <a:ext cx="1535430" cy="266065"/>
            </a:xfrm>
            <a:custGeom>
              <a:avLst/>
              <a:gdLst/>
              <a:ahLst/>
              <a:cxnLst/>
              <a:rect l="l" t="t" r="r" b="b"/>
              <a:pathLst>
                <a:path w="1535429" h="266064">
                  <a:moveTo>
                    <a:pt x="1534997" y="0"/>
                  </a:moveTo>
                  <a:lnTo>
                    <a:pt x="0" y="0"/>
                  </a:lnTo>
                  <a:lnTo>
                    <a:pt x="0" y="265798"/>
                  </a:lnTo>
                  <a:lnTo>
                    <a:pt x="1534997" y="265798"/>
                  </a:lnTo>
                  <a:lnTo>
                    <a:pt x="1534997" y="0"/>
                  </a:lnTo>
                  <a:close/>
                </a:path>
              </a:pathLst>
            </a:custGeom>
            <a:solidFill>
              <a:srgbClr val="FFCDE6"/>
            </a:solidFill>
          </p:spPr>
          <p:txBody>
            <a:bodyPr wrap="square" lIns="0" tIns="0" rIns="0" bIns="0" rtlCol="0"/>
            <a:lstStyle/>
            <a:p/>
          </p:txBody>
        </p:sp>
        <p:sp>
          <p:nvSpPr>
            <p:cNvPr id="70" name="object 70" descr=""/>
            <p:cNvSpPr/>
            <p:nvPr/>
          </p:nvSpPr>
          <p:spPr>
            <a:xfrm>
              <a:off x="6086582" y="3785826"/>
              <a:ext cx="1535430" cy="266065"/>
            </a:xfrm>
            <a:custGeom>
              <a:avLst/>
              <a:gdLst/>
              <a:ahLst/>
              <a:cxnLst/>
              <a:rect l="l" t="t" r="r" b="b"/>
              <a:pathLst>
                <a:path w="1535429" h="266064">
                  <a:moveTo>
                    <a:pt x="0" y="265798"/>
                  </a:moveTo>
                  <a:lnTo>
                    <a:pt x="1534997" y="265798"/>
                  </a:lnTo>
                  <a:lnTo>
                    <a:pt x="1534997" y="0"/>
                  </a:lnTo>
                  <a:lnTo>
                    <a:pt x="0" y="0"/>
                  </a:lnTo>
                  <a:lnTo>
                    <a:pt x="0" y="265798"/>
                  </a:lnTo>
                  <a:close/>
                </a:path>
              </a:pathLst>
            </a:custGeom>
            <a:ln w="15417">
              <a:solidFill>
                <a:srgbClr val="000000"/>
              </a:solidFill>
            </a:ln>
          </p:spPr>
          <p:txBody>
            <a:bodyPr wrap="square" lIns="0" tIns="0" rIns="0" bIns="0" rtlCol="0"/>
            <a:lstStyle/>
            <a:p/>
          </p:txBody>
        </p:sp>
        <p:sp>
          <p:nvSpPr>
            <p:cNvPr id="71" name="object 71" descr=""/>
            <p:cNvSpPr/>
            <p:nvPr/>
          </p:nvSpPr>
          <p:spPr>
            <a:xfrm>
              <a:off x="6042948" y="3853064"/>
              <a:ext cx="1534795" cy="266065"/>
            </a:xfrm>
            <a:custGeom>
              <a:avLst/>
              <a:gdLst/>
              <a:ahLst/>
              <a:cxnLst/>
              <a:rect l="l" t="t" r="r" b="b"/>
              <a:pathLst>
                <a:path w="1534795" h="266064">
                  <a:moveTo>
                    <a:pt x="1534459" y="0"/>
                  </a:moveTo>
                  <a:lnTo>
                    <a:pt x="0" y="0"/>
                  </a:lnTo>
                  <a:lnTo>
                    <a:pt x="0" y="265798"/>
                  </a:lnTo>
                  <a:lnTo>
                    <a:pt x="1534459" y="265798"/>
                  </a:lnTo>
                  <a:lnTo>
                    <a:pt x="1534459" y="0"/>
                  </a:lnTo>
                  <a:close/>
                </a:path>
              </a:pathLst>
            </a:custGeom>
            <a:solidFill>
              <a:srgbClr val="FFCDE6"/>
            </a:solidFill>
          </p:spPr>
          <p:txBody>
            <a:bodyPr wrap="square" lIns="0" tIns="0" rIns="0" bIns="0" rtlCol="0"/>
            <a:lstStyle/>
            <a:p/>
          </p:txBody>
        </p:sp>
        <p:sp>
          <p:nvSpPr>
            <p:cNvPr id="72" name="object 72" descr=""/>
            <p:cNvSpPr/>
            <p:nvPr/>
          </p:nvSpPr>
          <p:spPr>
            <a:xfrm>
              <a:off x="6042948" y="3853064"/>
              <a:ext cx="1534795" cy="266065"/>
            </a:xfrm>
            <a:custGeom>
              <a:avLst/>
              <a:gdLst/>
              <a:ahLst/>
              <a:cxnLst/>
              <a:rect l="l" t="t" r="r" b="b"/>
              <a:pathLst>
                <a:path w="1534795" h="266064">
                  <a:moveTo>
                    <a:pt x="0" y="265798"/>
                  </a:moveTo>
                  <a:lnTo>
                    <a:pt x="1534459" y="265798"/>
                  </a:lnTo>
                  <a:lnTo>
                    <a:pt x="1534459" y="0"/>
                  </a:lnTo>
                  <a:lnTo>
                    <a:pt x="0" y="0"/>
                  </a:lnTo>
                  <a:lnTo>
                    <a:pt x="0" y="265798"/>
                  </a:lnTo>
                  <a:close/>
                </a:path>
              </a:pathLst>
            </a:custGeom>
            <a:ln w="15417">
              <a:solidFill>
                <a:srgbClr val="000000"/>
              </a:solidFill>
            </a:ln>
          </p:spPr>
          <p:txBody>
            <a:bodyPr wrap="square" lIns="0" tIns="0" rIns="0" bIns="0" rtlCol="0"/>
            <a:lstStyle/>
            <a:p/>
          </p:txBody>
        </p:sp>
      </p:grpSp>
      <p:sp>
        <p:nvSpPr>
          <p:cNvPr id="73" name="object 73" descr=""/>
          <p:cNvSpPr txBox="1"/>
          <p:nvPr/>
        </p:nvSpPr>
        <p:spPr>
          <a:xfrm>
            <a:off x="6592333" y="3857063"/>
            <a:ext cx="365125" cy="259079"/>
          </a:xfrm>
          <a:prstGeom prst="rect">
            <a:avLst/>
          </a:prstGeom>
        </p:spPr>
        <p:txBody>
          <a:bodyPr wrap="square" lIns="0" tIns="16510" rIns="0" bIns="0" rtlCol="0" vert="horz">
            <a:spAutoFit/>
          </a:bodyPr>
          <a:lstStyle/>
          <a:p>
            <a:pPr marL="12700">
              <a:lnSpc>
                <a:spcPct val="100000"/>
              </a:lnSpc>
              <a:spcBef>
                <a:spcPts val="130"/>
              </a:spcBef>
            </a:pPr>
            <a:r>
              <a:rPr dirty="0" sz="1500" spc="-175">
                <a:latin typeface="宋体"/>
                <a:cs typeface="宋体"/>
              </a:rPr>
              <a:t>组 </a:t>
            </a:r>
            <a:r>
              <a:rPr dirty="0" sz="1500" spc="-50">
                <a:latin typeface="宋体"/>
                <a:cs typeface="宋体"/>
              </a:rPr>
              <a:t>2</a:t>
            </a:r>
            <a:endParaRPr sz="1500">
              <a:latin typeface="宋体"/>
              <a:cs typeface="宋体"/>
            </a:endParaRPr>
          </a:p>
        </p:txBody>
      </p:sp>
      <p:sp>
        <p:nvSpPr>
          <p:cNvPr id="74" name="object 74" descr=""/>
          <p:cNvSpPr txBox="1"/>
          <p:nvPr/>
        </p:nvSpPr>
        <p:spPr>
          <a:xfrm>
            <a:off x="7765940" y="3834293"/>
            <a:ext cx="27051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FF6600"/>
                </a:solidFill>
                <a:latin typeface="宋体"/>
                <a:cs typeface="宋体"/>
              </a:rPr>
              <a:t>AP</a:t>
            </a:r>
            <a:r>
              <a:rPr dirty="0" sz="750" spc="-25" b="1">
                <a:solidFill>
                  <a:srgbClr val="FF6600"/>
                </a:solidFill>
                <a:latin typeface="宋体"/>
                <a:cs typeface="宋体"/>
              </a:rPr>
              <a:t>2</a:t>
            </a:r>
            <a:endParaRPr sz="750">
              <a:latin typeface="宋体"/>
              <a:cs typeface="宋体"/>
            </a:endParaRPr>
          </a:p>
        </p:txBody>
      </p:sp>
      <p:grpSp>
        <p:nvGrpSpPr>
          <p:cNvPr id="75" name="object 75" descr=""/>
          <p:cNvGrpSpPr/>
          <p:nvPr/>
        </p:nvGrpSpPr>
        <p:grpSpPr>
          <a:xfrm>
            <a:off x="5786747" y="3777781"/>
            <a:ext cx="1889125" cy="1049020"/>
            <a:chOff x="5786747" y="3777781"/>
            <a:chExt cx="1889125" cy="1049020"/>
          </a:xfrm>
        </p:grpSpPr>
        <p:sp>
          <p:nvSpPr>
            <p:cNvPr id="76" name="object 76" descr=""/>
            <p:cNvSpPr/>
            <p:nvPr/>
          </p:nvSpPr>
          <p:spPr>
            <a:xfrm>
              <a:off x="5794685" y="3785719"/>
              <a:ext cx="292100" cy="0"/>
            </a:xfrm>
            <a:custGeom>
              <a:avLst/>
              <a:gdLst/>
              <a:ahLst/>
              <a:cxnLst/>
              <a:rect l="l" t="t" r="r" b="b"/>
              <a:pathLst>
                <a:path w="292100" h="0">
                  <a:moveTo>
                    <a:pt x="0" y="0"/>
                  </a:moveTo>
                  <a:lnTo>
                    <a:pt x="291897" y="0"/>
                  </a:lnTo>
                </a:path>
              </a:pathLst>
            </a:custGeom>
            <a:ln w="15416">
              <a:solidFill>
                <a:srgbClr val="000000"/>
              </a:solidFill>
            </a:ln>
          </p:spPr>
          <p:txBody>
            <a:bodyPr wrap="square" lIns="0" tIns="0" rIns="0" bIns="0" rtlCol="0"/>
            <a:lstStyle/>
            <a:p/>
          </p:txBody>
        </p:sp>
        <p:sp>
          <p:nvSpPr>
            <p:cNvPr id="77" name="object 77" descr=""/>
            <p:cNvSpPr/>
            <p:nvPr/>
          </p:nvSpPr>
          <p:spPr>
            <a:xfrm>
              <a:off x="6132796" y="4418013"/>
              <a:ext cx="1535430" cy="268605"/>
            </a:xfrm>
            <a:custGeom>
              <a:avLst/>
              <a:gdLst/>
              <a:ahLst/>
              <a:cxnLst/>
              <a:rect l="l" t="t" r="r" b="b"/>
              <a:pathLst>
                <a:path w="1535429" h="268604">
                  <a:moveTo>
                    <a:pt x="1534997" y="0"/>
                  </a:moveTo>
                  <a:lnTo>
                    <a:pt x="0" y="0"/>
                  </a:lnTo>
                  <a:lnTo>
                    <a:pt x="0" y="268460"/>
                  </a:lnTo>
                  <a:lnTo>
                    <a:pt x="1534997" y="268460"/>
                  </a:lnTo>
                  <a:lnTo>
                    <a:pt x="1534997" y="0"/>
                  </a:lnTo>
                  <a:close/>
                </a:path>
              </a:pathLst>
            </a:custGeom>
            <a:solidFill>
              <a:srgbClr val="FFCDE6"/>
            </a:solidFill>
          </p:spPr>
          <p:txBody>
            <a:bodyPr wrap="square" lIns="0" tIns="0" rIns="0" bIns="0" rtlCol="0"/>
            <a:lstStyle/>
            <a:p/>
          </p:txBody>
        </p:sp>
        <p:sp>
          <p:nvSpPr>
            <p:cNvPr id="78" name="object 78" descr=""/>
            <p:cNvSpPr/>
            <p:nvPr/>
          </p:nvSpPr>
          <p:spPr>
            <a:xfrm>
              <a:off x="6132796" y="4418013"/>
              <a:ext cx="1535430" cy="268605"/>
            </a:xfrm>
            <a:custGeom>
              <a:avLst/>
              <a:gdLst/>
              <a:ahLst/>
              <a:cxnLst/>
              <a:rect l="l" t="t" r="r" b="b"/>
              <a:pathLst>
                <a:path w="1535429" h="268604">
                  <a:moveTo>
                    <a:pt x="0" y="268460"/>
                  </a:moveTo>
                  <a:lnTo>
                    <a:pt x="1534997" y="268460"/>
                  </a:lnTo>
                  <a:lnTo>
                    <a:pt x="1534997" y="0"/>
                  </a:lnTo>
                  <a:lnTo>
                    <a:pt x="0" y="0"/>
                  </a:lnTo>
                  <a:lnTo>
                    <a:pt x="0" y="268460"/>
                  </a:lnTo>
                  <a:close/>
                </a:path>
              </a:pathLst>
            </a:custGeom>
            <a:ln w="15417">
              <a:solidFill>
                <a:srgbClr val="000000"/>
              </a:solidFill>
            </a:ln>
          </p:spPr>
          <p:txBody>
            <a:bodyPr wrap="square" lIns="0" tIns="0" rIns="0" bIns="0" rtlCol="0"/>
            <a:lstStyle/>
            <a:p/>
          </p:txBody>
        </p:sp>
        <p:sp>
          <p:nvSpPr>
            <p:cNvPr id="79" name="object 79" descr=""/>
            <p:cNvSpPr/>
            <p:nvPr/>
          </p:nvSpPr>
          <p:spPr>
            <a:xfrm>
              <a:off x="6086582" y="4485273"/>
              <a:ext cx="1535430" cy="266065"/>
            </a:xfrm>
            <a:custGeom>
              <a:avLst/>
              <a:gdLst/>
              <a:ahLst/>
              <a:cxnLst/>
              <a:rect l="l" t="t" r="r" b="b"/>
              <a:pathLst>
                <a:path w="1535429" h="266064">
                  <a:moveTo>
                    <a:pt x="1534997" y="0"/>
                  </a:moveTo>
                  <a:lnTo>
                    <a:pt x="0" y="0"/>
                  </a:lnTo>
                  <a:lnTo>
                    <a:pt x="0" y="265798"/>
                  </a:lnTo>
                  <a:lnTo>
                    <a:pt x="1534997" y="265798"/>
                  </a:lnTo>
                  <a:lnTo>
                    <a:pt x="1534997" y="0"/>
                  </a:lnTo>
                  <a:close/>
                </a:path>
              </a:pathLst>
            </a:custGeom>
            <a:solidFill>
              <a:srgbClr val="FFCDE6"/>
            </a:solidFill>
          </p:spPr>
          <p:txBody>
            <a:bodyPr wrap="square" lIns="0" tIns="0" rIns="0" bIns="0" rtlCol="0"/>
            <a:lstStyle/>
            <a:p/>
          </p:txBody>
        </p:sp>
        <p:sp>
          <p:nvSpPr>
            <p:cNvPr id="80" name="object 80" descr=""/>
            <p:cNvSpPr/>
            <p:nvPr/>
          </p:nvSpPr>
          <p:spPr>
            <a:xfrm>
              <a:off x="6086582" y="4485273"/>
              <a:ext cx="1535430" cy="266065"/>
            </a:xfrm>
            <a:custGeom>
              <a:avLst/>
              <a:gdLst/>
              <a:ahLst/>
              <a:cxnLst/>
              <a:rect l="l" t="t" r="r" b="b"/>
              <a:pathLst>
                <a:path w="1535429" h="266064">
                  <a:moveTo>
                    <a:pt x="0" y="265798"/>
                  </a:moveTo>
                  <a:lnTo>
                    <a:pt x="1534997" y="265798"/>
                  </a:lnTo>
                  <a:lnTo>
                    <a:pt x="1534997" y="0"/>
                  </a:lnTo>
                  <a:lnTo>
                    <a:pt x="0" y="0"/>
                  </a:lnTo>
                  <a:lnTo>
                    <a:pt x="0" y="265798"/>
                  </a:lnTo>
                  <a:close/>
                </a:path>
              </a:pathLst>
            </a:custGeom>
            <a:ln w="15417">
              <a:solidFill>
                <a:srgbClr val="000000"/>
              </a:solidFill>
            </a:ln>
          </p:spPr>
          <p:txBody>
            <a:bodyPr wrap="square" lIns="0" tIns="0" rIns="0" bIns="0" rtlCol="0"/>
            <a:lstStyle/>
            <a:p/>
          </p:txBody>
        </p:sp>
        <p:sp>
          <p:nvSpPr>
            <p:cNvPr id="81" name="object 81" descr=""/>
            <p:cNvSpPr/>
            <p:nvPr/>
          </p:nvSpPr>
          <p:spPr>
            <a:xfrm>
              <a:off x="6042948" y="4552512"/>
              <a:ext cx="1534795" cy="266065"/>
            </a:xfrm>
            <a:custGeom>
              <a:avLst/>
              <a:gdLst/>
              <a:ahLst/>
              <a:cxnLst/>
              <a:rect l="l" t="t" r="r" b="b"/>
              <a:pathLst>
                <a:path w="1534795" h="266064">
                  <a:moveTo>
                    <a:pt x="1534459" y="0"/>
                  </a:moveTo>
                  <a:lnTo>
                    <a:pt x="0" y="0"/>
                  </a:lnTo>
                  <a:lnTo>
                    <a:pt x="0" y="265798"/>
                  </a:lnTo>
                  <a:lnTo>
                    <a:pt x="1534459" y="265798"/>
                  </a:lnTo>
                  <a:lnTo>
                    <a:pt x="1534459" y="0"/>
                  </a:lnTo>
                  <a:close/>
                </a:path>
              </a:pathLst>
            </a:custGeom>
            <a:solidFill>
              <a:srgbClr val="FFCDE6"/>
            </a:solidFill>
          </p:spPr>
          <p:txBody>
            <a:bodyPr wrap="square" lIns="0" tIns="0" rIns="0" bIns="0" rtlCol="0"/>
            <a:lstStyle/>
            <a:p/>
          </p:txBody>
        </p:sp>
        <p:sp>
          <p:nvSpPr>
            <p:cNvPr id="82" name="object 82" descr=""/>
            <p:cNvSpPr/>
            <p:nvPr/>
          </p:nvSpPr>
          <p:spPr>
            <a:xfrm>
              <a:off x="6042948" y="4552512"/>
              <a:ext cx="1534795" cy="266065"/>
            </a:xfrm>
            <a:custGeom>
              <a:avLst/>
              <a:gdLst/>
              <a:ahLst/>
              <a:cxnLst/>
              <a:rect l="l" t="t" r="r" b="b"/>
              <a:pathLst>
                <a:path w="1534795" h="266064">
                  <a:moveTo>
                    <a:pt x="0" y="265798"/>
                  </a:moveTo>
                  <a:lnTo>
                    <a:pt x="1534459" y="265798"/>
                  </a:lnTo>
                  <a:lnTo>
                    <a:pt x="1534459" y="0"/>
                  </a:lnTo>
                  <a:lnTo>
                    <a:pt x="0" y="0"/>
                  </a:lnTo>
                  <a:lnTo>
                    <a:pt x="0" y="265798"/>
                  </a:lnTo>
                  <a:close/>
                </a:path>
              </a:pathLst>
            </a:custGeom>
            <a:ln w="15417">
              <a:solidFill>
                <a:srgbClr val="000000"/>
              </a:solidFill>
            </a:ln>
          </p:spPr>
          <p:txBody>
            <a:bodyPr wrap="square" lIns="0" tIns="0" rIns="0" bIns="0" rtlCol="0"/>
            <a:lstStyle/>
            <a:p/>
          </p:txBody>
        </p:sp>
      </p:grpSp>
      <p:sp>
        <p:nvSpPr>
          <p:cNvPr id="83" name="object 83" descr=""/>
          <p:cNvSpPr txBox="1"/>
          <p:nvPr/>
        </p:nvSpPr>
        <p:spPr>
          <a:xfrm>
            <a:off x="6592333" y="4556511"/>
            <a:ext cx="365125" cy="259079"/>
          </a:xfrm>
          <a:prstGeom prst="rect">
            <a:avLst/>
          </a:prstGeom>
        </p:spPr>
        <p:txBody>
          <a:bodyPr wrap="square" lIns="0" tIns="16510" rIns="0" bIns="0" rtlCol="0" vert="horz">
            <a:spAutoFit/>
          </a:bodyPr>
          <a:lstStyle/>
          <a:p>
            <a:pPr marL="12700">
              <a:lnSpc>
                <a:spcPct val="100000"/>
              </a:lnSpc>
              <a:spcBef>
                <a:spcPts val="130"/>
              </a:spcBef>
            </a:pPr>
            <a:r>
              <a:rPr dirty="0" sz="1500" spc="-175">
                <a:latin typeface="宋体"/>
                <a:cs typeface="宋体"/>
              </a:rPr>
              <a:t>组 </a:t>
            </a:r>
            <a:r>
              <a:rPr dirty="0" sz="1500" spc="-50">
                <a:latin typeface="宋体"/>
                <a:cs typeface="宋体"/>
              </a:rPr>
              <a:t>3</a:t>
            </a:r>
            <a:endParaRPr sz="1500">
              <a:latin typeface="宋体"/>
              <a:cs typeface="宋体"/>
            </a:endParaRPr>
          </a:p>
        </p:txBody>
      </p:sp>
      <p:sp>
        <p:nvSpPr>
          <p:cNvPr id="84" name="object 84" descr=""/>
          <p:cNvSpPr txBox="1"/>
          <p:nvPr/>
        </p:nvSpPr>
        <p:spPr>
          <a:xfrm>
            <a:off x="7765940" y="4535865"/>
            <a:ext cx="27051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FF6600"/>
                </a:solidFill>
                <a:latin typeface="宋体"/>
                <a:cs typeface="宋体"/>
              </a:rPr>
              <a:t>AP</a:t>
            </a:r>
            <a:r>
              <a:rPr dirty="0" sz="750" spc="-25" b="1">
                <a:solidFill>
                  <a:srgbClr val="FF6600"/>
                </a:solidFill>
                <a:latin typeface="宋体"/>
                <a:cs typeface="宋体"/>
              </a:rPr>
              <a:t>3</a:t>
            </a:r>
            <a:endParaRPr sz="750">
              <a:latin typeface="宋体"/>
              <a:cs typeface="宋体"/>
            </a:endParaRPr>
          </a:p>
        </p:txBody>
      </p:sp>
      <p:grpSp>
        <p:nvGrpSpPr>
          <p:cNvPr id="85" name="object 85" descr=""/>
          <p:cNvGrpSpPr/>
          <p:nvPr/>
        </p:nvGrpSpPr>
        <p:grpSpPr>
          <a:xfrm>
            <a:off x="5524282" y="1576504"/>
            <a:ext cx="562610" cy="3117850"/>
            <a:chOff x="5524282" y="1576504"/>
            <a:chExt cx="562610" cy="3117850"/>
          </a:xfrm>
        </p:grpSpPr>
        <p:sp>
          <p:nvSpPr>
            <p:cNvPr id="86" name="object 86" descr=""/>
            <p:cNvSpPr/>
            <p:nvPr/>
          </p:nvSpPr>
          <p:spPr>
            <a:xfrm>
              <a:off x="5524282" y="1584212"/>
              <a:ext cx="562610" cy="3102610"/>
            </a:xfrm>
            <a:custGeom>
              <a:avLst/>
              <a:gdLst/>
              <a:ahLst/>
              <a:cxnLst/>
              <a:rect l="l" t="t" r="r" b="b"/>
              <a:pathLst>
                <a:path w="562610" h="3102610">
                  <a:moveTo>
                    <a:pt x="270402" y="2901060"/>
                  </a:moveTo>
                  <a:lnTo>
                    <a:pt x="562299" y="2901060"/>
                  </a:lnTo>
                </a:path>
                <a:path w="562610" h="3102610">
                  <a:moveTo>
                    <a:pt x="0" y="1767986"/>
                  </a:moveTo>
                  <a:lnTo>
                    <a:pt x="518665" y="1767986"/>
                  </a:lnTo>
                </a:path>
                <a:path w="562610" h="3102610">
                  <a:moveTo>
                    <a:pt x="0" y="3102261"/>
                  </a:moveTo>
                  <a:lnTo>
                    <a:pt x="518665" y="3102261"/>
                  </a:lnTo>
                </a:path>
                <a:path w="562610" h="3102610">
                  <a:moveTo>
                    <a:pt x="0" y="0"/>
                  </a:moveTo>
                  <a:lnTo>
                    <a:pt x="541450" y="0"/>
                  </a:lnTo>
                </a:path>
              </a:pathLst>
            </a:custGeom>
            <a:ln w="15428">
              <a:solidFill>
                <a:srgbClr val="000000"/>
              </a:solidFill>
            </a:ln>
          </p:spPr>
          <p:txBody>
            <a:bodyPr wrap="square" lIns="0" tIns="0" rIns="0" bIns="0" rtlCol="0"/>
            <a:lstStyle/>
            <a:p/>
          </p:txBody>
        </p:sp>
        <p:pic>
          <p:nvPicPr>
            <p:cNvPr id="87" name="object 87" descr=""/>
            <p:cNvPicPr/>
            <p:nvPr/>
          </p:nvPicPr>
          <p:blipFill>
            <a:blip r:embed="rId2" cstate="print"/>
            <a:stretch>
              <a:fillRect/>
            </a:stretch>
          </p:blipFill>
          <p:spPr>
            <a:xfrm>
              <a:off x="5730655" y="2410487"/>
              <a:ext cx="97966" cy="87322"/>
            </a:xfrm>
            <a:prstGeom prst="rect">
              <a:avLst/>
            </a:prstGeom>
          </p:spPr>
        </p:pic>
        <p:pic>
          <p:nvPicPr>
            <p:cNvPr id="88" name="object 88" descr=""/>
            <p:cNvPicPr/>
            <p:nvPr/>
          </p:nvPicPr>
          <p:blipFill>
            <a:blip r:embed="rId3" cstate="print"/>
            <a:stretch>
              <a:fillRect/>
            </a:stretch>
          </p:blipFill>
          <p:spPr>
            <a:xfrm>
              <a:off x="5743337" y="3101972"/>
              <a:ext cx="97966" cy="87322"/>
            </a:xfrm>
            <a:prstGeom prst="rect">
              <a:avLst/>
            </a:prstGeom>
          </p:spPr>
        </p:pic>
        <p:pic>
          <p:nvPicPr>
            <p:cNvPr id="89" name="object 89" descr=""/>
            <p:cNvPicPr/>
            <p:nvPr/>
          </p:nvPicPr>
          <p:blipFill>
            <a:blip r:embed="rId4" cstate="print"/>
            <a:stretch>
              <a:fillRect/>
            </a:stretch>
          </p:blipFill>
          <p:spPr>
            <a:xfrm>
              <a:off x="5737964" y="3736800"/>
              <a:ext cx="97966" cy="85390"/>
            </a:xfrm>
            <a:prstGeom prst="rect">
              <a:avLst/>
            </a:prstGeom>
          </p:spPr>
        </p:pic>
        <p:sp>
          <p:nvSpPr>
            <p:cNvPr id="90" name="object 90" descr=""/>
            <p:cNvSpPr/>
            <p:nvPr/>
          </p:nvSpPr>
          <p:spPr>
            <a:xfrm>
              <a:off x="5524282" y="3981725"/>
              <a:ext cx="518795" cy="0"/>
            </a:xfrm>
            <a:custGeom>
              <a:avLst/>
              <a:gdLst/>
              <a:ahLst/>
              <a:cxnLst/>
              <a:rect l="l" t="t" r="r" b="b"/>
              <a:pathLst>
                <a:path w="518795" h="0">
                  <a:moveTo>
                    <a:pt x="0" y="0"/>
                  </a:moveTo>
                  <a:lnTo>
                    <a:pt x="518665" y="0"/>
                  </a:lnTo>
                </a:path>
              </a:pathLst>
            </a:custGeom>
            <a:ln w="15416">
              <a:solidFill>
                <a:srgbClr val="000000"/>
              </a:solidFill>
            </a:ln>
          </p:spPr>
          <p:txBody>
            <a:bodyPr wrap="square" lIns="0" tIns="0" rIns="0" bIns="0" rtlCol="0"/>
            <a:lstStyle/>
            <a:p/>
          </p:txBody>
        </p:sp>
      </p:grpSp>
      <p:grpSp>
        <p:nvGrpSpPr>
          <p:cNvPr id="91" name="object 91" descr=""/>
          <p:cNvGrpSpPr/>
          <p:nvPr/>
        </p:nvGrpSpPr>
        <p:grpSpPr>
          <a:xfrm>
            <a:off x="4523292" y="5109545"/>
            <a:ext cx="2814955" cy="617855"/>
            <a:chOff x="4523292" y="5109545"/>
            <a:chExt cx="2814955" cy="617855"/>
          </a:xfrm>
        </p:grpSpPr>
        <p:sp>
          <p:nvSpPr>
            <p:cNvPr id="92" name="object 92" descr=""/>
            <p:cNvSpPr/>
            <p:nvPr/>
          </p:nvSpPr>
          <p:spPr>
            <a:xfrm>
              <a:off x="4531230" y="5419293"/>
              <a:ext cx="2799080" cy="8255"/>
            </a:xfrm>
            <a:custGeom>
              <a:avLst/>
              <a:gdLst/>
              <a:ahLst/>
              <a:cxnLst/>
              <a:rect l="l" t="t" r="r" b="b"/>
              <a:pathLst>
                <a:path w="2799079" h="8254">
                  <a:moveTo>
                    <a:pt x="0" y="0"/>
                  </a:moveTo>
                  <a:lnTo>
                    <a:pt x="270617" y="0"/>
                  </a:lnTo>
                </a:path>
                <a:path w="2799079" h="8254">
                  <a:moveTo>
                    <a:pt x="1173607" y="0"/>
                  </a:moveTo>
                  <a:lnTo>
                    <a:pt x="1555352" y="0"/>
                  </a:lnTo>
                </a:path>
                <a:path w="2799079" h="8254">
                  <a:moveTo>
                    <a:pt x="2458342" y="7940"/>
                  </a:moveTo>
                  <a:lnTo>
                    <a:pt x="2798602" y="7940"/>
                  </a:lnTo>
                </a:path>
              </a:pathLst>
            </a:custGeom>
            <a:ln w="15428">
              <a:solidFill>
                <a:srgbClr val="000000"/>
              </a:solidFill>
            </a:ln>
          </p:spPr>
          <p:txBody>
            <a:bodyPr wrap="square" lIns="0" tIns="0" rIns="0" bIns="0" rtlCol="0"/>
            <a:lstStyle/>
            <a:p/>
          </p:txBody>
        </p:sp>
        <p:sp>
          <p:nvSpPr>
            <p:cNvPr id="93" name="object 93" descr=""/>
            <p:cNvSpPr/>
            <p:nvPr/>
          </p:nvSpPr>
          <p:spPr>
            <a:xfrm>
              <a:off x="4801847" y="5117482"/>
              <a:ext cx="903605" cy="601980"/>
            </a:xfrm>
            <a:custGeom>
              <a:avLst/>
              <a:gdLst/>
              <a:ahLst/>
              <a:cxnLst/>
              <a:rect l="l" t="t" r="r" b="b"/>
              <a:pathLst>
                <a:path w="903604" h="601979">
                  <a:moveTo>
                    <a:pt x="903011" y="0"/>
                  </a:moveTo>
                  <a:lnTo>
                    <a:pt x="0" y="0"/>
                  </a:lnTo>
                  <a:lnTo>
                    <a:pt x="0" y="601497"/>
                  </a:lnTo>
                  <a:lnTo>
                    <a:pt x="903011" y="601497"/>
                  </a:lnTo>
                  <a:lnTo>
                    <a:pt x="903011" y="0"/>
                  </a:lnTo>
                  <a:close/>
                </a:path>
              </a:pathLst>
            </a:custGeom>
            <a:solidFill>
              <a:srgbClr val="FFDBB7"/>
            </a:solidFill>
          </p:spPr>
          <p:txBody>
            <a:bodyPr wrap="square" lIns="0" tIns="0" rIns="0" bIns="0" rtlCol="0"/>
            <a:lstStyle/>
            <a:p/>
          </p:txBody>
        </p:sp>
        <p:sp>
          <p:nvSpPr>
            <p:cNvPr id="94" name="object 94" descr=""/>
            <p:cNvSpPr/>
            <p:nvPr/>
          </p:nvSpPr>
          <p:spPr>
            <a:xfrm>
              <a:off x="4801847" y="5117482"/>
              <a:ext cx="903605" cy="601980"/>
            </a:xfrm>
            <a:custGeom>
              <a:avLst/>
              <a:gdLst/>
              <a:ahLst/>
              <a:cxnLst/>
              <a:rect l="l" t="t" r="r" b="b"/>
              <a:pathLst>
                <a:path w="903604" h="601979">
                  <a:moveTo>
                    <a:pt x="0" y="601497"/>
                  </a:moveTo>
                  <a:lnTo>
                    <a:pt x="903011" y="601497"/>
                  </a:lnTo>
                  <a:lnTo>
                    <a:pt x="903011" y="0"/>
                  </a:lnTo>
                  <a:lnTo>
                    <a:pt x="0" y="0"/>
                  </a:lnTo>
                  <a:lnTo>
                    <a:pt x="0" y="601497"/>
                  </a:lnTo>
                  <a:close/>
                </a:path>
              </a:pathLst>
            </a:custGeom>
            <a:ln w="15423">
              <a:solidFill>
                <a:srgbClr val="000000"/>
              </a:solidFill>
            </a:ln>
          </p:spPr>
          <p:txBody>
            <a:bodyPr wrap="square" lIns="0" tIns="0" rIns="0" bIns="0" rtlCol="0"/>
            <a:lstStyle/>
            <a:p/>
          </p:txBody>
        </p:sp>
      </p:grpSp>
      <p:sp>
        <p:nvSpPr>
          <p:cNvPr id="95" name="object 95" descr=""/>
          <p:cNvSpPr txBox="1"/>
          <p:nvPr/>
        </p:nvSpPr>
        <p:spPr>
          <a:xfrm>
            <a:off x="7526275" y="5299932"/>
            <a:ext cx="991869" cy="259079"/>
          </a:xfrm>
          <a:prstGeom prst="rect">
            <a:avLst/>
          </a:prstGeom>
        </p:spPr>
        <p:txBody>
          <a:bodyPr wrap="square" lIns="0" tIns="16510" rIns="0" bIns="0" rtlCol="0" vert="horz">
            <a:spAutoFit/>
          </a:bodyPr>
          <a:lstStyle/>
          <a:p>
            <a:pPr marL="12700">
              <a:lnSpc>
                <a:spcPct val="100000"/>
              </a:lnSpc>
              <a:spcBef>
                <a:spcPts val="130"/>
              </a:spcBef>
            </a:pPr>
            <a:r>
              <a:rPr dirty="0" sz="1500" spc="-10">
                <a:latin typeface="宋体"/>
                <a:cs typeface="宋体"/>
              </a:rPr>
              <a:t>标量流水线</a:t>
            </a:r>
            <a:endParaRPr sz="1500">
              <a:latin typeface="宋体"/>
              <a:cs typeface="宋体"/>
            </a:endParaRPr>
          </a:p>
        </p:txBody>
      </p:sp>
      <p:sp>
        <p:nvSpPr>
          <p:cNvPr id="96" name="object 96" descr=""/>
          <p:cNvSpPr/>
          <p:nvPr/>
        </p:nvSpPr>
        <p:spPr>
          <a:xfrm>
            <a:off x="1732305" y="5419293"/>
            <a:ext cx="812800" cy="0"/>
          </a:xfrm>
          <a:custGeom>
            <a:avLst/>
            <a:gdLst/>
            <a:ahLst/>
            <a:cxnLst/>
            <a:rect l="l" t="t" r="r" b="b"/>
            <a:pathLst>
              <a:path w="812800" h="0">
                <a:moveTo>
                  <a:pt x="0" y="0"/>
                </a:moveTo>
                <a:lnTo>
                  <a:pt x="812476" y="0"/>
                </a:lnTo>
              </a:path>
            </a:pathLst>
          </a:custGeom>
          <a:ln w="15416">
            <a:solidFill>
              <a:srgbClr val="000000"/>
            </a:solidFill>
          </a:ln>
        </p:spPr>
        <p:txBody>
          <a:bodyPr wrap="square" lIns="0" tIns="0" rIns="0" bIns="0" rtlCol="0"/>
          <a:lstStyle/>
          <a:p/>
        </p:txBody>
      </p:sp>
      <p:sp>
        <p:nvSpPr>
          <p:cNvPr id="97" name="object 97" descr=""/>
          <p:cNvSpPr/>
          <p:nvPr/>
        </p:nvSpPr>
        <p:spPr>
          <a:xfrm>
            <a:off x="1732305" y="2051211"/>
            <a:ext cx="1872614" cy="2733675"/>
          </a:xfrm>
          <a:custGeom>
            <a:avLst/>
            <a:gdLst/>
            <a:ahLst/>
            <a:cxnLst/>
            <a:rect l="l" t="t" r="r" b="b"/>
            <a:pathLst>
              <a:path w="1872614" h="2733675">
                <a:moveTo>
                  <a:pt x="0" y="2733211"/>
                </a:moveTo>
                <a:lnTo>
                  <a:pt x="271004" y="2733211"/>
                </a:lnTo>
              </a:path>
              <a:path w="1872614" h="2733675">
                <a:moveTo>
                  <a:pt x="271004" y="2733211"/>
                </a:moveTo>
                <a:lnTo>
                  <a:pt x="271004" y="467428"/>
                </a:lnTo>
              </a:path>
              <a:path w="1872614" h="2733675">
                <a:moveTo>
                  <a:pt x="271004" y="467428"/>
                </a:moveTo>
                <a:lnTo>
                  <a:pt x="1872505" y="467428"/>
                </a:lnTo>
              </a:path>
              <a:path w="1872614" h="2733675">
                <a:moveTo>
                  <a:pt x="90513" y="733334"/>
                </a:moveTo>
                <a:lnTo>
                  <a:pt x="1872505" y="733334"/>
                </a:lnTo>
              </a:path>
              <a:path w="1872614" h="2733675">
                <a:moveTo>
                  <a:pt x="1263992" y="0"/>
                </a:moveTo>
                <a:lnTo>
                  <a:pt x="1263992" y="1001816"/>
                </a:lnTo>
              </a:path>
            </a:pathLst>
          </a:custGeom>
          <a:ln w="15428">
            <a:solidFill>
              <a:srgbClr val="000000"/>
            </a:solidFill>
          </a:ln>
        </p:spPr>
        <p:txBody>
          <a:bodyPr wrap="square" lIns="0" tIns="0" rIns="0" bIns="0" rtlCol="0"/>
          <a:lstStyle/>
          <a:p/>
        </p:txBody>
      </p:sp>
      <p:sp>
        <p:nvSpPr>
          <p:cNvPr id="98" name="object 98" descr=""/>
          <p:cNvSpPr/>
          <p:nvPr/>
        </p:nvSpPr>
        <p:spPr>
          <a:xfrm>
            <a:off x="1843045" y="1684866"/>
            <a:ext cx="1762125" cy="0"/>
          </a:xfrm>
          <a:custGeom>
            <a:avLst/>
            <a:gdLst/>
            <a:ahLst/>
            <a:cxnLst/>
            <a:rect l="l" t="t" r="r" b="b"/>
            <a:pathLst>
              <a:path w="1762125" h="0">
                <a:moveTo>
                  <a:pt x="0" y="0"/>
                </a:moveTo>
                <a:lnTo>
                  <a:pt x="1761765" y="0"/>
                </a:lnTo>
              </a:path>
            </a:pathLst>
          </a:custGeom>
          <a:ln w="15416">
            <a:solidFill>
              <a:srgbClr val="000000"/>
            </a:solidFill>
          </a:ln>
        </p:spPr>
        <p:txBody>
          <a:bodyPr wrap="square" lIns="0" tIns="0" rIns="0" bIns="0" rtlCol="0"/>
          <a:lstStyle/>
          <a:p/>
        </p:txBody>
      </p:sp>
      <p:sp>
        <p:nvSpPr>
          <p:cNvPr id="99" name="object 99" descr=""/>
          <p:cNvSpPr txBox="1"/>
          <p:nvPr/>
        </p:nvSpPr>
        <p:spPr>
          <a:xfrm>
            <a:off x="8161657" y="2824300"/>
            <a:ext cx="220345" cy="259079"/>
          </a:xfrm>
          <a:prstGeom prst="rect">
            <a:avLst/>
          </a:prstGeom>
        </p:spPr>
        <p:txBody>
          <a:bodyPr wrap="square" lIns="0" tIns="16510" rIns="0" bIns="0" rtlCol="0" vert="horz">
            <a:spAutoFit/>
          </a:bodyPr>
          <a:lstStyle/>
          <a:p>
            <a:pPr marL="12700">
              <a:lnSpc>
                <a:spcPct val="100000"/>
              </a:lnSpc>
              <a:spcBef>
                <a:spcPts val="130"/>
              </a:spcBef>
            </a:pPr>
            <a:r>
              <a:rPr dirty="0" sz="1500" spc="-50">
                <a:solidFill>
                  <a:srgbClr val="FF6600"/>
                </a:solidFill>
                <a:latin typeface="宋体"/>
                <a:cs typeface="宋体"/>
              </a:rPr>
              <a:t>运</a:t>
            </a:r>
            <a:endParaRPr sz="1500">
              <a:latin typeface="宋体"/>
              <a:cs typeface="宋体"/>
            </a:endParaRPr>
          </a:p>
        </p:txBody>
      </p:sp>
      <p:sp>
        <p:nvSpPr>
          <p:cNvPr id="100" name="object 100" descr=""/>
          <p:cNvSpPr txBox="1"/>
          <p:nvPr/>
        </p:nvSpPr>
        <p:spPr>
          <a:xfrm>
            <a:off x="8161657" y="3057780"/>
            <a:ext cx="220345" cy="598805"/>
          </a:xfrm>
          <a:prstGeom prst="rect">
            <a:avLst/>
          </a:prstGeom>
        </p:spPr>
        <p:txBody>
          <a:bodyPr wrap="square" lIns="0" tIns="12065" rIns="0" bIns="0" rtlCol="0" vert="horz">
            <a:spAutoFit/>
          </a:bodyPr>
          <a:lstStyle/>
          <a:p>
            <a:pPr marL="12700" marR="5080">
              <a:lnSpc>
                <a:spcPct val="125299"/>
              </a:lnSpc>
              <a:spcBef>
                <a:spcPts val="95"/>
              </a:spcBef>
            </a:pPr>
            <a:r>
              <a:rPr dirty="0" sz="1500" spc="-50">
                <a:solidFill>
                  <a:srgbClr val="FF6600"/>
                </a:solidFill>
                <a:latin typeface="宋体"/>
                <a:cs typeface="宋体"/>
              </a:rPr>
              <a:t>算处</a:t>
            </a:r>
            <a:endParaRPr sz="1500">
              <a:latin typeface="宋体"/>
              <a:cs typeface="宋体"/>
            </a:endParaRPr>
          </a:p>
        </p:txBody>
      </p:sp>
      <p:sp>
        <p:nvSpPr>
          <p:cNvPr id="101" name="object 101" descr=""/>
          <p:cNvSpPr txBox="1"/>
          <p:nvPr/>
        </p:nvSpPr>
        <p:spPr>
          <a:xfrm>
            <a:off x="8161657" y="3628029"/>
            <a:ext cx="220345" cy="598805"/>
          </a:xfrm>
          <a:prstGeom prst="rect">
            <a:avLst/>
          </a:prstGeom>
        </p:spPr>
        <p:txBody>
          <a:bodyPr wrap="square" lIns="0" tIns="12065" rIns="0" bIns="0" rtlCol="0" vert="horz">
            <a:spAutoFit/>
          </a:bodyPr>
          <a:lstStyle/>
          <a:p>
            <a:pPr marL="12700" marR="5080">
              <a:lnSpc>
                <a:spcPct val="125299"/>
              </a:lnSpc>
              <a:spcBef>
                <a:spcPts val="95"/>
              </a:spcBef>
            </a:pPr>
            <a:r>
              <a:rPr dirty="0" sz="1500" spc="-50">
                <a:solidFill>
                  <a:srgbClr val="FF6600"/>
                </a:solidFill>
                <a:latin typeface="宋体"/>
                <a:cs typeface="宋体"/>
              </a:rPr>
              <a:t>理机</a:t>
            </a:r>
            <a:endParaRPr sz="1500">
              <a:latin typeface="宋体"/>
              <a:cs typeface="宋体"/>
            </a:endParaRPr>
          </a:p>
        </p:txBody>
      </p:sp>
      <p:sp>
        <p:nvSpPr>
          <p:cNvPr id="102" name="object 102" descr=""/>
          <p:cNvSpPr txBox="1"/>
          <p:nvPr/>
        </p:nvSpPr>
        <p:spPr>
          <a:xfrm>
            <a:off x="4853416" y="5191381"/>
            <a:ext cx="798830" cy="476250"/>
          </a:xfrm>
          <a:prstGeom prst="rect">
            <a:avLst/>
          </a:prstGeom>
        </p:spPr>
        <p:txBody>
          <a:bodyPr wrap="square" lIns="0" tIns="33655" rIns="0" bIns="0" rtlCol="0" vert="horz">
            <a:spAutoFit/>
          </a:bodyPr>
          <a:lstStyle/>
          <a:p>
            <a:pPr marL="105410" marR="5080" indent="-93345">
              <a:lnSpc>
                <a:spcPts val="1710"/>
              </a:lnSpc>
              <a:spcBef>
                <a:spcPts val="265"/>
              </a:spcBef>
            </a:pPr>
            <a:r>
              <a:rPr dirty="0" sz="1500" spc="-15">
                <a:latin typeface="宋体"/>
                <a:cs typeface="宋体"/>
              </a:rPr>
              <a:t>高速缓冲</a:t>
            </a:r>
            <a:r>
              <a:rPr dirty="0" sz="1500" spc="60">
                <a:latin typeface="宋体"/>
                <a:cs typeface="宋体"/>
              </a:rPr>
              <a:t>寄存器</a:t>
            </a:r>
            <a:endParaRPr sz="1500">
              <a:latin typeface="宋体"/>
              <a:cs typeface="宋体"/>
            </a:endParaRPr>
          </a:p>
        </p:txBody>
      </p:sp>
      <p:sp>
        <p:nvSpPr>
          <p:cNvPr id="103" name="object 103" descr=""/>
          <p:cNvSpPr txBox="1"/>
          <p:nvPr/>
        </p:nvSpPr>
        <p:spPr>
          <a:xfrm>
            <a:off x="5059998" y="5813657"/>
            <a:ext cx="382270" cy="127635"/>
          </a:xfrm>
          <a:prstGeom prst="rect">
            <a:avLst/>
          </a:prstGeom>
        </p:spPr>
        <p:txBody>
          <a:bodyPr wrap="square" lIns="0" tIns="0" rIns="0" bIns="0" rtlCol="0" vert="horz">
            <a:spAutoFit/>
          </a:bodyPr>
          <a:lstStyle/>
          <a:p>
            <a:pPr>
              <a:lnSpc>
                <a:spcPts val="1000"/>
              </a:lnSpc>
            </a:pPr>
            <a:r>
              <a:rPr dirty="0" sz="1000" spc="-20">
                <a:latin typeface="宋体"/>
                <a:cs typeface="宋体"/>
              </a:rPr>
              <a:t>寄存器</a:t>
            </a:r>
            <a:endParaRPr sz="1000">
              <a:latin typeface="宋体"/>
              <a:cs typeface="宋体"/>
            </a:endParaRPr>
          </a:p>
        </p:txBody>
      </p:sp>
      <p:grpSp>
        <p:nvGrpSpPr>
          <p:cNvPr id="104" name="object 104" descr=""/>
          <p:cNvGrpSpPr/>
          <p:nvPr/>
        </p:nvGrpSpPr>
        <p:grpSpPr>
          <a:xfrm>
            <a:off x="6078644" y="5142895"/>
            <a:ext cx="919480" cy="550545"/>
            <a:chOff x="6078644" y="5142895"/>
            <a:chExt cx="919480" cy="550545"/>
          </a:xfrm>
        </p:grpSpPr>
        <p:sp>
          <p:nvSpPr>
            <p:cNvPr id="105" name="object 105" descr=""/>
            <p:cNvSpPr/>
            <p:nvPr/>
          </p:nvSpPr>
          <p:spPr>
            <a:xfrm>
              <a:off x="6086582" y="5150833"/>
              <a:ext cx="903605" cy="534670"/>
            </a:xfrm>
            <a:custGeom>
              <a:avLst/>
              <a:gdLst/>
              <a:ahLst/>
              <a:cxnLst/>
              <a:rect l="l" t="t" r="r" b="b"/>
              <a:pathLst>
                <a:path w="903604" h="534670">
                  <a:moveTo>
                    <a:pt x="903011" y="0"/>
                  </a:moveTo>
                  <a:lnTo>
                    <a:pt x="0" y="0"/>
                  </a:lnTo>
                  <a:lnTo>
                    <a:pt x="0" y="534259"/>
                  </a:lnTo>
                  <a:lnTo>
                    <a:pt x="903011" y="534259"/>
                  </a:lnTo>
                  <a:lnTo>
                    <a:pt x="903011" y="0"/>
                  </a:lnTo>
                  <a:close/>
                </a:path>
              </a:pathLst>
            </a:custGeom>
            <a:solidFill>
              <a:srgbClr val="FFDBB7"/>
            </a:solidFill>
          </p:spPr>
          <p:txBody>
            <a:bodyPr wrap="square" lIns="0" tIns="0" rIns="0" bIns="0" rtlCol="0"/>
            <a:lstStyle/>
            <a:p/>
          </p:txBody>
        </p:sp>
        <p:sp>
          <p:nvSpPr>
            <p:cNvPr id="106" name="object 106" descr=""/>
            <p:cNvSpPr/>
            <p:nvPr/>
          </p:nvSpPr>
          <p:spPr>
            <a:xfrm>
              <a:off x="6086582" y="5150833"/>
              <a:ext cx="903605" cy="534670"/>
            </a:xfrm>
            <a:custGeom>
              <a:avLst/>
              <a:gdLst/>
              <a:ahLst/>
              <a:cxnLst/>
              <a:rect l="l" t="t" r="r" b="b"/>
              <a:pathLst>
                <a:path w="903604" h="534670">
                  <a:moveTo>
                    <a:pt x="0" y="534259"/>
                  </a:moveTo>
                  <a:lnTo>
                    <a:pt x="903011" y="534259"/>
                  </a:lnTo>
                  <a:lnTo>
                    <a:pt x="903011" y="0"/>
                  </a:lnTo>
                  <a:lnTo>
                    <a:pt x="0" y="0"/>
                  </a:lnTo>
                  <a:lnTo>
                    <a:pt x="0" y="534259"/>
                  </a:lnTo>
                  <a:close/>
                </a:path>
              </a:pathLst>
            </a:custGeom>
            <a:ln w="15422">
              <a:solidFill>
                <a:srgbClr val="000000"/>
              </a:solidFill>
            </a:ln>
          </p:spPr>
          <p:txBody>
            <a:bodyPr wrap="square" lIns="0" tIns="0" rIns="0" bIns="0" rtlCol="0"/>
            <a:lstStyle/>
            <a:p/>
          </p:txBody>
        </p:sp>
      </p:grpSp>
      <p:sp>
        <p:nvSpPr>
          <p:cNvPr id="107" name="object 107" descr=""/>
          <p:cNvSpPr txBox="1"/>
          <p:nvPr/>
        </p:nvSpPr>
        <p:spPr>
          <a:xfrm>
            <a:off x="6208009" y="5183955"/>
            <a:ext cx="629285" cy="465455"/>
          </a:xfrm>
          <a:prstGeom prst="rect">
            <a:avLst/>
          </a:prstGeom>
        </p:spPr>
        <p:txBody>
          <a:bodyPr wrap="square" lIns="0" tIns="41275" rIns="0" bIns="0" rtlCol="0" vert="horz">
            <a:spAutoFit/>
          </a:bodyPr>
          <a:lstStyle/>
          <a:p>
            <a:pPr marL="12700" marR="5080" indent="102870">
              <a:lnSpc>
                <a:spcPts val="1630"/>
              </a:lnSpc>
              <a:spcBef>
                <a:spcPts val="325"/>
              </a:spcBef>
            </a:pPr>
            <a:r>
              <a:rPr dirty="0" sz="1500" spc="-25">
                <a:latin typeface="宋体"/>
                <a:cs typeface="宋体"/>
              </a:rPr>
              <a:t>标量</a:t>
            </a:r>
            <a:r>
              <a:rPr dirty="0" sz="1500" spc="60">
                <a:latin typeface="宋体"/>
                <a:cs typeface="宋体"/>
              </a:rPr>
              <a:t>寄存器</a:t>
            </a:r>
            <a:endParaRPr sz="1500">
              <a:latin typeface="宋体"/>
              <a:cs typeface="宋体"/>
            </a:endParaRPr>
          </a:p>
        </p:txBody>
      </p:sp>
      <p:sp>
        <p:nvSpPr>
          <p:cNvPr id="108" name="object 108" descr=""/>
          <p:cNvSpPr txBox="1"/>
          <p:nvPr/>
        </p:nvSpPr>
        <p:spPr>
          <a:xfrm>
            <a:off x="6321304" y="5795653"/>
            <a:ext cx="382270" cy="127635"/>
          </a:xfrm>
          <a:prstGeom prst="rect">
            <a:avLst/>
          </a:prstGeom>
        </p:spPr>
        <p:txBody>
          <a:bodyPr wrap="square" lIns="0" tIns="0" rIns="0" bIns="0" rtlCol="0" vert="horz">
            <a:spAutoFit/>
          </a:bodyPr>
          <a:lstStyle/>
          <a:p>
            <a:pPr>
              <a:lnSpc>
                <a:spcPts val="1000"/>
              </a:lnSpc>
            </a:pPr>
            <a:r>
              <a:rPr dirty="0" sz="1000" spc="-20">
                <a:latin typeface="宋体"/>
                <a:cs typeface="宋体"/>
              </a:rPr>
              <a:t>寄存器</a:t>
            </a:r>
            <a:endParaRPr sz="1000">
              <a:latin typeface="宋体"/>
              <a:cs typeface="宋体"/>
            </a:endParaRPr>
          </a:p>
        </p:txBody>
      </p:sp>
      <p:sp>
        <p:nvSpPr>
          <p:cNvPr id="109" name="object 109" descr=""/>
          <p:cNvSpPr/>
          <p:nvPr/>
        </p:nvSpPr>
        <p:spPr>
          <a:xfrm>
            <a:off x="4845911" y="3950992"/>
            <a:ext cx="632460" cy="467359"/>
          </a:xfrm>
          <a:custGeom>
            <a:avLst/>
            <a:gdLst/>
            <a:ahLst/>
            <a:cxnLst/>
            <a:rect l="l" t="t" r="r" b="b"/>
            <a:pathLst>
              <a:path w="632460" h="467360">
                <a:moveTo>
                  <a:pt x="631985" y="0"/>
                </a:moveTo>
                <a:lnTo>
                  <a:pt x="0" y="0"/>
                </a:lnTo>
                <a:lnTo>
                  <a:pt x="0" y="467020"/>
                </a:lnTo>
                <a:lnTo>
                  <a:pt x="631985" y="467020"/>
                </a:lnTo>
                <a:lnTo>
                  <a:pt x="631985" y="0"/>
                </a:lnTo>
                <a:close/>
              </a:path>
            </a:pathLst>
          </a:custGeom>
          <a:solidFill>
            <a:srgbClr val="FFDBB7"/>
          </a:solidFill>
        </p:spPr>
        <p:txBody>
          <a:bodyPr wrap="square" lIns="0" tIns="0" rIns="0" bIns="0" rtlCol="0"/>
          <a:lstStyle/>
          <a:p/>
        </p:txBody>
      </p:sp>
      <p:sp>
        <p:nvSpPr>
          <p:cNvPr id="110" name="object 110" descr=""/>
          <p:cNvSpPr/>
          <p:nvPr/>
        </p:nvSpPr>
        <p:spPr>
          <a:xfrm>
            <a:off x="5952240" y="5685107"/>
            <a:ext cx="1196975" cy="299720"/>
          </a:xfrm>
          <a:custGeom>
            <a:avLst/>
            <a:gdLst/>
            <a:ahLst/>
            <a:cxnLst/>
            <a:rect l="l" t="t" r="r" b="b"/>
            <a:pathLst>
              <a:path w="1196975" h="299720">
                <a:moveTo>
                  <a:pt x="1196907" y="0"/>
                </a:moveTo>
                <a:lnTo>
                  <a:pt x="0" y="0"/>
                </a:lnTo>
                <a:lnTo>
                  <a:pt x="0" y="299686"/>
                </a:lnTo>
                <a:lnTo>
                  <a:pt x="1196907" y="299686"/>
                </a:lnTo>
                <a:lnTo>
                  <a:pt x="1196907" y="0"/>
                </a:lnTo>
                <a:close/>
              </a:path>
            </a:pathLst>
          </a:custGeom>
          <a:solidFill>
            <a:srgbClr val="FFFFFF"/>
          </a:solidFill>
        </p:spPr>
        <p:txBody>
          <a:bodyPr wrap="square" lIns="0" tIns="0" rIns="0" bIns="0" rtlCol="0"/>
          <a:lstStyle/>
          <a:p/>
        </p:txBody>
      </p:sp>
      <p:sp>
        <p:nvSpPr>
          <p:cNvPr id="111" name="object 111" descr=""/>
          <p:cNvSpPr txBox="1"/>
          <p:nvPr/>
        </p:nvSpPr>
        <p:spPr>
          <a:xfrm>
            <a:off x="6140946" y="5689628"/>
            <a:ext cx="802640"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6600"/>
                </a:solidFill>
                <a:latin typeface="宋体"/>
                <a:cs typeface="宋体"/>
              </a:rPr>
              <a:t>标量部件</a:t>
            </a:r>
            <a:endParaRPr sz="1500">
              <a:latin typeface="宋体"/>
              <a:cs typeface="宋体"/>
            </a:endParaRPr>
          </a:p>
        </p:txBody>
      </p:sp>
      <p:sp>
        <p:nvSpPr>
          <p:cNvPr id="112" name="object 112" descr=""/>
          <p:cNvSpPr/>
          <p:nvPr/>
        </p:nvSpPr>
        <p:spPr>
          <a:xfrm>
            <a:off x="4688356" y="5752352"/>
            <a:ext cx="1016635" cy="299720"/>
          </a:xfrm>
          <a:custGeom>
            <a:avLst/>
            <a:gdLst/>
            <a:ahLst/>
            <a:cxnLst/>
            <a:rect l="l" t="t" r="r" b="b"/>
            <a:pathLst>
              <a:path w="1016635" h="299720">
                <a:moveTo>
                  <a:pt x="1016417" y="0"/>
                </a:moveTo>
                <a:lnTo>
                  <a:pt x="0" y="0"/>
                </a:lnTo>
                <a:lnTo>
                  <a:pt x="0" y="299686"/>
                </a:lnTo>
                <a:lnTo>
                  <a:pt x="1016417" y="299686"/>
                </a:lnTo>
                <a:lnTo>
                  <a:pt x="1016417" y="0"/>
                </a:lnTo>
                <a:close/>
              </a:path>
            </a:pathLst>
          </a:custGeom>
          <a:solidFill>
            <a:srgbClr val="FFFFFF"/>
          </a:solidFill>
        </p:spPr>
        <p:txBody>
          <a:bodyPr wrap="square" lIns="0" tIns="0" rIns="0" bIns="0" rtlCol="0"/>
          <a:lstStyle/>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271002" y="6581093"/>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88/72</a:t>
            </a:r>
            <a:endParaRPr sz="1600">
              <a:latin typeface="宋体"/>
              <a:cs typeface="宋体"/>
            </a:endParaRPr>
          </a:p>
        </p:txBody>
      </p:sp>
      <p:sp>
        <p:nvSpPr>
          <p:cNvPr id="3" name="object 3" descr=""/>
          <p:cNvSpPr/>
          <p:nvPr/>
        </p:nvSpPr>
        <p:spPr>
          <a:xfrm>
            <a:off x="742950" y="692150"/>
            <a:ext cx="8401050" cy="0"/>
          </a:xfrm>
          <a:custGeom>
            <a:avLst/>
            <a:gdLst/>
            <a:ahLst/>
            <a:cxnLst/>
            <a:rect l="l" t="t" r="r" b="b"/>
            <a:pathLst>
              <a:path w="8401050" h="0">
                <a:moveTo>
                  <a:pt x="0" y="0"/>
                </a:moveTo>
                <a:lnTo>
                  <a:pt x="84010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50800" y="311150"/>
            <a:ext cx="808355" cy="274955"/>
            <a:chOff x="50800" y="311150"/>
            <a:chExt cx="808355" cy="274955"/>
          </a:xfrm>
        </p:grpSpPr>
        <p:sp>
          <p:nvSpPr>
            <p:cNvPr id="5" name="object 5" descr=""/>
            <p:cNvSpPr/>
            <p:nvPr/>
          </p:nvSpPr>
          <p:spPr>
            <a:xfrm>
              <a:off x="50800" y="311150"/>
              <a:ext cx="281305" cy="274955"/>
            </a:xfrm>
            <a:custGeom>
              <a:avLst/>
              <a:gdLst/>
              <a:ahLst/>
              <a:cxnLst/>
              <a:rect l="l" t="t" r="r" b="b"/>
              <a:pathLst>
                <a:path w="281305" h="274955">
                  <a:moveTo>
                    <a:pt x="67402" y="0"/>
                  </a:moveTo>
                  <a:lnTo>
                    <a:pt x="2807" y="41528"/>
                  </a:lnTo>
                  <a:lnTo>
                    <a:pt x="148844" y="135509"/>
                  </a:lnTo>
                  <a:lnTo>
                    <a:pt x="0" y="231266"/>
                  </a:lnTo>
                  <a:lnTo>
                    <a:pt x="67402" y="274700"/>
                  </a:lnTo>
                  <a:lnTo>
                    <a:pt x="280847" y="137287"/>
                  </a:lnTo>
                  <a:lnTo>
                    <a:pt x="67402" y="0"/>
                  </a:lnTo>
                  <a:close/>
                </a:path>
              </a:pathLst>
            </a:custGeom>
            <a:solidFill>
              <a:srgbClr val="005DA1"/>
            </a:solidFill>
          </p:spPr>
          <p:txBody>
            <a:bodyPr wrap="square" lIns="0" tIns="0" rIns="0" bIns="0" rtlCol="0"/>
            <a:lstStyle/>
            <a:p/>
          </p:txBody>
        </p:sp>
        <p:sp>
          <p:nvSpPr>
            <p:cNvPr id="6" name="object 6" descr=""/>
            <p:cNvSpPr/>
            <p:nvPr/>
          </p:nvSpPr>
          <p:spPr>
            <a:xfrm>
              <a:off x="313169" y="311150"/>
              <a:ext cx="280035" cy="274955"/>
            </a:xfrm>
            <a:custGeom>
              <a:avLst/>
              <a:gdLst/>
              <a:ahLst/>
              <a:cxnLst/>
              <a:rect l="l" t="t" r="r" b="b"/>
              <a:pathLst>
                <a:path w="280034" h="274955">
                  <a:moveTo>
                    <a:pt x="67271" y="0"/>
                  </a:moveTo>
                  <a:lnTo>
                    <a:pt x="2794" y="41528"/>
                  </a:lnTo>
                  <a:lnTo>
                    <a:pt x="148564" y="135509"/>
                  </a:lnTo>
                  <a:lnTo>
                    <a:pt x="0" y="231266"/>
                  </a:lnTo>
                  <a:lnTo>
                    <a:pt x="67271" y="274700"/>
                  </a:lnTo>
                  <a:lnTo>
                    <a:pt x="279603" y="137287"/>
                  </a:lnTo>
                  <a:lnTo>
                    <a:pt x="67271" y="0"/>
                  </a:lnTo>
                  <a:close/>
                </a:path>
              </a:pathLst>
            </a:custGeom>
            <a:solidFill>
              <a:srgbClr val="3992DB"/>
            </a:solidFill>
          </p:spPr>
          <p:txBody>
            <a:bodyPr wrap="square" lIns="0" tIns="0" rIns="0" bIns="0" rtlCol="0"/>
            <a:lstStyle/>
            <a:p/>
          </p:txBody>
        </p:sp>
        <p:sp>
          <p:nvSpPr>
            <p:cNvPr id="7" name="object 7" descr=""/>
            <p:cNvSpPr/>
            <p:nvPr/>
          </p:nvSpPr>
          <p:spPr>
            <a:xfrm>
              <a:off x="579221" y="311150"/>
              <a:ext cx="280035" cy="274955"/>
            </a:xfrm>
            <a:custGeom>
              <a:avLst/>
              <a:gdLst/>
              <a:ahLst/>
              <a:cxnLst/>
              <a:rect l="l" t="t" r="r" b="b"/>
              <a:pathLst>
                <a:path w="280034" h="274955">
                  <a:moveTo>
                    <a:pt x="66573" y="0"/>
                  </a:moveTo>
                  <a:lnTo>
                    <a:pt x="2806" y="41528"/>
                  </a:lnTo>
                  <a:lnTo>
                    <a:pt x="148564" y="135509"/>
                  </a:lnTo>
                  <a:lnTo>
                    <a:pt x="0" y="231266"/>
                  </a:lnTo>
                  <a:lnTo>
                    <a:pt x="66573" y="274700"/>
                  </a:lnTo>
                  <a:lnTo>
                    <a:pt x="279615" y="137287"/>
                  </a:lnTo>
                  <a:lnTo>
                    <a:pt x="66573"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9144000" cy="333375"/>
          </a:xfrm>
          <a:custGeom>
            <a:avLst/>
            <a:gdLst/>
            <a:ahLst/>
            <a:cxnLst/>
            <a:rect l="l" t="t" r="r" b="b"/>
            <a:pathLst>
              <a:path w="9144000" h="333375">
                <a:moveTo>
                  <a:pt x="0" y="333375"/>
                </a:moveTo>
                <a:lnTo>
                  <a:pt x="9143999" y="333375"/>
                </a:lnTo>
                <a:lnTo>
                  <a:pt x="9144000"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028191" y="157937"/>
            <a:ext cx="3686175" cy="514350"/>
          </a:xfrm>
          <a:prstGeom prst="rect"/>
        </p:spPr>
        <p:txBody>
          <a:bodyPr wrap="square" lIns="0" tIns="13335" rIns="0" bIns="0" rtlCol="0" vert="horz">
            <a:spAutoFit/>
          </a:bodyPr>
          <a:lstStyle/>
          <a:p>
            <a:pPr marL="12700">
              <a:lnSpc>
                <a:spcPct val="100000"/>
              </a:lnSpc>
              <a:spcBef>
                <a:spcPts val="105"/>
              </a:spcBef>
            </a:pPr>
            <a:r>
              <a:rPr dirty="0"/>
              <a:t>4.5</a:t>
            </a:r>
            <a:r>
              <a:rPr dirty="0" spc="-20"/>
              <a:t> 向量处理机实例</a:t>
            </a:r>
          </a:p>
        </p:txBody>
      </p:sp>
      <p:sp>
        <p:nvSpPr>
          <p:cNvPr id="10" name="object 10" descr=""/>
          <p:cNvSpPr txBox="1"/>
          <p:nvPr/>
        </p:nvSpPr>
        <p:spPr>
          <a:xfrm>
            <a:off x="258267" y="855725"/>
            <a:ext cx="8648065" cy="4634865"/>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Font typeface="Times New Roman"/>
              <a:buAutoNum type="arabicPeriod" startAt="4"/>
              <a:tabLst>
                <a:tab pos="469265" algn="l"/>
              </a:tabLst>
            </a:pPr>
            <a:r>
              <a:rPr dirty="0" sz="2400" spc="-10">
                <a:solidFill>
                  <a:srgbClr val="E14B04"/>
                </a:solidFill>
                <a:latin typeface="黑体"/>
                <a:cs typeface="黑体"/>
              </a:rPr>
              <a:t>高速标量部件</a:t>
            </a:r>
            <a:endParaRPr sz="2400">
              <a:latin typeface="黑体"/>
              <a:cs typeface="黑体"/>
            </a:endParaRPr>
          </a:p>
          <a:p>
            <a:pPr lvl="1" marL="1099185" marR="5080" indent="-457834">
              <a:lnSpc>
                <a:spcPct val="110000"/>
              </a:lnSpc>
              <a:spcBef>
                <a:spcPts val="575"/>
              </a:spcBef>
              <a:buSzPct val="89583"/>
              <a:buFont typeface="Wingdings"/>
              <a:buChar char=""/>
              <a:tabLst>
                <a:tab pos="1099185" algn="l"/>
              </a:tabLst>
            </a:pPr>
            <a:r>
              <a:rPr dirty="0" sz="2400">
                <a:solidFill>
                  <a:srgbClr val="40458B"/>
                </a:solidFill>
                <a:latin typeface="黑体"/>
                <a:cs typeface="黑体"/>
              </a:rPr>
              <a:t>采用了具有</a:t>
            </a:r>
            <a:r>
              <a:rPr dirty="0" sz="2400">
                <a:solidFill>
                  <a:srgbClr val="9933FF"/>
                </a:solidFill>
                <a:latin typeface="Times New Roman"/>
                <a:cs typeface="Times New Roman"/>
              </a:rPr>
              <a:t>128</a:t>
            </a:r>
            <a:r>
              <a:rPr dirty="0" sz="2400" spc="-5">
                <a:solidFill>
                  <a:srgbClr val="40458B"/>
                </a:solidFill>
                <a:latin typeface="黑体"/>
                <a:cs typeface="黑体"/>
              </a:rPr>
              <a:t>个标量寄存器的</a:t>
            </a:r>
            <a:r>
              <a:rPr dirty="0" sz="2400" spc="-20">
                <a:solidFill>
                  <a:srgbClr val="9933FF"/>
                </a:solidFill>
                <a:latin typeface="Times New Roman"/>
                <a:cs typeface="Times New Roman"/>
              </a:rPr>
              <a:t>RISC</a:t>
            </a:r>
            <a:r>
              <a:rPr dirty="0" sz="2400" spc="-10">
                <a:solidFill>
                  <a:srgbClr val="40458B"/>
                </a:solidFill>
                <a:latin typeface="黑体"/>
                <a:cs typeface="黑体"/>
              </a:rPr>
              <a:t>系统结构，通过把指</a:t>
            </a:r>
            <a:r>
              <a:rPr dirty="0" sz="2400" spc="-15">
                <a:solidFill>
                  <a:srgbClr val="40458B"/>
                </a:solidFill>
                <a:latin typeface="黑体"/>
                <a:cs typeface="黑体"/>
              </a:rPr>
              <a:t>令重新排序来开发较高的并行性。</a:t>
            </a:r>
            <a:endParaRPr sz="2400">
              <a:latin typeface="黑体"/>
              <a:cs typeface="黑体"/>
            </a:endParaRPr>
          </a:p>
          <a:p>
            <a:pPr marL="469265" indent="-456565">
              <a:lnSpc>
                <a:spcPct val="100000"/>
              </a:lnSpc>
              <a:spcBef>
                <a:spcPts val="865"/>
              </a:spcBef>
              <a:buClr>
                <a:srgbClr val="40458B"/>
              </a:buClr>
              <a:buFont typeface="Times New Roman"/>
              <a:buAutoNum type="arabicPeriod" startAt="4"/>
              <a:tabLst>
                <a:tab pos="469265" algn="l"/>
              </a:tabLst>
            </a:pPr>
            <a:r>
              <a:rPr dirty="0" sz="2400">
                <a:solidFill>
                  <a:srgbClr val="E14B04"/>
                </a:solidFill>
                <a:latin typeface="黑体"/>
                <a:cs typeface="黑体"/>
              </a:rPr>
              <a:t>主存储器为</a:t>
            </a:r>
            <a:r>
              <a:rPr dirty="0" sz="2400">
                <a:solidFill>
                  <a:srgbClr val="9933FF"/>
                </a:solidFill>
                <a:latin typeface="Times New Roman"/>
                <a:cs typeface="Times New Roman"/>
              </a:rPr>
              <a:t>1024</a:t>
            </a:r>
            <a:r>
              <a:rPr dirty="0" sz="2400" spc="-10">
                <a:solidFill>
                  <a:srgbClr val="E14B04"/>
                </a:solidFill>
                <a:latin typeface="黑体"/>
                <a:cs typeface="黑体"/>
              </a:rPr>
              <a:t>路的交叉访问存储器</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a:solidFill>
                  <a:srgbClr val="40458B"/>
                </a:solidFill>
                <a:latin typeface="黑体"/>
                <a:cs typeface="黑体"/>
              </a:rPr>
              <a:t>其扩展存储器的最大容量高达</a:t>
            </a:r>
            <a:r>
              <a:rPr dirty="0" sz="2400" spc="-20">
                <a:solidFill>
                  <a:srgbClr val="9933FF"/>
                </a:solidFill>
                <a:latin typeface="Times New Roman"/>
                <a:cs typeface="Times New Roman"/>
              </a:rPr>
              <a:t>16GB</a:t>
            </a:r>
            <a:endParaRPr sz="2400">
              <a:latin typeface="Times New Roman"/>
              <a:cs typeface="Times New Roman"/>
            </a:endParaRPr>
          </a:p>
          <a:p>
            <a:pPr lvl="1"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最大传输率：</a:t>
            </a:r>
            <a:r>
              <a:rPr dirty="0" sz="2400" spc="-10">
                <a:solidFill>
                  <a:srgbClr val="9933FF"/>
                </a:solidFill>
                <a:latin typeface="Times New Roman"/>
                <a:cs typeface="Times New Roman"/>
              </a:rPr>
              <a:t>2.75GB/s</a:t>
            </a:r>
            <a:endParaRPr sz="2400">
              <a:latin typeface="Times New Roman"/>
              <a:cs typeface="Times New Roman"/>
            </a:endParaRPr>
          </a:p>
          <a:p>
            <a:pPr marL="469265" indent="-456565">
              <a:lnSpc>
                <a:spcPct val="100000"/>
              </a:lnSpc>
              <a:spcBef>
                <a:spcPts val="865"/>
              </a:spcBef>
              <a:buClr>
                <a:srgbClr val="40458B"/>
              </a:buClr>
              <a:buFont typeface="Times New Roman"/>
              <a:buAutoNum type="arabicPeriod" startAt="4"/>
              <a:tabLst>
                <a:tab pos="469265" algn="l"/>
              </a:tabLst>
            </a:pPr>
            <a:r>
              <a:rPr dirty="0" sz="2400">
                <a:solidFill>
                  <a:srgbClr val="E14B04"/>
                </a:solidFill>
                <a:latin typeface="黑体"/>
                <a:cs typeface="黑体"/>
              </a:rPr>
              <a:t>系统最多可以配置</a:t>
            </a:r>
            <a:r>
              <a:rPr dirty="0" sz="2400">
                <a:solidFill>
                  <a:srgbClr val="9933FF"/>
                </a:solidFill>
                <a:latin typeface="Times New Roman"/>
                <a:cs typeface="Times New Roman"/>
              </a:rPr>
              <a:t>4</a:t>
            </a:r>
            <a:r>
              <a:rPr dirty="0" sz="2400">
                <a:solidFill>
                  <a:srgbClr val="E14B04"/>
                </a:solidFill>
                <a:latin typeface="黑体"/>
                <a:cs typeface="黑体"/>
              </a:rPr>
              <a:t>台</a:t>
            </a:r>
            <a:r>
              <a:rPr dirty="0" sz="2400" spc="-20">
                <a:solidFill>
                  <a:srgbClr val="E14B04"/>
                </a:solidFill>
                <a:latin typeface="Times New Roman"/>
                <a:cs typeface="Times New Roman"/>
              </a:rPr>
              <a:t>I/O</a:t>
            </a:r>
            <a:r>
              <a:rPr dirty="0" sz="2400" spc="-20">
                <a:solidFill>
                  <a:srgbClr val="E14B04"/>
                </a:solidFill>
                <a:latin typeface="黑体"/>
                <a:cs typeface="黑体"/>
              </a:rPr>
              <a:t>处理机</a:t>
            </a:r>
            <a:endParaRPr sz="2400">
              <a:latin typeface="黑体"/>
              <a:cs typeface="黑体"/>
            </a:endParaRPr>
          </a:p>
          <a:p>
            <a:pPr lvl="1" marL="1099185" indent="-457200">
              <a:lnSpc>
                <a:spcPct val="100000"/>
              </a:lnSpc>
              <a:spcBef>
                <a:spcPts val="860"/>
              </a:spcBef>
              <a:buSzPct val="89583"/>
              <a:buFont typeface="Wingdings"/>
              <a:buChar char=""/>
              <a:tabLst>
                <a:tab pos="1099185" algn="l"/>
              </a:tabLst>
            </a:pPr>
            <a:r>
              <a:rPr dirty="0" sz="2400">
                <a:solidFill>
                  <a:srgbClr val="40458B"/>
                </a:solidFill>
                <a:latin typeface="黑体"/>
                <a:cs typeface="黑体"/>
              </a:rPr>
              <a:t>每台</a:t>
            </a:r>
            <a:r>
              <a:rPr dirty="0" sz="2400" spc="-20">
                <a:solidFill>
                  <a:srgbClr val="40458B"/>
                </a:solidFill>
                <a:latin typeface="Times New Roman"/>
                <a:cs typeface="Times New Roman"/>
              </a:rPr>
              <a:t>I/O</a:t>
            </a:r>
            <a:r>
              <a:rPr dirty="0" sz="2400" spc="-5">
                <a:solidFill>
                  <a:srgbClr val="40458B"/>
                </a:solidFill>
                <a:latin typeface="黑体"/>
                <a:cs typeface="黑体"/>
              </a:rPr>
              <a:t>处理机的数据传输率：</a:t>
            </a:r>
            <a:r>
              <a:rPr dirty="0" sz="2400" spc="-10">
                <a:solidFill>
                  <a:srgbClr val="9933FF"/>
                </a:solidFill>
                <a:latin typeface="Times New Roman"/>
                <a:cs typeface="Times New Roman"/>
              </a:rPr>
              <a:t>1GB/s</a:t>
            </a:r>
            <a:endParaRPr sz="2400">
              <a:latin typeface="Times New Roman"/>
              <a:cs typeface="Times New Roman"/>
            </a:endParaRPr>
          </a:p>
          <a:p>
            <a:pPr lvl="1"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最多可以提供</a:t>
            </a:r>
            <a:r>
              <a:rPr dirty="0" sz="2400" spc="-10">
                <a:solidFill>
                  <a:srgbClr val="9933FF"/>
                </a:solidFill>
                <a:latin typeface="Times New Roman"/>
                <a:cs typeface="Times New Roman"/>
              </a:rPr>
              <a:t>256</a:t>
            </a:r>
            <a:r>
              <a:rPr dirty="0" sz="2400" spc="-15">
                <a:solidFill>
                  <a:srgbClr val="40458B"/>
                </a:solidFill>
                <a:latin typeface="黑体"/>
                <a:cs typeface="黑体"/>
              </a:rPr>
              <a:t>个通道，用于高速网络、图形和外围操</a:t>
            </a:r>
            <a:endParaRPr sz="2400">
              <a:latin typeface="黑体"/>
              <a:cs typeface="黑体"/>
            </a:endParaRPr>
          </a:p>
          <a:p>
            <a:pPr marL="1099185">
              <a:lnSpc>
                <a:spcPct val="100000"/>
              </a:lnSpc>
              <a:spcBef>
                <a:spcPts val="290"/>
              </a:spcBef>
            </a:pPr>
            <a:r>
              <a:rPr dirty="0" sz="2400">
                <a:solidFill>
                  <a:srgbClr val="40458B"/>
                </a:solidFill>
                <a:latin typeface="黑体"/>
                <a:cs typeface="黑体"/>
              </a:rPr>
              <a:t>作，支持</a:t>
            </a:r>
            <a:r>
              <a:rPr dirty="0" sz="2400" spc="-25">
                <a:solidFill>
                  <a:srgbClr val="9933FF"/>
                </a:solidFill>
                <a:latin typeface="Times New Roman"/>
                <a:cs typeface="Times New Roman"/>
              </a:rPr>
              <a:t>100MB/s</a:t>
            </a:r>
            <a:r>
              <a:rPr dirty="0" sz="2400" spc="-10">
                <a:solidFill>
                  <a:srgbClr val="40458B"/>
                </a:solidFill>
                <a:latin typeface="黑体"/>
                <a:cs typeface="黑体"/>
              </a:rPr>
              <a:t>的通道传输。</a:t>
            </a:r>
            <a:endParaRPr sz="2400">
              <a:latin typeface="黑体"/>
              <a:cs typeface="黑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68F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2025-12-28T08:55:38Z</dcterms:created>
  <dcterms:modified xsi:type="dcterms:W3CDTF">2025-12-28T08:55:38Z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2025-10-26T00:00:00Z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